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0"/>
  </p:notesMasterIdLst>
  <p:sldIdLst>
    <p:sldId id="257" r:id="rId3"/>
    <p:sldId id="450" r:id="rId4"/>
    <p:sldId id="2637" r:id="rId5"/>
    <p:sldId id="273" r:id="rId6"/>
    <p:sldId id="274" r:id="rId7"/>
    <p:sldId id="280" r:id="rId8"/>
    <p:sldId id="2632" r:id="rId9"/>
    <p:sldId id="2634" r:id="rId10"/>
    <p:sldId id="2635" r:id="rId11"/>
    <p:sldId id="2639" r:id="rId12"/>
    <p:sldId id="449" r:id="rId13"/>
    <p:sldId id="2638" r:id="rId14"/>
    <p:sldId id="2640" r:id="rId15"/>
    <p:sldId id="2641" r:id="rId16"/>
    <p:sldId id="2642" r:id="rId17"/>
    <p:sldId id="2631" r:id="rId18"/>
    <p:sldId id="25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M 张林宇" initials="P张" lastIdx="1" clrIdx="0">
    <p:extLst>
      <p:ext uri="{19B8F6BF-5375-455C-9EA6-DF929625EA0E}">
        <p15:presenceInfo xmlns:p15="http://schemas.microsoft.com/office/powerpoint/2012/main" userId="PM 张林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  <a:srgbClr val="CFE3A8"/>
    <a:srgbClr val="8DC7D5"/>
    <a:srgbClr val="E8D0D0"/>
    <a:srgbClr val="C0504D"/>
    <a:srgbClr val="AD283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6366" autoAdjust="0"/>
  </p:normalViewPr>
  <p:slideViewPr>
    <p:cSldViewPr snapToGrid="0">
      <p:cViewPr varScale="1">
        <p:scale>
          <a:sx n="112" d="100"/>
          <a:sy n="112" d="100"/>
        </p:scale>
        <p:origin x="53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83A09-6D16-45F9-AD93-418AC720A9E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51107-131D-4920-8540-3D58829C1F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5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920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100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408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38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051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20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951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865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843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222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27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3" b="1" kern="1200" dirty="0"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195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8511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3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9486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917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64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04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4018384" y="0"/>
            <a:ext cx="4155232" cy="646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28457" y="81164"/>
            <a:ext cx="3135086" cy="480131"/>
          </a:xfrm>
        </p:spPr>
        <p:txBody>
          <a:bodyPr wrap="none">
            <a:noAutofit/>
          </a:bodyPr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1957360983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9303" y="356659"/>
            <a:ext cx="7863029" cy="440676"/>
          </a:xfrm>
        </p:spPr>
        <p:txBody>
          <a:bodyPr vert="horz" lIns="68580" tIns="34290" rIns="68580" bIns="34290" rtlCol="0" anchor="ctr">
            <a:noAutofit/>
          </a:bodyPr>
          <a:lstStyle>
            <a:lvl1pPr algn="l">
              <a:defRPr lang="zh-CN" altLang="en-US" sz="2933" b="0" i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685783">
              <a:lnSpc>
                <a:spcPct val="90000"/>
              </a:lnSpc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6427" y="6383321"/>
            <a:ext cx="1632181" cy="406233"/>
          </a:xfrm>
        </p:spPr>
        <p:txBody>
          <a:bodyPr/>
          <a:lstStyle>
            <a:lvl1pPr algn="ctr">
              <a:defRPr sz="1867">
                <a:latin typeface="Impact" panose="020B080603090205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270838" y="872083"/>
            <a:ext cx="10479237" cy="1"/>
          </a:xfrm>
          <a:prstGeom prst="line">
            <a:avLst/>
          </a:prstGeom>
          <a:ln w="158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27435" y="331259"/>
            <a:ext cx="528000" cy="528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9237416" y="235097"/>
            <a:ext cx="2619225" cy="666786"/>
            <a:chOff x="2884255" y="393762"/>
            <a:chExt cx="2165350" cy="738483"/>
          </a:xfrm>
        </p:grpSpPr>
        <p:sp>
          <p:nvSpPr>
            <p:cNvPr id="11" name="TextBox 10"/>
            <p:cNvSpPr txBox="1"/>
            <p:nvPr/>
          </p:nvSpPr>
          <p:spPr>
            <a:xfrm>
              <a:off x="3717568" y="500833"/>
              <a:ext cx="1325774" cy="37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亮亮图文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23829" y="776107"/>
              <a:ext cx="1325776" cy="261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33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CONPANY NAME</a:t>
              </a:r>
              <a:endParaRPr lang="zh-CN" altLang="en-US" sz="933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84255" y="393762"/>
              <a:ext cx="966585" cy="738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spc="-200" dirty="0">
                  <a:solidFill>
                    <a:schemeClr val="accent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LOGO</a:t>
              </a:r>
              <a:endParaRPr lang="zh-CN" altLang="en-US" sz="3733" spc="-2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87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0">
        <p14:vortex dir="r"/>
      </p:transition>
    </mc:Choice>
    <mc:Fallback xmlns=""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3" b="1" kern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43427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66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3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2016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3541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4271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9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1983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37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9" r:id="rId8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7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829994" y="1616031"/>
            <a:ext cx="10640647" cy="2214290"/>
          </a:xfrm>
        </p:spPr>
        <p:txBody>
          <a:bodyPr/>
          <a:lstStyle/>
          <a:p>
            <a:r>
              <a:rPr lang="zh-CN" altLang="en-US" dirty="0"/>
              <a:t>基础技能培训</a:t>
            </a:r>
            <a:r>
              <a:rPr lang="en-US" altLang="zh-CN" dirty="0"/>
              <a:t>-</a:t>
            </a:r>
            <a:r>
              <a:rPr lang="zh-CN" altLang="en-US" dirty="0"/>
              <a:t>概要设计</a:t>
            </a:r>
            <a:r>
              <a:rPr lang="en-US" altLang="zh-CN" dirty="0"/>
              <a:t>&amp;</a:t>
            </a:r>
            <a:r>
              <a:rPr lang="zh-CN" altLang="en-US" dirty="0"/>
              <a:t>开发计划</a:t>
            </a:r>
          </a:p>
        </p:txBody>
      </p:sp>
    </p:spTree>
    <p:extLst>
      <p:ext uri="{BB962C8B-B14F-4D97-AF65-F5344CB8AC3E}">
        <p14:creationId xmlns:p14="http://schemas.microsoft.com/office/powerpoint/2010/main" val="31835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L4 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概要</a:t>
            </a:r>
            <a:r>
              <a:rPr lang="zh-CN" altLang="en-US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398639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70690" y="3662119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4" name="矩形 3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概要设计说明书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85011" y="2920619"/>
              <a:ext cx="1653860" cy="1637672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方案选择</a:t>
              </a:r>
              <a:endParaRPr lang="en-US" altLang="zh-CN" sz="1400" dirty="0">
                <a:cs typeface="+mn-ea"/>
                <a:sym typeface="+mn-lt"/>
              </a:endParaRPr>
            </a:p>
            <a:p>
              <a:r>
                <a:rPr lang="zh-CN" altLang="en-US" sz="1400" dirty="0">
                  <a:cs typeface="+mn-ea"/>
                  <a:sym typeface="+mn-lt"/>
                </a:rPr>
                <a:t>系统总体设计</a:t>
              </a:r>
              <a:endParaRPr lang="en-US" altLang="zh-CN" sz="1400" dirty="0">
                <a:cs typeface="+mn-ea"/>
                <a:sym typeface="+mn-lt"/>
              </a:endParaRPr>
            </a:p>
            <a:p>
              <a:r>
                <a:rPr lang="zh-CN" altLang="en-US" sz="1400" dirty="0">
                  <a:cs typeface="+mn-ea"/>
                  <a:sym typeface="+mn-lt"/>
                </a:rPr>
                <a:t>子系统设计</a:t>
              </a:r>
              <a:endParaRPr lang="en-US" altLang="zh-CN" sz="1400" dirty="0">
                <a:cs typeface="+mn-ea"/>
                <a:sym typeface="+mn-lt"/>
              </a:endParaRPr>
            </a:p>
            <a:p>
              <a:r>
                <a:rPr lang="zh-CN" altLang="en-US" sz="1400" dirty="0">
                  <a:cs typeface="+mn-ea"/>
                  <a:sym typeface="+mn-lt"/>
                </a:rPr>
                <a:t>六性设计</a:t>
              </a:r>
              <a:endParaRPr lang="en-US" altLang="zh-CN" sz="1400" dirty="0">
                <a:cs typeface="+mn-ea"/>
                <a:sym typeface="+mn-lt"/>
              </a:endParaRPr>
            </a:p>
            <a:p>
              <a:r>
                <a:rPr lang="zh-CN" altLang="en-US" sz="1400" dirty="0">
                  <a:cs typeface="+mn-ea"/>
                  <a:sym typeface="+mn-lt"/>
                </a:rPr>
                <a:t>关键件与重要件清单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785011" y="4558292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责任人：架构师、各研发工程师</a:t>
              </a:r>
              <a:endParaRPr lang="en-US" altLang="zh-CN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53108" y="3662119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9" name="矩形 8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散热仿真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85011" y="2920621"/>
              <a:ext cx="1653860" cy="1637671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散热仿真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785011" y="4558292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责任人：散热工程师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215697" y="3676187"/>
            <a:ext cx="1850615" cy="2545438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3" name="矩形 1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制定测试配置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85011" y="2953941"/>
              <a:ext cx="1653860" cy="163767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典型配置文件产出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85011" y="4558292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责任人：产品经理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B</a:t>
              </a:r>
              <a:endParaRPr lang="zh-CN" altLang="en-US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184081" y="3662119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7" name="矩形 16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提供产品发布策略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85011" y="2920621"/>
              <a:ext cx="1653860" cy="1637669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产品发布策略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785011" y="4558289"/>
              <a:ext cx="1653860" cy="8325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责任人：市场代表</a:t>
              </a:r>
            </a:p>
          </p:txBody>
        </p:sp>
      </p:grpSp>
      <p:sp>
        <p:nvSpPr>
          <p:cNvPr id="20" name="矩形 19"/>
          <p:cNvSpPr/>
          <p:nvPr/>
        </p:nvSpPr>
        <p:spPr>
          <a:xfrm rot="16200000" flipH="1">
            <a:off x="6072335" y="-3337270"/>
            <a:ext cx="47330" cy="1219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9349" y="925369"/>
            <a:ext cx="11503643" cy="1530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概要设计：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概要设计启动时机：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DCP1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立项决策评审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概设设计依据：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PRD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概要设计任务主要包含以下五部分：概要设计说明书、散热仿真、制定测试配置、提供产品发布策略、搭建产品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Early BOM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9160740" y="3662119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23" name="矩形 2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搭建产品</a:t>
              </a:r>
              <a:r>
                <a:rPr lang="en-US" altLang="zh-CN" sz="16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Early BOM</a:t>
              </a:r>
              <a:endParaRPr lang="zh-CN" altLang="en-US" sz="16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85011" y="2920621"/>
              <a:ext cx="1653860" cy="1637669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产品</a:t>
              </a:r>
              <a:r>
                <a:rPr lang="en-US" altLang="zh-CN" sz="1400" dirty="0">
                  <a:cs typeface="+mn-ea"/>
                  <a:sym typeface="+mn-lt"/>
                </a:rPr>
                <a:t>Early</a:t>
              </a:r>
              <a:r>
                <a:rPr lang="zh-CN" altLang="en-US" sz="1400" dirty="0"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cs typeface="+mn-ea"/>
                  <a:sym typeface="+mn-lt"/>
                </a:rPr>
                <a:t>BOM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85011" y="4558289"/>
              <a:ext cx="1653860" cy="8325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责任人：产品经理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B</a:t>
              </a:r>
              <a:endParaRPr lang="zh-CN" altLang="en-US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sp>
        <p:nvSpPr>
          <p:cNvPr id="26" name="标题 7">
            <a:extLst>
              <a:ext uri="{FF2B5EF4-FFF2-40B4-BE49-F238E27FC236}">
                <a16:creationId xmlns:a16="http://schemas.microsoft.com/office/drawing/2014/main" id="{BC396957-5FAE-41CD-8D3C-C0E579E5DDDD}"/>
              </a:ext>
            </a:extLst>
          </p:cNvPr>
          <p:cNvSpPr txBox="1">
            <a:spLocks/>
          </p:cNvSpPr>
          <p:nvPr/>
        </p:nvSpPr>
        <p:spPr>
          <a:xfrm>
            <a:off x="3486824" y="2941301"/>
            <a:ext cx="5257509" cy="513156"/>
          </a:xfrm>
          <a:prstGeom prst="rect">
            <a:avLst/>
          </a:prstGeom>
          <a:solidFill>
            <a:srgbClr val="C0504D"/>
          </a:solidFill>
        </p:spPr>
        <p:txBody>
          <a:bodyPr/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概要设计任务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542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080970" y="3719553"/>
            <a:ext cx="1668981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4" name="矩形 3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系统设计方案选择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cs typeface="+mn-ea"/>
                  <a:sym typeface="+mn-lt"/>
                </a:rPr>
                <a:t>方案选择；</a:t>
              </a:r>
              <a:endParaRPr lang="en-US" altLang="zh-CN" sz="1200" dirty="0">
                <a:cs typeface="+mn-ea"/>
                <a:sym typeface="+mn-lt"/>
              </a:endParaRPr>
            </a:p>
            <a:p>
              <a:r>
                <a:rPr lang="zh-CN" altLang="en-US" sz="1200" dirty="0">
                  <a:cs typeface="+mn-ea"/>
                  <a:sym typeface="+mn-lt"/>
                </a:rPr>
                <a:t>方案决策分析</a:t>
              </a:r>
              <a:r>
                <a:rPr lang="zh-CN" altLang="en-US" sz="1400" dirty="0">
                  <a:cs typeface="+mn-ea"/>
                  <a:sym typeface="+mn-lt"/>
                </a:rPr>
                <a:t>；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责任人：架构师、开发经理、产品总工</a:t>
              </a:r>
              <a:endParaRPr lang="en-US" altLang="zh-CN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41972" y="3715198"/>
            <a:ext cx="1668981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9" name="矩形 8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系统总体设计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cs typeface="+mn-ea"/>
                  <a:sym typeface="+mn-lt"/>
                </a:rPr>
                <a:t>设计方案；</a:t>
              </a:r>
              <a:endParaRPr lang="en-US" altLang="zh-CN" sz="1200" dirty="0">
                <a:cs typeface="+mn-ea"/>
                <a:sym typeface="+mn-lt"/>
              </a:endParaRPr>
            </a:p>
            <a:p>
              <a:r>
                <a:rPr lang="zh-CN" altLang="en-US" sz="1200" dirty="0">
                  <a:cs typeface="+mn-ea"/>
                  <a:sym typeface="+mn-lt"/>
                </a:rPr>
                <a:t>设计与需求映射关系；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责任人：架构师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633954" y="3726986"/>
            <a:ext cx="1668981" cy="2565779"/>
            <a:chOff x="785010" y="2251881"/>
            <a:chExt cx="1653861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3" name="矩形 12"/>
            <p:cNvSpPr/>
            <p:nvPr/>
          </p:nvSpPr>
          <p:spPr>
            <a:xfrm>
              <a:off x="785010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子系统设计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cs typeface="+mn-ea"/>
                  <a:sym typeface="+mn-lt"/>
                </a:rPr>
                <a:t>硬件、机箱、散热、电源模块、软件设计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责任人：硬件工程师、结构工程师、散热工程师、电源工程师、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BIOS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工程师、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BMC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工程师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425935" y="3726986"/>
            <a:ext cx="1668980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7" name="矩形 16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系统六性设计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cs typeface="+mn-ea"/>
                  <a:sym typeface="+mn-lt"/>
                </a:rPr>
                <a:t>六性设计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责任人：产品经理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B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 rot="16200000">
            <a:off x="7522630" y="-2005405"/>
            <a:ext cx="45719" cy="92930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02290" y="925369"/>
            <a:ext cx="8940702" cy="1530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概要设计说明书：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目的：提供架构决策和详设依据；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由架构师进行汇总并产出概要设计说明书，在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上进行同行评审 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主要包含以下五部分：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0186938" y="3715198"/>
            <a:ext cx="1668981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23" name="矩形 2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系统关键件与重要件清单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cs typeface="+mn-ea"/>
                  <a:sym typeface="+mn-lt"/>
                </a:rPr>
                <a:t>关键件与重要件清单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责任人：架构师</a:t>
              </a:r>
            </a:p>
          </p:txBody>
        </p:sp>
      </p:grpSp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sp>
        <p:nvSpPr>
          <p:cNvPr id="26" name="标题 7">
            <a:extLst>
              <a:ext uri="{FF2B5EF4-FFF2-40B4-BE49-F238E27FC236}">
                <a16:creationId xmlns:a16="http://schemas.microsoft.com/office/drawing/2014/main" id="{BC396957-5FAE-41CD-8D3C-C0E579E5DDDD}"/>
              </a:ext>
            </a:extLst>
          </p:cNvPr>
          <p:cNvSpPr txBox="1">
            <a:spLocks/>
          </p:cNvSpPr>
          <p:nvPr/>
        </p:nvSpPr>
        <p:spPr>
          <a:xfrm>
            <a:off x="5676462" y="2935181"/>
            <a:ext cx="3292564" cy="513156"/>
          </a:xfrm>
          <a:prstGeom prst="rect">
            <a:avLst/>
          </a:prstGeom>
          <a:solidFill>
            <a:srgbClr val="C0504D"/>
          </a:solidFill>
        </p:spPr>
        <p:txBody>
          <a:bodyPr/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概要设计说明书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8BFBAD-0091-4AD0-8976-7711B01AA2E7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F26C148-62FC-4AEF-AB83-0957A04F22C0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586F1033-D8DE-4CC5-AEAD-6CC407895711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C28D8A-7995-4FB7-9DBE-2B40AA1A965C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253C669-50B4-4100-9E00-EC85A5C8E3FA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946AE2F-FB66-4643-9F90-6566767FAF9D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E28CF54-F316-4A12-AADD-1BA3EC3851C6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F5410FA-1B4A-4361-8E1A-70E4BB9F531F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8FA4CC7-CFD4-461C-B472-FFB847E1CDCA}"/>
              </a:ext>
            </a:extLst>
          </p:cNvPr>
          <p:cNvCxnSpPr>
            <a:stCxn id="36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44DE7C6-BB9A-44B9-BC1B-CCF050184CA3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DCCFDA63-F775-4B24-90D3-E7AE2693895F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65C69DF-B625-4DCA-86B5-91DAD4CD2BDC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F1CD375-0989-4084-9E8D-39A2461B10DD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209CD45-B645-48EA-8C01-2EB9DCC13321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CC2C25C-D0FA-409F-AC62-DCD8F4B89244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1D2D02E-5576-48D8-80F9-E3B9FFBB1E6A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67CB2E4A-625F-4403-8FB0-D8AFA4B8CA55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74AE1B-C568-459A-B833-E7BBF06D55D9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AAB021A-C72B-476E-BC48-C8D186935ABC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BB9AC53F-6F90-4A3C-AE59-233F9113B963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9466984-2264-4C54-9CEA-605628769C8D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C6CD4FE0-1B74-47BD-8EE8-FD0296A48020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4564A0E-DDEA-4431-8741-383C79655168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51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833575-80C8-4C8D-A6E1-5363DFA2B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74E9EBA6-F57B-4657-9916-7F95C498F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862441"/>
              </p:ext>
            </p:extLst>
          </p:nvPr>
        </p:nvGraphicFramePr>
        <p:xfrm>
          <a:off x="3391183" y="2307771"/>
          <a:ext cx="7492592" cy="3489355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843864">
                  <a:extLst>
                    <a:ext uri="{9D8B030D-6E8A-4147-A177-3AD203B41FA5}">
                      <a16:colId xmlns:a16="http://schemas.microsoft.com/office/drawing/2014/main" val="2940851073"/>
                    </a:ext>
                  </a:extLst>
                </a:gridCol>
                <a:gridCol w="1543585">
                  <a:extLst>
                    <a:ext uri="{9D8B030D-6E8A-4147-A177-3AD203B41FA5}">
                      <a16:colId xmlns:a16="http://schemas.microsoft.com/office/drawing/2014/main" val="3516952899"/>
                    </a:ext>
                  </a:extLst>
                </a:gridCol>
                <a:gridCol w="2317084">
                  <a:extLst>
                    <a:ext uri="{9D8B030D-6E8A-4147-A177-3AD203B41FA5}">
                      <a16:colId xmlns:a16="http://schemas.microsoft.com/office/drawing/2014/main" val="2755818900"/>
                    </a:ext>
                  </a:extLst>
                </a:gridCol>
                <a:gridCol w="2788059">
                  <a:extLst>
                    <a:ext uri="{9D8B030D-6E8A-4147-A177-3AD203B41FA5}">
                      <a16:colId xmlns:a16="http://schemas.microsoft.com/office/drawing/2014/main" val="302838818"/>
                    </a:ext>
                  </a:extLst>
                </a:gridCol>
              </a:tblGrid>
              <a:tr h="5781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工作名称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责任人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描述内容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032103293"/>
                  </a:ext>
                </a:extLst>
              </a:tr>
              <a:tr h="100031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设计方案一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架构师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以图解或者文字方式说明系统组成、系统架构、实现方式等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37397"/>
                  </a:ext>
                </a:extLst>
              </a:tr>
              <a:tr h="958587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设计方案二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架构师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以图解或者文字方式说明系统组成、系统架构、实现方式等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774203038"/>
                  </a:ext>
                </a:extLst>
              </a:tr>
              <a:tr h="952334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方案选择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开发经理、产品总工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（需讨论）</a:t>
                      </a:r>
                      <a:endParaRPr lang="en-US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方案选择的依据，以及最终决策选择的方案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08534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D8226F07-A27C-4365-A42A-6D958C14CE5A}"/>
              </a:ext>
            </a:extLst>
          </p:cNvPr>
          <p:cNvSpPr/>
          <p:nvPr/>
        </p:nvSpPr>
        <p:spPr>
          <a:xfrm>
            <a:off x="3283132" y="1015265"/>
            <a:ext cx="7755789" cy="1197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主要内容：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架构师描述在进行系统架构设计时，考虑到的方案，以及方案之间的优缺点对比，明确方案选择依据和过程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471C607-84E2-4F0E-BDAC-C2A93DC9BE5F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6014455-850C-43AE-8CD7-EF5B6B48CDB3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738888-F557-4294-869B-34A79BC8472D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3C61F16-DCF2-45B9-A50F-746C3DD1B35A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EFCDCD0-1394-4F33-BFB5-317A53A1B84E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7A3537B-F827-4EF7-900A-309B4F8A60F3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39FD0A1-60CE-4A0E-A1BC-9B7B087DFCE6}"/>
              </a:ext>
            </a:extLst>
          </p:cNvPr>
          <p:cNvCxnSpPr>
            <a:stCxn id="27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035652A-4229-4F12-8181-9A194C101300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F7BA81C6-16CE-49AA-80F4-AB4482796B24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9C881D-A15B-496C-8611-D8F93BC1EDB0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B09DA8D-D858-47D8-8264-1602E84C523F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805C833-4FD3-48E2-A78F-A0F78ACBDDBD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74FA637D-4B6F-4586-9B72-2E93FBCE8393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BE08018-EEEE-47CF-AB47-756B66254F1F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F52B8B1C-9562-4E8B-8EB4-2D710DE3C666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13F86FA-79F5-4A60-9EDC-9C81CEAE2839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876411CF-6106-4437-8B9E-4574B8E3640A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B4A0D76-6330-452C-8289-98386482D29E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1445B40-52AE-4577-BE74-1EE9DAF0778A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8267DDB-FD7B-48E2-902E-23FED4CC8283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16F7DD78-13DC-4F5A-84E0-B434AD4AF6C3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F2BDCC7-FF5B-49CF-AD8B-1C8D644C91F8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BA944E5-D50D-49E5-8E58-373D751A5545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035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DB8BC9F0-0AD3-4E1E-9F64-A6B30F5ED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C6F34A-1D06-4878-A0EF-2587B2516796}"/>
              </a:ext>
            </a:extLst>
          </p:cNvPr>
          <p:cNvSpPr/>
          <p:nvPr/>
        </p:nvSpPr>
        <p:spPr>
          <a:xfrm>
            <a:off x="3056709" y="853521"/>
            <a:ext cx="7649342" cy="1895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主要内容：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设计方案：说明系统总体设计架构图、子系统和模块划分和模块之间的关联；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设计与需求映射关系：说明系统各个部分的设计与需求的映射关系，确保产品的各个需求在设计过程中被充分考虑；除产品的功能需求外，要考虑到对产品非功能性需求的设计。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E161DE-63EB-4A02-B016-8172F4B0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836" y="2743105"/>
            <a:ext cx="6390190" cy="3823732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4BCFAD7-03C5-44B3-A577-1524CBB032F1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E77053C-48EE-4F69-AAED-49FFDD4206FF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CDBE87-CBB2-4248-81C2-64AF06F1C120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6F53912-6D9E-4606-A24B-88930AD76369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9361FEE-033F-417D-8694-8957980859FF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2F14E99A-C9B2-40ED-B37E-52D2028EE970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2E637A8-6D63-41C5-964A-CC6E541F6769}"/>
              </a:ext>
            </a:extLst>
          </p:cNvPr>
          <p:cNvCxnSpPr>
            <a:stCxn id="25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5AAB908-ABAE-455E-AFE7-4DC1B59A4619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D8A4FAF-031B-46A0-9E7B-E238298ECE34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DC4DCDC-7676-487F-8781-9AFD28518D81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865ABAD-0290-4920-B28B-5C279D269B56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211CBE0-C998-461E-84B1-2C76C62E9E70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9611147-EF89-4CF5-8310-B5B4F3948706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EFE1E11-932A-4C9C-9796-E04801C6ACBC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B469265-EB24-42A5-9B2F-DC6ED09B6EA8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9C2765C-0DFD-4AC7-85F3-48AFF892A9BD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53FBA26-68C2-4715-B42F-8B5BCCEDDA14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BD0A1DB-203D-4008-B1D3-4B8001489902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5771C3B6-7E41-4EA2-A409-A79AA3126587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15CF000-ECAF-4F8B-9115-F300E3721D7F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C9E1339-71B4-4B96-8B16-A356EAE8ECD5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528E84F-6478-4EAD-8648-E164C34A4528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26B5B7B0-BBE3-4866-8133-E55F630643EA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0748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DB8BC9F0-0AD3-4E1E-9F64-A6B30F5ED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8B3144F-FB0B-42B0-B4A0-AB5C5E010CA4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80B2BB1-4EC8-447B-97E5-2CB5390F9F45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070DB-B1E2-4039-8582-D212987E36C8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6B97371-F6B6-47FA-BD4F-FF07750F61A4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C48E863-B7EE-45BF-8F2C-ACE554D9DB2D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9B334F-CE53-407E-865A-6610B5DDD473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E3AABA0-759E-41FE-B1BC-7EF7F9C43340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5C48D69-7A90-4565-B1D6-F173FE65C951}"/>
              </a:ext>
            </a:extLst>
          </p:cNvPr>
          <p:cNvCxnSpPr>
            <a:stCxn id="21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A0B7DE0-7BCB-40AB-9B85-23E6DDA98AF4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35934F5F-4747-4821-9540-99289629C8A1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9285CB-AAC3-475B-BC40-CE77FCC9B5F2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9ECC041-ADD7-413C-9737-1C2049ADDAAE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F25A6F2-E1DC-4E23-A231-A666A0807781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696215DC-EAB2-4742-A7C9-485CB77D104F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0F774AF-5FE8-4BA3-9769-517F8296ACFD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DC1400A-D19B-450D-8F8C-D9E589E21E5F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A564AAA-796A-447F-A185-0BC19F0401FD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3FDA9DB0-496E-4A95-B9EB-619811EAFE4F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4F08C33-B5A0-4FD4-A441-9D2CF75E8B14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C3367CD-450F-4E81-B277-D064369A5E92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86F1968-C312-4A39-98F6-489D6C1174E4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5">
            <a:extLst>
              <a:ext uri="{FF2B5EF4-FFF2-40B4-BE49-F238E27FC236}">
                <a16:creationId xmlns:a16="http://schemas.microsoft.com/office/drawing/2014/main" id="{994259BA-AB9B-4E45-9C8B-71A5CB70B115}"/>
              </a:ext>
            </a:extLst>
          </p:cNvPr>
          <p:cNvSpPr>
            <a:spLocks/>
          </p:cNvSpPr>
          <p:nvPr/>
        </p:nvSpPr>
        <p:spPr bwMode="auto">
          <a:xfrm>
            <a:off x="2362235" y="1063581"/>
            <a:ext cx="710640" cy="4544739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EE3CF7F3-9550-4A35-A9CE-C12923219BBA}"/>
              </a:ext>
            </a:extLst>
          </p:cNvPr>
          <p:cNvSpPr/>
          <p:nvPr/>
        </p:nvSpPr>
        <p:spPr>
          <a:xfrm>
            <a:off x="3078935" y="913808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硬件设计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CE651644-A551-4B9E-B72E-7228C9B0343D}"/>
              </a:ext>
            </a:extLst>
          </p:cNvPr>
          <p:cNvSpPr/>
          <p:nvPr/>
        </p:nvSpPr>
        <p:spPr>
          <a:xfrm>
            <a:off x="3107500" y="185460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结构设计</a:t>
            </a: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81066529-A12D-4EB9-AE3A-AC1E114A6F7D}"/>
              </a:ext>
            </a:extLst>
          </p:cNvPr>
          <p:cNvSpPr/>
          <p:nvPr/>
        </p:nvSpPr>
        <p:spPr>
          <a:xfrm>
            <a:off x="3118753" y="2892299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散热设计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1E7F2604-564A-4442-BD72-3E623F25968E}"/>
              </a:ext>
            </a:extLst>
          </p:cNvPr>
          <p:cNvSpPr/>
          <p:nvPr/>
        </p:nvSpPr>
        <p:spPr>
          <a:xfrm>
            <a:off x="3107503" y="3985615"/>
            <a:ext cx="8002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电源设计</a:t>
            </a: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DD6E3F5D-C329-4A68-98B3-64A9BEFD3CDA}"/>
              </a:ext>
            </a:extLst>
          </p:cNvPr>
          <p:cNvSpPr/>
          <p:nvPr/>
        </p:nvSpPr>
        <p:spPr>
          <a:xfrm>
            <a:off x="3056106" y="5434563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软件设计</a:t>
            </a:r>
          </a:p>
        </p:txBody>
      </p:sp>
      <p:sp>
        <p:nvSpPr>
          <p:cNvPr id="47" name="圆角矩形 49">
            <a:extLst>
              <a:ext uri="{FF2B5EF4-FFF2-40B4-BE49-F238E27FC236}">
                <a16:creationId xmlns:a16="http://schemas.microsoft.com/office/drawing/2014/main" id="{AD74BCE6-FE86-4AA7-A470-79E8C4F12A4E}"/>
              </a:ext>
            </a:extLst>
          </p:cNvPr>
          <p:cNvSpPr/>
          <p:nvPr/>
        </p:nvSpPr>
        <p:spPr>
          <a:xfrm>
            <a:off x="3879742" y="816378"/>
            <a:ext cx="7746202" cy="569698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硬件总体概要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：系统板卡组成、系统拓扑图（确认板卡间如何连接）；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硬件子系统组成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：板卡规格、板卡系统拓扑图（包含系统框图、主要器件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placement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叠层、时钟拓扑图、电源拓扑图、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IIC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拓扑图） </a:t>
            </a:r>
            <a:endParaRPr lang="zh-CN" altLang="en-US" sz="1100" b="1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58" name="圆角矩形 49">
            <a:extLst>
              <a:ext uri="{FF2B5EF4-FFF2-40B4-BE49-F238E27FC236}">
                <a16:creationId xmlns:a16="http://schemas.microsoft.com/office/drawing/2014/main" id="{E36C7528-98F8-4490-9CA8-AB270AB7CFA0}"/>
              </a:ext>
            </a:extLst>
          </p:cNvPr>
          <p:cNvSpPr/>
          <p:nvPr/>
        </p:nvSpPr>
        <p:spPr>
          <a:xfrm>
            <a:off x="3858009" y="1547497"/>
            <a:ext cx="7746202" cy="915427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可靠性设计思路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：是否免工具拆卸、材质要求、设计前期可靠性验证测试考量进设计中；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结构布局设计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：结构摆放说明、结构摆放示意图、机箱主要尺寸、板卡组装示意图等；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主要箱体模块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：机箱内部各个主要模块尺寸、示意图、整机上架示意图等；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线缆走线分析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：基于不同的典配清单，规划线缆走线方案，确认线缆走线空间是否有预留？是否有较难走线区域？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、散热交互部分说明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、散热共同设计的部分，提前预留设计位置；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包装子模块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：需满足包装设计标准，同步基于机箱大小、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要求，进行包装设计；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49">
            <a:extLst>
              <a:ext uri="{FF2B5EF4-FFF2-40B4-BE49-F238E27FC236}">
                <a16:creationId xmlns:a16="http://schemas.microsoft.com/office/drawing/2014/main" id="{45D4E854-51CF-43CA-90AF-73BE33A8F420}"/>
              </a:ext>
            </a:extLst>
          </p:cNvPr>
          <p:cNvSpPr/>
          <p:nvPr/>
        </p:nvSpPr>
        <p:spPr>
          <a:xfrm>
            <a:off x="3892845" y="2575881"/>
            <a:ext cx="7685239" cy="830810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散热需求分析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：散热环境要求、典型配置功耗、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Socket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及功耗特点等；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风道分析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：功耗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风量需求、风道设计注意事项、风道设计方案等；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噪音分析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：风扇、散热器单颗噪音值、风扇满转时噪音值说明；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圆角矩形 49">
            <a:extLst>
              <a:ext uri="{FF2B5EF4-FFF2-40B4-BE49-F238E27FC236}">
                <a16:creationId xmlns:a16="http://schemas.microsoft.com/office/drawing/2014/main" id="{3AB03EE6-1FA2-46E4-BBC6-D1F98414ACB1}"/>
              </a:ext>
            </a:extLst>
          </p:cNvPr>
          <p:cNvSpPr/>
          <p:nvPr/>
        </p:nvSpPr>
        <p:spPr>
          <a:xfrm>
            <a:off x="3942350" y="3533698"/>
            <a:ext cx="7685239" cy="1125381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主要为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PSU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选型，不涉及板级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到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电源设计；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电源模块需求规格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：尺寸、电源模金手指输出定义、标签信息资料、风扇规格要求、电气性能需求、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掉电要求、环境、保护功能等描述；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备选电源规格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：备用电源（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second source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）规格介绍；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可靠性分析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：一般要求环境温度为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℃、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负载状态下，平均无故障时间＞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万小时；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成本分析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：低配、常规配置采用的电源数量，以及成本说明；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圆角矩形 49">
            <a:extLst>
              <a:ext uri="{FF2B5EF4-FFF2-40B4-BE49-F238E27FC236}">
                <a16:creationId xmlns:a16="http://schemas.microsoft.com/office/drawing/2014/main" id="{87F4A412-B697-4361-B062-0ED1A26913BE}"/>
              </a:ext>
            </a:extLst>
          </p:cNvPr>
          <p:cNvSpPr/>
          <p:nvPr/>
        </p:nvSpPr>
        <p:spPr>
          <a:xfrm>
            <a:off x="3942350" y="4700903"/>
            <a:ext cx="7685239" cy="1826588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命名规则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发布版本命名方式；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）依据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平台特性，确认当前支持的标准（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XGMI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DIMM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SATA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等标准）；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各功能模块说明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：开机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信息显示、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 Video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、启动选项、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SMBIOS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支持、密码功能、开机策略、资产信息推送等；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选型及硬件配置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：此部分软件工程师与硬件工程师共同讨论完成；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管理特性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：包含外部接口支持、传感器监控、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信息管理、用户管理、远程电源控制、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设置、硬件部件状态和资产信息监控、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指示灯、报警与按键等；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97EFCAC-B781-4EA1-90FE-EFB3629F67A4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4E49490-911D-47B8-9C15-B1EFA56F441D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BA6A1F40-4075-4F68-A083-9033423B9515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78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DB8BC9F0-0AD3-4E1E-9F64-A6B30F5ED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9029E6D-A471-4DCA-96F2-1D3FF10BC86F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98DC711-6FF0-4F26-BCC4-27CB7B7A03AE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ACF544-608F-441E-976F-30AA16D3FD2E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144DCF-2BED-438C-93AD-35C35D5F578A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829F641-6D66-44FE-812E-7365E289BB7B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7E42041-CBF0-489C-B35E-B117401B3315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D676B25-9092-46BE-A38E-DFEA9A475227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A2A6D91-8B01-439D-BC5C-430B4ABC31BD}"/>
              </a:ext>
            </a:extLst>
          </p:cNvPr>
          <p:cNvCxnSpPr>
            <a:stCxn id="14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B2EB8B7-B29A-49A4-AA30-1155FE956841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561DF61-4142-4872-9410-CE7E9DEB7749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83C501-5DFD-4117-8756-2B20387819A1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6BA675F-6E58-4360-BEC6-52F6567974A9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7CECD90-73B6-48DF-AADC-26A0149F33FE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78D0963-F42D-4483-A19A-AF97B425103F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768D5C0-4B94-4FF8-A628-4D60D5FA0203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DB11848-58C6-462A-8184-9E2F425E0084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9E972C8-2175-460A-88EC-878C79BB72F5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6E36E19-41DD-482B-9305-5E85762A371F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5F891CB-01CD-433F-B8D4-E378187AC78A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B28E7109-CF77-4E66-AD12-C9891984757A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0AD247E-37F4-4FD6-9E7F-4D81CCE502D2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5">
            <a:extLst>
              <a:ext uri="{FF2B5EF4-FFF2-40B4-BE49-F238E27FC236}">
                <a16:creationId xmlns:a16="http://schemas.microsoft.com/office/drawing/2014/main" id="{7C663122-C398-48B4-8A65-9B2C8646E667}"/>
              </a:ext>
            </a:extLst>
          </p:cNvPr>
          <p:cNvSpPr>
            <a:spLocks/>
          </p:cNvSpPr>
          <p:nvPr/>
        </p:nvSpPr>
        <p:spPr bwMode="auto">
          <a:xfrm>
            <a:off x="2362235" y="2105815"/>
            <a:ext cx="413794" cy="3581239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2" name="圆角矩形 49">
            <a:extLst>
              <a:ext uri="{FF2B5EF4-FFF2-40B4-BE49-F238E27FC236}">
                <a16:creationId xmlns:a16="http://schemas.microsoft.com/office/drawing/2014/main" id="{A350CB05-BD9C-4C7C-92A7-E299655E069E}"/>
              </a:ext>
            </a:extLst>
          </p:cNvPr>
          <p:cNvSpPr/>
          <p:nvPr/>
        </p:nvSpPr>
        <p:spPr>
          <a:xfrm>
            <a:off x="4020808" y="1809155"/>
            <a:ext cx="7169691" cy="569698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机箱简化安装结构，做到易维护；硬件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部分参考曙光硬件设计规范</a:t>
            </a:r>
            <a:endParaRPr lang="zh-CN" altLang="en-US" sz="11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C750DA80-7508-41A8-87C2-F8B8E043E079}"/>
              </a:ext>
            </a:extLst>
          </p:cNvPr>
          <p:cNvSpPr/>
          <p:nvPr/>
        </p:nvSpPr>
        <p:spPr>
          <a:xfrm>
            <a:off x="2653505" y="1933281"/>
            <a:ext cx="11849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可保障性设计</a:t>
            </a:r>
          </a:p>
        </p:txBody>
      </p:sp>
      <p:sp>
        <p:nvSpPr>
          <p:cNvPr id="38" name="圆角矩形 49">
            <a:extLst>
              <a:ext uri="{FF2B5EF4-FFF2-40B4-BE49-F238E27FC236}">
                <a16:creationId xmlns:a16="http://schemas.microsoft.com/office/drawing/2014/main" id="{217A042B-761E-423B-B06E-098B4C92C28A}"/>
              </a:ext>
            </a:extLst>
          </p:cNvPr>
          <p:cNvSpPr/>
          <p:nvPr/>
        </p:nvSpPr>
        <p:spPr>
          <a:xfrm>
            <a:off x="4031166" y="3943041"/>
            <a:ext cx="7169691" cy="569698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开发功能需都可测试；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46D76B38-8995-47F2-874B-1A155BDF6A4C}"/>
              </a:ext>
            </a:extLst>
          </p:cNvPr>
          <p:cNvSpPr/>
          <p:nvPr/>
        </p:nvSpPr>
        <p:spPr>
          <a:xfrm>
            <a:off x="2771876" y="2599343"/>
            <a:ext cx="10206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可靠性设计</a:t>
            </a:r>
          </a:p>
        </p:txBody>
      </p:sp>
      <p:sp>
        <p:nvSpPr>
          <p:cNvPr id="40" name="圆角矩形 49">
            <a:extLst>
              <a:ext uri="{FF2B5EF4-FFF2-40B4-BE49-F238E27FC236}">
                <a16:creationId xmlns:a16="http://schemas.microsoft.com/office/drawing/2014/main" id="{9E37B12E-4902-4CD2-B851-66653D3338BE}"/>
              </a:ext>
            </a:extLst>
          </p:cNvPr>
          <p:cNvSpPr/>
          <p:nvPr/>
        </p:nvSpPr>
        <p:spPr>
          <a:xfrm>
            <a:off x="4031166" y="3231815"/>
            <a:ext cx="7169691" cy="534889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模组化设计、组件独立安装与拆卸等；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549B90C3-6B52-4B10-9954-AE573CECDB6F}"/>
              </a:ext>
            </a:extLst>
          </p:cNvPr>
          <p:cNvSpPr/>
          <p:nvPr/>
        </p:nvSpPr>
        <p:spPr>
          <a:xfrm>
            <a:off x="2694931" y="3390208"/>
            <a:ext cx="11849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可维修性设计</a:t>
            </a:r>
          </a:p>
        </p:txBody>
      </p:sp>
      <p:sp>
        <p:nvSpPr>
          <p:cNvPr id="42" name="圆角矩形 49">
            <a:extLst>
              <a:ext uri="{FF2B5EF4-FFF2-40B4-BE49-F238E27FC236}">
                <a16:creationId xmlns:a16="http://schemas.microsoft.com/office/drawing/2014/main" id="{78775264-CA11-44A8-BDF5-0C63C7E5C735}"/>
              </a:ext>
            </a:extLst>
          </p:cNvPr>
          <p:cNvSpPr/>
          <p:nvPr/>
        </p:nvSpPr>
        <p:spPr>
          <a:xfrm>
            <a:off x="4032642" y="2593350"/>
            <a:ext cx="7169691" cy="399573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需满足曙光可靠性测试条件；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B681C211-C9F9-429B-97CF-E800BB7F0201}"/>
              </a:ext>
            </a:extLst>
          </p:cNvPr>
          <p:cNvSpPr/>
          <p:nvPr/>
        </p:nvSpPr>
        <p:spPr>
          <a:xfrm>
            <a:off x="2771876" y="4151265"/>
            <a:ext cx="11079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可测试性设计</a:t>
            </a:r>
          </a:p>
        </p:txBody>
      </p:sp>
      <p:sp>
        <p:nvSpPr>
          <p:cNvPr id="44" name="圆角矩形 49">
            <a:extLst>
              <a:ext uri="{FF2B5EF4-FFF2-40B4-BE49-F238E27FC236}">
                <a16:creationId xmlns:a16="http://schemas.microsoft.com/office/drawing/2014/main" id="{EA937EFF-7BCF-49A7-A2DA-68E97A409199}"/>
              </a:ext>
            </a:extLst>
          </p:cNvPr>
          <p:cNvSpPr/>
          <p:nvPr/>
        </p:nvSpPr>
        <p:spPr>
          <a:xfrm>
            <a:off x="4032648" y="4689076"/>
            <a:ext cx="7169691" cy="508724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大于额定功耗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1350W</a:t>
            </a:r>
            <a:r>
              <a:rPr lang="zh-CN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以下服务器产品进行安规和电磁兼容测试要求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，以上不做要求，以产品经理需求为准；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CC3FD389-B952-4262-9D8A-DD9E2007E9F6}"/>
              </a:ext>
            </a:extLst>
          </p:cNvPr>
          <p:cNvSpPr/>
          <p:nvPr/>
        </p:nvSpPr>
        <p:spPr>
          <a:xfrm>
            <a:off x="2773358" y="4836326"/>
            <a:ext cx="1113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系统安全性设计</a:t>
            </a:r>
          </a:p>
        </p:txBody>
      </p:sp>
      <p:sp>
        <p:nvSpPr>
          <p:cNvPr id="46" name="圆角矩形 49">
            <a:extLst>
              <a:ext uri="{FF2B5EF4-FFF2-40B4-BE49-F238E27FC236}">
                <a16:creationId xmlns:a16="http://schemas.microsoft.com/office/drawing/2014/main" id="{48714BC7-5D44-4F41-BE87-723B03B0D84F}"/>
              </a:ext>
            </a:extLst>
          </p:cNvPr>
          <p:cNvSpPr/>
          <p:nvPr/>
        </p:nvSpPr>
        <p:spPr>
          <a:xfrm>
            <a:off x="4043002" y="5374136"/>
            <a:ext cx="7169691" cy="482081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温度、湿度、海拔高度、噪声要求等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E829A8D1-CFA1-4F39-843A-2F36782D95D7}"/>
              </a:ext>
            </a:extLst>
          </p:cNvPr>
          <p:cNvSpPr/>
          <p:nvPr/>
        </p:nvSpPr>
        <p:spPr>
          <a:xfrm>
            <a:off x="2783712" y="5494744"/>
            <a:ext cx="1113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系统环境适应性设计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2AD7C75-11C7-45DA-8568-1FF16CD56CFD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43803A2-C5BA-42FF-9F35-B277581DFCAF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72E41022-DA56-4CCA-A486-5DE4747137C3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89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DB8BC9F0-0AD3-4E1E-9F64-A6B30F5ED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zh-CN" altLang="en-US" dirty="0"/>
              <a:t>概要设计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C6F34A-1D06-4878-A0EF-2587B2516796}"/>
              </a:ext>
            </a:extLst>
          </p:cNvPr>
          <p:cNvSpPr/>
          <p:nvPr/>
        </p:nvSpPr>
        <p:spPr>
          <a:xfrm>
            <a:off x="2659557" y="1105524"/>
            <a:ext cx="8283124" cy="1530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/>
              <a:t>重要件选择原则：关键件指不含关键特性但是含有重要特性的单元件，即若该单元件不满足要求，将导致产品不能完成主要任务。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/>
              <a:t>关键件选择原则：关键件指含有关键特性的单元件，即若该单元件不能满足要求，将危机人身安全并导致产品不能完成主要任务的</a:t>
            </a:r>
            <a:r>
              <a:rPr lang="zh-CN" altLang="en-US" sz="1600" dirty="0"/>
              <a:t>；</a:t>
            </a:r>
            <a:endParaRPr lang="zh-CN" altLang="zh-CN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B84871-2940-414B-8EAA-2D16E31B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364" y="3117138"/>
            <a:ext cx="4929053" cy="1955484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505860-4B38-4AC0-A456-A22B18A54314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9E54578E-09DA-41B2-BC3A-40D2EEC15C25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B85136-CC36-44BE-BC6F-F50BF94DDCEB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D7D76C1-D045-45C0-BBC3-E2AB98C0B21F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E6094C5-CA6B-4CE1-A99A-3D45A2627980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6178ADF-581A-4507-85F9-2D33E584CE8D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14A3E4-61B7-4F21-9A72-0EA176B3AA58}"/>
              </a:ext>
            </a:extLst>
          </p:cNvPr>
          <p:cNvCxnSpPr>
            <a:stCxn id="15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3127B9-A276-48C4-B142-A1CFE7FCAA48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56DA791-1A1A-4C56-BD28-98EE15D03B1C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E059C1-ADA7-4A03-B054-68543652A2FF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B18038E-3E7A-440F-9A96-BF58B66145BC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0D45FA8-F504-4A16-B5A1-841A41EF74D0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1777F9A-7E74-4785-B601-CD46D0C880D7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87A11D7-B91A-4759-996B-01D5DDC5DD0A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295B1F8A-3124-40F8-A7B7-DF7E4AC26C81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7457457-E238-4E25-8761-323E1A90F723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FF69C64-8A7D-49D0-86E7-6D78723465D1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12C1F2E-B018-4690-940C-358D14F7ACB6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79CD0A91-94A3-4C0F-81A9-A63188D75F25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1671B68-B931-4750-A8AE-B835EE005307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A0292A24-E722-47C7-936A-F9AA588807FD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AB4549A-54FA-48B6-8D77-519BC4AB7EEC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5D7A538A-244B-4064-B052-95F102DB53D7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351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">
            <a:extLst>
              <a:ext uri="{FF2B5EF4-FFF2-40B4-BE49-F238E27FC236}">
                <a16:creationId xmlns:a16="http://schemas.microsoft.com/office/drawing/2014/main" id="{D02AD6E0-B62C-4E4C-9DF6-67EBD01E7BEC}"/>
              </a:ext>
            </a:extLst>
          </p:cNvPr>
          <p:cNvSpPr txBox="1">
            <a:spLocks/>
          </p:cNvSpPr>
          <p:nvPr/>
        </p:nvSpPr>
        <p:spPr>
          <a:xfrm>
            <a:off x="226284" y="168984"/>
            <a:ext cx="9889099" cy="672075"/>
          </a:xfrm>
          <a:prstGeom prst="rect">
            <a:avLst/>
          </a:prstGeom>
        </p:spPr>
        <p:txBody>
          <a:bodyPr/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3733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概要设计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AAEE6A-37EF-4207-8FAA-98884EAEE8D7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98BA83-DD95-48CD-B136-43779886133C}"/>
              </a:ext>
            </a:extLst>
          </p:cNvPr>
          <p:cNvCxnSpPr>
            <a:cxnSpLocks/>
          </p:cNvCxnSpPr>
          <p:nvPr/>
        </p:nvCxnSpPr>
        <p:spPr>
          <a:xfrm flipH="1">
            <a:off x="294489" y="1412611"/>
            <a:ext cx="13302" cy="493246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570C6AD-2732-41AD-B3D7-C3EACE097C8D}"/>
              </a:ext>
            </a:extLst>
          </p:cNvPr>
          <p:cNvSpPr/>
          <p:nvPr/>
        </p:nvSpPr>
        <p:spPr>
          <a:xfrm>
            <a:off x="583943" y="4661530"/>
            <a:ext cx="1659091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散热仿真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9C1834-424D-4FA8-8F28-C37F85B0A9B2}"/>
              </a:ext>
            </a:extLst>
          </p:cNvPr>
          <p:cNvSpPr/>
          <p:nvPr/>
        </p:nvSpPr>
        <p:spPr>
          <a:xfrm>
            <a:off x="583942" y="5160186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制定测试配置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C3AFBA4-1A2C-461A-8713-5575E33FDE8C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041F1F-0644-42ED-B81F-6ABF37F2100D}"/>
              </a:ext>
            </a:extLst>
          </p:cNvPr>
          <p:cNvCxnSpPr/>
          <p:nvPr/>
        </p:nvCxnSpPr>
        <p:spPr>
          <a:xfrm flipH="1">
            <a:off x="295912" y="484075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3C53D35-E976-4502-B8A5-BB27D4321BAC}"/>
              </a:ext>
            </a:extLst>
          </p:cNvPr>
          <p:cNvCxnSpPr/>
          <p:nvPr/>
        </p:nvCxnSpPr>
        <p:spPr>
          <a:xfrm flipH="1">
            <a:off x="295912" y="5334877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5675A1-67E5-4CE6-B54B-F1AE709830F6}"/>
              </a:ext>
            </a:extLst>
          </p:cNvPr>
          <p:cNvSpPr/>
          <p:nvPr/>
        </p:nvSpPr>
        <p:spPr>
          <a:xfrm>
            <a:off x="943102" y="2105816"/>
            <a:ext cx="1224136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系统设计方案选择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E8C478A-53AC-4721-B5A4-63FA96C64F82}"/>
              </a:ext>
            </a:extLst>
          </p:cNvPr>
          <p:cNvCxnSpPr>
            <a:stCxn id="19" idx="1"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4375F61-D9DC-47F3-9CD0-F51363ED4552}"/>
              </a:ext>
            </a:extLst>
          </p:cNvPr>
          <p:cNvCxnSpPr>
            <a:cxnSpLocks/>
          </p:cNvCxnSpPr>
          <p:nvPr/>
        </p:nvCxnSpPr>
        <p:spPr>
          <a:xfrm flipH="1">
            <a:off x="724313" y="1929482"/>
            <a:ext cx="8295" cy="243265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108E509D-E30F-4967-861C-404886B013D0}"/>
              </a:ext>
            </a:extLst>
          </p:cNvPr>
          <p:cNvSpPr/>
          <p:nvPr/>
        </p:nvSpPr>
        <p:spPr>
          <a:xfrm>
            <a:off x="943102" y="2635815"/>
            <a:ext cx="1218609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381FD6-EBD9-4B33-BAD9-2451943EACE5}"/>
              </a:ext>
            </a:extLst>
          </p:cNvPr>
          <p:cNvSpPr/>
          <p:nvPr/>
        </p:nvSpPr>
        <p:spPr>
          <a:xfrm>
            <a:off x="943102" y="3174150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37D3AD8-DF54-4FFA-A5CF-9E26C2718C24}"/>
              </a:ext>
            </a:extLst>
          </p:cNvPr>
          <p:cNvCxnSpPr/>
          <p:nvPr/>
        </p:nvCxnSpPr>
        <p:spPr>
          <a:xfrm flipH="1">
            <a:off x="727078" y="2833059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9535F45-DEB1-484B-A80A-3623C87234FF}"/>
              </a:ext>
            </a:extLst>
          </p:cNvPr>
          <p:cNvCxnSpPr/>
          <p:nvPr/>
        </p:nvCxnSpPr>
        <p:spPr>
          <a:xfrm flipH="1">
            <a:off x="727078" y="3337115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59DD144F-D93E-4173-A33C-8A3649FFBCF8}"/>
              </a:ext>
            </a:extLst>
          </p:cNvPr>
          <p:cNvSpPr/>
          <p:nvPr/>
        </p:nvSpPr>
        <p:spPr>
          <a:xfrm>
            <a:off x="945705" y="3672297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系统六性设计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2D66A2F-E250-4F64-BC69-0F3DB6A85654}"/>
              </a:ext>
            </a:extLst>
          </p:cNvPr>
          <p:cNvCxnSpPr/>
          <p:nvPr/>
        </p:nvCxnSpPr>
        <p:spPr>
          <a:xfrm flipH="1">
            <a:off x="729681" y="3835262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36F8BD2-C431-4FA6-BAD7-C8495A867679}"/>
              </a:ext>
            </a:extLst>
          </p:cNvPr>
          <p:cNvSpPr/>
          <p:nvPr/>
        </p:nvSpPr>
        <p:spPr>
          <a:xfrm>
            <a:off x="950055" y="4199173"/>
            <a:ext cx="1218609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系统关键件与重要件清单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A2F9DAF-436E-45DB-8776-115C59905E9F}"/>
              </a:ext>
            </a:extLst>
          </p:cNvPr>
          <p:cNvCxnSpPr/>
          <p:nvPr/>
        </p:nvCxnSpPr>
        <p:spPr>
          <a:xfrm flipH="1">
            <a:off x="734031" y="4362138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9E252387-06F9-4B10-A24E-3C9DC6A146D0}"/>
              </a:ext>
            </a:extLst>
          </p:cNvPr>
          <p:cNvSpPr/>
          <p:nvPr/>
        </p:nvSpPr>
        <p:spPr>
          <a:xfrm>
            <a:off x="588289" y="5687055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提供产品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发布策略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19CE2FA-E9D2-40C4-A8B9-B28F133FCCCA}"/>
              </a:ext>
            </a:extLst>
          </p:cNvPr>
          <p:cNvCxnSpPr/>
          <p:nvPr/>
        </p:nvCxnSpPr>
        <p:spPr>
          <a:xfrm flipH="1">
            <a:off x="300259" y="586174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25B1DC42-CA5E-4C78-AEB0-ACAE2A86A20F}"/>
              </a:ext>
            </a:extLst>
          </p:cNvPr>
          <p:cNvSpPr/>
          <p:nvPr/>
        </p:nvSpPr>
        <p:spPr>
          <a:xfrm>
            <a:off x="592642" y="6170383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BOM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9B58029-8734-4042-97CE-901AA15E8628}"/>
              </a:ext>
            </a:extLst>
          </p:cNvPr>
          <p:cNvCxnSpPr/>
          <p:nvPr/>
        </p:nvCxnSpPr>
        <p:spPr>
          <a:xfrm flipH="1">
            <a:off x="304612" y="634507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圆角矩形 49">
            <a:extLst>
              <a:ext uri="{FF2B5EF4-FFF2-40B4-BE49-F238E27FC236}">
                <a16:creationId xmlns:a16="http://schemas.microsoft.com/office/drawing/2014/main" id="{83169119-9C03-4388-B9D6-A8C13CE4B397}"/>
              </a:ext>
            </a:extLst>
          </p:cNvPr>
          <p:cNvSpPr/>
          <p:nvPr/>
        </p:nvSpPr>
        <p:spPr>
          <a:xfrm>
            <a:off x="4020808" y="1983331"/>
            <a:ext cx="7169691" cy="569698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建立散热仿真模型：基于结构给出</a:t>
            </a:r>
            <a:r>
              <a:rPr lang="en-US" altLang="zh-CN" sz="1100" dirty="0">
                <a:solidFill>
                  <a:schemeClr val="tx1"/>
                </a:solidFill>
              </a:rPr>
              <a:t>3D</a:t>
            </a:r>
            <a:r>
              <a:rPr lang="zh-CN" altLang="en-US" sz="1100" dirty="0">
                <a:solidFill>
                  <a:schemeClr val="tx1"/>
                </a:solidFill>
              </a:rPr>
              <a:t>图，建立散热仿真模型；</a:t>
            </a:r>
            <a:endParaRPr lang="en-US" altLang="zh-CN" sz="11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系统散热方案优化：风扇选型，导风罩及散热器概要设计，仿真分析，给出初版散热方案；</a:t>
            </a:r>
            <a:endParaRPr lang="en-US" altLang="zh-CN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zh-CN" altLang="en-US" sz="11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494ACE0F-6311-46B5-9C82-294DF8012941}"/>
              </a:ext>
            </a:extLst>
          </p:cNvPr>
          <p:cNvSpPr/>
          <p:nvPr/>
        </p:nvSpPr>
        <p:spPr>
          <a:xfrm>
            <a:off x="2684574" y="2141724"/>
            <a:ext cx="11849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散热仿真</a:t>
            </a:r>
          </a:p>
        </p:txBody>
      </p:sp>
      <p:sp>
        <p:nvSpPr>
          <p:cNvPr id="37" name="圆角矩形 49">
            <a:extLst>
              <a:ext uri="{FF2B5EF4-FFF2-40B4-BE49-F238E27FC236}">
                <a16:creationId xmlns:a16="http://schemas.microsoft.com/office/drawing/2014/main" id="{BAF584DC-9E22-4681-B1CD-2E4773794EFF}"/>
              </a:ext>
            </a:extLst>
          </p:cNvPr>
          <p:cNvSpPr/>
          <p:nvPr/>
        </p:nvSpPr>
        <p:spPr>
          <a:xfrm>
            <a:off x="4032642" y="4390771"/>
            <a:ext cx="7169691" cy="569698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产品早期</a:t>
            </a:r>
            <a:r>
              <a:rPr lang="en-US" altLang="zh-CN" sz="1100" dirty="0">
                <a:solidFill>
                  <a:schemeClr val="tx1"/>
                </a:solidFill>
              </a:rPr>
              <a:t>BOM</a:t>
            </a:r>
            <a:r>
              <a:rPr lang="zh-CN" altLang="en-US" sz="1100" dirty="0">
                <a:solidFill>
                  <a:schemeClr val="tx1"/>
                </a:solidFill>
              </a:rPr>
              <a:t>清单明细 </a:t>
            </a:r>
            <a:r>
              <a:rPr lang="en-US" altLang="zh-CN" sz="1100" dirty="0">
                <a:solidFill>
                  <a:schemeClr val="tx1"/>
                </a:solidFill>
              </a:rPr>
              <a:t>(</a:t>
            </a:r>
            <a:r>
              <a:rPr lang="zh-CN" altLang="en-US" sz="1100" dirty="0">
                <a:solidFill>
                  <a:schemeClr val="tx1"/>
                </a:solidFill>
              </a:rPr>
              <a:t>需上传</a:t>
            </a:r>
            <a:r>
              <a:rPr lang="en-US" altLang="zh-CN" sz="1100" dirty="0">
                <a:solidFill>
                  <a:schemeClr val="tx1"/>
                </a:solidFill>
              </a:rPr>
              <a:t>PLM</a:t>
            </a:r>
            <a:r>
              <a:rPr lang="zh-CN" altLang="en-US" sz="1100" dirty="0">
                <a:solidFill>
                  <a:schemeClr val="tx1"/>
                </a:solidFill>
              </a:rPr>
              <a:t>系统任务）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8FB74D09-BC30-46E2-A026-4D4E93E17FA4}"/>
              </a:ext>
            </a:extLst>
          </p:cNvPr>
          <p:cNvSpPr/>
          <p:nvPr/>
        </p:nvSpPr>
        <p:spPr>
          <a:xfrm>
            <a:off x="2771875" y="2912863"/>
            <a:ext cx="11079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制定测试配置</a:t>
            </a:r>
          </a:p>
        </p:txBody>
      </p:sp>
      <p:sp>
        <p:nvSpPr>
          <p:cNvPr id="39" name="圆角矩形 49">
            <a:extLst>
              <a:ext uri="{FF2B5EF4-FFF2-40B4-BE49-F238E27FC236}">
                <a16:creationId xmlns:a16="http://schemas.microsoft.com/office/drawing/2014/main" id="{B1B45FC5-42F3-46C5-8ED8-C2381BDCCBBA}"/>
              </a:ext>
            </a:extLst>
          </p:cNvPr>
          <p:cNvSpPr/>
          <p:nvPr/>
        </p:nvSpPr>
        <p:spPr>
          <a:xfrm>
            <a:off x="4058284" y="3542217"/>
            <a:ext cx="7169691" cy="534889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主要包含客户送测、早期供货等时间点要求</a:t>
            </a:r>
            <a:r>
              <a:rPr lang="en-US" altLang="zh-CN" sz="1100" dirty="0">
                <a:solidFill>
                  <a:schemeClr val="tx1"/>
                </a:solidFill>
              </a:rPr>
              <a:t>(</a:t>
            </a:r>
            <a:r>
              <a:rPr lang="zh-CN" altLang="en-US" sz="1100" dirty="0">
                <a:solidFill>
                  <a:schemeClr val="tx1"/>
                </a:solidFill>
              </a:rPr>
              <a:t>需上传</a:t>
            </a:r>
            <a:r>
              <a:rPr lang="en-US" altLang="zh-CN" sz="1100" dirty="0">
                <a:solidFill>
                  <a:schemeClr val="tx1"/>
                </a:solidFill>
              </a:rPr>
              <a:t>PLM</a:t>
            </a:r>
            <a:r>
              <a:rPr lang="zh-CN" altLang="en-US" sz="1100" dirty="0">
                <a:solidFill>
                  <a:schemeClr val="tx1"/>
                </a:solidFill>
              </a:rPr>
              <a:t>系统任务） ；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F14107A6-0202-4E94-880E-DD93385CFE44}"/>
              </a:ext>
            </a:extLst>
          </p:cNvPr>
          <p:cNvSpPr/>
          <p:nvPr/>
        </p:nvSpPr>
        <p:spPr>
          <a:xfrm>
            <a:off x="2694931" y="3616638"/>
            <a:ext cx="11849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提供产品发布策略</a:t>
            </a:r>
          </a:p>
        </p:txBody>
      </p:sp>
      <p:sp>
        <p:nvSpPr>
          <p:cNvPr id="41" name="圆角矩形 49">
            <a:extLst>
              <a:ext uri="{FF2B5EF4-FFF2-40B4-BE49-F238E27FC236}">
                <a16:creationId xmlns:a16="http://schemas.microsoft.com/office/drawing/2014/main" id="{A39BCF07-71CD-4F06-B9DC-56807DE4A0B0}"/>
              </a:ext>
            </a:extLst>
          </p:cNvPr>
          <p:cNvSpPr/>
          <p:nvPr/>
        </p:nvSpPr>
        <p:spPr>
          <a:xfrm>
            <a:off x="4032642" y="2828489"/>
            <a:ext cx="7169691" cy="399573"/>
          </a:xfrm>
          <a:prstGeom prst="roundRect">
            <a:avLst/>
          </a:prstGeom>
          <a:gradFill>
            <a:gsLst>
              <a:gs pos="42000">
                <a:srgbClr val="F0F0F0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制定产品典型配置清单；</a:t>
            </a:r>
            <a:endParaRPr lang="en-US" altLang="zh-CN" sz="11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提供通用物料清单；</a:t>
            </a:r>
            <a:endParaRPr lang="en-US" altLang="zh-CN" sz="11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/>
                </a:solidFill>
              </a:rPr>
              <a:t>需上传</a:t>
            </a:r>
            <a:r>
              <a:rPr lang="en-US" altLang="zh-CN" sz="1100" dirty="0">
                <a:solidFill>
                  <a:schemeClr val="tx1"/>
                </a:solidFill>
              </a:rPr>
              <a:t>PLM</a:t>
            </a:r>
            <a:r>
              <a:rPr lang="zh-CN" altLang="en-US" sz="1100" dirty="0">
                <a:solidFill>
                  <a:schemeClr val="tx1"/>
                </a:solidFill>
              </a:rPr>
              <a:t>系统</a:t>
            </a:r>
            <a:endParaRPr lang="en-US" altLang="zh-CN" sz="1100" dirty="0">
              <a:solidFill>
                <a:schemeClr val="tx1"/>
              </a:solidFill>
            </a:endParaRP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7C27CAAB-72DB-48F9-9F17-588EC805A9B4}"/>
              </a:ext>
            </a:extLst>
          </p:cNvPr>
          <p:cNvSpPr/>
          <p:nvPr/>
        </p:nvSpPr>
        <p:spPr>
          <a:xfrm>
            <a:off x="2771876" y="4517039"/>
            <a:ext cx="11079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搭建产品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Early BOM</a:t>
            </a:r>
            <a:endParaRPr lang="zh-CN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301D4ED-D379-4531-9040-06C1342F1E1D}"/>
              </a:ext>
            </a:extLst>
          </p:cNvPr>
          <p:cNvCxnSpPr>
            <a:cxnSpLocks/>
          </p:cNvCxnSpPr>
          <p:nvPr/>
        </p:nvCxnSpPr>
        <p:spPr>
          <a:xfrm flipH="1">
            <a:off x="727078" y="2284370"/>
            <a:ext cx="21602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431A592-8FFE-4E0D-8785-DE1F1E7AC604}"/>
              </a:ext>
            </a:extLst>
          </p:cNvPr>
          <p:cNvSpPr/>
          <p:nvPr/>
        </p:nvSpPr>
        <p:spPr>
          <a:xfrm>
            <a:off x="583945" y="1567481"/>
            <a:ext cx="1659090" cy="357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概要设计说明书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18EF0F0-91F0-43CC-AFFB-02E999D74C6A}"/>
              </a:ext>
            </a:extLst>
          </p:cNvPr>
          <p:cNvCxnSpPr/>
          <p:nvPr/>
        </p:nvCxnSpPr>
        <p:spPr>
          <a:xfrm flipH="1">
            <a:off x="295913" y="1738320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43B836F8-7E1F-42A7-A347-C73B9C6DAF2F}"/>
              </a:ext>
            </a:extLst>
          </p:cNvPr>
          <p:cNvSpPr/>
          <p:nvPr/>
        </p:nvSpPr>
        <p:spPr>
          <a:xfrm>
            <a:off x="307791" y="1035722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1300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概要设计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主要工作</a:t>
            </a:r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718736"/>
              </p:ext>
            </p:extLst>
          </p:nvPr>
        </p:nvGraphicFramePr>
        <p:xfrm>
          <a:off x="258230" y="976056"/>
          <a:ext cx="11694421" cy="368541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3015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2499192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5193244">
                  <a:extLst>
                    <a:ext uri="{9D8B030D-6E8A-4147-A177-3AD203B41FA5}">
                      <a16:colId xmlns:a16="http://schemas.microsoft.com/office/drawing/2014/main" val="1193865247"/>
                    </a:ext>
                  </a:extLst>
                </a:gridCol>
                <a:gridCol w="2738970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3926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岗位名称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工作内容</a:t>
                      </a:r>
                      <a:r>
                        <a:rPr lang="en-US" altLang="zh-CN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参与人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输出物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1851614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项目经理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项目进展及状态跟踪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项目进度监控：各技术组概要设计状态跟踪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项目问题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风险监控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项目变更控制（可选）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《QR-D-PH-003-003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项目会议纪要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在研项目状态周报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（双周）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项目严重风险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问题预警（决策委员会）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《QR-D-PH-002-001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项目计划书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（可选）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222767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各组概要设计问题评审问题讨论会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各产品工作者、产品经理、开发经理、系统架构师、评审问题提出人针对同行评审问题进行沟通讨论，形成结论，并追踪至问题闭环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92736"/>
                  </a:ext>
                </a:extLst>
              </a:tr>
              <a:tr h="468848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TR3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概要设计技术状态评审问题讨论会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系统架构师、产品经理、开发经理、评审问题提出人针对评审问题进行沟通讨论，形成结论，并追踪至问题闭环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《TR3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概要设计评审报告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（系统架构师）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97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286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L5 </a:t>
            </a:r>
            <a:r>
              <a:rPr lang="zh-CN" altLang="en-US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开发计划</a:t>
            </a:r>
          </a:p>
        </p:txBody>
      </p:sp>
    </p:spTree>
    <p:extLst>
      <p:ext uri="{BB962C8B-B14F-4D97-AF65-F5344CB8AC3E}">
        <p14:creationId xmlns:p14="http://schemas.microsoft.com/office/powerpoint/2010/main" val="730620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60503" y="1902992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4" name="矩形 3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制定项目管理计划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85011" y="2920619"/>
              <a:ext cx="1653860" cy="1637672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输出物：项目计划书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785011" y="4558292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责任人：项目经理</a:t>
              </a:r>
              <a:endParaRPr lang="en-US" altLang="zh-CN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242921" y="1902992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9" name="矩形 8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制定项目物料计划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85011" y="2920621"/>
              <a:ext cx="1653860" cy="1637671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输出物：物料管理计划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785011" y="4558292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责任人：项目经理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205510" y="1917060"/>
            <a:ext cx="1850615" cy="2545438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3" name="矩形 1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项目可行性估算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85011" y="2953941"/>
              <a:ext cx="1653860" cy="163767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输出物：可行性估算报告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85011" y="4558292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责任人：项目经理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173894" y="1902992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7" name="矩形 16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BIOS</a:t>
              </a:r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版本计划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85011" y="2920621"/>
              <a:ext cx="1653860" cy="1637669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输出物：</a:t>
              </a:r>
              <a:r>
                <a:rPr lang="en-US" altLang="zh-CN" sz="1400" dirty="0">
                  <a:cs typeface="+mn-ea"/>
                  <a:sym typeface="+mn-lt"/>
                </a:rPr>
                <a:t>BIOS</a:t>
              </a:r>
              <a:r>
                <a:rPr lang="zh-CN" altLang="en-US" sz="1400" dirty="0">
                  <a:cs typeface="+mn-ea"/>
                  <a:sym typeface="+mn-lt"/>
                </a:rPr>
                <a:t>版本计划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785011" y="4558289"/>
              <a:ext cx="1653860" cy="8325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BIOS</a:t>
              </a: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工程师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150553" y="1902992"/>
            <a:ext cx="185061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23" name="矩形 2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BMC</a:t>
              </a:r>
              <a:r>
                <a:rPr lang="zh-CN" altLang="en-US" sz="16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版本计划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785011" y="2920621"/>
              <a:ext cx="1653860" cy="1637669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输出物：</a:t>
              </a:r>
              <a:r>
                <a:rPr lang="en-US" altLang="zh-CN" sz="1400" dirty="0">
                  <a:cs typeface="+mn-ea"/>
                  <a:sym typeface="+mn-lt"/>
                </a:rPr>
                <a:t>BMC</a:t>
              </a:r>
              <a:r>
                <a:rPr lang="zh-CN" altLang="en-US" sz="1400" dirty="0">
                  <a:cs typeface="+mn-ea"/>
                  <a:sym typeface="+mn-lt"/>
                </a:rPr>
                <a:t>版本计划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785011" y="4558289"/>
              <a:ext cx="1653860" cy="8325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BMC</a:t>
              </a: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工程师</a:t>
              </a:r>
            </a:p>
          </p:txBody>
        </p:sp>
      </p:grpSp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开发计划</a:t>
            </a:r>
          </a:p>
        </p:txBody>
      </p:sp>
      <p:sp>
        <p:nvSpPr>
          <p:cNvPr id="26" name="标题 7">
            <a:extLst>
              <a:ext uri="{FF2B5EF4-FFF2-40B4-BE49-F238E27FC236}">
                <a16:creationId xmlns:a16="http://schemas.microsoft.com/office/drawing/2014/main" id="{BC396957-5FAE-41CD-8D3C-C0E579E5DDDD}"/>
              </a:ext>
            </a:extLst>
          </p:cNvPr>
          <p:cNvSpPr txBox="1">
            <a:spLocks/>
          </p:cNvSpPr>
          <p:nvPr/>
        </p:nvSpPr>
        <p:spPr>
          <a:xfrm>
            <a:off x="3486824" y="1182174"/>
            <a:ext cx="5257509" cy="513156"/>
          </a:xfrm>
          <a:prstGeom prst="rect">
            <a:avLst/>
          </a:prstGeom>
          <a:solidFill>
            <a:srgbClr val="C0504D"/>
          </a:solidFill>
        </p:spPr>
        <p:txBody>
          <a:bodyPr/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开发计划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896A5D5-0068-4E0E-A937-A3A268705663}"/>
              </a:ext>
            </a:extLst>
          </p:cNvPr>
          <p:cNvGrpSpPr/>
          <p:nvPr/>
        </p:nvGrpSpPr>
        <p:grpSpPr>
          <a:xfrm>
            <a:off x="10132150" y="1914893"/>
            <a:ext cx="1850615" cy="2580019"/>
            <a:chOff x="9470920" y="2079994"/>
            <a:chExt cx="1653860" cy="3156406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98BA932-62BC-44A9-89F8-6005A4E13BE8}"/>
                </a:ext>
              </a:extLst>
            </p:cNvPr>
            <p:cNvSpPr/>
            <p:nvPr/>
          </p:nvSpPr>
          <p:spPr>
            <a:xfrm>
              <a:off x="9470920" y="2079994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制定质量策划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69513B3-2D80-43BD-85BA-C2B585BFE7E6}"/>
                </a:ext>
              </a:extLst>
            </p:cNvPr>
            <p:cNvSpPr/>
            <p:nvPr/>
          </p:nvSpPr>
          <p:spPr>
            <a:xfrm>
              <a:off x="9470920" y="2782327"/>
              <a:ext cx="1653860" cy="1637672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cs typeface="+mn-ea"/>
                  <a:sym typeface="+mn-lt"/>
                </a:rPr>
                <a:t>输出物：项目质量策划书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D4E5220-6712-4AED-B6D5-DD37F2329330}"/>
                </a:ext>
              </a:extLst>
            </p:cNvPr>
            <p:cNvSpPr/>
            <p:nvPr/>
          </p:nvSpPr>
          <p:spPr>
            <a:xfrm>
              <a:off x="9470920" y="4403826"/>
              <a:ext cx="1653860" cy="83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责任人：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DQA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0593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">
            <a:extLst>
              <a:ext uri="{FF2B5EF4-FFF2-40B4-BE49-F238E27FC236}">
                <a16:creationId xmlns:a16="http://schemas.microsoft.com/office/drawing/2014/main" id="{D02AD6E0-B62C-4E4C-9DF6-67EBD01E7BEC}"/>
              </a:ext>
            </a:extLst>
          </p:cNvPr>
          <p:cNvSpPr txBox="1">
            <a:spLocks/>
          </p:cNvSpPr>
          <p:nvPr/>
        </p:nvSpPr>
        <p:spPr>
          <a:xfrm>
            <a:off x="226284" y="168984"/>
            <a:ext cx="9889099" cy="672075"/>
          </a:xfrm>
          <a:prstGeom prst="rect">
            <a:avLst/>
          </a:prstGeom>
        </p:spPr>
        <p:txBody>
          <a:bodyPr/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3733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开发计划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AAEE6A-37EF-4207-8FAA-98884EAEE8D7}"/>
              </a:ext>
            </a:extLst>
          </p:cNvPr>
          <p:cNvSpPr/>
          <p:nvPr/>
        </p:nvSpPr>
        <p:spPr>
          <a:xfrm>
            <a:off x="583945" y="1736297"/>
            <a:ext cx="1659090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98BA83-DD95-48CD-B136-43779886133C}"/>
              </a:ext>
            </a:extLst>
          </p:cNvPr>
          <p:cNvCxnSpPr>
            <a:cxnSpLocks/>
          </p:cNvCxnSpPr>
          <p:nvPr/>
        </p:nvCxnSpPr>
        <p:spPr>
          <a:xfrm flipH="1">
            <a:off x="295912" y="1412611"/>
            <a:ext cx="11879" cy="408605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570C6AD-2732-41AD-B3D7-C3EACE097C8D}"/>
              </a:ext>
            </a:extLst>
          </p:cNvPr>
          <p:cNvSpPr/>
          <p:nvPr/>
        </p:nvSpPr>
        <p:spPr>
          <a:xfrm>
            <a:off x="583943" y="2438839"/>
            <a:ext cx="1659091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制定项目物料计划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9C1834-424D-4FA8-8F28-C37F85B0A9B2}"/>
              </a:ext>
            </a:extLst>
          </p:cNvPr>
          <p:cNvSpPr/>
          <p:nvPr/>
        </p:nvSpPr>
        <p:spPr>
          <a:xfrm>
            <a:off x="583942" y="3162567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可行性估算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C3AFBA4-1A2C-461A-8713-5575E33FDE8C}"/>
              </a:ext>
            </a:extLst>
          </p:cNvPr>
          <p:cNvCxnSpPr/>
          <p:nvPr/>
        </p:nvCxnSpPr>
        <p:spPr>
          <a:xfrm flipH="1">
            <a:off x="295913" y="190713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041F1F-0644-42ED-B81F-6ABF37F2100D}"/>
              </a:ext>
            </a:extLst>
          </p:cNvPr>
          <p:cNvCxnSpPr/>
          <p:nvPr/>
        </p:nvCxnSpPr>
        <p:spPr>
          <a:xfrm flipH="1">
            <a:off x="295912" y="2618065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3C53D35-E976-4502-B8A5-BB27D4321BAC}"/>
              </a:ext>
            </a:extLst>
          </p:cNvPr>
          <p:cNvCxnSpPr/>
          <p:nvPr/>
        </p:nvCxnSpPr>
        <p:spPr>
          <a:xfrm flipH="1">
            <a:off x="295912" y="3337258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781CF6FB-F933-4B3F-BF32-3CCCC3AE3DA9}"/>
              </a:ext>
            </a:extLst>
          </p:cNvPr>
          <p:cNvSpPr/>
          <p:nvPr/>
        </p:nvSpPr>
        <p:spPr>
          <a:xfrm>
            <a:off x="229429" y="1045726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开发计划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252387-06F9-4B10-A24E-3C9DC6A146D0}"/>
              </a:ext>
            </a:extLst>
          </p:cNvPr>
          <p:cNvSpPr/>
          <p:nvPr/>
        </p:nvSpPr>
        <p:spPr>
          <a:xfrm>
            <a:off x="588289" y="3886390"/>
            <a:ext cx="1659092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19CE2FA-E9D2-40C4-A8B9-B28F133FCCCA}"/>
              </a:ext>
            </a:extLst>
          </p:cNvPr>
          <p:cNvCxnSpPr/>
          <p:nvPr/>
        </p:nvCxnSpPr>
        <p:spPr>
          <a:xfrm flipH="1">
            <a:off x="300259" y="4061081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25B1DC42-CA5E-4C78-AEB0-ACAE2A86A20F}"/>
              </a:ext>
            </a:extLst>
          </p:cNvPr>
          <p:cNvSpPr/>
          <p:nvPr/>
        </p:nvSpPr>
        <p:spPr>
          <a:xfrm>
            <a:off x="592642" y="4594800"/>
            <a:ext cx="1659092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9B58029-8734-4042-97CE-901AA15E8628}"/>
              </a:ext>
            </a:extLst>
          </p:cNvPr>
          <p:cNvCxnSpPr/>
          <p:nvPr/>
        </p:nvCxnSpPr>
        <p:spPr>
          <a:xfrm flipH="1">
            <a:off x="304612" y="4769491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F23AF49-A67A-4C29-BC5B-2E12D75ADFE3}"/>
              </a:ext>
            </a:extLst>
          </p:cNvPr>
          <p:cNvSpPr/>
          <p:nvPr/>
        </p:nvSpPr>
        <p:spPr>
          <a:xfrm>
            <a:off x="576226" y="5323973"/>
            <a:ext cx="1659092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制定质量策划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8BB4C1D-A83B-4FD4-AA75-CF94DEE2BB95}"/>
              </a:ext>
            </a:extLst>
          </p:cNvPr>
          <p:cNvCxnSpPr/>
          <p:nvPr/>
        </p:nvCxnSpPr>
        <p:spPr>
          <a:xfrm flipH="1">
            <a:off x="288196" y="549866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D948908-6818-4158-89C4-B1B0D8089DA1}"/>
              </a:ext>
            </a:extLst>
          </p:cNvPr>
          <p:cNvSpPr/>
          <p:nvPr/>
        </p:nvSpPr>
        <p:spPr>
          <a:xfrm>
            <a:off x="2802290" y="925369"/>
            <a:ext cx="8940702" cy="5223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制定项目管理计划：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定义：制定项目管理计划书的过程就是确认项目目标和范围、理清项目资源、思考项目任务和实现方法、解决在实施过程中就质量、时间、成本、风险、问题等重要项目因素的管理及控制，及确定项目交付成果的过程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由项目经理进行编写并产出项目计划书，并进行评审；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制定项目物料计划：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收集产品经理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给出的典配清单，通用物料清单；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部件负责人确认通用物料清单，研发确认开发物料清单及需求数量；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整理制定项目物料计划（各个阶段测试物料清单）；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项目经理确认物料计划合理性，产品总工审核；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项目可行性估算：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主要为项目预算估算：包含物料费用估算、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NRE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、人力费用估算等；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1791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">
            <a:extLst>
              <a:ext uri="{FF2B5EF4-FFF2-40B4-BE49-F238E27FC236}">
                <a16:creationId xmlns:a16="http://schemas.microsoft.com/office/drawing/2014/main" id="{D02AD6E0-B62C-4E4C-9DF6-67EBD01E7BEC}"/>
              </a:ext>
            </a:extLst>
          </p:cNvPr>
          <p:cNvSpPr txBox="1">
            <a:spLocks/>
          </p:cNvSpPr>
          <p:nvPr/>
        </p:nvSpPr>
        <p:spPr>
          <a:xfrm>
            <a:off x="226284" y="168984"/>
            <a:ext cx="9889099" cy="672075"/>
          </a:xfrm>
          <a:prstGeom prst="rect">
            <a:avLst/>
          </a:prstGeom>
        </p:spPr>
        <p:txBody>
          <a:bodyPr/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3733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开发计划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AAEE6A-37EF-4207-8FAA-98884EAEE8D7}"/>
              </a:ext>
            </a:extLst>
          </p:cNvPr>
          <p:cNvSpPr/>
          <p:nvPr/>
        </p:nvSpPr>
        <p:spPr>
          <a:xfrm>
            <a:off x="583945" y="1736297"/>
            <a:ext cx="1659090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制定项目管理计划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98BA83-DD95-48CD-B136-43779886133C}"/>
              </a:ext>
            </a:extLst>
          </p:cNvPr>
          <p:cNvCxnSpPr>
            <a:cxnSpLocks/>
          </p:cNvCxnSpPr>
          <p:nvPr/>
        </p:nvCxnSpPr>
        <p:spPr>
          <a:xfrm flipH="1">
            <a:off x="295912" y="1412611"/>
            <a:ext cx="11879" cy="4086053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570C6AD-2732-41AD-B3D7-C3EACE097C8D}"/>
              </a:ext>
            </a:extLst>
          </p:cNvPr>
          <p:cNvSpPr/>
          <p:nvPr/>
        </p:nvSpPr>
        <p:spPr>
          <a:xfrm>
            <a:off x="583943" y="2438839"/>
            <a:ext cx="1659091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制定项目物料计划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9C1834-424D-4FA8-8F28-C37F85B0A9B2}"/>
              </a:ext>
            </a:extLst>
          </p:cNvPr>
          <p:cNvSpPr/>
          <p:nvPr/>
        </p:nvSpPr>
        <p:spPr>
          <a:xfrm>
            <a:off x="583942" y="3162567"/>
            <a:ext cx="1659092" cy="357108"/>
          </a:xfrm>
          <a:prstGeom prst="rect">
            <a:avLst/>
          </a:prstGeom>
          <a:solidFill>
            <a:srgbClr val="B9B9B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项目可行性估算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C3AFBA4-1A2C-461A-8713-5575E33FDE8C}"/>
              </a:ext>
            </a:extLst>
          </p:cNvPr>
          <p:cNvCxnSpPr/>
          <p:nvPr/>
        </p:nvCxnSpPr>
        <p:spPr>
          <a:xfrm flipH="1">
            <a:off x="295913" y="1907136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041F1F-0644-42ED-B81F-6ABF37F2100D}"/>
              </a:ext>
            </a:extLst>
          </p:cNvPr>
          <p:cNvCxnSpPr/>
          <p:nvPr/>
        </p:nvCxnSpPr>
        <p:spPr>
          <a:xfrm flipH="1">
            <a:off x="295912" y="2618065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3C53D35-E976-4502-B8A5-BB27D4321BAC}"/>
              </a:ext>
            </a:extLst>
          </p:cNvPr>
          <p:cNvCxnSpPr/>
          <p:nvPr/>
        </p:nvCxnSpPr>
        <p:spPr>
          <a:xfrm flipH="1">
            <a:off x="295912" y="3337258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781CF6FB-F933-4B3F-BF32-3CCCC3AE3DA9}"/>
              </a:ext>
            </a:extLst>
          </p:cNvPr>
          <p:cNvSpPr/>
          <p:nvPr/>
        </p:nvSpPr>
        <p:spPr>
          <a:xfrm>
            <a:off x="229429" y="1045726"/>
            <a:ext cx="2088233" cy="366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开发计划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252387-06F9-4B10-A24E-3C9DC6A146D0}"/>
              </a:ext>
            </a:extLst>
          </p:cNvPr>
          <p:cNvSpPr/>
          <p:nvPr/>
        </p:nvSpPr>
        <p:spPr>
          <a:xfrm>
            <a:off x="588289" y="3886390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19CE2FA-E9D2-40C4-A8B9-B28F133FCCCA}"/>
              </a:ext>
            </a:extLst>
          </p:cNvPr>
          <p:cNvCxnSpPr/>
          <p:nvPr/>
        </p:nvCxnSpPr>
        <p:spPr>
          <a:xfrm flipH="1">
            <a:off x="300259" y="4061081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25B1DC42-CA5E-4C78-AEB0-ACAE2A86A20F}"/>
              </a:ext>
            </a:extLst>
          </p:cNvPr>
          <p:cNvSpPr/>
          <p:nvPr/>
        </p:nvSpPr>
        <p:spPr>
          <a:xfrm>
            <a:off x="592642" y="4594800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版本计划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9B58029-8734-4042-97CE-901AA15E8628}"/>
              </a:ext>
            </a:extLst>
          </p:cNvPr>
          <p:cNvCxnSpPr/>
          <p:nvPr/>
        </p:nvCxnSpPr>
        <p:spPr>
          <a:xfrm flipH="1">
            <a:off x="304612" y="4769491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F23AF49-A67A-4C29-BC5B-2E12D75ADFE3}"/>
              </a:ext>
            </a:extLst>
          </p:cNvPr>
          <p:cNvSpPr/>
          <p:nvPr/>
        </p:nvSpPr>
        <p:spPr>
          <a:xfrm>
            <a:off x="576226" y="5323973"/>
            <a:ext cx="1659092" cy="35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质量策划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8BB4C1D-A83B-4FD4-AA75-CF94DEE2BB95}"/>
              </a:ext>
            </a:extLst>
          </p:cNvPr>
          <p:cNvCxnSpPr/>
          <p:nvPr/>
        </p:nvCxnSpPr>
        <p:spPr>
          <a:xfrm flipH="1">
            <a:off x="288196" y="5498664"/>
            <a:ext cx="288030" cy="0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D948908-6818-4158-89C4-B1B0D8089DA1}"/>
              </a:ext>
            </a:extLst>
          </p:cNvPr>
          <p:cNvSpPr/>
          <p:nvPr/>
        </p:nvSpPr>
        <p:spPr>
          <a:xfrm>
            <a:off x="2802290" y="925369"/>
            <a:ext cx="8940702" cy="4486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BIOS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版本计划：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BIOS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工程师提供，主要包含各个阶段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BIOS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迭代发版的功能、时间以及版本；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BMC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版本计划：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BMC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工程师提供，主要包含各个阶段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BMC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迭代发版的功能、时间以及版本；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制定质量策划：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DQA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工程师提供，主要包含：项目组成员、项目质量目标、系统规格、物料清单、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PRD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需求规格、个阶段质量评估（过程符合性、文档齐备性、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、严重问题重点说明等）、产品质量回溯（上一代产品遗留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bug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说明）等；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阶段质量评估中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目标值需与项目组成员提前讨论并达成共识；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DQA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需要召开会议对产品质量回溯问题进行讨论，制定执行计划和共识，以便后续执行和跟踪；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4196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开发计划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主要工作</a:t>
            </a:r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029263"/>
              </p:ext>
            </p:extLst>
          </p:nvPr>
        </p:nvGraphicFramePr>
        <p:xfrm>
          <a:off x="248789" y="1094372"/>
          <a:ext cx="11694421" cy="47592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3015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2499192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5193244">
                  <a:extLst>
                    <a:ext uri="{9D8B030D-6E8A-4147-A177-3AD203B41FA5}">
                      <a16:colId xmlns:a16="http://schemas.microsoft.com/office/drawing/2014/main" val="1193865247"/>
                    </a:ext>
                  </a:extLst>
                </a:gridCol>
                <a:gridCol w="2738970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3926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岗位名称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工作内容</a:t>
                      </a:r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参与人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输出物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592914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项目经理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制定项目管理计划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编写项目计划书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在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PLM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上完成评审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《QR-D-PH-002-001 </a:t>
                      </a: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项目计划书</a:t>
                      </a: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29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制定项目物料计划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收集产品经理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B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给出的典配清单，通用物料清单；</a:t>
                      </a:r>
                      <a:endParaRPr lang="en-US" altLang="zh-C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部件负责人确认通用物料清单，研发确认开发物料清单及需求数量；</a:t>
                      </a:r>
                      <a:endParaRPr lang="en-US" altLang="zh-C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整理制定项目物料计划（各个阶段测试物料清单）；</a:t>
                      </a:r>
                      <a:endParaRPr lang="en-US" altLang="zh-C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项目经理确认物料计划合理性，产品总工审核；</a:t>
                      </a:r>
                      <a:endParaRPr lang="en-US" altLang="zh-C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物料管理计划</a:t>
                      </a:r>
                      <a:endParaRPr lang="en-US" altLang="zh-CN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077152"/>
                  </a:ext>
                </a:extLst>
              </a:tr>
              <a:tr h="447728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项目可行性估算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主要为项目预算估算：包含物料费用估算、</a:t>
                      </a:r>
                      <a:r>
                        <a:rPr lang="en-US" altLang="zh-CN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NRE</a:t>
                      </a:r>
                      <a:r>
                        <a:rPr lang="zh-CN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cs typeface="+mn-ea"/>
                          <a:sym typeface="+mn-lt"/>
                        </a:rPr>
                        <a:t>、人力费用估算等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可行性估算报告</a:t>
                      </a:r>
                      <a:endParaRPr lang="en-US" altLang="zh-CN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18231"/>
                  </a:ext>
                </a:extLst>
              </a:tr>
              <a:tr h="1419497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项目进展及状态跟踪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项目进度监控：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各技术组开发计划进度跟踪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项目问题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风险监控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项目变更控制</a:t>
                      </a:r>
                      <a:endParaRPr lang="en-US" altLang="zh-CN" sz="1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《QR-D-PH-003-003</a:t>
                      </a: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项目会议纪要</a:t>
                      </a: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</a:t>
                      </a: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在研项目状态周报</a:t>
                      </a: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（双周）</a:t>
                      </a:r>
                      <a:endParaRPr lang="en-US" altLang="zh-CN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项目严重风险</a:t>
                      </a: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问题预警（决策委员会）</a:t>
                      </a:r>
                      <a:endParaRPr lang="en-US" altLang="zh-CN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《QR-D-PH-002-001 </a:t>
                      </a:r>
                      <a:r>
                        <a:rPr lang="zh-CN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项目计划书</a:t>
                      </a:r>
                      <a:r>
                        <a:rPr lang="en-US" altLang="zh-CN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611097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latin typeface="+mn-lt"/>
                          <a:ea typeface="+mn-ea"/>
                          <a:cs typeface="+mn-ea"/>
                          <a:sym typeface="+mn-lt"/>
                        </a:rPr>
                        <a:t>各</a:t>
                      </a:r>
                      <a:r>
                        <a:rPr lang="zh-CN" altLang="en-US" sz="11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组开发计划报告评审问题讨论会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各产品工作者、产品经理、开发经理、评审问题提出人针对评审问题进行沟通讨论，形成结论，并追踪至问题闭环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zh-CN" altLang="en-US" sz="11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9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209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86966"/>
      </p:ext>
    </p:extLst>
  </p:cSld>
  <p:clrMapOvr>
    <a:masterClrMapping/>
  </p:clrMapOvr>
</p:sld>
</file>

<file path=ppt/theme/theme1.xml><?xml version="1.0" encoding="utf-8"?>
<a:theme xmlns:a="http://schemas.openxmlformats.org/drawingml/2006/main" name="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nscpaj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2283</Words>
  <Application>Microsoft Office PowerPoint</Application>
  <PresentationFormat>宽屏</PresentationFormat>
  <Paragraphs>328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Impact</vt:lpstr>
      <vt:lpstr>Wingdings</vt:lpstr>
      <vt:lpstr>演示文稿2</vt:lpstr>
      <vt:lpstr>1_演示文稿2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le</dc:creator>
  <cp:lastModifiedBy>chenxu</cp:lastModifiedBy>
  <cp:revision>561</cp:revision>
  <dcterms:created xsi:type="dcterms:W3CDTF">2020-03-26T01:15:10Z</dcterms:created>
  <dcterms:modified xsi:type="dcterms:W3CDTF">2026-05-29T02:17:29Z</dcterms:modified>
</cp:coreProperties>
</file>