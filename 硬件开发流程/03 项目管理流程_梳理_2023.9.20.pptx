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9.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6.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7.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8.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Override9.xml" ContentType="application/vnd.openxmlformats-officedocument.themeOverr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10.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11.xml" ContentType="application/vnd.openxmlformats-officedocument.themeOverride+xml"/>
  <Override PartName="/ppt/notesSlides/notesSlide31.xml" ContentType="application/vnd.openxmlformats-officedocument.presentationml.notesSlide+xml"/>
  <Override PartName="/ppt/tags/tag1.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 id="2147483684" r:id="rId2"/>
  </p:sldMasterIdLst>
  <p:notesMasterIdLst>
    <p:notesMasterId r:id="rId56"/>
  </p:notesMasterIdLst>
  <p:handoutMasterIdLst>
    <p:handoutMasterId r:id="rId57"/>
  </p:handoutMasterIdLst>
  <p:sldIdLst>
    <p:sldId id="266" r:id="rId3"/>
    <p:sldId id="5606" r:id="rId4"/>
    <p:sldId id="5608" r:id="rId5"/>
    <p:sldId id="5609" r:id="rId6"/>
    <p:sldId id="5610" r:id="rId7"/>
    <p:sldId id="5612" r:id="rId8"/>
    <p:sldId id="5614" r:id="rId9"/>
    <p:sldId id="5533" r:id="rId10"/>
    <p:sldId id="5591" r:id="rId11"/>
    <p:sldId id="5537" r:id="rId12"/>
    <p:sldId id="5593" r:id="rId13"/>
    <p:sldId id="5538" r:id="rId14"/>
    <p:sldId id="5599" r:id="rId15"/>
    <p:sldId id="5539" r:id="rId16"/>
    <p:sldId id="5607" r:id="rId17"/>
    <p:sldId id="5596" r:id="rId18"/>
    <p:sldId id="5600" r:id="rId19"/>
    <p:sldId id="5511" r:id="rId20"/>
    <p:sldId id="5597" r:id="rId21"/>
    <p:sldId id="2637" r:id="rId22"/>
    <p:sldId id="5555" r:id="rId23"/>
    <p:sldId id="2639" r:id="rId24"/>
    <p:sldId id="5558" r:id="rId25"/>
    <p:sldId id="2640" r:id="rId26"/>
    <p:sldId id="5559" r:id="rId27"/>
    <p:sldId id="273" r:id="rId28"/>
    <p:sldId id="274" r:id="rId29"/>
    <p:sldId id="280" r:id="rId30"/>
    <p:sldId id="282" r:id="rId31"/>
    <p:sldId id="355" r:id="rId32"/>
    <p:sldId id="449" r:id="rId33"/>
    <p:sldId id="2629" r:id="rId34"/>
    <p:sldId id="2631" r:id="rId35"/>
    <p:sldId id="443" r:id="rId36"/>
    <p:sldId id="437" r:id="rId37"/>
    <p:sldId id="448" r:id="rId38"/>
    <p:sldId id="453" r:id="rId39"/>
    <p:sldId id="5544" r:id="rId40"/>
    <p:sldId id="5549" r:id="rId41"/>
    <p:sldId id="5548" r:id="rId42"/>
    <p:sldId id="5551" r:id="rId43"/>
    <p:sldId id="5550" r:id="rId44"/>
    <p:sldId id="454" r:id="rId45"/>
    <p:sldId id="5552" r:id="rId46"/>
    <p:sldId id="5553" r:id="rId47"/>
    <p:sldId id="260" r:id="rId48"/>
    <p:sldId id="263" r:id="rId49"/>
    <p:sldId id="264" r:id="rId50"/>
    <p:sldId id="265" r:id="rId51"/>
    <p:sldId id="5554" r:id="rId52"/>
    <p:sldId id="267" r:id="rId53"/>
    <p:sldId id="269" r:id="rId54"/>
    <p:sldId id="270"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E5178FC-F58B-4055-9473-AA293787AFD3}">
          <p14:sldIdLst>
            <p14:sldId id="266"/>
            <p14:sldId id="5606"/>
            <p14:sldId id="5608"/>
            <p14:sldId id="5609"/>
            <p14:sldId id="5610"/>
            <p14:sldId id="5612"/>
            <p14:sldId id="5614"/>
            <p14:sldId id="5533"/>
            <p14:sldId id="5591"/>
            <p14:sldId id="5537"/>
            <p14:sldId id="5593"/>
            <p14:sldId id="5538"/>
            <p14:sldId id="5599"/>
            <p14:sldId id="5539"/>
            <p14:sldId id="5607"/>
            <p14:sldId id="5596"/>
            <p14:sldId id="5600"/>
            <p14:sldId id="5511"/>
            <p14:sldId id="5597"/>
            <p14:sldId id="2637"/>
            <p14:sldId id="5555"/>
            <p14:sldId id="2639"/>
            <p14:sldId id="5558"/>
            <p14:sldId id="2640"/>
            <p14:sldId id="5559"/>
            <p14:sldId id="273"/>
            <p14:sldId id="274"/>
            <p14:sldId id="280"/>
            <p14:sldId id="282"/>
            <p14:sldId id="355"/>
            <p14:sldId id="449"/>
            <p14:sldId id="2629"/>
            <p14:sldId id="2631"/>
            <p14:sldId id="443"/>
            <p14:sldId id="437"/>
            <p14:sldId id="448"/>
            <p14:sldId id="453"/>
            <p14:sldId id="5544"/>
            <p14:sldId id="5549"/>
            <p14:sldId id="5548"/>
            <p14:sldId id="5551"/>
            <p14:sldId id="5550"/>
            <p14:sldId id="454"/>
            <p14:sldId id="5552"/>
            <p14:sldId id="5553"/>
            <p14:sldId id="260"/>
            <p14:sldId id="263"/>
            <p14:sldId id="264"/>
            <p14:sldId id="265"/>
            <p14:sldId id="5554"/>
            <p14:sldId id="267"/>
            <p14:sldId id="269"/>
            <p14:sldId id="270"/>
          </p14:sldIdLst>
        </p14:section>
      </p14:sectionLst>
    </p:ext>
    <p:ext uri="{EFAFB233-063F-42B5-8137-9DF3F51BA10A}">
      <p15:sldGuideLst xmlns:p15="http://schemas.microsoft.com/office/powerpoint/2012/main">
        <p15:guide id="1" pos="3863" userDrawn="1">
          <p15:clr>
            <a:srgbClr val="A4A3A4"/>
          </p15:clr>
        </p15:guide>
        <p15:guide id="2" pos="211" userDrawn="1">
          <p15:clr>
            <a:srgbClr val="A4A3A4"/>
          </p15:clr>
        </p15:guide>
        <p15:guide id="3" pos="7423" userDrawn="1">
          <p15:clr>
            <a:srgbClr val="A4A3A4"/>
          </p15:clr>
        </p15:guide>
        <p15:guide id="4" orient="horz" pos="2455" userDrawn="1">
          <p15:clr>
            <a:srgbClr val="A4A3A4"/>
          </p15:clr>
        </p15:guide>
        <p15:guide id="5" orient="horz" pos="3748" userDrawn="1">
          <p15:clr>
            <a:srgbClr val="A4A3A4"/>
          </p15:clr>
        </p15:guide>
        <p15:guide id="6" orient="horz" pos="61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AD2830"/>
    <a:srgbClr val="90B1CA"/>
    <a:srgbClr val="4C7CA0"/>
    <a:srgbClr val="31B6FD"/>
    <a:srgbClr val="00B050"/>
    <a:srgbClr val="0000FF"/>
    <a:srgbClr val="178AA1"/>
    <a:srgbClr val="92B6D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95" autoAdjust="0"/>
  </p:normalViewPr>
  <p:slideViewPr>
    <p:cSldViewPr snapToGrid="0">
      <p:cViewPr varScale="1">
        <p:scale>
          <a:sx n="60" d="100"/>
          <a:sy n="60" d="100"/>
        </p:scale>
        <p:origin x="884" y="48"/>
      </p:cViewPr>
      <p:guideLst>
        <p:guide pos="3863"/>
        <p:guide pos="211"/>
        <p:guide pos="7423"/>
        <p:guide orient="horz" pos="2455"/>
        <p:guide orient="horz" pos="3748"/>
        <p:guide orient="horz" pos="618"/>
      </p:guideLst>
    </p:cSldViewPr>
  </p:slideViewPr>
  <p:notesTextViewPr>
    <p:cViewPr>
      <p:scale>
        <a:sx n="3" d="2"/>
        <a:sy n="3" d="2"/>
      </p:scale>
      <p:origin x="0" y="0"/>
    </p:cViewPr>
  </p:notesTextViewPr>
  <p:notesViewPr>
    <p:cSldViewPr snapToGrid="0">
      <p:cViewPr varScale="1">
        <p:scale>
          <a:sx n="70" d="100"/>
          <a:sy n="70" d="100"/>
        </p:scale>
        <p:origin x="2072"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D14A614-CEDB-C9F3-ABE0-9489A849F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C78A249-662B-E034-19C2-F429269530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11FB33-4576-49F0-8C09-A82E7E676588}" type="datetimeFigureOut">
              <a:rPr lang="zh-CN" altLang="en-US" smtClean="0"/>
              <a:t>2023/9/21</a:t>
            </a:fld>
            <a:endParaRPr lang="zh-CN" altLang="en-US"/>
          </a:p>
        </p:txBody>
      </p:sp>
      <p:sp>
        <p:nvSpPr>
          <p:cNvPr id="4" name="页脚占位符 3">
            <a:extLst>
              <a:ext uri="{FF2B5EF4-FFF2-40B4-BE49-F238E27FC236}">
                <a16:creationId xmlns:a16="http://schemas.microsoft.com/office/drawing/2014/main" id="{652738F5-4B07-1CAF-0FB2-92339C89C4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15ED480-B09D-EFCE-68F6-0C1AEA4EB8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48033A-7436-47B7-B096-79F55A54D826}" type="slidenum">
              <a:rPr lang="zh-CN" altLang="en-US" smtClean="0"/>
              <a:t>‹#›</a:t>
            </a:fld>
            <a:endParaRPr lang="zh-CN" altLang="en-US"/>
          </a:p>
        </p:txBody>
      </p:sp>
    </p:spTree>
    <p:extLst>
      <p:ext uri="{BB962C8B-B14F-4D97-AF65-F5344CB8AC3E}">
        <p14:creationId xmlns:p14="http://schemas.microsoft.com/office/powerpoint/2010/main" val="35965595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D85FD8-D7E8-4890-8E55-B63745F04A23}" type="datetimeFigureOut">
              <a:rPr lang="zh-CN" altLang="en-US" smtClean="0"/>
              <a:t>2023/9/21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E2973E-FEF3-4E2A-9A35-85AC26BD01B9}" type="slidenum">
              <a:rPr lang="zh-CN" altLang="en-US" smtClean="0"/>
              <a:t>‹#›</a:t>
            </a:fld>
            <a:endParaRPr lang="zh-CN" altLang="en-US"/>
          </a:p>
        </p:txBody>
      </p:sp>
    </p:spTree>
    <p:extLst>
      <p:ext uri="{BB962C8B-B14F-4D97-AF65-F5344CB8AC3E}">
        <p14:creationId xmlns:p14="http://schemas.microsoft.com/office/powerpoint/2010/main" val="313420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C96D9-4D4F-4265-8F02-21631B019730}" type="slidenum">
              <a:rPr kumimoji="0" lang="zh-CN" altLang="en-US" sz="13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3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页眉占位符 4"/>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内部资料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接下来重点介绍我们公司硬件新产品的开发控制流程，其各阶段的重点任务</a:t>
            </a:r>
            <a:endParaRPr lang="zh-CN" altLang="en-US" dirty="0"/>
          </a:p>
        </p:txBody>
      </p:sp>
      <p:sp>
        <p:nvSpPr>
          <p:cNvPr id="4" name="灯片编号占位符 3"/>
          <p:cNvSpPr>
            <a:spLocks noGrp="1"/>
          </p:cNvSpPr>
          <p:nvPr>
            <p:ph type="sldNum" sz="quarter" idx="10"/>
          </p:nvPr>
        </p:nvSpPr>
        <p:spPr/>
        <p:txBody>
          <a:bodyPr/>
          <a:lstStyle/>
          <a:p>
            <a:fld id="{3FE2973E-FEF3-4E2A-9A35-85AC26BD01B9}" type="slidenum">
              <a:rPr lang="zh-CN" altLang="en-US" smtClean="0"/>
              <a:t>2</a:t>
            </a:fld>
            <a:endParaRPr lang="zh-CN" altLang="en-US"/>
          </a:p>
        </p:txBody>
      </p:sp>
    </p:spTree>
    <p:extLst>
      <p:ext uri="{BB962C8B-B14F-4D97-AF65-F5344CB8AC3E}">
        <p14:creationId xmlns:p14="http://schemas.microsoft.com/office/powerpoint/2010/main" val="1170598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硬件新产品开发控制流程：</a:t>
            </a:r>
            <a:endParaRPr lang="en-US" altLang="zh-CN" dirty="0" smtClean="0"/>
          </a:p>
          <a:p>
            <a:r>
              <a:rPr lang="zh-CN" altLang="en-US" dirty="0" smtClean="0"/>
              <a:t>按照立项、策划、执行、监控、收尾这个五个过程去执行</a:t>
            </a:r>
            <a:endParaRPr lang="en-US" altLang="zh-CN" dirty="0" smtClean="0"/>
          </a:p>
          <a:p>
            <a:r>
              <a:rPr lang="zh-CN" altLang="en-US" dirty="0" smtClean="0"/>
              <a:t>分预研、计划、研发测试、试制、新产品导入五个大阶段</a:t>
            </a:r>
            <a:endParaRPr lang="en-US" altLang="zh-CN" dirty="0" smtClean="0"/>
          </a:p>
          <a:p>
            <a:r>
              <a:rPr lang="zh-CN" altLang="en-US" dirty="0" smtClean="0"/>
              <a:t>涉及</a:t>
            </a:r>
            <a:r>
              <a:rPr lang="en-US" altLang="zh-CN" dirty="0" smtClean="0"/>
              <a:t>2</a:t>
            </a:r>
            <a:r>
              <a:rPr lang="zh-CN" altLang="en-US" dirty="0" smtClean="0"/>
              <a:t>个重要的决策评审：立项评审以及结项评审</a:t>
            </a:r>
            <a:endParaRPr lang="en-US" altLang="zh-CN" dirty="0" smtClean="0"/>
          </a:p>
          <a:p>
            <a:r>
              <a:rPr lang="en-US" altLang="zh-CN" dirty="0" smtClean="0"/>
              <a:t>3</a:t>
            </a:r>
            <a:r>
              <a:rPr lang="zh-CN" altLang="en-US" dirty="0" smtClean="0"/>
              <a:t>个管理评审：</a:t>
            </a:r>
            <a:r>
              <a:rPr lang="en-US" altLang="zh-CN" dirty="0" smtClean="0"/>
              <a:t>MR1</a:t>
            </a:r>
            <a:r>
              <a:rPr lang="zh-CN" altLang="en-US" dirty="0" smtClean="0"/>
              <a:t>计划评审、</a:t>
            </a:r>
            <a:r>
              <a:rPr lang="en-US" altLang="zh-CN" dirty="0" smtClean="0"/>
              <a:t>MR2DVT</a:t>
            </a:r>
            <a:r>
              <a:rPr lang="zh-CN" altLang="en-US" dirty="0" smtClean="0"/>
              <a:t>准入评审、</a:t>
            </a:r>
            <a:r>
              <a:rPr lang="en-US" altLang="zh-CN" dirty="0" smtClean="0"/>
              <a:t>MR3</a:t>
            </a:r>
            <a:r>
              <a:rPr lang="zh-CN" altLang="en-US" dirty="0" smtClean="0"/>
              <a:t>批量准入评审</a:t>
            </a:r>
            <a:endParaRPr lang="en-US" altLang="zh-CN" dirty="0" smtClean="0"/>
          </a:p>
          <a:p>
            <a:r>
              <a:rPr lang="zh-CN" altLang="en-US" dirty="0" smtClean="0"/>
              <a:t>以及各阶段技术评审</a:t>
            </a:r>
            <a:endParaRPr lang="en-US" altLang="zh-CN" dirty="0" smtClean="0"/>
          </a:p>
          <a:p>
            <a:endParaRPr lang="en-US" altLang="zh-CN" dirty="0" smtClean="0"/>
          </a:p>
          <a:p>
            <a:r>
              <a:rPr lang="zh-CN" altLang="en-US" dirty="0" smtClean="0"/>
              <a:t>在这个大的流程下面 有三个关键角色：产品经理、架构师、项目经理</a:t>
            </a:r>
            <a:endParaRPr lang="en-US" altLang="zh-CN" dirty="0" smtClean="0"/>
          </a:p>
          <a:p>
            <a:r>
              <a:rPr lang="zh-CN" altLang="en-US" dirty="0" smtClean="0"/>
              <a:t>产品经理：提出需求</a:t>
            </a:r>
            <a:endParaRPr lang="en-US" altLang="zh-CN" dirty="0" smtClean="0"/>
          </a:p>
          <a:p>
            <a:r>
              <a:rPr lang="zh-CN" altLang="en-US" dirty="0" smtClean="0"/>
              <a:t>架构师：把控技术</a:t>
            </a:r>
            <a:endParaRPr lang="en-US" altLang="zh-CN" dirty="0" smtClean="0"/>
          </a:p>
          <a:p>
            <a:r>
              <a:rPr lang="zh-CN" altLang="en-US" dirty="0" smtClean="0"/>
              <a:t>项目经理：把控节奏</a:t>
            </a:r>
            <a:endParaRPr lang="en-US" altLang="zh-CN" dirty="0" smtClean="0"/>
          </a:p>
          <a:p>
            <a:r>
              <a:rPr lang="zh-CN" altLang="en-US" dirty="0" smtClean="0"/>
              <a:t>三者互相合作，终极目标是完成一个让各方都满意的成功的项目</a:t>
            </a:r>
            <a:endParaRPr lang="en-US" altLang="zh-CN" dirty="0" smtClean="0"/>
          </a:p>
        </p:txBody>
      </p:sp>
      <p:sp>
        <p:nvSpPr>
          <p:cNvPr id="4" name="灯片编号占位符 3"/>
          <p:cNvSpPr>
            <a:spLocks noGrp="1"/>
          </p:cNvSpPr>
          <p:nvPr>
            <p:ph type="sldNum" sz="quarter" idx="10"/>
          </p:nvPr>
        </p:nvSpPr>
        <p:spPr/>
        <p:txBody>
          <a:bodyPr/>
          <a:lstStyle/>
          <a:p>
            <a:fld id="{3FE2973E-FEF3-4E2A-9A35-85AC26BD01B9}" type="slidenum">
              <a:rPr lang="zh-CN" altLang="en-US" smtClean="0"/>
              <a:t>3</a:t>
            </a:fld>
            <a:endParaRPr lang="zh-CN" altLang="en-US"/>
          </a:p>
        </p:txBody>
      </p:sp>
    </p:spTree>
    <p:extLst>
      <p:ext uri="{BB962C8B-B14F-4D97-AF65-F5344CB8AC3E}">
        <p14:creationId xmlns:p14="http://schemas.microsoft.com/office/powerpoint/2010/main" val="388803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3FE2973E-FEF3-4E2A-9A35-85AC26BD01B9}" type="slidenum">
              <a:rPr lang="zh-CN" altLang="en-US" smtClean="0"/>
              <a:t>4</a:t>
            </a:fld>
            <a:endParaRPr lang="zh-CN" altLang="en-US"/>
          </a:p>
        </p:txBody>
      </p:sp>
    </p:spTree>
    <p:extLst>
      <p:ext uri="{BB962C8B-B14F-4D97-AF65-F5344CB8AC3E}">
        <p14:creationId xmlns:p14="http://schemas.microsoft.com/office/powerpoint/2010/main" val="645240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3FE2973E-FEF3-4E2A-9A35-85AC26BD01B9}" type="slidenum">
              <a:rPr lang="zh-CN" altLang="en-US" smtClean="0"/>
              <a:t>5</a:t>
            </a:fld>
            <a:endParaRPr lang="zh-CN" altLang="en-US"/>
          </a:p>
        </p:txBody>
      </p:sp>
    </p:spTree>
    <p:extLst>
      <p:ext uri="{BB962C8B-B14F-4D97-AF65-F5344CB8AC3E}">
        <p14:creationId xmlns:p14="http://schemas.microsoft.com/office/powerpoint/2010/main" val="976642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3FE2973E-FEF3-4E2A-9A35-85AC26BD01B9}" type="slidenum">
              <a:rPr lang="zh-CN" altLang="en-US" smtClean="0"/>
              <a:t>6</a:t>
            </a:fld>
            <a:endParaRPr lang="zh-CN" altLang="en-US"/>
          </a:p>
        </p:txBody>
      </p:sp>
    </p:spTree>
    <p:extLst>
      <p:ext uri="{BB962C8B-B14F-4D97-AF65-F5344CB8AC3E}">
        <p14:creationId xmlns:p14="http://schemas.microsoft.com/office/powerpoint/2010/main" val="3097870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3FE2973E-FEF3-4E2A-9A35-85AC26BD01B9}" type="slidenum">
              <a:rPr lang="zh-CN" altLang="en-US" smtClean="0"/>
              <a:t>7</a:t>
            </a:fld>
            <a:endParaRPr lang="zh-CN" altLang="en-US"/>
          </a:p>
        </p:txBody>
      </p:sp>
    </p:spTree>
    <p:extLst>
      <p:ext uri="{BB962C8B-B14F-4D97-AF65-F5344CB8AC3E}">
        <p14:creationId xmlns:p14="http://schemas.microsoft.com/office/powerpoint/2010/main" val="2896914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FE2973E-FEF3-4E2A-9A35-85AC26BD01B9}" type="slidenum">
              <a:rPr lang="zh-CN" altLang="en-US" smtClean="0"/>
              <a:t>8</a:t>
            </a:fld>
            <a:endParaRPr lang="zh-CN" altLang="en-US"/>
          </a:p>
        </p:txBody>
      </p:sp>
    </p:spTree>
    <p:extLst>
      <p:ext uri="{BB962C8B-B14F-4D97-AF65-F5344CB8AC3E}">
        <p14:creationId xmlns:p14="http://schemas.microsoft.com/office/powerpoint/2010/main" val="116937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3FE2973E-FEF3-4E2A-9A35-85AC26BD01B9}" type="slidenum">
              <a:rPr lang="zh-CN" altLang="en-US" smtClean="0"/>
              <a:t>10</a:t>
            </a:fld>
            <a:endParaRPr lang="zh-CN" altLang="en-US"/>
          </a:p>
        </p:txBody>
      </p:sp>
    </p:spTree>
    <p:extLst>
      <p:ext uri="{BB962C8B-B14F-4D97-AF65-F5344CB8AC3E}">
        <p14:creationId xmlns:p14="http://schemas.microsoft.com/office/powerpoint/2010/main" val="3876726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FE2973E-FEF3-4E2A-9A35-85AC26BD01B9}" type="slidenum">
              <a:rPr lang="zh-CN" altLang="en-US" smtClean="0"/>
              <a:t>12</a:t>
            </a:fld>
            <a:endParaRPr lang="zh-CN" altLang="en-US"/>
          </a:p>
        </p:txBody>
      </p:sp>
    </p:spTree>
    <p:extLst>
      <p:ext uri="{BB962C8B-B14F-4D97-AF65-F5344CB8AC3E}">
        <p14:creationId xmlns:p14="http://schemas.microsoft.com/office/powerpoint/2010/main" val="4220247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FE2973E-FEF3-4E2A-9A35-85AC26BD01B9}" type="slidenum">
              <a:rPr lang="zh-CN" altLang="en-US" smtClean="0"/>
              <a:t>13</a:t>
            </a:fld>
            <a:endParaRPr lang="zh-CN" altLang="en-US"/>
          </a:p>
        </p:txBody>
      </p:sp>
    </p:spTree>
    <p:extLst>
      <p:ext uri="{BB962C8B-B14F-4D97-AF65-F5344CB8AC3E}">
        <p14:creationId xmlns:p14="http://schemas.microsoft.com/office/powerpoint/2010/main" val="1381487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FE2973E-FEF3-4E2A-9A35-85AC26BD01B9}" type="slidenum">
              <a:rPr lang="zh-CN" altLang="en-US" smtClean="0"/>
              <a:t>14</a:t>
            </a:fld>
            <a:endParaRPr lang="zh-CN" altLang="en-US"/>
          </a:p>
        </p:txBody>
      </p:sp>
    </p:spTree>
    <p:extLst>
      <p:ext uri="{BB962C8B-B14F-4D97-AF65-F5344CB8AC3E}">
        <p14:creationId xmlns:p14="http://schemas.microsoft.com/office/powerpoint/2010/main" val="4170190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C96D9-4D4F-4265-8F02-21631B019730}" type="slidenum">
              <a:rPr kumimoji="0" lang="zh-CN" altLang="en-US" sz="13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3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页眉占位符 4"/>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内部资料</a:t>
            </a:r>
          </a:p>
        </p:txBody>
      </p:sp>
    </p:spTree>
    <p:extLst>
      <p:ext uri="{BB962C8B-B14F-4D97-AF65-F5344CB8AC3E}">
        <p14:creationId xmlns:p14="http://schemas.microsoft.com/office/powerpoint/2010/main" val="3466626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CF7384D0-E8C0-4FB2-93D8-B1A58490B2C5}" type="slidenum">
              <a:rPr lang="zh-CN" altLang="en-US" smtClean="0"/>
              <a:t>20</a:t>
            </a:fld>
            <a:endParaRPr lang="zh-CN" altLang="en-US"/>
          </a:p>
        </p:txBody>
      </p:sp>
    </p:spTree>
    <p:extLst>
      <p:ext uri="{BB962C8B-B14F-4D97-AF65-F5344CB8AC3E}">
        <p14:creationId xmlns:p14="http://schemas.microsoft.com/office/powerpoint/2010/main" val="2822920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F7384D0-E8C0-4FB2-93D8-B1A58490B2C5}" type="slidenum">
              <a:rPr lang="zh-CN" altLang="en-US" smtClean="0"/>
              <a:t>21</a:t>
            </a:fld>
            <a:endParaRPr lang="zh-CN" altLang="en-US"/>
          </a:p>
        </p:txBody>
      </p:sp>
    </p:spTree>
    <p:extLst>
      <p:ext uri="{BB962C8B-B14F-4D97-AF65-F5344CB8AC3E}">
        <p14:creationId xmlns:p14="http://schemas.microsoft.com/office/powerpoint/2010/main" val="3144752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451107-131D-4920-8540-3D58829C1F99}" type="slidenum">
              <a:rPr lang="zh-CN" altLang="en-US" smtClean="0"/>
              <a:t>22</a:t>
            </a:fld>
            <a:endParaRPr lang="zh-CN" altLang="en-US"/>
          </a:p>
        </p:txBody>
      </p:sp>
    </p:spTree>
    <p:extLst>
      <p:ext uri="{BB962C8B-B14F-4D97-AF65-F5344CB8AC3E}">
        <p14:creationId xmlns:p14="http://schemas.microsoft.com/office/powerpoint/2010/main" val="2667927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23</a:t>
            </a:fld>
            <a:endParaRPr lang="zh-CN" altLang="en-US"/>
          </a:p>
        </p:txBody>
      </p:sp>
    </p:spTree>
    <p:extLst>
      <p:ext uri="{BB962C8B-B14F-4D97-AF65-F5344CB8AC3E}">
        <p14:creationId xmlns:p14="http://schemas.microsoft.com/office/powerpoint/2010/main" val="1484919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smtClean="0"/>
              <a:t>      </a:t>
            </a:r>
            <a:endParaRPr lang="zh-CN" altLang="en-US" dirty="0"/>
          </a:p>
        </p:txBody>
      </p:sp>
      <p:sp>
        <p:nvSpPr>
          <p:cNvPr id="4" name="灯片编号占位符 3"/>
          <p:cNvSpPr>
            <a:spLocks noGrp="1"/>
          </p:cNvSpPr>
          <p:nvPr>
            <p:ph type="sldNum" sz="quarter" idx="10"/>
          </p:nvPr>
        </p:nvSpPr>
        <p:spPr/>
        <p:txBody>
          <a:bodyPr/>
          <a:lstStyle/>
          <a:p>
            <a:fld id="{CF7384D0-E8C0-4FB2-93D8-B1A58490B2C5}" type="slidenum">
              <a:rPr lang="zh-CN" altLang="en-US" smtClean="0"/>
              <a:t>24</a:t>
            </a:fld>
            <a:endParaRPr lang="zh-CN" altLang="en-US"/>
          </a:p>
        </p:txBody>
      </p:sp>
    </p:spTree>
    <p:extLst>
      <p:ext uri="{BB962C8B-B14F-4D97-AF65-F5344CB8AC3E}">
        <p14:creationId xmlns:p14="http://schemas.microsoft.com/office/powerpoint/2010/main" val="4279251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25</a:t>
            </a:fld>
            <a:endParaRPr lang="zh-CN" altLang="en-US"/>
          </a:p>
        </p:txBody>
      </p:sp>
    </p:spTree>
    <p:extLst>
      <p:ext uri="{BB962C8B-B14F-4D97-AF65-F5344CB8AC3E}">
        <p14:creationId xmlns:p14="http://schemas.microsoft.com/office/powerpoint/2010/main" val="1844611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F7384D0-E8C0-4FB2-93D8-B1A58490B2C5}" type="slidenum">
              <a:rPr lang="zh-CN" altLang="en-US" smtClean="0"/>
              <a:t>26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F7384D0-E8C0-4FB2-93D8-B1A58490B2C5}" type="slidenum">
              <a:rPr lang="zh-CN" altLang="en-US" smtClean="0"/>
              <a:t>27</a:t>
            </a:fld>
            <a:endParaRPr lang="zh-CN" altLang="en-US"/>
          </a:p>
        </p:txBody>
      </p:sp>
    </p:spTree>
    <p:extLst>
      <p:ext uri="{BB962C8B-B14F-4D97-AF65-F5344CB8AC3E}">
        <p14:creationId xmlns:p14="http://schemas.microsoft.com/office/powerpoint/2010/main" val="3114243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451107-131D-4920-8540-3D58829C1F99}" type="slidenum">
              <a:rPr lang="zh-CN" altLang="en-US" smtClean="0"/>
              <a:t>28</a:t>
            </a:fld>
            <a:endParaRPr lang="zh-CN" altLang="en-US"/>
          </a:p>
        </p:txBody>
      </p:sp>
    </p:spTree>
    <p:extLst>
      <p:ext uri="{BB962C8B-B14F-4D97-AF65-F5344CB8AC3E}">
        <p14:creationId xmlns:p14="http://schemas.microsoft.com/office/powerpoint/2010/main" val="2714299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451107-131D-4920-8540-3D58829C1F99}" type="slidenum">
              <a:rPr lang="zh-CN" altLang="en-US" smtClean="0"/>
              <a:t>29</a:t>
            </a:fld>
            <a:endParaRPr lang="zh-CN" altLang="en-US"/>
          </a:p>
        </p:txBody>
      </p:sp>
    </p:spTree>
    <p:extLst>
      <p:ext uri="{BB962C8B-B14F-4D97-AF65-F5344CB8AC3E}">
        <p14:creationId xmlns:p14="http://schemas.microsoft.com/office/powerpoint/2010/main" val="4119073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30</a:t>
            </a:fld>
            <a:endParaRPr lang="zh-CN" altLang="en-US">
              <a:solidFill>
                <a:prstClr val="black"/>
              </a:solidFill>
            </a:endParaRPr>
          </a:p>
        </p:txBody>
      </p:sp>
    </p:spTree>
    <p:extLst>
      <p:ext uri="{BB962C8B-B14F-4D97-AF65-F5344CB8AC3E}">
        <p14:creationId xmlns:p14="http://schemas.microsoft.com/office/powerpoint/2010/main" val="19173880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31</a:t>
            </a:fld>
            <a:endParaRPr lang="zh-CN" altLang="en-US"/>
          </a:p>
        </p:txBody>
      </p:sp>
    </p:spTree>
    <p:extLst>
      <p:ext uri="{BB962C8B-B14F-4D97-AF65-F5344CB8AC3E}">
        <p14:creationId xmlns:p14="http://schemas.microsoft.com/office/powerpoint/2010/main" val="22918242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C96D9-4D4F-4265-8F02-21631B01973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998892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33</a:t>
            </a:fld>
            <a:endParaRPr lang="zh-CN" altLang="en-US"/>
          </a:p>
        </p:txBody>
      </p:sp>
    </p:spTree>
    <p:extLst>
      <p:ext uri="{BB962C8B-B14F-4D97-AF65-F5344CB8AC3E}">
        <p14:creationId xmlns:p14="http://schemas.microsoft.com/office/powerpoint/2010/main" val="2407792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smtClean="0">
              <a:latin typeface="+mn-lt"/>
              <a:ea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34</a:t>
            </a:fld>
            <a:endParaRPr lang="zh-CN" altLang="en-US"/>
          </a:p>
        </p:txBody>
      </p:sp>
    </p:spTree>
    <p:extLst>
      <p:ext uri="{BB962C8B-B14F-4D97-AF65-F5344CB8AC3E}">
        <p14:creationId xmlns:p14="http://schemas.microsoft.com/office/powerpoint/2010/main" val="37559392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37</a:t>
            </a:fld>
            <a:endParaRPr lang="zh-CN" altLang="en-US"/>
          </a:p>
        </p:txBody>
      </p:sp>
    </p:spTree>
    <p:extLst>
      <p:ext uri="{BB962C8B-B14F-4D97-AF65-F5344CB8AC3E}">
        <p14:creationId xmlns:p14="http://schemas.microsoft.com/office/powerpoint/2010/main" val="22404325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38</a:t>
            </a:fld>
            <a:endParaRPr lang="zh-CN" altLang="en-US"/>
          </a:p>
        </p:txBody>
      </p:sp>
    </p:spTree>
    <p:extLst>
      <p:ext uri="{BB962C8B-B14F-4D97-AF65-F5344CB8AC3E}">
        <p14:creationId xmlns:p14="http://schemas.microsoft.com/office/powerpoint/2010/main" val="1421426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7C96D9-4D4F-4265-8F02-21631B019730}" type="slidenum">
              <a:rPr lang="zh-CN" altLang="en-US" smtClean="0"/>
              <a:t>39</a:t>
            </a:fld>
            <a:endParaRPr lang="zh-CN" altLang="en-US"/>
          </a:p>
        </p:txBody>
      </p:sp>
    </p:spTree>
    <p:extLst>
      <p:ext uri="{BB962C8B-B14F-4D97-AF65-F5344CB8AC3E}">
        <p14:creationId xmlns:p14="http://schemas.microsoft.com/office/powerpoint/2010/main" val="3755939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43</a:t>
            </a:fld>
            <a:endParaRPr lang="zh-CN" altLang="en-US"/>
          </a:p>
        </p:txBody>
      </p:sp>
    </p:spTree>
    <p:extLst>
      <p:ext uri="{BB962C8B-B14F-4D97-AF65-F5344CB8AC3E}">
        <p14:creationId xmlns:p14="http://schemas.microsoft.com/office/powerpoint/2010/main" val="1573770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44</a:t>
            </a:fld>
            <a:endParaRPr lang="zh-CN" altLang="en-US"/>
          </a:p>
        </p:txBody>
      </p:sp>
    </p:spTree>
    <p:extLst>
      <p:ext uri="{BB962C8B-B14F-4D97-AF65-F5344CB8AC3E}">
        <p14:creationId xmlns:p14="http://schemas.microsoft.com/office/powerpoint/2010/main" val="14235112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endParaRPr lang="en-US" altLang="zh-CN" sz="1200" dirty="0">
              <a:solidFill>
                <a:schemeClr val="tx1">
                  <a:lumMod val="75000"/>
                  <a:lumOff val="25000"/>
                </a:schemeClr>
              </a:solidFill>
              <a:latin typeface="+mn-ea"/>
            </a:endParaRPr>
          </a:p>
        </p:txBody>
      </p:sp>
      <p:sp>
        <p:nvSpPr>
          <p:cNvPr id="4" name="灯片编号占位符 3"/>
          <p:cNvSpPr>
            <a:spLocks noGrp="1"/>
          </p:cNvSpPr>
          <p:nvPr>
            <p:ph type="sldNum" sz="quarter" idx="10"/>
          </p:nvPr>
        </p:nvSpPr>
        <p:spPr/>
        <p:txBody>
          <a:bodyPr/>
          <a:lstStyle/>
          <a:p>
            <a:fld id="{777C96D9-4D4F-4265-8F02-21631B019730}" type="slidenum">
              <a:rPr lang="zh-CN" altLang="en-US" smtClean="0"/>
              <a:t>45</a:t>
            </a:fld>
            <a:endParaRPr lang="zh-CN" altLang="en-US"/>
          </a:p>
        </p:txBody>
      </p:sp>
    </p:spTree>
    <p:extLst>
      <p:ext uri="{BB962C8B-B14F-4D97-AF65-F5344CB8AC3E}">
        <p14:creationId xmlns:p14="http://schemas.microsoft.com/office/powerpoint/2010/main" val="9856324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2020</a:t>
            </a:r>
            <a:r>
              <a:rPr lang="zh-CN" altLang="en-US" dirty="0"/>
              <a:t>年商务部下单排产接口人 天津 韩超超。</a:t>
            </a:r>
          </a:p>
        </p:txBody>
      </p:sp>
      <p:sp>
        <p:nvSpPr>
          <p:cNvPr id="4" name="灯片编号占位符 3"/>
          <p:cNvSpPr>
            <a:spLocks noGrp="1"/>
          </p:cNvSpPr>
          <p:nvPr>
            <p:ph type="sldNum" sz="quarter" idx="10"/>
          </p:nvPr>
        </p:nvSpPr>
        <p:spPr/>
        <p:txBody>
          <a:bodyPr/>
          <a:lstStyle/>
          <a:p>
            <a:fld id="{6D451107-131D-4920-8540-3D58829C1F99}" type="slidenum">
              <a:rPr lang="zh-CN" altLang="en-US" smtClean="0"/>
              <a:t>46</a:t>
            </a:fld>
            <a:endParaRPr lang="zh-CN" altLang="en-US"/>
          </a:p>
        </p:txBody>
      </p:sp>
    </p:spTree>
    <p:extLst>
      <p:ext uri="{BB962C8B-B14F-4D97-AF65-F5344CB8AC3E}">
        <p14:creationId xmlns:p14="http://schemas.microsoft.com/office/powerpoint/2010/main" val="42408476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项目经理需下发工艺评审任务给产品工程师。</a:t>
            </a:r>
          </a:p>
        </p:txBody>
      </p:sp>
      <p:sp>
        <p:nvSpPr>
          <p:cNvPr id="4" name="灯片编号占位符 3"/>
          <p:cNvSpPr>
            <a:spLocks noGrp="1"/>
          </p:cNvSpPr>
          <p:nvPr>
            <p:ph type="sldNum" sz="quarter" idx="10"/>
          </p:nvPr>
        </p:nvSpPr>
        <p:spPr/>
        <p:txBody>
          <a:bodyPr/>
          <a:lstStyle/>
          <a:p>
            <a:fld id="{6D451107-131D-4920-8540-3D58829C1F99}" type="slidenum">
              <a:rPr lang="zh-CN" altLang="en-US" smtClean="0"/>
              <a:t>47</a:t>
            </a:fld>
            <a:endParaRPr lang="zh-CN" altLang="en-US"/>
          </a:p>
        </p:txBody>
      </p:sp>
    </p:spTree>
    <p:extLst>
      <p:ext uri="{BB962C8B-B14F-4D97-AF65-F5344CB8AC3E}">
        <p14:creationId xmlns:p14="http://schemas.microsoft.com/office/powerpoint/2010/main" val="7617172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工艺评审责任人产品</a:t>
            </a:r>
            <a:r>
              <a:rPr lang="zh-CN" altLang="en-US" sz="1200" dirty="0">
                <a:solidFill>
                  <a:schemeClr val="tx1">
                    <a:lumMod val="75000"/>
                    <a:lumOff val="25000"/>
                  </a:schemeClr>
                </a:solidFill>
                <a:latin typeface="+mn-ea"/>
              </a:rPr>
              <a:t>工程师，报告输出。</a:t>
            </a:r>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48</a:t>
            </a:fld>
            <a:endParaRPr lang="zh-CN" altLang="en-US"/>
          </a:p>
        </p:txBody>
      </p:sp>
    </p:spTree>
    <p:extLst>
      <p:ext uri="{BB962C8B-B14F-4D97-AF65-F5344CB8AC3E}">
        <p14:creationId xmlns:p14="http://schemas.microsoft.com/office/powerpoint/2010/main" val="823529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工艺评审责任人产品</a:t>
            </a:r>
            <a:r>
              <a:rPr lang="zh-CN" altLang="en-US" sz="1200" dirty="0">
                <a:solidFill>
                  <a:schemeClr val="tx1">
                    <a:lumMod val="75000"/>
                    <a:lumOff val="25000"/>
                  </a:schemeClr>
                </a:solidFill>
                <a:latin typeface="+mn-ea"/>
              </a:rPr>
              <a:t>工程师，报告输出。</a:t>
            </a:r>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49</a:t>
            </a:fld>
            <a:endParaRPr lang="zh-CN" altLang="en-US"/>
          </a:p>
        </p:txBody>
      </p:sp>
    </p:spTree>
    <p:extLst>
      <p:ext uri="{BB962C8B-B14F-4D97-AF65-F5344CB8AC3E}">
        <p14:creationId xmlns:p14="http://schemas.microsoft.com/office/powerpoint/2010/main" val="17868662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工艺评审责任人产品</a:t>
            </a:r>
            <a:r>
              <a:rPr lang="zh-CN" altLang="en-US" sz="1200" dirty="0">
                <a:solidFill>
                  <a:schemeClr val="tx1">
                    <a:lumMod val="75000"/>
                    <a:lumOff val="25000"/>
                  </a:schemeClr>
                </a:solidFill>
                <a:latin typeface="+mn-ea"/>
              </a:rPr>
              <a:t>工程师，报告输出。</a:t>
            </a:r>
            <a:r>
              <a:rPr lang="zh-CN" altLang="en-US" sz="1200" b="1" dirty="0">
                <a:solidFill>
                  <a:schemeClr val="tx1">
                    <a:lumMod val="75000"/>
                    <a:lumOff val="25000"/>
                  </a:schemeClr>
                </a:solidFill>
                <a:latin typeface="+mn-ea"/>
              </a:rPr>
              <a:t>首件鉴定是否包含老化？</a:t>
            </a:r>
            <a:endParaRPr lang="zh-CN" altLang="en-US" b="1"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50</a:t>
            </a:fld>
            <a:endParaRPr lang="zh-CN" altLang="en-US"/>
          </a:p>
        </p:txBody>
      </p:sp>
    </p:spTree>
    <p:extLst>
      <p:ext uri="{BB962C8B-B14F-4D97-AF65-F5344CB8AC3E}">
        <p14:creationId xmlns:p14="http://schemas.microsoft.com/office/powerpoint/2010/main" val="1990024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51</a:t>
            </a:fld>
            <a:endParaRPr lang="zh-CN" altLang="en-US"/>
          </a:p>
        </p:txBody>
      </p:sp>
    </p:spTree>
    <p:extLst>
      <p:ext uri="{BB962C8B-B14F-4D97-AF65-F5344CB8AC3E}">
        <p14:creationId xmlns:p14="http://schemas.microsoft.com/office/powerpoint/2010/main" val="18895333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53</a:t>
            </a:fld>
            <a:endParaRPr lang="zh-CN" altLang="en-US"/>
          </a:p>
        </p:txBody>
      </p:sp>
    </p:spTree>
    <p:extLst>
      <p:ext uri="{BB962C8B-B14F-4D97-AF65-F5344CB8AC3E}">
        <p14:creationId xmlns:p14="http://schemas.microsoft.com/office/powerpoint/2010/main" val="291795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2C131-1F4D-D883-2270-4C82ACBC381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0887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2">
    <p:spTree>
      <p:nvGrpSpPr>
        <p:cNvPr id="1" name=""/>
        <p:cNvGrpSpPr/>
        <p:nvPr/>
      </p:nvGrpSpPr>
      <p:grpSpPr>
        <a:xfrm>
          <a:off x="0" y="0"/>
          <a:ext cx="0" cy="0"/>
          <a:chOff x="0" y="0"/>
          <a:chExt cx="0" cy="0"/>
        </a:xfrm>
      </p:grpSpPr>
      <p:sp>
        <p:nvSpPr>
          <p:cNvPr id="6" name="文本占位符 7"/>
          <p:cNvSpPr>
            <a:spLocks noGrp="1"/>
          </p:cNvSpPr>
          <p:nvPr>
            <p:ph type="body" sz="quarter" idx="13" hasCustomPrompt="1"/>
          </p:nvPr>
        </p:nvSpPr>
        <p:spPr>
          <a:xfrm>
            <a:off x="239349" y="164637"/>
            <a:ext cx="9889099" cy="672075"/>
          </a:xfrm>
          <a:prstGeom prst="rect">
            <a:avLst/>
          </a:prstGeom>
        </p:spPr>
        <p:txBody>
          <a:bodyPr/>
          <a:lstStyle>
            <a:lvl1pPr>
              <a:buNone/>
              <a:defRPr sz="3733" b="1">
                <a:solidFill>
                  <a:schemeClr val="tx1">
                    <a:lumMod val="65000"/>
                    <a:lumOff val="35000"/>
                  </a:schemeClr>
                </a:solidFill>
                <a:latin typeface="微软雅黑" pitchFamily="34" charset="-122"/>
                <a:ea typeface="微软雅黑" pitchFamily="34" charset="-122"/>
              </a:defRPr>
            </a:lvl1pPr>
          </a:lstStyle>
          <a:p>
            <a:pPr lvl="0"/>
            <a:r>
              <a:rPr lang="zh-CN" altLang="en-US" dirty="0"/>
              <a:t>单击此处编辑小标题</a:t>
            </a:r>
          </a:p>
        </p:txBody>
      </p:sp>
      <p:sp>
        <p:nvSpPr>
          <p:cNvPr id="4" name="矩形 3"/>
          <p:cNvSpPr/>
          <p:nvPr userDrawn="1"/>
        </p:nvSpPr>
        <p:spPr>
          <a:xfrm>
            <a:off x="0" y="164637"/>
            <a:ext cx="143339" cy="627739"/>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内容占位符 2"/>
          <p:cNvSpPr>
            <a:spLocks noGrp="1"/>
          </p:cNvSpPr>
          <p:nvPr>
            <p:ph sz="quarter" idx="14"/>
          </p:nvPr>
        </p:nvSpPr>
        <p:spPr>
          <a:xfrm>
            <a:off x="815413" y="1412777"/>
            <a:ext cx="10515600" cy="4667249"/>
          </a:xfrm>
          <a:prstGeom prst="rect">
            <a:avLst/>
          </a:prstGeom>
        </p:spPr>
        <p:txBody>
          <a:bodyPr/>
          <a:lstStyle>
            <a:lvl1pPr>
              <a:defRPr sz="2133">
                <a:solidFill>
                  <a:schemeClr val="tx1">
                    <a:lumMod val="75000"/>
                    <a:lumOff val="25000"/>
                  </a:schemeClr>
                </a:solidFill>
              </a:defRPr>
            </a:lvl1pPr>
            <a:lvl2pPr>
              <a:defRPr sz="2133">
                <a:solidFill>
                  <a:schemeClr val="tx1">
                    <a:lumMod val="75000"/>
                    <a:lumOff val="25000"/>
                  </a:schemeClr>
                </a:solidFill>
              </a:defRPr>
            </a:lvl2pPr>
            <a:lvl3pPr>
              <a:defRPr sz="2133">
                <a:solidFill>
                  <a:schemeClr val="tx1">
                    <a:lumMod val="75000"/>
                    <a:lumOff val="25000"/>
                  </a:schemeClr>
                </a:solidFill>
              </a:defRPr>
            </a:lvl3pPr>
            <a:lvl4pPr>
              <a:defRPr sz="2133">
                <a:solidFill>
                  <a:schemeClr val="tx1">
                    <a:lumMod val="75000"/>
                    <a:lumOff val="25000"/>
                  </a:schemeClr>
                </a:solidFill>
              </a:defRPr>
            </a:lvl4pPr>
            <a:lvl5pPr>
              <a:defRPr sz="2133">
                <a:solidFill>
                  <a:schemeClr val="tx1">
                    <a:lumMod val="75000"/>
                    <a:lumOff val="2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767717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64EED1A-616C-3653-D1CD-DC10077E1F70}"/>
              </a:ext>
            </a:extLst>
          </p:cNvPr>
          <p:cNvSpPr/>
          <p:nvPr userDrawn="1"/>
        </p:nvSpPr>
        <p:spPr>
          <a:xfrm>
            <a:off x="0" y="2111434"/>
            <a:ext cx="12192000" cy="2294311"/>
          </a:xfrm>
          <a:prstGeom prst="rect">
            <a:avLst/>
          </a:prstGeom>
          <a:solidFill>
            <a:schemeClr val="accent2"/>
          </a:solidFill>
          <a:ln w="1270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34470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尾页">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2B8CE6-E12C-8DA0-8C3A-1D5171326D0F}"/>
              </a:ext>
            </a:extLst>
          </p:cNvPr>
          <p:cNvSpPr/>
          <p:nvPr userDrawn="1"/>
        </p:nvSpPr>
        <p:spPr>
          <a:xfrm>
            <a:off x="0" y="756458"/>
            <a:ext cx="157942" cy="58189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6651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accent2"/>
        </a:solidFill>
        <a:effectLst/>
      </p:bgPr>
    </p:bg>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31587" y="1758271"/>
            <a:ext cx="9792228" cy="830997"/>
          </a:xfrm>
          <a:prstGeom prst="rect">
            <a:avLst/>
          </a:prstGeom>
        </p:spPr>
        <p:txBody>
          <a:bodyPr/>
          <a:lstStyle>
            <a:lvl1pPr marL="0" indent="0" algn="l" defTabSz="914400" rtl="0" eaLnBrk="1" fontAlgn="auto" latinLnBrk="0" hangingPunct="1">
              <a:spcBef>
                <a:spcPts val="0"/>
              </a:spcBef>
              <a:spcAft>
                <a:spcPts val="0"/>
              </a:spcAft>
              <a:buNone/>
              <a:defRPr lang="zh-CN" altLang="en-US" sz="4000" b="1" kern="1200" dirty="0">
                <a:solidFill>
                  <a:schemeClr val="bg1"/>
                </a:solidFill>
                <a:effectLst/>
                <a:latin typeface="微软雅黑" pitchFamily="34" charset="-122"/>
                <a:ea typeface="微软雅黑" pitchFamily="34" charset="-122"/>
                <a:cs typeface="+mn-cs"/>
              </a:defRPr>
            </a:lvl1pPr>
          </a:lstStyle>
          <a:p>
            <a:pPr lvl="0"/>
            <a:r>
              <a:rPr lang="zh-CN" altLang="en-US" dirty="0"/>
              <a:t>单击此处编辑主标题</a:t>
            </a:r>
          </a:p>
        </p:txBody>
      </p:sp>
      <p:sp>
        <p:nvSpPr>
          <p:cNvPr id="20" name="文本占位符 19"/>
          <p:cNvSpPr>
            <a:spLocks noGrp="1"/>
          </p:cNvSpPr>
          <p:nvPr>
            <p:ph type="body" sz="quarter" idx="12" hasCustomPrompt="1"/>
          </p:nvPr>
        </p:nvSpPr>
        <p:spPr>
          <a:xfrm>
            <a:off x="9122443" y="5157195"/>
            <a:ext cx="2688597" cy="1056117"/>
          </a:xfrm>
          <a:prstGeom prst="rect">
            <a:avLst/>
          </a:prstGeom>
        </p:spPr>
        <p:txBody>
          <a:bodyPr/>
          <a:lstStyle>
            <a:lvl1pPr marL="0" indent="0" algn="l">
              <a:buNone/>
              <a:defRPr sz="1600">
                <a:solidFill>
                  <a:srgbClr val="FFFFFF"/>
                </a:solidFill>
                <a:latin typeface="微软雅黑" pitchFamily="34" charset="-122"/>
                <a:ea typeface="微软雅黑" pitchFamily="34" charset="-122"/>
              </a:defRPr>
            </a:lvl1pPr>
          </a:lstStyle>
          <a:p>
            <a:pPr lvl="0"/>
            <a:r>
              <a:rPr lang="zh-CN" altLang="en-US" dirty="0"/>
              <a:t>撰写部门及人员</a:t>
            </a:r>
            <a:endParaRPr lang="en-US" altLang="zh-CN" dirty="0"/>
          </a:p>
          <a:p>
            <a:pPr lvl="0"/>
            <a:r>
              <a:rPr lang="en-US" altLang="zh-CN" dirty="0"/>
              <a:t>2017/4/1</a:t>
            </a:r>
            <a:endParaRPr lang="zh-CN" altLang="en-US" dirty="0"/>
          </a:p>
        </p:txBody>
      </p:sp>
      <p:sp>
        <p:nvSpPr>
          <p:cNvPr id="4" name="矩形 3"/>
          <p:cNvSpPr/>
          <p:nvPr userDrawn="1"/>
        </p:nvSpPr>
        <p:spPr>
          <a:xfrm>
            <a:off x="0" y="1758271"/>
            <a:ext cx="143339"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endParaRPr>
          </a:p>
        </p:txBody>
      </p:sp>
    </p:spTree>
    <p:extLst>
      <p:ext uri="{BB962C8B-B14F-4D97-AF65-F5344CB8AC3E}">
        <p14:creationId xmlns:p14="http://schemas.microsoft.com/office/powerpoint/2010/main" val="1564229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2">
    <p:spTree>
      <p:nvGrpSpPr>
        <p:cNvPr id="1" name=""/>
        <p:cNvGrpSpPr/>
        <p:nvPr/>
      </p:nvGrpSpPr>
      <p:grpSpPr>
        <a:xfrm>
          <a:off x="0" y="0"/>
          <a:ext cx="0" cy="0"/>
          <a:chOff x="0" y="0"/>
          <a:chExt cx="0" cy="0"/>
        </a:xfrm>
      </p:grpSpPr>
      <p:sp>
        <p:nvSpPr>
          <p:cNvPr id="6" name="文本占位符 7"/>
          <p:cNvSpPr>
            <a:spLocks noGrp="1"/>
          </p:cNvSpPr>
          <p:nvPr>
            <p:ph type="body" sz="quarter" idx="13" hasCustomPrompt="1"/>
          </p:nvPr>
        </p:nvSpPr>
        <p:spPr>
          <a:xfrm>
            <a:off x="239349" y="164637"/>
            <a:ext cx="9889099" cy="672075"/>
          </a:xfrm>
          <a:prstGeom prst="rect">
            <a:avLst/>
          </a:prstGeom>
        </p:spPr>
        <p:txBody>
          <a:bodyPr/>
          <a:lstStyle>
            <a:lvl1pPr>
              <a:buNone/>
              <a:defRPr sz="3733" b="1">
                <a:solidFill>
                  <a:schemeClr val="tx1">
                    <a:lumMod val="65000"/>
                    <a:lumOff val="35000"/>
                  </a:schemeClr>
                </a:solidFill>
                <a:latin typeface="微软雅黑" pitchFamily="34" charset="-122"/>
                <a:ea typeface="微软雅黑" pitchFamily="34" charset="-122"/>
              </a:defRPr>
            </a:lvl1pPr>
          </a:lstStyle>
          <a:p>
            <a:pPr lvl="0"/>
            <a:r>
              <a:rPr lang="zh-CN" altLang="en-US" dirty="0"/>
              <a:t>单击此处编辑小标题</a:t>
            </a:r>
          </a:p>
        </p:txBody>
      </p:sp>
      <p:sp>
        <p:nvSpPr>
          <p:cNvPr id="4" name="矩形 3"/>
          <p:cNvSpPr/>
          <p:nvPr userDrawn="1"/>
        </p:nvSpPr>
        <p:spPr>
          <a:xfrm>
            <a:off x="0" y="164637"/>
            <a:ext cx="143339" cy="627739"/>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内容占位符 2"/>
          <p:cNvSpPr>
            <a:spLocks noGrp="1"/>
          </p:cNvSpPr>
          <p:nvPr>
            <p:ph sz="quarter" idx="14"/>
          </p:nvPr>
        </p:nvSpPr>
        <p:spPr>
          <a:xfrm>
            <a:off x="815413" y="1412777"/>
            <a:ext cx="10515600" cy="4667249"/>
          </a:xfrm>
          <a:prstGeom prst="rect">
            <a:avLst/>
          </a:prstGeom>
        </p:spPr>
        <p:txBody>
          <a:bodyPr/>
          <a:lstStyle>
            <a:lvl1pPr>
              <a:defRPr sz="2133">
                <a:solidFill>
                  <a:schemeClr val="tx1">
                    <a:lumMod val="75000"/>
                    <a:lumOff val="25000"/>
                  </a:schemeClr>
                </a:solidFill>
              </a:defRPr>
            </a:lvl1pPr>
            <a:lvl2pPr>
              <a:defRPr sz="2133">
                <a:solidFill>
                  <a:schemeClr val="tx1">
                    <a:lumMod val="75000"/>
                    <a:lumOff val="25000"/>
                  </a:schemeClr>
                </a:solidFill>
              </a:defRPr>
            </a:lvl2pPr>
            <a:lvl3pPr>
              <a:defRPr sz="2133">
                <a:solidFill>
                  <a:schemeClr val="tx1">
                    <a:lumMod val="75000"/>
                    <a:lumOff val="25000"/>
                  </a:schemeClr>
                </a:solidFill>
              </a:defRPr>
            </a:lvl3pPr>
            <a:lvl4pPr>
              <a:defRPr sz="2133">
                <a:solidFill>
                  <a:schemeClr val="tx1">
                    <a:lumMod val="75000"/>
                    <a:lumOff val="25000"/>
                  </a:schemeClr>
                </a:solidFill>
              </a:defRPr>
            </a:lvl4pPr>
            <a:lvl5pPr>
              <a:defRPr sz="2133">
                <a:solidFill>
                  <a:schemeClr val="tx1">
                    <a:lumMod val="75000"/>
                    <a:lumOff val="2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232893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64EED1A-616C-3653-D1CD-DC10077E1F70}"/>
              </a:ext>
            </a:extLst>
          </p:cNvPr>
          <p:cNvSpPr/>
          <p:nvPr userDrawn="1"/>
        </p:nvSpPr>
        <p:spPr>
          <a:xfrm>
            <a:off x="0" y="2111434"/>
            <a:ext cx="12192000" cy="2294311"/>
          </a:xfrm>
          <a:prstGeom prst="rect">
            <a:avLst/>
          </a:prstGeom>
          <a:solidFill>
            <a:schemeClr val="accent2"/>
          </a:solidFill>
          <a:ln w="1270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0513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尾页">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2B8CE6-E12C-8DA0-8C3A-1D5171326D0F}"/>
              </a:ext>
            </a:extLst>
          </p:cNvPr>
          <p:cNvSpPr/>
          <p:nvPr userDrawn="1"/>
        </p:nvSpPr>
        <p:spPr>
          <a:xfrm>
            <a:off x="0" y="756458"/>
            <a:ext cx="157942" cy="58189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06870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accent2"/>
        </a:solidFill>
        <a:effectLst/>
      </p:bgPr>
    </p:bg>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31587" y="1758271"/>
            <a:ext cx="9792228" cy="830997"/>
          </a:xfrm>
          <a:prstGeom prst="rect">
            <a:avLst/>
          </a:prstGeom>
        </p:spPr>
        <p:txBody>
          <a:bodyPr/>
          <a:lstStyle>
            <a:lvl1pPr marL="0" indent="0" algn="l" defTabSz="914400" rtl="0" eaLnBrk="1" fontAlgn="auto" latinLnBrk="0" hangingPunct="1">
              <a:spcBef>
                <a:spcPts val="0"/>
              </a:spcBef>
              <a:spcAft>
                <a:spcPts val="0"/>
              </a:spcAft>
              <a:buNone/>
              <a:defRPr lang="zh-CN" altLang="en-US" sz="4000" b="1" kern="1200" dirty="0">
                <a:solidFill>
                  <a:schemeClr val="bg1"/>
                </a:solidFill>
                <a:effectLst/>
                <a:latin typeface="微软雅黑" pitchFamily="34" charset="-122"/>
                <a:ea typeface="微软雅黑" pitchFamily="34" charset="-122"/>
                <a:cs typeface="+mn-cs"/>
              </a:defRPr>
            </a:lvl1pPr>
          </a:lstStyle>
          <a:p>
            <a:pPr lvl="0"/>
            <a:r>
              <a:rPr lang="zh-CN" altLang="en-US" dirty="0"/>
              <a:t>单击此处编辑主标题</a:t>
            </a:r>
          </a:p>
        </p:txBody>
      </p:sp>
      <p:sp>
        <p:nvSpPr>
          <p:cNvPr id="20" name="文本占位符 19"/>
          <p:cNvSpPr>
            <a:spLocks noGrp="1"/>
          </p:cNvSpPr>
          <p:nvPr>
            <p:ph type="body" sz="quarter" idx="12" hasCustomPrompt="1"/>
          </p:nvPr>
        </p:nvSpPr>
        <p:spPr>
          <a:xfrm>
            <a:off x="9122443" y="5157195"/>
            <a:ext cx="2688597" cy="1056117"/>
          </a:xfrm>
          <a:prstGeom prst="rect">
            <a:avLst/>
          </a:prstGeom>
        </p:spPr>
        <p:txBody>
          <a:bodyPr/>
          <a:lstStyle>
            <a:lvl1pPr marL="0" indent="0" algn="l">
              <a:buNone/>
              <a:defRPr sz="1600">
                <a:solidFill>
                  <a:srgbClr val="FFFFFF"/>
                </a:solidFill>
                <a:latin typeface="微软雅黑" pitchFamily="34" charset="-122"/>
                <a:ea typeface="微软雅黑" pitchFamily="34" charset="-122"/>
              </a:defRPr>
            </a:lvl1pPr>
          </a:lstStyle>
          <a:p>
            <a:pPr lvl="0"/>
            <a:r>
              <a:rPr lang="zh-CN" altLang="en-US" dirty="0"/>
              <a:t>撰写部门及人员</a:t>
            </a:r>
            <a:endParaRPr lang="en-US" altLang="zh-CN" dirty="0"/>
          </a:p>
          <a:p>
            <a:pPr lvl="0"/>
            <a:r>
              <a:rPr lang="en-US" altLang="zh-CN" dirty="0"/>
              <a:t>2017/4/1</a:t>
            </a:r>
            <a:endParaRPr lang="zh-CN" altLang="en-US" dirty="0"/>
          </a:p>
        </p:txBody>
      </p:sp>
      <p:sp>
        <p:nvSpPr>
          <p:cNvPr id="4" name="矩形 3"/>
          <p:cNvSpPr/>
          <p:nvPr userDrawn="1"/>
        </p:nvSpPr>
        <p:spPr>
          <a:xfrm>
            <a:off x="0" y="1758271"/>
            <a:ext cx="143339"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prstClr val="white"/>
              </a:solidFill>
            </a:endParaRPr>
          </a:p>
        </p:txBody>
      </p:sp>
    </p:spTree>
    <p:extLst>
      <p:ext uri="{BB962C8B-B14F-4D97-AF65-F5344CB8AC3E}">
        <p14:creationId xmlns:p14="http://schemas.microsoft.com/office/powerpoint/2010/main" val="15473820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2783670"/>
      </p:ext>
    </p:extLst>
  </p:cSld>
  <p:clrMap bg1="lt1" tx1="dk1" bg2="lt2" tx2="dk2" accent1="accent1" accent2="accent2" accent3="accent3" accent4="accent4" accent5="accent5" accent6="accent6" hlink="hlink" folHlink="folHlink"/>
  <p:sldLayoutIdLst>
    <p:sldLayoutId id="2147483678" r:id="rId1"/>
    <p:sldLayoutId id="2147483673" r:id="rId2"/>
    <p:sldLayoutId id="2147483674" r:id="rId3"/>
    <p:sldLayoutId id="2147483677" r:id="rId4"/>
    <p:sldLayoutId id="2147483676" r:id="rId5"/>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151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2.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package" Target="../embeddings/Microsoft_Word___.docx"/></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571298" y="1756737"/>
            <a:ext cx="11122429" cy="1480242"/>
          </a:xfrm>
        </p:spPr>
        <p:txBody>
          <a:bodyPr/>
          <a:lstStyle/>
          <a:p>
            <a:pPr lvl="0" algn="ctr"/>
            <a:r>
              <a:rPr lang="zh-CN" altLang="en-US" sz="6600" dirty="0">
                <a:solidFill>
                  <a:prstClr val="white"/>
                </a:solidFill>
                <a:latin typeface="微软雅黑"/>
                <a:cs typeface="Times New Roman" panose="02020603050405020304" pitchFamily="18" charset="0"/>
              </a:rPr>
              <a:t>项目管理流程</a:t>
            </a:r>
            <a:r>
              <a:rPr lang="zh-CN" altLang="en-US" sz="6600" dirty="0" smtClean="0">
                <a:solidFill>
                  <a:prstClr val="white"/>
                </a:solidFill>
                <a:latin typeface="微软雅黑"/>
                <a:cs typeface="Times New Roman" panose="02020603050405020304" pitchFamily="18" charset="0"/>
              </a:rPr>
              <a:t>介绍</a:t>
            </a:r>
          </a:p>
        </p:txBody>
      </p:sp>
      <p:sp>
        <p:nvSpPr>
          <p:cNvPr id="5" name="文本占位符 2"/>
          <p:cNvSpPr>
            <a:spLocks noGrp="1"/>
          </p:cNvSpPr>
          <p:nvPr>
            <p:ph type="body" sz="quarter" idx="12"/>
          </p:nvPr>
        </p:nvSpPr>
        <p:spPr>
          <a:xfrm>
            <a:off x="9744406" y="5637246"/>
            <a:ext cx="2688597" cy="480052"/>
          </a:xfrm>
        </p:spPr>
        <p:txBody>
          <a:bodyPr/>
          <a:lstStyle/>
          <a:p>
            <a:endParaRPr lang="zh-CN" altLang="en-US" dirty="0"/>
          </a:p>
          <a:p>
            <a:r>
              <a:rPr lang="zh-CN" altLang="en-US" dirty="0"/>
              <a:t>       </a:t>
            </a:r>
          </a:p>
        </p:txBody>
      </p:sp>
      <p:sp>
        <p:nvSpPr>
          <p:cNvPr id="4" name="文本占位符 4"/>
          <p:cNvSpPr txBox="1"/>
          <p:nvPr/>
        </p:nvSpPr>
        <p:spPr>
          <a:xfrm>
            <a:off x="8976320" y="2852936"/>
            <a:ext cx="1920213" cy="384043"/>
          </a:xfrm>
          <a:prstGeom prst="rect">
            <a:avLst/>
          </a:prstGeom>
        </p:spPr>
        <p:txBody>
          <a:bodyPr vert="horz" lIns="121920" tIns="60960" rIns="121920" bIns="60960" rtlCol="0">
            <a:noAutofit/>
          </a:bodyPr>
          <a:lstStyle>
            <a:lvl1pPr marL="0" indent="0" algn="l" rtl="0" eaLnBrk="1" fontAlgn="base" hangingPunct="1">
              <a:spcBef>
                <a:spcPct val="20000"/>
              </a:spcBef>
              <a:spcAft>
                <a:spcPct val="0"/>
              </a:spcAft>
              <a:buFont typeface="Arial" panose="020B0604020202020204" pitchFamily="34" charset="0"/>
              <a:buNone/>
              <a:defRPr lang="zh-CN" altLang="en-US" sz="16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Font typeface="Arial" panose="020B0604020202020204" pitchFamily="34" charset="0"/>
              <a:buChar char="–"/>
              <a:defRPr lang="zh-CN" altLang="en-US"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121917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zh-CN" alt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26643" y="2702796"/>
            <a:ext cx="5724644" cy="923330"/>
          </a:xfrm>
          <a:prstGeom prst="rect">
            <a:avLst/>
          </a:prstGeom>
        </p:spPr>
        <p:txBody>
          <a:bodyPr wrap="none">
            <a:spAutoFit/>
          </a:bodyPr>
          <a:lstStyle/>
          <a:p>
            <a:pPr lvl="0" algn="ctr" defTabSz="1219170">
              <a:spcBef>
                <a:spcPct val="20000"/>
              </a:spcBef>
              <a:defRPr/>
            </a:pPr>
            <a:r>
              <a:rPr lang="zh-CN" altLang="en-US" sz="5400" dirty="0">
                <a:solidFill>
                  <a:prstClr val="white"/>
                </a:solidFill>
                <a:latin typeface="微软雅黑"/>
                <a:cs typeface="Times New Roman" panose="02020603050405020304" pitchFamily="18" charset="0"/>
              </a:rPr>
              <a:t>项目管理流程介绍</a:t>
            </a:r>
          </a:p>
        </p:txBody>
      </p:sp>
    </p:spTree>
    <p:extLst>
      <p:ext uri="{BB962C8B-B14F-4D97-AF65-F5344CB8AC3E}">
        <p14:creationId xmlns:p14="http://schemas.microsoft.com/office/powerpoint/2010/main" val="17741833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硬件产品开发控制流程</a:t>
            </a:r>
          </a:p>
        </p:txBody>
      </p:sp>
      <p:pic>
        <p:nvPicPr>
          <p:cNvPr id="77" name="图片 76"/>
          <p:cNvPicPr>
            <a:picLocks noChangeAspect="1"/>
          </p:cNvPicPr>
          <p:nvPr/>
        </p:nvPicPr>
        <p:blipFill>
          <a:blip r:embed="rId3"/>
          <a:stretch>
            <a:fillRect/>
          </a:stretch>
        </p:blipFill>
        <p:spPr>
          <a:xfrm>
            <a:off x="239349" y="945961"/>
            <a:ext cx="11842197" cy="5741918"/>
          </a:xfrm>
          <a:prstGeom prst="rect">
            <a:avLst/>
          </a:prstGeom>
        </p:spPr>
      </p:pic>
    </p:spTree>
    <p:extLst>
      <p:ext uri="{BB962C8B-B14F-4D97-AF65-F5344CB8AC3E}">
        <p14:creationId xmlns:p14="http://schemas.microsoft.com/office/powerpoint/2010/main" val="2374211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extLst>
              <p:ext uri="{D42A27DB-BD31-4B8C-83A1-F6EECF244321}">
                <p14:modId xmlns:p14="http://schemas.microsoft.com/office/powerpoint/2010/main" val="3002307496"/>
              </p:ext>
            </p:extLst>
          </p:nvPr>
        </p:nvGraphicFramePr>
        <p:xfrm>
          <a:off x="494531" y="942947"/>
          <a:ext cx="11616530" cy="335280"/>
        </p:xfrm>
        <a:graphic>
          <a:graphicData uri="http://schemas.openxmlformats.org/drawingml/2006/table">
            <a:tbl>
              <a:tblPr firstRow="1" bandRow="1">
                <a:tableStyleId>{5C22544A-7EE6-4342-B048-85BDC9FD1C3A}</a:tableStyleId>
              </a:tblPr>
              <a:tblGrid>
                <a:gridCol w="2323306">
                  <a:extLst>
                    <a:ext uri="{9D8B030D-6E8A-4147-A177-3AD203B41FA5}">
                      <a16:colId xmlns:a16="http://schemas.microsoft.com/office/drawing/2014/main" val="3971759486"/>
                    </a:ext>
                  </a:extLst>
                </a:gridCol>
                <a:gridCol w="2323306">
                  <a:extLst>
                    <a:ext uri="{9D8B030D-6E8A-4147-A177-3AD203B41FA5}">
                      <a16:colId xmlns:a16="http://schemas.microsoft.com/office/drawing/2014/main" val="445946111"/>
                    </a:ext>
                  </a:extLst>
                </a:gridCol>
                <a:gridCol w="2323306">
                  <a:extLst>
                    <a:ext uri="{9D8B030D-6E8A-4147-A177-3AD203B41FA5}">
                      <a16:colId xmlns:a16="http://schemas.microsoft.com/office/drawing/2014/main" val="648289803"/>
                    </a:ext>
                  </a:extLst>
                </a:gridCol>
                <a:gridCol w="2323306">
                  <a:extLst>
                    <a:ext uri="{9D8B030D-6E8A-4147-A177-3AD203B41FA5}">
                      <a16:colId xmlns:a16="http://schemas.microsoft.com/office/drawing/2014/main" val="2895513670"/>
                    </a:ext>
                  </a:extLst>
                </a:gridCol>
                <a:gridCol w="2323306">
                  <a:extLst>
                    <a:ext uri="{9D8B030D-6E8A-4147-A177-3AD203B41FA5}">
                      <a16:colId xmlns:a16="http://schemas.microsoft.com/office/drawing/2014/main" val="4262667272"/>
                    </a:ext>
                  </a:extLst>
                </a:gridCol>
              </a:tblGrid>
              <a:tr h="311695">
                <a:tc>
                  <a:txBody>
                    <a:bodyPr/>
                    <a:lstStyle/>
                    <a:p>
                      <a:pPr algn="ctr"/>
                      <a:r>
                        <a:rPr lang="en-US" altLang="zh-CN" sz="1600" dirty="0" smtClean="0"/>
                        <a:t>M1</a:t>
                      </a:r>
                      <a:r>
                        <a:rPr lang="zh-CN" altLang="en-US" sz="1600" dirty="0" smtClean="0"/>
                        <a:t>预研阶段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M2</a:t>
                      </a:r>
                      <a:r>
                        <a:rPr lang="zh-CN" altLang="en-US" sz="1600" dirty="0" smtClean="0"/>
                        <a:t>计划阶段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M3</a:t>
                      </a:r>
                      <a:r>
                        <a:rPr lang="zh-CN" altLang="en-US" sz="1600" dirty="0" smtClean="0"/>
                        <a:t>研发测试阶段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M4</a:t>
                      </a:r>
                      <a:r>
                        <a:rPr lang="zh-CN" altLang="en-US" sz="1600" dirty="0" smtClean="0"/>
                        <a:t>试制阶段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M5</a:t>
                      </a:r>
                      <a:r>
                        <a:rPr lang="zh-CN" altLang="en-US" sz="1600" dirty="0" smtClean="0"/>
                        <a:t>新品导入阶段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extLst>
                  <a:ext uri="{0D108BD9-81ED-4DB2-BD59-A6C34878D82A}">
                    <a16:rowId xmlns:a16="http://schemas.microsoft.com/office/drawing/2014/main" val="2451564581"/>
                  </a:ext>
                </a:extLst>
              </a:tr>
            </a:tbl>
          </a:graphicData>
        </a:graphic>
      </p:graphicFrame>
      <p:sp>
        <p:nvSpPr>
          <p:cNvPr id="2" name="文本占位符 1"/>
          <p:cNvSpPr>
            <a:spLocks noGrp="1"/>
          </p:cNvSpPr>
          <p:nvPr>
            <p:ph type="body" sz="quarter" idx="13"/>
          </p:nvPr>
        </p:nvSpPr>
        <p:spPr/>
        <p:txBody>
          <a:bodyPr/>
          <a:lstStyle/>
          <a:p>
            <a:r>
              <a:rPr lang="zh-CN" altLang="en-US" dirty="0"/>
              <a:t>硬件</a:t>
            </a:r>
            <a:r>
              <a:rPr lang="zh-CN" altLang="en-US" dirty="0" smtClean="0"/>
              <a:t>产品开发流程袖珍卡</a:t>
            </a:r>
            <a:endParaRPr lang="zh-CN" altLang="en-US" dirty="0"/>
          </a:p>
        </p:txBody>
      </p:sp>
      <p:sp>
        <p:nvSpPr>
          <p:cNvPr id="9" name="圆角矩形 8"/>
          <p:cNvSpPr/>
          <p:nvPr/>
        </p:nvSpPr>
        <p:spPr>
          <a:xfrm>
            <a:off x="494531" y="1784144"/>
            <a:ext cx="11616531" cy="255182"/>
          </a:xfrm>
          <a:prstGeom prst="roundRect">
            <a:avLst>
              <a:gd name="adj" fmla="val 39483"/>
            </a:avLst>
          </a:prstGeom>
          <a:solidFill>
            <a:srgbClr val="FFCCCC"/>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1" name="文本框 10"/>
          <p:cNvSpPr txBox="1"/>
          <p:nvPr/>
        </p:nvSpPr>
        <p:spPr>
          <a:xfrm>
            <a:off x="1414131" y="1766787"/>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概念</a:t>
            </a:r>
          </a:p>
        </p:txBody>
      </p:sp>
      <p:sp>
        <p:nvSpPr>
          <p:cNvPr id="13" name="文本框 12"/>
          <p:cNvSpPr txBox="1"/>
          <p:nvPr/>
        </p:nvSpPr>
        <p:spPr>
          <a:xfrm>
            <a:off x="3724940"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计划</a:t>
            </a:r>
          </a:p>
        </p:txBody>
      </p:sp>
      <p:sp>
        <p:nvSpPr>
          <p:cNvPr id="14" name="文本框 13"/>
          <p:cNvSpPr txBox="1"/>
          <p:nvPr/>
        </p:nvSpPr>
        <p:spPr>
          <a:xfrm>
            <a:off x="5803066"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开发</a:t>
            </a:r>
            <a:r>
              <a:rPr lang="en-US" altLang="zh-CN" sz="1050" b="1" dirty="0" smtClean="0">
                <a:solidFill>
                  <a:schemeClr val="tx1">
                    <a:lumMod val="75000"/>
                    <a:lumOff val="25000"/>
                  </a:schemeClr>
                </a:solidFill>
              </a:rPr>
              <a:t>/</a:t>
            </a:r>
            <a:r>
              <a:rPr lang="zh-CN" altLang="en-US" sz="1050" b="1" dirty="0" smtClean="0">
                <a:solidFill>
                  <a:schemeClr val="tx1">
                    <a:lumMod val="75000"/>
                    <a:lumOff val="25000"/>
                  </a:schemeClr>
                </a:solidFill>
              </a:rPr>
              <a:t>验证</a:t>
            </a:r>
          </a:p>
        </p:txBody>
      </p:sp>
      <p:sp>
        <p:nvSpPr>
          <p:cNvPr id="15" name="文本框 14"/>
          <p:cNvSpPr txBox="1"/>
          <p:nvPr/>
        </p:nvSpPr>
        <p:spPr>
          <a:xfrm>
            <a:off x="8262731" y="1783939"/>
            <a:ext cx="999460" cy="272510"/>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rPr>
              <a:t>批量</a:t>
            </a:r>
            <a:r>
              <a:rPr lang="zh-CN" altLang="en-US" sz="1050" b="1" dirty="0" smtClean="0">
                <a:solidFill>
                  <a:schemeClr val="tx1">
                    <a:lumMod val="75000"/>
                    <a:lumOff val="25000"/>
                  </a:schemeClr>
                </a:solidFill>
              </a:rPr>
              <a:t>验证</a:t>
            </a:r>
          </a:p>
        </p:txBody>
      </p:sp>
      <p:sp>
        <p:nvSpPr>
          <p:cNvPr id="16" name="文本框 15"/>
          <p:cNvSpPr txBox="1"/>
          <p:nvPr/>
        </p:nvSpPr>
        <p:spPr>
          <a:xfrm>
            <a:off x="10383630" y="1766787"/>
            <a:ext cx="118607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直通率爬坡</a:t>
            </a:r>
          </a:p>
        </p:txBody>
      </p:sp>
      <p:sp>
        <p:nvSpPr>
          <p:cNvPr id="35" name="等腰三角形 34">
            <a:extLst>
              <a:ext uri="{FF2B5EF4-FFF2-40B4-BE49-F238E27FC236}">
                <a16:creationId xmlns:a16="http://schemas.microsoft.com/office/drawing/2014/main" id="{F6FC58EC-E8C8-419E-9E7B-618E07CFD51A}"/>
              </a:ext>
            </a:extLst>
          </p:cNvPr>
          <p:cNvSpPr/>
          <p:nvPr/>
        </p:nvSpPr>
        <p:spPr>
          <a:xfrm rot="10800000">
            <a:off x="5017466" y="1574513"/>
            <a:ext cx="223426" cy="14241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38" name="文本框 37">
            <a:extLst>
              <a:ext uri="{FF2B5EF4-FFF2-40B4-BE49-F238E27FC236}">
                <a16:creationId xmlns:a16="http://schemas.microsoft.com/office/drawing/2014/main" id="{755BF703-06CC-4FF6-B3B8-73ECBCD1B7DA}"/>
              </a:ext>
            </a:extLst>
          </p:cNvPr>
          <p:cNvSpPr txBox="1"/>
          <p:nvPr/>
        </p:nvSpPr>
        <p:spPr>
          <a:xfrm>
            <a:off x="4900200" y="1356963"/>
            <a:ext cx="434734" cy="246221"/>
          </a:xfrm>
          <a:prstGeom prst="rect">
            <a:avLst/>
          </a:prstGeom>
          <a:noFill/>
        </p:spPr>
        <p:txBody>
          <a:bodyPr wrap="none" rtlCol="0">
            <a:spAutoFit/>
          </a:bodyPr>
          <a:lstStyle/>
          <a:p>
            <a:pPr defTabSz="653309">
              <a:defRPr/>
            </a:pPr>
            <a:r>
              <a:rPr lang="en-US" altLang="zh-CN" sz="1000" b="1" dirty="0" smtClean="0">
                <a:solidFill>
                  <a:srgbClr val="FF0000"/>
                </a:solidFill>
                <a:latin typeface="Calibri"/>
                <a:ea typeface="等线" panose="02010600030101010101" pitchFamily="2" charset="-122"/>
                <a:cs typeface="+mn-ea"/>
                <a:sym typeface="+mn-lt"/>
              </a:rPr>
              <a:t>MR1</a:t>
            </a:r>
            <a:endParaRPr lang="en-US" altLang="zh-CN" sz="1000" b="1" dirty="0">
              <a:solidFill>
                <a:srgbClr val="FF0000"/>
              </a:solidFill>
              <a:latin typeface="Calibri"/>
              <a:ea typeface="等线" panose="02010600030101010101" pitchFamily="2" charset="-122"/>
              <a:cs typeface="+mn-ea"/>
              <a:sym typeface="+mn-lt"/>
            </a:endParaRPr>
          </a:p>
        </p:txBody>
      </p:sp>
      <p:sp>
        <p:nvSpPr>
          <p:cNvPr id="39" name="文本框 38">
            <a:extLst>
              <a:ext uri="{FF2B5EF4-FFF2-40B4-BE49-F238E27FC236}">
                <a16:creationId xmlns:a16="http://schemas.microsoft.com/office/drawing/2014/main" id="{8738D500-5786-44D4-A413-0CF2AA3B2C5A}"/>
              </a:ext>
            </a:extLst>
          </p:cNvPr>
          <p:cNvSpPr txBox="1"/>
          <p:nvPr/>
        </p:nvSpPr>
        <p:spPr>
          <a:xfrm>
            <a:off x="2586276" y="1356963"/>
            <a:ext cx="801774" cy="246221"/>
          </a:xfrm>
          <a:prstGeom prst="rect">
            <a:avLst/>
          </a:prstGeom>
          <a:noFill/>
        </p:spPr>
        <p:txBody>
          <a:bodyPr wrap="square" rtlCol="0">
            <a:spAutoFit/>
          </a:bodyPr>
          <a:lstStyle/>
          <a:p>
            <a:pPr defTabSz="653309">
              <a:defRPr/>
            </a:pPr>
            <a:r>
              <a:rPr lang="en-US" altLang="zh-CN" sz="1000" b="1" dirty="0" smtClean="0">
                <a:solidFill>
                  <a:srgbClr val="FFC000"/>
                </a:solidFill>
                <a:latin typeface="Calibri"/>
                <a:ea typeface="等线" panose="02010600030101010101" pitchFamily="2" charset="-122"/>
                <a:cs typeface="+mn-ea"/>
                <a:sym typeface="+mn-lt"/>
              </a:rPr>
              <a:t>DCP1</a:t>
            </a:r>
            <a:endParaRPr lang="en-US" altLang="zh-CN" sz="1000" b="1" dirty="0">
              <a:solidFill>
                <a:srgbClr val="FFC000"/>
              </a:solidFill>
              <a:latin typeface="Calibri"/>
              <a:ea typeface="等线" panose="02010600030101010101" pitchFamily="2" charset="-122"/>
              <a:cs typeface="+mn-ea"/>
              <a:sym typeface="+mn-lt"/>
            </a:endParaRPr>
          </a:p>
        </p:txBody>
      </p:sp>
      <p:sp>
        <p:nvSpPr>
          <p:cNvPr id="40" name="文本框 39">
            <a:extLst>
              <a:ext uri="{FF2B5EF4-FFF2-40B4-BE49-F238E27FC236}">
                <a16:creationId xmlns:a16="http://schemas.microsoft.com/office/drawing/2014/main" id="{3AAE2566-CB86-4CD6-8EA5-7976B5994FBE}"/>
              </a:ext>
            </a:extLst>
          </p:cNvPr>
          <p:cNvSpPr txBox="1"/>
          <p:nvPr/>
        </p:nvSpPr>
        <p:spPr>
          <a:xfrm>
            <a:off x="6527587" y="1358549"/>
            <a:ext cx="1108201"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MR2 </a:t>
            </a:r>
          </a:p>
        </p:txBody>
      </p:sp>
      <p:sp>
        <p:nvSpPr>
          <p:cNvPr id="41" name="文本框 40">
            <a:extLst>
              <a:ext uri="{FF2B5EF4-FFF2-40B4-BE49-F238E27FC236}">
                <a16:creationId xmlns:a16="http://schemas.microsoft.com/office/drawing/2014/main" id="{CE19E3E9-9CDD-4DDE-9B27-5690986C721C}"/>
              </a:ext>
            </a:extLst>
          </p:cNvPr>
          <p:cNvSpPr txBox="1"/>
          <p:nvPr/>
        </p:nvSpPr>
        <p:spPr>
          <a:xfrm>
            <a:off x="7621693" y="1356963"/>
            <a:ext cx="1140768"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MR3 </a:t>
            </a:r>
          </a:p>
        </p:txBody>
      </p:sp>
      <p:sp>
        <p:nvSpPr>
          <p:cNvPr id="42" name="文本框 41">
            <a:extLst>
              <a:ext uri="{FF2B5EF4-FFF2-40B4-BE49-F238E27FC236}">
                <a16:creationId xmlns:a16="http://schemas.microsoft.com/office/drawing/2014/main" id="{DD0351F6-CD6A-4B6E-9A27-1C50AE07449E}"/>
              </a:ext>
            </a:extLst>
          </p:cNvPr>
          <p:cNvSpPr txBox="1"/>
          <p:nvPr/>
        </p:nvSpPr>
        <p:spPr>
          <a:xfrm>
            <a:off x="11758476" y="1355030"/>
            <a:ext cx="972051" cy="246221"/>
          </a:xfrm>
          <a:prstGeom prst="rect">
            <a:avLst/>
          </a:prstGeom>
          <a:noFill/>
        </p:spPr>
        <p:txBody>
          <a:bodyPr wrap="square" rtlCol="0">
            <a:spAutoFit/>
          </a:bodyPr>
          <a:lstStyle/>
          <a:p>
            <a:pPr defTabSz="653309">
              <a:defRPr/>
            </a:pPr>
            <a:r>
              <a:rPr lang="en-US" altLang="zh-CN" sz="1000" b="1" dirty="0">
                <a:solidFill>
                  <a:srgbClr val="FFC000"/>
                </a:solidFill>
                <a:latin typeface="Calibri"/>
                <a:ea typeface="等线" panose="02010600030101010101" pitchFamily="2" charset="-122"/>
                <a:cs typeface="+mn-ea"/>
                <a:sym typeface="+mn-lt"/>
              </a:rPr>
              <a:t>DCP2 </a:t>
            </a:r>
          </a:p>
        </p:txBody>
      </p:sp>
      <p:sp>
        <p:nvSpPr>
          <p:cNvPr id="43" name="菱形 42">
            <a:extLst>
              <a:ext uri="{FF2B5EF4-FFF2-40B4-BE49-F238E27FC236}">
                <a16:creationId xmlns:a16="http://schemas.microsoft.com/office/drawing/2014/main" id="{C3971F30-2B52-4E9A-ADC9-73EA41671F2C}"/>
              </a:ext>
            </a:extLst>
          </p:cNvPr>
          <p:cNvSpPr/>
          <p:nvPr/>
        </p:nvSpPr>
        <p:spPr>
          <a:xfrm>
            <a:off x="2718005" y="1540577"/>
            <a:ext cx="159937" cy="203741"/>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45" name="文本框 44">
            <a:extLst>
              <a:ext uri="{FF2B5EF4-FFF2-40B4-BE49-F238E27FC236}">
                <a16:creationId xmlns:a16="http://schemas.microsoft.com/office/drawing/2014/main" id="{F36FD40D-85E7-4162-8B5D-1745581AD630}"/>
              </a:ext>
            </a:extLst>
          </p:cNvPr>
          <p:cNvSpPr txBox="1"/>
          <p:nvPr/>
        </p:nvSpPr>
        <p:spPr>
          <a:xfrm>
            <a:off x="9391231" y="1362609"/>
            <a:ext cx="798949" cy="246221"/>
          </a:xfrm>
          <a:prstGeom prst="rect">
            <a:avLst/>
          </a:prstGeom>
          <a:noFill/>
        </p:spPr>
        <p:txBody>
          <a:bodyPr wrap="square" rtlCol="0">
            <a:spAutoFit/>
          </a:bodyPr>
          <a:lstStyle/>
          <a:p>
            <a:pPr defTabSz="653309">
              <a:defRPr/>
            </a:pPr>
            <a:r>
              <a:rPr lang="zh-CN" altLang="en-US" sz="1000" b="1" dirty="0">
                <a:solidFill>
                  <a:srgbClr val="0070C0"/>
                </a:solidFill>
                <a:latin typeface="Calibri"/>
                <a:ea typeface="等线" panose="02010600030101010101" pitchFamily="2" charset="-122"/>
                <a:cs typeface="+mn-ea"/>
                <a:sym typeface="+mn-lt"/>
              </a:rPr>
              <a:t>质量评审</a:t>
            </a:r>
          </a:p>
        </p:txBody>
      </p:sp>
      <p:sp>
        <p:nvSpPr>
          <p:cNvPr id="46" name="十字星 169">
            <a:extLst>
              <a:ext uri="{FF2B5EF4-FFF2-40B4-BE49-F238E27FC236}">
                <a16:creationId xmlns:a16="http://schemas.microsoft.com/office/drawing/2014/main" id="{229540B7-8107-49C2-AA81-C22CEEDDDFA7}"/>
              </a:ext>
            </a:extLst>
          </p:cNvPr>
          <p:cNvSpPr/>
          <p:nvPr/>
        </p:nvSpPr>
        <p:spPr>
          <a:xfrm>
            <a:off x="9692566" y="1495567"/>
            <a:ext cx="196282" cy="229486"/>
          </a:xfrm>
          <a:prstGeom prst="star4">
            <a:avLst/>
          </a:prstGeom>
          <a:solidFill>
            <a:srgbClr val="31B6FD"/>
          </a:solidFill>
          <a:ln w="12700" cap="flat" cmpd="sng" algn="ctr">
            <a:solidFill>
              <a:srgbClr val="31B6FD">
                <a:shade val="50000"/>
              </a:srgbClr>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7" name="等腰三角形 46">
            <a:extLst>
              <a:ext uri="{FF2B5EF4-FFF2-40B4-BE49-F238E27FC236}">
                <a16:creationId xmlns:a16="http://schemas.microsoft.com/office/drawing/2014/main" id="{F6FC58EC-E8C8-419E-9E7B-618E07CFD51A}"/>
              </a:ext>
            </a:extLst>
          </p:cNvPr>
          <p:cNvSpPr/>
          <p:nvPr/>
        </p:nvSpPr>
        <p:spPr>
          <a:xfrm rot="10800000">
            <a:off x="6634005" y="1581183"/>
            <a:ext cx="231259" cy="14386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8" name="等腰三角形 47">
            <a:extLst>
              <a:ext uri="{FF2B5EF4-FFF2-40B4-BE49-F238E27FC236}">
                <a16:creationId xmlns:a16="http://schemas.microsoft.com/office/drawing/2014/main" id="{F6FC58EC-E8C8-419E-9E7B-618E07CFD51A}"/>
              </a:ext>
            </a:extLst>
          </p:cNvPr>
          <p:cNvSpPr/>
          <p:nvPr/>
        </p:nvSpPr>
        <p:spPr>
          <a:xfrm rot="10800000">
            <a:off x="7729783" y="1574511"/>
            <a:ext cx="264110" cy="138894"/>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9" name="菱形 48">
            <a:extLst>
              <a:ext uri="{FF2B5EF4-FFF2-40B4-BE49-F238E27FC236}">
                <a16:creationId xmlns:a16="http://schemas.microsoft.com/office/drawing/2014/main" id="{C3971F30-2B52-4E9A-ADC9-73EA41671F2C}"/>
              </a:ext>
            </a:extLst>
          </p:cNvPr>
          <p:cNvSpPr/>
          <p:nvPr/>
        </p:nvSpPr>
        <p:spPr>
          <a:xfrm>
            <a:off x="11917669" y="1540577"/>
            <a:ext cx="146814" cy="184476"/>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50" name="等腰三角形 49">
            <a:extLst>
              <a:ext uri="{FF2B5EF4-FFF2-40B4-BE49-F238E27FC236}">
                <a16:creationId xmlns:a16="http://schemas.microsoft.com/office/drawing/2014/main" id="{3F3FD00C-93A4-4DE4-BE60-60E19759F92F}"/>
              </a:ext>
            </a:extLst>
          </p:cNvPr>
          <p:cNvSpPr/>
          <p:nvPr/>
        </p:nvSpPr>
        <p:spPr>
          <a:xfrm>
            <a:off x="1804533" y="2083609"/>
            <a:ext cx="202447" cy="141896"/>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1" name="等腰三角形 50">
            <a:extLst>
              <a:ext uri="{FF2B5EF4-FFF2-40B4-BE49-F238E27FC236}">
                <a16:creationId xmlns:a16="http://schemas.microsoft.com/office/drawing/2014/main" id="{3F3FD00C-93A4-4DE4-BE60-60E19759F92F}"/>
              </a:ext>
            </a:extLst>
          </p:cNvPr>
          <p:cNvSpPr/>
          <p:nvPr/>
        </p:nvSpPr>
        <p:spPr>
          <a:xfrm>
            <a:off x="2704215" y="2083118"/>
            <a:ext cx="207184" cy="141487"/>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2" name="等腰三角形 51">
            <a:extLst>
              <a:ext uri="{FF2B5EF4-FFF2-40B4-BE49-F238E27FC236}">
                <a16:creationId xmlns:a16="http://schemas.microsoft.com/office/drawing/2014/main" id="{3F3FD00C-93A4-4DE4-BE60-60E19759F92F}"/>
              </a:ext>
            </a:extLst>
          </p:cNvPr>
          <p:cNvSpPr/>
          <p:nvPr/>
        </p:nvSpPr>
        <p:spPr>
          <a:xfrm>
            <a:off x="3903082" y="2083118"/>
            <a:ext cx="210592" cy="14148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3" name="等腰三角形 52">
            <a:extLst>
              <a:ext uri="{FF2B5EF4-FFF2-40B4-BE49-F238E27FC236}">
                <a16:creationId xmlns:a16="http://schemas.microsoft.com/office/drawing/2014/main" id="{3F3FD00C-93A4-4DE4-BE60-60E19759F92F}"/>
              </a:ext>
            </a:extLst>
          </p:cNvPr>
          <p:cNvSpPr/>
          <p:nvPr/>
        </p:nvSpPr>
        <p:spPr>
          <a:xfrm>
            <a:off x="5681226" y="2083116"/>
            <a:ext cx="237738"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4" name="等腰三角形 53">
            <a:extLst>
              <a:ext uri="{FF2B5EF4-FFF2-40B4-BE49-F238E27FC236}">
                <a16:creationId xmlns:a16="http://schemas.microsoft.com/office/drawing/2014/main" id="{3F3FD00C-93A4-4DE4-BE60-60E19759F92F}"/>
              </a:ext>
            </a:extLst>
          </p:cNvPr>
          <p:cNvSpPr/>
          <p:nvPr/>
        </p:nvSpPr>
        <p:spPr>
          <a:xfrm>
            <a:off x="6302796" y="2083116"/>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6" name="等腰三角形 55">
            <a:extLst>
              <a:ext uri="{FF2B5EF4-FFF2-40B4-BE49-F238E27FC236}">
                <a16:creationId xmlns:a16="http://schemas.microsoft.com/office/drawing/2014/main" id="{3F3FD00C-93A4-4DE4-BE60-60E19759F92F}"/>
              </a:ext>
            </a:extLst>
          </p:cNvPr>
          <p:cNvSpPr/>
          <p:nvPr/>
        </p:nvSpPr>
        <p:spPr>
          <a:xfrm>
            <a:off x="8543806" y="2082777"/>
            <a:ext cx="218655" cy="14182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19" name="五角星 18"/>
          <p:cNvSpPr/>
          <p:nvPr/>
        </p:nvSpPr>
        <p:spPr>
          <a:xfrm>
            <a:off x="9692565" y="2087168"/>
            <a:ext cx="175147" cy="137436"/>
          </a:xfrm>
          <a:prstGeom prst="star5">
            <a:avLst/>
          </a:prstGeom>
          <a:solidFill>
            <a:srgbClr val="31B6FD"/>
          </a:solidFill>
          <a:ln>
            <a:solidFill>
              <a:srgbClr val="31B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文本框 57">
            <a:extLst>
              <a:ext uri="{FF2B5EF4-FFF2-40B4-BE49-F238E27FC236}">
                <a16:creationId xmlns:a16="http://schemas.microsoft.com/office/drawing/2014/main" id="{8738D500-5786-44D4-A413-0CF2AA3B2C5A}"/>
              </a:ext>
            </a:extLst>
          </p:cNvPr>
          <p:cNvSpPr txBox="1"/>
          <p:nvPr/>
        </p:nvSpPr>
        <p:spPr>
          <a:xfrm>
            <a:off x="1719918"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TR1</a:t>
            </a:r>
            <a:endParaRPr lang="en-US" altLang="zh-CN" sz="1000" b="1" dirty="0">
              <a:solidFill>
                <a:srgbClr val="00B050"/>
              </a:solidFill>
              <a:latin typeface="Calibri"/>
              <a:ea typeface="等线" panose="02010600030101010101" pitchFamily="2" charset="-122"/>
              <a:cs typeface="+mn-ea"/>
              <a:sym typeface="+mn-lt"/>
            </a:endParaRPr>
          </a:p>
        </p:txBody>
      </p:sp>
      <p:sp>
        <p:nvSpPr>
          <p:cNvPr id="59" name="文本框 58">
            <a:extLst>
              <a:ext uri="{FF2B5EF4-FFF2-40B4-BE49-F238E27FC236}">
                <a16:creationId xmlns:a16="http://schemas.microsoft.com/office/drawing/2014/main" id="{8738D500-5786-44D4-A413-0CF2AA3B2C5A}"/>
              </a:ext>
            </a:extLst>
          </p:cNvPr>
          <p:cNvSpPr txBox="1"/>
          <p:nvPr/>
        </p:nvSpPr>
        <p:spPr>
          <a:xfrm>
            <a:off x="2609989"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TR2</a:t>
            </a:r>
            <a:endParaRPr lang="en-US" altLang="zh-CN" sz="1000" b="1" dirty="0">
              <a:solidFill>
                <a:srgbClr val="00B050"/>
              </a:solidFill>
              <a:latin typeface="Calibri"/>
              <a:ea typeface="等线" panose="02010600030101010101" pitchFamily="2" charset="-122"/>
              <a:cs typeface="+mn-ea"/>
              <a:sym typeface="+mn-lt"/>
            </a:endParaRPr>
          </a:p>
        </p:txBody>
      </p:sp>
      <p:sp>
        <p:nvSpPr>
          <p:cNvPr id="60" name="文本框 59">
            <a:extLst>
              <a:ext uri="{FF2B5EF4-FFF2-40B4-BE49-F238E27FC236}">
                <a16:creationId xmlns:a16="http://schemas.microsoft.com/office/drawing/2014/main" id="{8738D500-5786-44D4-A413-0CF2AA3B2C5A}"/>
              </a:ext>
            </a:extLst>
          </p:cNvPr>
          <p:cNvSpPr txBox="1"/>
          <p:nvPr/>
        </p:nvSpPr>
        <p:spPr>
          <a:xfrm>
            <a:off x="3798742"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t>
            </a:r>
            <a:endParaRPr lang="en-US" altLang="zh-CN" sz="1000" b="1" dirty="0">
              <a:solidFill>
                <a:srgbClr val="00B050"/>
              </a:solidFill>
              <a:latin typeface="Calibri"/>
              <a:ea typeface="等线" panose="02010600030101010101" pitchFamily="2" charset="-122"/>
              <a:cs typeface="+mn-ea"/>
              <a:sym typeface="+mn-lt"/>
            </a:endParaRPr>
          </a:p>
        </p:txBody>
      </p:sp>
      <p:sp>
        <p:nvSpPr>
          <p:cNvPr id="61" name="文本框 60">
            <a:extLst>
              <a:ext uri="{FF2B5EF4-FFF2-40B4-BE49-F238E27FC236}">
                <a16:creationId xmlns:a16="http://schemas.microsoft.com/office/drawing/2014/main" id="{8738D500-5786-44D4-A413-0CF2AA3B2C5A}"/>
              </a:ext>
            </a:extLst>
          </p:cNvPr>
          <p:cNvSpPr txBox="1"/>
          <p:nvPr/>
        </p:nvSpPr>
        <p:spPr>
          <a:xfrm>
            <a:off x="5585596"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a:t>
            </a:r>
            <a:endParaRPr lang="en-US" altLang="zh-CN" sz="1000" b="1" dirty="0">
              <a:solidFill>
                <a:srgbClr val="00B050"/>
              </a:solidFill>
              <a:latin typeface="Calibri"/>
              <a:ea typeface="等线" panose="02010600030101010101" pitchFamily="2" charset="-122"/>
              <a:cs typeface="+mn-ea"/>
              <a:sym typeface="+mn-lt"/>
            </a:endParaRPr>
          </a:p>
        </p:txBody>
      </p:sp>
      <p:sp>
        <p:nvSpPr>
          <p:cNvPr id="62" name="文本框 61">
            <a:extLst>
              <a:ext uri="{FF2B5EF4-FFF2-40B4-BE49-F238E27FC236}">
                <a16:creationId xmlns:a16="http://schemas.microsoft.com/office/drawing/2014/main" id="{8738D500-5786-44D4-A413-0CF2AA3B2C5A}"/>
              </a:ext>
            </a:extLst>
          </p:cNvPr>
          <p:cNvSpPr txBox="1"/>
          <p:nvPr/>
        </p:nvSpPr>
        <p:spPr>
          <a:xfrm>
            <a:off x="6192069"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t>
            </a:r>
            <a:endParaRPr lang="en-US" altLang="zh-CN" sz="1000" b="1" dirty="0">
              <a:solidFill>
                <a:srgbClr val="00B050"/>
              </a:solidFill>
              <a:latin typeface="Calibri"/>
              <a:ea typeface="等线" panose="02010600030101010101" pitchFamily="2" charset="-122"/>
              <a:cs typeface="+mn-ea"/>
              <a:sym typeface="+mn-lt"/>
            </a:endParaRPr>
          </a:p>
        </p:txBody>
      </p:sp>
      <p:sp>
        <p:nvSpPr>
          <p:cNvPr id="63" name="文本框 62">
            <a:extLst>
              <a:ext uri="{FF2B5EF4-FFF2-40B4-BE49-F238E27FC236}">
                <a16:creationId xmlns:a16="http://schemas.microsoft.com/office/drawing/2014/main" id="{8738D500-5786-44D4-A413-0CF2AA3B2C5A}"/>
              </a:ext>
            </a:extLst>
          </p:cNvPr>
          <p:cNvSpPr txBox="1"/>
          <p:nvPr/>
        </p:nvSpPr>
        <p:spPr>
          <a:xfrm>
            <a:off x="6738108"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a:t>
            </a:r>
            <a:endParaRPr lang="en-US" altLang="zh-CN" sz="1000" b="1" dirty="0">
              <a:solidFill>
                <a:srgbClr val="00B050"/>
              </a:solidFill>
              <a:latin typeface="Calibri"/>
              <a:ea typeface="等线" panose="02010600030101010101" pitchFamily="2" charset="-122"/>
              <a:cs typeface="+mn-ea"/>
              <a:sym typeface="+mn-lt"/>
            </a:endParaRPr>
          </a:p>
        </p:txBody>
      </p:sp>
      <p:sp>
        <p:nvSpPr>
          <p:cNvPr id="64" name="文本框 63">
            <a:extLst>
              <a:ext uri="{FF2B5EF4-FFF2-40B4-BE49-F238E27FC236}">
                <a16:creationId xmlns:a16="http://schemas.microsoft.com/office/drawing/2014/main" id="{8738D500-5786-44D4-A413-0CF2AA3B2C5A}"/>
              </a:ext>
            </a:extLst>
          </p:cNvPr>
          <p:cNvSpPr txBox="1"/>
          <p:nvPr/>
        </p:nvSpPr>
        <p:spPr>
          <a:xfrm>
            <a:off x="8439914" y="2175925"/>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TR5</a:t>
            </a:r>
            <a:endParaRPr lang="en-US" altLang="zh-CN" sz="1000" b="1" dirty="0">
              <a:solidFill>
                <a:srgbClr val="00B050"/>
              </a:solidFill>
              <a:latin typeface="Calibri"/>
              <a:ea typeface="等线" panose="02010600030101010101" pitchFamily="2" charset="-122"/>
              <a:cs typeface="+mn-ea"/>
              <a:sym typeface="+mn-lt"/>
            </a:endParaRPr>
          </a:p>
        </p:txBody>
      </p:sp>
      <p:sp>
        <p:nvSpPr>
          <p:cNvPr id="65" name="文本框 64">
            <a:extLst>
              <a:ext uri="{FF2B5EF4-FFF2-40B4-BE49-F238E27FC236}">
                <a16:creationId xmlns:a16="http://schemas.microsoft.com/office/drawing/2014/main" id="{8738D500-5786-44D4-A413-0CF2AA3B2C5A}"/>
              </a:ext>
            </a:extLst>
          </p:cNvPr>
          <p:cNvSpPr txBox="1"/>
          <p:nvPr/>
        </p:nvSpPr>
        <p:spPr>
          <a:xfrm>
            <a:off x="9567445" y="2175925"/>
            <a:ext cx="495428" cy="246221"/>
          </a:xfrm>
          <a:prstGeom prst="rect">
            <a:avLst/>
          </a:prstGeom>
          <a:noFill/>
        </p:spPr>
        <p:txBody>
          <a:bodyPr wrap="square" rtlCol="0">
            <a:spAutoFit/>
          </a:bodyPr>
          <a:lstStyle>
            <a:defPPr>
              <a:defRPr lang="zh-CN"/>
            </a:defPPr>
            <a:lvl1pPr defTabSz="653309">
              <a:defRPr sz="1100" b="1">
                <a:solidFill>
                  <a:srgbClr val="0070C0"/>
                </a:solidFill>
                <a:latin typeface="Calibri"/>
                <a:ea typeface="等线" panose="02010600030101010101" pitchFamily="2" charset="-122"/>
                <a:cs typeface="+mn-ea"/>
              </a:defRPr>
            </a:lvl1pPr>
          </a:lstStyle>
          <a:p>
            <a:r>
              <a:rPr lang="zh-CN" altLang="en-US" sz="1000" dirty="0">
                <a:sym typeface="+mn-lt"/>
              </a:rPr>
              <a:t>发布</a:t>
            </a:r>
            <a:endParaRPr lang="en-US" altLang="zh-CN" sz="1000" dirty="0">
              <a:sym typeface="+mn-lt"/>
            </a:endParaRPr>
          </a:p>
        </p:txBody>
      </p:sp>
      <p:sp>
        <p:nvSpPr>
          <p:cNvPr id="66" name="等腰三角形 65">
            <a:extLst>
              <a:ext uri="{FF2B5EF4-FFF2-40B4-BE49-F238E27FC236}">
                <a16:creationId xmlns:a16="http://schemas.microsoft.com/office/drawing/2014/main" id="{3F3FD00C-93A4-4DE4-BE60-60E19759F92F}"/>
              </a:ext>
            </a:extLst>
          </p:cNvPr>
          <p:cNvSpPr/>
          <p:nvPr/>
        </p:nvSpPr>
        <p:spPr>
          <a:xfrm>
            <a:off x="6828248" y="2083115"/>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68" name="矩形 67"/>
          <p:cNvSpPr/>
          <p:nvPr/>
        </p:nvSpPr>
        <p:spPr>
          <a:xfrm>
            <a:off x="107950" y="942947"/>
            <a:ext cx="12003111" cy="583323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p:nvPr/>
        </p:nvCxnSpPr>
        <p:spPr>
          <a:xfrm>
            <a:off x="494531" y="942947"/>
            <a:ext cx="0" cy="5833238"/>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p:cNvCxnSpPr>
            <a:endCxn id="9" idx="1"/>
          </p:cNvCxnSpPr>
          <p:nvPr/>
        </p:nvCxnSpPr>
        <p:spPr>
          <a:xfrm>
            <a:off x="102782" y="1911735"/>
            <a:ext cx="391749" cy="0"/>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8" name="文本框 77"/>
          <p:cNvSpPr txBox="1"/>
          <p:nvPr/>
        </p:nvSpPr>
        <p:spPr>
          <a:xfrm>
            <a:off x="148217" y="983016"/>
            <a:ext cx="377339" cy="911596"/>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决策委员会</a:t>
            </a:r>
          </a:p>
        </p:txBody>
      </p:sp>
      <p:cxnSp>
        <p:nvCxnSpPr>
          <p:cNvPr id="80" name="直接连接符 79"/>
          <p:cNvCxnSpPr/>
          <p:nvPr/>
        </p:nvCxnSpPr>
        <p:spPr>
          <a:xfrm>
            <a:off x="281414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80"/>
          <p:cNvCxnSpPr/>
          <p:nvPr/>
        </p:nvCxnSpPr>
        <p:spPr>
          <a:xfrm>
            <a:off x="5138892"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直接连接符 81"/>
          <p:cNvCxnSpPr/>
          <p:nvPr/>
        </p:nvCxnSpPr>
        <p:spPr>
          <a:xfrm>
            <a:off x="746033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直接连接符 82"/>
          <p:cNvCxnSpPr/>
          <p:nvPr/>
        </p:nvCxnSpPr>
        <p:spPr>
          <a:xfrm>
            <a:off x="9780138"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直接连接符 83"/>
          <p:cNvCxnSpPr/>
          <p:nvPr/>
        </p:nvCxnSpPr>
        <p:spPr>
          <a:xfrm>
            <a:off x="105962" y="4039162"/>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7" name="文本框 86"/>
          <p:cNvSpPr txBox="1"/>
          <p:nvPr/>
        </p:nvSpPr>
        <p:spPr>
          <a:xfrm>
            <a:off x="118049" y="2770681"/>
            <a:ext cx="377339"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项目经理</a:t>
            </a:r>
          </a:p>
        </p:txBody>
      </p:sp>
      <p:sp>
        <p:nvSpPr>
          <p:cNvPr id="88" name="文本框 87"/>
          <p:cNvSpPr txBox="1"/>
          <p:nvPr/>
        </p:nvSpPr>
        <p:spPr>
          <a:xfrm>
            <a:off x="146622" y="4247741"/>
            <a:ext cx="377339"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市场代表</a:t>
            </a:r>
          </a:p>
        </p:txBody>
      </p:sp>
      <p:sp>
        <p:nvSpPr>
          <p:cNvPr id="89" name="矩形 88"/>
          <p:cNvSpPr/>
          <p:nvPr/>
        </p:nvSpPr>
        <p:spPr>
          <a:xfrm>
            <a:off x="1081266" y="2797224"/>
            <a:ext cx="1204806" cy="743024"/>
          </a:xfrm>
          <a:prstGeom prst="rect">
            <a:avLst/>
          </a:prstGeom>
        </p:spPr>
        <p:txBody>
          <a:bodyPr wrap="square">
            <a:spAutoFit/>
          </a:bodyPr>
          <a:lstStyle/>
          <a:p>
            <a:pPr>
              <a:lnSpc>
                <a:spcPct val="120000"/>
              </a:lnSpc>
            </a:pPr>
            <a:r>
              <a:rPr lang="zh-CN" altLang="en-US" sz="900" dirty="0" smtClean="0">
                <a:solidFill>
                  <a:srgbClr val="000000"/>
                </a:solidFill>
                <a:latin typeface="+mn-ea"/>
              </a:rPr>
              <a:t>预立项</a:t>
            </a:r>
            <a:r>
              <a:rPr lang="zh-CN" altLang="en-US" sz="900" dirty="0">
                <a:solidFill>
                  <a:srgbClr val="000000"/>
                </a:solidFill>
                <a:latin typeface="+mn-ea"/>
              </a:rPr>
              <a:t>材料审核 </a:t>
            </a:r>
            <a:endParaRPr lang="zh-CN" altLang="en-US" sz="900" dirty="0">
              <a:latin typeface="+mn-ea"/>
            </a:endParaRPr>
          </a:p>
          <a:p>
            <a:pPr>
              <a:lnSpc>
                <a:spcPct val="120000"/>
              </a:lnSpc>
            </a:pPr>
            <a:r>
              <a:rPr lang="zh-CN" altLang="en-US" sz="900" dirty="0">
                <a:solidFill>
                  <a:srgbClr val="000000"/>
                </a:solidFill>
                <a:latin typeface="+mn-ea"/>
              </a:rPr>
              <a:t>项目估算 </a:t>
            </a:r>
            <a:endParaRPr lang="zh-CN" altLang="en-US" sz="900" dirty="0">
              <a:latin typeface="+mn-ea"/>
            </a:endParaRPr>
          </a:p>
          <a:p>
            <a:pPr>
              <a:lnSpc>
                <a:spcPct val="120000"/>
              </a:lnSpc>
            </a:pPr>
            <a:r>
              <a:rPr lang="zh-CN" altLang="en-US" sz="900" dirty="0">
                <a:solidFill>
                  <a:srgbClr val="000000"/>
                </a:solidFill>
                <a:latin typeface="+mn-ea"/>
              </a:rPr>
              <a:t>组织立项评审 </a:t>
            </a:r>
            <a:endParaRPr lang="zh-CN" altLang="en-US" sz="900" dirty="0">
              <a:latin typeface="+mn-ea"/>
            </a:endParaRPr>
          </a:p>
          <a:p>
            <a:pPr>
              <a:lnSpc>
                <a:spcPct val="120000"/>
              </a:lnSpc>
            </a:pPr>
            <a:r>
              <a:rPr lang="zh-CN" altLang="en-US" sz="900" dirty="0">
                <a:solidFill>
                  <a:srgbClr val="000000"/>
                </a:solidFill>
                <a:latin typeface="+mn-ea"/>
              </a:rPr>
              <a:t>召开项目启动会</a:t>
            </a:r>
            <a:endParaRPr lang="zh-CN" altLang="en-US" sz="900" dirty="0">
              <a:latin typeface="+mn-ea"/>
            </a:endParaRPr>
          </a:p>
        </p:txBody>
      </p:sp>
      <p:sp>
        <p:nvSpPr>
          <p:cNvPr id="90" name="文本框 89"/>
          <p:cNvSpPr txBox="1"/>
          <p:nvPr/>
        </p:nvSpPr>
        <p:spPr>
          <a:xfrm>
            <a:off x="143017" y="5646866"/>
            <a:ext cx="377339" cy="9233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产品工程师</a:t>
            </a:r>
          </a:p>
        </p:txBody>
      </p:sp>
      <p:cxnSp>
        <p:nvCxnSpPr>
          <p:cNvPr id="91" name="直接连接符 90"/>
          <p:cNvCxnSpPr/>
          <p:nvPr/>
        </p:nvCxnSpPr>
        <p:spPr>
          <a:xfrm>
            <a:off x="86152" y="5238787"/>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43716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nvGraphicFramePr>
        <p:xfrm>
          <a:off x="494531" y="942947"/>
          <a:ext cx="11616530" cy="335280"/>
        </p:xfrm>
        <a:graphic>
          <a:graphicData uri="http://schemas.openxmlformats.org/drawingml/2006/table">
            <a:tbl>
              <a:tblPr firstRow="1" bandRow="1">
                <a:tableStyleId>{5C22544A-7EE6-4342-B048-85BDC9FD1C3A}</a:tableStyleId>
              </a:tblPr>
              <a:tblGrid>
                <a:gridCol w="2323306">
                  <a:extLst>
                    <a:ext uri="{9D8B030D-6E8A-4147-A177-3AD203B41FA5}">
                      <a16:colId xmlns:a16="http://schemas.microsoft.com/office/drawing/2014/main" val="3971759486"/>
                    </a:ext>
                  </a:extLst>
                </a:gridCol>
                <a:gridCol w="2323306">
                  <a:extLst>
                    <a:ext uri="{9D8B030D-6E8A-4147-A177-3AD203B41FA5}">
                      <a16:colId xmlns:a16="http://schemas.microsoft.com/office/drawing/2014/main" val="445946111"/>
                    </a:ext>
                  </a:extLst>
                </a:gridCol>
                <a:gridCol w="2323306">
                  <a:extLst>
                    <a:ext uri="{9D8B030D-6E8A-4147-A177-3AD203B41FA5}">
                      <a16:colId xmlns:a16="http://schemas.microsoft.com/office/drawing/2014/main" val="648289803"/>
                    </a:ext>
                  </a:extLst>
                </a:gridCol>
                <a:gridCol w="2323306">
                  <a:extLst>
                    <a:ext uri="{9D8B030D-6E8A-4147-A177-3AD203B41FA5}">
                      <a16:colId xmlns:a16="http://schemas.microsoft.com/office/drawing/2014/main" val="2895513670"/>
                    </a:ext>
                  </a:extLst>
                </a:gridCol>
                <a:gridCol w="2323306">
                  <a:extLst>
                    <a:ext uri="{9D8B030D-6E8A-4147-A177-3AD203B41FA5}">
                      <a16:colId xmlns:a16="http://schemas.microsoft.com/office/drawing/2014/main" val="4262667272"/>
                    </a:ext>
                  </a:extLst>
                </a:gridCol>
              </a:tblGrid>
              <a:tr h="311695">
                <a:tc>
                  <a:txBody>
                    <a:bodyPr/>
                    <a:lstStyle/>
                    <a:p>
                      <a:pPr algn="ctr"/>
                      <a:r>
                        <a:rPr lang="en-US" altLang="zh-CN" sz="1600" dirty="0" smtClean="0"/>
                        <a:t>M1</a:t>
                      </a:r>
                      <a:r>
                        <a:rPr lang="zh-CN" altLang="en-US" sz="1600" dirty="0" smtClean="0"/>
                        <a:t>预研阶段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M2</a:t>
                      </a:r>
                      <a:r>
                        <a:rPr lang="zh-CN" altLang="en-US" sz="1600" dirty="0" smtClean="0"/>
                        <a:t>计划阶段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M3</a:t>
                      </a:r>
                      <a:r>
                        <a:rPr lang="zh-CN" altLang="en-US" sz="1600" dirty="0" smtClean="0"/>
                        <a:t>研发测试阶段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M4</a:t>
                      </a:r>
                      <a:r>
                        <a:rPr lang="zh-CN" altLang="en-US" sz="1600" dirty="0" smtClean="0"/>
                        <a:t>试制阶段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M5</a:t>
                      </a:r>
                      <a:r>
                        <a:rPr lang="zh-CN" altLang="en-US" sz="1600" dirty="0" smtClean="0"/>
                        <a:t>新品导入阶段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extLst>
                  <a:ext uri="{0D108BD9-81ED-4DB2-BD59-A6C34878D82A}">
                    <a16:rowId xmlns:a16="http://schemas.microsoft.com/office/drawing/2014/main" val="2451564581"/>
                  </a:ext>
                </a:extLst>
              </a:tr>
            </a:tbl>
          </a:graphicData>
        </a:graphic>
      </p:graphicFrame>
      <p:sp>
        <p:nvSpPr>
          <p:cNvPr id="2" name="文本占位符 1"/>
          <p:cNvSpPr>
            <a:spLocks noGrp="1"/>
          </p:cNvSpPr>
          <p:nvPr>
            <p:ph type="body" sz="quarter" idx="13"/>
          </p:nvPr>
        </p:nvSpPr>
        <p:spPr/>
        <p:txBody>
          <a:bodyPr/>
          <a:lstStyle/>
          <a:p>
            <a:r>
              <a:rPr lang="zh-CN" altLang="en-US" dirty="0"/>
              <a:t>硬件</a:t>
            </a:r>
            <a:r>
              <a:rPr lang="zh-CN" altLang="en-US" dirty="0" smtClean="0"/>
              <a:t>产品开发流程袖珍卡</a:t>
            </a:r>
            <a:endParaRPr lang="zh-CN" altLang="en-US" dirty="0"/>
          </a:p>
        </p:txBody>
      </p:sp>
      <p:sp>
        <p:nvSpPr>
          <p:cNvPr id="9" name="圆角矩形 8"/>
          <p:cNvSpPr/>
          <p:nvPr/>
        </p:nvSpPr>
        <p:spPr>
          <a:xfrm>
            <a:off x="494531" y="1784144"/>
            <a:ext cx="11616531" cy="255182"/>
          </a:xfrm>
          <a:prstGeom prst="roundRect">
            <a:avLst>
              <a:gd name="adj" fmla="val 39483"/>
            </a:avLst>
          </a:prstGeom>
          <a:solidFill>
            <a:srgbClr val="FFCCCC"/>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1" name="文本框 10"/>
          <p:cNvSpPr txBox="1"/>
          <p:nvPr/>
        </p:nvSpPr>
        <p:spPr>
          <a:xfrm>
            <a:off x="1414131" y="1766787"/>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概念</a:t>
            </a:r>
          </a:p>
        </p:txBody>
      </p:sp>
      <p:sp>
        <p:nvSpPr>
          <p:cNvPr id="13" name="文本框 12"/>
          <p:cNvSpPr txBox="1"/>
          <p:nvPr/>
        </p:nvSpPr>
        <p:spPr>
          <a:xfrm>
            <a:off x="3724940"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计划</a:t>
            </a:r>
          </a:p>
        </p:txBody>
      </p:sp>
      <p:sp>
        <p:nvSpPr>
          <p:cNvPr id="14" name="文本框 13"/>
          <p:cNvSpPr txBox="1"/>
          <p:nvPr/>
        </p:nvSpPr>
        <p:spPr>
          <a:xfrm>
            <a:off x="5803066"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开发</a:t>
            </a:r>
            <a:r>
              <a:rPr lang="en-US" altLang="zh-CN" sz="1050" b="1" dirty="0" smtClean="0">
                <a:solidFill>
                  <a:schemeClr val="tx1">
                    <a:lumMod val="75000"/>
                    <a:lumOff val="25000"/>
                  </a:schemeClr>
                </a:solidFill>
              </a:rPr>
              <a:t>/</a:t>
            </a:r>
            <a:r>
              <a:rPr lang="zh-CN" altLang="en-US" sz="1050" b="1" dirty="0" smtClean="0">
                <a:solidFill>
                  <a:schemeClr val="tx1">
                    <a:lumMod val="75000"/>
                    <a:lumOff val="25000"/>
                  </a:schemeClr>
                </a:solidFill>
              </a:rPr>
              <a:t>验证</a:t>
            </a:r>
          </a:p>
        </p:txBody>
      </p:sp>
      <p:sp>
        <p:nvSpPr>
          <p:cNvPr id="15" name="文本框 14"/>
          <p:cNvSpPr txBox="1"/>
          <p:nvPr/>
        </p:nvSpPr>
        <p:spPr>
          <a:xfrm>
            <a:off x="8262731" y="1783939"/>
            <a:ext cx="999460" cy="272510"/>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rPr>
              <a:t>批量</a:t>
            </a:r>
            <a:r>
              <a:rPr lang="zh-CN" altLang="en-US" sz="1050" b="1" dirty="0" smtClean="0">
                <a:solidFill>
                  <a:schemeClr val="tx1">
                    <a:lumMod val="75000"/>
                    <a:lumOff val="25000"/>
                  </a:schemeClr>
                </a:solidFill>
              </a:rPr>
              <a:t>验证</a:t>
            </a:r>
          </a:p>
        </p:txBody>
      </p:sp>
      <p:sp>
        <p:nvSpPr>
          <p:cNvPr id="16" name="文本框 15"/>
          <p:cNvSpPr txBox="1"/>
          <p:nvPr/>
        </p:nvSpPr>
        <p:spPr>
          <a:xfrm>
            <a:off x="10383630" y="1766787"/>
            <a:ext cx="118607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直通率爬坡</a:t>
            </a:r>
          </a:p>
        </p:txBody>
      </p:sp>
      <p:sp>
        <p:nvSpPr>
          <p:cNvPr id="35" name="等腰三角形 34">
            <a:extLst>
              <a:ext uri="{FF2B5EF4-FFF2-40B4-BE49-F238E27FC236}">
                <a16:creationId xmlns:a16="http://schemas.microsoft.com/office/drawing/2014/main" id="{F6FC58EC-E8C8-419E-9E7B-618E07CFD51A}"/>
              </a:ext>
            </a:extLst>
          </p:cNvPr>
          <p:cNvSpPr/>
          <p:nvPr/>
        </p:nvSpPr>
        <p:spPr>
          <a:xfrm rot="10800000">
            <a:off x="5017466" y="1574513"/>
            <a:ext cx="223426" cy="14241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38" name="文本框 37">
            <a:extLst>
              <a:ext uri="{FF2B5EF4-FFF2-40B4-BE49-F238E27FC236}">
                <a16:creationId xmlns:a16="http://schemas.microsoft.com/office/drawing/2014/main" id="{755BF703-06CC-4FF6-B3B8-73ECBCD1B7DA}"/>
              </a:ext>
            </a:extLst>
          </p:cNvPr>
          <p:cNvSpPr txBox="1"/>
          <p:nvPr/>
        </p:nvSpPr>
        <p:spPr>
          <a:xfrm>
            <a:off x="4900200" y="1356963"/>
            <a:ext cx="434734" cy="246221"/>
          </a:xfrm>
          <a:prstGeom prst="rect">
            <a:avLst/>
          </a:prstGeom>
          <a:noFill/>
        </p:spPr>
        <p:txBody>
          <a:bodyPr wrap="none" rtlCol="0">
            <a:spAutoFit/>
          </a:bodyPr>
          <a:lstStyle/>
          <a:p>
            <a:pPr defTabSz="653309">
              <a:defRPr/>
            </a:pPr>
            <a:r>
              <a:rPr lang="en-US" altLang="zh-CN" sz="1000" b="1" dirty="0" smtClean="0">
                <a:solidFill>
                  <a:srgbClr val="FF0000"/>
                </a:solidFill>
                <a:latin typeface="Calibri"/>
                <a:ea typeface="等线" panose="02010600030101010101" pitchFamily="2" charset="-122"/>
                <a:cs typeface="+mn-ea"/>
                <a:sym typeface="+mn-lt"/>
              </a:rPr>
              <a:t>MR1</a:t>
            </a:r>
            <a:endParaRPr lang="en-US" altLang="zh-CN" sz="1000" b="1" dirty="0">
              <a:solidFill>
                <a:srgbClr val="FF0000"/>
              </a:solidFill>
              <a:latin typeface="Calibri"/>
              <a:ea typeface="等线" panose="02010600030101010101" pitchFamily="2" charset="-122"/>
              <a:cs typeface="+mn-ea"/>
              <a:sym typeface="+mn-lt"/>
            </a:endParaRPr>
          </a:p>
        </p:txBody>
      </p:sp>
      <p:sp>
        <p:nvSpPr>
          <p:cNvPr id="39" name="文本框 38">
            <a:extLst>
              <a:ext uri="{FF2B5EF4-FFF2-40B4-BE49-F238E27FC236}">
                <a16:creationId xmlns:a16="http://schemas.microsoft.com/office/drawing/2014/main" id="{8738D500-5786-44D4-A413-0CF2AA3B2C5A}"/>
              </a:ext>
            </a:extLst>
          </p:cNvPr>
          <p:cNvSpPr txBox="1"/>
          <p:nvPr/>
        </p:nvSpPr>
        <p:spPr>
          <a:xfrm>
            <a:off x="2586276" y="1356963"/>
            <a:ext cx="801774" cy="246221"/>
          </a:xfrm>
          <a:prstGeom prst="rect">
            <a:avLst/>
          </a:prstGeom>
          <a:noFill/>
        </p:spPr>
        <p:txBody>
          <a:bodyPr wrap="square" rtlCol="0">
            <a:spAutoFit/>
          </a:bodyPr>
          <a:lstStyle/>
          <a:p>
            <a:pPr defTabSz="653309">
              <a:defRPr/>
            </a:pPr>
            <a:r>
              <a:rPr lang="en-US" altLang="zh-CN" sz="1000" b="1" dirty="0" smtClean="0">
                <a:solidFill>
                  <a:srgbClr val="FFC000"/>
                </a:solidFill>
                <a:latin typeface="Calibri"/>
                <a:ea typeface="等线" panose="02010600030101010101" pitchFamily="2" charset="-122"/>
                <a:cs typeface="+mn-ea"/>
                <a:sym typeface="+mn-lt"/>
              </a:rPr>
              <a:t>DCP1</a:t>
            </a:r>
            <a:endParaRPr lang="en-US" altLang="zh-CN" sz="1000" b="1" dirty="0">
              <a:solidFill>
                <a:srgbClr val="FFC000"/>
              </a:solidFill>
              <a:latin typeface="Calibri"/>
              <a:ea typeface="等线" panose="02010600030101010101" pitchFamily="2" charset="-122"/>
              <a:cs typeface="+mn-ea"/>
              <a:sym typeface="+mn-lt"/>
            </a:endParaRPr>
          </a:p>
        </p:txBody>
      </p:sp>
      <p:sp>
        <p:nvSpPr>
          <p:cNvPr id="40" name="文本框 39">
            <a:extLst>
              <a:ext uri="{FF2B5EF4-FFF2-40B4-BE49-F238E27FC236}">
                <a16:creationId xmlns:a16="http://schemas.microsoft.com/office/drawing/2014/main" id="{3AAE2566-CB86-4CD6-8EA5-7976B5994FBE}"/>
              </a:ext>
            </a:extLst>
          </p:cNvPr>
          <p:cNvSpPr txBox="1"/>
          <p:nvPr/>
        </p:nvSpPr>
        <p:spPr>
          <a:xfrm>
            <a:off x="6527587" y="1358549"/>
            <a:ext cx="1108201"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MR2 </a:t>
            </a:r>
          </a:p>
        </p:txBody>
      </p:sp>
      <p:sp>
        <p:nvSpPr>
          <p:cNvPr id="41" name="文本框 40">
            <a:extLst>
              <a:ext uri="{FF2B5EF4-FFF2-40B4-BE49-F238E27FC236}">
                <a16:creationId xmlns:a16="http://schemas.microsoft.com/office/drawing/2014/main" id="{CE19E3E9-9CDD-4DDE-9B27-5690986C721C}"/>
              </a:ext>
            </a:extLst>
          </p:cNvPr>
          <p:cNvSpPr txBox="1"/>
          <p:nvPr/>
        </p:nvSpPr>
        <p:spPr>
          <a:xfrm>
            <a:off x="7621693" y="1356963"/>
            <a:ext cx="1140768"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MR3 </a:t>
            </a:r>
          </a:p>
        </p:txBody>
      </p:sp>
      <p:sp>
        <p:nvSpPr>
          <p:cNvPr id="42" name="文本框 41">
            <a:extLst>
              <a:ext uri="{FF2B5EF4-FFF2-40B4-BE49-F238E27FC236}">
                <a16:creationId xmlns:a16="http://schemas.microsoft.com/office/drawing/2014/main" id="{DD0351F6-CD6A-4B6E-9A27-1C50AE07449E}"/>
              </a:ext>
            </a:extLst>
          </p:cNvPr>
          <p:cNvSpPr txBox="1"/>
          <p:nvPr/>
        </p:nvSpPr>
        <p:spPr>
          <a:xfrm>
            <a:off x="11758476" y="1355030"/>
            <a:ext cx="972051" cy="246221"/>
          </a:xfrm>
          <a:prstGeom prst="rect">
            <a:avLst/>
          </a:prstGeom>
          <a:noFill/>
        </p:spPr>
        <p:txBody>
          <a:bodyPr wrap="square" rtlCol="0">
            <a:spAutoFit/>
          </a:bodyPr>
          <a:lstStyle/>
          <a:p>
            <a:pPr defTabSz="653309">
              <a:defRPr/>
            </a:pPr>
            <a:r>
              <a:rPr lang="en-US" altLang="zh-CN" sz="1000" b="1" dirty="0">
                <a:solidFill>
                  <a:srgbClr val="FFC000"/>
                </a:solidFill>
                <a:latin typeface="Calibri"/>
                <a:ea typeface="等线" panose="02010600030101010101" pitchFamily="2" charset="-122"/>
                <a:cs typeface="+mn-ea"/>
                <a:sym typeface="+mn-lt"/>
              </a:rPr>
              <a:t>DCP2 </a:t>
            </a:r>
          </a:p>
        </p:txBody>
      </p:sp>
      <p:sp>
        <p:nvSpPr>
          <p:cNvPr id="43" name="菱形 42">
            <a:extLst>
              <a:ext uri="{FF2B5EF4-FFF2-40B4-BE49-F238E27FC236}">
                <a16:creationId xmlns:a16="http://schemas.microsoft.com/office/drawing/2014/main" id="{C3971F30-2B52-4E9A-ADC9-73EA41671F2C}"/>
              </a:ext>
            </a:extLst>
          </p:cNvPr>
          <p:cNvSpPr/>
          <p:nvPr/>
        </p:nvSpPr>
        <p:spPr>
          <a:xfrm>
            <a:off x="2718005" y="1540577"/>
            <a:ext cx="159937" cy="203741"/>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45" name="文本框 44">
            <a:extLst>
              <a:ext uri="{FF2B5EF4-FFF2-40B4-BE49-F238E27FC236}">
                <a16:creationId xmlns:a16="http://schemas.microsoft.com/office/drawing/2014/main" id="{F36FD40D-85E7-4162-8B5D-1745581AD630}"/>
              </a:ext>
            </a:extLst>
          </p:cNvPr>
          <p:cNvSpPr txBox="1"/>
          <p:nvPr/>
        </p:nvSpPr>
        <p:spPr>
          <a:xfrm>
            <a:off x="9391231" y="1362609"/>
            <a:ext cx="798949" cy="246221"/>
          </a:xfrm>
          <a:prstGeom prst="rect">
            <a:avLst/>
          </a:prstGeom>
          <a:noFill/>
        </p:spPr>
        <p:txBody>
          <a:bodyPr wrap="square" rtlCol="0">
            <a:spAutoFit/>
          </a:bodyPr>
          <a:lstStyle/>
          <a:p>
            <a:pPr defTabSz="653309">
              <a:defRPr/>
            </a:pPr>
            <a:r>
              <a:rPr lang="zh-CN" altLang="en-US" sz="1000" b="1" dirty="0">
                <a:solidFill>
                  <a:srgbClr val="0070C0"/>
                </a:solidFill>
                <a:latin typeface="Calibri"/>
                <a:ea typeface="等线" panose="02010600030101010101" pitchFamily="2" charset="-122"/>
                <a:cs typeface="+mn-ea"/>
                <a:sym typeface="+mn-lt"/>
              </a:rPr>
              <a:t>质量评审</a:t>
            </a:r>
          </a:p>
        </p:txBody>
      </p:sp>
      <p:sp>
        <p:nvSpPr>
          <p:cNvPr id="46" name="十字星 169">
            <a:extLst>
              <a:ext uri="{FF2B5EF4-FFF2-40B4-BE49-F238E27FC236}">
                <a16:creationId xmlns:a16="http://schemas.microsoft.com/office/drawing/2014/main" id="{229540B7-8107-49C2-AA81-C22CEEDDDFA7}"/>
              </a:ext>
            </a:extLst>
          </p:cNvPr>
          <p:cNvSpPr/>
          <p:nvPr/>
        </p:nvSpPr>
        <p:spPr>
          <a:xfrm>
            <a:off x="9692566" y="1495567"/>
            <a:ext cx="196282" cy="229486"/>
          </a:xfrm>
          <a:prstGeom prst="star4">
            <a:avLst/>
          </a:prstGeom>
          <a:solidFill>
            <a:srgbClr val="31B6FD"/>
          </a:solidFill>
          <a:ln w="12700" cap="flat" cmpd="sng" algn="ctr">
            <a:solidFill>
              <a:srgbClr val="31B6FD">
                <a:shade val="50000"/>
              </a:srgbClr>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7" name="等腰三角形 46">
            <a:extLst>
              <a:ext uri="{FF2B5EF4-FFF2-40B4-BE49-F238E27FC236}">
                <a16:creationId xmlns:a16="http://schemas.microsoft.com/office/drawing/2014/main" id="{F6FC58EC-E8C8-419E-9E7B-618E07CFD51A}"/>
              </a:ext>
            </a:extLst>
          </p:cNvPr>
          <p:cNvSpPr/>
          <p:nvPr/>
        </p:nvSpPr>
        <p:spPr>
          <a:xfrm rot="10800000">
            <a:off x="6634005" y="1581183"/>
            <a:ext cx="231259" cy="14386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8" name="等腰三角形 47">
            <a:extLst>
              <a:ext uri="{FF2B5EF4-FFF2-40B4-BE49-F238E27FC236}">
                <a16:creationId xmlns:a16="http://schemas.microsoft.com/office/drawing/2014/main" id="{F6FC58EC-E8C8-419E-9E7B-618E07CFD51A}"/>
              </a:ext>
            </a:extLst>
          </p:cNvPr>
          <p:cNvSpPr/>
          <p:nvPr/>
        </p:nvSpPr>
        <p:spPr>
          <a:xfrm rot="10800000">
            <a:off x="7729783" y="1574511"/>
            <a:ext cx="264110" cy="138894"/>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9" name="菱形 48">
            <a:extLst>
              <a:ext uri="{FF2B5EF4-FFF2-40B4-BE49-F238E27FC236}">
                <a16:creationId xmlns:a16="http://schemas.microsoft.com/office/drawing/2014/main" id="{C3971F30-2B52-4E9A-ADC9-73EA41671F2C}"/>
              </a:ext>
            </a:extLst>
          </p:cNvPr>
          <p:cNvSpPr/>
          <p:nvPr/>
        </p:nvSpPr>
        <p:spPr>
          <a:xfrm>
            <a:off x="11917669" y="1540577"/>
            <a:ext cx="146814" cy="184476"/>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50" name="等腰三角形 49">
            <a:extLst>
              <a:ext uri="{FF2B5EF4-FFF2-40B4-BE49-F238E27FC236}">
                <a16:creationId xmlns:a16="http://schemas.microsoft.com/office/drawing/2014/main" id="{3F3FD00C-93A4-4DE4-BE60-60E19759F92F}"/>
              </a:ext>
            </a:extLst>
          </p:cNvPr>
          <p:cNvSpPr/>
          <p:nvPr/>
        </p:nvSpPr>
        <p:spPr>
          <a:xfrm>
            <a:off x="1804533" y="2083609"/>
            <a:ext cx="202447" cy="141896"/>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1" name="等腰三角形 50">
            <a:extLst>
              <a:ext uri="{FF2B5EF4-FFF2-40B4-BE49-F238E27FC236}">
                <a16:creationId xmlns:a16="http://schemas.microsoft.com/office/drawing/2014/main" id="{3F3FD00C-93A4-4DE4-BE60-60E19759F92F}"/>
              </a:ext>
            </a:extLst>
          </p:cNvPr>
          <p:cNvSpPr/>
          <p:nvPr/>
        </p:nvSpPr>
        <p:spPr>
          <a:xfrm>
            <a:off x="2704215" y="2083118"/>
            <a:ext cx="207184" cy="141487"/>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2" name="等腰三角形 51">
            <a:extLst>
              <a:ext uri="{FF2B5EF4-FFF2-40B4-BE49-F238E27FC236}">
                <a16:creationId xmlns:a16="http://schemas.microsoft.com/office/drawing/2014/main" id="{3F3FD00C-93A4-4DE4-BE60-60E19759F92F}"/>
              </a:ext>
            </a:extLst>
          </p:cNvPr>
          <p:cNvSpPr/>
          <p:nvPr/>
        </p:nvSpPr>
        <p:spPr>
          <a:xfrm>
            <a:off x="3903082" y="2083118"/>
            <a:ext cx="210592" cy="14148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3" name="等腰三角形 52">
            <a:extLst>
              <a:ext uri="{FF2B5EF4-FFF2-40B4-BE49-F238E27FC236}">
                <a16:creationId xmlns:a16="http://schemas.microsoft.com/office/drawing/2014/main" id="{3F3FD00C-93A4-4DE4-BE60-60E19759F92F}"/>
              </a:ext>
            </a:extLst>
          </p:cNvPr>
          <p:cNvSpPr/>
          <p:nvPr/>
        </p:nvSpPr>
        <p:spPr>
          <a:xfrm>
            <a:off x="5681226" y="2083116"/>
            <a:ext cx="237738"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4" name="等腰三角形 53">
            <a:extLst>
              <a:ext uri="{FF2B5EF4-FFF2-40B4-BE49-F238E27FC236}">
                <a16:creationId xmlns:a16="http://schemas.microsoft.com/office/drawing/2014/main" id="{3F3FD00C-93A4-4DE4-BE60-60E19759F92F}"/>
              </a:ext>
            </a:extLst>
          </p:cNvPr>
          <p:cNvSpPr/>
          <p:nvPr/>
        </p:nvSpPr>
        <p:spPr>
          <a:xfrm>
            <a:off x="6302796" y="2083116"/>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6" name="等腰三角形 55">
            <a:extLst>
              <a:ext uri="{FF2B5EF4-FFF2-40B4-BE49-F238E27FC236}">
                <a16:creationId xmlns:a16="http://schemas.microsoft.com/office/drawing/2014/main" id="{3F3FD00C-93A4-4DE4-BE60-60E19759F92F}"/>
              </a:ext>
            </a:extLst>
          </p:cNvPr>
          <p:cNvSpPr/>
          <p:nvPr/>
        </p:nvSpPr>
        <p:spPr>
          <a:xfrm>
            <a:off x="8543806" y="2082777"/>
            <a:ext cx="218655" cy="14182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19" name="五角星 18"/>
          <p:cNvSpPr/>
          <p:nvPr/>
        </p:nvSpPr>
        <p:spPr>
          <a:xfrm>
            <a:off x="9692565" y="2087168"/>
            <a:ext cx="175147" cy="137436"/>
          </a:xfrm>
          <a:prstGeom prst="star5">
            <a:avLst/>
          </a:prstGeom>
          <a:solidFill>
            <a:srgbClr val="31B6FD"/>
          </a:solidFill>
          <a:ln>
            <a:solidFill>
              <a:srgbClr val="31B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文本框 57">
            <a:extLst>
              <a:ext uri="{FF2B5EF4-FFF2-40B4-BE49-F238E27FC236}">
                <a16:creationId xmlns:a16="http://schemas.microsoft.com/office/drawing/2014/main" id="{8738D500-5786-44D4-A413-0CF2AA3B2C5A}"/>
              </a:ext>
            </a:extLst>
          </p:cNvPr>
          <p:cNvSpPr txBox="1"/>
          <p:nvPr/>
        </p:nvSpPr>
        <p:spPr>
          <a:xfrm>
            <a:off x="1719918"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TR1</a:t>
            </a:r>
            <a:endParaRPr lang="en-US" altLang="zh-CN" sz="1000" b="1" dirty="0">
              <a:solidFill>
                <a:srgbClr val="00B050"/>
              </a:solidFill>
              <a:latin typeface="Calibri"/>
              <a:ea typeface="等线" panose="02010600030101010101" pitchFamily="2" charset="-122"/>
              <a:cs typeface="+mn-ea"/>
              <a:sym typeface="+mn-lt"/>
            </a:endParaRPr>
          </a:p>
        </p:txBody>
      </p:sp>
      <p:sp>
        <p:nvSpPr>
          <p:cNvPr id="59" name="文本框 58">
            <a:extLst>
              <a:ext uri="{FF2B5EF4-FFF2-40B4-BE49-F238E27FC236}">
                <a16:creationId xmlns:a16="http://schemas.microsoft.com/office/drawing/2014/main" id="{8738D500-5786-44D4-A413-0CF2AA3B2C5A}"/>
              </a:ext>
            </a:extLst>
          </p:cNvPr>
          <p:cNvSpPr txBox="1"/>
          <p:nvPr/>
        </p:nvSpPr>
        <p:spPr>
          <a:xfrm>
            <a:off x="2609989"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TR2</a:t>
            </a:r>
            <a:endParaRPr lang="en-US" altLang="zh-CN" sz="1000" b="1" dirty="0">
              <a:solidFill>
                <a:srgbClr val="00B050"/>
              </a:solidFill>
              <a:latin typeface="Calibri"/>
              <a:ea typeface="等线" panose="02010600030101010101" pitchFamily="2" charset="-122"/>
              <a:cs typeface="+mn-ea"/>
              <a:sym typeface="+mn-lt"/>
            </a:endParaRPr>
          </a:p>
        </p:txBody>
      </p:sp>
      <p:sp>
        <p:nvSpPr>
          <p:cNvPr id="60" name="文本框 59">
            <a:extLst>
              <a:ext uri="{FF2B5EF4-FFF2-40B4-BE49-F238E27FC236}">
                <a16:creationId xmlns:a16="http://schemas.microsoft.com/office/drawing/2014/main" id="{8738D500-5786-44D4-A413-0CF2AA3B2C5A}"/>
              </a:ext>
            </a:extLst>
          </p:cNvPr>
          <p:cNvSpPr txBox="1"/>
          <p:nvPr/>
        </p:nvSpPr>
        <p:spPr>
          <a:xfrm>
            <a:off x="3798742"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t>
            </a:r>
            <a:endParaRPr lang="en-US" altLang="zh-CN" sz="1000" b="1" dirty="0">
              <a:solidFill>
                <a:srgbClr val="00B050"/>
              </a:solidFill>
              <a:latin typeface="Calibri"/>
              <a:ea typeface="等线" panose="02010600030101010101" pitchFamily="2" charset="-122"/>
              <a:cs typeface="+mn-ea"/>
              <a:sym typeface="+mn-lt"/>
            </a:endParaRPr>
          </a:p>
        </p:txBody>
      </p:sp>
      <p:sp>
        <p:nvSpPr>
          <p:cNvPr id="61" name="文本框 60">
            <a:extLst>
              <a:ext uri="{FF2B5EF4-FFF2-40B4-BE49-F238E27FC236}">
                <a16:creationId xmlns:a16="http://schemas.microsoft.com/office/drawing/2014/main" id="{8738D500-5786-44D4-A413-0CF2AA3B2C5A}"/>
              </a:ext>
            </a:extLst>
          </p:cNvPr>
          <p:cNvSpPr txBox="1"/>
          <p:nvPr/>
        </p:nvSpPr>
        <p:spPr>
          <a:xfrm>
            <a:off x="5585596"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a:t>
            </a:r>
            <a:endParaRPr lang="en-US" altLang="zh-CN" sz="1000" b="1" dirty="0">
              <a:solidFill>
                <a:srgbClr val="00B050"/>
              </a:solidFill>
              <a:latin typeface="Calibri"/>
              <a:ea typeface="等线" panose="02010600030101010101" pitchFamily="2" charset="-122"/>
              <a:cs typeface="+mn-ea"/>
              <a:sym typeface="+mn-lt"/>
            </a:endParaRPr>
          </a:p>
        </p:txBody>
      </p:sp>
      <p:sp>
        <p:nvSpPr>
          <p:cNvPr id="62" name="文本框 61">
            <a:extLst>
              <a:ext uri="{FF2B5EF4-FFF2-40B4-BE49-F238E27FC236}">
                <a16:creationId xmlns:a16="http://schemas.microsoft.com/office/drawing/2014/main" id="{8738D500-5786-44D4-A413-0CF2AA3B2C5A}"/>
              </a:ext>
            </a:extLst>
          </p:cNvPr>
          <p:cNvSpPr txBox="1"/>
          <p:nvPr/>
        </p:nvSpPr>
        <p:spPr>
          <a:xfrm>
            <a:off x="6192069"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t>
            </a:r>
            <a:endParaRPr lang="en-US" altLang="zh-CN" sz="1000" b="1" dirty="0">
              <a:solidFill>
                <a:srgbClr val="00B050"/>
              </a:solidFill>
              <a:latin typeface="Calibri"/>
              <a:ea typeface="等线" panose="02010600030101010101" pitchFamily="2" charset="-122"/>
              <a:cs typeface="+mn-ea"/>
              <a:sym typeface="+mn-lt"/>
            </a:endParaRPr>
          </a:p>
        </p:txBody>
      </p:sp>
      <p:sp>
        <p:nvSpPr>
          <p:cNvPr id="63" name="文本框 62">
            <a:extLst>
              <a:ext uri="{FF2B5EF4-FFF2-40B4-BE49-F238E27FC236}">
                <a16:creationId xmlns:a16="http://schemas.microsoft.com/office/drawing/2014/main" id="{8738D500-5786-44D4-A413-0CF2AA3B2C5A}"/>
              </a:ext>
            </a:extLst>
          </p:cNvPr>
          <p:cNvSpPr txBox="1"/>
          <p:nvPr/>
        </p:nvSpPr>
        <p:spPr>
          <a:xfrm>
            <a:off x="6738108"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a:t>
            </a:r>
            <a:endParaRPr lang="en-US" altLang="zh-CN" sz="1000" b="1" dirty="0">
              <a:solidFill>
                <a:srgbClr val="00B050"/>
              </a:solidFill>
              <a:latin typeface="Calibri"/>
              <a:ea typeface="等线" panose="02010600030101010101" pitchFamily="2" charset="-122"/>
              <a:cs typeface="+mn-ea"/>
              <a:sym typeface="+mn-lt"/>
            </a:endParaRPr>
          </a:p>
        </p:txBody>
      </p:sp>
      <p:sp>
        <p:nvSpPr>
          <p:cNvPr id="64" name="文本框 63">
            <a:extLst>
              <a:ext uri="{FF2B5EF4-FFF2-40B4-BE49-F238E27FC236}">
                <a16:creationId xmlns:a16="http://schemas.microsoft.com/office/drawing/2014/main" id="{8738D500-5786-44D4-A413-0CF2AA3B2C5A}"/>
              </a:ext>
            </a:extLst>
          </p:cNvPr>
          <p:cNvSpPr txBox="1"/>
          <p:nvPr/>
        </p:nvSpPr>
        <p:spPr>
          <a:xfrm>
            <a:off x="8439914" y="2175925"/>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TR5</a:t>
            </a:r>
            <a:endParaRPr lang="en-US" altLang="zh-CN" sz="1000" b="1" dirty="0">
              <a:solidFill>
                <a:srgbClr val="00B050"/>
              </a:solidFill>
              <a:latin typeface="Calibri"/>
              <a:ea typeface="等线" panose="02010600030101010101" pitchFamily="2" charset="-122"/>
              <a:cs typeface="+mn-ea"/>
              <a:sym typeface="+mn-lt"/>
            </a:endParaRPr>
          </a:p>
        </p:txBody>
      </p:sp>
      <p:sp>
        <p:nvSpPr>
          <p:cNvPr id="65" name="文本框 64">
            <a:extLst>
              <a:ext uri="{FF2B5EF4-FFF2-40B4-BE49-F238E27FC236}">
                <a16:creationId xmlns:a16="http://schemas.microsoft.com/office/drawing/2014/main" id="{8738D500-5786-44D4-A413-0CF2AA3B2C5A}"/>
              </a:ext>
            </a:extLst>
          </p:cNvPr>
          <p:cNvSpPr txBox="1"/>
          <p:nvPr/>
        </p:nvSpPr>
        <p:spPr>
          <a:xfrm>
            <a:off x="9567445" y="2175925"/>
            <a:ext cx="495428" cy="246221"/>
          </a:xfrm>
          <a:prstGeom prst="rect">
            <a:avLst/>
          </a:prstGeom>
          <a:noFill/>
        </p:spPr>
        <p:txBody>
          <a:bodyPr wrap="square" rtlCol="0">
            <a:spAutoFit/>
          </a:bodyPr>
          <a:lstStyle>
            <a:defPPr>
              <a:defRPr lang="zh-CN"/>
            </a:defPPr>
            <a:lvl1pPr defTabSz="653309">
              <a:defRPr sz="1100" b="1">
                <a:solidFill>
                  <a:srgbClr val="0070C0"/>
                </a:solidFill>
                <a:latin typeface="Calibri"/>
                <a:ea typeface="等线" panose="02010600030101010101" pitchFamily="2" charset="-122"/>
                <a:cs typeface="+mn-ea"/>
              </a:defRPr>
            </a:lvl1pPr>
          </a:lstStyle>
          <a:p>
            <a:r>
              <a:rPr lang="zh-CN" altLang="en-US" sz="1000" dirty="0">
                <a:sym typeface="+mn-lt"/>
              </a:rPr>
              <a:t>发布</a:t>
            </a:r>
            <a:endParaRPr lang="en-US" altLang="zh-CN" sz="1000" dirty="0">
              <a:sym typeface="+mn-lt"/>
            </a:endParaRPr>
          </a:p>
        </p:txBody>
      </p:sp>
      <p:sp>
        <p:nvSpPr>
          <p:cNvPr id="66" name="等腰三角形 65">
            <a:extLst>
              <a:ext uri="{FF2B5EF4-FFF2-40B4-BE49-F238E27FC236}">
                <a16:creationId xmlns:a16="http://schemas.microsoft.com/office/drawing/2014/main" id="{3F3FD00C-93A4-4DE4-BE60-60E19759F92F}"/>
              </a:ext>
            </a:extLst>
          </p:cNvPr>
          <p:cNvSpPr/>
          <p:nvPr/>
        </p:nvSpPr>
        <p:spPr>
          <a:xfrm>
            <a:off x="6828248" y="2083115"/>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68" name="矩形 67"/>
          <p:cNvSpPr/>
          <p:nvPr/>
        </p:nvSpPr>
        <p:spPr>
          <a:xfrm>
            <a:off x="107950" y="942947"/>
            <a:ext cx="12003111" cy="583323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p:nvPr/>
        </p:nvCxnSpPr>
        <p:spPr>
          <a:xfrm>
            <a:off x="494531" y="942947"/>
            <a:ext cx="0" cy="5833238"/>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p:cNvCxnSpPr>
            <a:endCxn id="9" idx="1"/>
          </p:cNvCxnSpPr>
          <p:nvPr/>
        </p:nvCxnSpPr>
        <p:spPr>
          <a:xfrm>
            <a:off x="102782" y="1911735"/>
            <a:ext cx="391749" cy="0"/>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8" name="文本框 77"/>
          <p:cNvSpPr txBox="1"/>
          <p:nvPr/>
        </p:nvSpPr>
        <p:spPr>
          <a:xfrm>
            <a:off x="148217" y="983016"/>
            <a:ext cx="377339" cy="911596"/>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决策委员会</a:t>
            </a:r>
          </a:p>
        </p:txBody>
      </p:sp>
      <p:cxnSp>
        <p:nvCxnSpPr>
          <p:cNvPr id="80" name="直接连接符 79"/>
          <p:cNvCxnSpPr/>
          <p:nvPr/>
        </p:nvCxnSpPr>
        <p:spPr>
          <a:xfrm>
            <a:off x="281414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80"/>
          <p:cNvCxnSpPr/>
          <p:nvPr/>
        </p:nvCxnSpPr>
        <p:spPr>
          <a:xfrm>
            <a:off x="5138892"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直接连接符 81"/>
          <p:cNvCxnSpPr/>
          <p:nvPr/>
        </p:nvCxnSpPr>
        <p:spPr>
          <a:xfrm>
            <a:off x="746033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直接连接符 82"/>
          <p:cNvCxnSpPr/>
          <p:nvPr/>
        </p:nvCxnSpPr>
        <p:spPr>
          <a:xfrm>
            <a:off x="9780138"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直接连接符 83"/>
          <p:cNvCxnSpPr/>
          <p:nvPr/>
        </p:nvCxnSpPr>
        <p:spPr>
          <a:xfrm>
            <a:off x="105962" y="4102956"/>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8" name="文本框 87"/>
          <p:cNvSpPr txBox="1"/>
          <p:nvPr/>
        </p:nvSpPr>
        <p:spPr>
          <a:xfrm>
            <a:off x="150166" y="2580894"/>
            <a:ext cx="377339" cy="9233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系统架构师</a:t>
            </a:r>
          </a:p>
        </p:txBody>
      </p:sp>
      <p:sp>
        <p:nvSpPr>
          <p:cNvPr id="55" name="文本框 54"/>
          <p:cNvSpPr txBox="1"/>
          <p:nvPr/>
        </p:nvSpPr>
        <p:spPr>
          <a:xfrm>
            <a:off x="152776" y="4325746"/>
            <a:ext cx="377339"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研发代表</a:t>
            </a:r>
          </a:p>
        </p:txBody>
      </p:sp>
      <p:sp>
        <p:nvSpPr>
          <p:cNvPr id="57" name="文本框 56"/>
          <p:cNvSpPr txBox="1"/>
          <p:nvPr/>
        </p:nvSpPr>
        <p:spPr>
          <a:xfrm>
            <a:off x="148216" y="5643183"/>
            <a:ext cx="377339" cy="9233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研发工程师</a:t>
            </a:r>
          </a:p>
        </p:txBody>
      </p:sp>
      <p:cxnSp>
        <p:nvCxnSpPr>
          <p:cNvPr id="67" name="直接连接符 66"/>
          <p:cNvCxnSpPr/>
          <p:nvPr/>
        </p:nvCxnSpPr>
        <p:spPr>
          <a:xfrm>
            <a:off x="89148" y="5341158"/>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7447143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nvGraphicFramePr>
        <p:xfrm>
          <a:off x="494531" y="942947"/>
          <a:ext cx="11616530" cy="335280"/>
        </p:xfrm>
        <a:graphic>
          <a:graphicData uri="http://schemas.openxmlformats.org/drawingml/2006/table">
            <a:tbl>
              <a:tblPr firstRow="1" bandRow="1">
                <a:tableStyleId>{5C22544A-7EE6-4342-B048-85BDC9FD1C3A}</a:tableStyleId>
              </a:tblPr>
              <a:tblGrid>
                <a:gridCol w="2323306">
                  <a:extLst>
                    <a:ext uri="{9D8B030D-6E8A-4147-A177-3AD203B41FA5}">
                      <a16:colId xmlns:a16="http://schemas.microsoft.com/office/drawing/2014/main" val="3971759486"/>
                    </a:ext>
                  </a:extLst>
                </a:gridCol>
                <a:gridCol w="2323306">
                  <a:extLst>
                    <a:ext uri="{9D8B030D-6E8A-4147-A177-3AD203B41FA5}">
                      <a16:colId xmlns:a16="http://schemas.microsoft.com/office/drawing/2014/main" val="445946111"/>
                    </a:ext>
                  </a:extLst>
                </a:gridCol>
                <a:gridCol w="2323306">
                  <a:extLst>
                    <a:ext uri="{9D8B030D-6E8A-4147-A177-3AD203B41FA5}">
                      <a16:colId xmlns:a16="http://schemas.microsoft.com/office/drawing/2014/main" val="648289803"/>
                    </a:ext>
                  </a:extLst>
                </a:gridCol>
                <a:gridCol w="2323306">
                  <a:extLst>
                    <a:ext uri="{9D8B030D-6E8A-4147-A177-3AD203B41FA5}">
                      <a16:colId xmlns:a16="http://schemas.microsoft.com/office/drawing/2014/main" val="2895513670"/>
                    </a:ext>
                  </a:extLst>
                </a:gridCol>
                <a:gridCol w="2323306">
                  <a:extLst>
                    <a:ext uri="{9D8B030D-6E8A-4147-A177-3AD203B41FA5}">
                      <a16:colId xmlns:a16="http://schemas.microsoft.com/office/drawing/2014/main" val="4262667272"/>
                    </a:ext>
                  </a:extLst>
                </a:gridCol>
              </a:tblGrid>
              <a:tr h="311695">
                <a:tc>
                  <a:txBody>
                    <a:bodyPr/>
                    <a:lstStyle/>
                    <a:p>
                      <a:pPr algn="ctr"/>
                      <a:r>
                        <a:rPr lang="en-US" altLang="zh-CN" sz="1600" dirty="0" smtClean="0"/>
                        <a:t>M1</a:t>
                      </a:r>
                      <a:r>
                        <a:rPr lang="zh-CN" altLang="en-US" sz="1600" dirty="0" smtClean="0"/>
                        <a:t>预研阶段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M2</a:t>
                      </a:r>
                      <a:r>
                        <a:rPr lang="zh-CN" altLang="en-US" sz="1600" dirty="0" smtClean="0"/>
                        <a:t>计划阶段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M3</a:t>
                      </a:r>
                      <a:r>
                        <a:rPr lang="zh-CN" altLang="en-US" sz="1600" dirty="0" smtClean="0"/>
                        <a:t>研发测试阶段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M4</a:t>
                      </a:r>
                      <a:r>
                        <a:rPr lang="zh-CN" altLang="en-US" sz="1600" dirty="0" smtClean="0"/>
                        <a:t>试制阶段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M5</a:t>
                      </a:r>
                      <a:r>
                        <a:rPr lang="zh-CN" altLang="en-US" sz="1600" dirty="0" smtClean="0"/>
                        <a:t>新品导入阶段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extLst>
                  <a:ext uri="{0D108BD9-81ED-4DB2-BD59-A6C34878D82A}">
                    <a16:rowId xmlns:a16="http://schemas.microsoft.com/office/drawing/2014/main" val="2451564581"/>
                  </a:ext>
                </a:extLst>
              </a:tr>
            </a:tbl>
          </a:graphicData>
        </a:graphic>
      </p:graphicFrame>
      <p:sp>
        <p:nvSpPr>
          <p:cNvPr id="2" name="文本占位符 1"/>
          <p:cNvSpPr>
            <a:spLocks noGrp="1"/>
          </p:cNvSpPr>
          <p:nvPr>
            <p:ph type="body" sz="quarter" idx="13"/>
          </p:nvPr>
        </p:nvSpPr>
        <p:spPr/>
        <p:txBody>
          <a:bodyPr/>
          <a:lstStyle/>
          <a:p>
            <a:r>
              <a:rPr lang="zh-CN" altLang="en-US" dirty="0"/>
              <a:t>硬件</a:t>
            </a:r>
            <a:r>
              <a:rPr lang="zh-CN" altLang="en-US" dirty="0" smtClean="0"/>
              <a:t>产品开发流程袖珍卡</a:t>
            </a:r>
            <a:endParaRPr lang="zh-CN" altLang="en-US" dirty="0"/>
          </a:p>
        </p:txBody>
      </p:sp>
      <p:sp>
        <p:nvSpPr>
          <p:cNvPr id="9" name="圆角矩形 8"/>
          <p:cNvSpPr/>
          <p:nvPr/>
        </p:nvSpPr>
        <p:spPr>
          <a:xfrm>
            <a:off x="494531" y="1784144"/>
            <a:ext cx="11616531" cy="255182"/>
          </a:xfrm>
          <a:prstGeom prst="roundRect">
            <a:avLst>
              <a:gd name="adj" fmla="val 39483"/>
            </a:avLst>
          </a:prstGeom>
          <a:solidFill>
            <a:srgbClr val="FFCCCC"/>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1" name="文本框 10"/>
          <p:cNvSpPr txBox="1"/>
          <p:nvPr/>
        </p:nvSpPr>
        <p:spPr>
          <a:xfrm>
            <a:off x="1414131" y="1766787"/>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概念</a:t>
            </a:r>
          </a:p>
        </p:txBody>
      </p:sp>
      <p:sp>
        <p:nvSpPr>
          <p:cNvPr id="13" name="文本框 12"/>
          <p:cNvSpPr txBox="1"/>
          <p:nvPr/>
        </p:nvSpPr>
        <p:spPr>
          <a:xfrm>
            <a:off x="3724940"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计划</a:t>
            </a:r>
          </a:p>
        </p:txBody>
      </p:sp>
      <p:sp>
        <p:nvSpPr>
          <p:cNvPr id="14" name="文本框 13"/>
          <p:cNvSpPr txBox="1"/>
          <p:nvPr/>
        </p:nvSpPr>
        <p:spPr>
          <a:xfrm>
            <a:off x="5803066"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开发</a:t>
            </a:r>
            <a:r>
              <a:rPr lang="en-US" altLang="zh-CN" sz="1050" b="1" dirty="0" smtClean="0">
                <a:solidFill>
                  <a:schemeClr val="tx1">
                    <a:lumMod val="75000"/>
                    <a:lumOff val="25000"/>
                  </a:schemeClr>
                </a:solidFill>
              </a:rPr>
              <a:t>/</a:t>
            </a:r>
            <a:r>
              <a:rPr lang="zh-CN" altLang="en-US" sz="1050" b="1" dirty="0" smtClean="0">
                <a:solidFill>
                  <a:schemeClr val="tx1">
                    <a:lumMod val="75000"/>
                    <a:lumOff val="25000"/>
                  </a:schemeClr>
                </a:solidFill>
              </a:rPr>
              <a:t>验证</a:t>
            </a:r>
          </a:p>
        </p:txBody>
      </p:sp>
      <p:sp>
        <p:nvSpPr>
          <p:cNvPr id="15" name="文本框 14"/>
          <p:cNvSpPr txBox="1"/>
          <p:nvPr/>
        </p:nvSpPr>
        <p:spPr>
          <a:xfrm>
            <a:off x="8262731" y="1783939"/>
            <a:ext cx="999460" cy="272510"/>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rPr>
              <a:t>批量</a:t>
            </a:r>
            <a:r>
              <a:rPr lang="zh-CN" altLang="en-US" sz="1050" b="1" dirty="0" smtClean="0">
                <a:solidFill>
                  <a:schemeClr val="tx1">
                    <a:lumMod val="75000"/>
                    <a:lumOff val="25000"/>
                  </a:schemeClr>
                </a:solidFill>
              </a:rPr>
              <a:t>验证</a:t>
            </a:r>
          </a:p>
        </p:txBody>
      </p:sp>
      <p:sp>
        <p:nvSpPr>
          <p:cNvPr id="16" name="文本框 15"/>
          <p:cNvSpPr txBox="1"/>
          <p:nvPr/>
        </p:nvSpPr>
        <p:spPr>
          <a:xfrm>
            <a:off x="10383630" y="1766787"/>
            <a:ext cx="118607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直通率爬坡</a:t>
            </a:r>
          </a:p>
        </p:txBody>
      </p:sp>
      <p:sp>
        <p:nvSpPr>
          <p:cNvPr id="35" name="等腰三角形 34">
            <a:extLst>
              <a:ext uri="{FF2B5EF4-FFF2-40B4-BE49-F238E27FC236}">
                <a16:creationId xmlns:a16="http://schemas.microsoft.com/office/drawing/2014/main" id="{F6FC58EC-E8C8-419E-9E7B-618E07CFD51A}"/>
              </a:ext>
            </a:extLst>
          </p:cNvPr>
          <p:cNvSpPr/>
          <p:nvPr/>
        </p:nvSpPr>
        <p:spPr>
          <a:xfrm rot="10800000">
            <a:off x="5017466" y="1574513"/>
            <a:ext cx="223426" cy="14241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38" name="文本框 37">
            <a:extLst>
              <a:ext uri="{FF2B5EF4-FFF2-40B4-BE49-F238E27FC236}">
                <a16:creationId xmlns:a16="http://schemas.microsoft.com/office/drawing/2014/main" id="{755BF703-06CC-4FF6-B3B8-73ECBCD1B7DA}"/>
              </a:ext>
            </a:extLst>
          </p:cNvPr>
          <p:cNvSpPr txBox="1"/>
          <p:nvPr/>
        </p:nvSpPr>
        <p:spPr>
          <a:xfrm>
            <a:off x="4900200" y="1356963"/>
            <a:ext cx="434734" cy="246221"/>
          </a:xfrm>
          <a:prstGeom prst="rect">
            <a:avLst/>
          </a:prstGeom>
          <a:noFill/>
        </p:spPr>
        <p:txBody>
          <a:bodyPr wrap="none" rtlCol="0">
            <a:spAutoFit/>
          </a:bodyPr>
          <a:lstStyle/>
          <a:p>
            <a:pPr defTabSz="653309">
              <a:defRPr/>
            </a:pPr>
            <a:r>
              <a:rPr lang="en-US" altLang="zh-CN" sz="1000" b="1" dirty="0" smtClean="0">
                <a:solidFill>
                  <a:srgbClr val="FF0000"/>
                </a:solidFill>
                <a:latin typeface="Calibri"/>
                <a:ea typeface="等线" panose="02010600030101010101" pitchFamily="2" charset="-122"/>
                <a:cs typeface="+mn-ea"/>
                <a:sym typeface="+mn-lt"/>
              </a:rPr>
              <a:t>MR1</a:t>
            </a:r>
            <a:endParaRPr lang="en-US" altLang="zh-CN" sz="1000" b="1" dirty="0">
              <a:solidFill>
                <a:srgbClr val="FF0000"/>
              </a:solidFill>
              <a:latin typeface="Calibri"/>
              <a:ea typeface="等线" panose="02010600030101010101" pitchFamily="2" charset="-122"/>
              <a:cs typeface="+mn-ea"/>
              <a:sym typeface="+mn-lt"/>
            </a:endParaRPr>
          </a:p>
        </p:txBody>
      </p:sp>
      <p:sp>
        <p:nvSpPr>
          <p:cNvPr id="39" name="文本框 38">
            <a:extLst>
              <a:ext uri="{FF2B5EF4-FFF2-40B4-BE49-F238E27FC236}">
                <a16:creationId xmlns:a16="http://schemas.microsoft.com/office/drawing/2014/main" id="{8738D500-5786-44D4-A413-0CF2AA3B2C5A}"/>
              </a:ext>
            </a:extLst>
          </p:cNvPr>
          <p:cNvSpPr txBox="1"/>
          <p:nvPr/>
        </p:nvSpPr>
        <p:spPr>
          <a:xfrm>
            <a:off x="2586276" y="1356963"/>
            <a:ext cx="801774" cy="246221"/>
          </a:xfrm>
          <a:prstGeom prst="rect">
            <a:avLst/>
          </a:prstGeom>
          <a:noFill/>
        </p:spPr>
        <p:txBody>
          <a:bodyPr wrap="square" rtlCol="0">
            <a:spAutoFit/>
          </a:bodyPr>
          <a:lstStyle/>
          <a:p>
            <a:pPr defTabSz="653309">
              <a:defRPr/>
            </a:pPr>
            <a:r>
              <a:rPr lang="en-US" altLang="zh-CN" sz="1000" b="1" dirty="0" smtClean="0">
                <a:solidFill>
                  <a:srgbClr val="FFC000"/>
                </a:solidFill>
                <a:latin typeface="Calibri"/>
                <a:ea typeface="等线" panose="02010600030101010101" pitchFamily="2" charset="-122"/>
                <a:cs typeface="+mn-ea"/>
                <a:sym typeface="+mn-lt"/>
              </a:rPr>
              <a:t>DCP1</a:t>
            </a:r>
            <a:endParaRPr lang="en-US" altLang="zh-CN" sz="1000" b="1" dirty="0">
              <a:solidFill>
                <a:srgbClr val="FFC000"/>
              </a:solidFill>
              <a:latin typeface="Calibri"/>
              <a:ea typeface="等线" panose="02010600030101010101" pitchFamily="2" charset="-122"/>
              <a:cs typeface="+mn-ea"/>
              <a:sym typeface="+mn-lt"/>
            </a:endParaRPr>
          </a:p>
        </p:txBody>
      </p:sp>
      <p:sp>
        <p:nvSpPr>
          <p:cNvPr id="40" name="文本框 39">
            <a:extLst>
              <a:ext uri="{FF2B5EF4-FFF2-40B4-BE49-F238E27FC236}">
                <a16:creationId xmlns:a16="http://schemas.microsoft.com/office/drawing/2014/main" id="{3AAE2566-CB86-4CD6-8EA5-7976B5994FBE}"/>
              </a:ext>
            </a:extLst>
          </p:cNvPr>
          <p:cNvSpPr txBox="1"/>
          <p:nvPr/>
        </p:nvSpPr>
        <p:spPr>
          <a:xfrm>
            <a:off x="6527587" y="1358549"/>
            <a:ext cx="1108201"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MR2 </a:t>
            </a:r>
          </a:p>
        </p:txBody>
      </p:sp>
      <p:sp>
        <p:nvSpPr>
          <p:cNvPr id="41" name="文本框 40">
            <a:extLst>
              <a:ext uri="{FF2B5EF4-FFF2-40B4-BE49-F238E27FC236}">
                <a16:creationId xmlns:a16="http://schemas.microsoft.com/office/drawing/2014/main" id="{CE19E3E9-9CDD-4DDE-9B27-5690986C721C}"/>
              </a:ext>
            </a:extLst>
          </p:cNvPr>
          <p:cNvSpPr txBox="1"/>
          <p:nvPr/>
        </p:nvSpPr>
        <p:spPr>
          <a:xfrm>
            <a:off x="7621693" y="1356963"/>
            <a:ext cx="1140768"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MR3 </a:t>
            </a:r>
          </a:p>
        </p:txBody>
      </p:sp>
      <p:sp>
        <p:nvSpPr>
          <p:cNvPr id="42" name="文本框 41">
            <a:extLst>
              <a:ext uri="{FF2B5EF4-FFF2-40B4-BE49-F238E27FC236}">
                <a16:creationId xmlns:a16="http://schemas.microsoft.com/office/drawing/2014/main" id="{DD0351F6-CD6A-4B6E-9A27-1C50AE07449E}"/>
              </a:ext>
            </a:extLst>
          </p:cNvPr>
          <p:cNvSpPr txBox="1"/>
          <p:nvPr/>
        </p:nvSpPr>
        <p:spPr>
          <a:xfrm>
            <a:off x="11758476" y="1355030"/>
            <a:ext cx="972051" cy="246221"/>
          </a:xfrm>
          <a:prstGeom prst="rect">
            <a:avLst/>
          </a:prstGeom>
          <a:noFill/>
        </p:spPr>
        <p:txBody>
          <a:bodyPr wrap="square" rtlCol="0">
            <a:spAutoFit/>
          </a:bodyPr>
          <a:lstStyle/>
          <a:p>
            <a:pPr defTabSz="653309">
              <a:defRPr/>
            </a:pPr>
            <a:r>
              <a:rPr lang="en-US" altLang="zh-CN" sz="1000" b="1" dirty="0">
                <a:solidFill>
                  <a:srgbClr val="FFC000"/>
                </a:solidFill>
                <a:latin typeface="Calibri"/>
                <a:ea typeface="等线" panose="02010600030101010101" pitchFamily="2" charset="-122"/>
                <a:cs typeface="+mn-ea"/>
                <a:sym typeface="+mn-lt"/>
              </a:rPr>
              <a:t>DCP2 </a:t>
            </a:r>
          </a:p>
        </p:txBody>
      </p:sp>
      <p:sp>
        <p:nvSpPr>
          <p:cNvPr id="43" name="菱形 42">
            <a:extLst>
              <a:ext uri="{FF2B5EF4-FFF2-40B4-BE49-F238E27FC236}">
                <a16:creationId xmlns:a16="http://schemas.microsoft.com/office/drawing/2014/main" id="{C3971F30-2B52-4E9A-ADC9-73EA41671F2C}"/>
              </a:ext>
            </a:extLst>
          </p:cNvPr>
          <p:cNvSpPr/>
          <p:nvPr/>
        </p:nvSpPr>
        <p:spPr>
          <a:xfrm>
            <a:off x="2718005" y="1540577"/>
            <a:ext cx="159937" cy="203741"/>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45" name="文本框 44">
            <a:extLst>
              <a:ext uri="{FF2B5EF4-FFF2-40B4-BE49-F238E27FC236}">
                <a16:creationId xmlns:a16="http://schemas.microsoft.com/office/drawing/2014/main" id="{F36FD40D-85E7-4162-8B5D-1745581AD630}"/>
              </a:ext>
            </a:extLst>
          </p:cNvPr>
          <p:cNvSpPr txBox="1"/>
          <p:nvPr/>
        </p:nvSpPr>
        <p:spPr>
          <a:xfrm>
            <a:off x="9391231" y="1362609"/>
            <a:ext cx="798949" cy="246221"/>
          </a:xfrm>
          <a:prstGeom prst="rect">
            <a:avLst/>
          </a:prstGeom>
          <a:noFill/>
        </p:spPr>
        <p:txBody>
          <a:bodyPr wrap="square" rtlCol="0">
            <a:spAutoFit/>
          </a:bodyPr>
          <a:lstStyle/>
          <a:p>
            <a:pPr defTabSz="653309">
              <a:defRPr/>
            </a:pPr>
            <a:r>
              <a:rPr lang="zh-CN" altLang="en-US" sz="1000" b="1" dirty="0">
                <a:solidFill>
                  <a:srgbClr val="0070C0"/>
                </a:solidFill>
                <a:latin typeface="Calibri"/>
                <a:ea typeface="等线" panose="02010600030101010101" pitchFamily="2" charset="-122"/>
                <a:cs typeface="+mn-ea"/>
                <a:sym typeface="+mn-lt"/>
              </a:rPr>
              <a:t>质量评审</a:t>
            </a:r>
          </a:p>
        </p:txBody>
      </p:sp>
      <p:sp>
        <p:nvSpPr>
          <p:cNvPr id="46" name="十字星 169">
            <a:extLst>
              <a:ext uri="{FF2B5EF4-FFF2-40B4-BE49-F238E27FC236}">
                <a16:creationId xmlns:a16="http://schemas.microsoft.com/office/drawing/2014/main" id="{229540B7-8107-49C2-AA81-C22CEEDDDFA7}"/>
              </a:ext>
            </a:extLst>
          </p:cNvPr>
          <p:cNvSpPr/>
          <p:nvPr/>
        </p:nvSpPr>
        <p:spPr>
          <a:xfrm>
            <a:off x="9692566" y="1495567"/>
            <a:ext cx="196282" cy="229486"/>
          </a:xfrm>
          <a:prstGeom prst="star4">
            <a:avLst/>
          </a:prstGeom>
          <a:solidFill>
            <a:srgbClr val="31B6FD"/>
          </a:solidFill>
          <a:ln w="12700" cap="flat" cmpd="sng" algn="ctr">
            <a:solidFill>
              <a:srgbClr val="31B6FD">
                <a:shade val="50000"/>
              </a:srgbClr>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7" name="等腰三角形 46">
            <a:extLst>
              <a:ext uri="{FF2B5EF4-FFF2-40B4-BE49-F238E27FC236}">
                <a16:creationId xmlns:a16="http://schemas.microsoft.com/office/drawing/2014/main" id="{F6FC58EC-E8C8-419E-9E7B-618E07CFD51A}"/>
              </a:ext>
            </a:extLst>
          </p:cNvPr>
          <p:cNvSpPr/>
          <p:nvPr/>
        </p:nvSpPr>
        <p:spPr>
          <a:xfrm rot="10800000">
            <a:off x="6634005" y="1581183"/>
            <a:ext cx="231259" cy="14386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8" name="等腰三角形 47">
            <a:extLst>
              <a:ext uri="{FF2B5EF4-FFF2-40B4-BE49-F238E27FC236}">
                <a16:creationId xmlns:a16="http://schemas.microsoft.com/office/drawing/2014/main" id="{F6FC58EC-E8C8-419E-9E7B-618E07CFD51A}"/>
              </a:ext>
            </a:extLst>
          </p:cNvPr>
          <p:cNvSpPr/>
          <p:nvPr/>
        </p:nvSpPr>
        <p:spPr>
          <a:xfrm rot="10800000">
            <a:off x="7729783" y="1574511"/>
            <a:ext cx="264110" cy="138894"/>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9" name="菱形 48">
            <a:extLst>
              <a:ext uri="{FF2B5EF4-FFF2-40B4-BE49-F238E27FC236}">
                <a16:creationId xmlns:a16="http://schemas.microsoft.com/office/drawing/2014/main" id="{C3971F30-2B52-4E9A-ADC9-73EA41671F2C}"/>
              </a:ext>
            </a:extLst>
          </p:cNvPr>
          <p:cNvSpPr/>
          <p:nvPr/>
        </p:nvSpPr>
        <p:spPr>
          <a:xfrm>
            <a:off x="11917669" y="1540577"/>
            <a:ext cx="146814" cy="184476"/>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50" name="等腰三角形 49">
            <a:extLst>
              <a:ext uri="{FF2B5EF4-FFF2-40B4-BE49-F238E27FC236}">
                <a16:creationId xmlns:a16="http://schemas.microsoft.com/office/drawing/2014/main" id="{3F3FD00C-93A4-4DE4-BE60-60E19759F92F}"/>
              </a:ext>
            </a:extLst>
          </p:cNvPr>
          <p:cNvSpPr/>
          <p:nvPr/>
        </p:nvSpPr>
        <p:spPr>
          <a:xfrm>
            <a:off x="1804533" y="2083609"/>
            <a:ext cx="202447" cy="141896"/>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1" name="等腰三角形 50">
            <a:extLst>
              <a:ext uri="{FF2B5EF4-FFF2-40B4-BE49-F238E27FC236}">
                <a16:creationId xmlns:a16="http://schemas.microsoft.com/office/drawing/2014/main" id="{3F3FD00C-93A4-4DE4-BE60-60E19759F92F}"/>
              </a:ext>
            </a:extLst>
          </p:cNvPr>
          <p:cNvSpPr/>
          <p:nvPr/>
        </p:nvSpPr>
        <p:spPr>
          <a:xfrm>
            <a:off x="2704215" y="2083118"/>
            <a:ext cx="207184" cy="141487"/>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2" name="等腰三角形 51">
            <a:extLst>
              <a:ext uri="{FF2B5EF4-FFF2-40B4-BE49-F238E27FC236}">
                <a16:creationId xmlns:a16="http://schemas.microsoft.com/office/drawing/2014/main" id="{3F3FD00C-93A4-4DE4-BE60-60E19759F92F}"/>
              </a:ext>
            </a:extLst>
          </p:cNvPr>
          <p:cNvSpPr/>
          <p:nvPr/>
        </p:nvSpPr>
        <p:spPr>
          <a:xfrm>
            <a:off x="3903082" y="2083118"/>
            <a:ext cx="210592" cy="14148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3" name="等腰三角形 52">
            <a:extLst>
              <a:ext uri="{FF2B5EF4-FFF2-40B4-BE49-F238E27FC236}">
                <a16:creationId xmlns:a16="http://schemas.microsoft.com/office/drawing/2014/main" id="{3F3FD00C-93A4-4DE4-BE60-60E19759F92F}"/>
              </a:ext>
            </a:extLst>
          </p:cNvPr>
          <p:cNvSpPr/>
          <p:nvPr/>
        </p:nvSpPr>
        <p:spPr>
          <a:xfrm>
            <a:off x="5681226" y="2083116"/>
            <a:ext cx="237738"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4" name="等腰三角形 53">
            <a:extLst>
              <a:ext uri="{FF2B5EF4-FFF2-40B4-BE49-F238E27FC236}">
                <a16:creationId xmlns:a16="http://schemas.microsoft.com/office/drawing/2014/main" id="{3F3FD00C-93A4-4DE4-BE60-60E19759F92F}"/>
              </a:ext>
            </a:extLst>
          </p:cNvPr>
          <p:cNvSpPr/>
          <p:nvPr/>
        </p:nvSpPr>
        <p:spPr>
          <a:xfrm>
            <a:off x="6302796" y="2083116"/>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6" name="等腰三角形 55">
            <a:extLst>
              <a:ext uri="{FF2B5EF4-FFF2-40B4-BE49-F238E27FC236}">
                <a16:creationId xmlns:a16="http://schemas.microsoft.com/office/drawing/2014/main" id="{3F3FD00C-93A4-4DE4-BE60-60E19759F92F}"/>
              </a:ext>
            </a:extLst>
          </p:cNvPr>
          <p:cNvSpPr/>
          <p:nvPr/>
        </p:nvSpPr>
        <p:spPr>
          <a:xfrm>
            <a:off x="8543806" y="2082777"/>
            <a:ext cx="218655" cy="14182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19" name="五角星 18"/>
          <p:cNvSpPr/>
          <p:nvPr/>
        </p:nvSpPr>
        <p:spPr>
          <a:xfrm>
            <a:off x="9692565" y="2087168"/>
            <a:ext cx="175147" cy="137436"/>
          </a:xfrm>
          <a:prstGeom prst="star5">
            <a:avLst/>
          </a:prstGeom>
          <a:solidFill>
            <a:srgbClr val="31B6FD"/>
          </a:solidFill>
          <a:ln>
            <a:solidFill>
              <a:srgbClr val="31B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文本框 57">
            <a:extLst>
              <a:ext uri="{FF2B5EF4-FFF2-40B4-BE49-F238E27FC236}">
                <a16:creationId xmlns:a16="http://schemas.microsoft.com/office/drawing/2014/main" id="{8738D500-5786-44D4-A413-0CF2AA3B2C5A}"/>
              </a:ext>
            </a:extLst>
          </p:cNvPr>
          <p:cNvSpPr txBox="1"/>
          <p:nvPr/>
        </p:nvSpPr>
        <p:spPr>
          <a:xfrm>
            <a:off x="1719918"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TR1</a:t>
            </a:r>
            <a:endParaRPr lang="en-US" altLang="zh-CN" sz="1000" b="1" dirty="0">
              <a:solidFill>
                <a:srgbClr val="00B050"/>
              </a:solidFill>
              <a:latin typeface="Calibri"/>
              <a:ea typeface="等线" panose="02010600030101010101" pitchFamily="2" charset="-122"/>
              <a:cs typeface="+mn-ea"/>
              <a:sym typeface="+mn-lt"/>
            </a:endParaRPr>
          </a:p>
        </p:txBody>
      </p:sp>
      <p:sp>
        <p:nvSpPr>
          <p:cNvPr id="59" name="文本框 58">
            <a:extLst>
              <a:ext uri="{FF2B5EF4-FFF2-40B4-BE49-F238E27FC236}">
                <a16:creationId xmlns:a16="http://schemas.microsoft.com/office/drawing/2014/main" id="{8738D500-5786-44D4-A413-0CF2AA3B2C5A}"/>
              </a:ext>
            </a:extLst>
          </p:cNvPr>
          <p:cNvSpPr txBox="1"/>
          <p:nvPr/>
        </p:nvSpPr>
        <p:spPr>
          <a:xfrm>
            <a:off x="2609989"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TR2</a:t>
            </a:r>
            <a:endParaRPr lang="en-US" altLang="zh-CN" sz="1000" b="1" dirty="0">
              <a:solidFill>
                <a:srgbClr val="00B050"/>
              </a:solidFill>
              <a:latin typeface="Calibri"/>
              <a:ea typeface="等线" panose="02010600030101010101" pitchFamily="2" charset="-122"/>
              <a:cs typeface="+mn-ea"/>
              <a:sym typeface="+mn-lt"/>
            </a:endParaRPr>
          </a:p>
        </p:txBody>
      </p:sp>
      <p:sp>
        <p:nvSpPr>
          <p:cNvPr id="60" name="文本框 59">
            <a:extLst>
              <a:ext uri="{FF2B5EF4-FFF2-40B4-BE49-F238E27FC236}">
                <a16:creationId xmlns:a16="http://schemas.microsoft.com/office/drawing/2014/main" id="{8738D500-5786-44D4-A413-0CF2AA3B2C5A}"/>
              </a:ext>
            </a:extLst>
          </p:cNvPr>
          <p:cNvSpPr txBox="1"/>
          <p:nvPr/>
        </p:nvSpPr>
        <p:spPr>
          <a:xfrm>
            <a:off x="3798742"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t>
            </a:r>
            <a:endParaRPr lang="en-US" altLang="zh-CN" sz="1000" b="1" dirty="0">
              <a:solidFill>
                <a:srgbClr val="00B050"/>
              </a:solidFill>
              <a:latin typeface="Calibri"/>
              <a:ea typeface="等线" panose="02010600030101010101" pitchFamily="2" charset="-122"/>
              <a:cs typeface="+mn-ea"/>
              <a:sym typeface="+mn-lt"/>
            </a:endParaRPr>
          </a:p>
        </p:txBody>
      </p:sp>
      <p:sp>
        <p:nvSpPr>
          <p:cNvPr id="61" name="文本框 60">
            <a:extLst>
              <a:ext uri="{FF2B5EF4-FFF2-40B4-BE49-F238E27FC236}">
                <a16:creationId xmlns:a16="http://schemas.microsoft.com/office/drawing/2014/main" id="{8738D500-5786-44D4-A413-0CF2AA3B2C5A}"/>
              </a:ext>
            </a:extLst>
          </p:cNvPr>
          <p:cNvSpPr txBox="1"/>
          <p:nvPr/>
        </p:nvSpPr>
        <p:spPr>
          <a:xfrm>
            <a:off x="5585596"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a:t>
            </a:r>
            <a:endParaRPr lang="en-US" altLang="zh-CN" sz="1000" b="1" dirty="0">
              <a:solidFill>
                <a:srgbClr val="00B050"/>
              </a:solidFill>
              <a:latin typeface="Calibri"/>
              <a:ea typeface="等线" panose="02010600030101010101" pitchFamily="2" charset="-122"/>
              <a:cs typeface="+mn-ea"/>
              <a:sym typeface="+mn-lt"/>
            </a:endParaRPr>
          </a:p>
        </p:txBody>
      </p:sp>
      <p:sp>
        <p:nvSpPr>
          <p:cNvPr id="62" name="文本框 61">
            <a:extLst>
              <a:ext uri="{FF2B5EF4-FFF2-40B4-BE49-F238E27FC236}">
                <a16:creationId xmlns:a16="http://schemas.microsoft.com/office/drawing/2014/main" id="{8738D500-5786-44D4-A413-0CF2AA3B2C5A}"/>
              </a:ext>
            </a:extLst>
          </p:cNvPr>
          <p:cNvSpPr txBox="1"/>
          <p:nvPr/>
        </p:nvSpPr>
        <p:spPr>
          <a:xfrm>
            <a:off x="6192069"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t>
            </a:r>
            <a:endParaRPr lang="en-US" altLang="zh-CN" sz="1000" b="1" dirty="0">
              <a:solidFill>
                <a:srgbClr val="00B050"/>
              </a:solidFill>
              <a:latin typeface="Calibri"/>
              <a:ea typeface="等线" panose="02010600030101010101" pitchFamily="2" charset="-122"/>
              <a:cs typeface="+mn-ea"/>
              <a:sym typeface="+mn-lt"/>
            </a:endParaRPr>
          </a:p>
        </p:txBody>
      </p:sp>
      <p:sp>
        <p:nvSpPr>
          <p:cNvPr id="63" name="文本框 62">
            <a:extLst>
              <a:ext uri="{FF2B5EF4-FFF2-40B4-BE49-F238E27FC236}">
                <a16:creationId xmlns:a16="http://schemas.microsoft.com/office/drawing/2014/main" id="{8738D500-5786-44D4-A413-0CF2AA3B2C5A}"/>
              </a:ext>
            </a:extLst>
          </p:cNvPr>
          <p:cNvSpPr txBox="1"/>
          <p:nvPr/>
        </p:nvSpPr>
        <p:spPr>
          <a:xfrm>
            <a:off x="6738108"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a:t>
            </a:r>
            <a:endParaRPr lang="en-US" altLang="zh-CN" sz="1000" b="1" dirty="0">
              <a:solidFill>
                <a:srgbClr val="00B050"/>
              </a:solidFill>
              <a:latin typeface="Calibri"/>
              <a:ea typeface="等线" panose="02010600030101010101" pitchFamily="2" charset="-122"/>
              <a:cs typeface="+mn-ea"/>
              <a:sym typeface="+mn-lt"/>
            </a:endParaRPr>
          </a:p>
        </p:txBody>
      </p:sp>
      <p:sp>
        <p:nvSpPr>
          <p:cNvPr id="64" name="文本框 63">
            <a:extLst>
              <a:ext uri="{FF2B5EF4-FFF2-40B4-BE49-F238E27FC236}">
                <a16:creationId xmlns:a16="http://schemas.microsoft.com/office/drawing/2014/main" id="{8738D500-5786-44D4-A413-0CF2AA3B2C5A}"/>
              </a:ext>
            </a:extLst>
          </p:cNvPr>
          <p:cNvSpPr txBox="1"/>
          <p:nvPr/>
        </p:nvSpPr>
        <p:spPr>
          <a:xfrm>
            <a:off x="8439914" y="2175925"/>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TR5</a:t>
            </a:r>
            <a:endParaRPr lang="en-US" altLang="zh-CN" sz="1000" b="1" dirty="0">
              <a:solidFill>
                <a:srgbClr val="00B050"/>
              </a:solidFill>
              <a:latin typeface="Calibri"/>
              <a:ea typeface="等线" panose="02010600030101010101" pitchFamily="2" charset="-122"/>
              <a:cs typeface="+mn-ea"/>
              <a:sym typeface="+mn-lt"/>
            </a:endParaRPr>
          </a:p>
        </p:txBody>
      </p:sp>
      <p:sp>
        <p:nvSpPr>
          <p:cNvPr id="65" name="文本框 64">
            <a:extLst>
              <a:ext uri="{FF2B5EF4-FFF2-40B4-BE49-F238E27FC236}">
                <a16:creationId xmlns:a16="http://schemas.microsoft.com/office/drawing/2014/main" id="{8738D500-5786-44D4-A413-0CF2AA3B2C5A}"/>
              </a:ext>
            </a:extLst>
          </p:cNvPr>
          <p:cNvSpPr txBox="1"/>
          <p:nvPr/>
        </p:nvSpPr>
        <p:spPr>
          <a:xfrm>
            <a:off x="9567445" y="2175925"/>
            <a:ext cx="495428" cy="246221"/>
          </a:xfrm>
          <a:prstGeom prst="rect">
            <a:avLst/>
          </a:prstGeom>
          <a:noFill/>
        </p:spPr>
        <p:txBody>
          <a:bodyPr wrap="square" rtlCol="0">
            <a:spAutoFit/>
          </a:bodyPr>
          <a:lstStyle>
            <a:defPPr>
              <a:defRPr lang="zh-CN"/>
            </a:defPPr>
            <a:lvl1pPr defTabSz="653309">
              <a:defRPr sz="1100" b="1">
                <a:solidFill>
                  <a:srgbClr val="0070C0"/>
                </a:solidFill>
                <a:latin typeface="Calibri"/>
                <a:ea typeface="等线" panose="02010600030101010101" pitchFamily="2" charset="-122"/>
                <a:cs typeface="+mn-ea"/>
              </a:defRPr>
            </a:lvl1pPr>
          </a:lstStyle>
          <a:p>
            <a:r>
              <a:rPr lang="zh-CN" altLang="en-US" sz="1000" dirty="0">
                <a:sym typeface="+mn-lt"/>
              </a:rPr>
              <a:t>发布</a:t>
            </a:r>
            <a:endParaRPr lang="en-US" altLang="zh-CN" sz="1000" dirty="0">
              <a:sym typeface="+mn-lt"/>
            </a:endParaRPr>
          </a:p>
        </p:txBody>
      </p:sp>
      <p:sp>
        <p:nvSpPr>
          <p:cNvPr id="66" name="等腰三角形 65">
            <a:extLst>
              <a:ext uri="{FF2B5EF4-FFF2-40B4-BE49-F238E27FC236}">
                <a16:creationId xmlns:a16="http://schemas.microsoft.com/office/drawing/2014/main" id="{3F3FD00C-93A4-4DE4-BE60-60E19759F92F}"/>
              </a:ext>
            </a:extLst>
          </p:cNvPr>
          <p:cNvSpPr/>
          <p:nvPr/>
        </p:nvSpPr>
        <p:spPr>
          <a:xfrm>
            <a:off x="6828248" y="2083115"/>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68" name="矩形 67"/>
          <p:cNvSpPr/>
          <p:nvPr/>
        </p:nvSpPr>
        <p:spPr>
          <a:xfrm>
            <a:off x="107950" y="942947"/>
            <a:ext cx="12003111" cy="583323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p:nvPr/>
        </p:nvCxnSpPr>
        <p:spPr>
          <a:xfrm>
            <a:off x="494531" y="942947"/>
            <a:ext cx="0" cy="5833238"/>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p:cNvCxnSpPr>
            <a:endCxn id="9" idx="1"/>
          </p:cNvCxnSpPr>
          <p:nvPr/>
        </p:nvCxnSpPr>
        <p:spPr>
          <a:xfrm>
            <a:off x="102782" y="1911735"/>
            <a:ext cx="391749" cy="0"/>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8" name="文本框 77"/>
          <p:cNvSpPr txBox="1"/>
          <p:nvPr/>
        </p:nvSpPr>
        <p:spPr>
          <a:xfrm>
            <a:off x="148217" y="983016"/>
            <a:ext cx="377339" cy="911596"/>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决策委员会</a:t>
            </a:r>
          </a:p>
        </p:txBody>
      </p:sp>
      <p:cxnSp>
        <p:nvCxnSpPr>
          <p:cNvPr id="80" name="直接连接符 79"/>
          <p:cNvCxnSpPr/>
          <p:nvPr/>
        </p:nvCxnSpPr>
        <p:spPr>
          <a:xfrm>
            <a:off x="281414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80"/>
          <p:cNvCxnSpPr/>
          <p:nvPr/>
        </p:nvCxnSpPr>
        <p:spPr>
          <a:xfrm>
            <a:off x="5138892"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直接连接符 81"/>
          <p:cNvCxnSpPr/>
          <p:nvPr/>
        </p:nvCxnSpPr>
        <p:spPr>
          <a:xfrm>
            <a:off x="746033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直接连接符 82"/>
          <p:cNvCxnSpPr/>
          <p:nvPr/>
        </p:nvCxnSpPr>
        <p:spPr>
          <a:xfrm>
            <a:off x="9780138"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直接连接符 83"/>
          <p:cNvCxnSpPr/>
          <p:nvPr/>
        </p:nvCxnSpPr>
        <p:spPr>
          <a:xfrm>
            <a:off x="106955" y="3635754"/>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7" name="文本框 86"/>
          <p:cNvSpPr txBox="1"/>
          <p:nvPr/>
        </p:nvSpPr>
        <p:spPr>
          <a:xfrm>
            <a:off x="118049" y="2335759"/>
            <a:ext cx="365173" cy="1089529"/>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测试代表</a:t>
            </a:r>
            <a:r>
              <a:rPr lang="en-US" altLang="zh-CN" sz="900" dirty="0" smtClean="0">
                <a:solidFill>
                  <a:schemeClr val="tx1">
                    <a:lumMod val="75000"/>
                    <a:lumOff val="25000"/>
                  </a:schemeClr>
                </a:solidFill>
              </a:rPr>
              <a:t>TPM</a:t>
            </a:r>
            <a:endParaRPr lang="zh-CN" altLang="en-US" sz="900" dirty="0" smtClean="0">
              <a:solidFill>
                <a:schemeClr val="tx1">
                  <a:lumMod val="75000"/>
                  <a:lumOff val="25000"/>
                </a:schemeClr>
              </a:solidFill>
            </a:endParaRPr>
          </a:p>
        </p:txBody>
      </p:sp>
      <p:sp>
        <p:nvSpPr>
          <p:cNvPr id="88" name="文本框 87"/>
          <p:cNvSpPr txBox="1"/>
          <p:nvPr/>
        </p:nvSpPr>
        <p:spPr>
          <a:xfrm>
            <a:off x="115364" y="3744066"/>
            <a:ext cx="377339" cy="923330"/>
          </a:xfrm>
          <a:prstGeom prst="rect">
            <a:avLst/>
          </a:prstGeom>
          <a:noFill/>
        </p:spPr>
        <p:txBody>
          <a:bodyPr wrap="square" rtlCol="0">
            <a:spAutoFit/>
          </a:bodyPr>
          <a:lstStyle/>
          <a:p>
            <a:pPr>
              <a:lnSpc>
                <a:spcPct val="120000"/>
              </a:lnSpc>
            </a:pPr>
            <a:r>
              <a:rPr lang="zh-CN" altLang="en-US" sz="900" dirty="0">
                <a:solidFill>
                  <a:schemeClr val="tx1">
                    <a:lumMod val="75000"/>
                    <a:lumOff val="25000"/>
                  </a:schemeClr>
                </a:solidFill>
              </a:rPr>
              <a:t>测试</a:t>
            </a:r>
            <a:r>
              <a:rPr lang="zh-CN" altLang="en-US" sz="900" dirty="0" smtClean="0">
                <a:solidFill>
                  <a:schemeClr val="tx1">
                    <a:lumMod val="75000"/>
                    <a:lumOff val="25000"/>
                  </a:schemeClr>
                </a:solidFill>
              </a:rPr>
              <a:t>工程师</a:t>
            </a:r>
          </a:p>
        </p:txBody>
      </p:sp>
      <p:sp>
        <p:nvSpPr>
          <p:cNvPr id="55" name="文本框 54"/>
          <p:cNvSpPr txBox="1"/>
          <p:nvPr/>
        </p:nvSpPr>
        <p:spPr>
          <a:xfrm>
            <a:off x="141825" y="5442637"/>
            <a:ext cx="288909" cy="1255728"/>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品质管理</a:t>
            </a:r>
            <a:r>
              <a:rPr lang="en-US" altLang="zh-CN" sz="900" dirty="0" smtClean="0">
                <a:solidFill>
                  <a:schemeClr val="tx1">
                    <a:lumMod val="75000"/>
                    <a:lumOff val="25000"/>
                  </a:schemeClr>
                </a:solidFill>
              </a:rPr>
              <a:t>DQA</a:t>
            </a:r>
            <a:endParaRPr lang="zh-CN" altLang="en-US" sz="900" dirty="0" smtClean="0">
              <a:solidFill>
                <a:schemeClr val="tx1">
                  <a:lumMod val="75000"/>
                  <a:lumOff val="25000"/>
                </a:schemeClr>
              </a:solidFill>
            </a:endParaRPr>
          </a:p>
        </p:txBody>
      </p:sp>
      <p:cxnSp>
        <p:nvCxnSpPr>
          <p:cNvPr id="57" name="直接连接符 56"/>
          <p:cNvCxnSpPr/>
          <p:nvPr/>
        </p:nvCxnSpPr>
        <p:spPr>
          <a:xfrm>
            <a:off x="100342" y="5021716"/>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2777641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nvGraphicFramePr>
        <p:xfrm>
          <a:off x="494531" y="942947"/>
          <a:ext cx="11616530" cy="335280"/>
        </p:xfrm>
        <a:graphic>
          <a:graphicData uri="http://schemas.openxmlformats.org/drawingml/2006/table">
            <a:tbl>
              <a:tblPr firstRow="1" bandRow="1">
                <a:tableStyleId>{5C22544A-7EE6-4342-B048-85BDC9FD1C3A}</a:tableStyleId>
              </a:tblPr>
              <a:tblGrid>
                <a:gridCol w="2323306">
                  <a:extLst>
                    <a:ext uri="{9D8B030D-6E8A-4147-A177-3AD203B41FA5}">
                      <a16:colId xmlns:a16="http://schemas.microsoft.com/office/drawing/2014/main" val="3971759486"/>
                    </a:ext>
                  </a:extLst>
                </a:gridCol>
                <a:gridCol w="2323306">
                  <a:extLst>
                    <a:ext uri="{9D8B030D-6E8A-4147-A177-3AD203B41FA5}">
                      <a16:colId xmlns:a16="http://schemas.microsoft.com/office/drawing/2014/main" val="445946111"/>
                    </a:ext>
                  </a:extLst>
                </a:gridCol>
                <a:gridCol w="2323306">
                  <a:extLst>
                    <a:ext uri="{9D8B030D-6E8A-4147-A177-3AD203B41FA5}">
                      <a16:colId xmlns:a16="http://schemas.microsoft.com/office/drawing/2014/main" val="648289803"/>
                    </a:ext>
                  </a:extLst>
                </a:gridCol>
                <a:gridCol w="2323306">
                  <a:extLst>
                    <a:ext uri="{9D8B030D-6E8A-4147-A177-3AD203B41FA5}">
                      <a16:colId xmlns:a16="http://schemas.microsoft.com/office/drawing/2014/main" val="2895513670"/>
                    </a:ext>
                  </a:extLst>
                </a:gridCol>
                <a:gridCol w="2323306">
                  <a:extLst>
                    <a:ext uri="{9D8B030D-6E8A-4147-A177-3AD203B41FA5}">
                      <a16:colId xmlns:a16="http://schemas.microsoft.com/office/drawing/2014/main" val="4262667272"/>
                    </a:ext>
                  </a:extLst>
                </a:gridCol>
              </a:tblGrid>
              <a:tr h="311695">
                <a:tc>
                  <a:txBody>
                    <a:bodyPr/>
                    <a:lstStyle/>
                    <a:p>
                      <a:pPr algn="ctr"/>
                      <a:r>
                        <a:rPr lang="en-US" altLang="zh-CN" sz="1600" dirty="0" smtClean="0"/>
                        <a:t>M1</a:t>
                      </a:r>
                      <a:r>
                        <a:rPr lang="zh-CN" altLang="en-US" sz="1600" dirty="0" smtClean="0"/>
                        <a:t>预研阶段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M2</a:t>
                      </a:r>
                      <a:r>
                        <a:rPr lang="zh-CN" altLang="en-US" sz="1600" dirty="0" smtClean="0"/>
                        <a:t>计划阶段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M3</a:t>
                      </a:r>
                      <a:r>
                        <a:rPr lang="zh-CN" altLang="en-US" sz="1600" dirty="0" smtClean="0"/>
                        <a:t>研发测试阶段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M4</a:t>
                      </a:r>
                      <a:r>
                        <a:rPr lang="zh-CN" altLang="en-US" sz="1600" dirty="0" smtClean="0"/>
                        <a:t>试制阶段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tc>
                  <a:txBody>
                    <a:bodyPr/>
                    <a:lstStyle/>
                    <a:p>
                      <a:pPr algn="ctr"/>
                      <a:r>
                        <a:rPr lang="en-US" altLang="zh-CN" sz="1600" dirty="0" smtClean="0"/>
                        <a:t>M5</a:t>
                      </a:r>
                      <a:r>
                        <a:rPr lang="zh-CN" altLang="en-US" sz="1600" dirty="0" smtClean="0"/>
                        <a:t>新品导入阶段</a:t>
                      </a:r>
                      <a:endParaRPr lang="zh-CN" altLang="en-US" sz="16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AD2830"/>
                    </a:solidFill>
                  </a:tcPr>
                </a:tc>
                <a:extLst>
                  <a:ext uri="{0D108BD9-81ED-4DB2-BD59-A6C34878D82A}">
                    <a16:rowId xmlns:a16="http://schemas.microsoft.com/office/drawing/2014/main" val="2451564581"/>
                  </a:ext>
                </a:extLst>
              </a:tr>
            </a:tbl>
          </a:graphicData>
        </a:graphic>
      </p:graphicFrame>
      <p:sp>
        <p:nvSpPr>
          <p:cNvPr id="2" name="文本占位符 1"/>
          <p:cNvSpPr>
            <a:spLocks noGrp="1"/>
          </p:cNvSpPr>
          <p:nvPr>
            <p:ph type="body" sz="quarter" idx="13"/>
          </p:nvPr>
        </p:nvSpPr>
        <p:spPr/>
        <p:txBody>
          <a:bodyPr/>
          <a:lstStyle/>
          <a:p>
            <a:r>
              <a:rPr lang="zh-CN" altLang="en-US" dirty="0"/>
              <a:t>硬件</a:t>
            </a:r>
            <a:r>
              <a:rPr lang="zh-CN" altLang="en-US" dirty="0" smtClean="0"/>
              <a:t>产品开发流程袖珍卡</a:t>
            </a:r>
            <a:endParaRPr lang="zh-CN" altLang="en-US" dirty="0"/>
          </a:p>
        </p:txBody>
      </p:sp>
      <p:sp>
        <p:nvSpPr>
          <p:cNvPr id="9" name="圆角矩形 8"/>
          <p:cNvSpPr/>
          <p:nvPr/>
        </p:nvSpPr>
        <p:spPr>
          <a:xfrm>
            <a:off x="494531" y="1784144"/>
            <a:ext cx="11616531" cy="255182"/>
          </a:xfrm>
          <a:prstGeom prst="roundRect">
            <a:avLst>
              <a:gd name="adj" fmla="val 39483"/>
            </a:avLst>
          </a:prstGeom>
          <a:solidFill>
            <a:srgbClr val="FFCCCC"/>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1" name="文本框 10"/>
          <p:cNvSpPr txBox="1"/>
          <p:nvPr/>
        </p:nvSpPr>
        <p:spPr>
          <a:xfrm>
            <a:off x="1414131" y="1766787"/>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概念</a:t>
            </a:r>
          </a:p>
        </p:txBody>
      </p:sp>
      <p:sp>
        <p:nvSpPr>
          <p:cNvPr id="13" name="文本框 12"/>
          <p:cNvSpPr txBox="1"/>
          <p:nvPr/>
        </p:nvSpPr>
        <p:spPr>
          <a:xfrm>
            <a:off x="3724940"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计划</a:t>
            </a:r>
          </a:p>
        </p:txBody>
      </p:sp>
      <p:sp>
        <p:nvSpPr>
          <p:cNvPr id="14" name="文本框 13"/>
          <p:cNvSpPr txBox="1"/>
          <p:nvPr/>
        </p:nvSpPr>
        <p:spPr>
          <a:xfrm>
            <a:off x="5803066" y="1783939"/>
            <a:ext cx="99946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开发</a:t>
            </a:r>
            <a:r>
              <a:rPr lang="en-US" altLang="zh-CN" sz="1050" b="1" dirty="0" smtClean="0">
                <a:solidFill>
                  <a:schemeClr val="tx1">
                    <a:lumMod val="75000"/>
                    <a:lumOff val="25000"/>
                  </a:schemeClr>
                </a:solidFill>
              </a:rPr>
              <a:t>/</a:t>
            </a:r>
            <a:r>
              <a:rPr lang="zh-CN" altLang="en-US" sz="1050" b="1" dirty="0" smtClean="0">
                <a:solidFill>
                  <a:schemeClr val="tx1">
                    <a:lumMod val="75000"/>
                    <a:lumOff val="25000"/>
                  </a:schemeClr>
                </a:solidFill>
              </a:rPr>
              <a:t>验证</a:t>
            </a:r>
          </a:p>
        </p:txBody>
      </p:sp>
      <p:sp>
        <p:nvSpPr>
          <p:cNvPr id="15" name="文本框 14"/>
          <p:cNvSpPr txBox="1"/>
          <p:nvPr/>
        </p:nvSpPr>
        <p:spPr>
          <a:xfrm>
            <a:off x="8262731" y="1783939"/>
            <a:ext cx="999460" cy="272510"/>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rPr>
              <a:t>批量</a:t>
            </a:r>
            <a:r>
              <a:rPr lang="zh-CN" altLang="en-US" sz="1050" b="1" dirty="0" smtClean="0">
                <a:solidFill>
                  <a:schemeClr val="tx1">
                    <a:lumMod val="75000"/>
                    <a:lumOff val="25000"/>
                  </a:schemeClr>
                </a:solidFill>
              </a:rPr>
              <a:t>验证</a:t>
            </a:r>
          </a:p>
        </p:txBody>
      </p:sp>
      <p:sp>
        <p:nvSpPr>
          <p:cNvPr id="16" name="文本框 15"/>
          <p:cNvSpPr txBox="1"/>
          <p:nvPr/>
        </p:nvSpPr>
        <p:spPr>
          <a:xfrm>
            <a:off x="10383630" y="1766787"/>
            <a:ext cx="1186070" cy="272510"/>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直通率爬坡</a:t>
            </a:r>
          </a:p>
        </p:txBody>
      </p:sp>
      <p:sp>
        <p:nvSpPr>
          <p:cNvPr id="35" name="等腰三角形 34">
            <a:extLst>
              <a:ext uri="{FF2B5EF4-FFF2-40B4-BE49-F238E27FC236}">
                <a16:creationId xmlns:a16="http://schemas.microsoft.com/office/drawing/2014/main" id="{F6FC58EC-E8C8-419E-9E7B-618E07CFD51A}"/>
              </a:ext>
            </a:extLst>
          </p:cNvPr>
          <p:cNvSpPr/>
          <p:nvPr/>
        </p:nvSpPr>
        <p:spPr>
          <a:xfrm rot="10800000">
            <a:off x="5017466" y="1574513"/>
            <a:ext cx="223426" cy="14241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38" name="文本框 37">
            <a:extLst>
              <a:ext uri="{FF2B5EF4-FFF2-40B4-BE49-F238E27FC236}">
                <a16:creationId xmlns:a16="http://schemas.microsoft.com/office/drawing/2014/main" id="{755BF703-06CC-4FF6-B3B8-73ECBCD1B7DA}"/>
              </a:ext>
            </a:extLst>
          </p:cNvPr>
          <p:cNvSpPr txBox="1"/>
          <p:nvPr/>
        </p:nvSpPr>
        <p:spPr>
          <a:xfrm>
            <a:off x="4900200" y="1356963"/>
            <a:ext cx="434734" cy="246221"/>
          </a:xfrm>
          <a:prstGeom prst="rect">
            <a:avLst/>
          </a:prstGeom>
          <a:noFill/>
        </p:spPr>
        <p:txBody>
          <a:bodyPr wrap="none" rtlCol="0">
            <a:spAutoFit/>
          </a:bodyPr>
          <a:lstStyle/>
          <a:p>
            <a:pPr defTabSz="653309">
              <a:defRPr/>
            </a:pPr>
            <a:r>
              <a:rPr lang="en-US" altLang="zh-CN" sz="1000" b="1" dirty="0" smtClean="0">
                <a:solidFill>
                  <a:srgbClr val="FF0000"/>
                </a:solidFill>
                <a:latin typeface="Calibri"/>
                <a:ea typeface="等线" panose="02010600030101010101" pitchFamily="2" charset="-122"/>
                <a:cs typeface="+mn-ea"/>
                <a:sym typeface="+mn-lt"/>
              </a:rPr>
              <a:t>MR1</a:t>
            </a:r>
            <a:endParaRPr lang="en-US" altLang="zh-CN" sz="1000" b="1" dirty="0">
              <a:solidFill>
                <a:srgbClr val="FF0000"/>
              </a:solidFill>
              <a:latin typeface="Calibri"/>
              <a:ea typeface="等线" panose="02010600030101010101" pitchFamily="2" charset="-122"/>
              <a:cs typeface="+mn-ea"/>
              <a:sym typeface="+mn-lt"/>
            </a:endParaRPr>
          </a:p>
        </p:txBody>
      </p:sp>
      <p:sp>
        <p:nvSpPr>
          <p:cNvPr id="39" name="文本框 38">
            <a:extLst>
              <a:ext uri="{FF2B5EF4-FFF2-40B4-BE49-F238E27FC236}">
                <a16:creationId xmlns:a16="http://schemas.microsoft.com/office/drawing/2014/main" id="{8738D500-5786-44D4-A413-0CF2AA3B2C5A}"/>
              </a:ext>
            </a:extLst>
          </p:cNvPr>
          <p:cNvSpPr txBox="1"/>
          <p:nvPr/>
        </p:nvSpPr>
        <p:spPr>
          <a:xfrm>
            <a:off x="2586276" y="1356963"/>
            <a:ext cx="801774" cy="246221"/>
          </a:xfrm>
          <a:prstGeom prst="rect">
            <a:avLst/>
          </a:prstGeom>
          <a:noFill/>
        </p:spPr>
        <p:txBody>
          <a:bodyPr wrap="square" rtlCol="0">
            <a:spAutoFit/>
          </a:bodyPr>
          <a:lstStyle/>
          <a:p>
            <a:pPr defTabSz="653309">
              <a:defRPr/>
            </a:pPr>
            <a:r>
              <a:rPr lang="en-US" altLang="zh-CN" sz="1000" b="1" dirty="0" smtClean="0">
                <a:solidFill>
                  <a:srgbClr val="FFC000"/>
                </a:solidFill>
                <a:latin typeface="Calibri"/>
                <a:ea typeface="等线" panose="02010600030101010101" pitchFamily="2" charset="-122"/>
                <a:cs typeface="+mn-ea"/>
                <a:sym typeface="+mn-lt"/>
              </a:rPr>
              <a:t>DCP1</a:t>
            </a:r>
            <a:endParaRPr lang="en-US" altLang="zh-CN" sz="1000" b="1" dirty="0">
              <a:solidFill>
                <a:srgbClr val="FFC000"/>
              </a:solidFill>
              <a:latin typeface="Calibri"/>
              <a:ea typeface="等线" panose="02010600030101010101" pitchFamily="2" charset="-122"/>
              <a:cs typeface="+mn-ea"/>
              <a:sym typeface="+mn-lt"/>
            </a:endParaRPr>
          </a:p>
        </p:txBody>
      </p:sp>
      <p:sp>
        <p:nvSpPr>
          <p:cNvPr id="40" name="文本框 39">
            <a:extLst>
              <a:ext uri="{FF2B5EF4-FFF2-40B4-BE49-F238E27FC236}">
                <a16:creationId xmlns:a16="http://schemas.microsoft.com/office/drawing/2014/main" id="{3AAE2566-CB86-4CD6-8EA5-7976B5994FBE}"/>
              </a:ext>
            </a:extLst>
          </p:cNvPr>
          <p:cNvSpPr txBox="1"/>
          <p:nvPr/>
        </p:nvSpPr>
        <p:spPr>
          <a:xfrm>
            <a:off x="6527587" y="1358549"/>
            <a:ext cx="1108201"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MR2 </a:t>
            </a:r>
          </a:p>
        </p:txBody>
      </p:sp>
      <p:sp>
        <p:nvSpPr>
          <p:cNvPr id="41" name="文本框 40">
            <a:extLst>
              <a:ext uri="{FF2B5EF4-FFF2-40B4-BE49-F238E27FC236}">
                <a16:creationId xmlns:a16="http://schemas.microsoft.com/office/drawing/2014/main" id="{CE19E3E9-9CDD-4DDE-9B27-5690986C721C}"/>
              </a:ext>
            </a:extLst>
          </p:cNvPr>
          <p:cNvSpPr txBox="1"/>
          <p:nvPr/>
        </p:nvSpPr>
        <p:spPr>
          <a:xfrm>
            <a:off x="7621693" y="1356963"/>
            <a:ext cx="1140768" cy="246221"/>
          </a:xfrm>
          <a:prstGeom prst="rect">
            <a:avLst/>
          </a:prstGeom>
          <a:noFill/>
        </p:spPr>
        <p:txBody>
          <a:bodyPr wrap="square" rtlCol="0">
            <a:spAutoFit/>
          </a:bodyPr>
          <a:lstStyle/>
          <a:p>
            <a:pPr defTabSz="653309">
              <a:defRPr/>
            </a:pPr>
            <a:r>
              <a:rPr lang="en-US" altLang="zh-CN" sz="1000" b="1" dirty="0">
                <a:solidFill>
                  <a:srgbClr val="FF0000"/>
                </a:solidFill>
                <a:latin typeface="Calibri"/>
                <a:ea typeface="等线" panose="02010600030101010101" pitchFamily="2" charset="-122"/>
                <a:cs typeface="+mn-ea"/>
                <a:sym typeface="+mn-lt"/>
              </a:rPr>
              <a:t>MR3 </a:t>
            </a:r>
          </a:p>
        </p:txBody>
      </p:sp>
      <p:sp>
        <p:nvSpPr>
          <p:cNvPr id="42" name="文本框 41">
            <a:extLst>
              <a:ext uri="{FF2B5EF4-FFF2-40B4-BE49-F238E27FC236}">
                <a16:creationId xmlns:a16="http://schemas.microsoft.com/office/drawing/2014/main" id="{DD0351F6-CD6A-4B6E-9A27-1C50AE07449E}"/>
              </a:ext>
            </a:extLst>
          </p:cNvPr>
          <p:cNvSpPr txBox="1"/>
          <p:nvPr/>
        </p:nvSpPr>
        <p:spPr>
          <a:xfrm>
            <a:off x="11758476" y="1355030"/>
            <a:ext cx="972051" cy="246221"/>
          </a:xfrm>
          <a:prstGeom prst="rect">
            <a:avLst/>
          </a:prstGeom>
          <a:noFill/>
        </p:spPr>
        <p:txBody>
          <a:bodyPr wrap="square" rtlCol="0">
            <a:spAutoFit/>
          </a:bodyPr>
          <a:lstStyle/>
          <a:p>
            <a:pPr defTabSz="653309">
              <a:defRPr/>
            </a:pPr>
            <a:r>
              <a:rPr lang="en-US" altLang="zh-CN" sz="1000" b="1" dirty="0">
                <a:solidFill>
                  <a:srgbClr val="FFC000"/>
                </a:solidFill>
                <a:latin typeface="Calibri"/>
                <a:ea typeface="等线" panose="02010600030101010101" pitchFamily="2" charset="-122"/>
                <a:cs typeface="+mn-ea"/>
                <a:sym typeface="+mn-lt"/>
              </a:rPr>
              <a:t>DCP2 </a:t>
            </a:r>
          </a:p>
        </p:txBody>
      </p:sp>
      <p:sp>
        <p:nvSpPr>
          <p:cNvPr id="43" name="菱形 42">
            <a:extLst>
              <a:ext uri="{FF2B5EF4-FFF2-40B4-BE49-F238E27FC236}">
                <a16:creationId xmlns:a16="http://schemas.microsoft.com/office/drawing/2014/main" id="{C3971F30-2B52-4E9A-ADC9-73EA41671F2C}"/>
              </a:ext>
            </a:extLst>
          </p:cNvPr>
          <p:cNvSpPr/>
          <p:nvPr/>
        </p:nvSpPr>
        <p:spPr>
          <a:xfrm>
            <a:off x="2718005" y="1540577"/>
            <a:ext cx="159937" cy="203741"/>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45" name="文本框 44">
            <a:extLst>
              <a:ext uri="{FF2B5EF4-FFF2-40B4-BE49-F238E27FC236}">
                <a16:creationId xmlns:a16="http://schemas.microsoft.com/office/drawing/2014/main" id="{F36FD40D-85E7-4162-8B5D-1745581AD630}"/>
              </a:ext>
            </a:extLst>
          </p:cNvPr>
          <p:cNvSpPr txBox="1"/>
          <p:nvPr/>
        </p:nvSpPr>
        <p:spPr>
          <a:xfrm>
            <a:off x="9391231" y="1362609"/>
            <a:ext cx="798949" cy="246221"/>
          </a:xfrm>
          <a:prstGeom prst="rect">
            <a:avLst/>
          </a:prstGeom>
          <a:noFill/>
        </p:spPr>
        <p:txBody>
          <a:bodyPr wrap="square" rtlCol="0">
            <a:spAutoFit/>
          </a:bodyPr>
          <a:lstStyle/>
          <a:p>
            <a:pPr defTabSz="653309">
              <a:defRPr/>
            </a:pPr>
            <a:r>
              <a:rPr lang="zh-CN" altLang="en-US" sz="1000" b="1" dirty="0">
                <a:solidFill>
                  <a:srgbClr val="0070C0"/>
                </a:solidFill>
                <a:latin typeface="Calibri"/>
                <a:ea typeface="等线" panose="02010600030101010101" pitchFamily="2" charset="-122"/>
                <a:cs typeface="+mn-ea"/>
                <a:sym typeface="+mn-lt"/>
              </a:rPr>
              <a:t>质量评审</a:t>
            </a:r>
          </a:p>
        </p:txBody>
      </p:sp>
      <p:sp>
        <p:nvSpPr>
          <p:cNvPr id="46" name="十字星 169">
            <a:extLst>
              <a:ext uri="{FF2B5EF4-FFF2-40B4-BE49-F238E27FC236}">
                <a16:creationId xmlns:a16="http://schemas.microsoft.com/office/drawing/2014/main" id="{229540B7-8107-49C2-AA81-C22CEEDDDFA7}"/>
              </a:ext>
            </a:extLst>
          </p:cNvPr>
          <p:cNvSpPr/>
          <p:nvPr/>
        </p:nvSpPr>
        <p:spPr>
          <a:xfrm>
            <a:off x="9692566" y="1495567"/>
            <a:ext cx="196282" cy="229486"/>
          </a:xfrm>
          <a:prstGeom prst="star4">
            <a:avLst/>
          </a:prstGeom>
          <a:solidFill>
            <a:srgbClr val="31B6FD"/>
          </a:solidFill>
          <a:ln w="12700" cap="flat" cmpd="sng" algn="ctr">
            <a:solidFill>
              <a:srgbClr val="31B6FD">
                <a:shade val="50000"/>
              </a:srgbClr>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7" name="等腰三角形 46">
            <a:extLst>
              <a:ext uri="{FF2B5EF4-FFF2-40B4-BE49-F238E27FC236}">
                <a16:creationId xmlns:a16="http://schemas.microsoft.com/office/drawing/2014/main" id="{F6FC58EC-E8C8-419E-9E7B-618E07CFD51A}"/>
              </a:ext>
            </a:extLst>
          </p:cNvPr>
          <p:cNvSpPr/>
          <p:nvPr/>
        </p:nvSpPr>
        <p:spPr>
          <a:xfrm rot="10800000">
            <a:off x="6634005" y="1581183"/>
            <a:ext cx="231259" cy="143869"/>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8" name="等腰三角形 47">
            <a:extLst>
              <a:ext uri="{FF2B5EF4-FFF2-40B4-BE49-F238E27FC236}">
                <a16:creationId xmlns:a16="http://schemas.microsoft.com/office/drawing/2014/main" id="{F6FC58EC-E8C8-419E-9E7B-618E07CFD51A}"/>
              </a:ext>
            </a:extLst>
          </p:cNvPr>
          <p:cNvSpPr/>
          <p:nvPr/>
        </p:nvSpPr>
        <p:spPr>
          <a:xfrm rot="10800000">
            <a:off x="7729783" y="1574511"/>
            <a:ext cx="264110" cy="138894"/>
          </a:xfrm>
          <a:prstGeom prst="triangle">
            <a:avLst/>
          </a:prstGeom>
          <a:solidFill>
            <a:srgbClr val="FF0000"/>
          </a:solidFill>
          <a:ln w="12700"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prstClr val="white"/>
              </a:solidFill>
              <a:effectLst/>
              <a:uLnTx/>
              <a:uFillTx/>
              <a:latin typeface="Calibri"/>
              <a:ea typeface="等线" panose="02010600030101010101" pitchFamily="2" charset="-122"/>
              <a:cs typeface="+mn-ea"/>
              <a:sym typeface="+mn-lt"/>
            </a:endParaRPr>
          </a:p>
        </p:txBody>
      </p:sp>
      <p:sp>
        <p:nvSpPr>
          <p:cNvPr id="49" name="菱形 48">
            <a:extLst>
              <a:ext uri="{FF2B5EF4-FFF2-40B4-BE49-F238E27FC236}">
                <a16:creationId xmlns:a16="http://schemas.microsoft.com/office/drawing/2014/main" id="{C3971F30-2B52-4E9A-ADC9-73EA41671F2C}"/>
              </a:ext>
            </a:extLst>
          </p:cNvPr>
          <p:cNvSpPr/>
          <p:nvPr/>
        </p:nvSpPr>
        <p:spPr>
          <a:xfrm>
            <a:off x="11917669" y="1540577"/>
            <a:ext cx="146814" cy="184476"/>
          </a:xfrm>
          <a:prstGeom prst="diamond">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653309"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solidFill>
                <a:srgbClr val="7030A0"/>
              </a:solidFill>
              <a:effectLst/>
              <a:uLnTx/>
              <a:uFillTx/>
              <a:latin typeface="Calibri"/>
              <a:ea typeface="等线" panose="02010600030101010101" pitchFamily="2" charset="-122"/>
              <a:cs typeface="+mn-ea"/>
              <a:sym typeface="+mn-lt"/>
            </a:endParaRPr>
          </a:p>
        </p:txBody>
      </p:sp>
      <p:sp>
        <p:nvSpPr>
          <p:cNvPr id="50" name="等腰三角形 49">
            <a:extLst>
              <a:ext uri="{FF2B5EF4-FFF2-40B4-BE49-F238E27FC236}">
                <a16:creationId xmlns:a16="http://schemas.microsoft.com/office/drawing/2014/main" id="{3F3FD00C-93A4-4DE4-BE60-60E19759F92F}"/>
              </a:ext>
            </a:extLst>
          </p:cNvPr>
          <p:cNvSpPr/>
          <p:nvPr/>
        </p:nvSpPr>
        <p:spPr>
          <a:xfrm>
            <a:off x="1804533" y="2083609"/>
            <a:ext cx="202447" cy="141896"/>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1" name="等腰三角形 50">
            <a:extLst>
              <a:ext uri="{FF2B5EF4-FFF2-40B4-BE49-F238E27FC236}">
                <a16:creationId xmlns:a16="http://schemas.microsoft.com/office/drawing/2014/main" id="{3F3FD00C-93A4-4DE4-BE60-60E19759F92F}"/>
              </a:ext>
            </a:extLst>
          </p:cNvPr>
          <p:cNvSpPr/>
          <p:nvPr/>
        </p:nvSpPr>
        <p:spPr>
          <a:xfrm>
            <a:off x="2704215" y="2083118"/>
            <a:ext cx="207184" cy="141487"/>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2" name="等腰三角形 51">
            <a:extLst>
              <a:ext uri="{FF2B5EF4-FFF2-40B4-BE49-F238E27FC236}">
                <a16:creationId xmlns:a16="http://schemas.microsoft.com/office/drawing/2014/main" id="{3F3FD00C-93A4-4DE4-BE60-60E19759F92F}"/>
              </a:ext>
            </a:extLst>
          </p:cNvPr>
          <p:cNvSpPr/>
          <p:nvPr/>
        </p:nvSpPr>
        <p:spPr>
          <a:xfrm>
            <a:off x="3903082" y="2083118"/>
            <a:ext cx="210592" cy="14148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3" name="等腰三角形 52">
            <a:extLst>
              <a:ext uri="{FF2B5EF4-FFF2-40B4-BE49-F238E27FC236}">
                <a16:creationId xmlns:a16="http://schemas.microsoft.com/office/drawing/2014/main" id="{3F3FD00C-93A4-4DE4-BE60-60E19759F92F}"/>
              </a:ext>
            </a:extLst>
          </p:cNvPr>
          <p:cNvSpPr/>
          <p:nvPr/>
        </p:nvSpPr>
        <p:spPr>
          <a:xfrm>
            <a:off x="5681226" y="2083116"/>
            <a:ext cx="237738"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4" name="等腰三角形 53">
            <a:extLst>
              <a:ext uri="{FF2B5EF4-FFF2-40B4-BE49-F238E27FC236}">
                <a16:creationId xmlns:a16="http://schemas.microsoft.com/office/drawing/2014/main" id="{3F3FD00C-93A4-4DE4-BE60-60E19759F92F}"/>
              </a:ext>
            </a:extLst>
          </p:cNvPr>
          <p:cNvSpPr/>
          <p:nvPr/>
        </p:nvSpPr>
        <p:spPr>
          <a:xfrm>
            <a:off x="6302796" y="2083116"/>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56" name="等腰三角形 55">
            <a:extLst>
              <a:ext uri="{FF2B5EF4-FFF2-40B4-BE49-F238E27FC236}">
                <a16:creationId xmlns:a16="http://schemas.microsoft.com/office/drawing/2014/main" id="{3F3FD00C-93A4-4DE4-BE60-60E19759F92F}"/>
              </a:ext>
            </a:extLst>
          </p:cNvPr>
          <p:cNvSpPr/>
          <p:nvPr/>
        </p:nvSpPr>
        <p:spPr>
          <a:xfrm>
            <a:off x="8543806" y="2082777"/>
            <a:ext cx="218655" cy="141828"/>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19" name="五角星 18"/>
          <p:cNvSpPr/>
          <p:nvPr/>
        </p:nvSpPr>
        <p:spPr>
          <a:xfrm>
            <a:off x="9692565" y="2087168"/>
            <a:ext cx="175147" cy="137436"/>
          </a:xfrm>
          <a:prstGeom prst="star5">
            <a:avLst/>
          </a:prstGeom>
          <a:solidFill>
            <a:srgbClr val="31B6FD"/>
          </a:solidFill>
          <a:ln>
            <a:solidFill>
              <a:srgbClr val="31B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58" name="文本框 57">
            <a:extLst>
              <a:ext uri="{FF2B5EF4-FFF2-40B4-BE49-F238E27FC236}">
                <a16:creationId xmlns:a16="http://schemas.microsoft.com/office/drawing/2014/main" id="{8738D500-5786-44D4-A413-0CF2AA3B2C5A}"/>
              </a:ext>
            </a:extLst>
          </p:cNvPr>
          <p:cNvSpPr txBox="1"/>
          <p:nvPr/>
        </p:nvSpPr>
        <p:spPr>
          <a:xfrm>
            <a:off x="1719918"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TR1</a:t>
            </a:r>
            <a:endParaRPr lang="en-US" altLang="zh-CN" sz="1000" b="1" dirty="0">
              <a:solidFill>
                <a:srgbClr val="00B050"/>
              </a:solidFill>
              <a:latin typeface="Calibri"/>
              <a:ea typeface="等线" panose="02010600030101010101" pitchFamily="2" charset="-122"/>
              <a:cs typeface="+mn-ea"/>
              <a:sym typeface="+mn-lt"/>
            </a:endParaRPr>
          </a:p>
        </p:txBody>
      </p:sp>
      <p:sp>
        <p:nvSpPr>
          <p:cNvPr id="59" name="文本框 58">
            <a:extLst>
              <a:ext uri="{FF2B5EF4-FFF2-40B4-BE49-F238E27FC236}">
                <a16:creationId xmlns:a16="http://schemas.microsoft.com/office/drawing/2014/main" id="{8738D500-5786-44D4-A413-0CF2AA3B2C5A}"/>
              </a:ext>
            </a:extLst>
          </p:cNvPr>
          <p:cNvSpPr txBox="1"/>
          <p:nvPr/>
        </p:nvSpPr>
        <p:spPr>
          <a:xfrm>
            <a:off x="2609989" y="2177406"/>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TR2</a:t>
            </a:r>
            <a:endParaRPr lang="en-US" altLang="zh-CN" sz="1000" b="1" dirty="0">
              <a:solidFill>
                <a:srgbClr val="00B050"/>
              </a:solidFill>
              <a:latin typeface="Calibri"/>
              <a:ea typeface="等线" panose="02010600030101010101" pitchFamily="2" charset="-122"/>
              <a:cs typeface="+mn-ea"/>
              <a:sym typeface="+mn-lt"/>
            </a:endParaRPr>
          </a:p>
        </p:txBody>
      </p:sp>
      <p:sp>
        <p:nvSpPr>
          <p:cNvPr id="60" name="文本框 59">
            <a:extLst>
              <a:ext uri="{FF2B5EF4-FFF2-40B4-BE49-F238E27FC236}">
                <a16:creationId xmlns:a16="http://schemas.microsoft.com/office/drawing/2014/main" id="{8738D500-5786-44D4-A413-0CF2AA3B2C5A}"/>
              </a:ext>
            </a:extLst>
          </p:cNvPr>
          <p:cNvSpPr txBox="1"/>
          <p:nvPr/>
        </p:nvSpPr>
        <p:spPr>
          <a:xfrm>
            <a:off x="3798742"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t>
            </a:r>
            <a:endParaRPr lang="en-US" altLang="zh-CN" sz="1000" b="1" dirty="0">
              <a:solidFill>
                <a:srgbClr val="00B050"/>
              </a:solidFill>
              <a:latin typeface="Calibri"/>
              <a:ea typeface="等线" panose="02010600030101010101" pitchFamily="2" charset="-122"/>
              <a:cs typeface="+mn-ea"/>
              <a:sym typeface="+mn-lt"/>
            </a:endParaRPr>
          </a:p>
        </p:txBody>
      </p:sp>
      <p:sp>
        <p:nvSpPr>
          <p:cNvPr id="61" name="文本框 60">
            <a:extLst>
              <a:ext uri="{FF2B5EF4-FFF2-40B4-BE49-F238E27FC236}">
                <a16:creationId xmlns:a16="http://schemas.microsoft.com/office/drawing/2014/main" id="{8738D500-5786-44D4-A413-0CF2AA3B2C5A}"/>
              </a:ext>
            </a:extLst>
          </p:cNvPr>
          <p:cNvSpPr txBox="1"/>
          <p:nvPr/>
        </p:nvSpPr>
        <p:spPr>
          <a:xfrm>
            <a:off x="5585596"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TR3A</a:t>
            </a:r>
            <a:endParaRPr lang="en-US" altLang="zh-CN" sz="1000" b="1" dirty="0">
              <a:solidFill>
                <a:srgbClr val="00B050"/>
              </a:solidFill>
              <a:latin typeface="Calibri"/>
              <a:ea typeface="等线" panose="02010600030101010101" pitchFamily="2" charset="-122"/>
              <a:cs typeface="+mn-ea"/>
              <a:sym typeface="+mn-lt"/>
            </a:endParaRPr>
          </a:p>
        </p:txBody>
      </p:sp>
      <p:sp>
        <p:nvSpPr>
          <p:cNvPr id="62" name="文本框 61">
            <a:extLst>
              <a:ext uri="{FF2B5EF4-FFF2-40B4-BE49-F238E27FC236}">
                <a16:creationId xmlns:a16="http://schemas.microsoft.com/office/drawing/2014/main" id="{8738D500-5786-44D4-A413-0CF2AA3B2C5A}"/>
              </a:ext>
            </a:extLst>
          </p:cNvPr>
          <p:cNvSpPr txBox="1"/>
          <p:nvPr/>
        </p:nvSpPr>
        <p:spPr>
          <a:xfrm>
            <a:off x="6192069" y="2182831"/>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t>
            </a:r>
            <a:endParaRPr lang="en-US" altLang="zh-CN" sz="1000" b="1" dirty="0">
              <a:solidFill>
                <a:srgbClr val="00B050"/>
              </a:solidFill>
              <a:latin typeface="Calibri"/>
              <a:ea typeface="等线" panose="02010600030101010101" pitchFamily="2" charset="-122"/>
              <a:cs typeface="+mn-ea"/>
              <a:sym typeface="+mn-lt"/>
            </a:endParaRPr>
          </a:p>
        </p:txBody>
      </p:sp>
      <p:sp>
        <p:nvSpPr>
          <p:cNvPr id="63" name="文本框 62">
            <a:extLst>
              <a:ext uri="{FF2B5EF4-FFF2-40B4-BE49-F238E27FC236}">
                <a16:creationId xmlns:a16="http://schemas.microsoft.com/office/drawing/2014/main" id="{8738D500-5786-44D4-A413-0CF2AA3B2C5A}"/>
              </a:ext>
            </a:extLst>
          </p:cNvPr>
          <p:cNvSpPr txBox="1"/>
          <p:nvPr/>
        </p:nvSpPr>
        <p:spPr>
          <a:xfrm>
            <a:off x="6738108" y="2176292"/>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TR4A</a:t>
            </a:r>
            <a:endParaRPr lang="en-US" altLang="zh-CN" sz="1000" b="1" dirty="0">
              <a:solidFill>
                <a:srgbClr val="00B050"/>
              </a:solidFill>
              <a:latin typeface="Calibri"/>
              <a:ea typeface="等线" panose="02010600030101010101" pitchFamily="2" charset="-122"/>
              <a:cs typeface="+mn-ea"/>
              <a:sym typeface="+mn-lt"/>
            </a:endParaRPr>
          </a:p>
        </p:txBody>
      </p:sp>
      <p:sp>
        <p:nvSpPr>
          <p:cNvPr id="64" name="文本框 63">
            <a:extLst>
              <a:ext uri="{FF2B5EF4-FFF2-40B4-BE49-F238E27FC236}">
                <a16:creationId xmlns:a16="http://schemas.microsoft.com/office/drawing/2014/main" id="{8738D500-5786-44D4-A413-0CF2AA3B2C5A}"/>
              </a:ext>
            </a:extLst>
          </p:cNvPr>
          <p:cNvSpPr txBox="1"/>
          <p:nvPr/>
        </p:nvSpPr>
        <p:spPr>
          <a:xfrm>
            <a:off x="8439914" y="2175925"/>
            <a:ext cx="571525" cy="246221"/>
          </a:xfrm>
          <a:prstGeom prst="rect">
            <a:avLst/>
          </a:prstGeom>
          <a:noFill/>
        </p:spPr>
        <p:txBody>
          <a:bodyPr wrap="square" rtlCol="0">
            <a:spAutoFit/>
          </a:bodyPr>
          <a:lstStyle/>
          <a:p>
            <a:pPr defTabSz="653309">
              <a:defRPr/>
            </a:pPr>
            <a:r>
              <a:rPr lang="en-US" altLang="zh-CN" sz="1000" b="1" dirty="0" smtClean="0">
                <a:solidFill>
                  <a:srgbClr val="00B050"/>
                </a:solidFill>
                <a:latin typeface="Calibri"/>
                <a:ea typeface="等线" panose="02010600030101010101" pitchFamily="2" charset="-122"/>
                <a:cs typeface="+mn-ea"/>
                <a:sym typeface="+mn-lt"/>
              </a:rPr>
              <a:t>TR5</a:t>
            </a:r>
            <a:endParaRPr lang="en-US" altLang="zh-CN" sz="1000" b="1" dirty="0">
              <a:solidFill>
                <a:srgbClr val="00B050"/>
              </a:solidFill>
              <a:latin typeface="Calibri"/>
              <a:ea typeface="等线" panose="02010600030101010101" pitchFamily="2" charset="-122"/>
              <a:cs typeface="+mn-ea"/>
              <a:sym typeface="+mn-lt"/>
            </a:endParaRPr>
          </a:p>
        </p:txBody>
      </p:sp>
      <p:sp>
        <p:nvSpPr>
          <p:cNvPr id="65" name="文本框 64">
            <a:extLst>
              <a:ext uri="{FF2B5EF4-FFF2-40B4-BE49-F238E27FC236}">
                <a16:creationId xmlns:a16="http://schemas.microsoft.com/office/drawing/2014/main" id="{8738D500-5786-44D4-A413-0CF2AA3B2C5A}"/>
              </a:ext>
            </a:extLst>
          </p:cNvPr>
          <p:cNvSpPr txBox="1"/>
          <p:nvPr/>
        </p:nvSpPr>
        <p:spPr>
          <a:xfrm>
            <a:off x="9567445" y="2175925"/>
            <a:ext cx="495428" cy="246221"/>
          </a:xfrm>
          <a:prstGeom prst="rect">
            <a:avLst/>
          </a:prstGeom>
          <a:noFill/>
        </p:spPr>
        <p:txBody>
          <a:bodyPr wrap="square" rtlCol="0">
            <a:spAutoFit/>
          </a:bodyPr>
          <a:lstStyle>
            <a:defPPr>
              <a:defRPr lang="zh-CN"/>
            </a:defPPr>
            <a:lvl1pPr defTabSz="653309">
              <a:defRPr sz="1100" b="1">
                <a:solidFill>
                  <a:srgbClr val="0070C0"/>
                </a:solidFill>
                <a:latin typeface="Calibri"/>
                <a:ea typeface="等线" panose="02010600030101010101" pitchFamily="2" charset="-122"/>
                <a:cs typeface="+mn-ea"/>
              </a:defRPr>
            </a:lvl1pPr>
          </a:lstStyle>
          <a:p>
            <a:r>
              <a:rPr lang="zh-CN" altLang="en-US" sz="1000" dirty="0">
                <a:sym typeface="+mn-lt"/>
              </a:rPr>
              <a:t>发布</a:t>
            </a:r>
            <a:endParaRPr lang="en-US" altLang="zh-CN" sz="1000" dirty="0">
              <a:sym typeface="+mn-lt"/>
            </a:endParaRPr>
          </a:p>
        </p:txBody>
      </p:sp>
      <p:sp>
        <p:nvSpPr>
          <p:cNvPr id="66" name="等腰三角形 65">
            <a:extLst>
              <a:ext uri="{FF2B5EF4-FFF2-40B4-BE49-F238E27FC236}">
                <a16:creationId xmlns:a16="http://schemas.microsoft.com/office/drawing/2014/main" id="{3F3FD00C-93A4-4DE4-BE60-60E19759F92F}"/>
              </a:ext>
            </a:extLst>
          </p:cNvPr>
          <p:cNvSpPr/>
          <p:nvPr/>
        </p:nvSpPr>
        <p:spPr>
          <a:xfrm>
            <a:off x="6828248" y="2083115"/>
            <a:ext cx="224791" cy="141489"/>
          </a:xfrm>
          <a:prstGeom prst="triangle">
            <a:avLst/>
          </a:prstGeom>
          <a:solidFill>
            <a:srgbClr val="00B050"/>
          </a:solidFill>
          <a:ln w="12700" cap="flat" cmpd="sng" algn="ctr">
            <a:solidFill>
              <a:srgbClr val="00B05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653309" eaLnBrk="1" fontAlgn="auto" latinLnBrk="0" hangingPunct="1">
              <a:lnSpc>
                <a:spcPct val="100000"/>
              </a:lnSpc>
              <a:spcBef>
                <a:spcPts val="0"/>
              </a:spcBef>
              <a:spcAft>
                <a:spcPts val="0"/>
              </a:spcAft>
              <a:buClrTx/>
              <a:buSzTx/>
              <a:buFontTx/>
              <a:buNone/>
              <a:tabLst/>
              <a:defRPr/>
            </a:pPr>
            <a:endParaRPr kumimoji="0" lang="zh-CN" altLang="en-US" sz="800" b="1" i="0" u="none" strike="noStrike" kern="0" cap="none" spc="0" normalizeH="0" baseline="0" noProof="0">
              <a:ln>
                <a:noFill/>
              </a:ln>
              <a:solidFill>
                <a:srgbClr val="00B050"/>
              </a:solidFill>
              <a:effectLst/>
              <a:uLnTx/>
              <a:uFillTx/>
              <a:latin typeface="Calibri"/>
              <a:ea typeface="等线" panose="02010600030101010101" pitchFamily="2" charset="-122"/>
              <a:cs typeface="+mn-ea"/>
              <a:sym typeface="+mn-lt"/>
            </a:endParaRPr>
          </a:p>
        </p:txBody>
      </p:sp>
      <p:sp>
        <p:nvSpPr>
          <p:cNvPr id="68" name="矩形 67"/>
          <p:cNvSpPr/>
          <p:nvPr/>
        </p:nvSpPr>
        <p:spPr>
          <a:xfrm>
            <a:off x="107950" y="942947"/>
            <a:ext cx="12003111" cy="5833238"/>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p:nvPr/>
        </p:nvCxnSpPr>
        <p:spPr>
          <a:xfrm>
            <a:off x="494531" y="942947"/>
            <a:ext cx="0" cy="5833238"/>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p:cNvCxnSpPr>
            <a:endCxn id="9" idx="1"/>
          </p:cNvCxnSpPr>
          <p:nvPr/>
        </p:nvCxnSpPr>
        <p:spPr>
          <a:xfrm>
            <a:off x="102782" y="1911735"/>
            <a:ext cx="391749" cy="0"/>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8" name="文本框 77"/>
          <p:cNvSpPr txBox="1"/>
          <p:nvPr/>
        </p:nvSpPr>
        <p:spPr>
          <a:xfrm>
            <a:off x="148217" y="983016"/>
            <a:ext cx="377339" cy="911596"/>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决策委员会</a:t>
            </a:r>
          </a:p>
        </p:txBody>
      </p:sp>
      <p:cxnSp>
        <p:nvCxnSpPr>
          <p:cNvPr id="80" name="直接连接符 79"/>
          <p:cNvCxnSpPr/>
          <p:nvPr/>
        </p:nvCxnSpPr>
        <p:spPr>
          <a:xfrm>
            <a:off x="281414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直接连接符 80"/>
          <p:cNvCxnSpPr/>
          <p:nvPr/>
        </p:nvCxnSpPr>
        <p:spPr>
          <a:xfrm>
            <a:off x="5138892"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直接连接符 81"/>
          <p:cNvCxnSpPr/>
          <p:nvPr/>
        </p:nvCxnSpPr>
        <p:spPr>
          <a:xfrm>
            <a:off x="7460334"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直接连接符 82"/>
          <p:cNvCxnSpPr/>
          <p:nvPr/>
        </p:nvCxnSpPr>
        <p:spPr>
          <a:xfrm>
            <a:off x="9780138" y="942947"/>
            <a:ext cx="0" cy="5833238"/>
          </a:xfrm>
          <a:prstGeom prst="lin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直接连接符 83"/>
          <p:cNvCxnSpPr/>
          <p:nvPr/>
        </p:nvCxnSpPr>
        <p:spPr>
          <a:xfrm>
            <a:off x="133894" y="5176723"/>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7" name="文本框 86"/>
          <p:cNvSpPr txBox="1"/>
          <p:nvPr/>
        </p:nvSpPr>
        <p:spPr>
          <a:xfrm>
            <a:off x="118049" y="2770681"/>
            <a:ext cx="288909" cy="412998"/>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采购</a:t>
            </a:r>
          </a:p>
        </p:txBody>
      </p:sp>
      <p:sp>
        <p:nvSpPr>
          <p:cNvPr id="88" name="文本框 87"/>
          <p:cNvSpPr txBox="1"/>
          <p:nvPr/>
        </p:nvSpPr>
        <p:spPr>
          <a:xfrm>
            <a:off x="148216" y="5233890"/>
            <a:ext cx="377339"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财务、审计</a:t>
            </a:r>
          </a:p>
        </p:txBody>
      </p:sp>
      <p:sp>
        <p:nvSpPr>
          <p:cNvPr id="57" name="文本框 56"/>
          <p:cNvSpPr txBox="1"/>
          <p:nvPr/>
        </p:nvSpPr>
        <p:spPr>
          <a:xfrm>
            <a:off x="80018" y="6008144"/>
            <a:ext cx="230485"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解决方案</a:t>
            </a:r>
          </a:p>
        </p:txBody>
      </p:sp>
      <p:sp>
        <p:nvSpPr>
          <p:cNvPr id="67" name="文本框 66"/>
          <p:cNvSpPr txBox="1"/>
          <p:nvPr/>
        </p:nvSpPr>
        <p:spPr>
          <a:xfrm>
            <a:off x="231895" y="6008144"/>
            <a:ext cx="230485"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技术支持</a:t>
            </a:r>
          </a:p>
        </p:txBody>
      </p:sp>
      <p:cxnSp>
        <p:nvCxnSpPr>
          <p:cNvPr id="69" name="直接连接符 68"/>
          <p:cNvCxnSpPr/>
          <p:nvPr/>
        </p:nvCxnSpPr>
        <p:spPr>
          <a:xfrm>
            <a:off x="109495" y="6001005"/>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0" name="直接连接符 69"/>
          <p:cNvCxnSpPr/>
          <p:nvPr/>
        </p:nvCxnSpPr>
        <p:spPr>
          <a:xfrm>
            <a:off x="118049" y="3989490"/>
            <a:ext cx="12005099" cy="43742"/>
          </a:xfrm>
          <a:prstGeom prst="lin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2" name="文本框 71"/>
          <p:cNvSpPr txBox="1"/>
          <p:nvPr/>
        </p:nvSpPr>
        <p:spPr>
          <a:xfrm>
            <a:off x="158467" y="4139467"/>
            <a:ext cx="377339" cy="757130"/>
          </a:xfrm>
          <a:prstGeom prst="rect">
            <a:avLst/>
          </a:prstGeom>
          <a:noFill/>
        </p:spPr>
        <p:txBody>
          <a:bodyPr wrap="square" rtlCol="0">
            <a:spAutoFit/>
          </a:bodyPr>
          <a:lstStyle/>
          <a:p>
            <a:pPr>
              <a:lnSpc>
                <a:spcPct val="120000"/>
              </a:lnSpc>
            </a:pPr>
            <a:r>
              <a:rPr lang="zh-CN" altLang="en-US" sz="900" dirty="0" smtClean="0">
                <a:solidFill>
                  <a:schemeClr val="tx1">
                    <a:lumMod val="75000"/>
                    <a:lumOff val="25000"/>
                  </a:schemeClr>
                </a:solidFill>
              </a:rPr>
              <a:t>制造代表</a:t>
            </a:r>
          </a:p>
        </p:txBody>
      </p:sp>
    </p:spTree>
    <p:extLst>
      <p:ext uri="{BB962C8B-B14F-4D97-AF65-F5344CB8AC3E}">
        <p14:creationId xmlns:p14="http://schemas.microsoft.com/office/powerpoint/2010/main" val="20036214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27706E4-3600-CFBE-CD60-3215CF71E093}"/>
              </a:ext>
            </a:extLst>
          </p:cNvPr>
          <p:cNvSpPr/>
          <p:nvPr/>
        </p:nvSpPr>
        <p:spPr>
          <a:xfrm>
            <a:off x="431402" y="1092565"/>
            <a:ext cx="11365755" cy="5489949"/>
          </a:xfrm>
          <a:prstGeom prst="rect">
            <a:avLst/>
          </a:prstGeom>
          <a:solidFill>
            <a:schemeClr val="bg1">
              <a:lumMod val="9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400" dirty="0">
              <a:latin typeface="+mn-ea"/>
            </a:endParaRPr>
          </a:p>
        </p:txBody>
      </p:sp>
      <p:sp>
        <p:nvSpPr>
          <p:cNvPr id="2" name="文本占位符 1">
            <a:extLst>
              <a:ext uri="{FF2B5EF4-FFF2-40B4-BE49-F238E27FC236}">
                <a16:creationId xmlns:a16="http://schemas.microsoft.com/office/drawing/2014/main" id="{48B42C76-EFF3-E493-771B-0E97BC74DE11}"/>
              </a:ext>
            </a:extLst>
          </p:cNvPr>
          <p:cNvSpPr>
            <a:spLocks noGrp="1"/>
          </p:cNvSpPr>
          <p:nvPr>
            <p:ph type="body" sz="quarter" idx="13"/>
          </p:nvPr>
        </p:nvSpPr>
        <p:spPr>
          <a:xfrm>
            <a:off x="239349" y="164637"/>
            <a:ext cx="9082203" cy="672075"/>
          </a:xfrm>
        </p:spPr>
        <p:txBody>
          <a:bodyPr/>
          <a:lstStyle/>
          <a:p>
            <a:r>
              <a:rPr lang="en-US" altLang="zh-CN" dirty="0" smtClean="0"/>
              <a:t>M1</a:t>
            </a:r>
            <a:r>
              <a:rPr lang="zh-CN" altLang="en-US" dirty="0"/>
              <a:t>预研</a:t>
            </a:r>
            <a:r>
              <a:rPr lang="zh-CN" altLang="en-US" dirty="0" smtClean="0"/>
              <a:t>阶段</a:t>
            </a:r>
            <a:r>
              <a:rPr lang="en-US" altLang="zh-CN" dirty="0" smtClean="0"/>
              <a:t>——</a:t>
            </a:r>
            <a:r>
              <a:rPr lang="zh-CN" altLang="en-US" dirty="0" smtClean="0"/>
              <a:t>工作要点概览</a:t>
            </a:r>
            <a:endParaRPr lang="zh-CN" altLang="en-US" dirty="0"/>
          </a:p>
        </p:txBody>
      </p:sp>
      <p:sp>
        <p:nvSpPr>
          <p:cNvPr id="24" name="文本框 23">
            <a:extLst>
              <a:ext uri="{FF2B5EF4-FFF2-40B4-BE49-F238E27FC236}">
                <a16:creationId xmlns:a16="http://schemas.microsoft.com/office/drawing/2014/main" id="{F747CD56-D4ED-36C3-1ACA-CF1F738AC2FE}"/>
              </a:ext>
            </a:extLst>
          </p:cNvPr>
          <p:cNvSpPr txBox="1"/>
          <p:nvPr/>
        </p:nvSpPr>
        <p:spPr>
          <a:xfrm>
            <a:off x="628080" y="2541516"/>
            <a:ext cx="1265231" cy="298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lnSpc>
                <a:spcPct val="120000"/>
              </a:lnSpc>
            </a:pPr>
            <a:r>
              <a:rPr lang="zh-CN" altLang="en-US" sz="1200" b="1" dirty="0">
                <a:solidFill>
                  <a:schemeClr val="bg1"/>
                </a:solidFill>
              </a:rPr>
              <a:t>市场代表</a:t>
            </a:r>
            <a:endParaRPr lang="en-US" altLang="zh-CN" sz="1200" b="1" dirty="0">
              <a:solidFill>
                <a:schemeClr val="bg1"/>
              </a:solidFill>
            </a:endParaRPr>
          </a:p>
        </p:txBody>
      </p:sp>
      <p:pic>
        <p:nvPicPr>
          <p:cNvPr id="31" name="图形 30" descr="用户 纯色填充">
            <a:extLst>
              <a:ext uri="{FF2B5EF4-FFF2-40B4-BE49-F238E27FC236}">
                <a16:creationId xmlns:a16="http://schemas.microsoft.com/office/drawing/2014/main" id="{8ACB173D-209F-4465-E3EC-6A92B485385B}"/>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7514579" y="4260445"/>
            <a:ext cx="914400" cy="914400"/>
          </a:xfrm>
          <a:prstGeom prst="rect">
            <a:avLst/>
          </a:prstGeom>
        </p:spPr>
      </p:pic>
      <p:sp>
        <p:nvSpPr>
          <p:cNvPr id="33" name="文本框 32">
            <a:extLst>
              <a:ext uri="{FF2B5EF4-FFF2-40B4-BE49-F238E27FC236}">
                <a16:creationId xmlns:a16="http://schemas.microsoft.com/office/drawing/2014/main" id="{4933AAD5-EB16-D507-3DFD-9AE1E1B21B25}"/>
              </a:ext>
            </a:extLst>
          </p:cNvPr>
          <p:cNvSpPr txBox="1"/>
          <p:nvPr/>
        </p:nvSpPr>
        <p:spPr>
          <a:xfrm>
            <a:off x="4520513" y="5867972"/>
            <a:ext cx="2129169" cy="278281"/>
          </a:xfrm>
          <a:prstGeom prst="rect">
            <a:avLst/>
          </a:prstGeom>
          <a:solidFill>
            <a:schemeClr val="accent4">
              <a:lumMod val="20000"/>
              <a:lumOff val="80000"/>
            </a:schemeClr>
          </a:solidFill>
          <a:ln>
            <a:prstDash val="dash"/>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lnSpc>
                <a:spcPct val="120000"/>
              </a:lnSpc>
            </a:pPr>
            <a:r>
              <a:rPr lang="zh-CN" altLang="en-US" sz="1050" b="1" dirty="0">
                <a:solidFill>
                  <a:srgbClr val="565656"/>
                </a:solidFill>
                <a:latin typeface="+mn-ea"/>
                <a:cs typeface="+mn-ea"/>
                <a:sym typeface="+mn-lt"/>
              </a:rPr>
              <a:t>管理计划与管理保证</a:t>
            </a:r>
            <a:endParaRPr lang="en-US" altLang="zh-CN" sz="1050" b="1" dirty="0">
              <a:solidFill>
                <a:schemeClr val="tx1">
                  <a:lumMod val="75000"/>
                  <a:lumOff val="25000"/>
                </a:schemeClr>
              </a:solidFill>
              <a:latin typeface="+mn-ea"/>
            </a:endParaRPr>
          </a:p>
        </p:txBody>
      </p:sp>
      <p:sp>
        <p:nvSpPr>
          <p:cNvPr id="37" name="文本框 36">
            <a:extLst>
              <a:ext uri="{FF2B5EF4-FFF2-40B4-BE49-F238E27FC236}">
                <a16:creationId xmlns:a16="http://schemas.microsoft.com/office/drawing/2014/main" id="{7848F4A9-74C5-5591-CB8D-BDC8CCDE0EF5}"/>
              </a:ext>
            </a:extLst>
          </p:cNvPr>
          <p:cNvSpPr txBox="1"/>
          <p:nvPr/>
        </p:nvSpPr>
        <p:spPr>
          <a:xfrm>
            <a:off x="4520514" y="4952194"/>
            <a:ext cx="2129169" cy="278281"/>
          </a:xfrm>
          <a:prstGeom prst="rect">
            <a:avLst/>
          </a:prstGeom>
          <a:solidFill>
            <a:schemeClr val="accent6">
              <a:lumMod val="20000"/>
              <a:lumOff val="80000"/>
            </a:schemeClr>
          </a:solidFill>
          <a:ln>
            <a:solidFill>
              <a:schemeClr val="accent6">
                <a:lumMod val="75000"/>
              </a:schemeClr>
            </a:solidFill>
            <a:prstDash val="dash"/>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lnSpc>
                <a:spcPct val="120000"/>
              </a:lnSpc>
            </a:pPr>
            <a:r>
              <a:rPr lang="zh-CN" altLang="en-US" sz="1050" b="1" dirty="0">
                <a:solidFill>
                  <a:schemeClr val="tx1">
                    <a:lumMod val="75000"/>
                    <a:lumOff val="25000"/>
                  </a:schemeClr>
                </a:solidFill>
                <a:latin typeface="+mn-ea"/>
              </a:rPr>
              <a:t>技术方案及技术趋势</a:t>
            </a:r>
            <a:endParaRPr lang="en-US" altLang="zh-CN" sz="1050" b="1" dirty="0">
              <a:solidFill>
                <a:schemeClr val="tx1">
                  <a:lumMod val="75000"/>
                  <a:lumOff val="25000"/>
                </a:schemeClr>
              </a:solidFill>
              <a:latin typeface="+mn-ea"/>
            </a:endParaRPr>
          </a:p>
        </p:txBody>
      </p:sp>
      <p:sp>
        <p:nvSpPr>
          <p:cNvPr id="41" name="文本框 40">
            <a:extLst>
              <a:ext uri="{FF2B5EF4-FFF2-40B4-BE49-F238E27FC236}">
                <a16:creationId xmlns:a16="http://schemas.microsoft.com/office/drawing/2014/main" id="{5EB03E7A-F57A-EE76-BDED-21DDE2B4CE56}"/>
              </a:ext>
            </a:extLst>
          </p:cNvPr>
          <p:cNvSpPr txBox="1"/>
          <p:nvPr/>
        </p:nvSpPr>
        <p:spPr>
          <a:xfrm>
            <a:off x="7121624" y="3061383"/>
            <a:ext cx="1826799" cy="278281"/>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pPr algn="ctr">
              <a:lnSpc>
                <a:spcPct val="120000"/>
              </a:lnSpc>
            </a:pPr>
            <a:r>
              <a:rPr lang="en-US" altLang="zh-CN" sz="1050" b="1" dirty="0">
                <a:solidFill>
                  <a:schemeClr val="tx1">
                    <a:lumMod val="75000"/>
                    <a:lumOff val="25000"/>
                  </a:schemeClr>
                </a:solidFill>
                <a:latin typeface="+mn-ea"/>
              </a:rPr>
              <a:t>《</a:t>
            </a:r>
            <a:r>
              <a:rPr lang="zh-CN" altLang="en-US" sz="1050" b="1" dirty="0">
                <a:solidFill>
                  <a:schemeClr val="tx1">
                    <a:lumMod val="75000"/>
                    <a:lumOff val="25000"/>
                  </a:schemeClr>
                </a:solidFill>
                <a:latin typeface="+mn-ea"/>
              </a:rPr>
              <a:t>立项建议报告</a:t>
            </a:r>
            <a:r>
              <a:rPr lang="en-US" altLang="zh-CN" sz="1050" b="1" dirty="0">
                <a:solidFill>
                  <a:schemeClr val="tx1">
                    <a:lumMod val="75000"/>
                    <a:lumOff val="25000"/>
                  </a:schemeClr>
                </a:solidFill>
                <a:latin typeface="+mn-ea"/>
              </a:rPr>
              <a:t>》</a:t>
            </a:r>
            <a:endParaRPr lang="en-US" altLang="zh-CN" sz="1400" b="1" dirty="0">
              <a:solidFill>
                <a:schemeClr val="tx1">
                  <a:lumMod val="75000"/>
                  <a:lumOff val="25000"/>
                </a:schemeClr>
              </a:solidFill>
              <a:latin typeface="+mn-ea"/>
            </a:endParaRPr>
          </a:p>
        </p:txBody>
      </p:sp>
      <p:sp>
        <p:nvSpPr>
          <p:cNvPr id="3" name="文本框 2">
            <a:extLst>
              <a:ext uri="{FF2B5EF4-FFF2-40B4-BE49-F238E27FC236}">
                <a16:creationId xmlns:a16="http://schemas.microsoft.com/office/drawing/2014/main" id="{9F3F7D64-E5D3-D886-E5E9-8FA940B792FE}"/>
              </a:ext>
            </a:extLst>
          </p:cNvPr>
          <p:cNvSpPr txBox="1"/>
          <p:nvPr/>
        </p:nvSpPr>
        <p:spPr>
          <a:xfrm>
            <a:off x="628080" y="3893550"/>
            <a:ext cx="1265231" cy="29828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lnSpc>
                <a:spcPct val="120000"/>
              </a:lnSpc>
            </a:pPr>
            <a:r>
              <a:rPr lang="zh-CN" altLang="en-US" sz="1200" b="1" dirty="0">
                <a:solidFill>
                  <a:schemeClr val="bg1"/>
                </a:solidFill>
              </a:rPr>
              <a:t>产品工程师</a:t>
            </a:r>
            <a:endParaRPr lang="en-US" altLang="zh-CN" sz="1200" b="1" dirty="0">
              <a:solidFill>
                <a:schemeClr val="bg1"/>
              </a:solidFill>
            </a:endParaRPr>
          </a:p>
        </p:txBody>
      </p:sp>
      <p:sp>
        <p:nvSpPr>
          <p:cNvPr id="4" name="文本框 3">
            <a:extLst>
              <a:ext uri="{FF2B5EF4-FFF2-40B4-BE49-F238E27FC236}">
                <a16:creationId xmlns:a16="http://schemas.microsoft.com/office/drawing/2014/main" id="{F3223F28-C8AF-0097-AD2D-D76D01038E2C}"/>
              </a:ext>
            </a:extLst>
          </p:cNvPr>
          <p:cNvSpPr txBox="1"/>
          <p:nvPr/>
        </p:nvSpPr>
        <p:spPr>
          <a:xfrm>
            <a:off x="628080" y="5867972"/>
            <a:ext cx="1265231" cy="298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lnSpc>
                <a:spcPct val="120000"/>
              </a:lnSpc>
            </a:pPr>
            <a:r>
              <a:rPr lang="zh-CN" altLang="en-US" sz="1200" b="1" dirty="0">
                <a:solidFill>
                  <a:schemeClr val="bg1"/>
                </a:solidFill>
              </a:rPr>
              <a:t>项目经理</a:t>
            </a:r>
            <a:endParaRPr lang="en-US" altLang="zh-CN" sz="1200" b="1" dirty="0">
              <a:solidFill>
                <a:schemeClr val="bg1"/>
              </a:solidFill>
            </a:endParaRPr>
          </a:p>
        </p:txBody>
      </p:sp>
      <p:sp>
        <p:nvSpPr>
          <p:cNvPr id="5" name="文本框 4">
            <a:extLst>
              <a:ext uri="{FF2B5EF4-FFF2-40B4-BE49-F238E27FC236}">
                <a16:creationId xmlns:a16="http://schemas.microsoft.com/office/drawing/2014/main" id="{97F648F6-AC6C-7F8F-0F13-6F8524D4916B}"/>
              </a:ext>
            </a:extLst>
          </p:cNvPr>
          <p:cNvSpPr txBox="1"/>
          <p:nvPr/>
        </p:nvSpPr>
        <p:spPr>
          <a:xfrm>
            <a:off x="622858" y="4952194"/>
            <a:ext cx="1270453" cy="2982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系统架构师</a:t>
            </a:r>
            <a:endParaRPr lang="en-US" altLang="zh-CN" sz="1200" b="1" dirty="0">
              <a:solidFill>
                <a:schemeClr val="bg1"/>
              </a:solidFill>
            </a:endParaRPr>
          </a:p>
        </p:txBody>
      </p:sp>
      <p:sp>
        <p:nvSpPr>
          <p:cNvPr id="15" name="矩形 14">
            <a:extLst>
              <a:ext uri="{FF2B5EF4-FFF2-40B4-BE49-F238E27FC236}">
                <a16:creationId xmlns:a16="http://schemas.microsoft.com/office/drawing/2014/main" id="{3D009DDE-2A65-42B4-956C-7C12D5C4B625}"/>
              </a:ext>
            </a:extLst>
          </p:cNvPr>
          <p:cNvSpPr/>
          <p:nvPr/>
        </p:nvSpPr>
        <p:spPr>
          <a:xfrm>
            <a:off x="2358655" y="2185840"/>
            <a:ext cx="1641869" cy="366895"/>
          </a:xfrm>
          <a:prstGeom prst="rect">
            <a:avLst/>
          </a:prstGeom>
          <a:solidFill>
            <a:schemeClr val="accent3">
              <a:lumMod val="20000"/>
              <a:lumOff val="80000"/>
            </a:schemeClr>
          </a:solidFill>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sz="1050" b="1" dirty="0">
                <a:latin typeface="+mn-ea"/>
              </a:rPr>
              <a:t>MRD</a:t>
            </a:r>
            <a:endParaRPr lang="zh-CN" altLang="en-US" sz="1050" b="1" dirty="0">
              <a:latin typeface="+mn-ea"/>
            </a:endParaRPr>
          </a:p>
        </p:txBody>
      </p:sp>
      <p:sp>
        <p:nvSpPr>
          <p:cNvPr id="17" name="矩形 16">
            <a:extLst>
              <a:ext uri="{FF2B5EF4-FFF2-40B4-BE49-F238E27FC236}">
                <a16:creationId xmlns:a16="http://schemas.microsoft.com/office/drawing/2014/main" id="{4136CD25-6201-1933-3114-620A28007376}"/>
              </a:ext>
            </a:extLst>
          </p:cNvPr>
          <p:cNvSpPr/>
          <p:nvPr/>
        </p:nvSpPr>
        <p:spPr>
          <a:xfrm>
            <a:off x="2358655" y="2758914"/>
            <a:ext cx="1641871" cy="366895"/>
          </a:xfrm>
          <a:prstGeom prst="rect">
            <a:avLst/>
          </a:prstGeom>
          <a:solidFill>
            <a:schemeClr val="accent3">
              <a:lumMod val="20000"/>
              <a:lumOff val="80000"/>
            </a:schemeClr>
          </a:solidFill>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050" b="1" dirty="0">
                <a:latin typeface="+mn-ea"/>
              </a:rPr>
              <a:t>申请项目团队资源</a:t>
            </a:r>
          </a:p>
        </p:txBody>
      </p:sp>
      <p:sp>
        <p:nvSpPr>
          <p:cNvPr id="19" name="矩形 18">
            <a:extLst>
              <a:ext uri="{FF2B5EF4-FFF2-40B4-BE49-F238E27FC236}">
                <a16:creationId xmlns:a16="http://schemas.microsoft.com/office/drawing/2014/main" id="{1E8A71C6-3D38-B95B-C7D9-666089A77D7B}"/>
              </a:ext>
            </a:extLst>
          </p:cNvPr>
          <p:cNvSpPr/>
          <p:nvPr/>
        </p:nvSpPr>
        <p:spPr>
          <a:xfrm>
            <a:off x="4530713" y="3898263"/>
            <a:ext cx="2130174" cy="366895"/>
          </a:xfrm>
          <a:prstGeom prst="rect">
            <a:avLst/>
          </a:prstGeom>
          <a:solidFill>
            <a:schemeClr val="accent5">
              <a:lumMod val="20000"/>
              <a:lumOff val="80000"/>
            </a:schemeClr>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050" b="1" dirty="0"/>
              <a:t>《</a:t>
            </a:r>
            <a:r>
              <a:rPr lang="zh-CN" altLang="en-US" sz="1050" b="1" dirty="0"/>
              <a:t>硬件产品需求规格书</a:t>
            </a:r>
            <a:r>
              <a:rPr lang="en-US" altLang="zh-CN" sz="1050" b="1" dirty="0"/>
              <a:t>》</a:t>
            </a:r>
            <a:endParaRPr lang="zh-CN" altLang="en-US" sz="1050" b="1" dirty="0"/>
          </a:p>
        </p:txBody>
      </p:sp>
      <p:sp>
        <p:nvSpPr>
          <p:cNvPr id="64" name="文本框 63">
            <a:extLst>
              <a:ext uri="{FF2B5EF4-FFF2-40B4-BE49-F238E27FC236}">
                <a16:creationId xmlns:a16="http://schemas.microsoft.com/office/drawing/2014/main" id="{5E076952-1561-452D-6E57-693B0111C585}"/>
              </a:ext>
            </a:extLst>
          </p:cNvPr>
          <p:cNvSpPr txBox="1"/>
          <p:nvPr/>
        </p:nvSpPr>
        <p:spPr>
          <a:xfrm>
            <a:off x="9801103" y="2055405"/>
            <a:ext cx="1826799" cy="851515"/>
          </a:xfrm>
          <a:prstGeom prst="rect">
            <a:avLst/>
          </a:prstGeom>
          <a:noFill/>
          <a:ln>
            <a:solidFill>
              <a:schemeClr val="accent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20000"/>
              </a:lnSpc>
            </a:pPr>
            <a:r>
              <a:rPr lang="en-US" altLang="zh-CN" sz="1050" dirty="0">
                <a:solidFill>
                  <a:schemeClr val="tx1">
                    <a:lumMod val="75000"/>
                    <a:lumOff val="25000"/>
                  </a:schemeClr>
                </a:solidFill>
                <a:latin typeface="+mn-ea"/>
              </a:rPr>
              <a:t>PMO</a:t>
            </a:r>
            <a:r>
              <a:rPr lang="zh-CN" altLang="en-US" sz="1050" dirty="0" smtClean="0">
                <a:solidFill>
                  <a:schemeClr val="tx1">
                    <a:lumMod val="75000"/>
                    <a:lumOff val="25000"/>
                  </a:schemeClr>
                </a:solidFill>
                <a:latin typeface="+mn-ea"/>
              </a:rPr>
              <a:t>：</a:t>
            </a:r>
            <a:endParaRPr lang="en-US" altLang="zh-CN" sz="105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en-US" altLang="zh-CN" sz="1050" dirty="0" smtClean="0">
                <a:solidFill>
                  <a:schemeClr val="tx1">
                    <a:lumMod val="75000"/>
                    <a:lumOff val="25000"/>
                  </a:schemeClr>
                </a:solidFill>
                <a:latin typeface="+mn-ea"/>
              </a:rPr>
              <a:t>《</a:t>
            </a:r>
            <a:r>
              <a:rPr lang="zh-CN" altLang="en-US" sz="1050" dirty="0">
                <a:solidFill>
                  <a:schemeClr val="tx1">
                    <a:lumMod val="75000"/>
                    <a:lumOff val="25000"/>
                  </a:schemeClr>
                </a:solidFill>
                <a:latin typeface="+mn-ea"/>
              </a:rPr>
              <a:t>立项评审报告</a:t>
            </a:r>
            <a:r>
              <a:rPr lang="en-US" altLang="zh-CN" sz="1050" dirty="0" smtClean="0">
                <a:solidFill>
                  <a:schemeClr val="tx1">
                    <a:lumMod val="75000"/>
                    <a:lumOff val="25000"/>
                  </a:schemeClr>
                </a:solidFill>
                <a:latin typeface="+mn-ea"/>
              </a:rPr>
              <a:t>》</a:t>
            </a:r>
            <a:r>
              <a:rPr lang="zh-CN" altLang="en-US" sz="1050" dirty="0" smtClean="0">
                <a:solidFill>
                  <a:schemeClr val="tx1">
                    <a:lumMod val="75000"/>
                    <a:lumOff val="25000"/>
                  </a:schemeClr>
                </a:solidFill>
                <a:latin typeface="+mn-ea"/>
              </a:rPr>
              <a:t>预审</a:t>
            </a:r>
            <a:endParaRPr lang="en-US" altLang="zh-CN" sz="105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dirty="0" smtClean="0">
                <a:solidFill>
                  <a:schemeClr val="tx1">
                    <a:lumMod val="75000"/>
                    <a:lumOff val="25000"/>
                  </a:schemeClr>
                </a:solidFill>
                <a:latin typeface="+mn-ea"/>
              </a:rPr>
              <a:t>安排立项评审评审会议（</a:t>
            </a:r>
            <a:r>
              <a:rPr lang="en-US" altLang="zh-CN" sz="1050" dirty="0" smtClean="0">
                <a:solidFill>
                  <a:schemeClr val="tx1">
                    <a:lumMod val="75000"/>
                    <a:lumOff val="25000"/>
                  </a:schemeClr>
                </a:solidFill>
                <a:latin typeface="+mn-ea"/>
              </a:rPr>
              <a:t>A&amp;B</a:t>
            </a:r>
            <a:r>
              <a:rPr lang="zh-CN" altLang="en-US" sz="1050" dirty="0" smtClean="0">
                <a:solidFill>
                  <a:schemeClr val="tx1">
                    <a:lumMod val="75000"/>
                    <a:lumOff val="25000"/>
                  </a:schemeClr>
                </a:solidFill>
                <a:latin typeface="+mn-ea"/>
              </a:rPr>
              <a:t>类）</a:t>
            </a:r>
            <a:endParaRPr lang="zh-CN" altLang="en-US" sz="1050" dirty="0">
              <a:solidFill>
                <a:schemeClr val="tx1">
                  <a:lumMod val="75000"/>
                  <a:lumOff val="25000"/>
                </a:schemeClr>
              </a:solidFill>
              <a:latin typeface="+mn-ea"/>
            </a:endParaRPr>
          </a:p>
        </p:txBody>
      </p:sp>
      <p:sp>
        <p:nvSpPr>
          <p:cNvPr id="72" name="文本框 71">
            <a:extLst>
              <a:ext uri="{FF2B5EF4-FFF2-40B4-BE49-F238E27FC236}">
                <a16:creationId xmlns:a16="http://schemas.microsoft.com/office/drawing/2014/main" id="{4E56CF16-D2C8-D3E4-AAA8-A6E2B3BC3965}"/>
              </a:ext>
            </a:extLst>
          </p:cNvPr>
          <p:cNvSpPr txBox="1"/>
          <p:nvPr/>
        </p:nvSpPr>
        <p:spPr>
          <a:xfrm>
            <a:off x="7104053" y="2465908"/>
            <a:ext cx="1826799" cy="278281"/>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pPr algn="ctr">
              <a:lnSpc>
                <a:spcPct val="120000"/>
              </a:lnSpc>
            </a:pPr>
            <a:r>
              <a:rPr lang="en-US" altLang="zh-CN" sz="1050" b="1" dirty="0">
                <a:solidFill>
                  <a:schemeClr val="tx1">
                    <a:lumMod val="75000"/>
                    <a:lumOff val="25000"/>
                  </a:schemeClr>
                </a:solidFill>
                <a:latin typeface="+mn-ea"/>
              </a:rPr>
              <a:t>《</a:t>
            </a:r>
            <a:r>
              <a:rPr lang="zh-CN" altLang="en-US" sz="1050" b="1" dirty="0">
                <a:solidFill>
                  <a:schemeClr val="tx1">
                    <a:lumMod val="75000"/>
                    <a:lumOff val="25000"/>
                  </a:schemeClr>
                </a:solidFill>
                <a:latin typeface="+mn-ea"/>
              </a:rPr>
              <a:t>立项建议书</a:t>
            </a:r>
            <a:r>
              <a:rPr lang="en-US" altLang="zh-CN" sz="1050" b="1" dirty="0">
                <a:solidFill>
                  <a:schemeClr val="tx1">
                    <a:lumMod val="75000"/>
                    <a:lumOff val="25000"/>
                  </a:schemeClr>
                </a:solidFill>
                <a:latin typeface="+mn-ea"/>
              </a:rPr>
              <a:t>》</a:t>
            </a:r>
          </a:p>
        </p:txBody>
      </p:sp>
      <p:sp>
        <p:nvSpPr>
          <p:cNvPr id="74" name="矩形 73">
            <a:extLst>
              <a:ext uri="{FF2B5EF4-FFF2-40B4-BE49-F238E27FC236}">
                <a16:creationId xmlns:a16="http://schemas.microsoft.com/office/drawing/2014/main" id="{9E0FBB24-B6C0-CC5B-5481-62E9114340DB}"/>
              </a:ext>
            </a:extLst>
          </p:cNvPr>
          <p:cNvSpPr/>
          <p:nvPr/>
        </p:nvSpPr>
        <p:spPr>
          <a:xfrm>
            <a:off x="2185189" y="1086350"/>
            <a:ext cx="2180165"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L1 </a:t>
            </a:r>
            <a:r>
              <a:rPr lang="zh-CN" altLang="en-US" sz="1600" dirty="0"/>
              <a:t>预研</a:t>
            </a:r>
          </a:p>
        </p:txBody>
      </p:sp>
      <p:sp>
        <p:nvSpPr>
          <p:cNvPr id="75" name="矩形 74">
            <a:extLst>
              <a:ext uri="{FF2B5EF4-FFF2-40B4-BE49-F238E27FC236}">
                <a16:creationId xmlns:a16="http://schemas.microsoft.com/office/drawing/2014/main" id="{929C4B9B-B6ED-F806-F58F-F796E2350983}"/>
              </a:ext>
            </a:extLst>
          </p:cNvPr>
          <p:cNvSpPr/>
          <p:nvPr/>
        </p:nvSpPr>
        <p:spPr>
          <a:xfrm>
            <a:off x="4287428" y="1086350"/>
            <a:ext cx="2764910"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L2 </a:t>
            </a:r>
            <a:r>
              <a:rPr lang="zh-CN" altLang="en-US" sz="1600" dirty="0"/>
              <a:t>详细需求</a:t>
            </a:r>
          </a:p>
        </p:txBody>
      </p:sp>
      <p:sp>
        <p:nvSpPr>
          <p:cNvPr id="76" name="矩形 75">
            <a:extLst>
              <a:ext uri="{FF2B5EF4-FFF2-40B4-BE49-F238E27FC236}">
                <a16:creationId xmlns:a16="http://schemas.microsoft.com/office/drawing/2014/main" id="{6EC39705-2867-0AE7-181B-C8963D319017}"/>
              </a:ext>
            </a:extLst>
          </p:cNvPr>
          <p:cNvSpPr/>
          <p:nvPr/>
        </p:nvSpPr>
        <p:spPr>
          <a:xfrm>
            <a:off x="6953510" y="1086350"/>
            <a:ext cx="2455822"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L3 </a:t>
            </a:r>
            <a:r>
              <a:rPr lang="zh-CN" altLang="en-US" sz="1600" dirty="0"/>
              <a:t>立项筹备</a:t>
            </a:r>
          </a:p>
        </p:txBody>
      </p:sp>
      <p:sp>
        <p:nvSpPr>
          <p:cNvPr id="42" name="文本框 41">
            <a:extLst>
              <a:ext uri="{FF2B5EF4-FFF2-40B4-BE49-F238E27FC236}">
                <a16:creationId xmlns:a16="http://schemas.microsoft.com/office/drawing/2014/main" id="{96295807-7FB2-B8D5-612D-48C6FE808E2D}"/>
              </a:ext>
            </a:extLst>
          </p:cNvPr>
          <p:cNvSpPr txBox="1"/>
          <p:nvPr/>
        </p:nvSpPr>
        <p:spPr>
          <a:xfrm>
            <a:off x="8448962" y="780720"/>
            <a:ext cx="1851602" cy="278281"/>
          </a:xfrm>
          <a:prstGeom prst="rect">
            <a:avLst/>
          </a:prstGeom>
          <a:noFill/>
        </p:spPr>
        <p:txBody>
          <a:bodyPr wrap="square" rtlCol="0">
            <a:spAutoFit/>
          </a:bodyPr>
          <a:lstStyle/>
          <a:p>
            <a:pPr>
              <a:lnSpc>
                <a:spcPct val="120000"/>
              </a:lnSpc>
            </a:pPr>
            <a:r>
              <a:rPr lang="en-US" altLang="zh-CN" sz="1050" b="1" dirty="0">
                <a:solidFill>
                  <a:schemeClr val="tx1">
                    <a:lumMod val="75000"/>
                    <a:lumOff val="25000"/>
                  </a:schemeClr>
                </a:solidFill>
                <a:latin typeface="+mn-ea"/>
              </a:rPr>
              <a:t>DCP1</a:t>
            </a:r>
            <a:r>
              <a:rPr lang="zh-CN" altLang="en-US" sz="1050" b="1" dirty="0">
                <a:solidFill>
                  <a:schemeClr val="tx1">
                    <a:lumMod val="75000"/>
                    <a:lumOff val="25000"/>
                  </a:schemeClr>
                </a:solidFill>
                <a:latin typeface="+mn-ea"/>
              </a:rPr>
              <a:t>立项决策评审</a:t>
            </a:r>
          </a:p>
        </p:txBody>
      </p:sp>
      <p:cxnSp>
        <p:nvCxnSpPr>
          <p:cNvPr id="79" name="连接符: 肘形 78">
            <a:extLst>
              <a:ext uri="{FF2B5EF4-FFF2-40B4-BE49-F238E27FC236}">
                <a16:creationId xmlns:a16="http://schemas.microsoft.com/office/drawing/2014/main" id="{617B84AE-9353-3E0E-3CD0-A9492F75CE3C}"/>
              </a:ext>
            </a:extLst>
          </p:cNvPr>
          <p:cNvCxnSpPr>
            <a:stCxn id="15" idx="3"/>
            <a:endCxn id="19" idx="1"/>
          </p:cNvCxnSpPr>
          <p:nvPr/>
        </p:nvCxnSpPr>
        <p:spPr>
          <a:xfrm>
            <a:off x="4000524" y="2369288"/>
            <a:ext cx="530189" cy="17124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连接符: 肘形 80">
            <a:extLst>
              <a:ext uri="{FF2B5EF4-FFF2-40B4-BE49-F238E27FC236}">
                <a16:creationId xmlns:a16="http://schemas.microsoft.com/office/drawing/2014/main" id="{444A32E9-1DD6-300F-10FB-152FA7492A86}"/>
              </a:ext>
            </a:extLst>
          </p:cNvPr>
          <p:cNvCxnSpPr>
            <a:stCxn id="15" idx="3"/>
          </p:cNvCxnSpPr>
          <p:nvPr/>
        </p:nvCxnSpPr>
        <p:spPr>
          <a:xfrm>
            <a:off x="4000524" y="2369288"/>
            <a:ext cx="3121098" cy="856211"/>
          </a:xfrm>
          <a:prstGeom prst="bentConnector3">
            <a:avLst>
              <a:gd name="adj1" fmla="val 9261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4CC90744-8117-C143-F287-A5470F7DBA09}"/>
              </a:ext>
            </a:extLst>
          </p:cNvPr>
          <p:cNvCxnSpPr>
            <a:cxnSpLocks/>
          </p:cNvCxnSpPr>
          <p:nvPr/>
        </p:nvCxnSpPr>
        <p:spPr>
          <a:xfrm>
            <a:off x="6891255" y="3225499"/>
            <a:ext cx="0" cy="2806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C3026DF8-CF32-B543-10F3-850AB264B542}"/>
              </a:ext>
            </a:extLst>
          </p:cNvPr>
          <p:cNvCxnSpPr>
            <a:cxnSpLocks/>
            <a:stCxn id="37" idx="3"/>
          </p:cNvCxnSpPr>
          <p:nvPr/>
        </p:nvCxnSpPr>
        <p:spPr>
          <a:xfrm>
            <a:off x="6649683" y="5091335"/>
            <a:ext cx="241572" cy="2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05B0AE58-D072-E5A4-B3E1-B97B49D527EB}"/>
              </a:ext>
            </a:extLst>
          </p:cNvPr>
          <p:cNvCxnSpPr>
            <a:cxnSpLocks/>
            <a:stCxn id="33" idx="3"/>
          </p:cNvCxnSpPr>
          <p:nvPr/>
        </p:nvCxnSpPr>
        <p:spPr>
          <a:xfrm>
            <a:off x="6649682" y="6007113"/>
            <a:ext cx="241573" cy="25327"/>
          </a:xfrm>
          <a:prstGeom prst="line">
            <a:avLst/>
          </a:prstGeom>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64ACAEF9-1B75-04A9-B840-E2470A368360}"/>
              </a:ext>
            </a:extLst>
          </p:cNvPr>
          <p:cNvSpPr/>
          <p:nvPr/>
        </p:nvSpPr>
        <p:spPr>
          <a:xfrm>
            <a:off x="10598412" y="605272"/>
            <a:ext cx="1197032" cy="4096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chemeClr val="tx1"/>
                </a:solidFill>
              </a:rPr>
              <a:t>输出</a:t>
            </a:r>
          </a:p>
        </p:txBody>
      </p:sp>
      <p:sp>
        <p:nvSpPr>
          <p:cNvPr id="93" name="矩形 92">
            <a:extLst>
              <a:ext uri="{FF2B5EF4-FFF2-40B4-BE49-F238E27FC236}">
                <a16:creationId xmlns:a16="http://schemas.microsoft.com/office/drawing/2014/main" id="{69DDEF00-3F1D-1D43-3AEE-FA5B199EF487}"/>
              </a:ext>
            </a:extLst>
          </p:cNvPr>
          <p:cNvSpPr/>
          <p:nvPr/>
        </p:nvSpPr>
        <p:spPr>
          <a:xfrm>
            <a:off x="10598412" y="103315"/>
            <a:ext cx="1197032" cy="409667"/>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输入</a:t>
            </a:r>
          </a:p>
        </p:txBody>
      </p:sp>
      <p:sp>
        <p:nvSpPr>
          <p:cNvPr id="94" name="文本框 93">
            <a:extLst>
              <a:ext uri="{FF2B5EF4-FFF2-40B4-BE49-F238E27FC236}">
                <a16:creationId xmlns:a16="http://schemas.microsoft.com/office/drawing/2014/main" id="{2353B218-4624-3C39-5045-69605D40C134}"/>
              </a:ext>
            </a:extLst>
          </p:cNvPr>
          <p:cNvSpPr txBox="1"/>
          <p:nvPr/>
        </p:nvSpPr>
        <p:spPr>
          <a:xfrm>
            <a:off x="737656" y="1796395"/>
            <a:ext cx="1051502" cy="298287"/>
          </a:xfrm>
          <a:prstGeom prst="rect">
            <a:avLst/>
          </a:prstGeom>
          <a:noFill/>
        </p:spPr>
        <p:txBody>
          <a:bodyPr wrap="square" rtlCol="0">
            <a:spAutoFit/>
          </a:bodyPr>
          <a:lstStyle/>
          <a:p>
            <a:pPr algn="ctr">
              <a:lnSpc>
                <a:spcPct val="120000"/>
              </a:lnSpc>
            </a:pPr>
            <a:r>
              <a:rPr lang="zh-CN" altLang="en-US" sz="1200" b="1" dirty="0">
                <a:solidFill>
                  <a:schemeClr val="tx1">
                    <a:lumMod val="75000"/>
                    <a:lumOff val="25000"/>
                  </a:schemeClr>
                </a:solidFill>
              </a:rPr>
              <a:t>责任人</a:t>
            </a:r>
          </a:p>
        </p:txBody>
      </p:sp>
      <p:sp>
        <p:nvSpPr>
          <p:cNvPr id="112" name="文本框 111">
            <a:extLst>
              <a:ext uri="{FF2B5EF4-FFF2-40B4-BE49-F238E27FC236}">
                <a16:creationId xmlns:a16="http://schemas.microsoft.com/office/drawing/2014/main" id="{A6D696B5-4F30-E080-33BA-240A65C562BC}"/>
              </a:ext>
            </a:extLst>
          </p:cNvPr>
          <p:cNvSpPr txBox="1"/>
          <p:nvPr/>
        </p:nvSpPr>
        <p:spPr>
          <a:xfrm>
            <a:off x="8404786" y="4547701"/>
            <a:ext cx="1173202" cy="281167"/>
          </a:xfrm>
          <a:prstGeom prst="rect">
            <a:avLst/>
          </a:prstGeom>
          <a:noFill/>
        </p:spPr>
        <p:txBody>
          <a:bodyPr wrap="square" rtlCol="0">
            <a:spAutoFit/>
          </a:bodyPr>
          <a:lstStyle/>
          <a:p>
            <a:pPr algn="ctr">
              <a:lnSpc>
                <a:spcPct val="120000"/>
              </a:lnSpc>
            </a:pPr>
            <a:r>
              <a:rPr lang="zh-CN" altLang="en-US" sz="1050" b="1" dirty="0">
                <a:solidFill>
                  <a:schemeClr val="tx1">
                    <a:lumMod val="75000"/>
                    <a:lumOff val="25000"/>
                  </a:schemeClr>
                </a:solidFill>
              </a:rPr>
              <a:t>项目团队</a:t>
            </a:r>
          </a:p>
        </p:txBody>
      </p:sp>
      <p:graphicFrame>
        <p:nvGraphicFramePr>
          <p:cNvPr id="117" name="表格 117">
            <a:extLst>
              <a:ext uri="{FF2B5EF4-FFF2-40B4-BE49-F238E27FC236}">
                <a16:creationId xmlns:a16="http://schemas.microsoft.com/office/drawing/2014/main" id="{4E885BE3-9208-AE69-8F50-668C71AE04D9}"/>
              </a:ext>
            </a:extLst>
          </p:cNvPr>
          <p:cNvGraphicFramePr>
            <a:graphicFrameLocks noGrp="1"/>
          </p:cNvGraphicFramePr>
          <p:nvPr>
            <p:extLst>
              <p:ext uri="{D42A27DB-BD31-4B8C-83A1-F6EECF244321}">
                <p14:modId xmlns:p14="http://schemas.microsoft.com/office/powerpoint/2010/main" val="277216683"/>
              </p:ext>
            </p:extLst>
          </p:nvPr>
        </p:nvGraphicFramePr>
        <p:xfrm>
          <a:off x="7274383" y="5042064"/>
          <a:ext cx="4505660" cy="1523605"/>
        </p:xfrm>
        <a:graphic>
          <a:graphicData uri="http://schemas.openxmlformats.org/drawingml/2006/table">
            <a:tbl>
              <a:tblPr firstRow="1" bandRow="1">
                <a:tableStyleId>{5C22544A-7EE6-4342-B048-85BDC9FD1C3A}</a:tableStyleId>
              </a:tblPr>
              <a:tblGrid>
                <a:gridCol w="1222449">
                  <a:extLst>
                    <a:ext uri="{9D8B030D-6E8A-4147-A177-3AD203B41FA5}">
                      <a16:colId xmlns:a16="http://schemas.microsoft.com/office/drawing/2014/main" val="1591636557"/>
                    </a:ext>
                  </a:extLst>
                </a:gridCol>
                <a:gridCol w="1030381">
                  <a:extLst>
                    <a:ext uri="{9D8B030D-6E8A-4147-A177-3AD203B41FA5}">
                      <a16:colId xmlns:a16="http://schemas.microsoft.com/office/drawing/2014/main" val="3842645130"/>
                    </a:ext>
                  </a:extLst>
                </a:gridCol>
                <a:gridCol w="1204466">
                  <a:extLst>
                    <a:ext uri="{9D8B030D-6E8A-4147-A177-3AD203B41FA5}">
                      <a16:colId xmlns:a16="http://schemas.microsoft.com/office/drawing/2014/main" val="3278899037"/>
                    </a:ext>
                  </a:extLst>
                </a:gridCol>
                <a:gridCol w="1048364">
                  <a:extLst>
                    <a:ext uri="{9D8B030D-6E8A-4147-A177-3AD203B41FA5}">
                      <a16:colId xmlns:a16="http://schemas.microsoft.com/office/drawing/2014/main" val="636045333"/>
                    </a:ext>
                  </a:extLst>
                </a:gridCol>
              </a:tblGrid>
              <a:tr h="304721">
                <a:tc>
                  <a:txBody>
                    <a:bodyPr/>
                    <a:lstStyle/>
                    <a:p>
                      <a:pPr algn="ctr"/>
                      <a:r>
                        <a:rPr lang="zh-CN" altLang="en-US" sz="1050" b="0" dirty="0">
                          <a:solidFill>
                            <a:schemeClr val="tx1"/>
                          </a:solidFill>
                          <a:latin typeface="+mn-ea"/>
                          <a:ea typeface="+mn-ea"/>
                        </a:rPr>
                        <a:t>产品经理</a:t>
                      </a:r>
                      <a:r>
                        <a:rPr lang="en-US" altLang="zh-CN" sz="1050" b="0" dirty="0">
                          <a:solidFill>
                            <a:schemeClr val="tx1"/>
                          </a:solidFill>
                          <a:latin typeface="+mn-ea"/>
                          <a:ea typeface="+mn-ea"/>
                        </a:rPr>
                        <a:t>B</a:t>
                      </a:r>
                      <a:endParaRPr lang="zh-CN" altLang="en-US" sz="1050" b="0" dirty="0">
                        <a:solidFill>
                          <a:schemeClr val="tx1"/>
                        </a:solidFill>
                        <a:latin typeface="+mn-ea"/>
                        <a:ea typeface="+mn-ea"/>
                      </a:endParaRPr>
                    </a:p>
                  </a:txBody>
                  <a:tcPr>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zh-CN" altLang="en-US" sz="1050" b="0" dirty="0">
                          <a:solidFill>
                            <a:schemeClr val="tx1"/>
                          </a:solidFill>
                          <a:latin typeface="+mn-ea"/>
                          <a:ea typeface="+mn-ea"/>
                        </a:rPr>
                        <a:t>架构师</a:t>
                      </a:r>
                    </a:p>
                  </a:txBody>
                  <a:tcPr>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zh-CN" altLang="en-US" sz="1050" b="0" dirty="0">
                          <a:solidFill>
                            <a:schemeClr val="tx1"/>
                          </a:solidFill>
                          <a:latin typeface="+mn-ea"/>
                          <a:ea typeface="+mn-ea"/>
                        </a:rPr>
                        <a:t>项目经理</a:t>
                      </a:r>
                    </a:p>
                  </a:txBody>
                  <a:tcPr>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zh-CN" altLang="en-US" sz="1050" b="0" dirty="0">
                          <a:solidFill>
                            <a:schemeClr val="tx1"/>
                          </a:solidFill>
                          <a:latin typeface="+mn-ea"/>
                          <a:ea typeface="+mn-ea"/>
                        </a:rPr>
                        <a:t>开发经理</a:t>
                      </a:r>
                    </a:p>
                  </a:txBody>
                  <a:tcPr>
                    <a:lnB w="12700" cap="flat" cmpd="sng" algn="ctr">
                      <a:solidFill>
                        <a:schemeClr val="bg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92929108"/>
                  </a:ext>
                </a:extLst>
              </a:tr>
              <a:tr h="304721">
                <a:tc>
                  <a:txBody>
                    <a:bodyPr/>
                    <a:lstStyle/>
                    <a:p>
                      <a:pPr algn="ctr"/>
                      <a:r>
                        <a:rPr lang="zh-CN" altLang="en-US" sz="1050" b="0" dirty="0">
                          <a:solidFill>
                            <a:schemeClr val="tx1"/>
                          </a:solidFill>
                          <a:latin typeface="+mn-ea"/>
                          <a:ea typeface="+mn-ea"/>
                        </a:rPr>
                        <a:t>硬件工程师</a:t>
                      </a:r>
                    </a:p>
                  </a:txBody>
                  <a:tcPr>
                    <a:lnT w="12700" cap="flat" cmpd="sng" algn="ctr">
                      <a:solidFill>
                        <a:schemeClr val="bg1"/>
                      </a:solidFill>
                      <a:prstDash val="solid"/>
                      <a:round/>
                      <a:headEnd type="none" w="med" len="med"/>
                      <a:tailEnd type="none" w="med" len="med"/>
                    </a:lnT>
                    <a:solidFill>
                      <a:schemeClr val="accent5">
                        <a:lumMod val="40000"/>
                        <a:lumOff val="60000"/>
                      </a:schemeClr>
                    </a:solidFill>
                  </a:tcPr>
                </a:tc>
                <a:tc>
                  <a:txBody>
                    <a:bodyPr/>
                    <a:lstStyle/>
                    <a:p>
                      <a:pPr algn="ctr"/>
                      <a:r>
                        <a:rPr lang="zh-CN" altLang="en-US" sz="1050" b="0" dirty="0">
                          <a:solidFill>
                            <a:schemeClr val="tx1"/>
                          </a:solidFill>
                          <a:latin typeface="+mn-ea"/>
                          <a:ea typeface="+mn-ea"/>
                        </a:rPr>
                        <a:t>机构工程师</a:t>
                      </a:r>
                    </a:p>
                  </a:txBody>
                  <a:tcPr>
                    <a:lnT w="12700" cap="flat" cmpd="sng" algn="ctr">
                      <a:solidFill>
                        <a:schemeClr val="bg1"/>
                      </a:solidFill>
                      <a:prstDash val="solid"/>
                      <a:round/>
                      <a:headEnd type="none" w="med" len="med"/>
                      <a:tailEnd type="none" w="med" len="med"/>
                    </a:lnT>
                    <a:solidFill>
                      <a:schemeClr val="accent5">
                        <a:lumMod val="40000"/>
                        <a:lumOff val="60000"/>
                      </a:schemeClr>
                    </a:solidFill>
                  </a:tcPr>
                </a:tc>
                <a:tc>
                  <a:txBody>
                    <a:bodyPr/>
                    <a:lstStyle/>
                    <a:p>
                      <a:pPr algn="ctr"/>
                      <a:r>
                        <a:rPr lang="en-US" altLang="zh-CN" sz="1050" b="0" dirty="0">
                          <a:solidFill>
                            <a:schemeClr val="tx1"/>
                          </a:solidFill>
                          <a:latin typeface="+mn-ea"/>
                          <a:ea typeface="+mn-ea"/>
                        </a:rPr>
                        <a:t>SI</a:t>
                      </a:r>
                      <a:r>
                        <a:rPr lang="zh-CN" altLang="en-US" sz="1050" b="0" dirty="0">
                          <a:solidFill>
                            <a:schemeClr val="tx1"/>
                          </a:solidFill>
                          <a:latin typeface="+mn-ea"/>
                          <a:ea typeface="+mn-ea"/>
                        </a:rPr>
                        <a:t>工程师</a:t>
                      </a:r>
                    </a:p>
                  </a:txBody>
                  <a:tcPr>
                    <a:lnT w="12700" cap="flat" cmpd="sng" algn="ctr">
                      <a:solidFill>
                        <a:schemeClr val="bg1"/>
                      </a:solidFill>
                      <a:prstDash val="solid"/>
                      <a:round/>
                      <a:headEnd type="none" w="med" len="med"/>
                      <a:tailEnd type="none" w="med" len="med"/>
                    </a:lnT>
                    <a:solidFill>
                      <a:schemeClr val="accent5">
                        <a:lumMod val="40000"/>
                        <a:lumOff val="60000"/>
                      </a:schemeClr>
                    </a:solidFill>
                  </a:tcPr>
                </a:tc>
                <a:tc>
                  <a:txBody>
                    <a:bodyPr/>
                    <a:lstStyle/>
                    <a:p>
                      <a:pPr algn="ctr"/>
                      <a:r>
                        <a:rPr lang="zh-CN" altLang="en-US" sz="1050" b="0" dirty="0">
                          <a:solidFill>
                            <a:schemeClr val="tx1"/>
                          </a:solidFill>
                          <a:latin typeface="+mn-ea"/>
                          <a:ea typeface="+mn-ea"/>
                        </a:rPr>
                        <a:t>市场代表</a:t>
                      </a:r>
                    </a:p>
                  </a:txBody>
                  <a:tcPr>
                    <a:lnT w="12700" cap="flat" cmpd="sng" algn="ctr">
                      <a:solidFill>
                        <a:schemeClr val="bg1"/>
                      </a:solidFill>
                      <a:prstDash val="solid"/>
                      <a:round/>
                      <a:headEnd type="none" w="med" len="med"/>
                      <a:tailEnd type="none" w="med" len="med"/>
                    </a:lnT>
                    <a:solidFill>
                      <a:schemeClr val="accent5">
                        <a:lumMod val="40000"/>
                        <a:lumOff val="60000"/>
                      </a:schemeClr>
                    </a:solidFill>
                  </a:tcPr>
                </a:tc>
                <a:extLst>
                  <a:ext uri="{0D108BD9-81ED-4DB2-BD59-A6C34878D82A}">
                    <a16:rowId xmlns:a16="http://schemas.microsoft.com/office/drawing/2014/main" val="3453629449"/>
                  </a:ext>
                </a:extLst>
              </a:tr>
              <a:tr h="304721">
                <a:tc>
                  <a:txBody>
                    <a:bodyPr/>
                    <a:lstStyle/>
                    <a:p>
                      <a:pPr algn="ctr"/>
                      <a:r>
                        <a:rPr lang="en-US" altLang="zh-CN" sz="1050" b="0" dirty="0">
                          <a:solidFill>
                            <a:schemeClr val="tx1"/>
                          </a:solidFill>
                          <a:latin typeface="+mn-ea"/>
                          <a:ea typeface="+mn-ea"/>
                        </a:rPr>
                        <a:t>Layout</a:t>
                      </a:r>
                      <a:r>
                        <a:rPr lang="zh-CN" altLang="en-US" sz="1050" b="0" dirty="0">
                          <a:solidFill>
                            <a:schemeClr val="tx1"/>
                          </a:solidFill>
                          <a:latin typeface="+mn-ea"/>
                          <a:ea typeface="+mn-ea"/>
                        </a:rPr>
                        <a:t>工程师</a:t>
                      </a:r>
                    </a:p>
                  </a:txBody>
                  <a:tcPr>
                    <a:solidFill>
                      <a:schemeClr val="accent5">
                        <a:lumMod val="40000"/>
                        <a:lumOff val="60000"/>
                      </a:schemeClr>
                    </a:solidFill>
                  </a:tcPr>
                </a:tc>
                <a:tc>
                  <a:txBody>
                    <a:bodyPr/>
                    <a:lstStyle/>
                    <a:p>
                      <a:pPr algn="ctr"/>
                      <a:r>
                        <a:rPr lang="zh-CN" altLang="en-US" sz="1050" b="0" dirty="0">
                          <a:solidFill>
                            <a:schemeClr val="tx1"/>
                          </a:solidFill>
                          <a:latin typeface="+mn-ea"/>
                          <a:ea typeface="+mn-ea"/>
                        </a:rPr>
                        <a:t>电源工程师</a:t>
                      </a:r>
                    </a:p>
                  </a:txBody>
                  <a:tcPr>
                    <a:solidFill>
                      <a:schemeClr val="accent5">
                        <a:lumMod val="40000"/>
                        <a:lumOff val="60000"/>
                      </a:schemeClr>
                    </a:solidFill>
                  </a:tcPr>
                </a:tc>
                <a:tc>
                  <a:txBody>
                    <a:bodyPr/>
                    <a:lstStyle/>
                    <a:p>
                      <a:pPr algn="ctr"/>
                      <a:r>
                        <a:rPr lang="zh-CN" altLang="en-US" sz="1050" b="0" dirty="0">
                          <a:solidFill>
                            <a:schemeClr val="tx1"/>
                          </a:solidFill>
                          <a:latin typeface="+mn-ea"/>
                          <a:ea typeface="+mn-ea"/>
                        </a:rPr>
                        <a:t>散热工程师</a:t>
                      </a:r>
                    </a:p>
                  </a:txBody>
                  <a:tcPr>
                    <a:solidFill>
                      <a:schemeClr val="accent5">
                        <a:lumMod val="40000"/>
                        <a:lumOff val="60000"/>
                      </a:schemeClr>
                    </a:solidFill>
                  </a:tcPr>
                </a:tc>
                <a:tc>
                  <a:txBody>
                    <a:bodyPr/>
                    <a:lstStyle/>
                    <a:p>
                      <a:pPr algn="ctr"/>
                      <a:r>
                        <a:rPr lang="zh-CN" altLang="en-US" sz="1050" b="0" dirty="0">
                          <a:solidFill>
                            <a:schemeClr val="tx1"/>
                          </a:solidFill>
                          <a:latin typeface="+mn-ea"/>
                          <a:ea typeface="+mn-ea"/>
                        </a:rPr>
                        <a:t>制造代表</a:t>
                      </a:r>
                    </a:p>
                  </a:txBody>
                  <a:tcPr>
                    <a:solidFill>
                      <a:schemeClr val="accent5">
                        <a:lumMod val="40000"/>
                        <a:lumOff val="60000"/>
                      </a:schemeClr>
                    </a:solidFill>
                  </a:tcPr>
                </a:tc>
                <a:extLst>
                  <a:ext uri="{0D108BD9-81ED-4DB2-BD59-A6C34878D82A}">
                    <a16:rowId xmlns:a16="http://schemas.microsoft.com/office/drawing/2014/main" val="2560395341"/>
                  </a:ext>
                </a:extLst>
              </a:tr>
              <a:tr h="304721">
                <a:tc>
                  <a:txBody>
                    <a:bodyPr/>
                    <a:lstStyle/>
                    <a:p>
                      <a:pPr algn="ctr"/>
                      <a:r>
                        <a:rPr lang="en-US" altLang="zh-CN" sz="1050" b="0" dirty="0">
                          <a:solidFill>
                            <a:schemeClr val="tx1"/>
                          </a:solidFill>
                          <a:latin typeface="+mn-ea"/>
                          <a:ea typeface="+mn-ea"/>
                        </a:rPr>
                        <a:t>BMC</a:t>
                      </a:r>
                      <a:r>
                        <a:rPr lang="zh-CN" altLang="en-US" sz="1050" b="0" dirty="0">
                          <a:solidFill>
                            <a:schemeClr val="tx1"/>
                          </a:solidFill>
                          <a:latin typeface="+mn-ea"/>
                          <a:ea typeface="+mn-ea"/>
                        </a:rPr>
                        <a:t>工程师</a:t>
                      </a:r>
                    </a:p>
                  </a:txBody>
                  <a:tcPr>
                    <a:solidFill>
                      <a:schemeClr val="accent5">
                        <a:lumMod val="40000"/>
                        <a:lumOff val="60000"/>
                      </a:schemeClr>
                    </a:solidFill>
                  </a:tcPr>
                </a:tc>
                <a:tc>
                  <a:txBody>
                    <a:bodyPr/>
                    <a:lstStyle/>
                    <a:p>
                      <a:pPr algn="ctr"/>
                      <a:r>
                        <a:rPr lang="en-US" altLang="zh-CN" sz="1050" b="0" dirty="0">
                          <a:solidFill>
                            <a:schemeClr val="tx1"/>
                          </a:solidFill>
                          <a:latin typeface="+mn-ea"/>
                          <a:ea typeface="+mn-ea"/>
                        </a:rPr>
                        <a:t>BIOS</a:t>
                      </a:r>
                      <a:r>
                        <a:rPr lang="zh-CN" altLang="en-US" sz="1050" b="0" dirty="0">
                          <a:solidFill>
                            <a:schemeClr val="tx1"/>
                          </a:solidFill>
                          <a:latin typeface="+mn-ea"/>
                          <a:ea typeface="+mn-ea"/>
                        </a:rPr>
                        <a:t>工程师</a:t>
                      </a:r>
                    </a:p>
                  </a:txBody>
                  <a:tcPr>
                    <a:solidFill>
                      <a:schemeClr val="accent5">
                        <a:lumMod val="40000"/>
                        <a:lumOff val="60000"/>
                      </a:schemeClr>
                    </a:solidFill>
                  </a:tcPr>
                </a:tc>
                <a:tc>
                  <a:txBody>
                    <a:bodyPr/>
                    <a:lstStyle/>
                    <a:p>
                      <a:pPr algn="ctr"/>
                      <a:r>
                        <a:rPr lang="en-US" altLang="zh-CN" sz="1050" b="0" dirty="0">
                          <a:solidFill>
                            <a:schemeClr val="tx1"/>
                          </a:solidFill>
                          <a:latin typeface="+mn-ea"/>
                          <a:ea typeface="+mn-ea"/>
                        </a:rPr>
                        <a:t>ID</a:t>
                      </a:r>
                      <a:r>
                        <a:rPr lang="zh-CN" altLang="en-US" sz="1050" b="0" dirty="0">
                          <a:solidFill>
                            <a:schemeClr val="tx1"/>
                          </a:solidFill>
                          <a:latin typeface="+mn-ea"/>
                          <a:ea typeface="+mn-ea"/>
                        </a:rPr>
                        <a:t>工程师</a:t>
                      </a:r>
                    </a:p>
                  </a:txBody>
                  <a:tcPr>
                    <a:solidFill>
                      <a:schemeClr val="accent5">
                        <a:lumMod val="40000"/>
                        <a:lumOff val="60000"/>
                      </a:schemeClr>
                    </a:solidFill>
                  </a:tcPr>
                </a:tc>
                <a:tc>
                  <a:txBody>
                    <a:bodyPr/>
                    <a:lstStyle/>
                    <a:p>
                      <a:pPr algn="ctr"/>
                      <a:r>
                        <a:rPr lang="en-US" altLang="zh-CN" sz="1050" b="0" dirty="0">
                          <a:solidFill>
                            <a:schemeClr val="tx1"/>
                          </a:solidFill>
                          <a:latin typeface="+mn-ea"/>
                          <a:ea typeface="+mn-ea"/>
                        </a:rPr>
                        <a:t>DQA</a:t>
                      </a:r>
                      <a:endParaRPr lang="zh-CN" altLang="en-US" sz="1050" b="0" dirty="0">
                        <a:solidFill>
                          <a:schemeClr val="tx1"/>
                        </a:solidFill>
                        <a:latin typeface="+mn-ea"/>
                        <a:ea typeface="+mn-ea"/>
                      </a:endParaRPr>
                    </a:p>
                  </a:txBody>
                  <a:tcPr>
                    <a:solidFill>
                      <a:schemeClr val="accent5">
                        <a:lumMod val="40000"/>
                        <a:lumOff val="60000"/>
                      </a:schemeClr>
                    </a:solidFill>
                  </a:tcPr>
                </a:tc>
                <a:extLst>
                  <a:ext uri="{0D108BD9-81ED-4DB2-BD59-A6C34878D82A}">
                    <a16:rowId xmlns:a16="http://schemas.microsoft.com/office/drawing/2014/main" val="3444333189"/>
                  </a:ext>
                </a:extLst>
              </a:tr>
              <a:tr h="304721">
                <a:tc>
                  <a:txBody>
                    <a:bodyPr/>
                    <a:lstStyle/>
                    <a:p>
                      <a:pPr algn="ctr"/>
                      <a:r>
                        <a:rPr lang="en-US" altLang="zh-CN" sz="1050" b="0" dirty="0">
                          <a:solidFill>
                            <a:schemeClr val="tx1"/>
                          </a:solidFill>
                          <a:latin typeface="+mn-ea"/>
                          <a:ea typeface="+mn-ea"/>
                        </a:rPr>
                        <a:t>SIV</a:t>
                      </a:r>
                      <a:r>
                        <a:rPr lang="zh-CN" altLang="en-US" sz="1050" b="0" dirty="0">
                          <a:solidFill>
                            <a:schemeClr val="tx1"/>
                          </a:solidFill>
                          <a:latin typeface="+mn-ea"/>
                          <a:ea typeface="+mn-ea"/>
                        </a:rPr>
                        <a:t>工程师</a:t>
                      </a:r>
                    </a:p>
                  </a:txBody>
                  <a:tcPr>
                    <a:solidFill>
                      <a:schemeClr val="accent5">
                        <a:lumMod val="40000"/>
                        <a:lumOff val="60000"/>
                      </a:schemeClr>
                    </a:solidFill>
                  </a:tcPr>
                </a:tc>
                <a:tc>
                  <a:txBody>
                    <a:bodyPr/>
                    <a:lstStyle/>
                    <a:p>
                      <a:pPr algn="ctr"/>
                      <a:r>
                        <a:rPr lang="en-US" altLang="zh-CN" sz="1050" b="0" dirty="0">
                          <a:solidFill>
                            <a:schemeClr val="tx1"/>
                          </a:solidFill>
                          <a:latin typeface="+mn-ea"/>
                          <a:ea typeface="+mn-ea"/>
                        </a:rPr>
                        <a:t>SIT</a:t>
                      </a:r>
                      <a:r>
                        <a:rPr lang="zh-CN" altLang="en-US" sz="1050" b="0" dirty="0">
                          <a:solidFill>
                            <a:schemeClr val="tx1"/>
                          </a:solidFill>
                          <a:latin typeface="+mn-ea"/>
                          <a:ea typeface="+mn-ea"/>
                        </a:rPr>
                        <a:t>工程师</a:t>
                      </a:r>
                    </a:p>
                  </a:txBody>
                  <a:tcPr>
                    <a:solidFill>
                      <a:schemeClr val="accent5">
                        <a:lumMod val="40000"/>
                        <a:lumOff val="60000"/>
                      </a:schemeClr>
                    </a:solidFill>
                  </a:tcPr>
                </a:tc>
                <a:tc>
                  <a:txBody>
                    <a:bodyPr/>
                    <a:lstStyle/>
                    <a:p>
                      <a:pPr algn="ctr"/>
                      <a:r>
                        <a:rPr lang="zh-CN" altLang="en-US" sz="1050" b="0" dirty="0">
                          <a:solidFill>
                            <a:schemeClr val="tx1"/>
                          </a:solidFill>
                          <a:latin typeface="+mn-ea"/>
                          <a:ea typeface="+mn-ea"/>
                        </a:rPr>
                        <a:t>可靠性工程师</a:t>
                      </a:r>
                    </a:p>
                  </a:txBody>
                  <a:tcPr>
                    <a:solidFill>
                      <a:schemeClr val="accent5">
                        <a:lumMod val="40000"/>
                        <a:lumOff val="60000"/>
                      </a:schemeClr>
                    </a:solidFill>
                  </a:tcPr>
                </a:tc>
                <a:tc>
                  <a:txBody>
                    <a:bodyPr/>
                    <a:lstStyle/>
                    <a:p>
                      <a:pPr algn="ctr"/>
                      <a:r>
                        <a:rPr lang="en-US" altLang="zh-CN" sz="1050" b="0" dirty="0">
                          <a:solidFill>
                            <a:schemeClr val="tx1"/>
                          </a:solidFill>
                          <a:latin typeface="+mn-ea"/>
                          <a:ea typeface="+mn-ea"/>
                        </a:rPr>
                        <a:t>TPM</a:t>
                      </a:r>
                      <a:endParaRPr lang="zh-CN" altLang="en-US" sz="1050" b="0" dirty="0">
                        <a:solidFill>
                          <a:schemeClr val="tx1"/>
                        </a:solidFill>
                        <a:latin typeface="+mn-ea"/>
                        <a:ea typeface="+mn-ea"/>
                      </a:endParaRPr>
                    </a:p>
                  </a:txBody>
                  <a:tcPr>
                    <a:solidFill>
                      <a:schemeClr val="accent5">
                        <a:lumMod val="40000"/>
                        <a:lumOff val="60000"/>
                      </a:schemeClr>
                    </a:solidFill>
                  </a:tcPr>
                </a:tc>
                <a:extLst>
                  <a:ext uri="{0D108BD9-81ED-4DB2-BD59-A6C34878D82A}">
                    <a16:rowId xmlns:a16="http://schemas.microsoft.com/office/drawing/2014/main" val="1960551433"/>
                  </a:ext>
                </a:extLst>
              </a:tr>
            </a:tbl>
          </a:graphicData>
        </a:graphic>
      </p:graphicFrame>
      <p:cxnSp>
        <p:nvCxnSpPr>
          <p:cNvPr id="119" name="连接符: 曲线 118">
            <a:extLst>
              <a:ext uri="{FF2B5EF4-FFF2-40B4-BE49-F238E27FC236}">
                <a16:creationId xmlns:a16="http://schemas.microsoft.com/office/drawing/2014/main" id="{7FD6CB4E-DC6A-BBFE-6100-85DA7B597462}"/>
              </a:ext>
            </a:extLst>
          </p:cNvPr>
          <p:cNvCxnSpPr>
            <a:cxnSpLocks/>
          </p:cNvCxnSpPr>
          <p:nvPr/>
        </p:nvCxnSpPr>
        <p:spPr>
          <a:xfrm>
            <a:off x="4000524" y="2982183"/>
            <a:ext cx="3473982" cy="1772024"/>
          </a:xfrm>
          <a:prstGeom prst="curvedConnector3">
            <a:avLst>
              <a:gd name="adj1" fmla="val 801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连接符: 肘形 120">
            <a:extLst>
              <a:ext uri="{FF2B5EF4-FFF2-40B4-BE49-F238E27FC236}">
                <a16:creationId xmlns:a16="http://schemas.microsoft.com/office/drawing/2014/main" id="{5C8F03D8-9BF2-9D12-1AD5-A9DDE55C4A7B}"/>
              </a:ext>
            </a:extLst>
          </p:cNvPr>
          <p:cNvCxnSpPr>
            <a:stCxn id="41" idx="3"/>
            <a:endCxn id="64" idx="1"/>
          </p:cNvCxnSpPr>
          <p:nvPr/>
        </p:nvCxnSpPr>
        <p:spPr>
          <a:xfrm flipV="1">
            <a:off x="8948423" y="2481163"/>
            <a:ext cx="852680" cy="719361"/>
          </a:xfrm>
          <a:prstGeom prst="bentConnector3">
            <a:avLst>
              <a:gd name="adj1" fmla="val 46750"/>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矩形 123">
            <a:extLst>
              <a:ext uri="{FF2B5EF4-FFF2-40B4-BE49-F238E27FC236}">
                <a16:creationId xmlns:a16="http://schemas.microsoft.com/office/drawing/2014/main" id="{13282A17-FC72-64B8-EE7E-6C59740AC66E}"/>
              </a:ext>
            </a:extLst>
          </p:cNvPr>
          <p:cNvSpPr/>
          <p:nvPr/>
        </p:nvSpPr>
        <p:spPr>
          <a:xfrm>
            <a:off x="431403" y="1086350"/>
            <a:ext cx="1753787" cy="54266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t>M1 </a:t>
            </a:r>
            <a:r>
              <a:rPr lang="zh-CN" altLang="en-US" sz="1600" dirty="0"/>
              <a:t>预研阶段：</a:t>
            </a:r>
          </a:p>
        </p:txBody>
      </p:sp>
      <p:sp>
        <p:nvSpPr>
          <p:cNvPr id="6" name="矩形 5">
            <a:extLst>
              <a:ext uri="{FF2B5EF4-FFF2-40B4-BE49-F238E27FC236}">
                <a16:creationId xmlns:a16="http://schemas.microsoft.com/office/drawing/2014/main" id="{8878DC35-A679-D79F-3D41-D0B693F7CAC2}"/>
              </a:ext>
            </a:extLst>
          </p:cNvPr>
          <p:cNvSpPr/>
          <p:nvPr/>
        </p:nvSpPr>
        <p:spPr>
          <a:xfrm>
            <a:off x="9339622" y="1086350"/>
            <a:ext cx="2455822" cy="5426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t>M2 </a:t>
            </a:r>
            <a:r>
              <a:rPr lang="zh-CN" altLang="en-US" sz="1600" dirty="0"/>
              <a:t>计划阶段</a:t>
            </a:r>
          </a:p>
        </p:txBody>
      </p:sp>
      <p:sp>
        <p:nvSpPr>
          <p:cNvPr id="77" name="流程图: 决策 76">
            <a:extLst>
              <a:ext uri="{FF2B5EF4-FFF2-40B4-BE49-F238E27FC236}">
                <a16:creationId xmlns:a16="http://schemas.microsoft.com/office/drawing/2014/main" id="{185E5B43-7A3A-F4A2-A090-D8686BE8BCFA}"/>
              </a:ext>
            </a:extLst>
          </p:cNvPr>
          <p:cNvSpPr/>
          <p:nvPr/>
        </p:nvSpPr>
        <p:spPr>
          <a:xfrm>
            <a:off x="9222967" y="1223254"/>
            <a:ext cx="239697" cy="301841"/>
          </a:xfrm>
          <a:prstGeom prst="flowChartDecision">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连接符: 肘形 8">
            <a:extLst>
              <a:ext uri="{FF2B5EF4-FFF2-40B4-BE49-F238E27FC236}">
                <a16:creationId xmlns:a16="http://schemas.microsoft.com/office/drawing/2014/main" id="{0B55CB2B-015B-77E3-EEEA-584D855CD60D}"/>
              </a:ext>
            </a:extLst>
          </p:cNvPr>
          <p:cNvCxnSpPr>
            <a:endCxn id="64" idx="1"/>
          </p:cNvCxnSpPr>
          <p:nvPr/>
        </p:nvCxnSpPr>
        <p:spPr>
          <a:xfrm rot="16200000" flipH="1">
            <a:off x="8864844" y="1544904"/>
            <a:ext cx="1411316" cy="46120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十字星 37"/>
          <p:cNvSpPr/>
          <p:nvPr/>
        </p:nvSpPr>
        <p:spPr>
          <a:xfrm>
            <a:off x="4610179" y="3962019"/>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39" name="十字星 38"/>
          <p:cNvSpPr/>
          <p:nvPr/>
        </p:nvSpPr>
        <p:spPr>
          <a:xfrm>
            <a:off x="4610179" y="4952194"/>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4136CD25-6201-1933-3114-620A28007376}"/>
              </a:ext>
            </a:extLst>
          </p:cNvPr>
          <p:cNvSpPr/>
          <p:nvPr/>
        </p:nvSpPr>
        <p:spPr>
          <a:xfrm>
            <a:off x="2358652" y="3280045"/>
            <a:ext cx="1641871" cy="366895"/>
          </a:xfrm>
          <a:prstGeom prst="rect">
            <a:avLst/>
          </a:prstGeom>
          <a:solidFill>
            <a:schemeClr val="accent3">
              <a:lumMod val="20000"/>
              <a:lumOff val="80000"/>
            </a:schemeClr>
          </a:solidFill>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lnSpc>
                <a:spcPct val="130000"/>
              </a:lnSpc>
            </a:pPr>
            <a:r>
              <a:rPr lang="zh-CN" altLang="en-US" sz="1050" b="1" dirty="0">
                <a:solidFill>
                  <a:srgbClr val="0000FF"/>
                </a:solidFill>
                <a:latin typeface="+mn-ea"/>
              </a:rPr>
              <a:t>未来产品预估</a:t>
            </a:r>
            <a:r>
              <a:rPr lang="zh-CN" altLang="en-US" sz="1050" b="1" dirty="0" smtClean="0">
                <a:solidFill>
                  <a:srgbClr val="0000FF"/>
                </a:solidFill>
                <a:latin typeface="+mn-ea"/>
              </a:rPr>
              <a:t>量</a:t>
            </a:r>
            <a:endParaRPr lang="en-US" altLang="zh-CN" sz="1050" dirty="0">
              <a:solidFill>
                <a:srgbClr val="0000FF"/>
              </a:solidFill>
              <a:latin typeface="+mn-ea"/>
            </a:endParaRPr>
          </a:p>
        </p:txBody>
      </p:sp>
      <p:sp>
        <p:nvSpPr>
          <p:cNvPr id="43" name="文本框 42"/>
          <p:cNvSpPr txBox="1"/>
          <p:nvPr/>
        </p:nvSpPr>
        <p:spPr>
          <a:xfrm>
            <a:off x="2488546" y="4628969"/>
            <a:ext cx="1377393" cy="272510"/>
          </a:xfrm>
          <a:prstGeom prst="rect">
            <a:avLst/>
          </a:prstGeom>
          <a:noFill/>
        </p:spPr>
        <p:txBody>
          <a:bodyPr wrap="square" rtlCol="0">
            <a:spAutoFit/>
          </a:bodyPr>
          <a:lstStyle/>
          <a:p>
            <a:pPr algn="ctr">
              <a:lnSpc>
                <a:spcPct val="120000"/>
              </a:lnSpc>
            </a:pPr>
            <a:r>
              <a:rPr lang="zh-CN" altLang="en-US" sz="1050" b="1" dirty="0" smtClean="0">
                <a:solidFill>
                  <a:srgbClr val="0000FF"/>
                </a:solidFill>
              </a:rPr>
              <a:t>采购</a:t>
            </a:r>
            <a:r>
              <a:rPr lang="en-US" altLang="zh-CN" sz="1050" b="1" dirty="0" smtClean="0">
                <a:solidFill>
                  <a:srgbClr val="0000FF"/>
                </a:solidFill>
              </a:rPr>
              <a:t>-</a:t>
            </a:r>
            <a:r>
              <a:rPr lang="zh-CN" altLang="en-US" sz="1050" b="1" dirty="0" smtClean="0">
                <a:solidFill>
                  <a:srgbClr val="0000FF"/>
                </a:solidFill>
              </a:rPr>
              <a:t>产品聚焦评估</a:t>
            </a:r>
          </a:p>
        </p:txBody>
      </p:sp>
      <p:cxnSp>
        <p:nvCxnSpPr>
          <p:cNvPr id="44" name="曲线连接符 43"/>
          <p:cNvCxnSpPr>
            <a:stCxn id="40" idx="2"/>
            <a:endCxn id="43" idx="0"/>
          </p:cNvCxnSpPr>
          <p:nvPr/>
        </p:nvCxnSpPr>
        <p:spPr>
          <a:xfrm rot="5400000">
            <a:off x="2687402" y="4136782"/>
            <a:ext cx="982029" cy="234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4136CD25-6201-1933-3114-620A28007376}"/>
              </a:ext>
            </a:extLst>
          </p:cNvPr>
          <p:cNvSpPr/>
          <p:nvPr/>
        </p:nvSpPr>
        <p:spPr>
          <a:xfrm>
            <a:off x="4520513" y="5278817"/>
            <a:ext cx="2129169" cy="413021"/>
          </a:xfrm>
          <a:prstGeom prst="rect">
            <a:avLst/>
          </a:prstGeom>
          <a:solidFill>
            <a:schemeClr val="accent3">
              <a:lumMod val="20000"/>
              <a:lumOff val="80000"/>
            </a:schemeClr>
          </a:solidFill>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lnSpc>
                <a:spcPct val="130000"/>
              </a:lnSpc>
            </a:pPr>
            <a:r>
              <a:rPr lang="zh-CN" altLang="en-US" sz="1050" b="1" dirty="0" smtClean="0">
                <a:solidFill>
                  <a:srgbClr val="0000FF"/>
                </a:solidFill>
                <a:latin typeface="+mn-ea"/>
              </a:rPr>
              <a:t>关键</a:t>
            </a:r>
            <a:r>
              <a:rPr lang="en-US" altLang="zh-CN" sz="1050" b="1" dirty="0" smtClean="0">
                <a:solidFill>
                  <a:srgbClr val="0000FF"/>
                </a:solidFill>
                <a:latin typeface="+mn-ea"/>
              </a:rPr>
              <a:t>BOM</a:t>
            </a:r>
            <a:r>
              <a:rPr lang="zh-CN" altLang="en-US" sz="1050" b="1" dirty="0" smtClean="0">
                <a:solidFill>
                  <a:srgbClr val="0000FF"/>
                </a:solidFill>
                <a:latin typeface="+mn-ea"/>
              </a:rPr>
              <a:t>清单</a:t>
            </a:r>
            <a:r>
              <a:rPr lang="en-US" altLang="zh-CN" sz="1050" b="1" dirty="0" smtClean="0">
                <a:solidFill>
                  <a:srgbClr val="0000FF"/>
                </a:solidFill>
                <a:latin typeface="+mn-ea"/>
              </a:rPr>
              <a:t>&amp;</a:t>
            </a:r>
            <a:r>
              <a:rPr lang="zh-CN" altLang="en-US" sz="1050" b="1" dirty="0" smtClean="0">
                <a:solidFill>
                  <a:srgbClr val="0000FF"/>
                </a:solidFill>
                <a:latin typeface="+mn-ea"/>
              </a:rPr>
              <a:t>开发物料列</a:t>
            </a:r>
            <a:r>
              <a:rPr lang="zh-CN" altLang="en-US" sz="1050" b="1" dirty="0">
                <a:solidFill>
                  <a:srgbClr val="0000FF"/>
                </a:solidFill>
                <a:latin typeface="+mn-ea"/>
              </a:rPr>
              <a:t>表</a:t>
            </a:r>
            <a:endParaRPr lang="en-US" altLang="zh-CN" sz="1050" b="1" dirty="0" smtClean="0">
              <a:solidFill>
                <a:srgbClr val="0000FF"/>
              </a:solidFill>
              <a:latin typeface="+mn-ea"/>
            </a:endParaRPr>
          </a:p>
          <a:p>
            <a:pPr algn="ctr">
              <a:lnSpc>
                <a:spcPct val="130000"/>
              </a:lnSpc>
            </a:pPr>
            <a:r>
              <a:rPr lang="zh-CN" altLang="en-US" sz="1050" b="1" dirty="0" smtClean="0">
                <a:solidFill>
                  <a:srgbClr val="0000FF"/>
                </a:solidFill>
                <a:latin typeface="+mn-ea"/>
              </a:rPr>
              <a:t>（含技术要求）</a:t>
            </a:r>
            <a:endParaRPr lang="en-US" altLang="zh-CN" sz="1050" dirty="0">
              <a:solidFill>
                <a:srgbClr val="0000FF"/>
              </a:solidFill>
              <a:latin typeface="+mn-ea"/>
            </a:endParaRPr>
          </a:p>
        </p:txBody>
      </p:sp>
      <p:sp>
        <p:nvSpPr>
          <p:cNvPr id="46" name="矩形 45">
            <a:extLst>
              <a:ext uri="{FF2B5EF4-FFF2-40B4-BE49-F238E27FC236}">
                <a16:creationId xmlns:a16="http://schemas.microsoft.com/office/drawing/2014/main" id="{4136CD25-6201-1933-3114-620A28007376}"/>
              </a:ext>
            </a:extLst>
          </p:cNvPr>
          <p:cNvSpPr/>
          <p:nvPr/>
        </p:nvSpPr>
        <p:spPr>
          <a:xfrm>
            <a:off x="4524226" y="4331185"/>
            <a:ext cx="2129169" cy="288786"/>
          </a:xfrm>
          <a:prstGeom prst="rect">
            <a:avLst/>
          </a:prstGeom>
          <a:solidFill>
            <a:schemeClr val="accent3">
              <a:lumMod val="20000"/>
              <a:lumOff val="80000"/>
            </a:schemeClr>
          </a:solidFill>
          <a:ln>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lnSpc>
                <a:spcPct val="130000"/>
              </a:lnSpc>
            </a:pPr>
            <a:r>
              <a:rPr lang="zh-CN" altLang="en-US" sz="1050" b="1" dirty="0" smtClean="0">
                <a:solidFill>
                  <a:srgbClr val="0000FF"/>
                </a:solidFill>
                <a:latin typeface="+mn-ea"/>
              </a:rPr>
              <a:t>产品典配及通用物料清单</a:t>
            </a:r>
            <a:endParaRPr lang="en-US" altLang="zh-CN" sz="1050" dirty="0">
              <a:solidFill>
                <a:srgbClr val="0000FF"/>
              </a:solidFill>
              <a:latin typeface="+mn-ea"/>
            </a:endParaRPr>
          </a:p>
        </p:txBody>
      </p:sp>
      <p:cxnSp>
        <p:nvCxnSpPr>
          <p:cNvPr id="47" name="曲线连接符 46"/>
          <p:cNvCxnSpPr>
            <a:stCxn id="46" idx="1"/>
            <a:endCxn id="43" idx="2"/>
          </p:cNvCxnSpPr>
          <p:nvPr/>
        </p:nvCxnSpPr>
        <p:spPr>
          <a:xfrm rot="10800000" flipV="1">
            <a:off x="3177244" y="4475577"/>
            <a:ext cx="1346983" cy="425901"/>
          </a:xfrm>
          <a:prstGeom prst="curvedConnector4">
            <a:avLst>
              <a:gd name="adj1" fmla="val 24436"/>
              <a:gd name="adj2" fmla="val 15367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曲线连接符 47"/>
          <p:cNvCxnSpPr>
            <a:stCxn id="45" idx="1"/>
            <a:endCxn id="43" idx="2"/>
          </p:cNvCxnSpPr>
          <p:nvPr/>
        </p:nvCxnSpPr>
        <p:spPr>
          <a:xfrm rot="10800000">
            <a:off x="3177243" y="4901480"/>
            <a:ext cx="1343270" cy="58384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十字星 48"/>
          <p:cNvSpPr/>
          <p:nvPr/>
        </p:nvSpPr>
        <p:spPr>
          <a:xfrm>
            <a:off x="2330965" y="4628969"/>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2" name="十字星 51"/>
          <p:cNvSpPr/>
          <p:nvPr/>
        </p:nvSpPr>
        <p:spPr>
          <a:xfrm>
            <a:off x="4475847" y="5331924"/>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8" name="文本框 7"/>
          <p:cNvSpPr txBox="1"/>
          <p:nvPr/>
        </p:nvSpPr>
        <p:spPr>
          <a:xfrm>
            <a:off x="7096514" y="3331016"/>
            <a:ext cx="3617988" cy="867930"/>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050" dirty="0" smtClean="0">
                <a:solidFill>
                  <a:schemeClr val="tx1">
                    <a:lumMod val="75000"/>
                    <a:lumOff val="25000"/>
                  </a:schemeClr>
                </a:solidFill>
              </a:rPr>
              <a:t>市场分析</a:t>
            </a:r>
            <a:endParaRPr lang="en-US" altLang="zh-CN" sz="1050" dirty="0" smtClean="0">
              <a:solidFill>
                <a:schemeClr val="tx1">
                  <a:lumMod val="75000"/>
                  <a:lumOff val="25000"/>
                </a:schemeClr>
              </a:solidFill>
            </a:endParaRPr>
          </a:p>
          <a:p>
            <a:pPr marL="285750" indent="-285750">
              <a:lnSpc>
                <a:spcPct val="120000"/>
              </a:lnSpc>
              <a:buFont typeface="Arial" panose="020B0604020202020204" pitchFamily="34" charset="0"/>
              <a:buChar char="•"/>
            </a:pPr>
            <a:r>
              <a:rPr lang="zh-CN" altLang="en-US" sz="1050" dirty="0" smtClean="0">
                <a:solidFill>
                  <a:schemeClr val="tx1">
                    <a:lumMod val="75000"/>
                    <a:lumOff val="25000"/>
                  </a:schemeClr>
                </a:solidFill>
              </a:rPr>
              <a:t>总体方案</a:t>
            </a:r>
            <a:endParaRPr lang="en-US" altLang="zh-CN" sz="1050" dirty="0" smtClean="0">
              <a:solidFill>
                <a:schemeClr val="tx1">
                  <a:lumMod val="75000"/>
                  <a:lumOff val="25000"/>
                </a:schemeClr>
              </a:solidFill>
            </a:endParaRPr>
          </a:p>
          <a:p>
            <a:pPr marL="285750" indent="-285750">
              <a:lnSpc>
                <a:spcPct val="120000"/>
              </a:lnSpc>
              <a:buFont typeface="Arial" panose="020B0604020202020204" pitchFamily="34" charset="0"/>
              <a:buChar char="•"/>
            </a:pPr>
            <a:r>
              <a:rPr lang="zh-CN" altLang="en-US" sz="1050" dirty="0" smtClean="0">
                <a:solidFill>
                  <a:schemeClr val="tx1">
                    <a:lumMod val="75000"/>
                    <a:lumOff val="25000"/>
                  </a:schemeClr>
                </a:solidFill>
              </a:rPr>
              <a:t>管理计划及管理保证</a:t>
            </a:r>
            <a:endParaRPr lang="en-US" altLang="zh-CN" sz="1050" dirty="0" smtClean="0">
              <a:solidFill>
                <a:schemeClr val="tx1">
                  <a:lumMod val="75000"/>
                  <a:lumOff val="25000"/>
                </a:schemeClr>
              </a:solidFill>
            </a:endParaRPr>
          </a:p>
          <a:p>
            <a:pPr marL="285750" indent="-285750">
              <a:lnSpc>
                <a:spcPct val="120000"/>
              </a:lnSpc>
              <a:buFont typeface="Arial" panose="020B0604020202020204" pitchFamily="34" charset="0"/>
              <a:buChar char="•"/>
            </a:pPr>
            <a:r>
              <a:rPr lang="zh-CN" altLang="en-US" sz="1050" smtClean="0">
                <a:solidFill>
                  <a:schemeClr val="tx1">
                    <a:lumMod val="75000"/>
                    <a:lumOff val="25000"/>
                  </a:schemeClr>
                </a:solidFill>
              </a:rPr>
              <a:t>风险</a:t>
            </a:r>
            <a:r>
              <a:rPr lang="zh-CN" altLang="en-US" sz="1050">
                <a:solidFill>
                  <a:schemeClr val="tx1">
                    <a:lumMod val="75000"/>
                    <a:lumOff val="25000"/>
                  </a:schemeClr>
                </a:solidFill>
              </a:rPr>
              <a:t>评估</a:t>
            </a:r>
            <a:r>
              <a:rPr lang="zh-CN" altLang="en-US" sz="1050" smtClean="0">
                <a:solidFill>
                  <a:schemeClr val="tx1">
                    <a:lumMod val="75000"/>
                    <a:lumOff val="25000"/>
                  </a:schemeClr>
                </a:solidFill>
              </a:rPr>
              <a:t>以及</a:t>
            </a:r>
            <a:r>
              <a:rPr lang="zh-CN" altLang="en-US" sz="1050">
                <a:solidFill>
                  <a:schemeClr val="tx1">
                    <a:lumMod val="75000"/>
                    <a:lumOff val="25000"/>
                  </a:schemeClr>
                </a:solidFill>
              </a:rPr>
              <a:t>规避</a:t>
            </a:r>
            <a:r>
              <a:rPr lang="zh-CN" altLang="en-US" sz="1050" smtClean="0">
                <a:solidFill>
                  <a:schemeClr val="tx1">
                    <a:lumMod val="75000"/>
                    <a:lumOff val="25000"/>
                  </a:schemeClr>
                </a:solidFill>
              </a:rPr>
              <a:t>措施</a:t>
            </a:r>
            <a:endParaRPr lang="zh-CN" altLang="en-US" sz="1050" dirty="0" smtClean="0">
              <a:solidFill>
                <a:schemeClr val="tx1">
                  <a:lumMod val="75000"/>
                  <a:lumOff val="25000"/>
                </a:schemeClr>
              </a:solidFill>
            </a:endParaRPr>
          </a:p>
        </p:txBody>
      </p:sp>
      <p:sp>
        <p:nvSpPr>
          <p:cNvPr id="50" name="文本框 49"/>
          <p:cNvSpPr txBox="1"/>
          <p:nvPr/>
        </p:nvSpPr>
        <p:spPr>
          <a:xfrm>
            <a:off x="4584087" y="3404947"/>
            <a:ext cx="1548426" cy="480131"/>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en-US" altLang="zh-CN" sz="1050" dirty="0" smtClean="0">
                <a:solidFill>
                  <a:schemeClr val="tx1">
                    <a:lumMod val="75000"/>
                    <a:lumOff val="25000"/>
                  </a:schemeClr>
                </a:solidFill>
              </a:rPr>
              <a:t>PRD</a:t>
            </a:r>
            <a:r>
              <a:rPr lang="zh-CN" altLang="en-US" sz="1050" dirty="0" smtClean="0">
                <a:solidFill>
                  <a:schemeClr val="tx1">
                    <a:lumMod val="75000"/>
                    <a:lumOff val="25000"/>
                  </a:schemeClr>
                </a:solidFill>
              </a:rPr>
              <a:t>清单</a:t>
            </a:r>
            <a:endParaRPr lang="en-US" altLang="zh-CN" sz="1050" dirty="0" smtClean="0">
              <a:solidFill>
                <a:schemeClr val="tx1">
                  <a:lumMod val="75000"/>
                  <a:lumOff val="25000"/>
                </a:schemeClr>
              </a:solidFill>
            </a:endParaRPr>
          </a:p>
          <a:p>
            <a:pPr marL="285750" indent="-285750">
              <a:lnSpc>
                <a:spcPct val="120000"/>
              </a:lnSpc>
              <a:buFont typeface="Arial" panose="020B0604020202020204" pitchFamily="34" charset="0"/>
              <a:buChar char="•"/>
            </a:pPr>
            <a:r>
              <a:rPr lang="zh-CN" altLang="en-US" sz="1050" dirty="0" smtClean="0">
                <a:solidFill>
                  <a:schemeClr val="tx1">
                    <a:lumMod val="75000"/>
                    <a:lumOff val="25000"/>
                  </a:schemeClr>
                </a:solidFill>
              </a:rPr>
              <a:t>产品设计要求</a:t>
            </a:r>
          </a:p>
        </p:txBody>
      </p:sp>
      <p:sp>
        <p:nvSpPr>
          <p:cNvPr id="51" name="文本框 50"/>
          <p:cNvSpPr txBox="1"/>
          <p:nvPr/>
        </p:nvSpPr>
        <p:spPr>
          <a:xfrm>
            <a:off x="2330965" y="4820290"/>
            <a:ext cx="3617988" cy="272510"/>
          </a:xfrm>
          <a:prstGeom prst="rect">
            <a:avLst/>
          </a:prstGeom>
          <a:noFill/>
        </p:spPr>
        <p:txBody>
          <a:bodyPr wrap="square" rtlCol="0">
            <a:spAutoFit/>
          </a:bodyPr>
          <a:lstStyle/>
          <a:p>
            <a:pPr>
              <a:lnSpc>
                <a:spcPct val="120000"/>
              </a:lnSpc>
            </a:pPr>
            <a:r>
              <a:rPr lang="zh-CN" altLang="en-US" sz="1050" b="1" dirty="0" smtClean="0">
                <a:solidFill>
                  <a:srgbClr val="0000FF"/>
                </a:solidFill>
              </a:rPr>
              <a:t>供应商入围招标</a:t>
            </a:r>
            <a:r>
              <a:rPr lang="en-US" altLang="zh-CN" sz="1050" b="1" dirty="0" smtClean="0">
                <a:solidFill>
                  <a:srgbClr val="0000FF"/>
                </a:solidFill>
              </a:rPr>
              <a:t>——</a:t>
            </a:r>
            <a:r>
              <a:rPr lang="zh-CN" altLang="en-US" sz="1050" b="1" dirty="0" smtClean="0">
                <a:solidFill>
                  <a:srgbClr val="0000FF"/>
                </a:solidFill>
              </a:rPr>
              <a:t>双路机型</a:t>
            </a:r>
          </a:p>
        </p:txBody>
      </p:sp>
    </p:spTree>
    <p:extLst>
      <p:ext uri="{BB962C8B-B14F-4D97-AF65-F5344CB8AC3E}">
        <p14:creationId xmlns:p14="http://schemas.microsoft.com/office/powerpoint/2010/main" val="32241871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7E2809-48E9-A1D7-F7EA-42118449E3D0}"/>
              </a:ext>
            </a:extLst>
          </p:cNvPr>
          <p:cNvSpPr>
            <a:spLocks noGrp="1"/>
          </p:cNvSpPr>
          <p:nvPr>
            <p:ph type="body" sz="quarter" idx="13"/>
          </p:nvPr>
        </p:nvSpPr>
        <p:spPr/>
        <p:txBody>
          <a:bodyPr/>
          <a:lstStyle/>
          <a:p>
            <a:r>
              <a:rPr lang="en-US" altLang="zh-CN" dirty="0"/>
              <a:t>M1</a:t>
            </a:r>
            <a:r>
              <a:rPr lang="zh-CN" altLang="en-US" dirty="0"/>
              <a:t>预研阶段</a:t>
            </a:r>
            <a:r>
              <a:rPr lang="en-US" altLang="zh-CN" dirty="0"/>
              <a:t>——</a:t>
            </a:r>
            <a:r>
              <a:rPr lang="zh-CN" altLang="en-US" dirty="0"/>
              <a:t>建议诉求</a:t>
            </a:r>
          </a:p>
        </p:txBody>
      </p:sp>
      <p:graphicFrame>
        <p:nvGraphicFramePr>
          <p:cNvPr id="8" name="表格 18">
            <a:extLst>
              <a:ext uri="{FF2B5EF4-FFF2-40B4-BE49-F238E27FC236}">
                <a16:creationId xmlns:a16="http://schemas.microsoft.com/office/drawing/2014/main" id="{C4EA164D-F53E-36BD-54CC-3A76E551A949}"/>
              </a:ext>
            </a:extLst>
          </p:cNvPr>
          <p:cNvGraphicFramePr>
            <a:graphicFrameLocks noGrp="1"/>
          </p:cNvGraphicFramePr>
          <p:nvPr>
            <p:extLst>
              <p:ext uri="{D42A27DB-BD31-4B8C-83A1-F6EECF244321}">
                <p14:modId xmlns:p14="http://schemas.microsoft.com/office/powerpoint/2010/main" val="3161781033"/>
              </p:ext>
            </p:extLst>
          </p:nvPr>
        </p:nvGraphicFramePr>
        <p:xfrm>
          <a:off x="334963" y="981075"/>
          <a:ext cx="11341100" cy="5591080"/>
        </p:xfrm>
        <a:graphic>
          <a:graphicData uri="http://schemas.openxmlformats.org/drawingml/2006/table">
            <a:tbl>
              <a:tblPr firstRow="1" bandRow="1">
                <a:tableStyleId>{00A15C55-8517-42AA-B614-E9B94910E393}</a:tableStyleId>
              </a:tblPr>
              <a:tblGrid>
                <a:gridCol w="1100612">
                  <a:extLst>
                    <a:ext uri="{9D8B030D-6E8A-4147-A177-3AD203B41FA5}">
                      <a16:colId xmlns:a16="http://schemas.microsoft.com/office/drawing/2014/main" val="3334151599"/>
                    </a:ext>
                  </a:extLst>
                </a:gridCol>
                <a:gridCol w="1282127">
                  <a:extLst>
                    <a:ext uri="{9D8B030D-6E8A-4147-A177-3AD203B41FA5}">
                      <a16:colId xmlns:a16="http://schemas.microsoft.com/office/drawing/2014/main" val="2844502402"/>
                    </a:ext>
                  </a:extLst>
                </a:gridCol>
                <a:gridCol w="1271563">
                  <a:extLst>
                    <a:ext uri="{9D8B030D-6E8A-4147-A177-3AD203B41FA5}">
                      <a16:colId xmlns:a16="http://schemas.microsoft.com/office/drawing/2014/main" val="1964382359"/>
                    </a:ext>
                  </a:extLst>
                </a:gridCol>
                <a:gridCol w="4219849">
                  <a:extLst>
                    <a:ext uri="{9D8B030D-6E8A-4147-A177-3AD203B41FA5}">
                      <a16:colId xmlns:a16="http://schemas.microsoft.com/office/drawing/2014/main" val="3780626603"/>
                    </a:ext>
                  </a:extLst>
                </a:gridCol>
                <a:gridCol w="3466949">
                  <a:extLst>
                    <a:ext uri="{9D8B030D-6E8A-4147-A177-3AD203B41FA5}">
                      <a16:colId xmlns:a16="http://schemas.microsoft.com/office/drawing/2014/main" val="2468479109"/>
                    </a:ext>
                  </a:extLst>
                </a:gridCol>
              </a:tblGrid>
              <a:tr h="45495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200" dirty="0"/>
                        <a:t>阶段</a:t>
                      </a:r>
                    </a:p>
                  </a:txBody>
                  <a:tcPr anchor="ctr"/>
                </a:tc>
                <a:tc>
                  <a:txBody>
                    <a:bodyPr/>
                    <a:lstStyle/>
                    <a:p>
                      <a:pPr algn="ctr"/>
                      <a:r>
                        <a:rPr lang="zh-CN" altLang="en-US" sz="1200" dirty="0"/>
                        <a:t>项目角色</a:t>
                      </a:r>
                    </a:p>
                  </a:txBody>
                  <a:tcPr anchor="ctr"/>
                </a:tc>
                <a:tc>
                  <a:txBody>
                    <a:bodyPr/>
                    <a:lstStyle/>
                    <a:p>
                      <a:pPr algn="ctr"/>
                      <a:r>
                        <a:rPr lang="zh-CN" altLang="en-US" sz="1200" dirty="0" smtClean="0"/>
                        <a:t>类型</a:t>
                      </a:r>
                      <a:endParaRPr lang="zh-CN" altLang="en-US" sz="1200" dirty="0"/>
                    </a:p>
                  </a:txBody>
                  <a:tcPr anchor="ctr"/>
                </a:tc>
                <a:tc>
                  <a:txBody>
                    <a:bodyPr/>
                    <a:lstStyle/>
                    <a:p>
                      <a:pPr algn="ctr"/>
                      <a:r>
                        <a:rPr lang="zh-CN" altLang="en-US" sz="1200" dirty="0"/>
                        <a:t>诉求</a:t>
                      </a:r>
                      <a:r>
                        <a:rPr lang="en-US" altLang="zh-CN" sz="1200" dirty="0"/>
                        <a:t>/</a:t>
                      </a:r>
                      <a:r>
                        <a:rPr lang="zh-CN" altLang="en-US" sz="1200" dirty="0"/>
                        <a:t>建议</a:t>
                      </a:r>
                    </a:p>
                  </a:txBody>
                  <a:tcPr anchor="ctr"/>
                </a:tc>
                <a:tc>
                  <a:txBody>
                    <a:bodyPr/>
                    <a:lstStyle/>
                    <a:p>
                      <a:pPr algn="ctr"/>
                      <a:r>
                        <a:rPr lang="zh-CN" altLang="en-US" sz="1200" dirty="0" smtClean="0"/>
                        <a:t>备注</a:t>
                      </a:r>
                      <a:endParaRPr lang="zh-CN" altLang="en-US" sz="1200" dirty="0"/>
                    </a:p>
                  </a:txBody>
                  <a:tcPr anchor="ctr"/>
                </a:tc>
                <a:extLst>
                  <a:ext uri="{0D108BD9-81ED-4DB2-BD59-A6C34878D82A}">
                    <a16:rowId xmlns:a16="http://schemas.microsoft.com/office/drawing/2014/main" val="4249472911"/>
                  </a:ext>
                </a:extLst>
              </a:tr>
              <a:tr h="849975">
                <a:tc rowSpan="4">
                  <a:txBody>
                    <a:bodyPr/>
                    <a:lstStyle/>
                    <a:p>
                      <a:pPr algn="ctr" fontAlgn="ctr" latinLnBrk="0"/>
                      <a:r>
                        <a:rPr lang="en-US" altLang="zh-CN" sz="1050" dirty="0">
                          <a:solidFill>
                            <a:srgbClr val="000000"/>
                          </a:solidFill>
                          <a:effectLst/>
                          <a:latin typeface="+mn-ea"/>
                          <a:ea typeface="+mn-ea"/>
                        </a:rPr>
                        <a:t>L1-</a:t>
                      </a:r>
                      <a:r>
                        <a:rPr lang="zh-CN" altLang="en-US" sz="1050" dirty="0">
                          <a:solidFill>
                            <a:srgbClr val="000000"/>
                          </a:solidFill>
                          <a:effectLst/>
                          <a:latin typeface="+mn-ea"/>
                          <a:ea typeface="+mn-ea"/>
                        </a:rPr>
                        <a:t>预研</a:t>
                      </a:r>
                    </a:p>
                  </a:txBody>
                  <a:tcPr anchor="ctr"/>
                </a:tc>
                <a:tc rowSpan="3">
                  <a:txBody>
                    <a:bodyPr/>
                    <a:lstStyle/>
                    <a:p>
                      <a:pPr algn="ctr" fontAlgn="ctr" latinLnBrk="0"/>
                      <a:r>
                        <a:rPr lang="zh-CN" altLang="en-US" sz="1050" dirty="0">
                          <a:solidFill>
                            <a:srgbClr val="000000"/>
                          </a:solidFill>
                          <a:effectLst/>
                          <a:latin typeface="+mn-ea"/>
                          <a:ea typeface="+mn-ea"/>
                        </a:rPr>
                        <a:t>市场代表</a:t>
                      </a:r>
                      <a:endParaRPr lang="en-US" altLang="zh-CN" sz="1050" dirty="0">
                        <a:solidFill>
                          <a:srgbClr val="000000"/>
                        </a:solidFill>
                        <a:effectLst/>
                        <a:latin typeface="+mn-ea"/>
                        <a:ea typeface="+mn-ea"/>
                      </a:endParaRPr>
                    </a:p>
                    <a:p>
                      <a:pPr algn="ctr" fontAlgn="ctr" latinLnBrk="0"/>
                      <a:r>
                        <a:rPr lang="zh-CN" altLang="en-US" sz="1050" dirty="0">
                          <a:solidFill>
                            <a:srgbClr val="000000"/>
                          </a:solidFill>
                          <a:effectLst/>
                          <a:latin typeface="+mn-ea"/>
                          <a:ea typeface="+mn-ea"/>
                        </a:rPr>
                        <a:t>行业</a:t>
                      </a:r>
                      <a:r>
                        <a:rPr lang="en-US" altLang="zh-CN" sz="1050" dirty="0">
                          <a:solidFill>
                            <a:srgbClr val="000000"/>
                          </a:solidFill>
                          <a:effectLst/>
                          <a:latin typeface="+mn-ea"/>
                          <a:ea typeface="+mn-ea"/>
                        </a:rPr>
                        <a:t>BD</a:t>
                      </a:r>
                    </a:p>
                    <a:p>
                      <a:pPr algn="ctr" fontAlgn="ctr" latinLnBrk="0"/>
                      <a:r>
                        <a:rPr lang="en-US" altLang="zh-CN" sz="1050" dirty="0">
                          <a:solidFill>
                            <a:srgbClr val="000000"/>
                          </a:solidFill>
                          <a:effectLst/>
                          <a:latin typeface="+mn-ea"/>
                          <a:ea typeface="+mn-ea"/>
                        </a:rPr>
                        <a:t>SE</a:t>
                      </a:r>
                    </a:p>
                  </a:txBody>
                  <a:tcPr anchor="ctr"/>
                </a:tc>
                <a:tc>
                  <a:txBody>
                    <a:bodyPr/>
                    <a:lstStyle/>
                    <a:p>
                      <a:pPr algn="ctr" fontAlgn="ctr" latinLnBrk="0"/>
                      <a:r>
                        <a:rPr lang="zh-CN" altLang="en-US" sz="1050" dirty="0">
                          <a:solidFill>
                            <a:srgbClr val="000000"/>
                          </a:solidFill>
                          <a:effectLst/>
                          <a:latin typeface="+mn-ea"/>
                          <a:ea typeface="+mn-ea"/>
                        </a:rPr>
                        <a:t>全局规划</a:t>
                      </a:r>
                      <a:endParaRPr lang="en-US" altLang="zh-CN" sz="1050" dirty="0">
                        <a:solidFill>
                          <a:srgbClr val="000000"/>
                        </a:solidFill>
                        <a:effectLst/>
                        <a:latin typeface="+mn-ea"/>
                        <a:ea typeface="+mn-ea"/>
                      </a:endParaRPr>
                    </a:p>
                  </a:txBody>
                  <a:tcPr anchor="ctr"/>
                </a:tc>
                <a:tc>
                  <a:txBody>
                    <a:bodyPr/>
                    <a:lstStyle/>
                    <a:p>
                      <a:pPr algn="l" fontAlgn="ctr" latinLnBrk="0"/>
                      <a:r>
                        <a:rPr lang="zh-CN" altLang="en-US" sz="1050" b="1" dirty="0" smtClean="0">
                          <a:solidFill>
                            <a:srgbClr val="000000"/>
                          </a:solidFill>
                          <a:effectLst/>
                          <a:latin typeface="+mn-ea"/>
                          <a:ea typeface="+mn-ea"/>
                        </a:rPr>
                        <a:t>诉求：</a:t>
                      </a:r>
                      <a:endParaRPr lang="en-US" altLang="zh-CN" sz="1050" b="1" dirty="0" smtClean="0">
                        <a:solidFill>
                          <a:srgbClr val="000000"/>
                        </a:solidFill>
                        <a:effectLst/>
                        <a:latin typeface="+mn-ea"/>
                        <a:ea typeface="+mn-ea"/>
                      </a:endParaRPr>
                    </a:p>
                    <a:p>
                      <a:pPr algn="l" fontAlgn="ctr" latinLnBrk="0"/>
                      <a:r>
                        <a:rPr lang="zh-CN" altLang="en-US" sz="1050" b="1" dirty="0" smtClean="0">
                          <a:solidFill>
                            <a:srgbClr val="000000"/>
                          </a:solidFill>
                          <a:effectLst/>
                          <a:latin typeface="+mn-ea"/>
                          <a:ea typeface="+mn-ea"/>
                        </a:rPr>
                        <a:t>项目需求完备性</a:t>
                      </a:r>
                      <a:r>
                        <a:rPr lang="zh-CN" altLang="en-US" sz="1050" dirty="0" smtClean="0">
                          <a:solidFill>
                            <a:srgbClr val="000000"/>
                          </a:solidFill>
                          <a:effectLst/>
                          <a:latin typeface="+mn-ea"/>
                          <a:ea typeface="+mn-ea"/>
                        </a:rPr>
                        <a:t>，以便项目</a:t>
                      </a:r>
                      <a:r>
                        <a:rPr lang="zh-CN" altLang="en-US" sz="1050" b="1" dirty="0" smtClean="0">
                          <a:solidFill>
                            <a:srgbClr val="000000"/>
                          </a:solidFill>
                          <a:effectLst/>
                          <a:latin typeface="+mn-ea"/>
                          <a:ea typeface="+mn-ea"/>
                        </a:rPr>
                        <a:t>前期规划即做到通盘考量</a:t>
                      </a:r>
                      <a:r>
                        <a:rPr lang="zh-CN" altLang="en-US" sz="1050" dirty="0" smtClean="0">
                          <a:solidFill>
                            <a:srgbClr val="000000"/>
                          </a:solidFill>
                          <a:effectLst/>
                          <a:latin typeface="+mn-ea"/>
                          <a:ea typeface="+mn-ea"/>
                        </a:rPr>
                        <a:t>，避免项目过程中范围蔓延</a:t>
                      </a:r>
                      <a:endParaRPr lang="en-US" altLang="zh-CN" sz="1050" dirty="0" smtClean="0">
                        <a:solidFill>
                          <a:srgbClr val="000000"/>
                        </a:solidFill>
                        <a:effectLst/>
                        <a:latin typeface="+mn-ea"/>
                        <a:ea typeface="+mn-ea"/>
                      </a:endParaRPr>
                    </a:p>
                  </a:txBody>
                  <a:tcPr anchor="ctr"/>
                </a:tc>
                <a:tc>
                  <a:txBody>
                    <a:bodyPr/>
                    <a:lstStyle/>
                    <a:p>
                      <a:pPr algn="l" fontAlgn="ctr" latinLnBrk="0"/>
                      <a:r>
                        <a:rPr lang="en-US" altLang="zh-CN" sz="1050" dirty="0" smtClean="0">
                          <a:solidFill>
                            <a:srgbClr val="000000"/>
                          </a:solidFill>
                          <a:effectLst/>
                          <a:latin typeface="+mn-ea"/>
                          <a:ea typeface="+mn-ea"/>
                        </a:rPr>
                        <a:t>HG4</a:t>
                      </a:r>
                      <a:r>
                        <a:rPr lang="zh-CN" altLang="en-US" sz="1050" dirty="0">
                          <a:solidFill>
                            <a:srgbClr val="000000"/>
                          </a:solidFill>
                          <a:effectLst/>
                          <a:latin typeface="+mn-ea"/>
                          <a:ea typeface="+mn-ea"/>
                        </a:rPr>
                        <a:t>号双路机架项目</a:t>
                      </a:r>
                      <a:r>
                        <a:rPr lang="en-US" altLang="zh-CN" sz="1050" dirty="0">
                          <a:solidFill>
                            <a:srgbClr val="000000"/>
                          </a:solidFill>
                          <a:effectLst/>
                          <a:latin typeface="+mn-ea"/>
                          <a:ea typeface="+mn-ea"/>
                        </a:rPr>
                        <a:t>EVT</a:t>
                      </a:r>
                      <a:r>
                        <a:rPr lang="zh-CN" altLang="en-US" sz="1050" dirty="0">
                          <a:solidFill>
                            <a:srgbClr val="000000"/>
                          </a:solidFill>
                          <a:effectLst/>
                          <a:latin typeface="+mn-ea"/>
                          <a:ea typeface="+mn-ea"/>
                        </a:rPr>
                        <a:t>阶段后期提出</a:t>
                      </a:r>
                      <a:r>
                        <a:rPr lang="en-US" altLang="zh-CN" sz="1050" dirty="0" err="1">
                          <a:solidFill>
                            <a:srgbClr val="000000"/>
                          </a:solidFill>
                          <a:effectLst/>
                          <a:latin typeface="+mn-ea"/>
                          <a:ea typeface="+mn-ea"/>
                        </a:rPr>
                        <a:t>costdown</a:t>
                      </a:r>
                      <a:r>
                        <a:rPr lang="zh-CN" altLang="en-US" sz="1050" dirty="0">
                          <a:solidFill>
                            <a:srgbClr val="000000"/>
                          </a:solidFill>
                          <a:effectLst/>
                          <a:latin typeface="+mn-ea"/>
                          <a:ea typeface="+mn-ea"/>
                        </a:rPr>
                        <a:t>，</a:t>
                      </a:r>
                      <a:r>
                        <a:rPr lang="en-US" altLang="zh-CN" sz="1050" dirty="0">
                          <a:solidFill>
                            <a:srgbClr val="000000"/>
                          </a:solidFill>
                          <a:effectLst/>
                          <a:latin typeface="+mn-ea"/>
                          <a:ea typeface="+mn-ea"/>
                        </a:rPr>
                        <a:t>25</a:t>
                      </a:r>
                      <a:r>
                        <a:rPr lang="zh-CN" altLang="en-US" sz="1050" dirty="0">
                          <a:solidFill>
                            <a:srgbClr val="000000"/>
                          </a:solidFill>
                          <a:effectLst/>
                          <a:latin typeface="+mn-ea"/>
                          <a:ea typeface="+mn-ea"/>
                        </a:rPr>
                        <a:t>盘位，</a:t>
                      </a:r>
                      <a:r>
                        <a:rPr lang="en-US" altLang="zh-CN" sz="1050" dirty="0">
                          <a:solidFill>
                            <a:srgbClr val="000000"/>
                          </a:solidFill>
                          <a:effectLst/>
                          <a:latin typeface="+mn-ea"/>
                          <a:ea typeface="+mn-ea"/>
                        </a:rPr>
                        <a:t>10 IO</a:t>
                      </a:r>
                      <a:r>
                        <a:rPr lang="zh-CN" altLang="en-US" sz="1050" dirty="0">
                          <a:solidFill>
                            <a:srgbClr val="000000"/>
                          </a:solidFill>
                          <a:effectLst/>
                          <a:latin typeface="+mn-ea"/>
                          <a:ea typeface="+mn-ea"/>
                        </a:rPr>
                        <a:t>扩展需求，导致项目存在多任务并发风险</a:t>
                      </a:r>
                      <a:r>
                        <a:rPr lang="zh-CN" altLang="en-US" sz="1050" dirty="0" smtClean="0">
                          <a:solidFill>
                            <a:srgbClr val="000000"/>
                          </a:solidFill>
                          <a:effectLst/>
                          <a:latin typeface="+mn-ea"/>
                          <a:ea typeface="+mn-ea"/>
                        </a:rPr>
                        <a:t>。</a:t>
                      </a:r>
                      <a:endParaRPr lang="en-US" altLang="zh-CN" sz="1050" dirty="0">
                        <a:solidFill>
                          <a:srgbClr val="000000"/>
                        </a:solidFill>
                        <a:effectLst/>
                        <a:latin typeface="+mn-ea"/>
                        <a:ea typeface="+mn-ea"/>
                      </a:endParaRPr>
                    </a:p>
                  </a:txBody>
                  <a:tcPr anchor="ctr"/>
                </a:tc>
                <a:extLst>
                  <a:ext uri="{0D108BD9-81ED-4DB2-BD59-A6C34878D82A}">
                    <a16:rowId xmlns:a16="http://schemas.microsoft.com/office/drawing/2014/main" val="3317502834"/>
                  </a:ext>
                </a:extLst>
              </a:tr>
              <a:tr h="534574">
                <a:tc vMerge="1">
                  <a:txBody>
                    <a:bodyPr/>
                    <a:lstStyle/>
                    <a:p>
                      <a:endParaRPr lang="zh-CN" altLang="en-US"/>
                    </a:p>
                  </a:txBody>
                  <a:tcPr/>
                </a:tc>
                <a:tc vMerge="1">
                  <a:txBody>
                    <a:bodyPr/>
                    <a:lstStyle/>
                    <a:p>
                      <a:endParaRPr lang="zh-CN" altLang="en-US"/>
                    </a:p>
                  </a:txBody>
                  <a:tcPr/>
                </a:tc>
                <a:tc>
                  <a:txBody>
                    <a:bodyPr/>
                    <a:lstStyle/>
                    <a:p>
                      <a:pPr marL="0" marR="0" indent="0" algn="ctr" defTabSz="1219170" rtl="0" eaLnBrk="1" fontAlgn="ctr" latinLnBrk="0" hangingPunct="1">
                        <a:lnSpc>
                          <a:spcPct val="100000"/>
                        </a:lnSpc>
                        <a:spcBef>
                          <a:spcPts val="0"/>
                        </a:spcBef>
                        <a:spcAft>
                          <a:spcPts val="0"/>
                        </a:spcAft>
                        <a:buClrTx/>
                        <a:buSzTx/>
                        <a:buFontTx/>
                        <a:buNone/>
                        <a:tabLst/>
                        <a:defRPr/>
                      </a:pPr>
                      <a:r>
                        <a:rPr lang="zh-CN" altLang="en-US" sz="1050" dirty="0" smtClean="0">
                          <a:solidFill>
                            <a:schemeClr val="tx1"/>
                          </a:solidFill>
                          <a:effectLst/>
                          <a:latin typeface="+mn-ea"/>
                          <a:ea typeface="+mn-ea"/>
                        </a:rPr>
                        <a:t>全局规划</a:t>
                      </a:r>
                      <a:endParaRPr lang="en-US" altLang="zh-CN" sz="1050" dirty="0" smtClean="0">
                        <a:solidFill>
                          <a:schemeClr val="tx1"/>
                        </a:solidFill>
                        <a:effectLst/>
                        <a:latin typeface="+mn-ea"/>
                        <a:ea typeface="+mn-ea"/>
                      </a:endParaRPr>
                    </a:p>
                  </a:txBody>
                  <a:tcPr anchor="ctr"/>
                </a:tc>
                <a:tc>
                  <a:txBody>
                    <a:bodyPr/>
                    <a:lstStyle/>
                    <a:p>
                      <a:pPr algn="l" fontAlgn="ctr" latinLnBrk="0"/>
                      <a:r>
                        <a:rPr lang="zh-CN" altLang="en-US" sz="1050" b="1" dirty="0" smtClean="0">
                          <a:solidFill>
                            <a:schemeClr val="tx1"/>
                          </a:solidFill>
                          <a:effectLst/>
                          <a:latin typeface="+mn-ea"/>
                          <a:ea typeface="+mn-ea"/>
                        </a:rPr>
                        <a:t>建议：</a:t>
                      </a:r>
                      <a:endParaRPr lang="en-US" altLang="zh-CN" sz="1050" b="1" dirty="0" smtClean="0">
                        <a:solidFill>
                          <a:schemeClr val="tx1"/>
                        </a:solidFill>
                        <a:effectLst/>
                        <a:latin typeface="+mn-ea"/>
                        <a:ea typeface="+mn-ea"/>
                      </a:endParaRPr>
                    </a:p>
                    <a:p>
                      <a:pPr algn="l" fontAlgn="ctr" latinLnBrk="0"/>
                      <a:r>
                        <a:rPr lang="zh-CN" altLang="en-US" sz="1050" dirty="0" smtClean="0">
                          <a:solidFill>
                            <a:schemeClr val="tx1"/>
                          </a:solidFill>
                          <a:effectLst/>
                          <a:latin typeface="+mn-ea"/>
                          <a:ea typeface="+mn-ea"/>
                        </a:rPr>
                        <a:t>项目范围内各机型的优先级需要充分评估，并结合内、外部资源情况考量错峰进行。</a:t>
                      </a:r>
                      <a:endParaRPr lang="en-US" altLang="zh-CN" sz="1050" dirty="0" smtClean="0">
                        <a:solidFill>
                          <a:schemeClr val="tx1"/>
                        </a:solidFill>
                        <a:effectLst/>
                        <a:latin typeface="+mn-ea"/>
                        <a:ea typeface="+mn-ea"/>
                      </a:endParaRPr>
                    </a:p>
                  </a:txBody>
                  <a:tcPr anchor="ctr"/>
                </a:tc>
                <a:tc>
                  <a:txBody>
                    <a:bodyPr/>
                    <a:lstStyle/>
                    <a:p>
                      <a:pPr algn="l" fontAlgn="ctr" latinLnBrk="0"/>
                      <a:r>
                        <a:rPr lang="zh-CN" altLang="en-US" sz="1050" dirty="0" smtClean="0">
                          <a:solidFill>
                            <a:schemeClr val="tx1"/>
                          </a:solidFill>
                          <a:effectLst/>
                          <a:latin typeface="+mn-ea"/>
                          <a:ea typeface="+mn-ea"/>
                        </a:rPr>
                        <a:t>南海</a:t>
                      </a:r>
                      <a:r>
                        <a:rPr lang="en-US" altLang="zh-CN" sz="1050" dirty="0" smtClean="0">
                          <a:solidFill>
                            <a:schemeClr val="tx1"/>
                          </a:solidFill>
                          <a:effectLst/>
                          <a:latin typeface="+mn-ea"/>
                          <a:ea typeface="+mn-ea"/>
                        </a:rPr>
                        <a:t>X620 4GPU</a:t>
                      </a:r>
                      <a:r>
                        <a:rPr lang="zh-CN" altLang="en-US" sz="1050" dirty="0" smtClean="0">
                          <a:solidFill>
                            <a:schemeClr val="tx1"/>
                          </a:solidFill>
                          <a:effectLst/>
                          <a:latin typeface="+mn-ea"/>
                          <a:ea typeface="+mn-ea"/>
                        </a:rPr>
                        <a:t>机型、</a:t>
                      </a:r>
                      <a:r>
                        <a:rPr lang="en-US" altLang="zh-CN" sz="1050" dirty="0" smtClean="0">
                          <a:solidFill>
                            <a:schemeClr val="tx1"/>
                          </a:solidFill>
                          <a:effectLst/>
                          <a:latin typeface="+mn-ea"/>
                          <a:ea typeface="+mn-ea"/>
                        </a:rPr>
                        <a:t>R640G50</a:t>
                      </a:r>
                      <a:r>
                        <a:rPr lang="zh-CN" altLang="en-US" sz="1050" dirty="0" smtClean="0">
                          <a:solidFill>
                            <a:schemeClr val="tx1"/>
                          </a:solidFill>
                          <a:effectLst/>
                          <a:latin typeface="+mn-ea"/>
                          <a:ea typeface="+mn-ea"/>
                        </a:rPr>
                        <a:t>机型受内、外部资源冲突，导致机型多次暂停、重启</a:t>
                      </a:r>
                      <a:endParaRPr lang="en-US" altLang="zh-CN" sz="1050" dirty="0">
                        <a:solidFill>
                          <a:schemeClr val="tx1"/>
                        </a:solidFill>
                        <a:effectLst/>
                        <a:latin typeface="+mn-ea"/>
                        <a:ea typeface="+mn-ea"/>
                      </a:endParaRPr>
                    </a:p>
                  </a:txBody>
                  <a:tcPr anchor="ctr"/>
                </a:tc>
                <a:extLst>
                  <a:ext uri="{0D108BD9-81ED-4DB2-BD59-A6C34878D82A}">
                    <a16:rowId xmlns:a16="http://schemas.microsoft.com/office/drawing/2014/main" val="3098040037"/>
                  </a:ext>
                </a:extLst>
              </a:tr>
              <a:tr h="1179001">
                <a:tc vMerge="1">
                  <a:txBody>
                    <a:bodyPr/>
                    <a:lstStyle/>
                    <a:p>
                      <a:pPr algn="ctr" fontAlgn="ctr" latinLnBrk="0"/>
                      <a:r>
                        <a:rPr lang="en-US" altLang="zh-CN" sz="1200" dirty="0">
                          <a:solidFill>
                            <a:srgbClr val="000000"/>
                          </a:solidFill>
                          <a:effectLst/>
                        </a:rPr>
                        <a:t>L1-</a:t>
                      </a:r>
                      <a:r>
                        <a:rPr lang="zh-CN" altLang="en-US" sz="1200" dirty="0">
                          <a:solidFill>
                            <a:srgbClr val="000000"/>
                          </a:solidFill>
                          <a:effectLst/>
                        </a:rPr>
                        <a:t>预研</a:t>
                      </a:r>
                    </a:p>
                  </a:txBody>
                  <a:tcPr anchor="ctr"/>
                </a:tc>
                <a:tc vMerge="1">
                  <a:txBody>
                    <a:bodyPr/>
                    <a:lstStyle/>
                    <a:p>
                      <a:pPr algn="ctr" fontAlgn="ctr" latinLnBrk="0"/>
                      <a:r>
                        <a:rPr lang="zh-CN" altLang="en-US" sz="1200" dirty="0">
                          <a:solidFill>
                            <a:srgbClr val="000000"/>
                          </a:solidFill>
                          <a:effectLst/>
                        </a:rPr>
                        <a:t>市场代表</a:t>
                      </a:r>
                      <a:endParaRPr lang="en-US" altLang="zh-CN" sz="1200" dirty="0">
                        <a:solidFill>
                          <a:srgbClr val="000000"/>
                        </a:solidFill>
                        <a:effectLst/>
                      </a:endParaRPr>
                    </a:p>
                    <a:p>
                      <a:pPr algn="ctr" fontAlgn="ctr" latinLnBrk="0"/>
                      <a:r>
                        <a:rPr lang="zh-CN" altLang="en-US" sz="1200" dirty="0">
                          <a:solidFill>
                            <a:srgbClr val="000000"/>
                          </a:solidFill>
                          <a:effectLst/>
                        </a:rPr>
                        <a:t>行业</a:t>
                      </a:r>
                      <a:r>
                        <a:rPr lang="en-US" altLang="zh-CN" sz="1200" dirty="0">
                          <a:solidFill>
                            <a:srgbClr val="000000"/>
                          </a:solidFill>
                          <a:effectLst/>
                        </a:rPr>
                        <a:t>BD</a:t>
                      </a:r>
                    </a:p>
                  </a:txBody>
                  <a:tcPr anchor="ctr"/>
                </a:tc>
                <a:tc>
                  <a:txBody>
                    <a:bodyPr/>
                    <a:lstStyle/>
                    <a:p>
                      <a:pPr algn="ctr" fontAlgn="ctr" latinLnBrk="0"/>
                      <a:r>
                        <a:rPr lang="zh-CN" altLang="en-US" sz="1050" dirty="0" smtClean="0">
                          <a:solidFill>
                            <a:srgbClr val="000000"/>
                          </a:solidFill>
                          <a:effectLst/>
                          <a:latin typeface="+mn-ea"/>
                          <a:ea typeface="+mn-ea"/>
                        </a:rPr>
                        <a:t>需求</a:t>
                      </a:r>
                      <a:endParaRPr lang="zh-CN" altLang="en-US" sz="1050" dirty="0">
                        <a:solidFill>
                          <a:srgbClr val="000000"/>
                        </a:solidFill>
                        <a:effectLst/>
                        <a:latin typeface="+mn-ea"/>
                        <a:ea typeface="+mn-ea"/>
                      </a:endParaRPr>
                    </a:p>
                  </a:txBody>
                  <a:tcPr anchor="ctr"/>
                </a:tc>
                <a:tc>
                  <a:txBody>
                    <a:bodyPr/>
                    <a:lstStyle/>
                    <a:p>
                      <a:pPr algn="l" fontAlgn="ctr" latinLnBrk="0"/>
                      <a:r>
                        <a:rPr lang="zh-CN" altLang="en-US" sz="1050" b="1" dirty="0" smtClean="0">
                          <a:solidFill>
                            <a:srgbClr val="000000"/>
                          </a:solidFill>
                          <a:effectLst/>
                          <a:latin typeface="+mn-ea"/>
                          <a:ea typeface="+mn-ea"/>
                        </a:rPr>
                        <a:t>诉求：</a:t>
                      </a:r>
                      <a:endParaRPr lang="en-US" altLang="zh-CN" sz="1050" b="1" dirty="0" smtClean="0">
                        <a:solidFill>
                          <a:srgbClr val="000000"/>
                        </a:solidFill>
                        <a:effectLst/>
                        <a:latin typeface="+mn-ea"/>
                        <a:ea typeface="+mn-ea"/>
                      </a:endParaRPr>
                    </a:p>
                    <a:p>
                      <a:pPr algn="l" fontAlgn="ctr" latinLnBrk="0"/>
                      <a:r>
                        <a:rPr lang="zh-CN" altLang="en-US" sz="1050" dirty="0" smtClean="0">
                          <a:solidFill>
                            <a:srgbClr val="000000"/>
                          </a:solidFill>
                          <a:effectLst/>
                          <a:latin typeface="+mn-ea"/>
                          <a:ea typeface="+mn-ea"/>
                        </a:rPr>
                        <a:t>客户需求导入需求确认难、定版时间长，一起考量破局的策略</a:t>
                      </a:r>
                      <a:endParaRPr lang="en-US" altLang="zh-CN" sz="1050" dirty="0" smtClean="0">
                        <a:solidFill>
                          <a:srgbClr val="000000"/>
                        </a:solidFill>
                        <a:effectLst/>
                        <a:latin typeface="+mn-ea"/>
                        <a:ea typeface="+mn-ea"/>
                      </a:endParaRPr>
                    </a:p>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、客户需求确认</a:t>
                      </a:r>
                      <a:r>
                        <a:rPr lang="en-US" altLang="zh-CN" sz="1050" dirty="0" smtClean="0">
                          <a:solidFill>
                            <a:srgbClr val="000000"/>
                          </a:solidFill>
                          <a:effectLst/>
                          <a:latin typeface="+mn-ea"/>
                          <a:ea typeface="+mn-ea"/>
                        </a:rPr>
                        <a:t>——BD</a:t>
                      </a:r>
                    </a:p>
                    <a:p>
                      <a:pPr marL="0" marR="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、客户需求转移为项目需求</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产品工程师</a:t>
                      </a:r>
                      <a:endParaRPr lang="en-US" altLang="zh-CN" sz="1050" dirty="0" smtClean="0">
                        <a:solidFill>
                          <a:srgbClr val="000000"/>
                        </a:solidFill>
                        <a:effectLst/>
                        <a:latin typeface="+mn-ea"/>
                        <a:ea typeface="+mn-ea"/>
                      </a:endParaRPr>
                    </a:p>
                    <a:p>
                      <a:pPr marL="0" marR="0" indent="0" algn="l" defTabSz="1219170" rtl="0" eaLnBrk="1" fontAlgn="ctr" latinLnBrk="0" hangingPunct="1">
                        <a:lnSpc>
                          <a:spcPct val="100000"/>
                        </a:lnSpc>
                        <a:spcBef>
                          <a:spcPts val="0"/>
                        </a:spcBef>
                        <a:spcAft>
                          <a:spcPts val="0"/>
                        </a:spcAft>
                        <a:buClrTx/>
                        <a:buSzTx/>
                        <a:buFontTx/>
                        <a:buNone/>
                        <a:tabLst/>
                        <a:defRPr/>
                      </a:pPr>
                      <a:r>
                        <a:rPr lang="zh-CN" altLang="en-US" sz="1050" b="1" dirty="0" smtClean="0">
                          <a:solidFill>
                            <a:srgbClr val="000000"/>
                          </a:solidFill>
                          <a:effectLst/>
                          <a:latin typeface="+mn-ea"/>
                          <a:ea typeface="+mn-ea"/>
                        </a:rPr>
                        <a:t>预研阶段评估送样需求，适当预留资源</a:t>
                      </a:r>
                      <a:endParaRPr lang="en-US" altLang="zh-CN" sz="1050" b="1" dirty="0" smtClean="0">
                        <a:solidFill>
                          <a:srgbClr val="000000"/>
                        </a:solidFill>
                        <a:effectLst/>
                        <a:latin typeface="+mn-ea"/>
                        <a:ea typeface="+mn-ea"/>
                      </a:endParaRPr>
                    </a:p>
                  </a:txBody>
                  <a:tcPr anchor="ctr"/>
                </a:tc>
                <a:tc>
                  <a:txBody>
                    <a:bodyPr/>
                    <a:lstStyle/>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a:t>
                      </a:r>
                      <a:r>
                        <a:rPr lang="en-US" altLang="zh-CN" sz="1050" dirty="0" smtClean="0">
                          <a:solidFill>
                            <a:srgbClr val="000000"/>
                          </a:solidFill>
                          <a:effectLst/>
                          <a:latin typeface="+mn-ea"/>
                          <a:ea typeface="+mn-ea"/>
                        </a:rPr>
                        <a:t>PDD</a:t>
                      </a:r>
                      <a:r>
                        <a:rPr lang="zh-CN" altLang="en-US" sz="1050" dirty="0">
                          <a:solidFill>
                            <a:schemeClr val="tx1"/>
                          </a:solidFill>
                          <a:effectLst/>
                          <a:latin typeface="+mn-ea"/>
                          <a:ea typeface="+mn-ea"/>
                        </a:rPr>
                        <a:t>定制项目需求确认不高效，拉锯式确认，导致客户需求确认定版持续</a:t>
                      </a:r>
                      <a:r>
                        <a:rPr lang="en-US" altLang="zh-CN" sz="1050" dirty="0">
                          <a:solidFill>
                            <a:schemeClr val="tx1"/>
                          </a:solidFill>
                          <a:effectLst/>
                          <a:latin typeface="+mn-ea"/>
                          <a:ea typeface="+mn-ea"/>
                        </a:rPr>
                        <a:t>2+</a:t>
                      </a:r>
                      <a:r>
                        <a:rPr lang="zh-CN" altLang="en-US" sz="1050" dirty="0">
                          <a:solidFill>
                            <a:schemeClr val="tx1"/>
                          </a:solidFill>
                          <a:effectLst/>
                          <a:latin typeface="+mn-ea"/>
                          <a:ea typeface="+mn-ea"/>
                        </a:rPr>
                        <a:t>个</a:t>
                      </a:r>
                      <a:r>
                        <a:rPr lang="zh-CN" altLang="en-US" sz="1050" dirty="0" smtClean="0">
                          <a:solidFill>
                            <a:schemeClr val="tx1"/>
                          </a:solidFill>
                          <a:effectLst/>
                          <a:latin typeface="+mn-ea"/>
                          <a:ea typeface="+mn-ea"/>
                        </a:rPr>
                        <a:t>月</a:t>
                      </a:r>
                      <a:endParaRPr lang="en-US" altLang="zh-CN" sz="1050" dirty="0" smtClean="0">
                        <a:solidFill>
                          <a:schemeClr val="tx1"/>
                        </a:solidFill>
                        <a:effectLst/>
                        <a:latin typeface="+mn-ea"/>
                        <a:ea typeface="+mn-ea"/>
                      </a:endParaRPr>
                    </a:p>
                    <a:p>
                      <a:pPr marL="0" marR="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chemeClr val="tx1"/>
                          </a:solidFill>
                          <a:effectLst/>
                          <a:latin typeface="+mn-ea"/>
                          <a:ea typeface="+mn-ea"/>
                        </a:rPr>
                        <a:t>2</a:t>
                      </a:r>
                      <a:r>
                        <a:rPr lang="zh-CN" altLang="en-US" sz="1050" dirty="0" smtClean="0">
                          <a:solidFill>
                            <a:schemeClr val="tx1"/>
                          </a:solidFill>
                          <a:effectLst/>
                          <a:latin typeface="+mn-ea"/>
                          <a:ea typeface="+mn-ea"/>
                        </a:rPr>
                        <a:t>、南海、红海临时性送测需求，导致费用增加、进度延期</a:t>
                      </a:r>
                      <a:r>
                        <a:rPr lang="en-US" altLang="zh-CN" sz="1050" dirty="0" smtClean="0">
                          <a:solidFill>
                            <a:schemeClr val="tx1"/>
                          </a:solidFill>
                          <a:effectLst/>
                          <a:latin typeface="+mn-ea"/>
                          <a:ea typeface="+mn-ea"/>
                        </a:rPr>
                        <a:t>(</a:t>
                      </a:r>
                      <a:r>
                        <a:rPr lang="zh-CN" altLang="en-US" sz="1050" dirty="0" smtClean="0">
                          <a:solidFill>
                            <a:schemeClr val="tx1"/>
                          </a:solidFill>
                          <a:effectLst/>
                          <a:latin typeface="+mn-ea"/>
                          <a:ea typeface="+mn-ea"/>
                        </a:rPr>
                        <a:t>暂停），针对进度会出现前松后紧的问题</a:t>
                      </a:r>
                    </a:p>
                  </a:txBody>
                  <a:tcPr anchor="ctr"/>
                </a:tc>
                <a:extLst>
                  <a:ext uri="{0D108BD9-81ED-4DB2-BD59-A6C34878D82A}">
                    <a16:rowId xmlns:a16="http://schemas.microsoft.com/office/drawing/2014/main" val="1716212543"/>
                  </a:ext>
                </a:extLst>
              </a:tr>
              <a:tr h="1546749">
                <a:tc vMerge="1">
                  <a:txBody>
                    <a:bodyPr/>
                    <a:lstStyle/>
                    <a:p>
                      <a:pPr algn="ctr" fontAlgn="ctr" latinLnBrk="0"/>
                      <a:r>
                        <a:rPr lang="zh-CN" altLang="en-US" sz="1200" dirty="0">
                          <a:solidFill>
                            <a:srgbClr val="000000"/>
                          </a:solidFill>
                          <a:effectLst/>
                        </a:rPr>
                        <a:t>预研阶段</a:t>
                      </a:r>
                    </a:p>
                  </a:txBody>
                  <a:tcPr anchor="ctr"/>
                </a:tc>
                <a:tc>
                  <a:txBody>
                    <a:bodyPr/>
                    <a:lstStyle/>
                    <a:p>
                      <a:pPr algn="ctr" fontAlgn="ctr" latinLnBrk="0"/>
                      <a:r>
                        <a:rPr lang="zh-CN" altLang="en-US" sz="1050" dirty="0">
                          <a:solidFill>
                            <a:srgbClr val="000000"/>
                          </a:solidFill>
                          <a:effectLst/>
                          <a:latin typeface="+mn-ea"/>
                          <a:ea typeface="+mn-ea"/>
                        </a:rPr>
                        <a:t>架构师</a:t>
                      </a:r>
                    </a:p>
                  </a:txBody>
                  <a:tcPr anchor="ctr"/>
                </a:tc>
                <a:tc>
                  <a:txBody>
                    <a:bodyPr/>
                    <a:lstStyle/>
                    <a:p>
                      <a:pPr algn="ctr" fontAlgn="ctr" latinLnBrk="0"/>
                      <a:r>
                        <a:rPr lang="zh-CN" altLang="en-US" sz="1050" dirty="0" smtClean="0">
                          <a:solidFill>
                            <a:srgbClr val="000000"/>
                          </a:solidFill>
                          <a:effectLst/>
                          <a:latin typeface="+mn-ea"/>
                          <a:ea typeface="+mn-ea"/>
                        </a:rPr>
                        <a:t>识别技术风险</a:t>
                      </a:r>
                      <a:endParaRPr lang="en-US" altLang="zh-CN" sz="1050" dirty="0" smtClean="0">
                        <a:solidFill>
                          <a:srgbClr val="000000"/>
                        </a:solidFill>
                        <a:effectLst/>
                        <a:latin typeface="+mn-ea"/>
                        <a:ea typeface="+mn-ea"/>
                      </a:endParaRPr>
                    </a:p>
                    <a:p>
                      <a:pPr algn="ctr" fontAlgn="ctr" latinLnBrk="0"/>
                      <a:r>
                        <a:rPr lang="zh-CN" altLang="en-US" sz="1050" dirty="0" smtClean="0">
                          <a:solidFill>
                            <a:srgbClr val="000000"/>
                          </a:solidFill>
                          <a:effectLst/>
                          <a:latin typeface="+mn-ea"/>
                          <a:ea typeface="+mn-ea"/>
                        </a:rPr>
                        <a:t>规划预研工作</a:t>
                      </a:r>
                      <a:endParaRPr lang="en-US" altLang="zh-CN" sz="1050" dirty="0" smtClean="0">
                        <a:solidFill>
                          <a:srgbClr val="000000"/>
                        </a:solidFill>
                        <a:effectLst/>
                        <a:latin typeface="+mn-ea"/>
                        <a:ea typeface="+mn-ea"/>
                      </a:endParaRPr>
                    </a:p>
                  </a:txBody>
                  <a:tcPr anchor="ctr"/>
                </a:tc>
                <a:tc>
                  <a:txBody>
                    <a:bodyPr/>
                    <a:lstStyle/>
                    <a:p>
                      <a:pPr algn="l" fontAlgn="ctr" latinLnBrk="0"/>
                      <a:r>
                        <a:rPr lang="zh-CN" altLang="en-US" sz="1050" b="1" dirty="0" smtClean="0">
                          <a:solidFill>
                            <a:srgbClr val="000000"/>
                          </a:solidFill>
                          <a:effectLst/>
                          <a:latin typeface="+mn-ea"/>
                          <a:ea typeface="+mn-ea"/>
                        </a:rPr>
                        <a:t>建议：</a:t>
                      </a:r>
                      <a:r>
                        <a:rPr lang="zh-CN" altLang="en-US" sz="1050" dirty="0" smtClean="0">
                          <a:solidFill>
                            <a:srgbClr val="000000"/>
                          </a:solidFill>
                          <a:effectLst/>
                          <a:latin typeface="+mn-ea"/>
                          <a:ea typeface="+mn-ea"/>
                        </a:rPr>
                        <a:t>单一项目如存在技术风险，提前执行</a:t>
                      </a:r>
                      <a:r>
                        <a:rPr lang="zh-CN" altLang="en-US" sz="1050" b="1" dirty="0" smtClean="0">
                          <a:solidFill>
                            <a:srgbClr val="000000"/>
                          </a:solidFill>
                          <a:effectLst/>
                          <a:latin typeface="+mn-ea"/>
                          <a:ea typeface="+mn-ea"/>
                        </a:rPr>
                        <a:t>预研方案</a:t>
                      </a:r>
                      <a:r>
                        <a:rPr lang="zh-CN" altLang="en-US" sz="1050" dirty="0" smtClean="0">
                          <a:solidFill>
                            <a:srgbClr val="000000"/>
                          </a:solidFill>
                          <a:effectLst/>
                          <a:latin typeface="+mn-ea"/>
                          <a:ea typeface="+mn-ea"/>
                        </a:rPr>
                        <a:t>的输出、评审、验证：</a:t>
                      </a:r>
                      <a:endParaRPr lang="en-US" altLang="zh-CN" sz="1050" dirty="0" smtClean="0">
                        <a:solidFill>
                          <a:srgbClr val="000000"/>
                        </a:solidFill>
                        <a:effectLst/>
                        <a:latin typeface="+mn-ea"/>
                        <a:ea typeface="+mn-ea"/>
                      </a:endParaRPr>
                    </a:p>
                    <a:p>
                      <a:pPr algn="l" fontAlgn="ctr" latinLnBrk="0"/>
                      <a:r>
                        <a:rPr lang="zh-CN" altLang="en-US" sz="1050" dirty="0" smtClean="0">
                          <a:solidFill>
                            <a:srgbClr val="000000"/>
                          </a:solidFill>
                          <a:effectLst/>
                          <a:latin typeface="+mn-ea"/>
                          <a:ea typeface="+mn-ea"/>
                        </a:rPr>
                        <a:t>预</a:t>
                      </a:r>
                      <a:r>
                        <a:rPr lang="zh-CN" altLang="en-US" sz="1050" dirty="0">
                          <a:solidFill>
                            <a:srgbClr val="000000"/>
                          </a:solidFill>
                          <a:effectLst/>
                          <a:latin typeface="+mn-ea"/>
                          <a:ea typeface="+mn-ea"/>
                        </a:rPr>
                        <a:t>研</a:t>
                      </a:r>
                      <a:r>
                        <a:rPr lang="zh-CN" altLang="en-US" sz="1050" dirty="0" smtClean="0">
                          <a:solidFill>
                            <a:srgbClr val="000000"/>
                          </a:solidFill>
                          <a:effectLst/>
                          <a:latin typeface="+mn-ea"/>
                          <a:ea typeface="+mn-ea"/>
                        </a:rPr>
                        <a:t>阶段识别</a:t>
                      </a:r>
                      <a:r>
                        <a:rPr lang="zh-CN" altLang="en-US" sz="1050" dirty="0">
                          <a:solidFill>
                            <a:srgbClr val="000000"/>
                          </a:solidFill>
                          <a:effectLst/>
                          <a:latin typeface="+mn-ea"/>
                          <a:ea typeface="+mn-ea"/>
                        </a:rPr>
                        <a:t>技术风险，进行有效、且有计划开展技术方案预研；在取得明确技术成果、或确定方案路线后，指导详细设计，减少技术风险。</a:t>
                      </a:r>
                    </a:p>
                  </a:txBody>
                  <a:tcPr anchor="ctr"/>
                </a:tc>
                <a:tc>
                  <a:txBody>
                    <a:bodyPr/>
                    <a:lstStyle/>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、千</a:t>
                      </a:r>
                      <a:r>
                        <a:rPr lang="zh-CN" altLang="en-US" sz="1050" dirty="0">
                          <a:solidFill>
                            <a:srgbClr val="000000"/>
                          </a:solidFill>
                          <a:effectLst/>
                          <a:latin typeface="+mn-ea"/>
                          <a:ea typeface="+mn-ea"/>
                        </a:rPr>
                        <a:t>岛湖</a:t>
                      </a:r>
                      <a:r>
                        <a:rPr lang="en-US" altLang="zh-CN" sz="1050" dirty="0">
                          <a:solidFill>
                            <a:srgbClr val="000000"/>
                          </a:solidFill>
                          <a:effectLst/>
                          <a:latin typeface="+mn-ea"/>
                          <a:ea typeface="+mn-ea"/>
                        </a:rPr>
                        <a:t>COM</a:t>
                      </a:r>
                      <a:r>
                        <a:rPr lang="zh-CN" altLang="en-US" sz="1050" dirty="0">
                          <a:solidFill>
                            <a:srgbClr val="000000"/>
                          </a:solidFill>
                          <a:effectLst/>
                          <a:latin typeface="+mn-ea"/>
                          <a:ea typeface="+mn-ea"/>
                        </a:rPr>
                        <a:t>口方案架构师未提前组织方案预研，详细设计阶段由研发主导预研，影响主板出图进度；</a:t>
                      </a:r>
                      <a:br>
                        <a:rPr lang="zh-CN" altLang="en-US" sz="1050" dirty="0">
                          <a:solidFill>
                            <a:srgbClr val="000000"/>
                          </a:solidFill>
                          <a:effectLst/>
                          <a:latin typeface="+mn-ea"/>
                          <a:ea typeface="+mn-ea"/>
                        </a:rPr>
                      </a:b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、东</a:t>
                      </a:r>
                      <a:r>
                        <a:rPr lang="zh-CN" altLang="en-US" sz="1050" dirty="0">
                          <a:solidFill>
                            <a:srgbClr val="000000"/>
                          </a:solidFill>
                          <a:effectLst/>
                          <a:latin typeface="+mn-ea"/>
                          <a:ea typeface="+mn-ea"/>
                        </a:rPr>
                        <a:t>湖高性能分流板</a:t>
                      </a:r>
                      <a:r>
                        <a:rPr lang="en-US" altLang="zh-CN" sz="1050" dirty="0">
                          <a:solidFill>
                            <a:srgbClr val="000000"/>
                          </a:solidFill>
                          <a:effectLst/>
                          <a:latin typeface="+mn-ea"/>
                          <a:ea typeface="+mn-ea"/>
                        </a:rPr>
                        <a:t>FPGA</a:t>
                      </a:r>
                      <a:r>
                        <a:rPr lang="zh-CN" altLang="en-US" sz="1050" dirty="0">
                          <a:solidFill>
                            <a:srgbClr val="000000"/>
                          </a:solidFill>
                          <a:effectLst/>
                          <a:latin typeface="+mn-ea"/>
                          <a:ea typeface="+mn-ea"/>
                        </a:rPr>
                        <a:t>方案未进行技术预研，研发测试阶段多次改版，无法实现功能，严重影响项目进度。</a:t>
                      </a:r>
                    </a:p>
                  </a:txBody>
                  <a:tcPr anchor="ctr"/>
                </a:tc>
                <a:extLst>
                  <a:ext uri="{0D108BD9-81ED-4DB2-BD59-A6C34878D82A}">
                    <a16:rowId xmlns:a16="http://schemas.microsoft.com/office/drawing/2014/main" val="575491213"/>
                  </a:ext>
                </a:extLst>
              </a:tr>
              <a:tr h="988905">
                <a:tc>
                  <a:txBody>
                    <a:bodyPr/>
                    <a:lstStyle/>
                    <a:p>
                      <a:pPr algn="ctr" fontAlgn="ctr" latinLnBrk="0"/>
                      <a:r>
                        <a:rPr lang="en-US" altLang="zh-CN" sz="1050" dirty="0">
                          <a:solidFill>
                            <a:srgbClr val="000000"/>
                          </a:solidFill>
                          <a:effectLst/>
                          <a:latin typeface="+mn-ea"/>
                          <a:ea typeface="+mn-ea"/>
                        </a:rPr>
                        <a:t>L3-</a:t>
                      </a:r>
                      <a:r>
                        <a:rPr lang="zh-CN" altLang="en-US" sz="1050" dirty="0">
                          <a:solidFill>
                            <a:srgbClr val="000000"/>
                          </a:solidFill>
                          <a:effectLst/>
                          <a:latin typeface="+mn-ea"/>
                          <a:ea typeface="+mn-ea"/>
                        </a:rPr>
                        <a:t>立项筹备</a:t>
                      </a:r>
                    </a:p>
                  </a:txBody>
                  <a:tcPr anchor="ctr"/>
                </a:tc>
                <a:tc>
                  <a:txBody>
                    <a:bodyPr/>
                    <a:lstStyle/>
                    <a:p>
                      <a:pPr algn="ctr" fontAlgn="ctr" latinLnBrk="0"/>
                      <a:r>
                        <a:rPr lang="zh-CN" altLang="en-US" sz="1050" dirty="0">
                          <a:solidFill>
                            <a:srgbClr val="000000"/>
                          </a:solidFill>
                          <a:effectLst/>
                          <a:latin typeface="+mn-ea"/>
                          <a:ea typeface="+mn-ea"/>
                        </a:rPr>
                        <a:t>市场代表、</a:t>
                      </a:r>
                      <a:endParaRPr lang="en-US" altLang="zh-CN" sz="1050" dirty="0">
                        <a:solidFill>
                          <a:srgbClr val="000000"/>
                        </a:solidFill>
                        <a:effectLst/>
                        <a:latin typeface="+mn-ea"/>
                        <a:ea typeface="+mn-ea"/>
                      </a:endParaRPr>
                    </a:p>
                    <a:p>
                      <a:pPr algn="ctr" fontAlgn="ctr" latinLnBrk="0"/>
                      <a:r>
                        <a:rPr lang="en-US" altLang="zh-CN" sz="1050" dirty="0">
                          <a:solidFill>
                            <a:srgbClr val="000000"/>
                          </a:solidFill>
                          <a:effectLst/>
                          <a:latin typeface="+mn-ea"/>
                          <a:ea typeface="+mn-ea"/>
                        </a:rPr>
                        <a:t>SE</a:t>
                      </a:r>
                      <a:endParaRPr lang="en-US" sz="1050" dirty="0">
                        <a:solidFill>
                          <a:srgbClr val="000000"/>
                        </a:solidFill>
                        <a:effectLst/>
                        <a:latin typeface="+mn-ea"/>
                        <a:ea typeface="+mn-ea"/>
                      </a:endParaRPr>
                    </a:p>
                  </a:txBody>
                  <a:tcPr anchor="ctr"/>
                </a:tc>
                <a:tc>
                  <a:txBody>
                    <a:bodyPr/>
                    <a:lstStyle/>
                    <a:p>
                      <a:pPr algn="ctr" fontAlgn="ctr" latinLnBrk="0"/>
                      <a:r>
                        <a:rPr lang="zh-CN" altLang="en-US" sz="1050" dirty="0">
                          <a:solidFill>
                            <a:srgbClr val="000000"/>
                          </a:solidFill>
                          <a:effectLst/>
                          <a:latin typeface="+mn-ea"/>
                          <a:ea typeface="+mn-ea"/>
                        </a:rPr>
                        <a:t>全局规划</a:t>
                      </a:r>
                    </a:p>
                  </a:txBody>
                  <a:tcPr anchor="ctr"/>
                </a:tc>
                <a:tc>
                  <a:txBody>
                    <a:bodyPr/>
                    <a:lstStyle/>
                    <a:p>
                      <a:pPr algn="l" fontAlgn="ctr" latinLnBrk="0"/>
                      <a:r>
                        <a:rPr lang="zh-CN" altLang="en-US" sz="1050" b="1" dirty="0" smtClean="0">
                          <a:solidFill>
                            <a:srgbClr val="000000"/>
                          </a:solidFill>
                          <a:effectLst/>
                          <a:latin typeface="+mn-ea"/>
                          <a:ea typeface="+mn-ea"/>
                        </a:rPr>
                        <a:t>诉求：立项节奏</a:t>
                      </a:r>
                      <a:endParaRPr lang="en-US" altLang="zh-CN" sz="1050" b="1" dirty="0" smtClean="0">
                        <a:solidFill>
                          <a:srgbClr val="000000"/>
                        </a:solidFill>
                        <a:effectLst/>
                        <a:latin typeface="+mn-ea"/>
                        <a:ea typeface="+mn-ea"/>
                      </a:endParaRPr>
                    </a:p>
                    <a:p>
                      <a:pPr algn="l" fontAlgn="ctr" latinLnBrk="0"/>
                      <a:r>
                        <a:rPr lang="en-US" altLang="zh-CN" sz="1050" dirty="0" smtClean="0">
                          <a:solidFill>
                            <a:srgbClr val="000000"/>
                          </a:solidFill>
                          <a:effectLst/>
                          <a:latin typeface="+mn-ea"/>
                          <a:ea typeface="+mn-ea"/>
                        </a:rPr>
                        <a:t>SE</a:t>
                      </a:r>
                      <a:r>
                        <a:rPr lang="zh-CN" altLang="en-US" sz="1050" dirty="0">
                          <a:solidFill>
                            <a:srgbClr val="000000"/>
                          </a:solidFill>
                          <a:effectLst/>
                          <a:latin typeface="+mn-ea"/>
                          <a:ea typeface="+mn-ea"/>
                        </a:rPr>
                        <a:t>和市场</a:t>
                      </a:r>
                      <a:r>
                        <a:rPr lang="zh-CN" altLang="en-US" sz="1050" dirty="0" smtClean="0">
                          <a:solidFill>
                            <a:srgbClr val="000000"/>
                          </a:solidFill>
                          <a:effectLst/>
                          <a:latin typeface="+mn-ea"/>
                          <a:ea typeface="+mn-ea"/>
                        </a:rPr>
                        <a:t>代表定期维护新产品立项时间计划；</a:t>
                      </a:r>
                      <a:r>
                        <a:rPr lang="zh-CN" altLang="en-US" sz="1050" dirty="0">
                          <a:solidFill>
                            <a:srgbClr val="000000"/>
                          </a:solidFill>
                          <a:effectLst/>
                          <a:latin typeface="+mn-ea"/>
                          <a:ea typeface="+mn-ea"/>
                        </a:rPr>
                        <a:t>并针对立项规划状况、定期进行产品技术委员会</a:t>
                      </a:r>
                      <a:r>
                        <a:rPr lang="zh-CN" altLang="en-US" sz="1050" dirty="0" smtClean="0">
                          <a:solidFill>
                            <a:srgbClr val="000000"/>
                          </a:solidFill>
                          <a:effectLst/>
                          <a:latin typeface="+mn-ea"/>
                          <a:ea typeface="+mn-ea"/>
                        </a:rPr>
                        <a:t>汇报；合理得按节奏执行立项工作</a:t>
                      </a:r>
                      <a:endParaRPr lang="zh-CN" altLang="en-US" sz="1050" dirty="0">
                        <a:solidFill>
                          <a:srgbClr val="000000"/>
                        </a:solidFill>
                        <a:effectLst/>
                        <a:latin typeface="+mn-ea"/>
                        <a:ea typeface="+mn-ea"/>
                      </a:endParaRPr>
                    </a:p>
                  </a:txBody>
                  <a:tcPr anchor="ctr"/>
                </a:tc>
                <a:tc>
                  <a:txBody>
                    <a:bodyPr/>
                    <a:lstStyle/>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、前</a:t>
                      </a:r>
                      <a:r>
                        <a:rPr lang="zh-CN" altLang="en-US" sz="1050" dirty="0">
                          <a:solidFill>
                            <a:srgbClr val="000000"/>
                          </a:solidFill>
                          <a:effectLst/>
                          <a:latin typeface="+mn-ea"/>
                          <a:ea typeface="+mn-ea"/>
                        </a:rPr>
                        <a:t>海项目立项非常缓慢，其余</a:t>
                      </a:r>
                      <a:r>
                        <a:rPr lang="en-US" altLang="zh-CN" sz="1050" dirty="0">
                          <a:solidFill>
                            <a:srgbClr val="000000"/>
                          </a:solidFill>
                          <a:effectLst/>
                          <a:latin typeface="+mn-ea"/>
                          <a:ea typeface="+mn-ea"/>
                        </a:rPr>
                        <a:t>HG4</a:t>
                      </a:r>
                      <a:r>
                        <a:rPr lang="zh-CN" altLang="en-US" sz="1050" dirty="0">
                          <a:solidFill>
                            <a:srgbClr val="000000"/>
                          </a:solidFill>
                          <a:effectLst/>
                          <a:latin typeface="+mn-ea"/>
                          <a:ea typeface="+mn-ea"/>
                        </a:rPr>
                        <a:t>号立项规划，当前全部延期；</a:t>
                      </a:r>
                      <a:br>
                        <a:rPr lang="zh-CN" altLang="en-US" sz="1050" dirty="0">
                          <a:solidFill>
                            <a:srgbClr val="000000"/>
                          </a:solidFill>
                          <a:effectLst/>
                          <a:latin typeface="+mn-ea"/>
                          <a:ea typeface="+mn-ea"/>
                        </a:rPr>
                      </a:b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a:t>
                      </a:r>
                      <a:r>
                        <a:rPr lang="en-US" altLang="zh-CN" sz="1050" dirty="0" smtClean="0">
                          <a:solidFill>
                            <a:srgbClr val="000000"/>
                          </a:solidFill>
                          <a:effectLst/>
                          <a:latin typeface="+mn-ea"/>
                          <a:ea typeface="+mn-ea"/>
                        </a:rPr>
                        <a:t>HG </a:t>
                      </a:r>
                      <a:r>
                        <a:rPr lang="en-US" altLang="zh-CN" sz="1050" dirty="0">
                          <a:solidFill>
                            <a:srgbClr val="000000"/>
                          </a:solidFill>
                          <a:effectLst/>
                          <a:latin typeface="+mn-ea"/>
                          <a:ea typeface="+mn-ea"/>
                        </a:rPr>
                        <a:t>3</a:t>
                      </a:r>
                      <a:r>
                        <a:rPr lang="zh-CN" altLang="en-US" sz="1050" dirty="0">
                          <a:solidFill>
                            <a:srgbClr val="000000"/>
                          </a:solidFill>
                          <a:effectLst/>
                          <a:latin typeface="+mn-ea"/>
                          <a:ea typeface="+mn-ea"/>
                        </a:rPr>
                        <a:t>号项目群立项非常紧急，缺乏准备；</a:t>
                      </a:r>
                    </a:p>
                  </a:txBody>
                  <a:tcPr anchor="ctr"/>
                </a:tc>
                <a:extLst>
                  <a:ext uri="{0D108BD9-81ED-4DB2-BD59-A6C34878D82A}">
                    <a16:rowId xmlns:a16="http://schemas.microsoft.com/office/drawing/2014/main" val="4053013963"/>
                  </a:ext>
                </a:extLst>
              </a:tr>
            </a:tbl>
          </a:graphicData>
        </a:graphic>
      </p:graphicFrame>
    </p:spTree>
    <p:extLst>
      <p:ext uri="{BB962C8B-B14F-4D97-AF65-F5344CB8AC3E}">
        <p14:creationId xmlns:p14="http://schemas.microsoft.com/office/powerpoint/2010/main" val="6970160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34A8F8C5-6A0B-BBF4-44B2-BCD9A4BB5453}"/>
              </a:ext>
            </a:extLst>
          </p:cNvPr>
          <p:cNvSpPr/>
          <p:nvPr/>
        </p:nvSpPr>
        <p:spPr>
          <a:xfrm>
            <a:off x="431403" y="1102976"/>
            <a:ext cx="11365755" cy="5489949"/>
          </a:xfrm>
          <a:prstGeom prst="rect">
            <a:avLst/>
          </a:prstGeom>
          <a:solidFill>
            <a:schemeClr val="bg1">
              <a:lumMod val="9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400" dirty="0">
              <a:latin typeface="+mn-ea"/>
            </a:endParaRPr>
          </a:p>
        </p:txBody>
      </p:sp>
      <p:sp>
        <p:nvSpPr>
          <p:cNvPr id="2" name="文本占位符 1">
            <a:extLst>
              <a:ext uri="{FF2B5EF4-FFF2-40B4-BE49-F238E27FC236}">
                <a16:creationId xmlns:a16="http://schemas.microsoft.com/office/drawing/2014/main" id="{48B42C76-EFF3-E493-771B-0E97BC74DE11}"/>
              </a:ext>
            </a:extLst>
          </p:cNvPr>
          <p:cNvSpPr>
            <a:spLocks noGrp="1"/>
          </p:cNvSpPr>
          <p:nvPr>
            <p:ph type="body" sz="quarter" idx="13"/>
          </p:nvPr>
        </p:nvSpPr>
        <p:spPr>
          <a:xfrm>
            <a:off x="239349" y="164637"/>
            <a:ext cx="10317815" cy="672075"/>
          </a:xfrm>
        </p:spPr>
        <p:txBody>
          <a:bodyPr/>
          <a:lstStyle/>
          <a:p>
            <a:r>
              <a:rPr lang="en-US" altLang="zh-CN" dirty="0" smtClean="0"/>
              <a:t>M2</a:t>
            </a:r>
            <a:r>
              <a:rPr lang="zh-CN" altLang="en-US" dirty="0"/>
              <a:t>计划</a:t>
            </a:r>
            <a:r>
              <a:rPr lang="zh-CN" altLang="en-US" dirty="0" smtClean="0"/>
              <a:t>阶段</a:t>
            </a:r>
            <a:r>
              <a:rPr lang="en-US" altLang="zh-CN" dirty="0" smtClean="0"/>
              <a:t>——</a:t>
            </a:r>
            <a:r>
              <a:rPr lang="zh-CN" altLang="en-US" dirty="0" smtClean="0"/>
              <a:t>工作要点概览</a:t>
            </a:r>
            <a:endParaRPr lang="zh-CN" altLang="en-US" dirty="0"/>
          </a:p>
        </p:txBody>
      </p:sp>
      <p:grpSp>
        <p:nvGrpSpPr>
          <p:cNvPr id="3" name="组合 2">
            <a:extLst>
              <a:ext uri="{FF2B5EF4-FFF2-40B4-BE49-F238E27FC236}">
                <a16:creationId xmlns:a16="http://schemas.microsoft.com/office/drawing/2014/main" id="{367F1A7D-958B-0DB0-F316-5853A3B5A56E}"/>
              </a:ext>
            </a:extLst>
          </p:cNvPr>
          <p:cNvGrpSpPr/>
          <p:nvPr/>
        </p:nvGrpSpPr>
        <p:grpSpPr>
          <a:xfrm>
            <a:off x="2185190" y="1107047"/>
            <a:ext cx="9611968" cy="542664"/>
            <a:chOff x="2185190" y="1107047"/>
            <a:chExt cx="8414936" cy="542664"/>
          </a:xfrm>
        </p:grpSpPr>
        <p:sp>
          <p:nvSpPr>
            <p:cNvPr id="18" name="矩形 17">
              <a:extLst>
                <a:ext uri="{FF2B5EF4-FFF2-40B4-BE49-F238E27FC236}">
                  <a16:creationId xmlns:a16="http://schemas.microsoft.com/office/drawing/2014/main" id="{D6D73363-CE92-E5CB-943B-0081CFC93AAF}"/>
                </a:ext>
              </a:extLst>
            </p:cNvPr>
            <p:cNvSpPr/>
            <p:nvPr/>
          </p:nvSpPr>
          <p:spPr>
            <a:xfrm>
              <a:off x="2185190" y="1107047"/>
              <a:ext cx="3367709"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L4 </a:t>
              </a:r>
              <a:r>
                <a:rPr lang="zh-CN" altLang="en-US" sz="1600" dirty="0"/>
                <a:t>概要设计</a:t>
              </a:r>
            </a:p>
          </p:txBody>
        </p:sp>
        <p:sp>
          <p:nvSpPr>
            <p:cNvPr id="19" name="矩形 18">
              <a:extLst>
                <a:ext uri="{FF2B5EF4-FFF2-40B4-BE49-F238E27FC236}">
                  <a16:creationId xmlns:a16="http://schemas.microsoft.com/office/drawing/2014/main" id="{703D17D6-23BF-50A3-C7FC-CEA968E6EDEB}"/>
                </a:ext>
              </a:extLst>
            </p:cNvPr>
            <p:cNvSpPr/>
            <p:nvPr/>
          </p:nvSpPr>
          <p:spPr>
            <a:xfrm>
              <a:off x="5552901" y="1107047"/>
              <a:ext cx="5047225"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L5 </a:t>
              </a:r>
              <a:r>
                <a:rPr lang="zh-CN" altLang="en-US" sz="1600" dirty="0"/>
                <a:t>开发计划</a:t>
              </a:r>
            </a:p>
          </p:txBody>
        </p:sp>
      </p:grpSp>
      <p:sp>
        <p:nvSpPr>
          <p:cNvPr id="21" name="矩形 20">
            <a:extLst>
              <a:ext uri="{FF2B5EF4-FFF2-40B4-BE49-F238E27FC236}">
                <a16:creationId xmlns:a16="http://schemas.microsoft.com/office/drawing/2014/main" id="{DC5F785F-3069-84A3-5508-8B008F0ED81D}"/>
              </a:ext>
            </a:extLst>
          </p:cNvPr>
          <p:cNvSpPr/>
          <p:nvPr/>
        </p:nvSpPr>
        <p:spPr>
          <a:xfrm>
            <a:off x="431403" y="1102976"/>
            <a:ext cx="1753787" cy="54266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t>M2 </a:t>
            </a:r>
            <a:r>
              <a:rPr lang="zh-CN" altLang="en-US" sz="1600" dirty="0"/>
              <a:t>计划阶段：</a:t>
            </a:r>
          </a:p>
        </p:txBody>
      </p:sp>
      <p:sp>
        <p:nvSpPr>
          <p:cNvPr id="22" name="等腰三角形 21">
            <a:extLst>
              <a:ext uri="{FF2B5EF4-FFF2-40B4-BE49-F238E27FC236}">
                <a16:creationId xmlns:a16="http://schemas.microsoft.com/office/drawing/2014/main" id="{D534E21C-E600-8FA7-063C-4D00C99BA758}"/>
              </a:ext>
            </a:extLst>
          </p:cNvPr>
          <p:cNvSpPr/>
          <p:nvPr/>
        </p:nvSpPr>
        <p:spPr>
          <a:xfrm>
            <a:off x="5934865" y="1711469"/>
            <a:ext cx="205358" cy="142613"/>
          </a:xfrm>
          <a:prstGeom prst="triangl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3" name="流程图: 合并 22">
            <a:extLst>
              <a:ext uri="{FF2B5EF4-FFF2-40B4-BE49-F238E27FC236}">
                <a16:creationId xmlns:a16="http://schemas.microsoft.com/office/drawing/2014/main" id="{9B81696A-00F8-E89A-BDBD-9E5573974EB4}"/>
              </a:ext>
            </a:extLst>
          </p:cNvPr>
          <p:cNvSpPr/>
          <p:nvPr/>
        </p:nvSpPr>
        <p:spPr>
          <a:xfrm>
            <a:off x="11643372" y="971770"/>
            <a:ext cx="319012" cy="178442"/>
          </a:xfrm>
          <a:prstGeom prst="flowChartMerg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280CC8F9-3797-B436-40F4-68A0B33770D1}"/>
              </a:ext>
            </a:extLst>
          </p:cNvPr>
          <p:cNvSpPr txBox="1"/>
          <p:nvPr/>
        </p:nvSpPr>
        <p:spPr>
          <a:xfrm>
            <a:off x="737656" y="1796395"/>
            <a:ext cx="1051502" cy="313932"/>
          </a:xfrm>
          <a:prstGeom prst="rect">
            <a:avLst/>
          </a:prstGeom>
          <a:noFill/>
        </p:spPr>
        <p:txBody>
          <a:bodyPr wrap="square" rtlCol="0">
            <a:spAutoFit/>
          </a:bodyPr>
          <a:lstStyle/>
          <a:p>
            <a:pPr algn="ctr">
              <a:lnSpc>
                <a:spcPct val="120000"/>
              </a:lnSpc>
            </a:pPr>
            <a:r>
              <a:rPr lang="zh-CN" altLang="en-US" sz="1200" b="1" dirty="0">
                <a:solidFill>
                  <a:schemeClr val="tx1">
                    <a:lumMod val="75000"/>
                    <a:lumOff val="25000"/>
                  </a:schemeClr>
                </a:solidFill>
              </a:rPr>
              <a:t>责任人</a:t>
            </a:r>
          </a:p>
        </p:txBody>
      </p:sp>
      <p:sp>
        <p:nvSpPr>
          <p:cNvPr id="32" name="文本框 31">
            <a:extLst>
              <a:ext uri="{FF2B5EF4-FFF2-40B4-BE49-F238E27FC236}">
                <a16:creationId xmlns:a16="http://schemas.microsoft.com/office/drawing/2014/main" id="{AE73BED7-1564-592E-A5A6-3EFA751973D3}"/>
              </a:ext>
            </a:extLst>
          </p:cNvPr>
          <p:cNvSpPr txBox="1"/>
          <p:nvPr/>
        </p:nvSpPr>
        <p:spPr>
          <a:xfrm>
            <a:off x="654291" y="2477241"/>
            <a:ext cx="1213453" cy="29828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系统架构师</a:t>
            </a:r>
            <a:endParaRPr lang="en-US" altLang="zh-CN" sz="1200" b="1" dirty="0">
              <a:solidFill>
                <a:schemeClr val="bg1"/>
              </a:solidFill>
            </a:endParaRPr>
          </a:p>
        </p:txBody>
      </p:sp>
      <p:sp>
        <p:nvSpPr>
          <p:cNvPr id="33" name="文本框 32">
            <a:extLst>
              <a:ext uri="{FF2B5EF4-FFF2-40B4-BE49-F238E27FC236}">
                <a16:creationId xmlns:a16="http://schemas.microsoft.com/office/drawing/2014/main" id="{2BAFCE65-8F20-D069-7941-DC4C3950CB93}"/>
              </a:ext>
            </a:extLst>
          </p:cNvPr>
          <p:cNvSpPr txBox="1"/>
          <p:nvPr/>
        </p:nvSpPr>
        <p:spPr>
          <a:xfrm>
            <a:off x="654288" y="5861171"/>
            <a:ext cx="1213453" cy="3139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lnSpc>
                <a:spcPct val="120000"/>
              </a:lnSpc>
            </a:pPr>
            <a:r>
              <a:rPr lang="zh-CN" altLang="en-US" sz="1200" b="1" dirty="0">
                <a:solidFill>
                  <a:schemeClr val="bg1"/>
                </a:solidFill>
              </a:rPr>
              <a:t>项目经理</a:t>
            </a:r>
            <a:endParaRPr lang="en-US" altLang="zh-CN" sz="1200" b="1" dirty="0">
              <a:solidFill>
                <a:schemeClr val="bg1"/>
              </a:solidFill>
            </a:endParaRPr>
          </a:p>
        </p:txBody>
      </p:sp>
      <p:sp>
        <p:nvSpPr>
          <p:cNvPr id="34" name="文本框 33">
            <a:extLst>
              <a:ext uri="{FF2B5EF4-FFF2-40B4-BE49-F238E27FC236}">
                <a16:creationId xmlns:a16="http://schemas.microsoft.com/office/drawing/2014/main" id="{8A2C3078-C388-2696-E1B2-3CA54FD2E531}"/>
              </a:ext>
            </a:extLst>
          </p:cNvPr>
          <p:cNvSpPr txBox="1"/>
          <p:nvPr/>
        </p:nvSpPr>
        <p:spPr>
          <a:xfrm>
            <a:off x="654288" y="4650883"/>
            <a:ext cx="1213453" cy="299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lnSpc>
                <a:spcPct val="120000"/>
              </a:lnSpc>
            </a:pPr>
            <a:r>
              <a:rPr lang="en-US" altLang="zh-CN" sz="1200" b="1" dirty="0">
                <a:solidFill>
                  <a:schemeClr val="bg1"/>
                </a:solidFill>
              </a:rPr>
              <a:t>DQA</a:t>
            </a:r>
          </a:p>
        </p:txBody>
      </p:sp>
      <p:sp>
        <p:nvSpPr>
          <p:cNvPr id="35" name="矩形 34">
            <a:extLst>
              <a:ext uri="{FF2B5EF4-FFF2-40B4-BE49-F238E27FC236}">
                <a16:creationId xmlns:a16="http://schemas.microsoft.com/office/drawing/2014/main" id="{67757F8E-BAAD-D124-1244-69B1B7EE4DB2}"/>
              </a:ext>
            </a:extLst>
          </p:cNvPr>
          <p:cNvSpPr/>
          <p:nvPr/>
        </p:nvSpPr>
        <p:spPr>
          <a:xfrm>
            <a:off x="2742221" y="2700778"/>
            <a:ext cx="2221658" cy="366895"/>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050" b="1" dirty="0">
                <a:latin typeface="+mn-ea"/>
              </a:rPr>
              <a:t>《</a:t>
            </a:r>
            <a:r>
              <a:rPr lang="zh-CN" altLang="en-US" sz="1050" b="1" dirty="0">
                <a:latin typeface="+mn-ea"/>
              </a:rPr>
              <a:t>系统概要设计说明书</a:t>
            </a:r>
            <a:r>
              <a:rPr lang="en-US" altLang="zh-CN" sz="1050" b="1" dirty="0">
                <a:latin typeface="+mn-ea"/>
              </a:rPr>
              <a:t>》</a:t>
            </a:r>
            <a:endParaRPr lang="zh-CN" altLang="en-US" sz="1050" b="1" dirty="0">
              <a:latin typeface="+mn-ea"/>
            </a:endParaRPr>
          </a:p>
        </p:txBody>
      </p:sp>
      <p:sp>
        <p:nvSpPr>
          <p:cNvPr id="36" name="矩形 35">
            <a:extLst>
              <a:ext uri="{FF2B5EF4-FFF2-40B4-BE49-F238E27FC236}">
                <a16:creationId xmlns:a16="http://schemas.microsoft.com/office/drawing/2014/main" id="{1D6BD6F3-D8EB-FF9C-52B6-321D43174BE9}"/>
              </a:ext>
            </a:extLst>
          </p:cNvPr>
          <p:cNvSpPr/>
          <p:nvPr/>
        </p:nvSpPr>
        <p:spPr>
          <a:xfrm>
            <a:off x="2742221" y="2225010"/>
            <a:ext cx="2221658" cy="366895"/>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050" b="1" dirty="0">
                <a:latin typeface="+mn-ea"/>
              </a:rPr>
              <a:t>《</a:t>
            </a:r>
            <a:r>
              <a:rPr lang="zh-CN" altLang="en-US" sz="1050" b="1" dirty="0">
                <a:latin typeface="+mn-ea"/>
              </a:rPr>
              <a:t>标准化大纲</a:t>
            </a:r>
            <a:r>
              <a:rPr lang="en-US" altLang="zh-CN" sz="1050" b="1" dirty="0" smtClean="0">
                <a:latin typeface="+mn-ea"/>
              </a:rPr>
              <a:t>》</a:t>
            </a:r>
            <a:r>
              <a:rPr lang="zh-CN" altLang="en-US" sz="1050" b="1" dirty="0" smtClean="0">
                <a:latin typeface="+mn-ea"/>
              </a:rPr>
              <a:t>等</a:t>
            </a:r>
            <a:r>
              <a:rPr lang="en-US" altLang="zh-CN" sz="1050" b="1" dirty="0" smtClean="0">
                <a:latin typeface="+mn-ea"/>
              </a:rPr>
              <a:t>-GJB</a:t>
            </a:r>
            <a:r>
              <a:rPr lang="zh-CN" altLang="en-US" sz="1050" b="1" dirty="0">
                <a:latin typeface="+mn-ea"/>
              </a:rPr>
              <a:t>文档</a:t>
            </a:r>
          </a:p>
        </p:txBody>
      </p:sp>
      <p:sp>
        <p:nvSpPr>
          <p:cNvPr id="37" name="文本框 36">
            <a:extLst>
              <a:ext uri="{FF2B5EF4-FFF2-40B4-BE49-F238E27FC236}">
                <a16:creationId xmlns:a16="http://schemas.microsoft.com/office/drawing/2014/main" id="{9DEC3F85-F928-4F95-8C5E-AFCC0F0790D4}"/>
              </a:ext>
            </a:extLst>
          </p:cNvPr>
          <p:cNvSpPr txBox="1"/>
          <p:nvPr/>
        </p:nvSpPr>
        <p:spPr>
          <a:xfrm>
            <a:off x="6066875" y="1663975"/>
            <a:ext cx="2277687" cy="328936"/>
          </a:xfrm>
          <a:prstGeom prst="rect">
            <a:avLst/>
          </a:prstGeom>
          <a:noFill/>
        </p:spPr>
        <p:txBody>
          <a:bodyPr wrap="square" rtlCol="0">
            <a:spAutoFit/>
          </a:bodyPr>
          <a:lstStyle/>
          <a:p>
            <a:pPr>
              <a:lnSpc>
                <a:spcPct val="120000"/>
              </a:lnSpc>
            </a:pPr>
            <a:r>
              <a:rPr lang="zh-CN" altLang="en-US" sz="1400" dirty="0">
                <a:solidFill>
                  <a:schemeClr val="tx1">
                    <a:lumMod val="75000"/>
                    <a:lumOff val="25000"/>
                  </a:schemeClr>
                </a:solidFill>
                <a:latin typeface="+mn-ea"/>
              </a:rPr>
              <a:t> </a:t>
            </a:r>
            <a:r>
              <a:rPr lang="en-US" altLang="zh-CN" sz="1050" b="1" dirty="0">
                <a:solidFill>
                  <a:schemeClr val="tx1">
                    <a:lumMod val="75000"/>
                    <a:lumOff val="25000"/>
                  </a:schemeClr>
                </a:solidFill>
                <a:latin typeface="+mn-ea"/>
              </a:rPr>
              <a:t>TR3</a:t>
            </a:r>
            <a:r>
              <a:rPr lang="zh-CN" altLang="en-US" sz="1050" b="1" dirty="0">
                <a:solidFill>
                  <a:schemeClr val="tx1">
                    <a:lumMod val="75000"/>
                    <a:lumOff val="25000"/>
                  </a:schemeClr>
                </a:solidFill>
                <a:latin typeface="+mn-ea"/>
              </a:rPr>
              <a:t>系统概要设计评审 </a:t>
            </a:r>
          </a:p>
        </p:txBody>
      </p:sp>
      <p:sp>
        <p:nvSpPr>
          <p:cNvPr id="38" name="文本框 37">
            <a:extLst>
              <a:ext uri="{FF2B5EF4-FFF2-40B4-BE49-F238E27FC236}">
                <a16:creationId xmlns:a16="http://schemas.microsoft.com/office/drawing/2014/main" id="{A08E235F-F9C1-FAD9-B679-0D0F0E3D213D}"/>
              </a:ext>
            </a:extLst>
          </p:cNvPr>
          <p:cNvSpPr txBox="1"/>
          <p:nvPr/>
        </p:nvSpPr>
        <p:spPr>
          <a:xfrm>
            <a:off x="10557164" y="821276"/>
            <a:ext cx="1440872" cy="328936"/>
          </a:xfrm>
          <a:prstGeom prst="rect">
            <a:avLst/>
          </a:prstGeom>
          <a:noFill/>
        </p:spPr>
        <p:txBody>
          <a:bodyPr wrap="square" rtlCol="0">
            <a:spAutoFit/>
          </a:bodyPr>
          <a:lstStyle/>
          <a:p>
            <a:pPr>
              <a:lnSpc>
                <a:spcPct val="120000"/>
              </a:lnSpc>
            </a:pPr>
            <a:r>
              <a:rPr lang="zh-CN" altLang="en-US" sz="1400" dirty="0">
                <a:solidFill>
                  <a:schemeClr val="tx1">
                    <a:lumMod val="75000"/>
                    <a:lumOff val="25000"/>
                  </a:schemeClr>
                </a:solidFill>
                <a:latin typeface="+mn-ea"/>
              </a:rPr>
              <a:t> </a:t>
            </a:r>
            <a:r>
              <a:rPr lang="en-US" altLang="zh-CN" sz="1050" b="1" dirty="0">
                <a:solidFill>
                  <a:schemeClr val="tx1">
                    <a:lumMod val="75000"/>
                    <a:lumOff val="25000"/>
                  </a:schemeClr>
                </a:solidFill>
                <a:latin typeface="+mn-ea"/>
              </a:rPr>
              <a:t>MR1 </a:t>
            </a:r>
            <a:r>
              <a:rPr lang="zh-CN" altLang="en-US" sz="1050" b="1" dirty="0">
                <a:solidFill>
                  <a:schemeClr val="tx1">
                    <a:lumMod val="75000"/>
                    <a:lumOff val="25000"/>
                  </a:schemeClr>
                </a:solidFill>
                <a:latin typeface="+mn-ea"/>
              </a:rPr>
              <a:t>计划评审 </a:t>
            </a:r>
          </a:p>
        </p:txBody>
      </p:sp>
      <p:sp>
        <p:nvSpPr>
          <p:cNvPr id="44" name="矩形 43">
            <a:extLst>
              <a:ext uri="{FF2B5EF4-FFF2-40B4-BE49-F238E27FC236}">
                <a16:creationId xmlns:a16="http://schemas.microsoft.com/office/drawing/2014/main" id="{5DBE3FC9-67E3-E3B0-EC66-C73CB4707342}"/>
              </a:ext>
            </a:extLst>
          </p:cNvPr>
          <p:cNvSpPr/>
          <p:nvPr/>
        </p:nvSpPr>
        <p:spPr>
          <a:xfrm>
            <a:off x="7205720" y="2238563"/>
            <a:ext cx="1888404" cy="366895"/>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050" b="1" dirty="0">
                <a:latin typeface="+mn-ea"/>
              </a:rPr>
              <a:t>长交期物料识别</a:t>
            </a:r>
          </a:p>
        </p:txBody>
      </p:sp>
      <p:grpSp>
        <p:nvGrpSpPr>
          <p:cNvPr id="79" name="组合 78">
            <a:extLst>
              <a:ext uri="{FF2B5EF4-FFF2-40B4-BE49-F238E27FC236}">
                <a16:creationId xmlns:a16="http://schemas.microsoft.com/office/drawing/2014/main" id="{266C2227-777A-3B22-157E-97CE9A1C9FA9}"/>
              </a:ext>
            </a:extLst>
          </p:cNvPr>
          <p:cNvGrpSpPr/>
          <p:nvPr/>
        </p:nvGrpSpPr>
        <p:grpSpPr>
          <a:xfrm>
            <a:off x="7205719" y="5118723"/>
            <a:ext cx="1888404" cy="1258254"/>
            <a:chOff x="7205719" y="5118723"/>
            <a:chExt cx="1888404" cy="1258254"/>
          </a:xfrm>
          <a:solidFill>
            <a:schemeClr val="accent4">
              <a:lumMod val="20000"/>
              <a:lumOff val="80000"/>
            </a:schemeClr>
          </a:solidFill>
        </p:grpSpPr>
        <p:sp>
          <p:nvSpPr>
            <p:cNvPr id="45" name="矩形 44">
              <a:extLst>
                <a:ext uri="{FF2B5EF4-FFF2-40B4-BE49-F238E27FC236}">
                  <a16:creationId xmlns:a16="http://schemas.microsoft.com/office/drawing/2014/main" id="{B38CEEC9-BACB-E947-091E-677388AEB823}"/>
                </a:ext>
              </a:extLst>
            </p:cNvPr>
            <p:cNvSpPr/>
            <p:nvPr/>
          </p:nvSpPr>
          <p:spPr>
            <a:xfrm>
              <a:off x="7205719" y="5118723"/>
              <a:ext cx="1888403" cy="366895"/>
            </a:xfrm>
            <a:prstGeom prst="rect">
              <a:avLst/>
            </a:prstGeom>
            <a:grp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en-US" altLang="zh-CN" sz="1050" b="1" dirty="0">
                  <a:solidFill>
                    <a:srgbClr val="565656"/>
                  </a:solidFill>
                  <a:latin typeface="+mn-ea"/>
                  <a:cs typeface="+mn-ea"/>
                  <a:sym typeface="+mn-lt"/>
                </a:rPr>
                <a:t>《</a:t>
              </a:r>
              <a:r>
                <a:rPr lang="zh-CN" altLang="en-US" sz="1050" b="1" dirty="0">
                  <a:solidFill>
                    <a:srgbClr val="565656"/>
                  </a:solidFill>
                  <a:latin typeface="+mn-ea"/>
                  <a:cs typeface="+mn-ea"/>
                  <a:sym typeface="+mn-lt"/>
                </a:rPr>
                <a:t>项目估算报告</a:t>
              </a:r>
              <a:r>
                <a:rPr lang="en-US" altLang="zh-CN" sz="1050" b="1" dirty="0">
                  <a:solidFill>
                    <a:srgbClr val="565656"/>
                  </a:solidFill>
                  <a:latin typeface="+mn-ea"/>
                  <a:cs typeface="+mn-ea"/>
                  <a:sym typeface="+mn-lt"/>
                </a:rPr>
                <a:t>》</a:t>
              </a:r>
              <a:endParaRPr lang="en-US" altLang="zh-CN" sz="1050" b="1" dirty="0">
                <a:solidFill>
                  <a:schemeClr val="tx1">
                    <a:lumMod val="75000"/>
                    <a:lumOff val="25000"/>
                  </a:schemeClr>
                </a:solidFill>
                <a:latin typeface="+mn-ea"/>
              </a:endParaRPr>
            </a:p>
          </p:txBody>
        </p:sp>
        <p:sp>
          <p:nvSpPr>
            <p:cNvPr id="46" name="矩形 45">
              <a:extLst>
                <a:ext uri="{FF2B5EF4-FFF2-40B4-BE49-F238E27FC236}">
                  <a16:creationId xmlns:a16="http://schemas.microsoft.com/office/drawing/2014/main" id="{6DAAE8F5-25CC-F5DB-056F-B54E9C2D6BA5}"/>
                </a:ext>
              </a:extLst>
            </p:cNvPr>
            <p:cNvSpPr/>
            <p:nvPr/>
          </p:nvSpPr>
          <p:spPr>
            <a:xfrm>
              <a:off x="7205720" y="5560370"/>
              <a:ext cx="1888403" cy="366895"/>
            </a:xfrm>
            <a:prstGeom prst="rect">
              <a:avLst/>
            </a:prstGeom>
            <a:grp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en-US" altLang="zh-CN" sz="1050" b="1" dirty="0">
                  <a:solidFill>
                    <a:srgbClr val="565656"/>
                  </a:solidFill>
                  <a:latin typeface="+mn-ea"/>
                  <a:cs typeface="+mn-ea"/>
                  <a:sym typeface="+mn-lt"/>
                </a:rPr>
                <a:t>《</a:t>
              </a:r>
              <a:r>
                <a:rPr lang="zh-CN" altLang="en-US" sz="1050" b="1" dirty="0">
                  <a:solidFill>
                    <a:srgbClr val="565656"/>
                  </a:solidFill>
                  <a:latin typeface="+mn-ea"/>
                  <a:cs typeface="+mn-ea"/>
                  <a:sym typeface="+mn-lt"/>
                </a:rPr>
                <a:t>项目计划书</a:t>
              </a:r>
              <a:r>
                <a:rPr lang="en-US" altLang="zh-CN" sz="1050" b="1" dirty="0">
                  <a:solidFill>
                    <a:srgbClr val="565656"/>
                  </a:solidFill>
                  <a:latin typeface="+mn-ea"/>
                  <a:cs typeface="+mn-ea"/>
                  <a:sym typeface="+mn-lt"/>
                </a:rPr>
                <a:t>》</a:t>
              </a:r>
              <a:endParaRPr lang="en-US" altLang="zh-CN" sz="1050" b="1" dirty="0">
                <a:solidFill>
                  <a:schemeClr val="tx1">
                    <a:lumMod val="75000"/>
                    <a:lumOff val="25000"/>
                  </a:schemeClr>
                </a:solidFill>
                <a:latin typeface="+mn-ea"/>
              </a:endParaRPr>
            </a:p>
          </p:txBody>
        </p:sp>
        <p:sp>
          <p:nvSpPr>
            <p:cNvPr id="47" name="矩形 46">
              <a:extLst>
                <a:ext uri="{FF2B5EF4-FFF2-40B4-BE49-F238E27FC236}">
                  <a16:creationId xmlns:a16="http://schemas.microsoft.com/office/drawing/2014/main" id="{6A33AFC8-2A56-7BEF-66BA-67596C1A2C23}"/>
                </a:ext>
              </a:extLst>
            </p:cNvPr>
            <p:cNvSpPr/>
            <p:nvPr/>
          </p:nvSpPr>
          <p:spPr>
            <a:xfrm>
              <a:off x="7205719" y="6010082"/>
              <a:ext cx="1888403" cy="366895"/>
            </a:xfrm>
            <a:prstGeom prst="rect">
              <a:avLst/>
            </a:prstGeom>
            <a:grp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en-US" altLang="zh-CN" sz="1050" b="1" dirty="0">
                  <a:solidFill>
                    <a:srgbClr val="565656"/>
                  </a:solidFill>
                  <a:latin typeface="+mn-ea"/>
                  <a:cs typeface="+mn-ea"/>
                  <a:sym typeface="+mn-lt"/>
                </a:rPr>
                <a:t>《</a:t>
              </a:r>
              <a:r>
                <a:rPr lang="zh-CN" altLang="en-US" sz="1050" b="1" dirty="0">
                  <a:solidFill>
                    <a:srgbClr val="565656"/>
                  </a:solidFill>
                  <a:latin typeface="+mn-ea"/>
                  <a:cs typeface="+mn-ea"/>
                  <a:sym typeface="+mn-lt"/>
                </a:rPr>
                <a:t>项目物料计划</a:t>
              </a:r>
              <a:r>
                <a:rPr lang="en-US" altLang="zh-CN" sz="1050" b="1" dirty="0">
                  <a:solidFill>
                    <a:srgbClr val="565656"/>
                  </a:solidFill>
                  <a:latin typeface="+mn-ea"/>
                  <a:cs typeface="+mn-ea"/>
                  <a:sym typeface="+mn-lt"/>
                </a:rPr>
                <a:t>》</a:t>
              </a:r>
              <a:endParaRPr lang="en-US" altLang="zh-CN" sz="1050" b="1" dirty="0">
                <a:solidFill>
                  <a:schemeClr val="tx1">
                    <a:lumMod val="75000"/>
                    <a:lumOff val="25000"/>
                  </a:schemeClr>
                </a:solidFill>
                <a:latin typeface="+mn-ea"/>
              </a:endParaRPr>
            </a:p>
          </p:txBody>
        </p:sp>
      </p:grpSp>
      <p:sp>
        <p:nvSpPr>
          <p:cNvPr id="48" name="矩形 47">
            <a:extLst>
              <a:ext uri="{FF2B5EF4-FFF2-40B4-BE49-F238E27FC236}">
                <a16:creationId xmlns:a16="http://schemas.microsoft.com/office/drawing/2014/main" id="{ABF5057D-1F62-E7CE-CDD6-637B69447F25}"/>
              </a:ext>
            </a:extLst>
          </p:cNvPr>
          <p:cNvSpPr/>
          <p:nvPr/>
        </p:nvSpPr>
        <p:spPr>
          <a:xfrm>
            <a:off x="7205720" y="4501617"/>
            <a:ext cx="1888404" cy="366895"/>
          </a:xfrm>
          <a:prstGeom prst="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20000"/>
              </a:lnSpc>
            </a:pPr>
            <a:r>
              <a:rPr lang="en-US" altLang="zh-CN" sz="1050" b="1" dirty="0">
                <a:solidFill>
                  <a:srgbClr val="565656"/>
                </a:solidFill>
                <a:latin typeface="+mn-ea"/>
                <a:cs typeface="+mn-ea"/>
                <a:sym typeface="+mn-lt"/>
              </a:rPr>
              <a:t>《</a:t>
            </a:r>
            <a:r>
              <a:rPr lang="zh-CN" altLang="en-US" sz="1050" b="1" dirty="0">
                <a:solidFill>
                  <a:srgbClr val="565656"/>
                </a:solidFill>
                <a:latin typeface="+mn-ea"/>
                <a:cs typeface="+mn-ea"/>
                <a:sym typeface="+mn-lt"/>
              </a:rPr>
              <a:t>项目质量策划</a:t>
            </a:r>
            <a:r>
              <a:rPr lang="en-US" altLang="zh-CN" sz="1050" b="1" dirty="0">
                <a:solidFill>
                  <a:srgbClr val="565656"/>
                </a:solidFill>
                <a:latin typeface="+mn-ea"/>
                <a:cs typeface="+mn-ea"/>
                <a:sym typeface="+mn-lt"/>
              </a:rPr>
              <a:t>》</a:t>
            </a:r>
            <a:endParaRPr lang="en-US" altLang="zh-CN" sz="1050" b="1" dirty="0">
              <a:solidFill>
                <a:schemeClr val="tx1">
                  <a:lumMod val="75000"/>
                  <a:lumOff val="25000"/>
                </a:schemeClr>
              </a:solidFill>
              <a:latin typeface="+mn-ea"/>
            </a:endParaRPr>
          </a:p>
        </p:txBody>
      </p:sp>
      <p:sp>
        <p:nvSpPr>
          <p:cNvPr id="49" name="矩形 48">
            <a:extLst>
              <a:ext uri="{FF2B5EF4-FFF2-40B4-BE49-F238E27FC236}">
                <a16:creationId xmlns:a16="http://schemas.microsoft.com/office/drawing/2014/main" id="{41F6BA64-E7D1-04C9-1433-B97D43A163EF}"/>
              </a:ext>
            </a:extLst>
          </p:cNvPr>
          <p:cNvSpPr/>
          <p:nvPr/>
        </p:nvSpPr>
        <p:spPr>
          <a:xfrm>
            <a:off x="2742221" y="5861170"/>
            <a:ext cx="2221658" cy="366895"/>
          </a:xfrm>
          <a:prstGeom prst="rect">
            <a:avLst/>
          </a:prstGeom>
          <a:solidFill>
            <a:schemeClr val="accent4">
              <a:lumMod val="20000"/>
              <a:lumOff val="80000"/>
            </a:schemeClr>
          </a:solidFill>
          <a:ln>
            <a:headEnd type="none" w="med" len="med"/>
            <a:tailEnd type="none" w="med" len="med"/>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zh-CN" altLang="en-US" sz="1050" b="1" dirty="0">
                <a:latin typeface="+mn-ea"/>
                <a:sym typeface="+mn-lt"/>
              </a:rPr>
              <a:t>建立项目空间（</a:t>
            </a:r>
            <a:r>
              <a:rPr lang="en-US" altLang="zh-CN" sz="1050" b="1" dirty="0">
                <a:latin typeface="+mn-ea"/>
                <a:sym typeface="+mn-lt"/>
              </a:rPr>
              <a:t>PLM</a:t>
            </a:r>
            <a:r>
              <a:rPr lang="zh-CN" altLang="en-US" sz="1050" b="1" dirty="0">
                <a:latin typeface="+mn-ea"/>
                <a:sym typeface="+mn-lt"/>
              </a:rPr>
              <a:t>）</a:t>
            </a:r>
            <a:endParaRPr lang="en-US" altLang="zh-CN" sz="1050" b="1" dirty="0">
              <a:latin typeface="+mn-ea"/>
            </a:endParaRPr>
          </a:p>
        </p:txBody>
      </p:sp>
      <p:sp>
        <p:nvSpPr>
          <p:cNvPr id="51" name="文本框 50">
            <a:extLst>
              <a:ext uri="{FF2B5EF4-FFF2-40B4-BE49-F238E27FC236}">
                <a16:creationId xmlns:a16="http://schemas.microsoft.com/office/drawing/2014/main" id="{87998941-81B7-A801-4ED3-FCBA06BAE729}"/>
              </a:ext>
            </a:extLst>
          </p:cNvPr>
          <p:cNvSpPr txBox="1"/>
          <p:nvPr/>
        </p:nvSpPr>
        <p:spPr>
          <a:xfrm>
            <a:off x="654288" y="3292494"/>
            <a:ext cx="1213453" cy="313932"/>
          </a:xfrm>
          <a:prstGeom prst="rect">
            <a:avLst/>
          </a:prstGeom>
          <a:solidFill>
            <a:schemeClr val="bg2">
              <a:lumMod val="50000"/>
            </a:schemeClr>
          </a:solidFill>
          <a:ln>
            <a:solidFill>
              <a:schemeClr val="bg2">
                <a:lumMod val="25000"/>
              </a:schemeClr>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研发工程师</a:t>
            </a:r>
            <a:endParaRPr lang="en-US" altLang="zh-CN" sz="1200" b="1" dirty="0">
              <a:solidFill>
                <a:schemeClr val="bg1"/>
              </a:solidFill>
            </a:endParaRPr>
          </a:p>
        </p:txBody>
      </p:sp>
      <p:sp>
        <p:nvSpPr>
          <p:cNvPr id="52" name="矩形 51">
            <a:extLst>
              <a:ext uri="{FF2B5EF4-FFF2-40B4-BE49-F238E27FC236}">
                <a16:creationId xmlns:a16="http://schemas.microsoft.com/office/drawing/2014/main" id="{E3D16A35-D7CA-FE71-E8DD-BAC1D73D4584}"/>
              </a:ext>
            </a:extLst>
          </p:cNvPr>
          <p:cNvSpPr/>
          <p:nvPr/>
        </p:nvSpPr>
        <p:spPr>
          <a:xfrm>
            <a:off x="7205718" y="3236929"/>
            <a:ext cx="1888405" cy="478024"/>
          </a:xfrm>
          <a:prstGeom prst="rect">
            <a:avLst/>
          </a:prstGeom>
          <a:solidFill>
            <a:schemeClr val="bg2">
              <a:lumMod val="90000"/>
            </a:schemeClr>
          </a:solidFill>
          <a:ln>
            <a:solidFill>
              <a:schemeClr val="bg2">
                <a:lumMod val="2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altLang="zh-CN" sz="1050" b="1" dirty="0">
                <a:latin typeface="+mn-ea"/>
              </a:rPr>
              <a:t>《BIOS</a:t>
            </a:r>
            <a:r>
              <a:rPr lang="zh-CN" altLang="en-US" sz="1050" b="1" dirty="0">
                <a:latin typeface="+mn-ea"/>
              </a:rPr>
              <a:t>版本计划</a:t>
            </a:r>
            <a:r>
              <a:rPr lang="en-US" altLang="zh-CN" sz="1050" b="1" dirty="0">
                <a:latin typeface="+mn-ea"/>
              </a:rPr>
              <a:t>》</a:t>
            </a:r>
          </a:p>
          <a:p>
            <a:pPr marL="285750" indent="-285750">
              <a:buFont typeface="Arial" panose="020B0604020202020204" pitchFamily="34" charset="0"/>
              <a:buChar char="•"/>
            </a:pPr>
            <a:r>
              <a:rPr lang="en-US" altLang="zh-CN" sz="1050" b="1" dirty="0">
                <a:latin typeface="+mn-ea"/>
              </a:rPr>
              <a:t>《BMC</a:t>
            </a:r>
            <a:r>
              <a:rPr lang="zh-CN" altLang="en-US" sz="1050" b="1" dirty="0">
                <a:latin typeface="+mn-ea"/>
              </a:rPr>
              <a:t>版本计划</a:t>
            </a:r>
            <a:r>
              <a:rPr lang="en-US" altLang="zh-CN" sz="1050" b="1" dirty="0">
                <a:latin typeface="+mn-ea"/>
              </a:rPr>
              <a:t>》</a:t>
            </a:r>
            <a:endParaRPr lang="zh-CN" altLang="en-US" sz="1050" b="1" dirty="0">
              <a:latin typeface="+mn-ea"/>
            </a:endParaRPr>
          </a:p>
        </p:txBody>
      </p:sp>
      <p:sp>
        <p:nvSpPr>
          <p:cNvPr id="54" name="文本框 53">
            <a:extLst>
              <a:ext uri="{FF2B5EF4-FFF2-40B4-BE49-F238E27FC236}">
                <a16:creationId xmlns:a16="http://schemas.microsoft.com/office/drawing/2014/main" id="{0E7D42E5-2297-F270-03D4-D339DF60D4DE}"/>
              </a:ext>
            </a:extLst>
          </p:cNvPr>
          <p:cNvSpPr txBox="1"/>
          <p:nvPr/>
        </p:nvSpPr>
        <p:spPr>
          <a:xfrm>
            <a:off x="5610615" y="2294400"/>
            <a:ext cx="1213453" cy="1061829"/>
          </a:xfrm>
          <a:custGeom>
            <a:avLst/>
            <a:gdLst>
              <a:gd name="connsiteX0" fmla="*/ 0 w 1213453"/>
              <a:gd name="connsiteY0" fmla="*/ 0 h 1181542"/>
              <a:gd name="connsiteX1" fmla="*/ 416619 w 1213453"/>
              <a:gd name="connsiteY1" fmla="*/ 0 h 1181542"/>
              <a:gd name="connsiteX2" fmla="*/ 808969 w 1213453"/>
              <a:gd name="connsiteY2" fmla="*/ 0 h 1181542"/>
              <a:gd name="connsiteX3" fmla="*/ 1213453 w 1213453"/>
              <a:gd name="connsiteY3" fmla="*/ 0 h 1181542"/>
              <a:gd name="connsiteX4" fmla="*/ 1213453 w 1213453"/>
              <a:gd name="connsiteY4" fmla="*/ 578956 h 1181542"/>
              <a:gd name="connsiteX5" fmla="*/ 1213453 w 1213453"/>
              <a:gd name="connsiteY5" fmla="*/ 1181542 h 1181542"/>
              <a:gd name="connsiteX6" fmla="*/ 796834 w 1213453"/>
              <a:gd name="connsiteY6" fmla="*/ 1181542 h 1181542"/>
              <a:gd name="connsiteX7" fmla="*/ 380215 w 1213453"/>
              <a:gd name="connsiteY7" fmla="*/ 1181542 h 1181542"/>
              <a:gd name="connsiteX8" fmla="*/ 0 w 1213453"/>
              <a:gd name="connsiteY8" fmla="*/ 1181542 h 1181542"/>
              <a:gd name="connsiteX9" fmla="*/ 0 w 1213453"/>
              <a:gd name="connsiteY9" fmla="*/ 590771 h 1181542"/>
              <a:gd name="connsiteX10" fmla="*/ 0 w 1213453"/>
              <a:gd name="connsiteY10" fmla="*/ 0 h 118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3453" h="1181542" fill="none" extrusionOk="0">
                <a:moveTo>
                  <a:pt x="0" y="0"/>
                </a:moveTo>
                <a:cubicBezTo>
                  <a:pt x="197220" y="-45119"/>
                  <a:pt x="282306" y="34219"/>
                  <a:pt x="416619" y="0"/>
                </a:cubicBezTo>
                <a:cubicBezTo>
                  <a:pt x="550932" y="-34219"/>
                  <a:pt x="712620" y="41086"/>
                  <a:pt x="808969" y="0"/>
                </a:cubicBezTo>
                <a:cubicBezTo>
                  <a:pt x="905318" y="-41086"/>
                  <a:pt x="1118048" y="40912"/>
                  <a:pt x="1213453" y="0"/>
                </a:cubicBezTo>
                <a:cubicBezTo>
                  <a:pt x="1279009" y="116047"/>
                  <a:pt x="1204151" y="404449"/>
                  <a:pt x="1213453" y="578956"/>
                </a:cubicBezTo>
                <a:cubicBezTo>
                  <a:pt x="1222755" y="753463"/>
                  <a:pt x="1179948" y="950510"/>
                  <a:pt x="1213453" y="1181542"/>
                </a:cubicBezTo>
                <a:cubicBezTo>
                  <a:pt x="1056171" y="1219626"/>
                  <a:pt x="998693" y="1157420"/>
                  <a:pt x="796834" y="1181542"/>
                </a:cubicBezTo>
                <a:cubicBezTo>
                  <a:pt x="594975" y="1205664"/>
                  <a:pt x="538104" y="1163246"/>
                  <a:pt x="380215" y="1181542"/>
                </a:cubicBezTo>
                <a:cubicBezTo>
                  <a:pt x="222326" y="1199838"/>
                  <a:pt x="154863" y="1141827"/>
                  <a:pt x="0" y="1181542"/>
                </a:cubicBezTo>
                <a:cubicBezTo>
                  <a:pt x="-66639" y="890164"/>
                  <a:pt x="9550" y="845228"/>
                  <a:pt x="0" y="590771"/>
                </a:cubicBezTo>
                <a:cubicBezTo>
                  <a:pt x="-9550" y="336314"/>
                  <a:pt x="20106" y="291716"/>
                  <a:pt x="0" y="0"/>
                </a:cubicBezTo>
                <a:close/>
              </a:path>
              <a:path w="1213453" h="1181542" stroke="0" extrusionOk="0">
                <a:moveTo>
                  <a:pt x="0" y="0"/>
                </a:moveTo>
                <a:cubicBezTo>
                  <a:pt x="148135" y="-28015"/>
                  <a:pt x="300825" y="27939"/>
                  <a:pt x="428753" y="0"/>
                </a:cubicBezTo>
                <a:cubicBezTo>
                  <a:pt x="556681" y="-27939"/>
                  <a:pt x="762650" y="17862"/>
                  <a:pt x="857507" y="0"/>
                </a:cubicBezTo>
                <a:cubicBezTo>
                  <a:pt x="952364" y="-17862"/>
                  <a:pt x="1092245" y="543"/>
                  <a:pt x="1213453" y="0"/>
                </a:cubicBezTo>
                <a:cubicBezTo>
                  <a:pt x="1262416" y="262388"/>
                  <a:pt x="1189865" y="353035"/>
                  <a:pt x="1213453" y="567140"/>
                </a:cubicBezTo>
                <a:cubicBezTo>
                  <a:pt x="1237041" y="781245"/>
                  <a:pt x="1161761" y="1038980"/>
                  <a:pt x="1213453" y="1181542"/>
                </a:cubicBezTo>
                <a:cubicBezTo>
                  <a:pt x="1054019" y="1202651"/>
                  <a:pt x="926671" y="1149818"/>
                  <a:pt x="808969" y="1181542"/>
                </a:cubicBezTo>
                <a:cubicBezTo>
                  <a:pt x="691267" y="1213266"/>
                  <a:pt x="514266" y="1153822"/>
                  <a:pt x="416619" y="1181542"/>
                </a:cubicBezTo>
                <a:cubicBezTo>
                  <a:pt x="318972" y="1209262"/>
                  <a:pt x="100907" y="1135686"/>
                  <a:pt x="0" y="1181542"/>
                </a:cubicBezTo>
                <a:cubicBezTo>
                  <a:pt x="-49229" y="1014045"/>
                  <a:pt x="49704" y="738131"/>
                  <a:pt x="0" y="590771"/>
                </a:cubicBezTo>
                <a:cubicBezTo>
                  <a:pt x="-49704" y="443411"/>
                  <a:pt x="48106" y="229734"/>
                  <a:pt x="0" y="0"/>
                </a:cubicBezTo>
                <a:close/>
              </a:path>
            </a:pathLst>
          </a:custGeom>
          <a:solidFill>
            <a:schemeClr val="bg1">
              <a:lumMod val="95000"/>
            </a:schemeClr>
          </a:solidFill>
          <a:ln>
            <a:solidFill>
              <a:schemeClr val="accent6">
                <a:lumMod val="75000"/>
              </a:schemeClr>
            </a:solidFill>
            <a:extLst>
              <a:ext uri="{C807C97D-BFC1-408E-A445-0C87EB9F89A2}">
                <ask:lineSketchStyleProps xmlns="" xmlns:ask="http://schemas.microsoft.com/office/drawing/2018/sketchyshapes" sd="2914850481">
                  <a:prstGeom prst="rect">
                    <a:avLst/>
                  </a:prstGeom>
                  <ask:type>
                    <ask:lineSketchScribble/>
                  </ask:type>
                </ask:lineSketchStyleProps>
              </a:ext>
            </a:extLst>
          </a:ln>
        </p:spPr>
        <p:txBody>
          <a:bodyPr wrap="square" rtlCol="0">
            <a:spAutoFit/>
          </a:bodyPr>
          <a:lstStyle/>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硬件工程师</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机构工程师</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散热工程师</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en-US" altLang="zh-CN" sz="1050" b="1" dirty="0">
                <a:solidFill>
                  <a:schemeClr val="tx1">
                    <a:lumMod val="75000"/>
                    <a:lumOff val="25000"/>
                  </a:schemeClr>
                </a:solidFill>
                <a:latin typeface="+mn-ea"/>
              </a:rPr>
              <a:t>BIOS</a:t>
            </a:r>
            <a:r>
              <a:rPr lang="zh-CN" altLang="en-US" sz="1050" b="1" dirty="0">
                <a:solidFill>
                  <a:schemeClr val="tx1">
                    <a:lumMod val="75000"/>
                    <a:lumOff val="25000"/>
                  </a:schemeClr>
                </a:solidFill>
                <a:latin typeface="+mn-ea"/>
              </a:rPr>
              <a:t>工程师</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en-US" altLang="zh-CN" sz="1050" b="1" dirty="0">
                <a:solidFill>
                  <a:schemeClr val="tx1">
                    <a:lumMod val="75000"/>
                    <a:lumOff val="25000"/>
                  </a:schemeClr>
                </a:solidFill>
                <a:latin typeface="+mn-ea"/>
              </a:rPr>
              <a:t>BMC</a:t>
            </a:r>
            <a:r>
              <a:rPr lang="zh-CN" altLang="en-US" sz="1050" b="1" dirty="0">
                <a:solidFill>
                  <a:schemeClr val="tx1">
                    <a:lumMod val="75000"/>
                    <a:lumOff val="25000"/>
                  </a:schemeClr>
                </a:solidFill>
                <a:latin typeface="+mn-ea"/>
              </a:rPr>
              <a:t>工程师</a:t>
            </a:r>
            <a:endParaRPr lang="en-US" altLang="zh-CN" sz="1050" b="1" dirty="0">
              <a:solidFill>
                <a:schemeClr val="tx1">
                  <a:lumMod val="75000"/>
                  <a:lumOff val="25000"/>
                </a:schemeClr>
              </a:solidFill>
              <a:latin typeface="+mn-ea"/>
            </a:endParaRPr>
          </a:p>
        </p:txBody>
      </p:sp>
      <p:cxnSp>
        <p:nvCxnSpPr>
          <p:cNvPr id="56" name="直接箭头连接符 55">
            <a:extLst>
              <a:ext uri="{FF2B5EF4-FFF2-40B4-BE49-F238E27FC236}">
                <a16:creationId xmlns:a16="http://schemas.microsoft.com/office/drawing/2014/main" id="{7C772F25-7A47-9A9C-FC67-3ACB0A7B7B2B}"/>
              </a:ext>
            </a:extLst>
          </p:cNvPr>
          <p:cNvCxnSpPr>
            <a:cxnSpLocks/>
            <a:stCxn id="54" idx="1"/>
            <a:endCxn id="35" idx="3"/>
          </p:cNvCxnSpPr>
          <p:nvPr/>
        </p:nvCxnSpPr>
        <p:spPr>
          <a:xfrm flipH="1">
            <a:off x="4963879" y="2294400"/>
            <a:ext cx="1063355" cy="58982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0" name="文本框 59">
            <a:extLst>
              <a:ext uri="{FF2B5EF4-FFF2-40B4-BE49-F238E27FC236}">
                <a16:creationId xmlns:a16="http://schemas.microsoft.com/office/drawing/2014/main" id="{6DB832CB-11BF-69BD-947E-6CA8EE4B05B3}"/>
              </a:ext>
            </a:extLst>
          </p:cNvPr>
          <p:cNvSpPr txBox="1"/>
          <p:nvPr/>
        </p:nvSpPr>
        <p:spPr>
          <a:xfrm>
            <a:off x="5075517" y="2561419"/>
            <a:ext cx="721791" cy="298287"/>
          </a:xfrm>
          <a:prstGeom prst="rect">
            <a:avLst/>
          </a:prstGeom>
          <a:noFill/>
        </p:spPr>
        <p:txBody>
          <a:bodyPr wrap="square" rtlCol="0">
            <a:spAutoFit/>
          </a:bodyPr>
          <a:lstStyle/>
          <a:p>
            <a:pPr>
              <a:lnSpc>
                <a:spcPct val="120000"/>
              </a:lnSpc>
            </a:pPr>
            <a:r>
              <a:rPr lang="zh-CN" altLang="en-US" sz="1200" b="1" dirty="0">
                <a:solidFill>
                  <a:schemeClr val="tx1">
                    <a:lumMod val="75000"/>
                    <a:lumOff val="25000"/>
                  </a:schemeClr>
                </a:solidFill>
              </a:rPr>
              <a:t>参与</a:t>
            </a:r>
          </a:p>
        </p:txBody>
      </p:sp>
      <p:sp>
        <p:nvSpPr>
          <p:cNvPr id="62" name="文本框 61">
            <a:extLst>
              <a:ext uri="{FF2B5EF4-FFF2-40B4-BE49-F238E27FC236}">
                <a16:creationId xmlns:a16="http://schemas.microsoft.com/office/drawing/2014/main" id="{B90B29D9-719D-1462-5500-D10952C27526}"/>
              </a:ext>
            </a:extLst>
          </p:cNvPr>
          <p:cNvSpPr txBox="1"/>
          <p:nvPr/>
        </p:nvSpPr>
        <p:spPr>
          <a:xfrm>
            <a:off x="9516537" y="4650883"/>
            <a:ext cx="2253182" cy="1821011"/>
          </a:xfrm>
          <a:custGeom>
            <a:avLst/>
            <a:gdLst>
              <a:gd name="connsiteX0" fmla="*/ 0 w 2253182"/>
              <a:gd name="connsiteY0" fmla="*/ 0 h 2289538"/>
              <a:gd name="connsiteX1" fmla="*/ 563296 w 2253182"/>
              <a:gd name="connsiteY1" fmla="*/ 0 h 2289538"/>
              <a:gd name="connsiteX2" fmla="*/ 1081527 w 2253182"/>
              <a:gd name="connsiteY2" fmla="*/ 0 h 2289538"/>
              <a:gd name="connsiteX3" fmla="*/ 1599759 w 2253182"/>
              <a:gd name="connsiteY3" fmla="*/ 0 h 2289538"/>
              <a:gd name="connsiteX4" fmla="*/ 2253182 w 2253182"/>
              <a:gd name="connsiteY4" fmla="*/ 0 h 2289538"/>
              <a:gd name="connsiteX5" fmla="*/ 2253182 w 2253182"/>
              <a:gd name="connsiteY5" fmla="*/ 549489 h 2289538"/>
              <a:gd name="connsiteX6" fmla="*/ 2253182 w 2253182"/>
              <a:gd name="connsiteY6" fmla="*/ 1053187 h 2289538"/>
              <a:gd name="connsiteX7" fmla="*/ 2253182 w 2253182"/>
              <a:gd name="connsiteY7" fmla="*/ 1556886 h 2289538"/>
              <a:gd name="connsiteX8" fmla="*/ 2253182 w 2253182"/>
              <a:gd name="connsiteY8" fmla="*/ 2289538 h 2289538"/>
              <a:gd name="connsiteX9" fmla="*/ 1689887 w 2253182"/>
              <a:gd name="connsiteY9" fmla="*/ 2289538 h 2289538"/>
              <a:gd name="connsiteX10" fmla="*/ 1149123 w 2253182"/>
              <a:gd name="connsiteY10" fmla="*/ 2289538 h 2289538"/>
              <a:gd name="connsiteX11" fmla="*/ 540764 w 2253182"/>
              <a:gd name="connsiteY11" fmla="*/ 2289538 h 2289538"/>
              <a:gd name="connsiteX12" fmla="*/ 0 w 2253182"/>
              <a:gd name="connsiteY12" fmla="*/ 2289538 h 2289538"/>
              <a:gd name="connsiteX13" fmla="*/ 0 w 2253182"/>
              <a:gd name="connsiteY13" fmla="*/ 1762944 h 2289538"/>
              <a:gd name="connsiteX14" fmla="*/ 0 w 2253182"/>
              <a:gd name="connsiteY14" fmla="*/ 1167664 h 2289538"/>
              <a:gd name="connsiteX15" fmla="*/ 0 w 2253182"/>
              <a:gd name="connsiteY15" fmla="*/ 641071 h 2289538"/>
              <a:gd name="connsiteX16" fmla="*/ 0 w 2253182"/>
              <a:gd name="connsiteY16" fmla="*/ 0 h 228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3182" h="2289538" fill="none" extrusionOk="0">
                <a:moveTo>
                  <a:pt x="0" y="0"/>
                </a:moveTo>
                <a:cubicBezTo>
                  <a:pt x="207589" y="-8427"/>
                  <a:pt x="368680" y="47809"/>
                  <a:pt x="563296" y="0"/>
                </a:cubicBezTo>
                <a:cubicBezTo>
                  <a:pt x="757912" y="-47809"/>
                  <a:pt x="916568" y="12151"/>
                  <a:pt x="1081527" y="0"/>
                </a:cubicBezTo>
                <a:cubicBezTo>
                  <a:pt x="1246486" y="-12151"/>
                  <a:pt x="1377782" y="31674"/>
                  <a:pt x="1599759" y="0"/>
                </a:cubicBezTo>
                <a:cubicBezTo>
                  <a:pt x="1821736" y="-31674"/>
                  <a:pt x="1998445" y="6920"/>
                  <a:pt x="2253182" y="0"/>
                </a:cubicBezTo>
                <a:cubicBezTo>
                  <a:pt x="2295009" y="259153"/>
                  <a:pt x="2191043" y="319869"/>
                  <a:pt x="2253182" y="549489"/>
                </a:cubicBezTo>
                <a:cubicBezTo>
                  <a:pt x="2315321" y="779109"/>
                  <a:pt x="2218485" y="929648"/>
                  <a:pt x="2253182" y="1053187"/>
                </a:cubicBezTo>
                <a:cubicBezTo>
                  <a:pt x="2287879" y="1176726"/>
                  <a:pt x="2246118" y="1431401"/>
                  <a:pt x="2253182" y="1556886"/>
                </a:cubicBezTo>
                <a:cubicBezTo>
                  <a:pt x="2260246" y="1682371"/>
                  <a:pt x="2203081" y="1954818"/>
                  <a:pt x="2253182" y="2289538"/>
                </a:cubicBezTo>
                <a:cubicBezTo>
                  <a:pt x="2047855" y="2312467"/>
                  <a:pt x="1864914" y="2272249"/>
                  <a:pt x="1689887" y="2289538"/>
                </a:cubicBezTo>
                <a:cubicBezTo>
                  <a:pt x="1514860" y="2306827"/>
                  <a:pt x="1333192" y="2233409"/>
                  <a:pt x="1149123" y="2289538"/>
                </a:cubicBezTo>
                <a:cubicBezTo>
                  <a:pt x="965054" y="2345667"/>
                  <a:pt x="690073" y="2247786"/>
                  <a:pt x="540764" y="2289538"/>
                </a:cubicBezTo>
                <a:cubicBezTo>
                  <a:pt x="391455" y="2331290"/>
                  <a:pt x="250848" y="2232347"/>
                  <a:pt x="0" y="2289538"/>
                </a:cubicBezTo>
                <a:cubicBezTo>
                  <a:pt x="-29783" y="2135149"/>
                  <a:pt x="28227" y="1967259"/>
                  <a:pt x="0" y="1762944"/>
                </a:cubicBezTo>
                <a:cubicBezTo>
                  <a:pt x="-28227" y="1558629"/>
                  <a:pt x="56835" y="1331498"/>
                  <a:pt x="0" y="1167664"/>
                </a:cubicBezTo>
                <a:cubicBezTo>
                  <a:pt x="-56835" y="1003830"/>
                  <a:pt x="15750" y="747329"/>
                  <a:pt x="0" y="641071"/>
                </a:cubicBezTo>
                <a:cubicBezTo>
                  <a:pt x="-15750" y="534813"/>
                  <a:pt x="36421" y="246479"/>
                  <a:pt x="0" y="0"/>
                </a:cubicBezTo>
                <a:close/>
              </a:path>
              <a:path w="2253182" h="2289538" stroke="0" extrusionOk="0">
                <a:moveTo>
                  <a:pt x="0" y="0"/>
                </a:moveTo>
                <a:cubicBezTo>
                  <a:pt x="143934" y="-49183"/>
                  <a:pt x="276839" y="58261"/>
                  <a:pt x="518232" y="0"/>
                </a:cubicBezTo>
                <a:cubicBezTo>
                  <a:pt x="759625" y="-58261"/>
                  <a:pt x="921686" y="4257"/>
                  <a:pt x="1126591" y="0"/>
                </a:cubicBezTo>
                <a:cubicBezTo>
                  <a:pt x="1331496" y="-4257"/>
                  <a:pt x="1507401" y="16613"/>
                  <a:pt x="1622291" y="0"/>
                </a:cubicBezTo>
                <a:cubicBezTo>
                  <a:pt x="1737181" y="-16613"/>
                  <a:pt x="2064030" y="65596"/>
                  <a:pt x="2253182" y="0"/>
                </a:cubicBezTo>
                <a:cubicBezTo>
                  <a:pt x="2262655" y="260066"/>
                  <a:pt x="2188645" y="340669"/>
                  <a:pt x="2253182" y="572385"/>
                </a:cubicBezTo>
                <a:cubicBezTo>
                  <a:pt x="2317719" y="804101"/>
                  <a:pt x="2248210" y="924251"/>
                  <a:pt x="2253182" y="1098978"/>
                </a:cubicBezTo>
                <a:cubicBezTo>
                  <a:pt x="2258154" y="1273705"/>
                  <a:pt x="2224029" y="1457828"/>
                  <a:pt x="2253182" y="1625572"/>
                </a:cubicBezTo>
                <a:cubicBezTo>
                  <a:pt x="2282335" y="1793316"/>
                  <a:pt x="2204395" y="2025461"/>
                  <a:pt x="2253182" y="2289538"/>
                </a:cubicBezTo>
                <a:cubicBezTo>
                  <a:pt x="2032698" y="2345273"/>
                  <a:pt x="1958981" y="2263455"/>
                  <a:pt x="1734950" y="2289538"/>
                </a:cubicBezTo>
                <a:cubicBezTo>
                  <a:pt x="1510919" y="2315621"/>
                  <a:pt x="1373325" y="2227915"/>
                  <a:pt x="1126591" y="2289538"/>
                </a:cubicBezTo>
                <a:cubicBezTo>
                  <a:pt x="879857" y="2351161"/>
                  <a:pt x="644687" y="2267774"/>
                  <a:pt x="518232" y="2289538"/>
                </a:cubicBezTo>
                <a:cubicBezTo>
                  <a:pt x="391777" y="2311302"/>
                  <a:pt x="127492" y="2248300"/>
                  <a:pt x="0" y="2289538"/>
                </a:cubicBezTo>
                <a:cubicBezTo>
                  <a:pt x="-15758" y="2171196"/>
                  <a:pt x="39373" y="1933855"/>
                  <a:pt x="0" y="1762944"/>
                </a:cubicBezTo>
                <a:cubicBezTo>
                  <a:pt x="-39373" y="1592033"/>
                  <a:pt x="22127" y="1455482"/>
                  <a:pt x="0" y="1213455"/>
                </a:cubicBezTo>
                <a:cubicBezTo>
                  <a:pt x="-22127" y="971428"/>
                  <a:pt x="7466" y="909368"/>
                  <a:pt x="0" y="663966"/>
                </a:cubicBezTo>
                <a:cubicBezTo>
                  <a:pt x="-7466" y="418564"/>
                  <a:pt x="48126" y="189510"/>
                  <a:pt x="0" y="0"/>
                </a:cubicBezTo>
                <a:close/>
              </a:path>
            </a:pathLst>
          </a:custGeom>
          <a:solidFill>
            <a:schemeClr val="bg1">
              <a:lumMod val="95000"/>
            </a:schemeClr>
          </a:solidFill>
          <a:ln>
            <a:solidFill>
              <a:schemeClr val="accent4">
                <a:lumMod val="75000"/>
              </a:schemeClr>
            </a:solidFill>
            <a:extLst>
              <a:ext uri="{C807C97D-BFC1-408E-A445-0C87EB9F89A2}">
                <ask:lineSketchStyleProps xmlns="" xmlns:ask="http://schemas.microsoft.com/office/drawing/2018/sketchyshapes" sd="3064452438">
                  <a:prstGeom prst="rect">
                    <a:avLst/>
                  </a:prstGeom>
                  <ask:type>
                    <ask:lineSketchScribble/>
                  </ask:type>
                </ask:lineSketchStyleProps>
              </a:ext>
            </a:extLst>
          </a:ln>
        </p:spPr>
        <p:txBody>
          <a:bodyPr wrap="square" rtlCol="0">
            <a:spAutoFit/>
          </a:bodyPr>
          <a:lstStyle/>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项目计划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资源管理计划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配置管理计划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进度管理计划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评审管理计划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风险管理计划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solidFill>
                  <a:schemeClr val="tx1">
                    <a:lumMod val="75000"/>
                    <a:lumOff val="25000"/>
                  </a:schemeClr>
                </a:solidFill>
                <a:latin typeface="+mn-ea"/>
              </a:rPr>
              <a:t>物料管理计划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t>监控与沟通管理计划</a:t>
            </a:r>
            <a:endParaRPr lang="en-US" altLang="zh-CN" sz="1050" b="1"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050" b="1" dirty="0"/>
              <a:t>项目资产重要度识别</a:t>
            </a:r>
            <a:r>
              <a:rPr lang="zh-CN" altLang="en-US" sz="1050" b="1" dirty="0">
                <a:solidFill>
                  <a:schemeClr val="tx1">
                    <a:lumMod val="75000"/>
                    <a:lumOff val="25000"/>
                  </a:schemeClr>
                </a:solidFill>
                <a:latin typeface="+mn-ea"/>
              </a:rPr>
              <a:t>及风险评估</a:t>
            </a:r>
            <a:endParaRPr lang="en-US" altLang="zh-CN" sz="1050" b="1" dirty="0">
              <a:solidFill>
                <a:schemeClr val="tx1">
                  <a:lumMod val="75000"/>
                  <a:lumOff val="25000"/>
                </a:schemeClr>
              </a:solidFill>
              <a:latin typeface="+mn-ea"/>
            </a:endParaRPr>
          </a:p>
        </p:txBody>
      </p:sp>
      <p:sp>
        <p:nvSpPr>
          <p:cNvPr id="68" name="文本框 67">
            <a:extLst>
              <a:ext uri="{FF2B5EF4-FFF2-40B4-BE49-F238E27FC236}">
                <a16:creationId xmlns:a16="http://schemas.microsoft.com/office/drawing/2014/main" id="{0783A75D-BC5E-A3C2-2F5A-A741E47E8B44}"/>
              </a:ext>
            </a:extLst>
          </p:cNvPr>
          <p:cNvSpPr txBox="1"/>
          <p:nvPr/>
        </p:nvSpPr>
        <p:spPr>
          <a:xfrm>
            <a:off x="654288" y="3985758"/>
            <a:ext cx="1213453" cy="29828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lnSpc>
                <a:spcPct val="120000"/>
              </a:lnSpc>
            </a:pPr>
            <a:r>
              <a:rPr lang="zh-CN" altLang="en-US" sz="1200" b="1" dirty="0">
                <a:solidFill>
                  <a:schemeClr val="bg1"/>
                </a:solidFill>
              </a:rPr>
              <a:t>产品工程师</a:t>
            </a:r>
            <a:endParaRPr lang="en-US" altLang="zh-CN" sz="1200" b="1" dirty="0">
              <a:solidFill>
                <a:schemeClr val="bg1"/>
              </a:solidFill>
            </a:endParaRPr>
          </a:p>
        </p:txBody>
      </p:sp>
      <p:sp>
        <p:nvSpPr>
          <p:cNvPr id="69" name="矩形 68">
            <a:extLst>
              <a:ext uri="{FF2B5EF4-FFF2-40B4-BE49-F238E27FC236}">
                <a16:creationId xmlns:a16="http://schemas.microsoft.com/office/drawing/2014/main" id="{E47726AF-654C-1489-FAC8-2A577651730C}"/>
              </a:ext>
            </a:extLst>
          </p:cNvPr>
          <p:cNvSpPr/>
          <p:nvPr/>
        </p:nvSpPr>
        <p:spPr>
          <a:xfrm>
            <a:off x="2742220" y="3923424"/>
            <a:ext cx="2221658" cy="866886"/>
          </a:xfrm>
          <a:prstGeom prst="rect">
            <a:avLst/>
          </a:prstGeom>
          <a:solidFill>
            <a:schemeClr val="accent5">
              <a:lumMod val="20000"/>
              <a:lumOff val="80000"/>
            </a:schemeClr>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r>
              <a:rPr lang="zh-CN" altLang="en-US" sz="1050" b="1" dirty="0"/>
              <a:t>提供测试配置</a:t>
            </a:r>
            <a:endParaRPr lang="en-US" altLang="zh-CN" sz="1050" b="1" dirty="0"/>
          </a:p>
          <a:p>
            <a:pPr marL="285750" indent="-285750">
              <a:buFont typeface="Arial" panose="020B0604020202020204" pitchFamily="34" charset="0"/>
              <a:buChar char="•"/>
            </a:pPr>
            <a:r>
              <a:rPr lang="zh-CN" altLang="en-US" sz="1050" b="1" dirty="0"/>
              <a:t>搭建产品</a:t>
            </a:r>
            <a:r>
              <a:rPr lang="en-US" altLang="zh-CN" sz="1050" b="1" dirty="0"/>
              <a:t>Early BOM</a:t>
            </a:r>
          </a:p>
          <a:p>
            <a:pPr marL="285750" indent="-285750">
              <a:buFont typeface="Arial" panose="020B0604020202020204" pitchFamily="34" charset="0"/>
              <a:buChar char="•"/>
            </a:pPr>
            <a:r>
              <a:rPr lang="en-US" altLang="zh-CN" sz="1050" b="1" dirty="0"/>
              <a:t>《</a:t>
            </a:r>
            <a:r>
              <a:rPr lang="zh-CN" altLang="en-US" sz="1050" b="1" dirty="0"/>
              <a:t>通用物料清单</a:t>
            </a:r>
            <a:r>
              <a:rPr lang="en-US" altLang="zh-CN" sz="1050" b="1" dirty="0"/>
              <a:t>》</a:t>
            </a:r>
            <a:endParaRPr lang="zh-CN" altLang="en-US" sz="1050" b="1" dirty="0"/>
          </a:p>
        </p:txBody>
      </p:sp>
      <p:sp>
        <p:nvSpPr>
          <p:cNvPr id="72" name="星形: 四角 71">
            <a:extLst>
              <a:ext uri="{FF2B5EF4-FFF2-40B4-BE49-F238E27FC236}">
                <a16:creationId xmlns:a16="http://schemas.microsoft.com/office/drawing/2014/main" id="{C0AA57D9-D6CE-BF46-3BB1-BCA10A3DE7B5}"/>
              </a:ext>
            </a:extLst>
          </p:cNvPr>
          <p:cNvSpPr/>
          <p:nvPr/>
        </p:nvSpPr>
        <p:spPr>
          <a:xfrm>
            <a:off x="2019964" y="1150212"/>
            <a:ext cx="380328" cy="448189"/>
          </a:xfrm>
          <a:prstGeom prst="star4">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 name="连接符: 曲线 73">
            <a:extLst>
              <a:ext uri="{FF2B5EF4-FFF2-40B4-BE49-F238E27FC236}">
                <a16:creationId xmlns:a16="http://schemas.microsoft.com/office/drawing/2014/main" id="{109D7F45-9A1F-F2A8-CB65-85CC9008B667}"/>
              </a:ext>
            </a:extLst>
          </p:cNvPr>
          <p:cNvCxnSpPr>
            <a:cxnSpLocks/>
            <a:stCxn id="72" idx="2"/>
            <a:endCxn id="49" idx="1"/>
          </p:cNvCxnSpPr>
          <p:nvPr/>
        </p:nvCxnSpPr>
        <p:spPr>
          <a:xfrm rot="16200000" flipH="1">
            <a:off x="253066" y="3555462"/>
            <a:ext cx="4446217" cy="532093"/>
          </a:xfrm>
          <a:prstGeom prst="curvedConnector2">
            <a:avLst/>
          </a:prstGeom>
          <a:ln>
            <a:tailEnd type="triangle"/>
          </a:ln>
        </p:spPr>
        <p:style>
          <a:lnRef idx="1">
            <a:schemeClr val="accent4"/>
          </a:lnRef>
          <a:fillRef idx="0">
            <a:schemeClr val="accent4"/>
          </a:fillRef>
          <a:effectRef idx="0">
            <a:schemeClr val="accent4"/>
          </a:effectRef>
          <a:fontRef idx="minor">
            <a:schemeClr val="tx1"/>
          </a:fontRef>
        </p:style>
      </p:cxnSp>
      <p:sp>
        <p:nvSpPr>
          <p:cNvPr id="80" name="矩形 79">
            <a:extLst>
              <a:ext uri="{FF2B5EF4-FFF2-40B4-BE49-F238E27FC236}">
                <a16:creationId xmlns:a16="http://schemas.microsoft.com/office/drawing/2014/main" id="{25F717EE-B3BB-A3C9-0BCE-E10EE5453954}"/>
              </a:ext>
            </a:extLst>
          </p:cNvPr>
          <p:cNvSpPr/>
          <p:nvPr/>
        </p:nvSpPr>
        <p:spPr>
          <a:xfrm>
            <a:off x="10600126" y="295840"/>
            <a:ext cx="1197032" cy="4096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chemeClr val="tx1"/>
                </a:solidFill>
              </a:rPr>
              <a:t>输出</a:t>
            </a:r>
          </a:p>
        </p:txBody>
      </p:sp>
      <p:sp>
        <p:nvSpPr>
          <p:cNvPr id="81" name="文本框 80">
            <a:extLst>
              <a:ext uri="{FF2B5EF4-FFF2-40B4-BE49-F238E27FC236}">
                <a16:creationId xmlns:a16="http://schemas.microsoft.com/office/drawing/2014/main" id="{D719088D-8DC6-52E3-1737-E66D20C86D13}"/>
              </a:ext>
            </a:extLst>
          </p:cNvPr>
          <p:cNvSpPr txBox="1"/>
          <p:nvPr/>
        </p:nvSpPr>
        <p:spPr>
          <a:xfrm>
            <a:off x="1810666" y="1664221"/>
            <a:ext cx="1863109" cy="281167"/>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rPr>
              <a:t>立项决策评审通过</a:t>
            </a:r>
          </a:p>
        </p:txBody>
      </p:sp>
      <p:sp>
        <p:nvSpPr>
          <p:cNvPr id="4" name="矩形 3">
            <a:extLst>
              <a:ext uri="{FF2B5EF4-FFF2-40B4-BE49-F238E27FC236}">
                <a16:creationId xmlns:a16="http://schemas.microsoft.com/office/drawing/2014/main" id="{32CA4380-6149-309D-B3DE-0FC477F2C9FF}"/>
              </a:ext>
            </a:extLst>
          </p:cNvPr>
          <p:cNvSpPr/>
          <p:nvPr/>
        </p:nvSpPr>
        <p:spPr>
          <a:xfrm>
            <a:off x="2742220" y="3301365"/>
            <a:ext cx="2221658" cy="366895"/>
          </a:xfrm>
          <a:prstGeom prst="rect">
            <a:avLst/>
          </a:prstGeom>
          <a:solidFill>
            <a:schemeClr val="bg2">
              <a:lumMod val="90000"/>
            </a:schemeClr>
          </a:solidFill>
          <a:ln>
            <a:solidFill>
              <a:schemeClr val="bg2">
                <a:lumMod val="2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050" b="1" dirty="0">
                <a:latin typeface="+mn-ea"/>
              </a:rPr>
              <a:t>散热仿真</a:t>
            </a:r>
            <a:r>
              <a:rPr lang="en-US" altLang="zh-CN" sz="1050" b="1" dirty="0">
                <a:latin typeface="+mn-ea"/>
              </a:rPr>
              <a:t>——</a:t>
            </a:r>
            <a:r>
              <a:rPr lang="zh-CN" altLang="en-US" sz="1050" b="1" dirty="0">
                <a:latin typeface="+mn-ea"/>
              </a:rPr>
              <a:t>散热工程师</a:t>
            </a:r>
          </a:p>
        </p:txBody>
      </p:sp>
      <p:sp>
        <p:nvSpPr>
          <p:cNvPr id="5" name="文本框 4">
            <a:extLst>
              <a:ext uri="{FF2B5EF4-FFF2-40B4-BE49-F238E27FC236}">
                <a16:creationId xmlns:a16="http://schemas.microsoft.com/office/drawing/2014/main" id="{66CF1C30-E331-8242-7C3A-6F67C0024BF9}"/>
              </a:ext>
            </a:extLst>
          </p:cNvPr>
          <p:cNvSpPr txBox="1"/>
          <p:nvPr/>
        </p:nvSpPr>
        <p:spPr>
          <a:xfrm>
            <a:off x="654288" y="5284042"/>
            <a:ext cx="1213453" cy="298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lnSpc>
                <a:spcPct val="120000"/>
              </a:lnSpc>
            </a:pPr>
            <a:r>
              <a:rPr lang="zh-CN" altLang="en-US" sz="1200" b="1" dirty="0">
                <a:solidFill>
                  <a:schemeClr val="bg1"/>
                </a:solidFill>
              </a:rPr>
              <a:t>市场代表</a:t>
            </a:r>
            <a:endParaRPr lang="en-US" altLang="zh-CN" sz="1200" b="1" dirty="0">
              <a:solidFill>
                <a:schemeClr val="bg1"/>
              </a:solidFill>
            </a:endParaRPr>
          </a:p>
        </p:txBody>
      </p:sp>
      <p:sp>
        <p:nvSpPr>
          <p:cNvPr id="6" name="矩形 5">
            <a:extLst>
              <a:ext uri="{FF2B5EF4-FFF2-40B4-BE49-F238E27FC236}">
                <a16:creationId xmlns:a16="http://schemas.microsoft.com/office/drawing/2014/main" id="{14EF77B0-B97E-CDEC-08A7-C3604ECE8470}"/>
              </a:ext>
            </a:extLst>
          </p:cNvPr>
          <p:cNvSpPr/>
          <p:nvPr/>
        </p:nvSpPr>
        <p:spPr>
          <a:xfrm>
            <a:off x="2742220" y="5305445"/>
            <a:ext cx="2210317" cy="366895"/>
          </a:xfrm>
          <a:prstGeom prst="rect">
            <a:avLst/>
          </a:prstGeom>
          <a:solidFill>
            <a:schemeClr val="accent3">
              <a:lumMod val="20000"/>
              <a:lumOff val="80000"/>
            </a:schemeClr>
          </a:solidFill>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sz="1050" b="1" dirty="0">
                <a:latin typeface="+mn-ea"/>
              </a:rPr>
              <a:t>提交立项申请（</a:t>
            </a:r>
            <a:r>
              <a:rPr lang="en-US" altLang="zh-CN" sz="1050" b="1" dirty="0">
                <a:latin typeface="+mn-ea"/>
              </a:rPr>
              <a:t>PLM</a:t>
            </a:r>
            <a:r>
              <a:rPr lang="zh-CN" altLang="en-US" sz="1050" b="1" dirty="0">
                <a:latin typeface="+mn-ea"/>
              </a:rPr>
              <a:t>）</a:t>
            </a:r>
          </a:p>
        </p:txBody>
      </p:sp>
      <p:cxnSp>
        <p:nvCxnSpPr>
          <p:cNvPr id="8" name="连接符: 曲线 7">
            <a:extLst>
              <a:ext uri="{FF2B5EF4-FFF2-40B4-BE49-F238E27FC236}">
                <a16:creationId xmlns:a16="http://schemas.microsoft.com/office/drawing/2014/main" id="{17C0704D-A879-7499-F4AC-B475446FD087}"/>
              </a:ext>
            </a:extLst>
          </p:cNvPr>
          <p:cNvCxnSpPr>
            <a:stCxn id="72" idx="2"/>
            <a:endCxn id="6" idx="1"/>
          </p:cNvCxnSpPr>
          <p:nvPr/>
        </p:nvCxnSpPr>
        <p:spPr>
          <a:xfrm rot="16200000" flipH="1">
            <a:off x="530928" y="3277601"/>
            <a:ext cx="3890492" cy="53209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曲线连接符 9"/>
          <p:cNvCxnSpPr/>
          <p:nvPr/>
        </p:nvCxnSpPr>
        <p:spPr>
          <a:xfrm flipV="1">
            <a:off x="9179511" y="5485618"/>
            <a:ext cx="257452" cy="7475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4136CD25-6201-1933-3114-620A28007376}"/>
              </a:ext>
            </a:extLst>
          </p:cNvPr>
          <p:cNvSpPr/>
          <p:nvPr/>
        </p:nvSpPr>
        <p:spPr>
          <a:xfrm>
            <a:off x="4865342" y="5301746"/>
            <a:ext cx="2129169" cy="288786"/>
          </a:xfrm>
          <a:prstGeom prst="rect">
            <a:avLst/>
          </a:prstGeom>
          <a:noFill/>
          <a:ln>
            <a:noFill/>
            <a:prstDash val="dash"/>
            <a:headEnd type="none" w="med" len="med"/>
            <a:tailEnd type="none" w="med" len="med"/>
          </a:ln>
        </p:spPr>
        <p:style>
          <a:lnRef idx="2">
            <a:schemeClr val="accent3"/>
          </a:lnRef>
          <a:fillRef idx="1">
            <a:schemeClr val="lt1"/>
          </a:fillRef>
          <a:effectRef idx="0">
            <a:schemeClr val="accent3"/>
          </a:effectRef>
          <a:fontRef idx="minor">
            <a:schemeClr val="dk1"/>
          </a:fontRef>
        </p:style>
        <p:txBody>
          <a:bodyPr rtlCol="0" anchor="ctr"/>
          <a:lstStyle/>
          <a:p>
            <a:pPr algn="ctr">
              <a:lnSpc>
                <a:spcPct val="130000"/>
              </a:lnSpc>
            </a:pPr>
            <a:r>
              <a:rPr lang="zh-CN" altLang="en-US" sz="1050" b="1" dirty="0" smtClean="0">
                <a:solidFill>
                  <a:srgbClr val="0000FF"/>
                </a:solidFill>
                <a:latin typeface="+mn-ea"/>
              </a:rPr>
              <a:t>输出产品发布策略</a:t>
            </a:r>
            <a:endParaRPr lang="en-US" altLang="zh-CN" sz="1050" dirty="0">
              <a:solidFill>
                <a:srgbClr val="0000FF"/>
              </a:solidFill>
              <a:latin typeface="+mn-ea"/>
            </a:endParaRPr>
          </a:p>
        </p:txBody>
      </p:sp>
      <p:sp>
        <p:nvSpPr>
          <p:cNvPr id="43" name="十字星 42"/>
          <p:cNvSpPr/>
          <p:nvPr/>
        </p:nvSpPr>
        <p:spPr>
          <a:xfrm>
            <a:off x="5051647" y="5293176"/>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文本框 6"/>
          <p:cNvSpPr txBox="1"/>
          <p:nvPr/>
        </p:nvSpPr>
        <p:spPr>
          <a:xfrm>
            <a:off x="1883682" y="1949170"/>
            <a:ext cx="1631774" cy="281167"/>
          </a:xfrm>
          <a:prstGeom prst="rect">
            <a:avLst/>
          </a:prstGeom>
          <a:noFill/>
        </p:spPr>
        <p:txBody>
          <a:bodyPr wrap="square" rtlCol="0">
            <a:spAutoFit/>
          </a:bodyPr>
          <a:lstStyle/>
          <a:p>
            <a:pPr>
              <a:lnSpc>
                <a:spcPct val="120000"/>
              </a:lnSpc>
            </a:pPr>
            <a:r>
              <a:rPr lang="zh-CN" altLang="en-US" sz="1050" b="1" dirty="0" smtClean="0">
                <a:solidFill>
                  <a:schemeClr val="tx1">
                    <a:lumMod val="75000"/>
                    <a:lumOff val="25000"/>
                  </a:schemeClr>
                </a:solidFill>
              </a:rPr>
              <a:t>项目启动会</a:t>
            </a:r>
          </a:p>
        </p:txBody>
      </p:sp>
    </p:spTree>
    <p:extLst>
      <p:ext uri="{BB962C8B-B14F-4D97-AF65-F5344CB8AC3E}">
        <p14:creationId xmlns:p14="http://schemas.microsoft.com/office/powerpoint/2010/main" val="4586216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7E2809-48E9-A1D7-F7EA-42118449E3D0}"/>
              </a:ext>
            </a:extLst>
          </p:cNvPr>
          <p:cNvSpPr>
            <a:spLocks noGrp="1"/>
          </p:cNvSpPr>
          <p:nvPr>
            <p:ph type="body" sz="quarter" idx="13"/>
          </p:nvPr>
        </p:nvSpPr>
        <p:spPr/>
        <p:txBody>
          <a:bodyPr/>
          <a:lstStyle/>
          <a:p>
            <a:r>
              <a:rPr lang="en-US" altLang="zh-CN" dirty="0"/>
              <a:t>M2</a:t>
            </a:r>
            <a:r>
              <a:rPr lang="zh-CN" altLang="en-US" dirty="0"/>
              <a:t>计划阶段</a:t>
            </a:r>
            <a:r>
              <a:rPr lang="en-US" altLang="zh-CN" dirty="0"/>
              <a:t>——</a:t>
            </a:r>
            <a:r>
              <a:rPr lang="zh-CN" altLang="en-US" dirty="0"/>
              <a:t>建议诉求</a:t>
            </a:r>
          </a:p>
        </p:txBody>
      </p:sp>
      <p:graphicFrame>
        <p:nvGraphicFramePr>
          <p:cNvPr id="8" name="表格 18">
            <a:extLst>
              <a:ext uri="{FF2B5EF4-FFF2-40B4-BE49-F238E27FC236}">
                <a16:creationId xmlns:a16="http://schemas.microsoft.com/office/drawing/2014/main" id="{C4EA164D-F53E-36BD-54CC-3A76E551A949}"/>
              </a:ext>
            </a:extLst>
          </p:cNvPr>
          <p:cNvGraphicFramePr>
            <a:graphicFrameLocks noGrp="1"/>
          </p:cNvGraphicFramePr>
          <p:nvPr>
            <p:extLst>
              <p:ext uri="{D42A27DB-BD31-4B8C-83A1-F6EECF244321}">
                <p14:modId xmlns:p14="http://schemas.microsoft.com/office/powerpoint/2010/main" val="126341925"/>
              </p:ext>
            </p:extLst>
          </p:nvPr>
        </p:nvGraphicFramePr>
        <p:xfrm>
          <a:off x="334963" y="981075"/>
          <a:ext cx="11449051" cy="4741403"/>
        </p:xfrm>
        <a:graphic>
          <a:graphicData uri="http://schemas.openxmlformats.org/drawingml/2006/table">
            <a:tbl>
              <a:tblPr firstRow="1" bandRow="1">
                <a:tableStyleId>{00A15C55-8517-42AA-B614-E9B94910E393}</a:tableStyleId>
              </a:tblPr>
              <a:tblGrid>
                <a:gridCol w="1094549">
                  <a:extLst>
                    <a:ext uri="{9D8B030D-6E8A-4147-A177-3AD203B41FA5}">
                      <a16:colId xmlns:a16="http://schemas.microsoft.com/office/drawing/2014/main" val="3334151599"/>
                    </a:ext>
                  </a:extLst>
                </a:gridCol>
                <a:gridCol w="1313282">
                  <a:extLst>
                    <a:ext uri="{9D8B030D-6E8A-4147-A177-3AD203B41FA5}">
                      <a16:colId xmlns:a16="http://schemas.microsoft.com/office/drawing/2014/main" val="2844502402"/>
                    </a:ext>
                  </a:extLst>
                </a:gridCol>
                <a:gridCol w="1275216">
                  <a:extLst>
                    <a:ext uri="{9D8B030D-6E8A-4147-A177-3AD203B41FA5}">
                      <a16:colId xmlns:a16="http://schemas.microsoft.com/office/drawing/2014/main" val="3695025533"/>
                    </a:ext>
                  </a:extLst>
                </a:gridCol>
                <a:gridCol w="4263407">
                  <a:extLst>
                    <a:ext uri="{9D8B030D-6E8A-4147-A177-3AD203B41FA5}">
                      <a16:colId xmlns:a16="http://schemas.microsoft.com/office/drawing/2014/main" val="3780626603"/>
                    </a:ext>
                  </a:extLst>
                </a:gridCol>
                <a:gridCol w="3502597">
                  <a:extLst>
                    <a:ext uri="{9D8B030D-6E8A-4147-A177-3AD203B41FA5}">
                      <a16:colId xmlns:a16="http://schemas.microsoft.com/office/drawing/2014/main" val="2468479109"/>
                    </a:ext>
                  </a:extLst>
                </a:gridCol>
              </a:tblGrid>
              <a:tr h="384668">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200" dirty="0"/>
                        <a:t>阶段</a:t>
                      </a:r>
                      <a:endParaRPr lang="zh-CN" altLang="en-US" sz="1200" dirty="0">
                        <a:latin typeface="+mn-ea"/>
                        <a:ea typeface="+mn-ea"/>
                      </a:endParaRPr>
                    </a:p>
                  </a:txBody>
                  <a:tcPr anchor="ctr"/>
                </a:tc>
                <a:tc>
                  <a:txBody>
                    <a:bodyPr/>
                    <a:lstStyle/>
                    <a:p>
                      <a:pPr algn="ctr"/>
                      <a:r>
                        <a:rPr lang="zh-CN" altLang="en-US" sz="1200" dirty="0"/>
                        <a:t>项目角色</a:t>
                      </a:r>
                      <a:endParaRPr lang="zh-CN" altLang="en-US" sz="1200" dirty="0">
                        <a:latin typeface="+mn-ea"/>
                        <a:ea typeface="+mn-ea"/>
                      </a:endParaRPr>
                    </a:p>
                  </a:txBody>
                  <a:tcPr anchor="ctr"/>
                </a:tc>
                <a:tc>
                  <a:txBody>
                    <a:bodyPr/>
                    <a:lstStyle/>
                    <a:p>
                      <a:pPr algn="ctr"/>
                      <a:r>
                        <a:rPr lang="zh-CN" altLang="en-US" sz="1200" dirty="0" smtClean="0"/>
                        <a:t>类型</a:t>
                      </a:r>
                      <a:endParaRPr lang="zh-CN" altLang="en-US" sz="1200" dirty="0"/>
                    </a:p>
                  </a:txBody>
                  <a:tcPr anchor="ctr"/>
                </a:tc>
                <a:tc>
                  <a:txBody>
                    <a:bodyPr/>
                    <a:lstStyle/>
                    <a:p>
                      <a:pPr algn="ctr"/>
                      <a:r>
                        <a:rPr lang="zh-CN" altLang="en-US" sz="1200" dirty="0"/>
                        <a:t>诉求</a:t>
                      </a:r>
                      <a:r>
                        <a:rPr lang="en-US" altLang="zh-CN" sz="1200" dirty="0"/>
                        <a:t>/</a:t>
                      </a:r>
                      <a:r>
                        <a:rPr lang="zh-CN" altLang="en-US" sz="1200" dirty="0"/>
                        <a:t>建议</a:t>
                      </a:r>
                      <a:endParaRPr lang="zh-CN" altLang="en-US" sz="1200" dirty="0">
                        <a:latin typeface="+mn-ea"/>
                        <a:ea typeface="+mn-ea"/>
                      </a:endParaRPr>
                    </a:p>
                  </a:txBody>
                  <a:tcPr anchor="ctr"/>
                </a:tc>
                <a:tc>
                  <a:txBody>
                    <a:bodyPr/>
                    <a:lstStyle/>
                    <a:p>
                      <a:pPr algn="ctr"/>
                      <a:r>
                        <a:rPr lang="zh-CN" altLang="en-US" sz="1200" dirty="0" smtClean="0"/>
                        <a:t>备注</a:t>
                      </a:r>
                      <a:endParaRPr lang="zh-CN" altLang="en-US" sz="1200" dirty="0"/>
                    </a:p>
                  </a:txBody>
                  <a:tcPr anchor="ctr"/>
                </a:tc>
                <a:extLst>
                  <a:ext uri="{0D108BD9-81ED-4DB2-BD59-A6C34878D82A}">
                    <a16:rowId xmlns:a16="http://schemas.microsoft.com/office/drawing/2014/main" val="4249472911"/>
                  </a:ext>
                </a:extLst>
              </a:tr>
              <a:tr h="1387076">
                <a:tc>
                  <a:txBody>
                    <a:bodyPr/>
                    <a:lstStyle/>
                    <a:p>
                      <a:pPr algn="ctr" fontAlgn="ctr" latinLnBrk="0"/>
                      <a:r>
                        <a:rPr lang="en-US" altLang="zh-CN" sz="1050" dirty="0">
                          <a:solidFill>
                            <a:srgbClr val="000000"/>
                          </a:solidFill>
                          <a:effectLst/>
                          <a:latin typeface="+mn-ea"/>
                          <a:ea typeface="+mn-ea"/>
                        </a:rPr>
                        <a:t>L4-</a:t>
                      </a:r>
                      <a:r>
                        <a:rPr lang="zh-CN" altLang="en-US" sz="1050" dirty="0">
                          <a:solidFill>
                            <a:srgbClr val="000000"/>
                          </a:solidFill>
                          <a:effectLst/>
                          <a:latin typeface="+mn-ea"/>
                          <a:ea typeface="+mn-ea"/>
                        </a:rPr>
                        <a:t>概要设计</a:t>
                      </a:r>
                    </a:p>
                  </a:txBody>
                  <a:tcPr anchor="ctr"/>
                </a:tc>
                <a:tc>
                  <a:txBody>
                    <a:bodyPr/>
                    <a:lstStyle/>
                    <a:p>
                      <a:pPr algn="ctr" fontAlgn="ctr" latinLnBrk="0"/>
                      <a:r>
                        <a:rPr lang="zh-CN" altLang="en-US" sz="1050" dirty="0">
                          <a:solidFill>
                            <a:srgbClr val="000000"/>
                          </a:solidFill>
                          <a:effectLst/>
                          <a:latin typeface="+mn-ea"/>
                          <a:ea typeface="+mn-ea"/>
                        </a:rPr>
                        <a:t>架构师</a:t>
                      </a:r>
                    </a:p>
                  </a:txBody>
                  <a:tcPr anchor="ctr"/>
                </a:tc>
                <a:tc>
                  <a:txBody>
                    <a:bodyPr/>
                    <a:lstStyle/>
                    <a:p>
                      <a:pPr algn="ctr" fontAlgn="ctr" latinLnBrk="0"/>
                      <a:r>
                        <a:rPr lang="zh-CN" altLang="en-US" sz="1050" dirty="0">
                          <a:solidFill>
                            <a:srgbClr val="000000"/>
                          </a:solidFill>
                          <a:effectLst/>
                          <a:latin typeface="+mn-ea"/>
                          <a:ea typeface="+mn-ea"/>
                        </a:rPr>
                        <a:t>全局规划</a:t>
                      </a:r>
                    </a:p>
                  </a:txBody>
                  <a:tcPr anchor="ctr"/>
                </a:tc>
                <a:tc>
                  <a:txBody>
                    <a:bodyPr/>
                    <a:lstStyle/>
                    <a:p>
                      <a:pPr algn="l" fontAlgn="ctr" latinLnBrk="0"/>
                      <a:r>
                        <a:rPr lang="zh-CN" altLang="en-US" sz="1050" b="1" dirty="0" smtClean="0">
                          <a:solidFill>
                            <a:srgbClr val="000000"/>
                          </a:solidFill>
                          <a:effectLst/>
                          <a:latin typeface="+mn-ea"/>
                          <a:ea typeface="+mn-ea"/>
                        </a:rPr>
                        <a:t>建议：重视</a:t>
                      </a:r>
                      <a:r>
                        <a:rPr lang="en-US" altLang="zh-CN" sz="1050" b="1" dirty="0" smtClean="0">
                          <a:solidFill>
                            <a:srgbClr val="000000"/>
                          </a:solidFill>
                          <a:effectLst/>
                          <a:latin typeface="+mn-ea"/>
                          <a:ea typeface="+mn-ea"/>
                        </a:rPr>
                        <a:t>《</a:t>
                      </a:r>
                      <a:r>
                        <a:rPr lang="zh-CN" altLang="en-US" sz="1050" b="1" dirty="0" smtClean="0">
                          <a:solidFill>
                            <a:srgbClr val="000000"/>
                          </a:solidFill>
                          <a:effectLst/>
                          <a:latin typeface="+mn-ea"/>
                          <a:ea typeface="+mn-ea"/>
                        </a:rPr>
                        <a:t>硬件产品概要设计说明书</a:t>
                      </a:r>
                      <a:r>
                        <a:rPr lang="en-US" altLang="zh-CN" sz="1050" b="1" dirty="0" smtClean="0">
                          <a:solidFill>
                            <a:srgbClr val="000000"/>
                          </a:solidFill>
                          <a:effectLst/>
                          <a:latin typeface="+mn-ea"/>
                          <a:ea typeface="+mn-ea"/>
                        </a:rPr>
                        <a:t>》</a:t>
                      </a:r>
                      <a:r>
                        <a:rPr lang="zh-CN" altLang="en-US" sz="1050" b="1" dirty="0" smtClean="0">
                          <a:solidFill>
                            <a:srgbClr val="000000"/>
                          </a:solidFill>
                          <a:effectLst/>
                          <a:latin typeface="+mn-ea"/>
                          <a:ea typeface="+mn-ea"/>
                        </a:rPr>
                        <a:t>文档的重要性</a:t>
                      </a:r>
                      <a:endParaRPr lang="en-US" altLang="zh-CN" sz="1050" b="1" dirty="0" smtClean="0">
                        <a:solidFill>
                          <a:srgbClr val="000000"/>
                        </a:solidFill>
                        <a:effectLst/>
                        <a:latin typeface="+mn-ea"/>
                        <a:ea typeface="+mn-ea"/>
                      </a:endParaRPr>
                    </a:p>
                    <a:p>
                      <a:pPr algn="l" fontAlgn="ctr" latinLnBrk="0"/>
                      <a:r>
                        <a:rPr lang="zh-CN" altLang="en-US" sz="1050" dirty="0" smtClean="0">
                          <a:solidFill>
                            <a:srgbClr val="000000"/>
                          </a:solidFill>
                          <a:effectLst/>
                          <a:latin typeface="+mn-ea"/>
                          <a:ea typeface="+mn-ea"/>
                        </a:rPr>
                        <a:t>避免因项目计划周期紧张，概设文档梳理工作主要在详设阶段，存在详设过程中因概设未执行，导致方案变更的情况（单一事件）</a:t>
                      </a:r>
                      <a:endParaRPr lang="en-US" altLang="zh-CN" sz="1050" dirty="0" smtClean="0">
                        <a:solidFill>
                          <a:srgbClr val="000000"/>
                        </a:solidFill>
                        <a:effectLst/>
                        <a:latin typeface="+mn-ea"/>
                        <a:ea typeface="+mn-ea"/>
                      </a:endParaRPr>
                    </a:p>
                  </a:txBody>
                  <a:tcPr anchor="ctr"/>
                </a:tc>
                <a:tc>
                  <a:txBody>
                    <a:bodyPr/>
                    <a:lstStyle/>
                    <a:p>
                      <a:pPr algn="l" fontAlgn="ctr" latinLnBrk="0"/>
                      <a:r>
                        <a:rPr lang="zh-CN" altLang="en-US" sz="1050" dirty="0" smtClean="0">
                          <a:solidFill>
                            <a:srgbClr val="000000"/>
                          </a:solidFill>
                          <a:effectLst/>
                          <a:latin typeface="+mn-ea"/>
                          <a:ea typeface="+mn-ea"/>
                        </a:rPr>
                        <a:t>概要设计</a:t>
                      </a:r>
                      <a:r>
                        <a:rPr lang="zh-CN" altLang="en-US" sz="1050" dirty="0">
                          <a:solidFill>
                            <a:srgbClr val="000000"/>
                          </a:solidFill>
                          <a:effectLst/>
                          <a:latin typeface="+mn-ea"/>
                          <a:ea typeface="+mn-ea"/>
                        </a:rPr>
                        <a:t>和概要设计评审，将概要设计活动分解到预研阶段和详设阶段，发生详设阶段更改方案。</a:t>
                      </a:r>
                    </a:p>
                  </a:txBody>
                  <a:tcPr anchor="ctr"/>
                </a:tc>
                <a:extLst>
                  <a:ext uri="{0D108BD9-81ED-4DB2-BD59-A6C34878D82A}">
                    <a16:rowId xmlns:a16="http://schemas.microsoft.com/office/drawing/2014/main" val="249124627"/>
                  </a:ext>
                </a:extLst>
              </a:tr>
              <a:tr h="1387076">
                <a:tc>
                  <a:txBody>
                    <a:bodyPr/>
                    <a:lstStyle/>
                    <a:p>
                      <a:pPr algn="ctr" fontAlgn="ctr" latinLnBrk="0"/>
                      <a:r>
                        <a:rPr lang="en-US" altLang="zh-CN" sz="1050" dirty="0">
                          <a:solidFill>
                            <a:srgbClr val="000000"/>
                          </a:solidFill>
                          <a:effectLst/>
                          <a:latin typeface="+mn-ea"/>
                          <a:ea typeface="+mn-ea"/>
                        </a:rPr>
                        <a:t>L5-</a:t>
                      </a:r>
                      <a:r>
                        <a:rPr lang="zh-CN" altLang="en-US" sz="1050" dirty="0">
                          <a:solidFill>
                            <a:srgbClr val="000000"/>
                          </a:solidFill>
                          <a:effectLst/>
                          <a:latin typeface="+mn-ea"/>
                          <a:ea typeface="+mn-ea"/>
                        </a:rPr>
                        <a:t>计划阶段</a:t>
                      </a:r>
                    </a:p>
                  </a:txBody>
                  <a:tcPr anchor="ctr"/>
                </a:tc>
                <a:tc>
                  <a:txBody>
                    <a:bodyPr/>
                    <a:lstStyle/>
                    <a:p>
                      <a:pPr algn="ctr" fontAlgn="ctr" latinLnBrk="0"/>
                      <a:r>
                        <a:rPr lang="zh-CN" altLang="en-US" sz="1050" dirty="0">
                          <a:solidFill>
                            <a:srgbClr val="000000"/>
                          </a:solidFill>
                          <a:effectLst/>
                          <a:latin typeface="+mn-ea"/>
                          <a:ea typeface="+mn-ea"/>
                        </a:rPr>
                        <a:t>市场代表</a:t>
                      </a:r>
                      <a:endParaRPr lang="en-US" sz="1050" dirty="0">
                        <a:solidFill>
                          <a:srgbClr val="000000"/>
                        </a:solidFill>
                        <a:effectLst/>
                        <a:latin typeface="+mn-ea"/>
                        <a:ea typeface="+mn-ea"/>
                      </a:endParaRPr>
                    </a:p>
                  </a:txBody>
                  <a:tcPr anchor="ctr"/>
                </a:tc>
                <a:tc>
                  <a:txBody>
                    <a:bodyPr/>
                    <a:lstStyle/>
                    <a:p>
                      <a:pPr algn="ctr" fontAlgn="ctr" latinLnBrk="0"/>
                      <a:r>
                        <a:rPr lang="zh-CN" altLang="en-US" sz="1050" dirty="0">
                          <a:solidFill>
                            <a:srgbClr val="000000"/>
                          </a:solidFill>
                          <a:effectLst/>
                          <a:latin typeface="+mn-ea"/>
                          <a:ea typeface="+mn-ea"/>
                        </a:rPr>
                        <a:t>全局规划</a:t>
                      </a:r>
                    </a:p>
                  </a:txBody>
                  <a:tcPr anchor="ctr"/>
                </a:tc>
                <a:tc>
                  <a:txBody>
                    <a:bodyPr/>
                    <a:lstStyle/>
                    <a:p>
                      <a:pPr algn="l" fontAlgn="ctr" latinLnBrk="0"/>
                      <a:r>
                        <a:rPr lang="zh-CN" altLang="en-US" sz="1050" b="1" dirty="0" smtClean="0">
                          <a:solidFill>
                            <a:srgbClr val="000000"/>
                          </a:solidFill>
                          <a:effectLst/>
                          <a:latin typeface="+mn-ea"/>
                          <a:ea typeface="+mn-ea"/>
                        </a:rPr>
                        <a:t>建议：产品发布策略</a:t>
                      </a:r>
                      <a:endParaRPr lang="en-US" altLang="zh-CN" sz="1050" b="1" dirty="0" smtClean="0">
                        <a:solidFill>
                          <a:srgbClr val="000000"/>
                        </a:solidFill>
                        <a:effectLst/>
                        <a:latin typeface="+mn-ea"/>
                        <a:ea typeface="+mn-ea"/>
                      </a:endParaRPr>
                    </a:p>
                    <a:p>
                      <a:pPr algn="l" fontAlgn="ctr" latinLnBrk="0"/>
                      <a:r>
                        <a:rPr lang="zh-CN" altLang="en-US" sz="1050" dirty="0" smtClean="0">
                          <a:solidFill>
                            <a:srgbClr val="000000"/>
                          </a:solidFill>
                          <a:effectLst/>
                          <a:latin typeface="+mn-ea"/>
                          <a:ea typeface="+mn-ea"/>
                        </a:rPr>
                        <a:t>计划</a:t>
                      </a:r>
                      <a:r>
                        <a:rPr lang="zh-CN" altLang="en-US" sz="1050" dirty="0">
                          <a:solidFill>
                            <a:srgbClr val="000000"/>
                          </a:solidFill>
                          <a:effectLst/>
                          <a:latin typeface="+mn-ea"/>
                          <a:ea typeface="+mn-ea"/>
                        </a:rPr>
                        <a:t>阶段明确规划产品发布</a:t>
                      </a:r>
                      <a:r>
                        <a:rPr lang="zh-CN" altLang="en-US" sz="1050" dirty="0" smtClean="0">
                          <a:solidFill>
                            <a:srgbClr val="000000"/>
                          </a:solidFill>
                          <a:effectLst/>
                          <a:latin typeface="+mn-ea"/>
                          <a:ea typeface="+mn-ea"/>
                        </a:rPr>
                        <a:t>策略：</a:t>
                      </a:r>
                      <a:endParaRPr lang="en-US" altLang="zh-CN" sz="1050" dirty="0" smtClean="0">
                        <a:solidFill>
                          <a:srgbClr val="000000"/>
                        </a:solidFill>
                        <a:effectLst/>
                        <a:latin typeface="+mn-ea"/>
                        <a:ea typeface="+mn-ea"/>
                      </a:endParaRPr>
                    </a:p>
                    <a:p>
                      <a:pPr algn="l" fontAlgn="ctr" latinLnBrk="0"/>
                      <a:r>
                        <a:rPr lang="zh-CN" altLang="en-US" sz="1050" dirty="0" smtClean="0">
                          <a:solidFill>
                            <a:srgbClr val="000000"/>
                          </a:solidFill>
                          <a:effectLst/>
                          <a:latin typeface="+mn-ea"/>
                          <a:ea typeface="+mn-ea"/>
                        </a:rPr>
                        <a:t>尤其</a:t>
                      </a:r>
                      <a:r>
                        <a:rPr lang="zh-CN" altLang="en-US" sz="1050" dirty="0">
                          <a:solidFill>
                            <a:srgbClr val="000000"/>
                          </a:solidFill>
                          <a:effectLst/>
                          <a:latin typeface="+mn-ea"/>
                          <a:ea typeface="+mn-ea"/>
                        </a:rPr>
                        <a:t>是多机型、多配置项目，作为整个项目组、项目计划的指导目标</a:t>
                      </a:r>
                      <a:r>
                        <a:rPr lang="zh-CN" altLang="en-US" sz="1050" dirty="0" smtClean="0">
                          <a:solidFill>
                            <a:srgbClr val="000000"/>
                          </a:solidFill>
                          <a:effectLst/>
                          <a:latin typeface="+mn-ea"/>
                          <a:ea typeface="+mn-ea"/>
                        </a:rPr>
                        <a:t>；</a:t>
                      </a:r>
                      <a:endParaRPr lang="en-US" altLang="zh-CN" sz="1050" dirty="0" smtClean="0">
                        <a:solidFill>
                          <a:srgbClr val="000000"/>
                        </a:solidFill>
                        <a:effectLst/>
                        <a:latin typeface="+mn-ea"/>
                        <a:ea typeface="+mn-ea"/>
                      </a:endParaRPr>
                    </a:p>
                    <a:p>
                      <a:pPr algn="l" fontAlgn="ctr" latinLnBrk="0"/>
                      <a:r>
                        <a:rPr lang="zh-CN" altLang="en-US" sz="1050" dirty="0" smtClean="0">
                          <a:solidFill>
                            <a:srgbClr val="000000"/>
                          </a:solidFill>
                          <a:effectLst/>
                          <a:latin typeface="+mn-ea"/>
                          <a:ea typeface="+mn-ea"/>
                        </a:rPr>
                        <a:t>项目</a:t>
                      </a:r>
                      <a:r>
                        <a:rPr lang="zh-CN" altLang="en-US" sz="1050" dirty="0">
                          <a:solidFill>
                            <a:srgbClr val="000000"/>
                          </a:solidFill>
                          <a:effectLst/>
                          <a:latin typeface="+mn-ea"/>
                          <a:ea typeface="+mn-ea"/>
                        </a:rPr>
                        <a:t>执行过程中在</a:t>
                      </a:r>
                      <a:r>
                        <a:rPr lang="en-US" altLang="zh-CN" sz="1050" dirty="0">
                          <a:solidFill>
                            <a:srgbClr val="000000"/>
                          </a:solidFill>
                          <a:effectLst/>
                          <a:latin typeface="+mn-ea"/>
                          <a:ea typeface="+mn-ea"/>
                        </a:rPr>
                        <a:t>DVT</a:t>
                      </a:r>
                      <a:r>
                        <a:rPr lang="zh-CN" altLang="en-US" sz="1050" dirty="0">
                          <a:solidFill>
                            <a:srgbClr val="000000"/>
                          </a:solidFill>
                          <a:effectLst/>
                          <a:latin typeface="+mn-ea"/>
                          <a:ea typeface="+mn-ea"/>
                        </a:rPr>
                        <a:t>测试后期进行</a:t>
                      </a:r>
                      <a:r>
                        <a:rPr lang="zh-CN" altLang="en-US" sz="1050" dirty="0" smtClean="0">
                          <a:solidFill>
                            <a:srgbClr val="000000"/>
                          </a:solidFill>
                          <a:effectLst/>
                          <a:latin typeface="+mn-ea"/>
                          <a:ea typeface="+mn-ea"/>
                        </a:rPr>
                        <a:t>更新</a:t>
                      </a:r>
                      <a:endParaRPr lang="zh-CN" altLang="en-US" sz="1050" dirty="0">
                        <a:solidFill>
                          <a:srgbClr val="000000"/>
                        </a:solidFill>
                        <a:effectLst/>
                        <a:latin typeface="+mn-ea"/>
                        <a:ea typeface="+mn-ea"/>
                      </a:endParaRPr>
                    </a:p>
                  </a:txBody>
                  <a:tcPr anchor="ctr"/>
                </a:tc>
                <a:tc>
                  <a:txBody>
                    <a:bodyPr/>
                    <a:lstStyle/>
                    <a:p>
                      <a:pPr algn="l" fontAlgn="ctr" latinLnBrk="0"/>
                      <a:endParaRPr lang="zh-CN" altLang="en-US" sz="1050" dirty="0">
                        <a:solidFill>
                          <a:srgbClr val="000000"/>
                        </a:solidFill>
                        <a:effectLst/>
                        <a:latin typeface="+mn-ea"/>
                        <a:ea typeface="+mn-ea"/>
                      </a:endParaRPr>
                    </a:p>
                  </a:txBody>
                  <a:tcPr anchor="ctr"/>
                </a:tc>
                <a:extLst>
                  <a:ext uri="{0D108BD9-81ED-4DB2-BD59-A6C34878D82A}">
                    <a16:rowId xmlns:a16="http://schemas.microsoft.com/office/drawing/2014/main" val="4270688551"/>
                  </a:ext>
                </a:extLst>
              </a:tr>
              <a:tr h="1582583">
                <a:tc>
                  <a:txBody>
                    <a:bodyPr/>
                    <a:lstStyle/>
                    <a:p>
                      <a:pPr algn="ctr" fontAlgn="ctr" latinLnBrk="0"/>
                      <a:r>
                        <a:rPr lang="en-US" altLang="zh-CN" sz="1050" dirty="0">
                          <a:solidFill>
                            <a:srgbClr val="000000"/>
                          </a:solidFill>
                          <a:effectLst/>
                          <a:latin typeface="+mn-ea"/>
                          <a:ea typeface="+mn-ea"/>
                        </a:rPr>
                        <a:t>L5-</a:t>
                      </a:r>
                      <a:r>
                        <a:rPr lang="zh-CN" altLang="en-US" sz="1050" dirty="0">
                          <a:solidFill>
                            <a:srgbClr val="000000"/>
                          </a:solidFill>
                          <a:effectLst/>
                          <a:latin typeface="+mn-ea"/>
                          <a:ea typeface="+mn-ea"/>
                        </a:rPr>
                        <a:t>计划阶段</a:t>
                      </a:r>
                    </a:p>
                  </a:txBody>
                  <a:tcPr anchor="ctr"/>
                </a:tc>
                <a:tc>
                  <a:txBody>
                    <a:bodyPr/>
                    <a:lstStyle/>
                    <a:p>
                      <a:pPr algn="ctr" fontAlgn="ctr" latinLnBrk="0"/>
                      <a:r>
                        <a:rPr lang="zh-CN" altLang="en-US" sz="1050" dirty="0">
                          <a:solidFill>
                            <a:srgbClr val="000000"/>
                          </a:solidFill>
                          <a:effectLst/>
                          <a:latin typeface="+mn-ea"/>
                          <a:ea typeface="+mn-ea"/>
                        </a:rPr>
                        <a:t>架构师</a:t>
                      </a:r>
                    </a:p>
                  </a:txBody>
                  <a:tcPr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zh-CN" altLang="en-US" sz="1050" dirty="0">
                          <a:solidFill>
                            <a:srgbClr val="000000"/>
                          </a:solidFill>
                          <a:effectLst/>
                          <a:latin typeface="+mn-ea"/>
                          <a:ea typeface="+mn-ea"/>
                        </a:rPr>
                        <a:t>统筹管理</a:t>
                      </a:r>
                    </a:p>
                  </a:txBody>
                  <a:tcPr anchor="ctr"/>
                </a:tc>
                <a:tc>
                  <a:txBody>
                    <a:bodyPr/>
                    <a:lstStyle/>
                    <a:p>
                      <a:pPr algn="l" fontAlgn="ctr" latinLnBrk="0"/>
                      <a:r>
                        <a:rPr lang="zh-CN" altLang="en-US" sz="1050" b="1" dirty="0" smtClean="0">
                          <a:solidFill>
                            <a:srgbClr val="000000"/>
                          </a:solidFill>
                          <a:effectLst/>
                          <a:latin typeface="+mn-ea"/>
                          <a:ea typeface="+mn-ea"/>
                        </a:rPr>
                        <a:t>诉求：架构师协同</a:t>
                      </a:r>
                      <a:r>
                        <a:rPr lang="zh-CN" altLang="en-US" sz="1050" b="1" dirty="0">
                          <a:solidFill>
                            <a:srgbClr val="000000"/>
                          </a:solidFill>
                          <a:effectLst/>
                          <a:latin typeface="+mn-ea"/>
                          <a:ea typeface="+mn-ea"/>
                        </a:rPr>
                        <a:t>项目</a:t>
                      </a:r>
                      <a:r>
                        <a:rPr lang="zh-CN" altLang="en-US" sz="1050" b="1" dirty="0" smtClean="0">
                          <a:solidFill>
                            <a:srgbClr val="000000"/>
                          </a:solidFill>
                          <a:effectLst/>
                          <a:latin typeface="+mn-ea"/>
                          <a:ea typeface="+mn-ea"/>
                        </a:rPr>
                        <a:t>经理推动</a:t>
                      </a:r>
                      <a:r>
                        <a:rPr lang="zh-CN" altLang="en-US" sz="1050" b="1" dirty="0">
                          <a:solidFill>
                            <a:srgbClr val="000000"/>
                          </a:solidFill>
                          <a:effectLst/>
                          <a:latin typeface="+mn-ea"/>
                          <a:ea typeface="+mn-ea"/>
                        </a:rPr>
                        <a:t>项目计划的</a:t>
                      </a:r>
                      <a:r>
                        <a:rPr lang="zh-CN" altLang="en-US" sz="1050" b="1" dirty="0" smtClean="0">
                          <a:solidFill>
                            <a:srgbClr val="000000"/>
                          </a:solidFill>
                          <a:effectLst/>
                          <a:latin typeface="+mn-ea"/>
                          <a:ea typeface="+mn-ea"/>
                        </a:rPr>
                        <a:t>达成</a:t>
                      </a:r>
                      <a:endParaRPr lang="en-US" altLang="zh-CN" sz="1050" dirty="0">
                        <a:solidFill>
                          <a:srgbClr val="000000"/>
                        </a:solidFill>
                        <a:effectLst/>
                        <a:latin typeface="+mn-ea"/>
                        <a:ea typeface="+mn-ea"/>
                      </a:endParaRPr>
                    </a:p>
                    <a:p>
                      <a:pPr algn="l" fontAlgn="ctr" latinLnBrk="0"/>
                      <a:r>
                        <a:rPr lang="zh-CN" altLang="en-US" sz="1050" dirty="0">
                          <a:solidFill>
                            <a:srgbClr val="000000"/>
                          </a:solidFill>
                          <a:effectLst/>
                          <a:latin typeface="+mn-ea"/>
                          <a:ea typeface="+mn-ea"/>
                        </a:rPr>
                        <a:t>项目执行过程中</a:t>
                      </a:r>
                      <a:r>
                        <a:rPr lang="zh-CN" altLang="en-US" sz="1050" dirty="0" smtClean="0">
                          <a:solidFill>
                            <a:srgbClr val="000000"/>
                          </a:solidFill>
                          <a:effectLst/>
                          <a:latin typeface="+mn-ea"/>
                          <a:ea typeface="+mn-ea"/>
                        </a:rPr>
                        <a:t>，从技术角度与项目经理合作，参与</a:t>
                      </a:r>
                      <a:r>
                        <a:rPr lang="zh-CN" altLang="en-US" sz="1050" dirty="0">
                          <a:solidFill>
                            <a:srgbClr val="000000"/>
                          </a:solidFill>
                          <a:effectLst/>
                          <a:latin typeface="+mn-ea"/>
                          <a:ea typeface="+mn-ea"/>
                        </a:rPr>
                        <a:t>统筹整个项目和监督各里程碑目标达成</a:t>
                      </a:r>
                      <a:r>
                        <a:rPr lang="zh-CN" altLang="en-US" sz="1050" dirty="0" smtClean="0">
                          <a:solidFill>
                            <a:srgbClr val="000000"/>
                          </a:solidFill>
                          <a:effectLst/>
                          <a:latin typeface="+mn-ea"/>
                          <a:ea typeface="+mn-ea"/>
                        </a:rPr>
                        <a:t>情况</a:t>
                      </a:r>
                      <a:endParaRPr lang="zh-CN" altLang="en-US" sz="1050" dirty="0">
                        <a:solidFill>
                          <a:srgbClr val="000000"/>
                        </a:solidFill>
                        <a:effectLst/>
                        <a:latin typeface="+mn-ea"/>
                        <a:ea typeface="+mn-ea"/>
                      </a:endParaRPr>
                    </a:p>
                  </a:txBody>
                  <a:tcPr anchor="ctr"/>
                </a:tc>
                <a:tc>
                  <a:txBody>
                    <a:bodyPr/>
                    <a:lstStyle/>
                    <a:p>
                      <a:pPr algn="ctr" fontAlgn="ctr" latinLnBrk="0"/>
                      <a:endParaRPr lang="zh-CN" altLang="en-US" sz="1050" dirty="0">
                        <a:solidFill>
                          <a:srgbClr val="000000"/>
                        </a:solidFill>
                        <a:effectLst/>
                        <a:latin typeface="+mn-ea"/>
                        <a:ea typeface="+mn-ea"/>
                      </a:endParaRPr>
                    </a:p>
                  </a:txBody>
                  <a:tcPr anchor="ctr"/>
                </a:tc>
                <a:extLst>
                  <a:ext uri="{0D108BD9-81ED-4DB2-BD59-A6C34878D82A}">
                    <a16:rowId xmlns:a16="http://schemas.microsoft.com/office/drawing/2014/main" val="575491213"/>
                  </a:ext>
                </a:extLst>
              </a:tr>
            </a:tbl>
          </a:graphicData>
        </a:graphic>
      </p:graphicFrame>
    </p:spTree>
    <p:extLst>
      <p:ext uri="{BB962C8B-B14F-4D97-AF65-F5344CB8AC3E}">
        <p14:creationId xmlns:p14="http://schemas.microsoft.com/office/powerpoint/2010/main" val="20285491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D0F6235-4C68-E63F-BE21-0CE601E9129D}"/>
              </a:ext>
            </a:extLst>
          </p:cNvPr>
          <p:cNvSpPr/>
          <p:nvPr/>
        </p:nvSpPr>
        <p:spPr>
          <a:xfrm>
            <a:off x="404366" y="1098687"/>
            <a:ext cx="11392787" cy="5489949"/>
          </a:xfrm>
          <a:prstGeom prst="rect">
            <a:avLst/>
          </a:prstGeom>
          <a:solidFill>
            <a:schemeClr val="bg1">
              <a:lumMod val="95000"/>
            </a:schemeClr>
          </a:solidFill>
          <a:ln>
            <a:solidFill>
              <a:schemeClr val="accent2">
                <a:lumMod val="7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400" dirty="0">
              <a:latin typeface="+mn-ea"/>
            </a:endParaRPr>
          </a:p>
        </p:txBody>
      </p:sp>
      <p:sp>
        <p:nvSpPr>
          <p:cNvPr id="2" name="文本占位符 1">
            <a:extLst>
              <a:ext uri="{FF2B5EF4-FFF2-40B4-BE49-F238E27FC236}">
                <a16:creationId xmlns:a16="http://schemas.microsoft.com/office/drawing/2014/main" id="{48B42C76-EFF3-E493-771B-0E97BC74DE11}"/>
              </a:ext>
            </a:extLst>
          </p:cNvPr>
          <p:cNvSpPr>
            <a:spLocks noGrp="1"/>
          </p:cNvSpPr>
          <p:nvPr>
            <p:ph type="body" sz="quarter" idx="13"/>
          </p:nvPr>
        </p:nvSpPr>
        <p:spPr>
          <a:xfrm>
            <a:off x="239349" y="164637"/>
            <a:ext cx="8993428" cy="672075"/>
          </a:xfrm>
        </p:spPr>
        <p:txBody>
          <a:bodyPr/>
          <a:lstStyle/>
          <a:p>
            <a:r>
              <a:rPr lang="en-US" altLang="zh-CN" dirty="0" smtClean="0"/>
              <a:t>M3</a:t>
            </a:r>
            <a:r>
              <a:rPr lang="zh-CN" altLang="en-US" dirty="0"/>
              <a:t>研发</a:t>
            </a:r>
            <a:r>
              <a:rPr lang="zh-CN" altLang="en-US" dirty="0" smtClean="0"/>
              <a:t>测试阶段</a:t>
            </a:r>
            <a:r>
              <a:rPr lang="en-US" altLang="zh-CN" dirty="0" smtClean="0"/>
              <a:t>——</a:t>
            </a:r>
            <a:r>
              <a:rPr lang="zh-CN" altLang="en-US" dirty="0" smtClean="0"/>
              <a:t>工作要点概览</a:t>
            </a:r>
            <a:endParaRPr lang="zh-CN" altLang="en-US" dirty="0"/>
          </a:p>
        </p:txBody>
      </p:sp>
      <p:grpSp>
        <p:nvGrpSpPr>
          <p:cNvPr id="39" name="组合 38">
            <a:extLst>
              <a:ext uri="{FF2B5EF4-FFF2-40B4-BE49-F238E27FC236}">
                <a16:creationId xmlns:a16="http://schemas.microsoft.com/office/drawing/2014/main" id="{87BDB413-8A1F-4304-BDEA-95E04D57C116}"/>
              </a:ext>
            </a:extLst>
          </p:cNvPr>
          <p:cNvGrpSpPr/>
          <p:nvPr/>
        </p:nvGrpSpPr>
        <p:grpSpPr>
          <a:xfrm>
            <a:off x="431403" y="1102975"/>
            <a:ext cx="11365755" cy="542664"/>
            <a:chOff x="431403" y="1102975"/>
            <a:chExt cx="11365755" cy="542664"/>
          </a:xfrm>
        </p:grpSpPr>
        <p:sp>
          <p:nvSpPr>
            <p:cNvPr id="6" name="矩形 5">
              <a:extLst>
                <a:ext uri="{FF2B5EF4-FFF2-40B4-BE49-F238E27FC236}">
                  <a16:creationId xmlns:a16="http://schemas.microsoft.com/office/drawing/2014/main" id="{96DBB0D7-3888-B8DC-8809-F8D1D73AC91C}"/>
                </a:ext>
              </a:extLst>
            </p:cNvPr>
            <p:cNvSpPr/>
            <p:nvPr/>
          </p:nvSpPr>
          <p:spPr>
            <a:xfrm>
              <a:off x="2185190" y="1102975"/>
              <a:ext cx="3175120" cy="542664"/>
            </a:xfrm>
            <a:prstGeom prst="rect">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L6 </a:t>
              </a:r>
              <a:r>
                <a:rPr lang="zh-CN" altLang="en-US" sz="1600" dirty="0"/>
                <a:t>详细设计</a:t>
              </a:r>
            </a:p>
          </p:txBody>
        </p:sp>
        <p:sp>
          <p:nvSpPr>
            <p:cNvPr id="7" name="矩形 6">
              <a:extLst>
                <a:ext uri="{FF2B5EF4-FFF2-40B4-BE49-F238E27FC236}">
                  <a16:creationId xmlns:a16="http://schemas.microsoft.com/office/drawing/2014/main" id="{6449AA09-A5EC-54A2-CD47-37B21451EFFF}"/>
                </a:ext>
              </a:extLst>
            </p:cNvPr>
            <p:cNvSpPr/>
            <p:nvPr/>
          </p:nvSpPr>
          <p:spPr>
            <a:xfrm>
              <a:off x="5373818" y="1102975"/>
              <a:ext cx="1110107" cy="542664"/>
            </a:xfrm>
            <a:prstGeom prst="rect">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L7</a:t>
              </a:r>
              <a:r>
                <a:rPr lang="en-US" altLang="zh-CN" dirty="0"/>
                <a:t> Power On</a:t>
              </a:r>
            </a:p>
          </p:txBody>
        </p:sp>
        <p:sp>
          <p:nvSpPr>
            <p:cNvPr id="8" name="矩形 7">
              <a:extLst>
                <a:ext uri="{FF2B5EF4-FFF2-40B4-BE49-F238E27FC236}">
                  <a16:creationId xmlns:a16="http://schemas.microsoft.com/office/drawing/2014/main" id="{CEF53D54-7B1A-D2C7-ED4B-020CFF001EE5}"/>
                </a:ext>
              </a:extLst>
            </p:cNvPr>
            <p:cNvSpPr/>
            <p:nvPr/>
          </p:nvSpPr>
          <p:spPr>
            <a:xfrm>
              <a:off x="431403" y="1102976"/>
              <a:ext cx="1753787" cy="542663"/>
            </a:xfrm>
            <a:prstGeom prst="rect">
              <a:avLst/>
            </a:prstGeom>
            <a:solidFill>
              <a:schemeClr val="accent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dirty="0"/>
                <a:t>M3 </a:t>
              </a:r>
              <a:r>
                <a:rPr lang="zh-CN" altLang="en-US" sz="1600" dirty="0"/>
                <a:t>研发测试：</a:t>
              </a:r>
            </a:p>
          </p:txBody>
        </p:sp>
        <p:sp>
          <p:nvSpPr>
            <p:cNvPr id="9" name="矩形 8">
              <a:extLst>
                <a:ext uri="{FF2B5EF4-FFF2-40B4-BE49-F238E27FC236}">
                  <a16:creationId xmlns:a16="http://schemas.microsoft.com/office/drawing/2014/main" id="{67DF789D-66DF-F3F4-E5A8-B38B3C572BF1}"/>
                </a:ext>
              </a:extLst>
            </p:cNvPr>
            <p:cNvSpPr/>
            <p:nvPr/>
          </p:nvSpPr>
          <p:spPr>
            <a:xfrm>
              <a:off x="9145309" y="1102975"/>
              <a:ext cx="2651849" cy="542664"/>
            </a:xfrm>
            <a:prstGeom prst="rect">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L7 DVT</a:t>
              </a:r>
              <a:endParaRPr lang="zh-CN" altLang="en-US" sz="1600" dirty="0"/>
            </a:p>
          </p:txBody>
        </p:sp>
        <p:sp>
          <p:nvSpPr>
            <p:cNvPr id="10" name="矩形 9">
              <a:extLst>
                <a:ext uri="{FF2B5EF4-FFF2-40B4-BE49-F238E27FC236}">
                  <a16:creationId xmlns:a16="http://schemas.microsoft.com/office/drawing/2014/main" id="{58D6F676-C85C-D145-EC43-C75ADBFEEEAB}"/>
                </a:ext>
              </a:extLst>
            </p:cNvPr>
            <p:cNvSpPr/>
            <p:nvPr/>
          </p:nvSpPr>
          <p:spPr>
            <a:xfrm>
              <a:off x="6483926" y="1102975"/>
              <a:ext cx="2661383" cy="542664"/>
            </a:xfrm>
            <a:prstGeom prst="rect">
              <a:avLst/>
            </a:prstGeom>
            <a:solidFill>
              <a:schemeClr val="accent4">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L8 EVT</a:t>
              </a:r>
            </a:p>
          </p:txBody>
        </p:sp>
      </p:grpSp>
      <p:sp>
        <p:nvSpPr>
          <p:cNvPr id="12" name="流程图: 合并 11">
            <a:extLst>
              <a:ext uri="{FF2B5EF4-FFF2-40B4-BE49-F238E27FC236}">
                <a16:creationId xmlns:a16="http://schemas.microsoft.com/office/drawing/2014/main" id="{E9868759-9848-FA91-D964-83368EF5D0EA}"/>
              </a:ext>
            </a:extLst>
          </p:cNvPr>
          <p:cNvSpPr/>
          <p:nvPr/>
        </p:nvSpPr>
        <p:spPr>
          <a:xfrm>
            <a:off x="8991523" y="868783"/>
            <a:ext cx="241254" cy="140129"/>
          </a:xfrm>
          <a:prstGeom prst="flowChartMerg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等腰三角形 12">
            <a:extLst>
              <a:ext uri="{FF2B5EF4-FFF2-40B4-BE49-F238E27FC236}">
                <a16:creationId xmlns:a16="http://schemas.microsoft.com/office/drawing/2014/main" id="{99F7CAE9-4A12-1B0E-46B6-8FF794922C02}"/>
              </a:ext>
            </a:extLst>
          </p:cNvPr>
          <p:cNvSpPr/>
          <p:nvPr/>
        </p:nvSpPr>
        <p:spPr>
          <a:xfrm>
            <a:off x="8219337" y="1662095"/>
            <a:ext cx="217654" cy="201515"/>
          </a:xfrm>
          <a:prstGeom prst="triangl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E3942770-7DB0-A4B5-B0F5-7E31369CAB37}"/>
              </a:ext>
            </a:extLst>
          </p:cNvPr>
          <p:cNvSpPr txBox="1"/>
          <p:nvPr/>
        </p:nvSpPr>
        <p:spPr>
          <a:xfrm>
            <a:off x="715261" y="6200239"/>
            <a:ext cx="1213453" cy="28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lnSpc>
                <a:spcPct val="120000"/>
              </a:lnSpc>
            </a:pPr>
            <a:endParaRPr lang="en-US" altLang="zh-CN" sz="1600" b="1" dirty="0">
              <a:solidFill>
                <a:schemeClr val="bg1"/>
              </a:solidFill>
            </a:endParaRPr>
          </a:p>
        </p:txBody>
      </p:sp>
      <p:sp>
        <p:nvSpPr>
          <p:cNvPr id="17" name="文本框 16">
            <a:extLst>
              <a:ext uri="{FF2B5EF4-FFF2-40B4-BE49-F238E27FC236}">
                <a16:creationId xmlns:a16="http://schemas.microsoft.com/office/drawing/2014/main" id="{DB319C60-EDAA-BDE3-35C0-9C32B13C9F58}"/>
              </a:ext>
            </a:extLst>
          </p:cNvPr>
          <p:cNvSpPr txBox="1"/>
          <p:nvPr/>
        </p:nvSpPr>
        <p:spPr>
          <a:xfrm>
            <a:off x="701569" y="4191364"/>
            <a:ext cx="1213453" cy="298287"/>
          </a:xfrm>
          <a:prstGeom prst="rect">
            <a:avLst/>
          </a:prstGeom>
          <a:solidFill>
            <a:schemeClr val="bg2">
              <a:lumMod val="50000"/>
            </a:schemeClr>
          </a:solidFill>
          <a:ln>
            <a:solidFill>
              <a:schemeClr val="bg2">
                <a:lumMod val="25000"/>
              </a:schemeClr>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测试工程师</a:t>
            </a:r>
            <a:endParaRPr lang="en-US" altLang="zh-CN" sz="1200" b="1" dirty="0">
              <a:solidFill>
                <a:schemeClr val="bg1"/>
              </a:solidFill>
            </a:endParaRPr>
          </a:p>
        </p:txBody>
      </p:sp>
      <p:sp>
        <p:nvSpPr>
          <p:cNvPr id="18" name="文本框 17">
            <a:extLst>
              <a:ext uri="{FF2B5EF4-FFF2-40B4-BE49-F238E27FC236}">
                <a16:creationId xmlns:a16="http://schemas.microsoft.com/office/drawing/2014/main" id="{CA2615F4-2D37-1AAE-127C-4820518B7BB6}"/>
              </a:ext>
            </a:extLst>
          </p:cNvPr>
          <p:cNvSpPr txBox="1"/>
          <p:nvPr/>
        </p:nvSpPr>
        <p:spPr>
          <a:xfrm>
            <a:off x="715260" y="5251067"/>
            <a:ext cx="1213453" cy="29828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lnSpc>
                <a:spcPct val="120000"/>
              </a:lnSpc>
            </a:pPr>
            <a:r>
              <a:rPr lang="zh-CN" altLang="en-US" sz="1200" b="1" dirty="0">
                <a:solidFill>
                  <a:schemeClr val="bg1"/>
                </a:solidFill>
              </a:rPr>
              <a:t>产品工程师</a:t>
            </a:r>
            <a:endParaRPr lang="en-US" altLang="zh-CN" sz="1200" b="1" dirty="0">
              <a:solidFill>
                <a:schemeClr val="bg1"/>
              </a:solidFill>
            </a:endParaRPr>
          </a:p>
        </p:txBody>
      </p:sp>
      <p:sp>
        <p:nvSpPr>
          <p:cNvPr id="19" name="文本框 18">
            <a:extLst>
              <a:ext uri="{FF2B5EF4-FFF2-40B4-BE49-F238E27FC236}">
                <a16:creationId xmlns:a16="http://schemas.microsoft.com/office/drawing/2014/main" id="{CF90E9E7-4CDF-1055-F0C6-A845CE9B96C1}"/>
              </a:ext>
            </a:extLst>
          </p:cNvPr>
          <p:cNvSpPr txBox="1"/>
          <p:nvPr/>
        </p:nvSpPr>
        <p:spPr>
          <a:xfrm>
            <a:off x="715261" y="5820492"/>
            <a:ext cx="1213453" cy="3139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lnSpc>
                <a:spcPct val="120000"/>
              </a:lnSpc>
            </a:pPr>
            <a:r>
              <a:rPr lang="zh-CN" altLang="en-US" sz="1200" b="1" dirty="0">
                <a:solidFill>
                  <a:schemeClr val="bg1"/>
                </a:solidFill>
              </a:rPr>
              <a:t>市场代表</a:t>
            </a:r>
            <a:endParaRPr lang="en-US" altLang="zh-CN" sz="1200" b="1" dirty="0">
              <a:solidFill>
                <a:schemeClr val="bg1"/>
              </a:solidFill>
            </a:endParaRPr>
          </a:p>
        </p:txBody>
      </p:sp>
      <p:sp>
        <p:nvSpPr>
          <p:cNvPr id="20" name="文本框 19">
            <a:extLst>
              <a:ext uri="{FF2B5EF4-FFF2-40B4-BE49-F238E27FC236}">
                <a16:creationId xmlns:a16="http://schemas.microsoft.com/office/drawing/2014/main" id="{AA66186E-59B7-827A-95E2-478A8FC926F7}"/>
              </a:ext>
            </a:extLst>
          </p:cNvPr>
          <p:cNvSpPr txBox="1"/>
          <p:nvPr/>
        </p:nvSpPr>
        <p:spPr>
          <a:xfrm>
            <a:off x="692037" y="4760789"/>
            <a:ext cx="1213453" cy="298287"/>
          </a:xfrm>
          <a:prstGeom prst="rect">
            <a:avLst/>
          </a:prstGeom>
          <a:solidFill>
            <a:schemeClr val="accent6">
              <a:lumMod val="9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系统架构师</a:t>
            </a:r>
            <a:endParaRPr lang="en-US" altLang="zh-CN" sz="1200" b="1" dirty="0">
              <a:solidFill>
                <a:schemeClr val="bg1"/>
              </a:solidFill>
            </a:endParaRPr>
          </a:p>
        </p:txBody>
      </p:sp>
      <p:sp>
        <p:nvSpPr>
          <p:cNvPr id="21" name="文本框 20">
            <a:extLst>
              <a:ext uri="{FF2B5EF4-FFF2-40B4-BE49-F238E27FC236}">
                <a16:creationId xmlns:a16="http://schemas.microsoft.com/office/drawing/2014/main" id="{D5089BE1-51AE-06AC-B18D-858B94B7350E}"/>
              </a:ext>
            </a:extLst>
          </p:cNvPr>
          <p:cNvSpPr txBox="1"/>
          <p:nvPr/>
        </p:nvSpPr>
        <p:spPr>
          <a:xfrm>
            <a:off x="737656" y="1796395"/>
            <a:ext cx="1051502" cy="298287"/>
          </a:xfrm>
          <a:prstGeom prst="rect">
            <a:avLst/>
          </a:prstGeom>
          <a:noFill/>
        </p:spPr>
        <p:txBody>
          <a:bodyPr wrap="square" rtlCol="0">
            <a:spAutoFit/>
          </a:bodyPr>
          <a:lstStyle/>
          <a:p>
            <a:pPr algn="ctr">
              <a:lnSpc>
                <a:spcPct val="120000"/>
              </a:lnSpc>
            </a:pPr>
            <a:r>
              <a:rPr lang="zh-CN" altLang="en-US" sz="1200" b="1" dirty="0">
                <a:solidFill>
                  <a:schemeClr val="tx1">
                    <a:lumMod val="75000"/>
                    <a:lumOff val="25000"/>
                  </a:schemeClr>
                </a:solidFill>
              </a:rPr>
              <a:t>责任人</a:t>
            </a:r>
          </a:p>
        </p:txBody>
      </p:sp>
      <p:sp>
        <p:nvSpPr>
          <p:cNvPr id="23" name="文本框 22">
            <a:extLst>
              <a:ext uri="{FF2B5EF4-FFF2-40B4-BE49-F238E27FC236}">
                <a16:creationId xmlns:a16="http://schemas.microsoft.com/office/drawing/2014/main" id="{388CCC81-C7B0-4FFF-1290-755974597746}"/>
              </a:ext>
            </a:extLst>
          </p:cNvPr>
          <p:cNvSpPr txBox="1"/>
          <p:nvPr/>
        </p:nvSpPr>
        <p:spPr>
          <a:xfrm>
            <a:off x="4632929" y="1663990"/>
            <a:ext cx="3244320" cy="481414"/>
          </a:xfrm>
          <a:prstGeom prst="rect">
            <a:avLst/>
          </a:prstGeom>
          <a:noFill/>
        </p:spPr>
        <p:txBody>
          <a:bodyPr wrap="square" rtlCol="0">
            <a:spAutoFit/>
          </a:bodyPr>
          <a:lstStyle/>
          <a:p>
            <a:pPr>
              <a:lnSpc>
                <a:spcPct val="120000"/>
              </a:lnSpc>
            </a:pPr>
            <a:r>
              <a:rPr lang="en-US" altLang="zh-CN" sz="1050" b="1" dirty="0">
                <a:latin typeface="+mn-ea"/>
              </a:rPr>
              <a:t>TR3A</a:t>
            </a:r>
            <a:r>
              <a:rPr lang="zh-CN" altLang="en-US" sz="1050" b="1" dirty="0">
                <a:latin typeface="+mn-ea"/>
              </a:rPr>
              <a:t>详细设计评审</a:t>
            </a:r>
            <a:endParaRPr lang="en-US" altLang="zh-CN" sz="1050" b="1" dirty="0">
              <a:latin typeface="+mn-ea"/>
            </a:endParaRPr>
          </a:p>
          <a:p>
            <a:pPr>
              <a:lnSpc>
                <a:spcPct val="120000"/>
              </a:lnSpc>
            </a:pPr>
            <a:r>
              <a:rPr lang="en-US" altLang="zh-CN" sz="1050" b="1" dirty="0">
                <a:latin typeface="+mn-ea"/>
              </a:rPr>
              <a:t>A01 G/O </a:t>
            </a:r>
            <a:endParaRPr lang="zh-CN" altLang="en-US" sz="1050" b="1" dirty="0">
              <a:solidFill>
                <a:schemeClr val="tx1">
                  <a:lumMod val="75000"/>
                  <a:lumOff val="25000"/>
                </a:schemeClr>
              </a:solidFill>
              <a:latin typeface="+mn-ea"/>
            </a:endParaRPr>
          </a:p>
        </p:txBody>
      </p:sp>
      <p:sp>
        <p:nvSpPr>
          <p:cNvPr id="24" name="文本框 23">
            <a:extLst>
              <a:ext uri="{FF2B5EF4-FFF2-40B4-BE49-F238E27FC236}">
                <a16:creationId xmlns:a16="http://schemas.microsoft.com/office/drawing/2014/main" id="{A08A19E0-CD8A-BBD5-DEAF-1CDBE7B9461B}"/>
              </a:ext>
            </a:extLst>
          </p:cNvPr>
          <p:cNvSpPr txBox="1"/>
          <p:nvPr/>
        </p:nvSpPr>
        <p:spPr>
          <a:xfrm>
            <a:off x="7624032" y="1842332"/>
            <a:ext cx="2252749" cy="480131"/>
          </a:xfrm>
          <a:prstGeom prst="rect">
            <a:avLst/>
          </a:prstGeom>
          <a:noFill/>
        </p:spPr>
        <p:txBody>
          <a:bodyPr wrap="square" rtlCol="0">
            <a:spAutoFit/>
          </a:bodyPr>
          <a:lstStyle/>
          <a:p>
            <a:pPr>
              <a:lnSpc>
                <a:spcPct val="120000"/>
              </a:lnSpc>
            </a:pPr>
            <a:r>
              <a:rPr lang="en-US" altLang="zh-CN" sz="1050" b="1" dirty="0">
                <a:latin typeface="+mn-ea"/>
              </a:rPr>
              <a:t>TR4 </a:t>
            </a:r>
            <a:r>
              <a:rPr lang="zh-CN" altLang="en-US" sz="1050" b="1" dirty="0">
                <a:latin typeface="+mn-ea"/>
              </a:rPr>
              <a:t>原型机技术状态评审</a:t>
            </a:r>
            <a:endParaRPr lang="en-US" altLang="zh-CN" sz="1050" b="1" dirty="0">
              <a:latin typeface="+mn-ea"/>
            </a:endParaRPr>
          </a:p>
          <a:p>
            <a:pPr>
              <a:lnSpc>
                <a:spcPct val="120000"/>
              </a:lnSpc>
            </a:pPr>
            <a:r>
              <a:rPr lang="en-US" altLang="zh-CN" sz="1050" b="1" dirty="0">
                <a:latin typeface="+mn-ea"/>
              </a:rPr>
              <a:t>B01 G/O </a:t>
            </a:r>
            <a:endParaRPr lang="zh-CN" altLang="en-US" sz="1100" b="1" dirty="0">
              <a:solidFill>
                <a:schemeClr val="tx1">
                  <a:lumMod val="75000"/>
                  <a:lumOff val="25000"/>
                </a:schemeClr>
              </a:solidFill>
              <a:latin typeface="+mn-ea"/>
            </a:endParaRPr>
          </a:p>
        </p:txBody>
      </p:sp>
      <p:sp>
        <p:nvSpPr>
          <p:cNvPr id="25" name="文本框 24">
            <a:extLst>
              <a:ext uri="{FF2B5EF4-FFF2-40B4-BE49-F238E27FC236}">
                <a16:creationId xmlns:a16="http://schemas.microsoft.com/office/drawing/2014/main" id="{86628BD7-F1A6-1C96-47DF-3315A6245A53}"/>
              </a:ext>
            </a:extLst>
          </p:cNvPr>
          <p:cNvSpPr txBox="1"/>
          <p:nvPr/>
        </p:nvSpPr>
        <p:spPr>
          <a:xfrm>
            <a:off x="10051513" y="1831140"/>
            <a:ext cx="2601810" cy="446020"/>
          </a:xfrm>
          <a:prstGeom prst="rect">
            <a:avLst/>
          </a:prstGeom>
          <a:noFill/>
        </p:spPr>
        <p:txBody>
          <a:bodyPr wrap="square" rtlCol="0">
            <a:spAutoFit/>
          </a:bodyPr>
          <a:lstStyle/>
          <a:p>
            <a:pPr>
              <a:lnSpc>
                <a:spcPct val="120000"/>
              </a:lnSpc>
            </a:pPr>
            <a:r>
              <a:rPr lang="en-US" altLang="zh-CN" sz="1000" b="1" dirty="0">
                <a:latin typeface="+mn-ea"/>
              </a:rPr>
              <a:t>TR4A </a:t>
            </a:r>
            <a:r>
              <a:rPr lang="zh-CN" altLang="en-US" sz="1000" b="1" dirty="0">
                <a:latin typeface="+mn-ea"/>
              </a:rPr>
              <a:t>工程样机技术状态评审</a:t>
            </a:r>
            <a:endParaRPr lang="en-US" altLang="zh-CN" sz="1000" b="1" dirty="0">
              <a:latin typeface="+mn-ea"/>
            </a:endParaRPr>
          </a:p>
          <a:p>
            <a:pPr>
              <a:lnSpc>
                <a:spcPct val="120000"/>
              </a:lnSpc>
            </a:pPr>
            <a:r>
              <a:rPr lang="en-US" altLang="zh-CN" sz="1000" b="1" dirty="0">
                <a:latin typeface="+mn-ea"/>
              </a:rPr>
              <a:t>C01 G/O </a:t>
            </a:r>
            <a:endParaRPr lang="zh-CN" altLang="en-US" sz="1000" b="1" dirty="0">
              <a:solidFill>
                <a:schemeClr val="tx1">
                  <a:lumMod val="75000"/>
                  <a:lumOff val="25000"/>
                </a:schemeClr>
              </a:solidFill>
              <a:latin typeface="+mn-ea"/>
            </a:endParaRPr>
          </a:p>
        </p:txBody>
      </p:sp>
      <p:sp>
        <p:nvSpPr>
          <p:cNvPr id="27" name="矩形 26">
            <a:extLst>
              <a:ext uri="{FF2B5EF4-FFF2-40B4-BE49-F238E27FC236}">
                <a16:creationId xmlns:a16="http://schemas.microsoft.com/office/drawing/2014/main" id="{C8723E0D-30B0-CFD8-D201-E32796CBF85B}"/>
              </a:ext>
            </a:extLst>
          </p:cNvPr>
          <p:cNvSpPr/>
          <p:nvPr/>
        </p:nvSpPr>
        <p:spPr>
          <a:xfrm>
            <a:off x="3899701" y="4035177"/>
            <a:ext cx="7884312" cy="668891"/>
          </a:xfrm>
          <a:prstGeom prst="rect">
            <a:avLst/>
          </a:prstGeom>
          <a:solidFill>
            <a:schemeClr val="bg2">
              <a:lumMod val="75000"/>
            </a:schemeClr>
          </a:solidFill>
          <a:ln>
            <a:solidFill>
              <a:schemeClr val="bg2">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altLang="zh-CN" sz="1050" b="1" dirty="0">
                <a:latin typeface="+mn-ea"/>
              </a:rPr>
              <a:t>TPM</a:t>
            </a:r>
            <a:r>
              <a:rPr lang="zh-CN" altLang="en-US" sz="1050" b="1" dirty="0">
                <a:latin typeface="+mn-ea"/>
              </a:rPr>
              <a:t>：</a:t>
            </a:r>
            <a:r>
              <a:rPr lang="zh-CN" altLang="en-US" sz="1050" dirty="0">
                <a:latin typeface="+mn-ea"/>
              </a:rPr>
              <a:t>制定测试策略（含测试覆盖率）；制定测试计划（含测试时间、测试配置、测试用例）； 制定验证计划 ；</a:t>
            </a:r>
            <a:r>
              <a:rPr lang="zh-CN" altLang="en-US" sz="1050" dirty="0"/>
              <a:t>推动</a:t>
            </a:r>
            <a:r>
              <a:rPr lang="en-US" altLang="zh-CN" sz="1050" dirty="0"/>
              <a:t>Bug</a:t>
            </a:r>
            <a:r>
              <a:rPr lang="zh-CN" altLang="en-US" sz="1050" dirty="0"/>
              <a:t>解决，制定</a:t>
            </a:r>
            <a:r>
              <a:rPr lang="en-US" altLang="zh-CN" sz="1050" dirty="0"/>
              <a:t>BUG</a:t>
            </a:r>
            <a:r>
              <a:rPr lang="zh-CN" altLang="en-US" sz="1050" dirty="0"/>
              <a:t>验证计划。</a:t>
            </a:r>
            <a:endParaRPr lang="en-US" altLang="zh-CN" sz="1050" dirty="0">
              <a:latin typeface="+mn-ea"/>
            </a:endParaRPr>
          </a:p>
          <a:p>
            <a:pPr marL="285750" indent="-285750">
              <a:buFont typeface="Arial" panose="020B0604020202020204" pitchFamily="34" charset="0"/>
              <a:buChar char="•"/>
            </a:pPr>
            <a:r>
              <a:rPr lang="zh-CN" altLang="en-US" sz="1050" b="1" dirty="0">
                <a:latin typeface="+mn-ea"/>
              </a:rPr>
              <a:t>测试、验证工作：</a:t>
            </a:r>
            <a:r>
              <a:rPr lang="en-US" altLang="zh-CN" sz="1050" dirty="0">
                <a:latin typeface="+mn-ea"/>
              </a:rPr>
              <a:t>SIV</a:t>
            </a:r>
            <a:r>
              <a:rPr lang="zh-CN" altLang="en-US" sz="1050" dirty="0">
                <a:latin typeface="+mn-ea"/>
              </a:rPr>
              <a:t>、电源测试、</a:t>
            </a:r>
            <a:r>
              <a:rPr lang="en-US" altLang="zh-CN" sz="1050" dirty="0">
                <a:latin typeface="+mn-ea"/>
              </a:rPr>
              <a:t>SIT</a:t>
            </a:r>
            <a:r>
              <a:rPr lang="zh-CN" altLang="en-US" sz="1050" dirty="0">
                <a:latin typeface="+mn-ea"/>
              </a:rPr>
              <a:t>测试、散热测试、</a:t>
            </a:r>
            <a:r>
              <a:rPr lang="en-US" altLang="zh-CN" sz="1050" dirty="0">
                <a:latin typeface="+mn-ea"/>
              </a:rPr>
              <a:t>PA</a:t>
            </a:r>
            <a:r>
              <a:rPr lang="zh-CN" altLang="en-US" sz="1050" dirty="0">
                <a:latin typeface="+mn-ea"/>
              </a:rPr>
              <a:t>测试、可靠性测试</a:t>
            </a:r>
            <a:endParaRPr lang="en-US" altLang="zh-CN" sz="1050" dirty="0">
              <a:latin typeface="+mn-ea"/>
            </a:endParaRPr>
          </a:p>
          <a:p>
            <a:pPr marL="285750" indent="-285750">
              <a:buFont typeface="Arial" panose="020B0604020202020204" pitchFamily="34" charset="0"/>
              <a:buChar char="•"/>
            </a:pPr>
            <a:r>
              <a:rPr lang="zh-CN" altLang="en-US" sz="1050" b="1" dirty="0">
                <a:latin typeface="+mn-ea"/>
              </a:rPr>
              <a:t>输出：</a:t>
            </a:r>
            <a:r>
              <a:rPr lang="en-US" altLang="zh-CN" sz="1050" b="1" dirty="0">
                <a:latin typeface="+mn-ea"/>
              </a:rPr>
              <a:t>《</a:t>
            </a:r>
            <a:r>
              <a:rPr lang="zh-CN" altLang="en-US" sz="1050" dirty="0">
                <a:latin typeface="+mn-ea"/>
              </a:rPr>
              <a:t>测试计划</a:t>
            </a:r>
            <a:r>
              <a:rPr lang="en-US" altLang="zh-CN" sz="1050" dirty="0">
                <a:latin typeface="+mn-ea"/>
              </a:rPr>
              <a:t>》《</a:t>
            </a:r>
            <a:r>
              <a:rPr lang="zh-CN" altLang="en-US" sz="1050" dirty="0">
                <a:latin typeface="+mn-ea"/>
              </a:rPr>
              <a:t>测试报告</a:t>
            </a:r>
            <a:r>
              <a:rPr lang="en-US" altLang="zh-CN" sz="1050" dirty="0">
                <a:latin typeface="+mn-ea"/>
              </a:rPr>
              <a:t>》</a:t>
            </a:r>
          </a:p>
        </p:txBody>
      </p:sp>
      <p:sp>
        <p:nvSpPr>
          <p:cNvPr id="30" name="矩形 29">
            <a:extLst>
              <a:ext uri="{FF2B5EF4-FFF2-40B4-BE49-F238E27FC236}">
                <a16:creationId xmlns:a16="http://schemas.microsoft.com/office/drawing/2014/main" id="{6BE96C4A-4C7B-0548-3948-6D517F785D10}"/>
              </a:ext>
            </a:extLst>
          </p:cNvPr>
          <p:cNvSpPr/>
          <p:nvPr/>
        </p:nvSpPr>
        <p:spPr>
          <a:xfrm>
            <a:off x="2199065" y="6243107"/>
            <a:ext cx="9584948" cy="245132"/>
          </a:xfrm>
          <a:prstGeom prst="rect">
            <a:avLst/>
          </a:prstGeom>
          <a:solidFill>
            <a:schemeClr val="accent1">
              <a:lumMod val="40000"/>
              <a:lumOff val="60000"/>
            </a:schemeClr>
          </a:solidFill>
          <a:ln>
            <a:solidFill>
              <a:schemeClr val="accent1">
                <a:lumMod val="40000"/>
                <a:lumOff val="6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20000"/>
              </a:lnSpc>
            </a:pPr>
            <a:r>
              <a:rPr lang="zh-CN" altLang="en-US" sz="1050" dirty="0"/>
              <a:t>监控产品质量和计划</a:t>
            </a:r>
            <a:endParaRPr lang="en-US" altLang="zh-CN" sz="1050" dirty="0">
              <a:solidFill>
                <a:schemeClr val="tx1">
                  <a:lumMod val="75000"/>
                  <a:lumOff val="25000"/>
                </a:schemeClr>
              </a:solidFill>
              <a:latin typeface="+mn-ea"/>
            </a:endParaRPr>
          </a:p>
        </p:txBody>
      </p:sp>
      <p:sp>
        <p:nvSpPr>
          <p:cNvPr id="32" name="矩形 31">
            <a:extLst>
              <a:ext uri="{FF2B5EF4-FFF2-40B4-BE49-F238E27FC236}">
                <a16:creationId xmlns:a16="http://schemas.microsoft.com/office/drawing/2014/main" id="{7780B905-C34A-86CA-3FCF-EAFF3EAD5A6E}"/>
              </a:ext>
            </a:extLst>
          </p:cNvPr>
          <p:cNvSpPr/>
          <p:nvPr/>
        </p:nvSpPr>
        <p:spPr>
          <a:xfrm>
            <a:off x="2185173" y="4758136"/>
            <a:ext cx="9611979" cy="366895"/>
          </a:xfrm>
          <a:prstGeom prst="rect">
            <a:avLst/>
          </a:prstGeom>
          <a:solidFill>
            <a:schemeClr val="accent6">
              <a:lumMod val="90000"/>
            </a:schemeClr>
          </a:solidFill>
          <a:ln>
            <a:solidFill>
              <a:schemeClr val="accent6">
                <a:lumMod val="40000"/>
                <a:lumOff val="60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0000"/>
              </a:lnSpc>
            </a:pPr>
            <a:r>
              <a:rPr lang="zh-CN" altLang="en-US" sz="1050" dirty="0"/>
              <a:t>监控和管理需求规格满足度；推动疑难</a:t>
            </a:r>
            <a:r>
              <a:rPr lang="en-US" altLang="zh-CN" sz="1050" dirty="0"/>
              <a:t>BUG</a:t>
            </a:r>
            <a:r>
              <a:rPr lang="zh-CN" altLang="en-US" sz="1050" dirty="0"/>
              <a:t>解决</a:t>
            </a:r>
            <a:endParaRPr lang="zh-CN" altLang="en-US" sz="1050" dirty="0">
              <a:solidFill>
                <a:schemeClr val="tx1">
                  <a:lumMod val="75000"/>
                  <a:lumOff val="25000"/>
                </a:schemeClr>
              </a:solidFill>
            </a:endParaRPr>
          </a:p>
        </p:txBody>
      </p:sp>
      <p:sp>
        <p:nvSpPr>
          <p:cNvPr id="33" name="矩形 32">
            <a:extLst>
              <a:ext uri="{FF2B5EF4-FFF2-40B4-BE49-F238E27FC236}">
                <a16:creationId xmlns:a16="http://schemas.microsoft.com/office/drawing/2014/main" id="{D4FA9E89-7090-14F0-E8DD-61E994F0DBE2}"/>
              </a:ext>
            </a:extLst>
          </p:cNvPr>
          <p:cNvSpPr/>
          <p:nvPr/>
        </p:nvSpPr>
        <p:spPr>
          <a:xfrm>
            <a:off x="7339522" y="5199315"/>
            <a:ext cx="4430599" cy="505559"/>
          </a:xfrm>
          <a:prstGeom prst="rect">
            <a:avLst/>
          </a:prstGeom>
          <a:solidFill>
            <a:schemeClr val="accent5">
              <a:lumMod val="40000"/>
              <a:lumOff val="60000"/>
            </a:schemeClr>
          </a:solidFill>
          <a:ln>
            <a:solidFill>
              <a:schemeClr val="accent5">
                <a:lumMod val="40000"/>
                <a:lumOff val="6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endParaRPr lang="zh-CN" altLang="en-US" sz="1050" dirty="0"/>
          </a:p>
        </p:txBody>
      </p:sp>
      <p:sp>
        <p:nvSpPr>
          <p:cNvPr id="35" name="文本框 34">
            <a:extLst>
              <a:ext uri="{FF2B5EF4-FFF2-40B4-BE49-F238E27FC236}">
                <a16:creationId xmlns:a16="http://schemas.microsoft.com/office/drawing/2014/main" id="{F8195DA0-C308-AF77-2ED4-7016B8F5E240}"/>
              </a:ext>
            </a:extLst>
          </p:cNvPr>
          <p:cNvSpPr txBox="1"/>
          <p:nvPr/>
        </p:nvSpPr>
        <p:spPr>
          <a:xfrm>
            <a:off x="2185174" y="5764657"/>
            <a:ext cx="9584948" cy="396000"/>
          </a:xfrm>
          <a:prstGeom prst="rect">
            <a:avLst/>
          </a:prstGeom>
          <a:solidFill>
            <a:schemeClr val="accent3">
              <a:lumMod val="40000"/>
              <a:lumOff val="60000"/>
            </a:schemeClr>
          </a:solidFill>
          <a:ln>
            <a:solidFill>
              <a:schemeClr val="accent3">
                <a:lumMod val="40000"/>
                <a:lumOff val="60000"/>
              </a:schemeClr>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lnSpc>
                <a:spcPct val="120000"/>
              </a:lnSpc>
              <a:buFont typeface="Arial" panose="020B0604020202020204" pitchFamily="34" charset="0"/>
              <a:buChar char="•"/>
            </a:pPr>
            <a:endParaRPr lang="en-US" altLang="zh-CN" sz="1400" dirty="0" smtClean="0">
              <a:solidFill>
                <a:schemeClr val="tx1">
                  <a:lumMod val="75000"/>
                  <a:lumOff val="25000"/>
                </a:schemeClr>
              </a:solidFill>
            </a:endParaRPr>
          </a:p>
        </p:txBody>
      </p:sp>
      <p:sp>
        <p:nvSpPr>
          <p:cNvPr id="36" name="文本框 35">
            <a:extLst>
              <a:ext uri="{FF2B5EF4-FFF2-40B4-BE49-F238E27FC236}">
                <a16:creationId xmlns:a16="http://schemas.microsoft.com/office/drawing/2014/main" id="{786A9905-23C0-E962-2EE3-AD00940D4A83}"/>
              </a:ext>
            </a:extLst>
          </p:cNvPr>
          <p:cNvSpPr txBox="1"/>
          <p:nvPr/>
        </p:nvSpPr>
        <p:spPr>
          <a:xfrm>
            <a:off x="9209382" y="770316"/>
            <a:ext cx="2237433" cy="328936"/>
          </a:xfrm>
          <a:prstGeom prst="rect">
            <a:avLst/>
          </a:prstGeom>
          <a:noFill/>
        </p:spPr>
        <p:txBody>
          <a:bodyPr wrap="square" rtlCol="0">
            <a:spAutoFit/>
          </a:bodyPr>
          <a:lstStyle/>
          <a:p>
            <a:pPr>
              <a:lnSpc>
                <a:spcPct val="120000"/>
              </a:lnSpc>
            </a:pPr>
            <a:r>
              <a:rPr lang="zh-CN" altLang="en-US" sz="1400" dirty="0">
                <a:solidFill>
                  <a:schemeClr val="tx1">
                    <a:lumMod val="75000"/>
                    <a:lumOff val="25000"/>
                  </a:schemeClr>
                </a:solidFill>
                <a:latin typeface="+mn-ea"/>
              </a:rPr>
              <a:t> </a:t>
            </a:r>
            <a:r>
              <a:rPr lang="en-US" altLang="zh-CN" sz="1200" b="1" dirty="0">
                <a:solidFill>
                  <a:srgbClr val="0070C0"/>
                </a:solidFill>
                <a:latin typeface="+mn-ea"/>
              </a:rPr>
              <a:t>MR2 DVT</a:t>
            </a:r>
            <a:r>
              <a:rPr lang="zh-CN" altLang="en-US" sz="1200" b="1" dirty="0">
                <a:solidFill>
                  <a:srgbClr val="0070C0"/>
                </a:solidFill>
                <a:latin typeface="+mn-ea"/>
              </a:rPr>
              <a:t>阶段准入评审 </a:t>
            </a:r>
          </a:p>
        </p:txBody>
      </p:sp>
      <p:sp>
        <p:nvSpPr>
          <p:cNvPr id="15" name="矩形 14">
            <a:extLst>
              <a:ext uri="{FF2B5EF4-FFF2-40B4-BE49-F238E27FC236}">
                <a16:creationId xmlns:a16="http://schemas.microsoft.com/office/drawing/2014/main" id="{D72EA85A-4D54-F035-6227-AD498EFC6C27}"/>
              </a:ext>
            </a:extLst>
          </p:cNvPr>
          <p:cNvSpPr/>
          <p:nvPr/>
        </p:nvSpPr>
        <p:spPr>
          <a:xfrm>
            <a:off x="10600121" y="314181"/>
            <a:ext cx="1197032" cy="409667"/>
          </a:xfrm>
          <a:prstGeom prst="rect">
            <a:avLst/>
          </a:prstGeom>
          <a:solidFill>
            <a:schemeClr val="accent1">
              <a:lumMod val="20000"/>
              <a:lumOff val="80000"/>
            </a:schemeClr>
          </a:solidFill>
          <a:ln>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chemeClr val="tx1"/>
                </a:solidFill>
              </a:rPr>
              <a:t>任务</a:t>
            </a:r>
          </a:p>
        </p:txBody>
      </p:sp>
      <p:sp>
        <p:nvSpPr>
          <p:cNvPr id="3" name="文本框 2"/>
          <p:cNvSpPr txBox="1"/>
          <p:nvPr/>
        </p:nvSpPr>
        <p:spPr>
          <a:xfrm>
            <a:off x="4887682" y="5825765"/>
            <a:ext cx="4667140" cy="272510"/>
          </a:xfrm>
          <a:prstGeom prst="rect">
            <a:avLst/>
          </a:prstGeom>
          <a:noFill/>
        </p:spPr>
        <p:txBody>
          <a:bodyPr wrap="square" rtlCol="0">
            <a:spAutoFit/>
          </a:bodyPr>
          <a:lstStyle/>
          <a:p>
            <a:pPr>
              <a:lnSpc>
                <a:spcPct val="120000"/>
              </a:lnSpc>
            </a:pPr>
            <a:r>
              <a:rPr lang="zh-CN" altLang="en-US" sz="1050" dirty="0" smtClean="0">
                <a:solidFill>
                  <a:schemeClr val="tx1">
                    <a:lumMod val="75000"/>
                    <a:lumOff val="25000"/>
                  </a:schemeClr>
                </a:solidFill>
              </a:rPr>
              <a:t>跟踪市场需求</a:t>
            </a:r>
            <a:endParaRPr lang="en-US" altLang="zh-CN" sz="1050" dirty="0" smtClean="0">
              <a:solidFill>
                <a:schemeClr val="tx1">
                  <a:lumMod val="75000"/>
                  <a:lumOff val="25000"/>
                </a:schemeClr>
              </a:solidFill>
            </a:endParaRPr>
          </a:p>
        </p:txBody>
      </p:sp>
      <p:sp>
        <p:nvSpPr>
          <p:cNvPr id="37" name="文本框 36"/>
          <p:cNvSpPr txBox="1"/>
          <p:nvPr/>
        </p:nvSpPr>
        <p:spPr>
          <a:xfrm>
            <a:off x="8607751" y="5175639"/>
            <a:ext cx="4667140" cy="577081"/>
          </a:xfrm>
          <a:prstGeom prst="rect">
            <a:avLst/>
          </a:prstGeom>
          <a:noFill/>
        </p:spPr>
        <p:txBody>
          <a:bodyPr wrap="square" rtlCol="0">
            <a:spAutoFit/>
          </a:bodyPr>
          <a:lstStyle/>
          <a:p>
            <a:pPr marL="285750" indent="-285750">
              <a:buFont typeface="Arial" panose="020B0604020202020204" pitchFamily="34" charset="0"/>
              <a:buChar char="•"/>
            </a:pPr>
            <a:r>
              <a:rPr lang="zh-CN" altLang="en-US" sz="1050" dirty="0"/>
              <a:t>确认需求满足度</a:t>
            </a:r>
            <a:endParaRPr lang="en-US" altLang="zh-CN" sz="1050" dirty="0"/>
          </a:p>
          <a:p>
            <a:pPr marL="285750" indent="-285750">
              <a:buFont typeface="Arial" panose="020B0604020202020204" pitchFamily="34" charset="0"/>
              <a:buChar char="•"/>
            </a:pPr>
            <a:r>
              <a:rPr lang="zh-CN" altLang="en-US" sz="1050" b="1" dirty="0">
                <a:solidFill>
                  <a:srgbClr val="0000FF"/>
                </a:solidFill>
                <a:latin typeface="+mn-ea"/>
              </a:rPr>
              <a:t>产品</a:t>
            </a:r>
            <a:r>
              <a:rPr lang="en-US" altLang="zh-CN" sz="1050" b="1" dirty="0">
                <a:solidFill>
                  <a:srgbClr val="0000FF"/>
                </a:solidFill>
                <a:latin typeface="+mn-ea"/>
              </a:rPr>
              <a:t>BOM</a:t>
            </a:r>
            <a:r>
              <a:rPr lang="zh-CN" altLang="en-US" sz="1050" b="1" dirty="0">
                <a:solidFill>
                  <a:srgbClr val="0000FF"/>
                </a:solidFill>
                <a:latin typeface="+mn-ea"/>
              </a:rPr>
              <a:t>、</a:t>
            </a:r>
            <a:r>
              <a:rPr lang="en-US" altLang="zh-CN" sz="1050" b="1" dirty="0">
                <a:solidFill>
                  <a:srgbClr val="0000FF"/>
                </a:solidFill>
                <a:latin typeface="+mn-ea"/>
              </a:rPr>
              <a:t>《</a:t>
            </a:r>
            <a:r>
              <a:rPr lang="zh-CN" altLang="en-US" sz="1050" b="1" dirty="0">
                <a:solidFill>
                  <a:srgbClr val="0000FF"/>
                </a:solidFill>
                <a:latin typeface="+mn-ea"/>
              </a:rPr>
              <a:t>生产技术要求</a:t>
            </a:r>
            <a:r>
              <a:rPr lang="en-US" altLang="zh-CN" sz="1050" b="1" dirty="0">
                <a:solidFill>
                  <a:srgbClr val="0000FF"/>
                </a:solidFill>
                <a:latin typeface="+mn-ea"/>
              </a:rPr>
              <a:t>》</a:t>
            </a:r>
            <a:r>
              <a:rPr lang="zh-CN" altLang="en-US" sz="1050" dirty="0"/>
              <a:t>、批量测试配置</a:t>
            </a:r>
            <a:endParaRPr lang="en-US" altLang="zh-CN" sz="1050" dirty="0"/>
          </a:p>
          <a:p>
            <a:pPr marL="285750" indent="-285750">
              <a:buFont typeface="Arial" panose="020B0604020202020204" pitchFamily="34" charset="0"/>
              <a:buChar char="•"/>
            </a:pPr>
            <a:r>
              <a:rPr lang="zh-CN" altLang="en-US" sz="1050" dirty="0"/>
              <a:t>产品认证</a:t>
            </a:r>
          </a:p>
        </p:txBody>
      </p:sp>
      <p:sp>
        <p:nvSpPr>
          <p:cNvPr id="38" name="文本框 37"/>
          <p:cNvSpPr txBox="1"/>
          <p:nvPr/>
        </p:nvSpPr>
        <p:spPr>
          <a:xfrm>
            <a:off x="8750406" y="5773524"/>
            <a:ext cx="4667140" cy="480131"/>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050" b="1" dirty="0">
                <a:solidFill>
                  <a:srgbClr val="0000FF"/>
                </a:solidFill>
                <a:latin typeface="+mn-ea"/>
              </a:rPr>
              <a:t>首批采购策略、数量、首批采购及交期跟踪</a:t>
            </a:r>
            <a:endParaRPr lang="en-US" altLang="zh-CN" sz="1050" b="1" dirty="0">
              <a:solidFill>
                <a:srgbClr val="0000FF"/>
              </a:solidFill>
              <a:latin typeface="+mn-ea"/>
            </a:endParaRPr>
          </a:p>
          <a:p>
            <a:pPr marL="285750" indent="-285750">
              <a:lnSpc>
                <a:spcPct val="120000"/>
              </a:lnSpc>
              <a:buFont typeface="Arial" panose="020B0604020202020204" pitchFamily="34" charset="0"/>
              <a:buChar char="•"/>
            </a:pPr>
            <a:r>
              <a:rPr lang="zh-CN" altLang="en-US" sz="1050" b="1" dirty="0">
                <a:solidFill>
                  <a:srgbClr val="0000FF"/>
                </a:solidFill>
                <a:latin typeface="+mn-ea"/>
              </a:rPr>
              <a:t>开模决议</a:t>
            </a:r>
          </a:p>
        </p:txBody>
      </p:sp>
      <p:sp>
        <p:nvSpPr>
          <p:cNvPr id="40" name="文本框 39"/>
          <p:cNvSpPr txBox="1"/>
          <p:nvPr/>
        </p:nvSpPr>
        <p:spPr>
          <a:xfrm>
            <a:off x="999847" y="6168802"/>
            <a:ext cx="644281" cy="299184"/>
          </a:xfrm>
          <a:prstGeom prst="rect">
            <a:avLst/>
          </a:prstGeom>
          <a:noFill/>
        </p:spPr>
        <p:txBody>
          <a:bodyPr wrap="square" rtlCol="0">
            <a:spAutoFit/>
          </a:bodyPr>
          <a:lstStyle/>
          <a:p>
            <a:pPr>
              <a:lnSpc>
                <a:spcPct val="120000"/>
              </a:lnSpc>
            </a:pPr>
            <a:r>
              <a:rPr lang="en-US" altLang="zh-CN" sz="1200" b="1" dirty="0" smtClean="0">
                <a:solidFill>
                  <a:schemeClr val="bg1"/>
                </a:solidFill>
              </a:rPr>
              <a:t>DQA</a:t>
            </a:r>
          </a:p>
        </p:txBody>
      </p:sp>
      <p:sp>
        <p:nvSpPr>
          <p:cNvPr id="41" name="文本框 40">
            <a:extLst>
              <a:ext uri="{FF2B5EF4-FFF2-40B4-BE49-F238E27FC236}">
                <a16:creationId xmlns:a16="http://schemas.microsoft.com/office/drawing/2014/main" id="{DB319C60-EDAA-BDE3-35C0-9C32B13C9F58}"/>
              </a:ext>
            </a:extLst>
          </p:cNvPr>
          <p:cNvSpPr txBox="1"/>
          <p:nvPr/>
        </p:nvSpPr>
        <p:spPr>
          <a:xfrm>
            <a:off x="701569" y="2350977"/>
            <a:ext cx="1213453" cy="298287"/>
          </a:xfrm>
          <a:prstGeom prst="rect">
            <a:avLst/>
          </a:prstGeom>
          <a:solidFill>
            <a:schemeClr val="bg2">
              <a:lumMod val="50000"/>
            </a:schemeClr>
          </a:solidFill>
          <a:ln>
            <a:solidFill>
              <a:schemeClr val="bg2">
                <a:lumMod val="25000"/>
              </a:schemeClr>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研发工程师</a:t>
            </a:r>
            <a:endParaRPr lang="en-US" altLang="zh-CN" sz="1200" b="1" dirty="0">
              <a:solidFill>
                <a:schemeClr val="bg1"/>
              </a:solidFill>
            </a:endParaRPr>
          </a:p>
        </p:txBody>
      </p:sp>
      <p:sp>
        <p:nvSpPr>
          <p:cNvPr id="42" name="矩形 41">
            <a:extLst>
              <a:ext uri="{FF2B5EF4-FFF2-40B4-BE49-F238E27FC236}">
                <a16:creationId xmlns:a16="http://schemas.microsoft.com/office/drawing/2014/main" id="{53954992-2784-BC49-2C61-F870D34E7FCC}"/>
              </a:ext>
            </a:extLst>
          </p:cNvPr>
          <p:cNvSpPr/>
          <p:nvPr/>
        </p:nvSpPr>
        <p:spPr>
          <a:xfrm>
            <a:off x="2185188" y="2112231"/>
            <a:ext cx="3188630" cy="1073951"/>
          </a:xfrm>
          <a:prstGeom prst="rect">
            <a:avLst/>
          </a:prstGeom>
          <a:solidFill>
            <a:schemeClr val="bg2">
              <a:lumMod val="90000"/>
            </a:schemeClr>
          </a:solidFill>
          <a:ln>
            <a:solidFill>
              <a:schemeClr val="bg2">
                <a:lumMod val="90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zh-CN" altLang="en-US" sz="1050" dirty="0">
                <a:latin typeface="+mn-ea"/>
              </a:rPr>
              <a:t>硬件详细设计</a:t>
            </a:r>
            <a:r>
              <a:rPr lang="zh-CN" altLang="en-US" sz="1050" b="1" dirty="0">
                <a:latin typeface="+mn-ea"/>
              </a:rPr>
              <a:t>（硬件、</a:t>
            </a:r>
            <a:r>
              <a:rPr lang="en-US" altLang="zh-CN" sz="1050" b="1" dirty="0">
                <a:latin typeface="+mn-ea"/>
              </a:rPr>
              <a:t>SI</a:t>
            </a:r>
            <a:r>
              <a:rPr lang="zh-CN" altLang="en-US" sz="1050" b="1" dirty="0">
                <a:latin typeface="+mn-ea"/>
              </a:rPr>
              <a:t>、</a:t>
            </a:r>
            <a:r>
              <a:rPr lang="en-US" altLang="zh-CN" sz="1050" b="1" dirty="0">
                <a:latin typeface="+mn-ea"/>
              </a:rPr>
              <a:t>Layout</a:t>
            </a:r>
            <a:r>
              <a:rPr lang="zh-CN" altLang="en-US" sz="1050" b="1" dirty="0">
                <a:latin typeface="+mn-ea"/>
              </a:rPr>
              <a:t>）</a:t>
            </a:r>
            <a:endParaRPr lang="en-US" altLang="zh-CN" sz="1050" b="1" dirty="0">
              <a:latin typeface="+mn-ea"/>
            </a:endParaRPr>
          </a:p>
          <a:p>
            <a:pPr marL="285750" indent="-285750">
              <a:buFont typeface="Arial" panose="020B0604020202020204" pitchFamily="34" charset="0"/>
              <a:buChar char="•"/>
            </a:pPr>
            <a:r>
              <a:rPr lang="zh-CN" altLang="en-US" sz="1050" dirty="0">
                <a:latin typeface="+mn-ea"/>
              </a:rPr>
              <a:t>机构设计</a:t>
            </a:r>
            <a:r>
              <a:rPr lang="zh-CN" altLang="en-US" sz="1050" b="1" dirty="0">
                <a:latin typeface="+mn-ea"/>
              </a:rPr>
              <a:t>（机构工程师）</a:t>
            </a:r>
            <a:endParaRPr lang="en-US" altLang="zh-CN" sz="1050" b="1" dirty="0">
              <a:latin typeface="+mn-ea"/>
            </a:endParaRPr>
          </a:p>
          <a:p>
            <a:pPr marL="285750" indent="-285750">
              <a:buFont typeface="Arial" panose="020B0604020202020204" pitchFamily="34" charset="0"/>
              <a:buChar char="•"/>
            </a:pPr>
            <a:r>
              <a:rPr lang="zh-CN" altLang="en-US" sz="1050" dirty="0">
                <a:latin typeface="+mn-ea"/>
              </a:rPr>
              <a:t>工业设计</a:t>
            </a:r>
            <a:r>
              <a:rPr lang="zh-CN" altLang="en-US" sz="1050" b="1" dirty="0">
                <a:latin typeface="+mn-ea"/>
              </a:rPr>
              <a:t>（</a:t>
            </a:r>
            <a:r>
              <a:rPr lang="en-US" altLang="zh-CN" sz="1050" b="1" dirty="0">
                <a:latin typeface="+mn-ea"/>
              </a:rPr>
              <a:t>ID</a:t>
            </a:r>
            <a:r>
              <a:rPr lang="zh-CN" altLang="en-US" sz="1050" b="1" dirty="0">
                <a:latin typeface="+mn-ea"/>
              </a:rPr>
              <a:t>工程师）</a:t>
            </a:r>
            <a:endParaRPr lang="en-US" altLang="zh-CN" sz="1050" b="1" dirty="0">
              <a:latin typeface="+mn-ea"/>
            </a:endParaRPr>
          </a:p>
          <a:p>
            <a:pPr marL="285750" indent="-285750">
              <a:buFont typeface="Arial" panose="020B0604020202020204" pitchFamily="34" charset="0"/>
              <a:buChar char="•"/>
            </a:pPr>
            <a:r>
              <a:rPr lang="zh-CN" altLang="en-US" sz="1050" dirty="0">
                <a:latin typeface="+mn-ea"/>
              </a:rPr>
              <a:t>线缆详细设计</a:t>
            </a:r>
            <a:r>
              <a:rPr lang="zh-CN" altLang="en-US" sz="1050" b="1" dirty="0">
                <a:latin typeface="+mn-ea"/>
              </a:rPr>
              <a:t>（线缆、硬件</a:t>
            </a:r>
            <a:r>
              <a:rPr lang="en-US" altLang="zh-CN" sz="1050" b="1" dirty="0">
                <a:latin typeface="+mn-ea"/>
              </a:rPr>
              <a:t>/</a:t>
            </a:r>
            <a:r>
              <a:rPr lang="zh-CN" altLang="en-US" sz="1050" b="1" dirty="0">
                <a:latin typeface="+mn-ea"/>
              </a:rPr>
              <a:t>架构、机构）</a:t>
            </a:r>
            <a:endParaRPr lang="en-US" altLang="zh-CN" sz="1050" b="1" dirty="0">
              <a:latin typeface="+mn-ea"/>
            </a:endParaRPr>
          </a:p>
          <a:p>
            <a:pPr marL="285750" indent="-285750">
              <a:buFont typeface="Arial" panose="020B0604020202020204" pitchFamily="34" charset="0"/>
              <a:buChar char="•"/>
            </a:pPr>
            <a:r>
              <a:rPr lang="zh-CN" altLang="en-US" sz="1050" dirty="0">
                <a:latin typeface="+mn-ea"/>
              </a:rPr>
              <a:t>包材详细设计</a:t>
            </a:r>
            <a:r>
              <a:rPr lang="zh-CN" altLang="en-US" sz="1050" b="1" dirty="0">
                <a:latin typeface="+mn-ea"/>
              </a:rPr>
              <a:t>（包装设计工程师）</a:t>
            </a:r>
            <a:endParaRPr lang="en-US" altLang="zh-CN" sz="1050" b="1" dirty="0">
              <a:latin typeface="+mn-ea"/>
            </a:endParaRPr>
          </a:p>
          <a:p>
            <a:pPr marL="285750" indent="-285750">
              <a:buFont typeface="Arial" panose="020B0604020202020204" pitchFamily="34" charset="0"/>
              <a:buChar char="•"/>
            </a:pPr>
            <a:r>
              <a:rPr lang="en-US" altLang="zh-CN" sz="1050" dirty="0">
                <a:latin typeface="+mn-ea"/>
              </a:rPr>
              <a:t>BIOS</a:t>
            </a:r>
            <a:r>
              <a:rPr lang="zh-CN" altLang="en-US" sz="1050" dirty="0">
                <a:latin typeface="+mn-ea"/>
              </a:rPr>
              <a:t>详细设计</a:t>
            </a:r>
            <a:r>
              <a:rPr lang="zh-CN" altLang="en-US" sz="1050" b="1" dirty="0">
                <a:latin typeface="+mn-ea"/>
              </a:rPr>
              <a:t>（</a:t>
            </a:r>
            <a:r>
              <a:rPr lang="en-US" altLang="zh-CN" sz="1050" b="1" dirty="0">
                <a:latin typeface="+mn-ea"/>
              </a:rPr>
              <a:t>BIOS</a:t>
            </a:r>
            <a:r>
              <a:rPr lang="zh-CN" altLang="en-US" sz="1050" b="1" dirty="0">
                <a:latin typeface="+mn-ea"/>
              </a:rPr>
              <a:t>工程师）</a:t>
            </a:r>
            <a:endParaRPr lang="en-US" altLang="zh-CN" sz="1050" b="1" dirty="0">
              <a:latin typeface="+mn-ea"/>
            </a:endParaRPr>
          </a:p>
          <a:p>
            <a:pPr marL="285750" indent="-285750">
              <a:buFont typeface="Arial" panose="020B0604020202020204" pitchFamily="34" charset="0"/>
              <a:buChar char="•"/>
            </a:pPr>
            <a:r>
              <a:rPr lang="en-US" altLang="zh-CN" sz="1050" dirty="0">
                <a:latin typeface="+mn-ea"/>
              </a:rPr>
              <a:t>BMC</a:t>
            </a:r>
            <a:r>
              <a:rPr lang="zh-CN" altLang="en-US" sz="1050" dirty="0">
                <a:latin typeface="+mn-ea"/>
              </a:rPr>
              <a:t>详细设计</a:t>
            </a:r>
            <a:r>
              <a:rPr lang="zh-CN" altLang="en-US" sz="1050" b="1" dirty="0">
                <a:latin typeface="+mn-ea"/>
              </a:rPr>
              <a:t>（</a:t>
            </a:r>
            <a:r>
              <a:rPr lang="en-US" altLang="zh-CN" sz="1050" b="1" dirty="0">
                <a:latin typeface="+mn-ea"/>
              </a:rPr>
              <a:t>BMC</a:t>
            </a:r>
            <a:r>
              <a:rPr lang="zh-CN" altLang="en-US" sz="1050" b="1" dirty="0">
                <a:latin typeface="+mn-ea"/>
              </a:rPr>
              <a:t>工程师）</a:t>
            </a:r>
            <a:endParaRPr lang="en-US" altLang="zh-CN" sz="1050" b="1" dirty="0">
              <a:latin typeface="+mn-ea"/>
            </a:endParaRPr>
          </a:p>
        </p:txBody>
      </p:sp>
      <p:sp>
        <p:nvSpPr>
          <p:cNvPr id="43" name="文本框 42">
            <a:extLst>
              <a:ext uri="{FF2B5EF4-FFF2-40B4-BE49-F238E27FC236}">
                <a16:creationId xmlns:a16="http://schemas.microsoft.com/office/drawing/2014/main" id="{7F6EE19D-0B6B-8B71-D4E8-3294F51AA0E6}"/>
              </a:ext>
            </a:extLst>
          </p:cNvPr>
          <p:cNvSpPr txBox="1"/>
          <p:nvPr/>
        </p:nvSpPr>
        <p:spPr>
          <a:xfrm>
            <a:off x="715259" y="3426112"/>
            <a:ext cx="1213453" cy="298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lnSpc>
                <a:spcPct val="120000"/>
              </a:lnSpc>
            </a:pPr>
            <a:r>
              <a:rPr lang="zh-CN" altLang="en-US" sz="1200" b="1" dirty="0">
                <a:solidFill>
                  <a:schemeClr val="bg1"/>
                </a:solidFill>
              </a:rPr>
              <a:t>项目经理</a:t>
            </a:r>
            <a:endParaRPr lang="en-US" altLang="zh-CN" sz="1200" b="1" dirty="0">
              <a:solidFill>
                <a:schemeClr val="bg1"/>
              </a:solidFill>
            </a:endParaRPr>
          </a:p>
        </p:txBody>
      </p:sp>
      <p:sp>
        <p:nvSpPr>
          <p:cNvPr id="44" name="矩形 43">
            <a:extLst>
              <a:ext uri="{FF2B5EF4-FFF2-40B4-BE49-F238E27FC236}">
                <a16:creationId xmlns:a16="http://schemas.microsoft.com/office/drawing/2014/main" id="{7791EC7E-59F5-6F8B-C151-9917211C1B1B}"/>
              </a:ext>
            </a:extLst>
          </p:cNvPr>
          <p:cNvSpPr/>
          <p:nvPr/>
        </p:nvSpPr>
        <p:spPr>
          <a:xfrm>
            <a:off x="2177372" y="3353475"/>
            <a:ext cx="9517756" cy="576827"/>
          </a:xfrm>
          <a:prstGeom prst="rect">
            <a:avLst/>
          </a:prstGeom>
          <a:solidFill>
            <a:schemeClr val="accent4">
              <a:lumMod val="20000"/>
              <a:lumOff val="80000"/>
            </a:schemeClr>
          </a:solidFill>
          <a:ln>
            <a:solidFill>
              <a:schemeClr val="accent4">
                <a:lumMod val="20000"/>
                <a:lumOff val="80000"/>
              </a:schemeClr>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numCol="1" rtlCol="0" anchor="ctr"/>
          <a:lstStyle/>
          <a:p>
            <a:pPr algn="ctr">
              <a:lnSpc>
                <a:spcPct val="120000"/>
              </a:lnSpc>
            </a:pPr>
            <a:endParaRPr lang="en-US" altLang="zh-CN" sz="1400" dirty="0">
              <a:solidFill>
                <a:schemeClr val="tx1">
                  <a:lumMod val="75000"/>
                  <a:lumOff val="25000"/>
                </a:schemeClr>
              </a:solidFill>
              <a:latin typeface="+mn-ea"/>
            </a:endParaRPr>
          </a:p>
        </p:txBody>
      </p:sp>
      <p:sp>
        <p:nvSpPr>
          <p:cNvPr id="46" name="文本框 45"/>
          <p:cNvSpPr txBox="1"/>
          <p:nvPr/>
        </p:nvSpPr>
        <p:spPr>
          <a:xfrm>
            <a:off x="2929601" y="3307078"/>
            <a:ext cx="1940200" cy="674031"/>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050" dirty="0">
                <a:solidFill>
                  <a:schemeClr val="tx1">
                    <a:lumMod val="75000"/>
                    <a:lumOff val="25000"/>
                  </a:schemeClr>
                </a:solidFill>
              </a:rPr>
              <a:t>研发样品采购</a:t>
            </a:r>
          </a:p>
          <a:p>
            <a:pPr marL="285750" indent="-285750">
              <a:lnSpc>
                <a:spcPct val="120000"/>
              </a:lnSpc>
              <a:buFont typeface="Arial" panose="020B0604020202020204" pitchFamily="34" charset="0"/>
              <a:buChar char="•"/>
            </a:pPr>
            <a:r>
              <a:rPr lang="zh-CN" altLang="en-US" sz="1050" dirty="0">
                <a:solidFill>
                  <a:schemeClr val="tx1">
                    <a:lumMod val="75000"/>
                    <a:lumOff val="25000"/>
                  </a:schemeClr>
                </a:solidFill>
              </a:rPr>
              <a:t>研发任务分解 </a:t>
            </a:r>
          </a:p>
          <a:p>
            <a:pPr marL="171450" indent="-171450">
              <a:lnSpc>
                <a:spcPct val="120000"/>
              </a:lnSpc>
              <a:buFont typeface="Arial" panose="020B0604020202020204" pitchFamily="34" charset="0"/>
              <a:buChar char="•"/>
            </a:pPr>
            <a:r>
              <a:rPr lang="zh-CN" altLang="en-US" sz="1050" dirty="0" smtClean="0"/>
              <a:t>    组织</a:t>
            </a:r>
            <a:r>
              <a:rPr lang="zh-CN" altLang="en-US" sz="1050" dirty="0"/>
              <a:t>产品技术状态评审 </a:t>
            </a:r>
            <a:endParaRPr lang="en-US" altLang="zh-CN" sz="1050" dirty="0"/>
          </a:p>
        </p:txBody>
      </p:sp>
      <p:sp>
        <p:nvSpPr>
          <p:cNvPr id="47" name="文本框 46"/>
          <p:cNvSpPr txBox="1"/>
          <p:nvPr/>
        </p:nvSpPr>
        <p:spPr>
          <a:xfrm>
            <a:off x="5399322" y="3326578"/>
            <a:ext cx="1940200" cy="674031"/>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050" dirty="0"/>
              <a:t>组织里程碑管理评审</a:t>
            </a:r>
            <a:endParaRPr lang="en-US" altLang="zh-CN" sz="1050" dirty="0"/>
          </a:p>
          <a:p>
            <a:pPr marL="285750" indent="-285750">
              <a:lnSpc>
                <a:spcPct val="120000"/>
              </a:lnSpc>
              <a:buFont typeface="Arial" panose="020B0604020202020204" pitchFamily="34" charset="0"/>
              <a:buChar char="•"/>
            </a:pPr>
            <a:r>
              <a:rPr lang="zh-CN" altLang="en-US" sz="1050" dirty="0"/>
              <a:t>项目节点管控</a:t>
            </a:r>
            <a:endParaRPr lang="en-US" altLang="zh-CN" sz="1050" dirty="0"/>
          </a:p>
          <a:p>
            <a:pPr marL="285750" indent="-285750">
              <a:lnSpc>
                <a:spcPct val="120000"/>
              </a:lnSpc>
              <a:buFont typeface="Arial" panose="020B0604020202020204" pitchFamily="34" charset="0"/>
              <a:buChar char="•"/>
            </a:pPr>
            <a:r>
              <a:rPr lang="zh-CN" altLang="en-US" sz="1050" dirty="0"/>
              <a:t>跟踪风险与问题 </a:t>
            </a:r>
            <a:endParaRPr lang="en-US" altLang="zh-CN" sz="1050" dirty="0"/>
          </a:p>
        </p:txBody>
      </p:sp>
      <p:sp>
        <p:nvSpPr>
          <p:cNvPr id="48" name="文本框 47"/>
          <p:cNvSpPr txBox="1"/>
          <p:nvPr/>
        </p:nvSpPr>
        <p:spPr>
          <a:xfrm>
            <a:off x="8607751" y="3343702"/>
            <a:ext cx="1940200" cy="674031"/>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050" dirty="0"/>
              <a:t>汇报项目状态 </a:t>
            </a:r>
            <a:endParaRPr lang="en-US" altLang="zh-CN" sz="1050" dirty="0"/>
          </a:p>
          <a:p>
            <a:pPr marL="285750" indent="-285750">
              <a:lnSpc>
                <a:spcPct val="120000"/>
              </a:lnSpc>
              <a:buFont typeface="Arial" panose="020B0604020202020204" pitchFamily="34" charset="0"/>
              <a:buChar char="•"/>
            </a:pPr>
            <a:r>
              <a:rPr lang="zh-CN" altLang="en-US" sz="1050" dirty="0"/>
              <a:t>研发进度管理 </a:t>
            </a:r>
            <a:endParaRPr lang="en-US" altLang="zh-CN" sz="1050" dirty="0"/>
          </a:p>
          <a:p>
            <a:pPr marL="285750" indent="-285750">
              <a:lnSpc>
                <a:spcPct val="120000"/>
              </a:lnSpc>
              <a:buFont typeface="Arial" panose="020B0604020202020204" pitchFamily="34" charset="0"/>
              <a:buChar char="•"/>
            </a:pPr>
            <a:r>
              <a:rPr lang="zh-CN" altLang="en-US" sz="1050" dirty="0"/>
              <a:t>研发费用管理</a:t>
            </a:r>
            <a:endParaRPr lang="en-US" altLang="zh-CN" sz="1050" dirty="0">
              <a:solidFill>
                <a:schemeClr val="tx1">
                  <a:lumMod val="75000"/>
                  <a:lumOff val="25000"/>
                </a:schemeClr>
              </a:solidFill>
              <a:latin typeface="+mn-ea"/>
            </a:endParaRPr>
          </a:p>
        </p:txBody>
      </p:sp>
      <p:sp>
        <p:nvSpPr>
          <p:cNvPr id="49" name="等腰三角形 48">
            <a:extLst>
              <a:ext uri="{FF2B5EF4-FFF2-40B4-BE49-F238E27FC236}">
                <a16:creationId xmlns:a16="http://schemas.microsoft.com/office/drawing/2014/main" id="{99F7CAE9-4A12-1B0E-46B6-8FF794922C02}"/>
              </a:ext>
            </a:extLst>
          </p:cNvPr>
          <p:cNvSpPr/>
          <p:nvPr/>
        </p:nvSpPr>
        <p:spPr>
          <a:xfrm>
            <a:off x="4514591" y="1691410"/>
            <a:ext cx="217654" cy="201515"/>
          </a:xfrm>
          <a:prstGeom prst="triangl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0" name="等腰三角形 49">
            <a:extLst>
              <a:ext uri="{FF2B5EF4-FFF2-40B4-BE49-F238E27FC236}">
                <a16:creationId xmlns:a16="http://schemas.microsoft.com/office/drawing/2014/main" id="{99F7CAE9-4A12-1B0E-46B6-8FF794922C02}"/>
              </a:ext>
            </a:extLst>
          </p:cNvPr>
          <p:cNvSpPr/>
          <p:nvPr/>
        </p:nvSpPr>
        <p:spPr>
          <a:xfrm>
            <a:off x="10939241" y="1662095"/>
            <a:ext cx="217654" cy="201515"/>
          </a:xfrm>
          <a:prstGeom prst="triangl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5" name="五角星 44"/>
          <p:cNvSpPr/>
          <p:nvPr/>
        </p:nvSpPr>
        <p:spPr>
          <a:xfrm>
            <a:off x="11702732" y="1703525"/>
            <a:ext cx="205897" cy="167564"/>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10225043" y="2489061"/>
            <a:ext cx="2254749" cy="272510"/>
          </a:xfrm>
          <a:prstGeom prst="rect">
            <a:avLst/>
          </a:prstGeom>
          <a:noFill/>
        </p:spPr>
        <p:txBody>
          <a:bodyPr wrap="square" rtlCol="0">
            <a:spAutoFit/>
          </a:bodyPr>
          <a:lstStyle/>
          <a:p>
            <a:pPr>
              <a:lnSpc>
                <a:spcPct val="120000"/>
              </a:lnSpc>
            </a:pPr>
            <a:r>
              <a:rPr lang="zh-CN" altLang="en-US" sz="1050" b="1" dirty="0" smtClean="0">
                <a:solidFill>
                  <a:srgbClr val="0000FF"/>
                </a:solidFill>
              </a:rPr>
              <a:t>裁剪</a:t>
            </a:r>
            <a:r>
              <a:rPr lang="en-US" altLang="zh-CN" sz="1050" b="1" dirty="0" smtClean="0">
                <a:solidFill>
                  <a:srgbClr val="0000FF"/>
                </a:solidFill>
              </a:rPr>
              <a:t>PVT</a:t>
            </a:r>
            <a:r>
              <a:rPr lang="zh-CN" altLang="en-US" sz="1050" b="1" dirty="0" smtClean="0">
                <a:solidFill>
                  <a:srgbClr val="0000FF"/>
                </a:solidFill>
              </a:rPr>
              <a:t>时：产品预发布</a:t>
            </a:r>
            <a:endParaRPr lang="en-US" altLang="zh-CN" sz="1050" b="1" dirty="0" smtClean="0">
              <a:solidFill>
                <a:srgbClr val="0000FF"/>
              </a:solidFill>
            </a:endParaRPr>
          </a:p>
        </p:txBody>
      </p:sp>
      <p:cxnSp>
        <p:nvCxnSpPr>
          <p:cNvPr id="22" name="直接箭头连接符 21"/>
          <p:cNvCxnSpPr>
            <a:endCxn id="51" idx="0"/>
          </p:cNvCxnSpPr>
          <p:nvPr/>
        </p:nvCxnSpPr>
        <p:spPr>
          <a:xfrm flipH="1">
            <a:off x="11352418" y="1892925"/>
            <a:ext cx="431596" cy="596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10225043" y="2752737"/>
            <a:ext cx="2254749" cy="272510"/>
          </a:xfrm>
          <a:prstGeom prst="rect">
            <a:avLst/>
          </a:prstGeom>
          <a:noFill/>
        </p:spPr>
        <p:txBody>
          <a:bodyPr wrap="square" rtlCol="0">
            <a:spAutoFit/>
          </a:bodyPr>
          <a:lstStyle/>
          <a:p>
            <a:pPr>
              <a:lnSpc>
                <a:spcPct val="120000"/>
              </a:lnSpc>
            </a:pPr>
            <a:r>
              <a:rPr lang="zh-CN" altLang="en-US" sz="1050" b="1" dirty="0" smtClean="0">
                <a:solidFill>
                  <a:srgbClr val="0000FF"/>
                </a:solidFill>
              </a:rPr>
              <a:t>送测</a:t>
            </a:r>
            <a:r>
              <a:rPr lang="zh-CN" altLang="en-US" sz="1050" b="1" dirty="0" smtClean="0">
                <a:solidFill>
                  <a:srgbClr val="0000FF"/>
                </a:solidFill>
                <a:sym typeface="Wingdings" panose="05000000000000000000" pitchFamily="2" charset="2"/>
              </a:rPr>
              <a:t>（销售借用订单）</a:t>
            </a:r>
            <a:endParaRPr lang="en-US" altLang="zh-CN" sz="1050" b="1" dirty="0" smtClean="0">
              <a:solidFill>
                <a:srgbClr val="0000FF"/>
              </a:solidFill>
            </a:endParaRPr>
          </a:p>
        </p:txBody>
      </p:sp>
      <p:sp>
        <p:nvSpPr>
          <p:cNvPr id="54" name="十字星 53"/>
          <p:cNvSpPr/>
          <p:nvPr/>
        </p:nvSpPr>
        <p:spPr>
          <a:xfrm>
            <a:off x="8526212" y="5877324"/>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5" name="十字星 54"/>
          <p:cNvSpPr/>
          <p:nvPr/>
        </p:nvSpPr>
        <p:spPr>
          <a:xfrm>
            <a:off x="8285865" y="5347420"/>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cxnSp>
        <p:nvCxnSpPr>
          <p:cNvPr id="11" name="直接连接符 10"/>
          <p:cNvCxnSpPr/>
          <p:nvPr/>
        </p:nvCxnSpPr>
        <p:spPr>
          <a:xfrm>
            <a:off x="8577436" y="1653867"/>
            <a:ext cx="0" cy="79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0021198" y="1662095"/>
            <a:ext cx="0" cy="79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577436" y="2430877"/>
            <a:ext cx="1443762" cy="8878"/>
          </a:xfrm>
          <a:prstGeom prst="line">
            <a:avLst/>
          </a:prstGeom>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8805319" y="4807169"/>
            <a:ext cx="1940200" cy="272510"/>
          </a:xfrm>
          <a:prstGeom prst="rect">
            <a:avLst/>
          </a:prstGeom>
          <a:noFill/>
        </p:spPr>
        <p:txBody>
          <a:bodyPr wrap="square" rtlCol="0">
            <a:spAutoFit/>
          </a:bodyPr>
          <a:lstStyle/>
          <a:p>
            <a:pPr>
              <a:lnSpc>
                <a:spcPct val="120000"/>
              </a:lnSpc>
            </a:pPr>
            <a:r>
              <a:rPr lang="zh-CN" altLang="en-US" sz="1050" dirty="0" smtClean="0"/>
              <a:t>元器件</a:t>
            </a:r>
            <a:r>
              <a:rPr lang="en-US" altLang="zh-CN" sz="1050" dirty="0" smtClean="0"/>
              <a:t>/</a:t>
            </a:r>
            <a:r>
              <a:rPr lang="zh-CN" altLang="en-US" sz="1050" dirty="0" smtClean="0"/>
              <a:t>部件验证结果监控</a:t>
            </a:r>
            <a:endParaRPr lang="en-US" altLang="zh-CN" sz="1050" dirty="0">
              <a:solidFill>
                <a:schemeClr val="tx1">
                  <a:lumMod val="75000"/>
                  <a:lumOff val="25000"/>
                </a:schemeClr>
              </a:solidFill>
              <a:latin typeface="+mn-ea"/>
            </a:endParaRPr>
          </a:p>
        </p:txBody>
      </p:sp>
      <p:cxnSp>
        <p:nvCxnSpPr>
          <p:cNvPr id="34" name="直接箭头连接符 33"/>
          <p:cNvCxnSpPr>
            <a:endCxn id="56" idx="0"/>
          </p:cNvCxnSpPr>
          <p:nvPr/>
        </p:nvCxnSpPr>
        <p:spPr>
          <a:xfrm>
            <a:off x="9285319" y="2458862"/>
            <a:ext cx="490100" cy="2348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37840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7E2809-48E9-A1D7-F7EA-42118449E3D0}"/>
              </a:ext>
            </a:extLst>
          </p:cNvPr>
          <p:cNvSpPr>
            <a:spLocks noGrp="1"/>
          </p:cNvSpPr>
          <p:nvPr>
            <p:ph type="body" sz="quarter" idx="13"/>
          </p:nvPr>
        </p:nvSpPr>
        <p:spPr/>
        <p:txBody>
          <a:bodyPr/>
          <a:lstStyle/>
          <a:p>
            <a:r>
              <a:rPr lang="en-US" altLang="zh-CN" dirty="0" smtClean="0"/>
              <a:t>M3</a:t>
            </a:r>
            <a:r>
              <a:rPr lang="zh-CN" altLang="en-US" dirty="0" smtClean="0"/>
              <a:t>研发</a:t>
            </a:r>
            <a:r>
              <a:rPr lang="zh-CN" altLang="en-US" dirty="0"/>
              <a:t>测试阶段</a:t>
            </a:r>
            <a:r>
              <a:rPr lang="en-US" altLang="zh-CN" dirty="0" smtClean="0"/>
              <a:t>——</a:t>
            </a:r>
            <a:r>
              <a:rPr lang="zh-CN" altLang="en-US" dirty="0" smtClean="0"/>
              <a:t>建议诉求</a:t>
            </a:r>
            <a:endParaRPr lang="zh-CN" altLang="en-US" dirty="0"/>
          </a:p>
        </p:txBody>
      </p:sp>
      <p:graphicFrame>
        <p:nvGraphicFramePr>
          <p:cNvPr id="8" name="表格 18">
            <a:extLst>
              <a:ext uri="{FF2B5EF4-FFF2-40B4-BE49-F238E27FC236}">
                <a16:creationId xmlns:a16="http://schemas.microsoft.com/office/drawing/2014/main" id="{C4EA164D-F53E-36BD-54CC-3A76E551A949}"/>
              </a:ext>
            </a:extLst>
          </p:cNvPr>
          <p:cNvGraphicFramePr>
            <a:graphicFrameLocks noGrp="1"/>
          </p:cNvGraphicFramePr>
          <p:nvPr>
            <p:extLst>
              <p:ext uri="{D42A27DB-BD31-4B8C-83A1-F6EECF244321}">
                <p14:modId xmlns:p14="http://schemas.microsoft.com/office/powerpoint/2010/main" val="2620868027"/>
              </p:ext>
            </p:extLst>
          </p:nvPr>
        </p:nvGraphicFramePr>
        <p:xfrm>
          <a:off x="334963" y="836713"/>
          <a:ext cx="11341100" cy="5989734"/>
        </p:xfrm>
        <a:graphic>
          <a:graphicData uri="http://schemas.openxmlformats.org/drawingml/2006/table">
            <a:tbl>
              <a:tblPr firstRow="1" bandRow="1">
                <a:tableStyleId>{00A15C55-8517-42AA-B614-E9B94910E393}</a:tableStyleId>
              </a:tblPr>
              <a:tblGrid>
                <a:gridCol w="1101692">
                  <a:extLst>
                    <a:ext uri="{9D8B030D-6E8A-4147-A177-3AD203B41FA5}">
                      <a16:colId xmlns:a16="http://schemas.microsoft.com/office/drawing/2014/main" val="3334151599"/>
                    </a:ext>
                  </a:extLst>
                </a:gridCol>
                <a:gridCol w="1300899">
                  <a:extLst>
                    <a:ext uri="{9D8B030D-6E8A-4147-A177-3AD203B41FA5}">
                      <a16:colId xmlns:a16="http://schemas.microsoft.com/office/drawing/2014/main" val="2844502402"/>
                    </a:ext>
                  </a:extLst>
                </a:gridCol>
                <a:gridCol w="1263192">
                  <a:extLst>
                    <a:ext uri="{9D8B030D-6E8A-4147-A177-3AD203B41FA5}">
                      <a16:colId xmlns:a16="http://schemas.microsoft.com/office/drawing/2014/main" val="1128659240"/>
                    </a:ext>
                  </a:extLst>
                </a:gridCol>
                <a:gridCol w="4213781">
                  <a:extLst>
                    <a:ext uri="{9D8B030D-6E8A-4147-A177-3AD203B41FA5}">
                      <a16:colId xmlns:a16="http://schemas.microsoft.com/office/drawing/2014/main" val="3780626603"/>
                    </a:ext>
                  </a:extLst>
                </a:gridCol>
                <a:gridCol w="3461536">
                  <a:extLst>
                    <a:ext uri="{9D8B030D-6E8A-4147-A177-3AD203B41FA5}">
                      <a16:colId xmlns:a16="http://schemas.microsoft.com/office/drawing/2014/main" val="2468479109"/>
                    </a:ext>
                  </a:extLst>
                </a:gridCol>
              </a:tblGrid>
              <a:tr h="343314">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200" dirty="0"/>
                        <a:t>阶段</a:t>
                      </a:r>
                      <a:endParaRPr lang="zh-CN" altLang="en-US" sz="1200" dirty="0">
                        <a:latin typeface="+mn-ea"/>
                        <a:ea typeface="+mn-ea"/>
                      </a:endParaRPr>
                    </a:p>
                  </a:txBody>
                  <a:tcPr anchor="ctr"/>
                </a:tc>
                <a:tc>
                  <a:txBody>
                    <a:bodyPr/>
                    <a:lstStyle/>
                    <a:p>
                      <a:pPr algn="ctr"/>
                      <a:r>
                        <a:rPr lang="zh-CN" altLang="en-US" sz="1200" dirty="0"/>
                        <a:t>项目角色</a:t>
                      </a:r>
                      <a:endParaRPr lang="zh-CN" altLang="en-US" sz="1200" dirty="0">
                        <a:latin typeface="+mn-ea"/>
                        <a:ea typeface="+mn-ea"/>
                      </a:endParaRPr>
                    </a:p>
                  </a:txBody>
                  <a:tcPr anchor="ctr"/>
                </a:tc>
                <a:tc>
                  <a:txBody>
                    <a:bodyPr/>
                    <a:lstStyle/>
                    <a:p>
                      <a:pPr algn="ctr"/>
                      <a:r>
                        <a:rPr lang="zh-CN" altLang="en-US" sz="1200" dirty="0" smtClean="0">
                          <a:latin typeface="+mn-ea"/>
                          <a:ea typeface="+mn-ea"/>
                        </a:rPr>
                        <a:t>类型</a:t>
                      </a:r>
                      <a:endParaRPr lang="zh-CN" altLang="en-US" sz="1200" dirty="0">
                        <a:latin typeface="+mn-ea"/>
                        <a:ea typeface="+mn-ea"/>
                      </a:endParaRPr>
                    </a:p>
                  </a:txBody>
                  <a:tcPr anchor="ctr"/>
                </a:tc>
                <a:tc>
                  <a:txBody>
                    <a:bodyPr/>
                    <a:lstStyle/>
                    <a:p>
                      <a:pPr algn="ctr"/>
                      <a:r>
                        <a:rPr lang="zh-CN" altLang="en-US" sz="1200" dirty="0"/>
                        <a:t>诉求</a:t>
                      </a:r>
                      <a:r>
                        <a:rPr lang="en-US" altLang="zh-CN" sz="1200" dirty="0"/>
                        <a:t>/</a:t>
                      </a:r>
                      <a:r>
                        <a:rPr lang="zh-CN" altLang="en-US" sz="1200" dirty="0"/>
                        <a:t>建议</a:t>
                      </a:r>
                      <a:endParaRPr lang="zh-CN" altLang="en-US" sz="1200" dirty="0">
                        <a:latin typeface="+mn-ea"/>
                        <a:ea typeface="+mn-ea"/>
                      </a:endParaRPr>
                    </a:p>
                  </a:txBody>
                  <a:tcPr anchor="ctr"/>
                </a:tc>
                <a:tc>
                  <a:txBody>
                    <a:bodyPr/>
                    <a:lstStyle/>
                    <a:p>
                      <a:pPr algn="ctr"/>
                      <a:r>
                        <a:rPr lang="zh-CN" altLang="en-US" sz="1200" dirty="0" smtClean="0"/>
                        <a:t>备注</a:t>
                      </a:r>
                      <a:endParaRPr lang="zh-CN" altLang="en-US" sz="1200" dirty="0"/>
                    </a:p>
                  </a:txBody>
                  <a:tcPr anchor="ctr"/>
                </a:tc>
                <a:extLst>
                  <a:ext uri="{0D108BD9-81ED-4DB2-BD59-A6C34878D82A}">
                    <a16:rowId xmlns:a16="http://schemas.microsoft.com/office/drawing/2014/main" val="4249472911"/>
                  </a:ext>
                </a:extLst>
              </a:tr>
              <a:tr h="1258373">
                <a:tc>
                  <a:txBody>
                    <a:bodyPr/>
                    <a:lstStyle/>
                    <a:p>
                      <a:pPr algn="ctr" fontAlgn="ctr" latinLnBrk="0"/>
                      <a:r>
                        <a:rPr lang="en-US" altLang="zh-CN" sz="1050" dirty="0">
                          <a:solidFill>
                            <a:srgbClr val="000000"/>
                          </a:solidFill>
                          <a:effectLst/>
                          <a:latin typeface="+mn-ea"/>
                          <a:ea typeface="+mn-ea"/>
                        </a:rPr>
                        <a:t>L8-</a:t>
                      </a:r>
                      <a:r>
                        <a:rPr lang="en-US" sz="1050" dirty="0">
                          <a:solidFill>
                            <a:srgbClr val="000000"/>
                          </a:solidFill>
                          <a:effectLst/>
                          <a:latin typeface="+mn-ea"/>
                          <a:ea typeface="+mn-ea"/>
                        </a:rPr>
                        <a:t>EVT-</a:t>
                      </a:r>
                    </a:p>
                    <a:p>
                      <a:pPr algn="ctr" fontAlgn="ctr" latinLnBrk="0"/>
                      <a:r>
                        <a:rPr lang="en-US" altLang="zh-CN" sz="1050" dirty="0">
                          <a:solidFill>
                            <a:srgbClr val="000000"/>
                          </a:solidFill>
                          <a:effectLst/>
                          <a:latin typeface="+mn-ea"/>
                          <a:ea typeface="+mn-ea"/>
                        </a:rPr>
                        <a:t>L9-</a:t>
                      </a:r>
                      <a:r>
                        <a:rPr lang="en-US" sz="1050" dirty="0">
                          <a:solidFill>
                            <a:srgbClr val="000000"/>
                          </a:solidFill>
                          <a:effectLst/>
                          <a:latin typeface="+mn-ea"/>
                          <a:ea typeface="+mn-ea"/>
                        </a:rPr>
                        <a:t>DVT</a:t>
                      </a:r>
                    </a:p>
                  </a:txBody>
                  <a:tcPr anchor="ctr"/>
                </a:tc>
                <a:tc>
                  <a:txBody>
                    <a:bodyPr/>
                    <a:lstStyle/>
                    <a:p>
                      <a:pPr algn="ctr" fontAlgn="ctr" latinLnBrk="0"/>
                      <a:r>
                        <a:rPr lang="zh-CN" altLang="en-US" sz="1050" dirty="0">
                          <a:solidFill>
                            <a:srgbClr val="000000"/>
                          </a:solidFill>
                          <a:effectLst/>
                          <a:latin typeface="+mn-ea"/>
                          <a:ea typeface="+mn-ea"/>
                        </a:rPr>
                        <a:t>架构师</a:t>
                      </a:r>
                    </a:p>
                  </a:txBody>
                  <a:tcPr anchor="ctr"/>
                </a:tc>
                <a:tc>
                  <a:txBody>
                    <a:bodyPr/>
                    <a:lstStyle/>
                    <a:p>
                      <a:pPr algn="ctr" fontAlgn="ctr" latinLnBrk="0"/>
                      <a:r>
                        <a:rPr lang="zh-CN" altLang="en-US" sz="1050" dirty="0">
                          <a:solidFill>
                            <a:srgbClr val="000000"/>
                          </a:solidFill>
                          <a:effectLst/>
                          <a:latin typeface="+mn-ea"/>
                          <a:ea typeface="+mn-ea"/>
                        </a:rPr>
                        <a:t>统筹管理</a:t>
                      </a:r>
                    </a:p>
                  </a:txBody>
                  <a:tcPr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050" b="1" dirty="0" smtClean="0">
                          <a:solidFill>
                            <a:srgbClr val="000000"/>
                          </a:solidFill>
                          <a:effectLst/>
                          <a:latin typeface="+mn-ea"/>
                          <a:ea typeface="+mn-ea"/>
                        </a:rPr>
                        <a:t>1</a:t>
                      </a:r>
                      <a:r>
                        <a:rPr lang="zh-CN" altLang="en-US" sz="1050" b="1" dirty="0" smtClean="0">
                          <a:solidFill>
                            <a:srgbClr val="000000"/>
                          </a:solidFill>
                          <a:effectLst/>
                          <a:latin typeface="+mn-ea"/>
                          <a:ea typeface="+mn-ea"/>
                        </a:rPr>
                        <a:t>）诉求：</a:t>
                      </a:r>
                      <a:r>
                        <a:rPr lang="zh-CN" altLang="en-US" sz="1050" dirty="0" smtClean="0">
                          <a:solidFill>
                            <a:srgbClr val="000000"/>
                          </a:solidFill>
                          <a:effectLst/>
                          <a:latin typeface="+mn-ea"/>
                          <a:ea typeface="+mn-ea"/>
                        </a:rPr>
                        <a:t>架构师在研发测试过程中监控</a:t>
                      </a:r>
                      <a:r>
                        <a:rPr lang="zh-CN" altLang="en-US" sz="1050" b="1" dirty="0" smtClean="0">
                          <a:solidFill>
                            <a:srgbClr val="000000"/>
                          </a:solidFill>
                          <a:effectLst/>
                          <a:latin typeface="+mn-ea"/>
                          <a:ea typeface="+mn-ea"/>
                        </a:rPr>
                        <a:t>产品需求实现</a:t>
                      </a:r>
                      <a:r>
                        <a:rPr lang="zh-CN" altLang="en-US" sz="1050" dirty="0" smtClean="0">
                          <a:solidFill>
                            <a:srgbClr val="000000"/>
                          </a:solidFill>
                          <a:effectLst/>
                          <a:latin typeface="+mn-ea"/>
                          <a:ea typeface="+mn-ea"/>
                        </a:rPr>
                        <a:t>情况，确保</a:t>
                      </a:r>
                      <a:r>
                        <a:rPr lang="zh-CN" altLang="en-US" sz="1050" b="1" dirty="0" smtClean="0">
                          <a:solidFill>
                            <a:srgbClr val="000000"/>
                          </a:solidFill>
                          <a:effectLst/>
                          <a:latin typeface="+mn-ea"/>
                          <a:ea typeface="+mn-ea"/>
                        </a:rPr>
                        <a:t>满足整体方案（及时发现问题</a:t>
                      </a:r>
                      <a:r>
                        <a:rPr lang="en-US" altLang="zh-CN" sz="1050" b="1" dirty="0" smtClean="0">
                          <a:solidFill>
                            <a:srgbClr val="000000"/>
                          </a:solidFill>
                          <a:effectLst/>
                          <a:latin typeface="+mn-ea"/>
                          <a:ea typeface="+mn-ea"/>
                        </a:rPr>
                        <a:t>/</a:t>
                      </a:r>
                      <a:r>
                        <a:rPr lang="zh-CN" altLang="en-US" sz="1050" b="1" dirty="0" smtClean="0">
                          <a:solidFill>
                            <a:srgbClr val="000000"/>
                          </a:solidFill>
                          <a:effectLst/>
                          <a:latin typeface="+mn-ea"/>
                          <a:ea typeface="+mn-ea"/>
                        </a:rPr>
                        <a:t>风险）</a:t>
                      </a:r>
                      <a:r>
                        <a:rPr lang="en-US" altLang="zh-CN" sz="1050" b="1" dirty="0" smtClean="0">
                          <a:solidFill>
                            <a:srgbClr val="000000"/>
                          </a:solidFill>
                          <a:effectLst/>
                          <a:latin typeface="+mn-ea"/>
                          <a:ea typeface="+mn-ea"/>
                        </a:rPr>
                        <a:t>——</a:t>
                      </a:r>
                      <a:r>
                        <a:rPr lang="zh-CN" altLang="en-US" sz="1050" b="1" dirty="0" smtClean="0">
                          <a:solidFill>
                            <a:srgbClr val="000000"/>
                          </a:solidFill>
                          <a:effectLst/>
                          <a:latin typeface="+mn-ea"/>
                          <a:ea typeface="+mn-ea"/>
                        </a:rPr>
                        <a:t>非专业领域部分，必要时可由项目组提出，邀请各研发团队组长</a:t>
                      </a:r>
                      <a:r>
                        <a:rPr lang="en-US" altLang="zh-CN" sz="1050" b="1" dirty="0" smtClean="0">
                          <a:solidFill>
                            <a:srgbClr val="000000"/>
                          </a:solidFill>
                          <a:effectLst/>
                          <a:latin typeface="+mn-ea"/>
                          <a:ea typeface="+mn-ea"/>
                        </a:rPr>
                        <a:t>/</a:t>
                      </a:r>
                      <a:r>
                        <a:rPr lang="zh-CN" altLang="en-US" sz="1050" b="1" dirty="0" smtClean="0">
                          <a:solidFill>
                            <a:srgbClr val="000000"/>
                          </a:solidFill>
                          <a:effectLst/>
                          <a:latin typeface="+mn-ea"/>
                          <a:ea typeface="+mn-ea"/>
                        </a:rPr>
                        <a:t>专家组参与</a:t>
                      </a:r>
                      <a:endParaRPr lang="en-US" altLang="zh-CN" sz="1050" b="1" dirty="0" smtClean="0">
                        <a:solidFill>
                          <a:srgbClr val="000000"/>
                        </a:solidFill>
                        <a:effectLst/>
                        <a:latin typeface="+mn-ea"/>
                        <a:ea typeface="+mn-ea"/>
                      </a:endParaRPr>
                    </a:p>
                    <a:p>
                      <a:pPr marL="0" marR="0" lvl="0" indent="0" algn="l" defTabSz="1219170" rtl="0" eaLnBrk="1" fontAlgn="ctr" latinLnBrk="0" hangingPunct="1">
                        <a:lnSpc>
                          <a:spcPct val="100000"/>
                        </a:lnSpc>
                        <a:spcBef>
                          <a:spcPts val="0"/>
                        </a:spcBef>
                        <a:spcAft>
                          <a:spcPts val="0"/>
                        </a:spcAft>
                        <a:buClrTx/>
                        <a:buSzTx/>
                        <a:buFontTx/>
                        <a:buNone/>
                        <a:tabLst/>
                        <a:defRPr/>
                      </a:pPr>
                      <a:endParaRPr lang="en-US" altLang="zh-CN" sz="1050" dirty="0">
                        <a:solidFill>
                          <a:srgbClr val="000000"/>
                        </a:solidFill>
                        <a:effectLst/>
                        <a:latin typeface="+mn-ea"/>
                        <a:ea typeface="+mn-ea"/>
                      </a:endParaRPr>
                    </a:p>
                    <a:p>
                      <a:pPr algn="l" fontAlgn="ctr" latinLnBrk="0"/>
                      <a:r>
                        <a:rPr lang="en-US" altLang="zh-CN" sz="1050" b="1" dirty="0" smtClean="0">
                          <a:solidFill>
                            <a:srgbClr val="000000"/>
                          </a:solidFill>
                          <a:effectLst/>
                          <a:latin typeface="+mn-ea"/>
                          <a:ea typeface="+mn-ea"/>
                        </a:rPr>
                        <a:t>2</a:t>
                      </a:r>
                      <a:r>
                        <a:rPr lang="zh-CN" altLang="en-US" sz="1050" b="1" dirty="0" smtClean="0">
                          <a:solidFill>
                            <a:srgbClr val="000000"/>
                          </a:solidFill>
                          <a:effectLst/>
                          <a:latin typeface="+mn-ea"/>
                          <a:ea typeface="+mn-ea"/>
                        </a:rPr>
                        <a:t>）诉求：架构师在研发测试阶段给与研发技术协助</a:t>
                      </a:r>
                      <a:endParaRPr lang="en-US" altLang="zh-CN" sz="1050" b="1" dirty="0" smtClean="0">
                        <a:solidFill>
                          <a:srgbClr val="000000"/>
                        </a:solidFill>
                        <a:effectLst/>
                        <a:latin typeface="+mn-ea"/>
                        <a:ea typeface="+mn-ea"/>
                      </a:endParaRPr>
                    </a:p>
                    <a:p>
                      <a:pPr algn="l" fontAlgn="ctr" latinLnBrk="0"/>
                      <a:r>
                        <a:rPr lang="en-US" altLang="zh-CN" sz="1050" baseline="0" dirty="0" smtClean="0">
                          <a:solidFill>
                            <a:srgbClr val="000000"/>
                          </a:solidFill>
                          <a:effectLst/>
                          <a:latin typeface="+mn-ea"/>
                          <a:ea typeface="+mn-ea"/>
                        </a:rPr>
                        <a:t>      </a:t>
                      </a:r>
                      <a:r>
                        <a:rPr lang="zh-CN" altLang="en-US" sz="1050" baseline="0" dirty="0" smtClean="0">
                          <a:solidFill>
                            <a:srgbClr val="000000"/>
                          </a:solidFill>
                          <a:effectLst/>
                          <a:latin typeface="+mn-ea"/>
                          <a:ea typeface="+mn-ea"/>
                        </a:rPr>
                        <a:t>关注、了解各类型疑难问题</a:t>
                      </a:r>
                      <a:endParaRPr lang="en-US" altLang="zh-CN" sz="1050" baseline="0" dirty="0" smtClean="0">
                        <a:solidFill>
                          <a:srgbClr val="000000"/>
                        </a:solidFill>
                        <a:effectLst/>
                        <a:latin typeface="+mn-ea"/>
                        <a:ea typeface="+mn-ea"/>
                      </a:endParaRPr>
                    </a:p>
                    <a:p>
                      <a:pPr algn="l" fontAlgn="ctr" latinLnBrk="0"/>
                      <a:r>
                        <a:rPr lang="en-US" altLang="zh-CN" sz="1050" baseline="0" dirty="0" smtClean="0">
                          <a:solidFill>
                            <a:srgbClr val="000000"/>
                          </a:solidFill>
                          <a:effectLst/>
                          <a:latin typeface="+mn-ea"/>
                          <a:ea typeface="+mn-ea"/>
                        </a:rPr>
                        <a:t>      </a:t>
                      </a:r>
                      <a:r>
                        <a:rPr lang="zh-CN" altLang="en-US" sz="1050" baseline="0" dirty="0" smtClean="0">
                          <a:solidFill>
                            <a:srgbClr val="000000"/>
                          </a:solidFill>
                          <a:effectLst/>
                          <a:latin typeface="+mn-ea"/>
                          <a:ea typeface="+mn-ea"/>
                        </a:rPr>
                        <a:t>给与指导方向、建议</a:t>
                      </a:r>
                      <a:endParaRPr lang="en-US" altLang="zh-CN" sz="1050" baseline="0" dirty="0" smtClean="0">
                        <a:solidFill>
                          <a:srgbClr val="000000"/>
                        </a:solidFill>
                        <a:effectLst/>
                        <a:latin typeface="+mn-ea"/>
                        <a:ea typeface="+mn-ea"/>
                      </a:endParaRPr>
                    </a:p>
                    <a:p>
                      <a:pPr algn="l" fontAlgn="ctr" latinLnBrk="0"/>
                      <a:r>
                        <a:rPr lang="en-US" altLang="zh-CN" sz="1050" baseline="0" dirty="0" smtClean="0">
                          <a:solidFill>
                            <a:srgbClr val="000000"/>
                          </a:solidFill>
                          <a:effectLst/>
                          <a:latin typeface="+mn-ea"/>
                          <a:ea typeface="+mn-ea"/>
                        </a:rPr>
                        <a:t>      </a:t>
                      </a:r>
                      <a:r>
                        <a:rPr lang="zh-CN" altLang="en-US" sz="1050" baseline="0" dirty="0" smtClean="0">
                          <a:solidFill>
                            <a:srgbClr val="000000"/>
                          </a:solidFill>
                          <a:effectLst/>
                          <a:latin typeface="+mn-ea"/>
                          <a:ea typeface="+mn-ea"/>
                        </a:rPr>
                        <a:t>涉及供应商、采购、品质事宜，给与协助推动</a:t>
                      </a:r>
                      <a:endParaRPr lang="en-US" altLang="zh-CN" sz="1050" baseline="0" dirty="0" smtClean="0">
                        <a:solidFill>
                          <a:srgbClr val="000000"/>
                        </a:solidFill>
                        <a:effectLst/>
                        <a:latin typeface="+mn-ea"/>
                        <a:ea typeface="+mn-ea"/>
                      </a:endParaRPr>
                    </a:p>
                    <a:p>
                      <a:pPr algn="l" fontAlgn="ctr" latinLnBrk="0"/>
                      <a:r>
                        <a:rPr lang="en-US" altLang="zh-CN" sz="1050" baseline="0" dirty="0" smtClean="0">
                          <a:solidFill>
                            <a:srgbClr val="000000"/>
                          </a:solidFill>
                          <a:effectLst/>
                          <a:latin typeface="+mn-ea"/>
                          <a:ea typeface="+mn-ea"/>
                        </a:rPr>
                        <a:t>      </a:t>
                      </a:r>
                      <a:r>
                        <a:rPr lang="zh-CN" altLang="en-US" sz="1050" baseline="0" dirty="0" smtClean="0">
                          <a:solidFill>
                            <a:srgbClr val="000000"/>
                          </a:solidFill>
                          <a:effectLst/>
                          <a:latin typeface="+mn-ea"/>
                          <a:ea typeface="+mn-ea"/>
                        </a:rPr>
                        <a:t>必要时给与决策意见</a:t>
                      </a:r>
                      <a:endParaRPr lang="en-US" altLang="zh-CN" sz="1050" dirty="0">
                        <a:solidFill>
                          <a:srgbClr val="000000"/>
                        </a:solidFill>
                        <a:effectLst/>
                        <a:latin typeface="+mn-ea"/>
                        <a:ea typeface="+mn-ea"/>
                      </a:endParaRPr>
                    </a:p>
                  </a:txBody>
                  <a:tcPr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050" dirty="0">
                          <a:solidFill>
                            <a:srgbClr val="000000"/>
                          </a:solidFill>
                          <a:effectLst/>
                          <a:latin typeface="+mn-ea"/>
                          <a:ea typeface="+mn-ea"/>
                        </a:rPr>
                        <a:t>1</a:t>
                      </a:r>
                      <a:r>
                        <a:rPr lang="zh-CN" altLang="en-US" sz="1050" dirty="0">
                          <a:solidFill>
                            <a:srgbClr val="000000"/>
                          </a:solidFill>
                          <a:effectLst/>
                          <a:latin typeface="+mn-ea"/>
                          <a:ea typeface="+mn-ea"/>
                        </a:rPr>
                        <a:t>，东海项目前期已评估智能制造需求，但实际设计过程中，架构师（硬件）否决主板涉及方案变更，导致</a:t>
                      </a:r>
                      <a:r>
                        <a:rPr lang="en-US" altLang="zh-CN" sz="1050" dirty="0">
                          <a:solidFill>
                            <a:srgbClr val="000000"/>
                          </a:solidFill>
                          <a:effectLst/>
                          <a:latin typeface="+mn-ea"/>
                          <a:ea typeface="+mn-ea"/>
                        </a:rPr>
                        <a:t>EVAC</a:t>
                      </a:r>
                      <a:r>
                        <a:rPr lang="zh-CN" altLang="en-US" sz="1050" dirty="0">
                          <a:solidFill>
                            <a:srgbClr val="000000"/>
                          </a:solidFill>
                          <a:effectLst/>
                          <a:latin typeface="+mn-ea"/>
                          <a:ea typeface="+mn-ea"/>
                        </a:rPr>
                        <a:t>散热器不支持智能制造</a:t>
                      </a:r>
                    </a:p>
                    <a:p>
                      <a:pPr algn="l" fontAlgn="ctr" latinLnBrk="0"/>
                      <a:endParaRPr lang="en-US" altLang="zh-CN" sz="1050" dirty="0">
                        <a:solidFill>
                          <a:srgbClr val="000000"/>
                        </a:solidFill>
                        <a:effectLst/>
                        <a:latin typeface="+mn-ea"/>
                        <a:ea typeface="+mn-ea"/>
                      </a:endParaRPr>
                    </a:p>
                  </a:txBody>
                  <a:tcPr anchor="ctr"/>
                </a:tc>
                <a:extLst>
                  <a:ext uri="{0D108BD9-81ED-4DB2-BD59-A6C34878D82A}">
                    <a16:rowId xmlns:a16="http://schemas.microsoft.com/office/drawing/2014/main" val="575491213"/>
                  </a:ext>
                </a:extLst>
              </a:tr>
              <a:tr h="1024808">
                <a:tc>
                  <a:txBody>
                    <a:bodyPr/>
                    <a:lstStyle/>
                    <a:p>
                      <a:pPr algn="ctr" fontAlgn="ctr" latinLnBrk="0"/>
                      <a:r>
                        <a:rPr lang="en-US" altLang="zh-CN" sz="1050" dirty="0">
                          <a:solidFill>
                            <a:srgbClr val="000000"/>
                          </a:solidFill>
                          <a:effectLst/>
                          <a:latin typeface="+mn-ea"/>
                          <a:ea typeface="+mn-ea"/>
                        </a:rPr>
                        <a:t>L9-</a:t>
                      </a:r>
                      <a:r>
                        <a:rPr lang="en-US" sz="1050" dirty="0">
                          <a:solidFill>
                            <a:srgbClr val="000000"/>
                          </a:solidFill>
                          <a:effectLst/>
                          <a:latin typeface="+mn-ea"/>
                          <a:ea typeface="+mn-ea"/>
                        </a:rPr>
                        <a:t>DVT</a:t>
                      </a:r>
                      <a:r>
                        <a:rPr lang="zh-CN" altLang="en-US" sz="1050" dirty="0">
                          <a:solidFill>
                            <a:srgbClr val="000000"/>
                          </a:solidFill>
                          <a:effectLst/>
                          <a:latin typeface="+mn-ea"/>
                          <a:ea typeface="+mn-ea"/>
                        </a:rPr>
                        <a:t>阶段</a:t>
                      </a:r>
                    </a:p>
                  </a:txBody>
                  <a:tcPr anchor="ctr"/>
                </a:tc>
                <a:tc>
                  <a:txBody>
                    <a:bodyPr/>
                    <a:lstStyle/>
                    <a:p>
                      <a:pPr algn="ctr" fontAlgn="ctr" latinLnBrk="0"/>
                      <a:r>
                        <a:rPr lang="zh-CN" altLang="en-US" sz="1050" dirty="0" smtClean="0">
                          <a:solidFill>
                            <a:srgbClr val="000000"/>
                          </a:solidFill>
                          <a:effectLst/>
                          <a:latin typeface="+mn-ea"/>
                          <a:ea typeface="+mn-ea"/>
                        </a:rPr>
                        <a:t>产品经理</a:t>
                      </a:r>
                      <a:r>
                        <a:rPr lang="en-US" altLang="zh-CN" sz="1050" dirty="0" smtClean="0">
                          <a:solidFill>
                            <a:srgbClr val="000000"/>
                          </a:solidFill>
                          <a:effectLst/>
                          <a:latin typeface="+mn-ea"/>
                          <a:ea typeface="+mn-ea"/>
                        </a:rPr>
                        <a:t>B/</a:t>
                      </a:r>
                      <a:r>
                        <a:rPr lang="zh-CN" altLang="en-US" sz="1050" dirty="0" smtClean="0">
                          <a:solidFill>
                            <a:srgbClr val="000000"/>
                          </a:solidFill>
                          <a:effectLst/>
                          <a:latin typeface="+mn-ea"/>
                          <a:ea typeface="+mn-ea"/>
                        </a:rPr>
                        <a:t>产品工程师</a:t>
                      </a:r>
                      <a:endParaRPr lang="en-US" altLang="zh-CN" sz="1050" dirty="0">
                        <a:solidFill>
                          <a:srgbClr val="000000"/>
                        </a:solidFill>
                        <a:effectLst/>
                        <a:latin typeface="+mn-ea"/>
                        <a:ea typeface="+mn-ea"/>
                      </a:endParaRPr>
                    </a:p>
                  </a:txBody>
                  <a:tcPr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zh-CN" altLang="en-US" sz="1050" dirty="0">
                          <a:solidFill>
                            <a:srgbClr val="000000"/>
                          </a:solidFill>
                          <a:effectLst/>
                          <a:latin typeface="+mn-ea"/>
                          <a:ea typeface="+mn-ea"/>
                        </a:rPr>
                        <a:t>全局规划</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srgbClr val="000000"/>
                          </a:solidFill>
                          <a:effectLst/>
                          <a:uLnTx/>
                          <a:uFillTx/>
                          <a:latin typeface="微软雅黑"/>
                          <a:ea typeface="微软雅黑"/>
                          <a:cs typeface="+mn-cs"/>
                        </a:rPr>
                        <a:t>统筹管理</a:t>
                      </a:r>
                    </a:p>
                  </a:txBody>
                  <a:tcPr anchor="ctr"/>
                </a:tc>
                <a:tc>
                  <a:txBody>
                    <a:bodyPr/>
                    <a:lstStyle/>
                    <a:p>
                      <a:pPr algn="l" fontAlgn="ctr" latinLnBrk="0"/>
                      <a:r>
                        <a:rPr lang="zh-CN" altLang="en-US" sz="1050" b="1" dirty="0" smtClean="0">
                          <a:solidFill>
                            <a:srgbClr val="000000"/>
                          </a:solidFill>
                          <a:effectLst/>
                          <a:latin typeface="+mn-ea"/>
                          <a:ea typeface="+mn-ea"/>
                        </a:rPr>
                        <a:t>诉求：</a:t>
                      </a:r>
                      <a:r>
                        <a:rPr lang="en-US" altLang="zh-CN" sz="1050" dirty="0">
                          <a:solidFill>
                            <a:srgbClr val="000000"/>
                          </a:solidFill>
                          <a:effectLst/>
                          <a:latin typeface="+mn-ea"/>
                          <a:ea typeface="+mn-ea"/>
                        </a:rPr>
                        <a:t/>
                      </a:r>
                      <a:br>
                        <a:rPr lang="en-US" altLang="zh-CN" sz="1050" dirty="0">
                          <a:solidFill>
                            <a:srgbClr val="000000"/>
                          </a:solidFill>
                          <a:effectLst/>
                          <a:latin typeface="+mn-ea"/>
                          <a:ea typeface="+mn-ea"/>
                        </a:rPr>
                      </a:br>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）反馈</a:t>
                      </a:r>
                      <a:r>
                        <a:rPr lang="zh-CN" altLang="en-US" sz="1050" dirty="0">
                          <a:solidFill>
                            <a:srgbClr val="000000"/>
                          </a:solidFill>
                          <a:effectLst/>
                          <a:latin typeface="+mn-ea"/>
                          <a:ea typeface="+mn-ea"/>
                        </a:rPr>
                        <a:t>产品化作业标准时间周期</a:t>
                      </a:r>
                      <a:r>
                        <a:rPr lang="en-US" altLang="zh-CN" sz="1050" dirty="0">
                          <a:solidFill>
                            <a:srgbClr val="000000"/>
                          </a:solidFill>
                          <a:effectLst/>
                          <a:latin typeface="+mn-ea"/>
                          <a:ea typeface="+mn-ea"/>
                        </a:rPr>
                        <a:t>&amp;</a:t>
                      </a:r>
                      <a:r>
                        <a:rPr lang="zh-CN" altLang="en-US" sz="1050" dirty="0">
                          <a:solidFill>
                            <a:srgbClr val="000000"/>
                          </a:solidFill>
                          <a:effectLst/>
                          <a:latin typeface="+mn-ea"/>
                          <a:ea typeface="+mn-ea"/>
                        </a:rPr>
                        <a:t>相关前提条件：</a:t>
                      </a:r>
                      <a:br>
                        <a:rPr lang="zh-CN" altLang="en-US" sz="1050" dirty="0">
                          <a:solidFill>
                            <a:srgbClr val="000000"/>
                          </a:solidFill>
                          <a:effectLst/>
                          <a:latin typeface="+mn-ea"/>
                          <a:ea typeface="+mn-ea"/>
                        </a:rPr>
                      </a:br>
                      <a:r>
                        <a:rPr lang="zh-CN" altLang="en-US" sz="1050" dirty="0">
                          <a:solidFill>
                            <a:srgbClr val="000000"/>
                          </a:solidFill>
                          <a:effectLst/>
                          <a:latin typeface="+mn-ea"/>
                          <a:ea typeface="+mn-ea"/>
                        </a:rPr>
                        <a:t>后续作为项目组标准周期考量至项目周期内</a:t>
                      </a:r>
                      <a:br>
                        <a:rPr lang="zh-CN" altLang="en-US" sz="1050" dirty="0">
                          <a:solidFill>
                            <a:srgbClr val="000000"/>
                          </a:solidFill>
                          <a:effectLst/>
                          <a:latin typeface="+mn-ea"/>
                          <a:ea typeface="+mn-ea"/>
                        </a:rPr>
                      </a:b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）反馈</a:t>
                      </a:r>
                      <a:r>
                        <a:rPr lang="zh-CN" altLang="en-US" sz="1050" dirty="0">
                          <a:solidFill>
                            <a:srgbClr val="000000"/>
                          </a:solidFill>
                          <a:effectLst/>
                          <a:latin typeface="+mn-ea"/>
                          <a:ea typeface="+mn-ea"/>
                        </a:rPr>
                        <a:t>批量配置评估</a:t>
                      </a:r>
                      <a:r>
                        <a:rPr lang="en-US" altLang="zh-CN" sz="1050" dirty="0">
                          <a:solidFill>
                            <a:srgbClr val="000000"/>
                          </a:solidFill>
                          <a:effectLst/>
                          <a:latin typeface="+mn-ea"/>
                          <a:ea typeface="+mn-ea"/>
                        </a:rPr>
                        <a:t>/</a:t>
                      </a:r>
                      <a:r>
                        <a:rPr lang="zh-CN" altLang="en-US" sz="1050" dirty="0">
                          <a:solidFill>
                            <a:srgbClr val="000000"/>
                          </a:solidFill>
                          <a:effectLst/>
                          <a:latin typeface="+mn-ea"/>
                          <a:ea typeface="+mn-ea"/>
                        </a:rPr>
                        <a:t>定</a:t>
                      </a:r>
                      <a:r>
                        <a:rPr lang="zh-CN" altLang="en-US" sz="1050" dirty="0" smtClean="0">
                          <a:solidFill>
                            <a:srgbClr val="000000"/>
                          </a:solidFill>
                          <a:effectLst/>
                          <a:latin typeface="+mn-ea"/>
                          <a:ea typeface="+mn-ea"/>
                        </a:rPr>
                        <a:t>版标准时机</a:t>
                      </a:r>
                      <a:r>
                        <a:rPr lang="zh-CN" altLang="en-US" sz="1050" dirty="0">
                          <a:solidFill>
                            <a:srgbClr val="000000"/>
                          </a:solidFill>
                          <a:effectLst/>
                          <a:latin typeface="+mn-ea"/>
                          <a:ea typeface="+mn-ea"/>
                        </a:rPr>
                        <a:t>，比如</a:t>
                      </a:r>
                      <a:r>
                        <a:rPr lang="en-US" altLang="zh-CN" sz="1050" dirty="0">
                          <a:solidFill>
                            <a:srgbClr val="000000"/>
                          </a:solidFill>
                          <a:effectLst/>
                          <a:latin typeface="+mn-ea"/>
                          <a:ea typeface="+mn-ea"/>
                        </a:rPr>
                        <a:t>DVT+X</a:t>
                      </a:r>
                      <a:r>
                        <a:rPr lang="zh-CN" altLang="en-US" sz="1050" dirty="0">
                          <a:solidFill>
                            <a:srgbClr val="000000"/>
                          </a:solidFill>
                          <a:effectLst/>
                          <a:latin typeface="+mn-ea"/>
                          <a:ea typeface="+mn-ea"/>
                        </a:rPr>
                        <a:t>周：</a:t>
                      </a:r>
                      <a:br>
                        <a:rPr lang="zh-CN" altLang="en-US" sz="1050" dirty="0">
                          <a:solidFill>
                            <a:srgbClr val="000000"/>
                          </a:solidFill>
                          <a:effectLst/>
                          <a:latin typeface="+mn-ea"/>
                          <a:ea typeface="+mn-ea"/>
                        </a:rPr>
                      </a:br>
                      <a:r>
                        <a:rPr lang="zh-CN" altLang="en-US" sz="1050" dirty="0">
                          <a:solidFill>
                            <a:srgbClr val="000000"/>
                          </a:solidFill>
                          <a:effectLst/>
                          <a:latin typeface="+mn-ea"/>
                          <a:ea typeface="+mn-ea"/>
                        </a:rPr>
                        <a:t>以便提前评估量产物料需求，确认量产物料库存情况，后续定期监控库存情况（特殊原因除外</a:t>
                      </a:r>
                      <a:r>
                        <a:rPr lang="en-US" altLang="zh-CN" sz="1050" dirty="0">
                          <a:solidFill>
                            <a:srgbClr val="000000"/>
                          </a:solidFill>
                          <a:effectLst/>
                          <a:latin typeface="+mn-ea"/>
                          <a:ea typeface="+mn-ea"/>
                        </a:rPr>
                        <a:t>——</a:t>
                      </a:r>
                      <a:r>
                        <a:rPr lang="zh-CN" altLang="en-US" sz="1050" dirty="0">
                          <a:solidFill>
                            <a:srgbClr val="000000"/>
                          </a:solidFill>
                          <a:effectLst/>
                          <a:latin typeface="+mn-ea"/>
                          <a:ea typeface="+mn-ea"/>
                        </a:rPr>
                        <a:t>如物料临时被挪用）</a:t>
                      </a:r>
                    </a:p>
                  </a:txBody>
                  <a:tcPr anchor="ctr"/>
                </a:tc>
                <a:tc rowSpan="2">
                  <a:txBody>
                    <a:bodyPr/>
                    <a:lstStyle/>
                    <a:p>
                      <a:pPr marL="0" marR="0" indent="0" algn="l" defTabSz="1219170" rtl="0" eaLnBrk="1" fontAlgn="ctr" latinLnBrk="0" hangingPunct="1">
                        <a:lnSpc>
                          <a:spcPct val="100000"/>
                        </a:lnSpc>
                        <a:spcBef>
                          <a:spcPts val="0"/>
                        </a:spcBef>
                        <a:spcAft>
                          <a:spcPts val="0"/>
                        </a:spcAft>
                        <a:buClrTx/>
                        <a:buSzTx/>
                        <a:buFontTx/>
                        <a:buNone/>
                        <a:tabLst/>
                        <a:defRPr/>
                      </a:pPr>
                      <a:r>
                        <a:rPr lang="zh-CN" altLang="en-US" sz="1050" dirty="0" smtClean="0">
                          <a:solidFill>
                            <a:srgbClr val="000000"/>
                          </a:solidFill>
                          <a:effectLst/>
                          <a:latin typeface="+mn-ea"/>
                          <a:ea typeface="+mn-ea"/>
                        </a:rPr>
                        <a:t>产品相关工作、首批</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批量试制延期可能的内部原因：</a:t>
                      </a:r>
                      <a:br>
                        <a:rPr lang="zh-CN" altLang="en-US" sz="1050" dirty="0" smtClean="0">
                          <a:solidFill>
                            <a:srgbClr val="000000"/>
                          </a:solidFill>
                          <a:effectLst/>
                          <a:latin typeface="+mn-ea"/>
                          <a:ea typeface="+mn-ea"/>
                        </a:rPr>
                      </a:br>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）量产号开号周期长，影响</a:t>
                      </a:r>
                      <a:r>
                        <a:rPr lang="en-US" altLang="zh-CN" sz="1050" dirty="0" smtClean="0">
                          <a:solidFill>
                            <a:srgbClr val="000000"/>
                          </a:solidFill>
                          <a:effectLst/>
                          <a:latin typeface="+mn-ea"/>
                          <a:ea typeface="+mn-ea"/>
                        </a:rPr>
                        <a:t>BOM</a:t>
                      </a:r>
                      <a:r>
                        <a:rPr lang="zh-CN" altLang="en-US" sz="1050" dirty="0" smtClean="0">
                          <a:solidFill>
                            <a:srgbClr val="000000"/>
                          </a:solidFill>
                          <a:effectLst/>
                          <a:latin typeface="+mn-ea"/>
                          <a:ea typeface="+mn-ea"/>
                        </a:rPr>
                        <a:t>制作以及生产订单下发（各项目组监控）</a:t>
                      </a:r>
                      <a:br>
                        <a:rPr lang="zh-CN" altLang="en-US" sz="1050" dirty="0" smtClean="0">
                          <a:solidFill>
                            <a:srgbClr val="000000"/>
                          </a:solidFill>
                          <a:effectLst/>
                          <a:latin typeface="+mn-ea"/>
                          <a:ea typeface="+mn-ea"/>
                        </a:rPr>
                      </a:b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）备料周期不满足标准周期（项目紧急，压缩周期）</a:t>
                      </a:r>
                      <a:br>
                        <a:rPr lang="zh-CN" altLang="en-US" sz="1050" dirty="0" smtClean="0">
                          <a:solidFill>
                            <a:srgbClr val="000000"/>
                          </a:solidFill>
                          <a:effectLst/>
                          <a:latin typeface="+mn-ea"/>
                          <a:ea typeface="+mn-ea"/>
                        </a:rPr>
                      </a:br>
                      <a:r>
                        <a:rPr lang="en-US" altLang="zh-CN" sz="1050" dirty="0" smtClean="0">
                          <a:solidFill>
                            <a:srgbClr val="000000"/>
                          </a:solidFill>
                          <a:effectLst/>
                          <a:latin typeface="+mn-ea"/>
                          <a:ea typeface="+mn-ea"/>
                        </a:rPr>
                        <a:t>3</a:t>
                      </a:r>
                      <a:r>
                        <a:rPr lang="zh-CN" altLang="en-US" sz="1050" dirty="0" smtClean="0">
                          <a:solidFill>
                            <a:srgbClr val="000000"/>
                          </a:solidFill>
                          <a:effectLst/>
                          <a:latin typeface="+mn-ea"/>
                          <a:ea typeface="+mn-ea"/>
                        </a:rPr>
                        <a:t>）生产订单下达晚，量产通用部件</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量产其他部件影响交期</a:t>
                      </a:r>
                      <a:endParaRPr lang="en-US" altLang="zh-CN" sz="1050" dirty="0" smtClean="0">
                        <a:solidFill>
                          <a:srgbClr val="000000"/>
                        </a:solidFill>
                        <a:effectLst/>
                        <a:latin typeface="+mn-ea"/>
                        <a:ea typeface="+mn-ea"/>
                      </a:endParaRPr>
                    </a:p>
                    <a:p>
                      <a:pPr marL="0" marR="0" indent="0" algn="l" defTabSz="1219170" rtl="0" eaLnBrk="1" fontAlgn="ctr" latinLnBrk="0" hangingPunct="1">
                        <a:lnSpc>
                          <a:spcPct val="100000"/>
                        </a:lnSpc>
                        <a:spcBef>
                          <a:spcPts val="0"/>
                        </a:spcBef>
                        <a:spcAft>
                          <a:spcPts val="0"/>
                        </a:spcAft>
                        <a:buClrTx/>
                        <a:buSzTx/>
                        <a:buFontTx/>
                        <a:buNone/>
                        <a:tabLst/>
                        <a:defRPr/>
                      </a:pPr>
                      <a:endParaRPr lang="en-US" altLang="zh-CN" sz="1050" dirty="0" smtClean="0">
                        <a:solidFill>
                          <a:srgbClr val="000000"/>
                        </a:solidFill>
                        <a:effectLst/>
                        <a:latin typeface="+mn-ea"/>
                        <a:ea typeface="+mn-ea"/>
                      </a:endParaRPr>
                    </a:p>
                    <a:p>
                      <a:pPr marL="0" marR="0" indent="0" algn="l" defTabSz="1219170" rtl="0" eaLnBrk="1" fontAlgn="ctr" latinLnBrk="0" hangingPunct="1">
                        <a:lnSpc>
                          <a:spcPct val="100000"/>
                        </a:lnSpc>
                        <a:spcBef>
                          <a:spcPts val="0"/>
                        </a:spcBef>
                        <a:spcAft>
                          <a:spcPts val="0"/>
                        </a:spcAft>
                        <a:buClrTx/>
                        <a:buSzTx/>
                        <a:buFontTx/>
                        <a:buNone/>
                        <a:tabLst/>
                        <a:defRPr/>
                      </a:pPr>
                      <a:r>
                        <a:rPr lang="zh-CN" altLang="en-US" sz="1050" dirty="0" smtClean="0">
                          <a:solidFill>
                            <a:srgbClr val="000000"/>
                          </a:solidFill>
                          <a:effectLst/>
                          <a:latin typeface="+mn-ea"/>
                          <a:ea typeface="+mn-ea"/>
                        </a:rPr>
                        <a:t>产品相关工作、首批</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批量试制延期可能的外部原因：</a:t>
                      </a:r>
                    </a:p>
                    <a:p>
                      <a:pPr marL="0" marR="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）测试工装需求，打板厂反馈延期，导致测试工装准备时间紧张。</a:t>
                      </a:r>
                    </a:p>
                    <a:p>
                      <a:pPr marL="0" marR="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）制度变更：批量物料齐套触发需求方式变更、签样规定变更</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部分机型走的特采</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建议制度类变更，产品组内部请产品经理总结同步经验，避免后续产品持续受影响。</a:t>
                      </a:r>
                    </a:p>
                  </a:txBody>
                  <a:tcPr anchor="ctr"/>
                </a:tc>
                <a:extLst>
                  <a:ext uri="{0D108BD9-81ED-4DB2-BD59-A6C34878D82A}">
                    <a16:rowId xmlns:a16="http://schemas.microsoft.com/office/drawing/2014/main" val="419659127"/>
                  </a:ext>
                </a:extLst>
              </a:tr>
              <a:tr h="1247593">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000000"/>
                          </a:solidFill>
                          <a:effectLst/>
                          <a:uLnTx/>
                          <a:uFillTx/>
                          <a:latin typeface="微软雅黑"/>
                          <a:ea typeface="微软雅黑"/>
                          <a:cs typeface="+mn-cs"/>
                        </a:rPr>
                        <a:t>L9-DVT</a:t>
                      </a:r>
                      <a:r>
                        <a:rPr kumimoji="0" lang="zh-CN" altLang="en-US" sz="1050" b="0" i="0" u="none" strike="noStrike" kern="1200" cap="none" spc="0" normalizeH="0" baseline="0" noProof="0">
                          <a:ln>
                            <a:noFill/>
                          </a:ln>
                          <a:solidFill>
                            <a:srgbClr val="000000"/>
                          </a:solidFill>
                          <a:effectLst/>
                          <a:uLnTx/>
                          <a:uFillTx/>
                          <a:latin typeface="微软雅黑"/>
                          <a:ea typeface="微软雅黑"/>
                          <a:cs typeface="+mn-cs"/>
                        </a:rPr>
                        <a:t>阶段</a:t>
                      </a:r>
                      <a:endParaRPr kumimoji="0" lang="zh-CN" altLang="en-US" sz="1050" b="0" i="0" u="none" strike="noStrike" kern="1200" cap="none" spc="0" normalizeH="0" baseline="0" noProof="0" dirty="0">
                        <a:ln>
                          <a:noFill/>
                        </a:ln>
                        <a:solidFill>
                          <a:srgbClr val="000000"/>
                        </a:solidFill>
                        <a:effectLst/>
                        <a:uLnTx/>
                        <a:uFillTx/>
                        <a:latin typeface="微软雅黑"/>
                        <a:ea typeface="微软雅黑"/>
                        <a:cs typeface="+mn-cs"/>
                      </a:endParaRPr>
                    </a:p>
                  </a:txBody>
                  <a:tcPr anchor="ctr"/>
                </a:tc>
                <a:tc>
                  <a:txBody>
                    <a:bodyPr/>
                    <a:lstStyle/>
                    <a:p>
                      <a:pPr algn="ctr" fontAlgn="ctr" latinLnBrk="0"/>
                      <a:r>
                        <a:rPr lang="zh-CN" altLang="en-US" sz="1050" dirty="0">
                          <a:solidFill>
                            <a:srgbClr val="000000"/>
                          </a:solidFill>
                          <a:effectLst/>
                          <a:latin typeface="+mn-ea"/>
                          <a:ea typeface="+mn-ea"/>
                        </a:rPr>
                        <a:t>市场代表</a:t>
                      </a:r>
                      <a:endParaRPr lang="en-US" sz="1050" dirty="0">
                        <a:solidFill>
                          <a:srgbClr val="000000"/>
                        </a:solidFill>
                        <a:effectLst/>
                        <a:latin typeface="+mn-ea"/>
                        <a:ea typeface="+mn-ea"/>
                      </a:endParaRPr>
                    </a:p>
                  </a:txBody>
                  <a:tcPr anchor="ct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zh-CN" altLang="en-US" sz="1050" dirty="0">
                          <a:solidFill>
                            <a:srgbClr val="000000"/>
                          </a:solidFill>
                          <a:effectLst/>
                          <a:latin typeface="+mn-ea"/>
                          <a:ea typeface="+mn-ea"/>
                        </a:rPr>
                        <a:t>全局规划</a:t>
                      </a:r>
                    </a:p>
                    <a:p>
                      <a:pPr marL="0" marR="0" lvl="0" indent="0" algn="ctr" defTabSz="1219170" rtl="0" eaLnBrk="1" fontAlgn="ctr" latinLnBrk="0" hangingPunct="1">
                        <a:lnSpc>
                          <a:spcPct val="10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srgbClr val="000000"/>
                          </a:solidFill>
                          <a:effectLst/>
                          <a:uLnTx/>
                          <a:uFillTx/>
                          <a:latin typeface="微软雅黑"/>
                          <a:ea typeface="微软雅黑"/>
                          <a:cs typeface="+mn-cs"/>
                        </a:rPr>
                        <a:t>统筹管理</a:t>
                      </a:r>
                    </a:p>
                  </a:txBody>
                  <a:tcPr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zh-CN" altLang="en-US" sz="1050" b="1" dirty="0" smtClean="0">
                          <a:solidFill>
                            <a:srgbClr val="000000"/>
                          </a:solidFill>
                          <a:effectLst/>
                          <a:latin typeface="+mn-ea"/>
                          <a:ea typeface="+mn-ea"/>
                        </a:rPr>
                        <a:t>诉求：</a:t>
                      </a:r>
                      <a:endParaRPr lang="en-US" altLang="zh-CN" sz="1050" b="1" dirty="0">
                        <a:solidFill>
                          <a:srgbClr val="000000"/>
                        </a:solidFill>
                        <a:effectLst/>
                        <a:latin typeface="+mn-ea"/>
                        <a:ea typeface="+mn-ea"/>
                      </a:endParaRPr>
                    </a:p>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a:t>
                      </a:r>
                      <a:r>
                        <a:rPr lang="en-US" altLang="zh-CN" sz="1050" dirty="0" smtClean="0">
                          <a:solidFill>
                            <a:srgbClr val="000000"/>
                          </a:solidFill>
                          <a:effectLst/>
                          <a:latin typeface="+mn-ea"/>
                          <a:ea typeface="+mn-ea"/>
                        </a:rPr>
                        <a:t>DVT+4</a:t>
                      </a:r>
                      <a:r>
                        <a:rPr lang="zh-CN" altLang="en-US" sz="1050" dirty="0">
                          <a:solidFill>
                            <a:srgbClr val="000000"/>
                          </a:solidFill>
                          <a:effectLst/>
                          <a:latin typeface="+mn-ea"/>
                          <a:ea typeface="+mn-ea"/>
                        </a:rPr>
                        <a:t>周</a:t>
                      </a:r>
                      <a:r>
                        <a:rPr lang="en-US" altLang="zh-CN" sz="1050" dirty="0">
                          <a:solidFill>
                            <a:srgbClr val="000000"/>
                          </a:solidFill>
                          <a:effectLst/>
                          <a:latin typeface="+mn-ea"/>
                          <a:ea typeface="+mn-ea"/>
                        </a:rPr>
                        <a:t>——</a:t>
                      </a:r>
                      <a:r>
                        <a:rPr lang="zh-CN" altLang="en-US" sz="1050" dirty="0">
                          <a:solidFill>
                            <a:srgbClr val="000000"/>
                          </a:solidFill>
                          <a:effectLst/>
                          <a:latin typeface="+mn-ea"/>
                          <a:ea typeface="+mn-ea"/>
                        </a:rPr>
                        <a:t>此时机可根据备料周期沟通：邮件明确首批采购清单（同时也是正品开号需求清单）、数量，邮件反馈请采购备料</a:t>
                      </a:r>
                      <a:br>
                        <a:rPr lang="zh-CN" altLang="en-US" sz="1050" dirty="0">
                          <a:solidFill>
                            <a:srgbClr val="000000"/>
                          </a:solidFill>
                          <a:effectLst/>
                          <a:latin typeface="+mn-ea"/>
                          <a:ea typeface="+mn-ea"/>
                        </a:rPr>
                      </a:b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）条件</a:t>
                      </a:r>
                      <a:r>
                        <a:rPr lang="zh-CN" altLang="en-US" sz="1050" dirty="0">
                          <a:solidFill>
                            <a:srgbClr val="000000"/>
                          </a:solidFill>
                          <a:effectLst/>
                          <a:latin typeface="+mn-ea"/>
                          <a:ea typeface="+mn-ea"/>
                        </a:rPr>
                        <a:t>允许的情况下，提前确定开模策略，</a:t>
                      </a:r>
                      <a:r>
                        <a:rPr lang="en-US" altLang="zh-CN" sz="1050" dirty="0">
                          <a:solidFill>
                            <a:srgbClr val="000000"/>
                          </a:solidFill>
                          <a:effectLst/>
                          <a:latin typeface="+mn-ea"/>
                          <a:ea typeface="+mn-ea"/>
                        </a:rPr>
                        <a:t>DVT</a:t>
                      </a:r>
                      <a:r>
                        <a:rPr lang="zh-CN" altLang="en-US" sz="1050" dirty="0">
                          <a:solidFill>
                            <a:srgbClr val="000000"/>
                          </a:solidFill>
                          <a:effectLst/>
                          <a:latin typeface="+mn-ea"/>
                          <a:ea typeface="+mn-ea"/>
                        </a:rPr>
                        <a:t>中期讨论开模清单时有所倾向，以便重点推动开模部分报价周期等</a:t>
                      </a:r>
                    </a:p>
                  </a:txBody>
                  <a:tcPr anchor="ctr"/>
                </a:tc>
                <a:tc vMerge="1">
                  <a:txBody>
                    <a:bodyPr/>
                    <a:lstStyle/>
                    <a:p>
                      <a:pPr algn="l" fontAlgn="ctr" latinLnBrk="0"/>
                      <a:endParaRPr lang="en-US" altLang="zh-CN" sz="1200" dirty="0">
                        <a:solidFill>
                          <a:srgbClr val="000000"/>
                        </a:solidFill>
                        <a:effectLst/>
                        <a:latin typeface="+mn-ea"/>
                        <a:ea typeface="+mn-ea"/>
                      </a:endParaRPr>
                    </a:p>
                  </a:txBody>
                  <a:tcPr anchor="ctr"/>
                </a:tc>
                <a:extLst>
                  <a:ext uri="{0D108BD9-81ED-4DB2-BD59-A6C34878D82A}">
                    <a16:rowId xmlns:a16="http://schemas.microsoft.com/office/drawing/2014/main" val="2999706033"/>
                  </a:ext>
                </a:extLst>
              </a:tr>
              <a:tr h="1024808">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000000"/>
                          </a:solidFill>
                          <a:effectLst/>
                          <a:uLnTx/>
                          <a:uFillTx/>
                          <a:latin typeface="微软雅黑"/>
                          <a:ea typeface="微软雅黑"/>
                          <a:cs typeface="+mn-cs"/>
                        </a:rPr>
                        <a:t>L9-DVT</a:t>
                      </a:r>
                      <a:r>
                        <a:rPr kumimoji="0" lang="zh-CN" altLang="en-US" sz="1050" b="0" i="0" u="none" strike="noStrike" kern="1200" cap="none" spc="0" normalizeH="0" baseline="0" noProof="0" dirty="0">
                          <a:ln>
                            <a:noFill/>
                          </a:ln>
                          <a:solidFill>
                            <a:srgbClr val="000000"/>
                          </a:solidFill>
                          <a:effectLst/>
                          <a:uLnTx/>
                          <a:uFillTx/>
                          <a:latin typeface="微软雅黑"/>
                          <a:ea typeface="微软雅黑"/>
                          <a:cs typeface="+mn-cs"/>
                        </a:rPr>
                        <a:t>阶段</a:t>
                      </a:r>
                    </a:p>
                  </a:txBody>
                  <a:tcPr anchor="ctr"/>
                </a:tc>
                <a:tc>
                  <a:txBody>
                    <a:bodyPr/>
                    <a:lstStyle/>
                    <a:p>
                      <a:pPr algn="ctr" fontAlgn="ctr" latinLnBrk="0"/>
                      <a:r>
                        <a:rPr lang="zh-CN" altLang="en-US" sz="1050" b="0" dirty="0">
                          <a:solidFill>
                            <a:schemeClr val="tx1"/>
                          </a:solidFill>
                          <a:effectLst/>
                          <a:latin typeface="+mn-ea"/>
                          <a:ea typeface="+mn-ea"/>
                        </a:rPr>
                        <a:t>市场代表</a:t>
                      </a:r>
                      <a:endParaRPr lang="en-US" altLang="zh-CN" sz="1050" b="0" dirty="0">
                        <a:solidFill>
                          <a:schemeClr val="tx1"/>
                        </a:solidFill>
                        <a:effectLst/>
                        <a:latin typeface="+mn-ea"/>
                        <a:ea typeface="+mn-ea"/>
                      </a:endParaRPr>
                    </a:p>
                    <a:p>
                      <a:pPr marL="0" marR="0" indent="0" algn="ctr" defTabSz="1219170" rtl="0" eaLnBrk="1" fontAlgn="ctr" latinLnBrk="0" hangingPunct="1">
                        <a:lnSpc>
                          <a:spcPct val="100000"/>
                        </a:lnSpc>
                        <a:spcBef>
                          <a:spcPts val="0"/>
                        </a:spcBef>
                        <a:spcAft>
                          <a:spcPts val="0"/>
                        </a:spcAft>
                        <a:buClrTx/>
                        <a:buSzTx/>
                        <a:buFontTx/>
                        <a:buNone/>
                        <a:tabLst/>
                        <a:defRPr/>
                      </a:pPr>
                      <a:r>
                        <a:rPr lang="zh-CN" altLang="en-US" sz="1050" b="0" dirty="0">
                          <a:solidFill>
                            <a:schemeClr val="tx1"/>
                          </a:solidFill>
                          <a:effectLst/>
                          <a:latin typeface="+mn-ea"/>
                          <a:ea typeface="+mn-ea"/>
                        </a:rPr>
                        <a:t>产品经理</a:t>
                      </a:r>
                      <a:r>
                        <a:rPr lang="en-US" altLang="zh-CN" sz="1050" b="0" dirty="0" smtClean="0">
                          <a:solidFill>
                            <a:schemeClr val="tx1"/>
                          </a:solidFill>
                          <a:effectLst/>
                          <a:latin typeface="+mn-ea"/>
                          <a:ea typeface="+mn-ea"/>
                        </a:rPr>
                        <a:t>B/</a:t>
                      </a:r>
                      <a:r>
                        <a:rPr lang="zh-CN" altLang="en-US" sz="1050" b="0" dirty="0" smtClean="0">
                          <a:solidFill>
                            <a:schemeClr val="tx1"/>
                          </a:solidFill>
                        </a:rPr>
                        <a:t>产品工程师</a:t>
                      </a:r>
                      <a:endParaRPr lang="en-US" altLang="zh-CN" sz="1050" b="0" dirty="0" smtClean="0">
                        <a:solidFill>
                          <a:schemeClr val="tx1"/>
                        </a:solidFill>
                      </a:endParaRPr>
                    </a:p>
                    <a:p>
                      <a:pPr algn="ctr" fontAlgn="ctr" latinLnBrk="0"/>
                      <a:endParaRPr lang="en-US" altLang="zh-CN" sz="1050" b="0" dirty="0">
                        <a:solidFill>
                          <a:schemeClr val="tx1"/>
                        </a:solidFill>
                        <a:effectLst/>
                        <a:latin typeface="+mn-ea"/>
                        <a:ea typeface="+mn-ea"/>
                      </a:endParaRPr>
                    </a:p>
                  </a:txBody>
                  <a:tcPr anchor="ctr"/>
                </a:tc>
                <a:tc>
                  <a:txBody>
                    <a:bodyPr/>
                    <a:lstStyle/>
                    <a:p>
                      <a:pPr algn="ctr" fontAlgn="ctr" latinLnBrk="0"/>
                      <a:endParaRPr lang="en-US" altLang="zh-CN" sz="1050" b="0" dirty="0">
                        <a:solidFill>
                          <a:schemeClr val="tx1"/>
                        </a:solidFill>
                        <a:effectLst/>
                        <a:latin typeface="+mn-ea"/>
                        <a:ea typeface="+mn-ea"/>
                      </a:endParaRPr>
                    </a:p>
                  </a:txBody>
                  <a:tcPr anchor="ctr"/>
                </a:tc>
                <a:tc>
                  <a:txBody>
                    <a:bodyPr/>
                    <a:lstStyle/>
                    <a:p>
                      <a:pPr algn="l" fontAlgn="ctr" latinLnBrk="0"/>
                      <a:r>
                        <a:rPr lang="zh-CN" altLang="en-US" sz="1050" b="1" dirty="0" smtClean="0">
                          <a:solidFill>
                            <a:srgbClr val="000000"/>
                          </a:solidFill>
                          <a:effectLst/>
                          <a:latin typeface="+mn-ea"/>
                          <a:ea typeface="+mn-ea"/>
                        </a:rPr>
                        <a:t>诉求</a:t>
                      </a:r>
                      <a:r>
                        <a:rPr lang="en-US" altLang="zh-CN" sz="1050" b="1" dirty="0" smtClean="0">
                          <a:solidFill>
                            <a:srgbClr val="000000"/>
                          </a:solidFill>
                          <a:effectLst/>
                          <a:latin typeface="+mn-ea"/>
                          <a:ea typeface="+mn-ea"/>
                        </a:rPr>
                        <a:t>:</a:t>
                      </a:r>
                    </a:p>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）客户定制项目，由市场代表</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与客户对接测试要求人员，明确客户测试项、测试环境（</a:t>
                      </a:r>
                      <a:r>
                        <a:rPr lang="en-US" altLang="zh-CN" sz="1050" dirty="0" smtClean="0">
                          <a:solidFill>
                            <a:srgbClr val="000000"/>
                          </a:solidFill>
                          <a:effectLst/>
                          <a:latin typeface="+mn-ea"/>
                          <a:ea typeface="+mn-ea"/>
                        </a:rPr>
                        <a:t>OS</a:t>
                      </a:r>
                      <a:r>
                        <a:rPr lang="zh-CN" altLang="en-US" sz="1050" dirty="0" smtClean="0">
                          <a:solidFill>
                            <a:srgbClr val="000000"/>
                          </a:solidFill>
                          <a:effectLst/>
                          <a:latin typeface="+mn-ea"/>
                          <a:ea typeface="+mn-ea"/>
                        </a:rPr>
                        <a:t>、测试数量等），以便评估项目组测试策略</a:t>
                      </a:r>
                      <a:endParaRPr lang="en-US" altLang="zh-CN" sz="1050" dirty="0" smtClean="0">
                        <a:solidFill>
                          <a:srgbClr val="000000"/>
                        </a:solidFill>
                        <a:effectLst/>
                        <a:latin typeface="+mn-ea"/>
                        <a:ea typeface="+mn-ea"/>
                      </a:endParaRPr>
                    </a:p>
                    <a:p>
                      <a:pPr algn="l" fontAlgn="ctr" latinLnBrk="0"/>
                      <a:endParaRPr lang="en-US" altLang="zh-CN" sz="1050" dirty="0">
                        <a:solidFill>
                          <a:srgbClr val="000000"/>
                        </a:solidFill>
                        <a:effectLst/>
                        <a:latin typeface="+mn-ea"/>
                        <a:ea typeface="+mn-ea"/>
                      </a:endParaRPr>
                    </a:p>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）送样过程管理</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专人监控</a:t>
                      </a:r>
                      <a:endParaRPr lang="en-US" altLang="zh-CN" sz="1050" dirty="0" smtClean="0">
                        <a:solidFill>
                          <a:srgbClr val="000000"/>
                        </a:solidFill>
                        <a:effectLst/>
                        <a:latin typeface="+mn-ea"/>
                        <a:ea typeface="+mn-ea"/>
                      </a:endParaRPr>
                    </a:p>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rgbClr val="000000"/>
                          </a:solidFill>
                          <a:effectLst/>
                          <a:latin typeface="+mn-ea"/>
                          <a:ea typeface="+mn-ea"/>
                        </a:rPr>
                        <a:t>     </a:t>
                      </a:r>
                      <a:r>
                        <a:rPr lang="zh-CN" altLang="en-US" sz="1050" dirty="0" smtClean="0">
                          <a:solidFill>
                            <a:srgbClr val="000000"/>
                          </a:solidFill>
                          <a:effectLst/>
                          <a:latin typeface="+mn-ea"/>
                          <a:ea typeface="+mn-ea"/>
                        </a:rPr>
                        <a:t>其中送样问题</a:t>
                      </a:r>
                      <a:r>
                        <a:rPr lang="en-US" altLang="zh-CN" sz="1050" dirty="0" smtClean="0">
                          <a:solidFill>
                            <a:srgbClr val="000000"/>
                          </a:solidFill>
                          <a:effectLst/>
                          <a:latin typeface="+mn-ea"/>
                          <a:ea typeface="+mn-ea"/>
                        </a:rPr>
                        <a:t>——</a:t>
                      </a:r>
                      <a:r>
                        <a:rPr lang="zh-CN" altLang="en-US" sz="1050" dirty="0" smtClean="0">
                          <a:solidFill>
                            <a:srgbClr val="000000"/>
                          </a:solidFill>
                          <a:effectLst/>
                          <a:latin typeface="+mn-ea"/>
                          <a:ea typeface="+mn-ea"/>
                        </a:rPr>
                        <a:t>筛选过滤后提交至项目组</a:t>
                      </a:r>
                      <a:endParaRPr lang="zh-CN" altLang="en-US" sz="1050" dirty="0">
                        <a:solidFill>
                          <a:srgbClr val="000000"/>
                        </a:solidFill>
                        <a:effectLst/>
                        <a:latin typeface="+mn-ea"/>
                        <a:ea typeface="+mn-ea"/>
                      </a:endParaRPr>
                    </a:p>
                  </a:txBody>
                  <a:tcPr anchor="ctr"/>
                </a:tc>
                <a:tc>
                  <a:txBody>
                    <a:bodyPr/>
                    <a:lstStyle/>
                    <a:p>
                      <a:pPr algn="l" fontAlgn="ctr" latinLnBrk="0"/>
                      <a:r>
                        <a:rPr lang="en-US" altLang="zh-CN" sz="1050" dirty="0" smtClean="0">
                          <a:solidFill>
                            <a:srgbClr val="000000"/>
                          </a:solidFill>
                          <a:effectLst/>
                          <a:latin typeface="+mn-ea"/>
                          <a:ea typeface="+mn-ea"/>
                        </a:rPr>
                        <a:t>1</a:t>
                      </a:r>
                      <a:r>
                        <a:rPr lang="zh-CN" altLang="en-US" sz="1050" dirty="0" smtClean="0">
                          <a:solidFill>
                            <a:srgbClr val="000000"/>
                          </a:solidFill>
                          <a:effectLst/>
                          <a:latin typeface="+mn-ea"/>
                          <a:ea typeface="+mn-ea"/>
                        </a:rPr>
                        <a:t>、安恒定制项目未将客户测试环境、客户测试用例同步给项目组，客户送测发生问题，反馈项目组解决，影响项目进度。</a:t>
                      </a:r>
                      <a:endParaRPr lang="en-US" altLang="zh-CN" sz="1050" dirty="0" smtClean="0">
                        <a:solidFill>
                          <a:srgbClr val="000000"/>
                        </a:solidFill>
                        <a:effectLst/>
                        <a:latin typeface="+mn-ea"/>
                        <a:ea typeface="+mn-ea"/>
                      </a:endParaRPr>
                    </a:p>
                    <a:p>
                      <a:pPr algn="l" fontAlgn="ctr" latinLnBrk="0"/>
                      <a:r>
                        <a:rPr lang="en-US" altLang="zh-CN" sz="1050" dirty="0" smtClean="0">
                          <a:solidFill>
                            <a:srgbClr val="000000"/>
                          </a:solidFill>
                          <a:effectLst/>
                          <a:latin typeface="+mn-ea"/>
                          <a:ea typeface="+mn-ea"/>
                        </a:rPr>
                        <a:t>2</a:t>
                      </a:r>
                      <a:r>
                        <a:rPr lang="zh-CN" altLang="en-US" sz="1050" dirty="0" smtClean="0">
                          <a:solidFill>
                            <a:srgbClr val="000000"/>
                          </a:solidFill>
                          <a:effectLst/>
                          <a:latin typeface="+mn-ea"/>
                          <a:ea typeface="+mn-ea"/>
                        </a:rPr>
                        <a:t>、深信服送样问题直接请项目组对接（送样组装、送样配置、送样的环境非项目组执行，不了解执行客户的样机状况）</a:t>
                      </a:r>
                      <a:endParaRPr lang="zh-CN" altLang="en-US" sz="1050" dirty="0">
                        <a:solidFill>
                          <a:srgbClr val="000000"/>
                        </a:solidFill>
                        <a:effectLst/>
                        <a:latin typeface="+mn-ea"/>
                        <a:ea typeface="+mn-ea"/>
                      </a:endParaRPr>
                    </a:p>
                  </a:txBody>
                  <a:tcPr anchor="ctr"/>
                </a:tc>
                <a:extLst>
                  <a:ext uri="{0D108BD9-81ED-4DB2-BD59-A6C34878D82A}">
                    <a16:rowId xmlns:a16="http://schemas.microsoft.com/office/drawing/2014/main" val="1148435675"/>
                  </a:ext>
                </a:extLst>
              </a:tr>
              <a:tr h="725548">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smtClean="0">
                          <a:ln>
                            <a:noFill/>
                          </a:ln>
                          <a:solidFill>
                            <a:schemeClr val="tx1"/>
                          </a:solidFill>
                          <a:effectLst/>
                          <a:uLnTx/>
                          <a:uFillTx/>
                          <a:latin typeface="微软雅黑"/>
                          <a:ea typeface="+mn-ea"/>
                          <a:cs typeface="+mn-cs"/>
                        </a:rPr>
                        <a:t>L9-DVT</a:t>
                      </a:r>
                      <a:r>
                        <a:rPr kumimoji="0" lang="zh-CN" altLang="en-US" sz="1050" b="0" i="0" u="none" strike="noStrike" kern="1200" cap="none" spc="0" normalizeH="0" baseline="0" noProof="0" dirty="0" smtClean="0">
                          <a:ln>
                            <a:noFill/>
                          </a:ln>
                          <a:solidFill>
                            <a:schemeClr val="tx1"/>
                          </a:solidFill>
                          <a:effectLst/>
                          <a:uLnTx/>
                          <a:uFillTx/>
                          <a:latin typeface="微软雅黑"/>
                          <a:ea typeface="+mn-ea"/>
                          <a:cs typeface="+mn-cs"/>
                        </a:rPr>
                        <a:t>阶段</a:t>
                      </a:r>
                    </a:p>
                  </a:txBody>
                  <a:tcPr anchor="ctr"/>
                </a:tc>
                <a:tc>
                  <a:txBody>
                    <a:bodyPr/>
                    <a:lstStyle/>
                    <a:p>
                      <a:pPr algn="ctr" fontAlgn="ctr" latinLnBrk="0"/>
                      <a:r>
                        <a:rPr lang="zh-CN" altLang="en-US" sz="1050" dirty="0" smtClean="0">
                          <a:solidFill>
                            <a:schemeClr val="tx1"/>
                          </a:solidFill>
                          <a:effectLst/>
                          <a:latin typeface="+mn-ea"/>
                          <a:ea typeface="+mn-ea"/>
                        </a:rPr>
                        <a:t>硬件工程师</a:t>
                      </a:r>
                      <a:endParaRPr lang="en-US" altLang="zh-CN" sz="1050" dirty="0">
                        <a:solidFill>
                          <a:schemeClr val="tx1"/>
                        </a:solidFill>
                        <a:effectLst/>
                        <a:latin typeface="+mn-ea"/>
                        <a:ea typeface="+mn-ea"/>
                      </a:endParaRPr>
                    </a:p>
                  </a:txBody>
                  <a:tcPr anchor="ctr"/>
                </a:tc>
                <a:tc>
                  <a:txBody>
                    <a:bodyPr/>
                    <a:lstStyle/>
                    <a:p>
                      <a:pPr marL="0" marR="0" indent="0" algn="ctr" defTabSz="1219170" rtl="0" eaLnBrk="1" fontAlgn="ctr" latinLnBrk="0" hangingPunct="1">
                        <a:lnSpc>
                          <a:spcPct val="100000"/>
                        </a:lnSpc>
                        <a:spcBef>
                          <a:spcPts val="0"/>
                        </a:spcBef>
                        <a:spcAft>
                          <a:spcPts val="0"/>
                        </a:spcAft>
                        <a:buClrTx/>
                        <a:buSzTx/>
                        <a:buFontTx/>
                        <a:buNone/>
                        <a:tabLst/>
                        <a:defRPr/>
                      </a:pPr>
                      <a:r>
                        <a:rPr lang="zh-CN" altLang="en-US" sz="1050" dirty="0" smtClean="0">
                          <a:solidFill>
                            <a:schemeClr val="tx1"/>
                          </a:solidFill>
                          <a:effectLst/>
                          <a:latin typeface="+mn-ea"/>
                          <a:ea typeface="+mn-ea"/>
                        </a:rPr>
                        <a:t>统筹管理</a:t>
                      </a:r>
                    </a:p>
                  </a:txBody>
                  <a:tcPr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zh-CN" altLang="en-US" sz="1050" dirty="0" smtClean="0">
                          <a:solidFill>
                            <a:schemeClr val="tx1"/>
                          </a:solidFill>
                          <a:effectLst/>
                          <a:latin typeface="+mn-ea"/>
                          <a:ea typeface="+mn-ea"/>
                        </a:rPr>
                        <a:t>诉求：</a:t>
                      </a:r>
                      <a:endParaRPr lang="en-US" altLang="zh-CN" sz="1050" dirty="0" smtClean="0">
                        <a:solidFill>
                          <a:schemeClr val="tx1"/>
                        </a:solidFill>
                        <a:effectLst/>
                        <a:latin typeface="+mn-ea"/>
                        <a:ea typeface="+mn-ea"/>
                      </a:endParaRPr>
                    </a:p>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050" dirty="0" smtClean="0">
                          <a:solidFill>
                            <a:schemeClr val="tx1"/>
                          </a:solidFill>
                          <a:effectLst/>
                          <a:latin typeface="+mn-ea"/>
                          <a:ea typeface="+mn-ea"/>
                        </a:rPr>
                        <a:t>1</a:t>
                      </a:r>
                      <a:r>
                        <a:rPr lang="zh-CN" altLang="en-US" sz="1050" dirty="0" smtClean="0">
                          <a:solidFill>
                            <a:schemeClr val="tx1"/>
                          </a:solidFill>
                          <a:effectLst/>
                          <a:latin typeface="+mn-ea"/>
                          <a:ea typeface="+mn-ea"/>
                        </a:rPr>
                        <a:t>）量产板卡生产完成寄送至</a:t>
                      </a:r>
                      <a:r>
                        <a:rPr lang="en-US" altLang="zh-CN" sz="1050" dirty="0" smtClean="0">
                          <a:solidFill>
                            <a:schemeClr val="tx1"/>
                          </a:solidFill>
                          <a:effectLst/>
                          <a:latin typeface="+mn-ea"/>
                          <a:ea typeface="+mn-ea"/>
                        </a:rPr>
                        <a:t>SG</a:t>
                      </a:r>
                      <a:r>
                        <a:rPr lang="zh-CN" altLang="en-US" sz="1050" dirty="0" smtClean="0">
                          <a:solidFill>
                            <a:schemeClr val="tx1"/>
                          </a:solidFill>
                          <a:effectLst/>
                          <a:latin typeface="+mn-ea"/>
                          <a:ea typeface="+mn-ea"/>
                        </a:rPr>
                        <a:t>正品库房后，品管会进行检查入库，此时要求实物必须与板卡部件规格书相符，若不相符将会被滞留入库甚至退库。请硬件工程师确认规格书与板卡一致性</a:t>
                      </a:r>
                      <a:endParaRPr lang="zh-CN" altLang="en-US" sz="1050" dirty="0">
                        <a:solidFill>
                          <a:schemeClr val="tx1"/>
                        </a:solidFill>
                        <a:effectLst/>
                        <a:latin typeface="+mn-ea"/>
                        <a:ea typeface="+mn-ea"/>
                      </a:endParaRPr>
                    </a:p>
                  </a:txBody>
                  <a:tcPr anchor="ctr"/>
                </a:tc>
                <a:tc>
                  <a:txBody>
                    <a:bodyPr/>
                    <a:lstStyle/>
                    <a:p>
                      <a:pPr algn="l" fontAlgn="ctr" latinLnBrk="0"/>
                      <a:r>
                        <a:rPr lang="zh-CN" altLang="en-US" sz="1050" dirty="0" smtClean="0">
                          <a:solidFill>
                            <a:schemeClr val="tx1"/>
                          </a:solidFill>
                          <a:effectLst/>
                          <a:latin typeface="+mn-ea"/>
                          <a:ea typeface="+mn-ea"/>
                        </a:rPr>
                        <a:t>南海板卡陆续遇到规格书与实物不符情况，硬件工程师紧急更新规格书进行签发，影响</a:t>
                      </a:r>
                      <a:r>
                        <a:rPr lang="en-US" altLang="zh-CN" sz="1050" dirty="0" smtClean="0">
                          <a:solidFill>
                            <a:schemeClr val="tx1"/>
                          </a:solidFill>
                          <a:effectLst/>
                          <a:latin typeface="+mn-ea"/>
                          <a:ea typeface="+mn-ea"/>
                        </a:rPr>
                        <a:t>2~3</a:t>
                      </a:r>
                      <a:r>
                        <a:rPr lang="zh-CN" altLang="en-US" sz="1050" dirty="0" smtClean="0">
                          <a:solidFill>
                            <a:schemeClr val="tx1"/>
                          </a:solidFill>
                          <a:effectLst/>
                          <a:latin typeface="+mn-ea"/>
                          <a:ea typeface="+mn-ea"/>
                        </a:rPr>
                        <a:t>天</a:t>
                      </a:r>
                      <a:endParaRPr lang="zh-CN" altLang="en-US" sz="1050" dirty="0">
                        <a:solidFill>
                          <a:schemeClr val="tx1"/>
                        </a:solidFill>
                        <a:effectLst/>
                        <a:latin typeface="+mn-ea"/>
                        <a:ea typeface="+mn-ea"/>
                      </a:endParaRPr>
                    </a:p>
                  </a:txBody>
                  <a:tcPr anchor="ctr"/>
                </a:tc>
                <a:extLst>
                  <a:ext uri="{0D108BD9-81ED-4DB2-BD59-A6C34878D82A}">
                    <a16:rowId xmlns:a16="http://schemas.microsoft.com/office/drawing/2014/main" val="3437191138"/>
                  </a:ext>
                </a:extLst>
              </a:tr>
            </a:tbl>
          </a:graphicData>
        </a:graphic>
      </p:graphicFrame>
    </p:spTree>
    <p:extLst>
      <p:ext uri="{BB962C8B-B14F-4D97-AF65-F5344CB8AC3E}">
        <p14:creationId xmlns:p14="http://schemas.microsoft.com/office/powerpoint/2010/main" val="2665178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67532A4-E622-D69F-D9D8-8AEE58FF5599}"/>
              </a:ext>
            </a:extLst>
          </p:cNvPr>
          <p:cNvSpPr/>
          <p:nvPr/>
        </p:nvSpPr>
        <p:spPr>
          <a:xfrm>
            <a:off x="442913" y="1091417"/>
            <a:ext cx="11365755" cy="5489949"/>
          </a:xfrm>
          <a:prstGeom prst="rect">
            <a:avLst/>
          </a:prstGeom>
          <a:solidFill>
            <a:schemeClr val="bg1">
              <a:lumMod val="9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400" dirty="0">
              <a:latin typeface="+mn-ea"/>
            </a:endParaRPr>
          </a:p>
        </p:txBody>
      </p:sp>
      <p:sp>
        <p:nvSpPr>
          <p:cNvPr id="28" name="矩形 27">
            <a:extLst>
              <a:ext uri="{FF2B5EF4-FFF2-40B4-BE49-F238E27FC236}">
                <a16:creationId xmlns:a16="http://schemas.microsoft.com/office/drawing/2014/main" id="{AF37F002-72C6-8805-B72E-AA1089C8242C}"/>
              </a:ext>
            </a:extLst>
          </p:cNvPr>
          <p:cNvSpPr/>
          <p:nvPr/>
        </p:nvSpPr>
        <p:spPr>
          <a:xfrm>
            <a:off x="2194635" y="2346681"/>
            <a:ext cx="9575887" cy="324910"/>
          </a:xfrm>
          <a:prstGeom prst="rect">
            <a:avLst/>
          </a:prstGeom>
          <a:solidFill>
            <a:schemeClr val="accent5">
              <a:lumMod val="40000"/>
              <a:lumOff val="60000"/>
            </a:schemeClr>
          </a:solidFill>
          <a:ln>
            <a:solidFill>
              <a:schemeClr val="accent5">
                <a:lumMod val="40000"/>
                <a:lumOff val="6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dirty="0"/>
              <a:t>                                                                                                          </a:t>
            </a:r>
            <a:r>
              <a:rPr lang="zh-CN" altLang="en-US" sz="1050" dirty="0"/>
              <a:t>编写产品化文档     </a:t>
            </a:r>
          </a:p>
        </p:txBody>
      </p:sp>
      <p:sp>
        <p:nvSpPr>
          <p:cNvPr id="2" name="文本占位符 1">
            <a:extLst>
              <a:ext uri="{FF2B5EF4-FFF2-40B4-BE49-F238E27FC236}">
                <a16:creationId xmlns:a16="http://schemas.microsoft.com/office/drawing/2014/main" id="{48B42C76-EFF3-E493-771B-0E97BC74DE11}"/>
              </a:ext>
            </a:extLst>
          </p:cNvPr>
          <p:cNvSpPr>
            <a:spLocks noGrp="1"/>
          </p:cNvSpPr>
          <p:nvPr>
            <p:ph type="body" sz="quarter" idx="13"/>
          </p:nvPr>
        </p:nvSpPr>
        <p:spPr>
          <a:xfrm>
            <a:off x="239349" y="164637"/>
            <a:ext cx="10317815" cy="672075"/>
          </a:xfrm>
        </p:spPr>
        <p:txBody>
          <a:bodyPr/>
          <a:lstStyle/>
          <a:p>
            <a:r>
              <a:rPr lang="en-US" altLang="zh-CN" dirty="0" smtClean="0"/>
              <a:t>M4</a:t>
            </a:r>
            <a:r>
              <a:rPr lang="zh-CN" altLang="en-US" dirty="0"/>
              <a:t>试制</a:t>
            </a:r>
            <a:r>
              <a:rPr lang="zh-CN" altLang="en-US" dirty="0" smtClean="0"/>
              <a:t>阶段</a:t>
            </a:r>
            <a:r>
              <a:rPr lang="en-US" altLang="zh-CN" dirty="0" smtClean="0"/>
              <a:t>——</a:t>
            </a:r>
            <a:r>
              <a:rPr lang="zh-CN" altLang="en-US" dirty="0" smtClean="0"/>
              <a:t>工作要点概览</a:t>
            </a:r>
            <a:endParaRPr lang="zh-CN" altLang="en-US" dirty="0"/>
          </a:p>
        </p:txBody>
      </p:sp>
      <p:sp>
        <p:nvSpPr>
          <p:cNvPr id="7" name="矩形 6">
            <a:extLst>
              <a:ext uri="{FF2B5EF4-FFF2-40B4-BE49-F238E27FC236}">
                <a16:creationId xmlns:a16="http://schemas.microsoft.com/office/drawing/2014/main" id="{F694F70F-DA11-8E4B-2046-0852636327F2}"/>
              </a:ext>
            </a:extLst>
          </p:cNvPr>
          <p:cNvSpPr/>
          <p:nvPr/>
        </p:nvSpPr>
        <p:spPr>
          <a:xfrm>
            <a:off x="2185190" y="1102975"/>
            <a:ext cx="2494875"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L10 </a:t>
            </a:r>
            <a:r>
              <a:rPr lang="zh-CN" altLang="en-US" sz="1600" dirty="0"/>
              <a:t>首件</a:t>
            </a:r>
            <a:r>
              <a:rPr lang="en-US" altLang="zh-CN" sz="1600" dirty="0"/>
              <a:t>/</a:t>
            </a:r>
            <a:r>
              <a:rPr lang="zh-CN" altLang="en-US" sz="1600" dirty="0"/>
              <a:t>批量试制</a:t>
            </a:r>
          </a:p>
        </p:txBody>
      </p:sp>
      <p:sp>
        <p:nvSpPr>
          <p:cNvPr id="8" name="矩形 7">
            <a:extLst>
              <a:ext uri="{FF2B5EF4-FFF2-40B4-BE49-F238E27FC236}">
                <a16:creationId xmlns:a16="http://schemas.microsoft.com/office/drawing/2014/main" id="{53C9EDF0-C1AC-4A64-69D3-356F9A5F67A8}"/>
              </a:ext>
            </a:extLst>
          </p:cNvPr>
          <p:cNvSpPr/>
          <p:nvPr/>
        </p:nvSpPr>
        <p:spPr>
          <a:xfrm>
            <a:off x="4680065" y="1102975"/>
            <a:ext cx="3416530"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L11 PVT</a:t>
            </a:r>
          </a:p>
        </p:txBody>
      </p:sp>
      <p:sp>
        <p:nvSpPr>
          <p:cNvPr id="9" name="矩形 8">
            <a:extLst>
              <a:ext uri="{FF2B5EF4-FFF2-40B4-BE49-F238E27FC236}">
                <a16:creationId xmlns:a16="http://schemas.microsoft.com/office/drawing/2014/main" id="{E5EC974E-BDB7-49FB-A1B7-B9A7EB1921F9}"/>
              </a:ext>
            </a:extLst>
          </p:cNvPr>
          <p:cNvSpPr/>
          <p:nvPr/>
        </p:nvSpPr>
        <p:spPr>
          <a:xfrm>
            <a:off x="431403" y="1102975"/>
            <a:ext cx="1753787" cy="54266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dirty="0"/>
              <a:t>M4 </a:t>
            </a:r>
            <a:r>
              <a:rPr lang="zh-CN" altLang="en-US" sz="1600" dirty="0"/>
              <a:t>试制阶段：</a:t>
            </a:r>
          </a:p>
        </p:txBody>
      </p:sp>
      <p:sp>
        <p:nvSpPr>
          <p:cNvPr id="11" name="矩形 10">
            <a:extLst>
              <a:ext uri="{FF2B5EF4-FFF2-40B4-BE49-F238E27FC236}">
                <a16:creationId xmlns:a16="http://schemas.microsoft.com/office/drawing/2014/main" id="{8D882BF0-E013-600D-7370-EE4CCD2AB670}"/>
              </a:ext>
            </a:extLst>
          </p:cNvPr>
          <p:cNvSpPr/>
          <p:nvPr/>
        </p:nvSpPr>
        <p:spPr>
          <a:xfrm>
            <a:off x="8096596" y="1102975"/>
            <a:ext cx="3700561" cy="542664"/>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L12 </a:t>
            </a:r>
            <a:r>
              <a:rPr lang="zh-CN" altLang="en-US" sz="1600" dirty="0"/>
              <a:t>批量测试</a:t>
            </a:r>
            <a:endParaRPr lang="en-US" altLang="zh-CN" sz="1600" dirty="0"/>
          </a:p>
        </p:txBody>
      </p:sp>
      <p:sp>
        <p:nvSpPr>
          <p:cNvPr id="12" name="文本框 11">
            <a:extLst>
              <a:ext uri="{FF2B5EF4-FFF2-40B4-BE49-F238E27FC236}">
                <a16:creationId xmlns:a16="http://schemas.microsoft.com/office/drawing/2014/main" id="{A57CD8F5-388A-73D5-2CC6-D0746ADA15D0}"/>
              </a:ext>
            </a:extLst>
          </p:cNvPr>
          <p:cNvSpPr txBox="1"/>
          <p:nvPr/>
        </p:nvSpPr>
        <p:spPr>
          <a:xfrm>
            <a:off x="737656" y="1796395"/>
            <a:ext cx="1051502" cy="298287"/>
          </a:xfrm>
          <a:prstGeom prst="rect">
            <a:avLst/>
          </a:prstGeom>
          <a:noFill/>
        </p:spPr>
        <p:txBody>
          <a:bodyPr wrap="square" rtlCol="0">
            <a:spAutoFit/>
          </a:bodyPr>
          <a:lstStyle/>
          <a:p>
            <a:pPr algn="ctr">
              <a:lnSpc>
                <a:spcPct val="120000"/>
              </a:lnSpc>
            </a:pPr>
            <a:r>
              <a:rPr lang="zh-CN" altLang="en-US" sz="1200" b="1" dirty="0">
                <a:solidFill>
                  <a:schemeClr val="tx1">
                    <a:lumMod val="75000"/>
                    <a:lumOff val="25000"/>
                  </a:schemeClr>
                </a:solidFill>
              </a:rPr>
              <a:t>责任人</a:t>
            </a:r>
          </a:p>
        </p:txBody>
      </p:sp>
      <p:sp>
        <p:nvSpPr>
          <p:cNvPr id="13" name="文本框 12">
            <a:extLst>
              <a:ext uri="{FF2B5EF4-FFF2-40B4-BE49-F238E27FC236}">
                <a16:creationId xmlns:a16="http://schemas.microsoft.com/office/drawing/2014/main" id="{6F3B4A55-F671-476D-2395-22B482D8BB82}"/>
              </a:ext>
            </a:extLst>
          </p:cNvPr>
          <p:cNvSpPr txBox="1"/>
          <p:nvPr/>
        </p:nvSpPr>
        <p:spPr>
          <a:xfrm>
            <a:off x="701560" y="2874967"/>
            <a:ext cx="1213453" cy="313932"/>
          </a:xfrm>
          <a:prstGeom prst="rect">
            <a:avLst/>
          </a:prstGeom>
          <a:solidFill>
            <a:schemeClr val="bg2">
              <a:lumMod val="50000"/>
            </a:schemeClr>
          </a:solidFill>
          <a:ln>
            <a:solidFill>
              <a:schemeClr val="bg2">
                <a:lumMod val="25000"/>
              </a:schemeClr>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测试工程师</a:t>
            </a:r>
            <a:endParaRPr lang="en-US" altLang="zh-CN" sz="1200" b="1" dirty="0">
              <a:solidFill>
                <a:schemeClr val="bg1"/>
              </a:solidFill>
            </a:endParaRPr>
          </a:p>
        </p:txBody>
      </p:sp>
      <p:sp>
        <p:nvSpPr>
          <p:cNvPr id="14" name="文本框 13">
            <a:extLst>
              <a:ext uri="{FF2B5EF4-FFF2-40B4-BE49-F238E27FC236}">
                <a16:creationId xmlns:a16="http://schemas.microsoft.com/office/drawing/2014/main" id="{8B503E9B-7590-DF23-B414-9183CB2F0C6E}"/>
              </a:ext>
            </a:extLst>
          </p:cNvPr>
          <p:cNvSpPr txBox="1"/>
          <p:nvPr/>
        </p:nvSpPr>
        <p:spPr>
          <a:xfrm>
            <a:off x="701560" y="5588171"/>
            <a:ext cx="1213453" cy="298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lnSpc>
                <a:spcPct val="120000"/>
              </a:lnSpc>
            </a:pPr>
            <a:r>
              <a:rPr lang="zh-CN" altLang="en-US" sz="1200" b="1" dirty="0">
                <a:solidFill>
                  <a:schemeClr val="bg1"/>
                </a:solidFill>
              </a:rPr>
              <a:t>项目经理</a:t>
            </a:r>
            <a:endParaRPr lang="en-US" altLang="zh-CN" sz="1200" b="1" dirty="0">
              <a:solidFill>
                <a:schemeClr val="bg1"/>
              </a:solidFill>
            </a:endParaRPr>
          </a:p>
        </p:txBody>
      </p:sp>
      <p:sp>
        <p:nvSpPr>
          <p:cNvPr id="16" name="文本框 15">
            <a:extLst>
              <a:ext uri="{FF2B5EF4-FFF2-40B4-BE49-F238E27FC236}">
                <a16:creationId xmlns:a16="http://schemas.microsoft.com/office/drawing/2014/main" id="{42B77F5C-2359-25DA-E3CD-A902C90DCB54}"/>
              </a:ext>
            </a:extLst>
          </p:cNvPr>
          <p:cNvSpPr txBox="1"/>
          <p:nvPr/>
        </p:nvSpPr>
        <p:spPr>
          <a:xfrm>
            <a:off x="701560" y="2214343"/>
            <a:ext cx="1213453" cy="29828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lnSpc>
                <a:spcPct val="120000"/>
              </a:lnSpc>
            </a:pPr>
            <a:r>
              <a:rPr lang="zh-CN" altLang="en-US" sz="1200" b="1" dirty="0" smtClean="0">
                <a:solidFill>
                  <a:schemeClr val="bg1"/>
                </a:solidFill>
              </a:rPr>
              <a:t>产品工程师</a:t>
            </a:r>
            <a:endParaRPr lang="en-US" altLang="zh-CN" sz="1200" b="1" dirty="0">
              <a:solidFill>
                <a:schemeClr val="bg1"/>
              </a:solidFill>
            </a:endParaRPr>
          </a:p>
        </p:txBody>
      </p:sp>
      <p:sp>
        <p:nvSpPr>
          <p:cNvPr id="19" name="矩形 18">
            <a:extLst>
              <a:ext uri="{FF2B5EF4-FFF2-40B4-BE49-F238E27FC236}">
                <a16:creationId xmlns:a16="http://schemas.microsoft.com/office/drawing/2014/main" id="{69531F3D-10C9-6536-7765-A2C9DE5A97A8}"/>
              </a:ext>
            </a:extLst>
          </p:cNvPr>
          <p:cNvSpPr/>
          <p:nvPr/>
        </p:nvSpPr>
        <p:spPr>
          <a:xfrm>
            <a:off x="2199312" y="2113102"/>
            <a:ext cx="2485431" cy="542664"/>
          </a:xfrm>
          <a:prstGeom prst="rect">
            <a:avLst/>
          </a:prstGeom>
          <a:solidFill>
            <a:schemeClr val="accent5">
              <a:lumMod val="40000"/>
              <a:lumOff val="60000"/>
            </a:schemeClr>
          </a:solidFill>
          <a:ln>
            <a:solidFill>
              <a:schemeClr val="accent5">
                <a:lumMod val="40000"/>
                <a:lumOff val="6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r>
              <a:rPr lang="zh-CN" altLang="en-US" sz="1050" dirty="0"/>
              <a:t>组织首批生产</a:t>
            </a:r>
            <a:endParaRPr lang="en-US" altLang="zh-CN" sz="1050" dirty="0"/>
          </a:p>
          <a:p>
            <a:pPr marL="285750" indent="-285750">
              <a:buFont typeface="Arial" panose="020B0604020202020204" pitchFamily="34" charset="0"/>
              <a:buChar char="•"/>
            </a:pPr>
            <a:r>
              <a:rPr lang="zh-CN" altLang="en-US" sz="1050" dirty="0"/>
              <a:t>组织工艺</a:t>
            </a:r>
            <a:r>
              <a:rPr lang="zh-CN" altLang="en-US" sz="1050" dirty="0" smtClean="0"/>
              <a:t>评审</a:t>
            </a:r>
            <a:endParaRPr lang="en-US" altLang="zh-CN" sz="1050" dirty="0" smtClean="0"/>
          </a:p>
          <a:p>
            <a:pPr indent="-285750">
              <a:lnSpc>
                <a:spcPct val="130000"/>
              </a:lnSpc>
              <a:buFont typeface="Arial" panose="020B0604020202020204" pitchFamily="34" charset="0"/>
              <a:buChar char="•"/>
            </a:pPr>
            <a:r>
              <a:rPr lang="zh-CN" altLang="en-US" sz="1050" b="1" dirty="0" smtClean="0">
                <a:solidFill>
                  <a:srgbClr val="0000FF"/>
                </a:solidFill>
                <a:latin typeface="+mn-ea"/>
              </a:rPr>
              <a:t>跟进试</a:t>
            </a:r>
            <a:r>
              <a:rPr lang="zh-CN" altLang="en-US" sz="1050" b="1" dirty="0">
                <a:solidFill>
                  <a:srgbClr val="0000FF"/>
                </a:solidFill>
                <a:latin typeface="+mn-ea"/>
              </a:rPr>
              <a:t>生产问题闭环 </a:t>
            </a:r>
          </a:p>
        </p:txBody>
      </p:sp>
      <p:sp>
        <p:nvSpPr>
          <p:cNvPr id="20" name="文本框 19">
            <a:extLst>
              <a:ext uri="{FF2B5EF4-FFF2-40B4-BE49-F238E27FC236}">
                <a16:creationId xmlns:a16="http://schemas.microsoft.com/office/drawing/2014/main" id="{4485199F-3885-3BA1-8ACC-1AAFCAACE4A6}"/>
              </a:ext>
            </a:extLst>
          </p:cNvPr>
          <p:cNvSpPr txBox="1"/>
          <p:nvPr/>
        </p:nvSpPr>
        <p:spPr>
          <a:xfrm>
            <a:off x="3924148" y="1733835"/>
            <a:ext cx="2795630" cy="1061829"/>
          </a:xfrm>
          <a:custGeom>
            <a:avLst/>
            <a:gdLst>
              <a:gd name="connsiteX0" fmla="*/ 0 w 2503250"/>
              <a:gd name="connsiteY0" fmla="*/ 0 h 959943"/>
              <a:gd name="connsiteX1" fmla="*/ 525683 w 2503250"/>
              <a:gd name="connsiteY1" fmla="*/ 0 h 959943"/>
              <a:gd name="connsiteX2" fmla="*/ 1076398 w 2503250"/>
              <a:gd name="connsiteY2" fmla="*/ 0 h 959943"/>
              <a:gd name="connsiteX3" fmla="*/ 1627113 w 2503250"/>
              <a:gd name="connsiteY3" fmla="*/ 0 h 959943"/>
              <a:gd name="connsiteX4" fmla="*/ 2503250 w 2503250"/>
              <a:gd name="connsiteY4" fmla="*/ 0 h 959943"/>
              <a:gd name="connsiteX5" fmla="*/ 2503250 w 2503250"/>
              <a:gd name="connsiteY5" fmla="*/ 499170 h 959943"/>
              <a:gd name="connsiteX6" fmla="*/ 2503250 w 2503250"/>
              <a:gd name="connsiteY6" fmla="*/ 959943 h 959943"/>
              <a:gd name="connsiteX7" fmla="*/ 2077698 w 2503250"/>
              <a:gd name="connsiteY7" fmla="*/ 959943 h 959943"/>
              <a:gd name="connsiteX8" fmla="*/ 1577048 w 2503250"/>
              <a:gd name="connsiteY8" fmla="*/ 959943 h 959943"/>
              <a:gd name="connsiteX9" fmla="*/ 1151495 w 2503250"/>
              <a:gd name="connsiteY9" fmla="*/ 959943 h 959943"/>
              <a:gd name="connsiteX10" fmla="*/ 650845 w 2503250"/>
              <a:gd name="connsiteY10" fmla="*/ 959943 h 959943"/>
              <a:gd name="connsiteX11" fmla="*/ 0 w 2503250"/>
              <a:gd name="connsiteY11" fmla="*/ 959943 h 959943"/>
              <a:gd name="connsiteX12" fmla="*/ 0 w 2503250"/>
              <a:gd name="connsiteY12" fmla="*/ 460773 h 959943"/>
              <a:gd name="connsiteX13" fmla="*/ 0 w 2503250"/>
              <a:gd name="connsiteY13" fmla="*/ 0 h 95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3250" h="959943" fill="none" extrusionOk="0">
                <a:moveTo>
                  <a:pt x="0" y="0"/>
                </a:moveTo>
                <a:cubicBezTo>
                  <a:pt x="147960" y="-42618"/>
                  <a:pt x="370648" y="36218"/>
                  <a:pt x="525683" y="0"/>
                </a:cubicBezTo>
                <a:cubicBezTo>
                  <a:pt x="680718" y="-36218"/>
                  <a:pt x="908559" y="63996"/>
                  <a:pt x="1076398" y="0"/>
                </a:cubicBezTo>
                <a:cubicBezTo>
                  <a:pt x="1244237" y="-63996"/>
                  <a:pt x="1372583" y="1873"/>
                  <a:pt x="1627113" y="0"/>
                </a:cubicBezTo>
                <a:cubicBezTo>
                  <a:pt x="1881644" y="-1873"/>
                  <a:pt x="2272242" y="63449"/>
                  <a:pt x="2503250" y="0"/>
                </a:cubicBezTo>
                <a:cubicBezTo>
                  <a:pt x="2538929" y="224254"/>
                  <a:pt x="2472912" y="253692"/>
                  <a:pt x="2503250" y="499170"/>
                </a:cubicBezTo>
                <a:cubicBezTo>
                  <a:pt x="2533588" y="744648"/>
                  <a:pt x="2453681" y="865611"/>
                  <a:pt x="2503250" y="959943"/>
                </a:cubicBezTo>
                <a:cubicBezTo>
                  <a:pt x="2366516" y="998117"/>
                  <a:pt x="2255767" y="910527"/>
                  <a:pt x="2077698" y="959943"/>
                </a:cubicBezTo>
                <a:cubicBezTo>
                  <a:pt x="1899629" y="1009359"/>
                  <a:pt x="1792800" y="912432"/>
                  <a:pt x="1577048" y="959943"/>
                </a:cubicBezTo>
                <a:cubicBezTo>
                  <a:pt x="1361296" y="1007454"/>
                  <a:pt x="1311756" y="939849"/>
                  <a:pt x="1151495" y="959943"/>
                </a:cubicBezTo>
                <a:cubicBezTo>
                  <a:pt x="991234" y="980037"/>
                  <a:pt x="802014" y="947011"/>
                  <a:pt x="650845" y="959943"/>
                </a:cubicBezTo>
                <a:cubicBezTo>
                  <a:pt x="499676" y="972875"/>
                  <a:pt x="209813" y="943454"/>
                  <a:pt x="0" y="959943"/>
                </a:cubicBezTo>
                <a:cubicBezTo>
                  <a:pt x="-33183" y="763046"/>
                  <a:pt x="39794" y="627981"/>
                  <a:pt x="0" y="460773"/>
                </a:cubicBezTo>
                <a:cubicBezTo>
                  <a:pt x="-39794" y="293565"/>
                  <a:pt x="54036" y="209435"/>
                  <a:pt x="0" y="0"/>
                </a:cubicBezTo>
                <a:close/>
              </a:path>
              <a:path w="2503250" h="959943" stroke="0" extrusionOk="0">
                <a:moveTo>
                  <a:pt x="0" y="0"/>
                </a:moveTo>
                <a:cubicBezTo>
                  <a:pt x="157984" y="-20146"/>
                  <a:pt x="359112" y="24895"/>
                  <a:pt x="550715" y="0"/>
                </a:cubicBezTo>
                <a:cubicBezTo>
                  <a:pt x="742319" y="-24895"/>
                  <a:pt x="917651" y="16538"/>
                  <a:pt x="1051365" y="0"/>
                </a:cubicBezTo>
                <a:cubicBezTo>
                  <a:pt x="1185079" y="-16538"/>
                  <a:pt x="1321167" y="53835"/>
                  <a:pt x="1526983" y="0"/>
                </a:cubicBezTo>
                <a:cubicBezTo>
                  <a:pt x="1732799" y="-53835"/>
                  <a:pt x="2077286" y="41480"/>
                  <a:pt x="2503250" y="0"/>
                </a:cubicBezTo>
                <a:cubicBezTo>
                  <a:pt x="2536558" y="112930"/>
                  <a:pt x="2488837" y="321883"/>
                  <a:pt x="2503250" y="489571"/>
                </a:cubicBezTo>
                <a:cubicBezTo>
                  <a:pt x="2517663" y="657259"/>
                  <a:pt x="2474661" y="840128"/>
                  <a:pt x="2503250" y="959943"/>
                </a:cubicBezTo>
                <a:cubicBezTo>
                  <a:pt x="2414080" y="1004845"/>
                  <a:pt x="2226245" y="941052"/>
                  <a:pt x="2077698" y="959943"/>
                </a:cubicBezTo>
                <a:cubicBezTo>
                  <a:pt x="1929151" y="978834"/>
                  <a:pt x="1789093" y="929559"/>
                  <a:pt x="1652145" y="959943"/>
                </a:cubicBezTo>
                <a:cubicBezTo>
                  <a:pt x="1515197" y="990327"/>
                  <a:pt x="1319508" y="912149"/>
                  <a:pt x="1126463" y="959943"/>
                </a:cubicBezTo>
                <a:cubicBezTo>
                  <a:pt x="933418" y="1007737"/>
                  <a:pt x="776828" y="945295"/>
                  <a:pt x="625813" y="959943"/>
                </a:cubicBezTo>
                <a:cubicBezTo>
                  <a:pt x="474798" y="974591"/>
                  <a:pt x="299051" y="947917"/>
                  <a:pt x="0" y="959943"/>
                </a:cubicBezTo>
                <a:cubicBezTo>
                  <a:pt x="-8938" y="762175"/>
                  <a:pt x="44973" y="604025"/>
                  <a:pt x="0" y="508770"/>
                </a:cubicBezTo>
                <a:cubicBezTo>
                  <a:pt x="-44973" y="413515"/>
                  <a:pt x="46896" y="187322"/>
                  <a:pt x="0" y="0"/>
                </a:cubicBezTo>
                <a:close/>
              </a:path>
            </a:pathLst>
          </a:custGeom>
          <a:solidFill>
            <a:schemeClr val="bg1">
              <a:lumMod val="95000"/>
            </a:schemeClr>
          </a:solidFill>
          <a:ln>
            <a:solidFill>
              <a:schemeClr val="tx1"/>
            </a:solidFill>
            <a:extLst>
              <a:ext uri="{C807C97D-BFC1-408E-A445-0C87EB9F89A2}">
                <ask:lineSketchStyleProps xmlns="" xmlns:ask="http://schemas.microsoft.com/office/drawing/2018/sketchyshapes" sd="1480478020">
                  <a:prstGeom prst="rect">
                    <a:avLst/>
                  </a:prstGeom>
                  <ask:type>
                    <ask:lineSketchScribble/>
                  </ask:type>
                </ask:lineSketchStyleProps>
              </a:ext>
            </a:extLst>
          </a:ln>
        </p:spPr>
        <p:txBody>
          <a:bodyPr wrap="square" rtlCol="0">
            <a:spAutoFit/>
          </a:bodyPr>
          <a:lstStyle/>
          <a:p>
            <a:pPr>
              <a:lnSpc>
                <a:spcPct val="120000"/>
              </a:lnSpc>
            </a:pPr>
            <a:r>
              <a:rPr lang="zh-CN" altLang="en-US" sz="1050" b="1" dirty="0">
                <a:solidFill>
                  <a:schemeClr val="tx1">
                    <a:lumMod val="75000"/>
                    <a:lumOff val="25000"/>
                  </a:schemeClr>
                </a:solidFill>
                <a:latin typeface="+mn-ea"/>
              </a:rPr>
              <a:t>参与者：</a:t>
            </a:r>
            <a:r>
              <a:rPr lang="zh-CN" altLang="en-US" sz="1050" dirty="0">
                <a:solidFill>
                  <a:schemeClr val="tx1">
                    <a:lumMod val="75000"/>
                    <a:lumOff val="25000"/>
                  </a:schemeClr>
                </a:solidFill>
                <a:latin typeface="+mn-ea"/>
              </a:rPr>
              <a:t>制造、品质</a:t>
            </a:r>
            <a:endParaRPr lang="en-US" altLang="zh-CN" sz="1050" dirty="0">
              <a:solidFill>
                <a:schemeClr val="tx1">
                  <a:lumMod val="75000"/>
                  <a:lumOff val="25000"/>
                </a:schemeClr>
              </a:solidFill>
              <a:latin typeface="+mn-ea"/>
            </a:endParaRPr>
          </a:p>
          <a:p>
            <a:pPr>
              <a:lnSpc>
                <a:spcPct val="120000"/>
              </a:lnSpc>
            </a:pPr>
            <a:r>
              <a:rPr lang="zh-CN" altLang="en-US" sz="1050" b="1" dirty="0" smtClean="0">
                <a:solidFill>
                  <a:schemeClr val="tx1">
                    <a:lumMod val="75000"/>
                    <a:lumOff val="25000"/>
                  </a:schemeClr>
                </a:solidFill>
                <a:latin typeface="+mn-ea"/>
              </a:rPr>
              <a:t>文档输出：</a:t>
            </a:r>
            <a:endParaRPr lang="en-US" altLang="zh-CN" sz="1050" b="1" dirty="0" smtClean="0">
              <a:solidFill>
                <a:schemeClr val="tx1">
                  <a:lumMod val="75000"/>
                  <a:lumOff val="25000"/>
                </a:schemeClr>
              </a:solidFill>
              <a:latin typeface="+mn-ea"/>
            </a:endParaRPr>
          </a:p>
          <a:p>
            <a:pPr>
              <a:lnSpc>
                <a:spcPct val="120000"/>
              </a:lnSpc>
            </a:pPr>
            <a:r>
              <a:rPr lang="zh-CN" altLang="en-US" sz="1050" dirty="0" smtClean="0">
                <a:solidFill>
                  <a:schemeClr val="tx1">
                    <a:lumMod val="75000"/>
                    <a:lumOff val="25000"/>
                  </a:schemeClr>
                </a:solidFill>
                <a:latin typeface="+mn-ea"/>
              </a:rPr>
              <a:t>品质：</a:t>
            </a:r>
            <a:r>
              <a:rPr lang="en-US" altLang="zh-CN" sz="1050" dirty="0" smtClean="0"/>
              <a:t>《</a:t>
            </a:r>
            <a:r>
              <a:rPr lang="zh-CN" altLang="en-US" sz="1050" dirty="0"/>
              <a:t>首件</a:t>
            </a:r>
            <a:r>
              <a:rPr lang="zh-CN" altLang="en-US" sz="1050" dirty="0" smtClean="0"/>
              <a:t>鉴定报告</a:t>
            </a:r>
            <a:r>
              <a:rPr lang="en-US" altLang="zh-CN" sz="1050" dirty="0" smtClean="0"/>
              <a:t>》《</a:t>
            </a:r>
            <a:r>
              <a:rPr lang="zh-CN" altLang="en-US" sz="1050" dirty="0" smtClean="0"/>
              <a:t>首件检验报告</a:t>
            </a:r>
            <a:r>
              <a:rPr lang="en-US" altLang="zh-CN" sz="1050" dirty="0" smtClean="0"/>
              <a:t>》</a:t>
            </a:r>
          </a:p>
          <a:p>
            <a:pPr>
              <a:lnSpc>
                <a:spcPct val="120000"/>
              </a:lnSpc>
            </a:pPr>
            <a:r>
              <a:rPr lang="zh-CN" altLang="en-US" sz="1050" b="1" dirty="0" smtClean="0">
                <a:solidFill>
                  <a:srgbClr val="0000FF"/>
                </a:solidFill>
              </a:rPr>
              <a:t>产品</a:t>
            </a:r>
            <a:r>
              <a:rPr lang="zh-CN" altLang="en-US" sz="1050" b="1" dirty="0">
                <a:solidFill>
                  <a:srgbClr val="0000FF"/>
                </a:solidFill>
              </a:rPr>
              <a:t>工程师</a:t>
            </a:r>
            <a:r>
              <a:rPr lang="zh-CN" altLang="en-US" sz="1050" b="1" dirty="0" smtClean="0">
                <a:solidFill>
                  <a:srgbClr val="0000FF"/>
                </a:solidFill>
              </a:rPr>
              <a:t>：</a:t>
            </a:r>
            <a:r>
              <a:rPr lang="en-US" altLang="zh-CN" sz="1050" b="1" dirty="0" smtClean="0">
                <a:solidFill>
                  <a:srgbClr val="0000FF"/>
                </a:solidFill>
              </a:rPr>
              <a:t>《</a:t>
            </a:r>
            <a:r>
              <a:rPr lang="zh-CN" altLang="en-US" sz="1050" b="1" dirty="0" smtClean="0">
                <a:solidFill>
                  <a:srgbClr val="0000FF"/>
                </a:solidFill>
              </a:rPr>
              <a:t>工艺评审报告</a:t>
            </a:r>
            <a:r>
              <a:rPr lang="en-US" altLang="zh-CN" sz="1050" b="1" dirty="0" smtClean="0">
                <a:solidFill>
                  <a:srgbClr val="0000FF"/>
                </a:solidFill>
              </a:rPr>
              <a:t>》</a:t>
            </a:r>
          </a:p>
          <a:p>
            <a:pPr>
              <a:lnSpc>
                <a:spcPct val="120000"/>
              </a:lnSpc>
            </a:pPr>
            <a:r>
              <a:rPr lang="zh-CN" altLang="en-US" sz="1050" dirty="0" smtClean="0"/>
              <a:t>制造部：</a:t>
            </a:r>
            <a:r>
              <a:rPr lang="en-US" altLang="zh-CN" sz="1050" dirty="0">
                <a:solidFill>
                  <a:schemeClr val="tx1">
                    <a:lumMod val="75000"/>
                    <a:lumOff val="25000"/>
                  </a:schemeClr>
                </a:solidFill>
                <a:latin typeface="+mn-ea"/>
              </a:rPr>
              <a:t> 《</a:t>
            </a:r>
            <a:r>
              <a:rPr lang="zh-CN" altLang="en-US" sz="1050" dirty="0"/>
              <a:t>试制状态</a:t>
            </a:r>
            <a:r>
              <a:rPr lang="zh-CN" altLang="en-US" sz="1050" dirty="0" smtClean="0"/>
              <a:t>检查表</a:t>
            </a:r>
            <a:r>
              <a:rPr lang="en-US" altLang="zh-CN" sz="1050" dirty="0" smtClean="0"/>
              <a:t>》《</a:t>
            </a:r>
            <a:r>
              <a:rPr lang="zh-CN" altLang="en-US" sz="1050" dirty="0"/>
              <a:t>试生产报告</a:t>
            </a:r>
            <a:r>
              <a:rPr lang="en-US" altLang="zh-CN" sz="1050" dirty="0"/>
              <a:t>》</a:t>
            </a:r>
            <a:endParaRPr lang="en-US" altLang="zh-CN" sz="1050" dirty="0">
              <a:solidFill>
                <a:schemeClr val="tx1">
                  <a:lumMod val="75000"/>
                  <a:lumOff val="25000"/>
                </a:schemeClr>
              </a:solidFill>
              <a:latin typeface="+mn-ea"/>
            </a:endParaRPr>
          </a:p>
        </p:txBody>
      </p:sp>
      <p:sp>
        <p:nvSpPr>
          <p:cNvPr id="24" name="矩形 23">
            <a:extLst>
              <a:ext uri="{FF2B5EF4-FFF2-40B4-BE49-F238E27FC236}">
                <a16:creationId xmlns:a16="http://schemas.microsoft.com/office/drawing/2014/main" id="{03CD8439-D817-7BE8-0693-E60CDFBE8A7D}"/>
              </a:ext>
            </a:extLst>
          </p:cNvPr>
          <p:cNvSpPr/>
          <p:nvPr/>
        </p:nvSpPr>
        <p:spPr>
          <a:xfrm>
            <a:off x="4653431" y="2807602"/>
            <a:ext cx="7117092" cy="738105"/>
          </a:xfrm>
          <a:prstGeom prst="rect">
            <a:avLst/>
          </a:prstGeom>
          <a:solidFill>
            <a:schemeClr val="bg2">
              <a:lumMod val="75000"/>
            </a:schemeClr>
          </a:solidFill>
          <a:ln>
            <a:solidFill>
              <a:schemeClr val="bg2">
                <a:lumMod val="7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altLang="zh-CN" sz="1050" b="1" dirty="0">
                <a:latin typeface="+mn-ea"/>
              </a:rPr>
              <a:t>TPM</a:t>
            </a:r>
            <a:r>
              <a:rPr lang="zh-CN" altLang="en-US" sz="1050" b="1" dirty="0">
                <a:latin typeface="+mn-ea"/>
              </a:rPr>
              <a:t>：</a:t>
            </a:r>
            <a:r>
              <a:rPr lang="zh-CN" altLang="en-US" sz="1050" dirty="0">
                <a:latin typeface="+mn-ea"/>
              </a:rPr>
              <a:t>制定测试策略（含测试覆盖率）；制定测试计划（含测试时间、测试配置、测试用例）； 制定验证计划 ；</a:t>
            </a:r>
            <a:r>
              <a:rPr lang="zh-CN" altLang="en-US" sz="1050" dirty="0"/>
              <a:t>推动</a:t>
            </a:r>
            <a:r>
              <a:rPr lang="en-US" altLang="zh-CN" sz="1050" dirty="0"/>
              <a:t>Bug</a:t>
            </a:r>
            <a:r>
              <a:rPr lang="zh-CN" altLang="en-US" sz="1050" dirty="0"/>
              <a:t>解决，制定</a:t>
            </a:r>
            <a:r>
              <a:rPr lang="en-US" altLang="zh-CN" sz="1050" dirty="0"/>
              <a:t>BUG</a:t>
            </a:r>
            <a:r>
              <a:rPr lang="zh-CN" altLang="en-US" sz="1050" dirty="0"/>
              <a:t>验证计划。</a:t>
            </a:r>
            <a:endParaRPr lang="en-US" altLang="zh-CN" sz="1050" dirty="0">
              <a:latin typeface="+mn-ea"/>
            </a:endParaRPr>
          </a:p>
          <a:p>
            <a:pPr marL="285750" indent="-285750">
              <a:buFont typeface="Arial" panose="020B0604020202020204" pitchFamily="34" charset="0"/>
              <a:buChar char="•"/>
            </a:pPr>
            <a:r>
              <a:rPr lang="zh-CN" altLang="en-US" sz="1050" b="1" dirty="0">
                <a:latin typeface="+mn-ea"/>
              </a:rPr>
              <a:t>测试、验证工作：</a:t>
            </a:r>
            <a:r>
              <a:rPr lang="en-US" altLang="zh-CN" sz="1050" dirty="0">
                <a:latin typeface="+mn-ea"/>
              </a:rPr>
              <a:t>SIT</a:t>
            </a:r>
            <a:r>
              <a:rPr lang="zh-CN" altLang="en-US" sz="1050" dirty="0">
                <a:latin typeface="+mn-ea"/>
              </a:rPr>
              <a:t>测试、可靠性测试</a:t>
            </a:r>
            <a:endParaRPr lang="en-US" altLang="zh-CN" sz="1050" dirty="0">
              <a:latin typeface="+mn-ea"/>
            </a:endParaRPr>
          </a:p>
          <a:p>
            <a:pPr marL="285750" indent="-285750">
              <a:buFont typeface="Arial" panose="020B0604020202020204" pitchFamily="34" charset="0"/>
              <a:buChar char="•"/>
            </a:pPr>
            <a:r>
              <a:rPr lang="zh-CN" altLang="en-US" sz="1050" b="1" dirty="0">
                <a:latin typeface="+mn-ea"/>
              </a:rPr>
              <a:t>输出：</a:t>
            </a:r>
            <a:r>
              <a:rPr lang="en-US" altLang="zh-CN" sz="1050" b="1" dirty="0">
                <a:latin typeface="+mn-ea"/>
              </a:rPr>
              <a:t>《</a:t>
            </a:r>
            <a:r>
              <a:rPr lang="zh-CN" altLang="en-US" sz="1050" dirty="0">
                <a:latin typeface="+mn-ea"/>
              </a:rPr>
              <a:t>测试计划</a:t>
            </a:r>
            <a:r>
              <a:rPr lang="en-US" altLang="zh-CN" sz="1050" dirty="0">
                <a:latin typeface="+mn-ea"/>
              </a:rPr>
              <a:t>》《</a:t>
            </a:r>
            <a:r>
              <a:rPr lang="zh-CN" altLang="en-US" sz="1050" dirty="0">
                <a:latin typeface="+mn-ea"/>
              </a:rPr>
              <a:t>测试报告</a:t>
            </a:r>
            <a:r>
              <a:rPr lang="en-US" altLang="zh-CN" sz="1050" dirty="0">
                <a:latin typeface="+mn-ea"/>
              </a:rPr>
              <a:t>》</a:t>
            </a:r>
          </a:p>
        </p:txBody>
      </p:sp>
      <p:sp>
        <p:nvSpPr>
          <p:cNvPr id="25" name="矩形 24">
            <a:extLst>
              <a:ext uri="{FF2B5EF4-FFF2-40B4-BE49-F238E27FC236}">
                <a16:creationId xmlns:a16="http://schemas.microsoft.com/office/drawing/2014/main" id="{CD682474-ECF7-0EF4-434D-982A2FC6750B}"/>
              </a:ext>
            </a:extLst>
          </p:cNvPr>
          <p:cNvSpPr/>
          <p:nvPr/>
        </p:nvSpPr>
        <p:spPr>
          <a:xfrm>
            <a:off x="2158539" y="5015990"/>
            <a:ext cx="9611983" cy="1511259"/>
          </a:xfrm>
          <a:prstGeom prst="rect">
            <a:avLst/>
          </a:prstGeom>
          <a:solidFill>
            <a:schemeClr val="accent4">
              <a:lumMod val="40000"/>
              <a:lumOff val="60000"/>
            </a:schemeClr>
          </a:solidFill>
          <a:ln>
            <a:solidFill>
              <a:schemeClr val="accent4">
                <a:lumMod val="40000"/>
                <a:lumOff val="60000"/>
              </a:schemeClr>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numCol="1" rtlCol="0" anchor="ctr"/>
          <a:lstStyle/>
          <a:p>
            <a:pPr marL="285750" indent="-285750" algn="ctr">
              <a:lnSpc>
                <a:spcPct val="120000"/>
              </a:lnSpc>
              <a:buFont typeface="Arial" panose="020B0604020202020204" pitchFamily="34" charset="0"/>
              <a:buChar char="•"/>
            </a:pPr>
            <a:r>
              <a:rPr lang="zh-CN" altLang="en-US" sz="1050" dirty="0">
                <a:latin typeface="+mn-ea"/>
              </a:rPr>
              <a:t>研发任务分解 </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组织产品技术状态评审 </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组织里程碑管理评审</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项目节点管控</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跟踪风险与问题 </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汇报项目状态 </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研发进度管理 </a:t>
            </a:r>
            <a:endParaRPr lang="en-US" altLang="zh-CN" sz="1050" dirty="0">
              <a:latin typeface="+mn-ea"/>
            </a:endParaRPr>
          </a:p>
          <a:p>
            <a:pPr marL="285750" indent="-285750" algn="ctr">
              <a:lnSpc>
                <a:spcPct val="120000"/>
              </a:lnSpc>
              <a:buFont typeface="Arial" panose="020B0604020202020204" pitchFamily="34" charset="0"/>
              <a:buChar char="•"/>
            </a:pPr>
            <a:r>
              <a:rPr lang="zh-CN" altLang="en-US" sz="1050" dirty="0">
                <a:latin typeface="+mn-ea"/>
              </a:rPr>
              <a:t>研发费用管理</a:t>
            </a:r>
            <a:endParaRPr lang="en-US" altLang="zh-CN" sz="1050" dirty="0">
              <a:solidFill>
                <a:schemeClr val="tx1">
                  <a:lumMod val="75000"/>
                  <a:lumOff val="25000"/>
                </a:schemeClr>
              </a:solidFill>
              <a:latin typeface="+mn-ea"/>
            </a:endParaRPr>
          </a:p>
        </p:txBody>
      </p:sp>
      <p:sp>
        <p:nvSpPr>
          <p:cNvPr id="26" name="矩形 25">
            <a:extLst>
              <a:ext uri="{FF2B5EF4-FFF2-40B4-BE49-F238E27FC236}">
                <a16:creationId xmlns:a16="http://schemas.microsoft.com/office/drawing/2014/main" id="{61467416-7B3E-D54E-365E-A79ABEB8F484}"/>
              </a:ext>
            </a:extLst>
          </p:cNvPr>
          <p:cNvSpPr/>
          <p:nvPr/>
        </p:nvSpPr>
        <p:spPr>
          <a:xfrm>
            <a:off x="10600126" y="295840"/>
            <a:ext cx="1197032" cy="4096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chemeClr val="tx1"/>
                </a:solidFill>
              </a:rPr>
              <a:t>任务</a:t>
            </a:r>
          </a:p>
        </p:txBody>
      </p:sp>
      <p:sp>
        <p:nvSpPr>
          <p:cNvPr id="31" name="流程图: 合并 30">
            <a:extLst>
              <a:ext uri="{FF2B5EF4-FFF2-40B4-BE49-F238E27FC236}">
                <a16:creationId xmlns:a16="http://schemas.microsoft.com/office/drawing/2014/main" id="{8054133D-38B5-C4FB-B067-2191BFE046F3}"/>
              </a:ext>
            </a:extLst>
          </p:cNvPr>
          <p:cNvSpPr/>
          <p:nvPr/>
        </p:nvSpPr>
        <p:spPr>
          <a:xfrm>
            <a:off x="4517968" y="867202"/>
            <a:ext cx="307572" cy="244642"/>
          </a:xfrm>
          <a:prstGeom prst="flowChartMerg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23D8BDB1-9846-7F35-2E6E-63472E0FEFA3}"/>
              </a:ext>
            </a:extLst>
          </p:cNvPr>
          <p:cNvSpPr txBox="1"/>
          <p:nvPr/>
        </p:nvSpPr>
        <p:spPr>
          <a:xfrm>
            <a:off x="4750984" y="731991"/>
            <a:ext cx="2237433" cy="328936"/>
          </a:xfrm>
          <a:prstGeom prst="rect">
            <a:avLst/>
          </a:prstGeom>
          <a:noFill/>
        </p:spPr>
        <p:txBody>
          <a:bodyPr wrap="square" rtlCol="0">
            <a:spAutoFit/>
          </a:bodyPr>
          <a:lstStyle/>
          <a:p>
            <a:pPr>
              <a:lnSpc>
                <a:spcPct val="120000"/>
              </a:lnSpc>
            </a:pPr>
            <a:r>
              <a:rPr lang="zh-CN" altLang="en-US" sz="1400" dirty="0">
                <a:solidFill>
                  <a:schemeClr val="tx1">
                    <a:lumMod val="75000"/>
                    <a:lumOff val="25000"/>
                  </a:schemeClr>
                </a:solidFill>
                <a:latin typeface="+mn-ea"/>
              </a:rPr>
              <a:t> </a:t>
            </a:r>
            <a:r>
              <a:rPr lang="en-US" altLang="zh-CN" sz="1050" b="1" dirty="0">
                <a:solidFill>
                  <a:schemeClr val="tx1">
                    <a:lumMod val="75000"/>
                    <a:lumOff val="25000"/>
                  </a:schemeClr>
                </a:solidFill>
                <a:latin typeface="+mn-ea"/>
              </a:rPr>
              <a:t>MR3 PVT</a:t>
            </a:r>
            <a:r>
              <a:rPr lang="zh-CN" altLang="en-US" sz="1050" b="1" dirty="0">
                <a:solidFill>
                  <a:schemeClr val="tx1">
                    <a:lumMod val="75000"/>
                    <a:lumOff val="25000"/>
                  </a:schemeClr>
                </a:solidFill>
                <a:latin typeface="+mn-ea"/>
              </a:rPr>
              <a:t>阶段准入评审 </a:t>
            </a:r>
          </a:p>
        </p:txBody>
      </p:sp>
      <p:sp>
        <p:nvSpPr>
          <p:cNvPr id="27" name="文本框 26">
            <a:extLst>
              <a:ext uri="{FF2B5EF4-FFF2-40B4-BE49-F238E27FC236}">
                <a16:creationId xmlns:a16="http://schemas.microsoft.com/office/drawing/2014/main" id="{F7343FC4-D748-FA72-6803-9BBDDCB755E2}"/>
              </a:ext>
            </a:extLst>
          </p:cNvPr>
          <p:cNvSpPr txBox="1"/>
          <p:nvPr/>
        </p:nvSpPr>
        <p:spPr>
          <a:xfrm>
            <a:off x="701559" y="4548515"/>
            <a:ext cx="1213453" cy="299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lnSpc>
                <a:spcPct val="120000"/>
              </a:lnSpc>
            </a:pPr>
            <a:r>
              <a:rPr lang="en-US" altLang="zh-CN" sz="1200" b="1" dirty="0">
                <a:solidFill>
                  <a:schemeClr val="bg1"/>
                </a:solidFill>
              </a:rPr>
              <a:t>DQA</a:t>
            </a:r>
            <a:endParaRPr lang="en-US" altLang="zh-CN" sz="1600" b="1" dirty="0">
              <a:solidFill>
                <a:schemeClr val="bg1"/>
              </a:solidFill>
            </a:endParaRPr>
          </a:p>
        </p:txBody>
      </p:sp>
      <p:sp>
        <p:nvSpPr>
          <p:cNvPr id="29" name="文本框 28">
            <a:extLst>
              <a:ext uri="{FF2B5EF4-FFF2-40B4-BE49-F238E27FC236}">
                <a16:creationId xmlns:a16="http://schemas.microsoft.com/office/drawing/2014/main" id="{18E42EE7-F16F-9F4F-F0AD-06CD9315FD02}"/>
              </a:ext>
            </a:extLst>
          </p:cNvPr>
          <p:cNvSpPr txBox="1"/>
          <p:nvPr/>
        </p:nvSpPr>
        <p:spPr>
          <a:xfrm>
            <a:off x="701560" y="4048481"/>
            <a:ext cx="1213453" cy="3139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lnSpc>
                <a:spcPct val="120000"/>
              </a:lnSpc>
            </a:pPr>
            <a:r>
              <a:rPr lang="zh-CN" altLang="en-US" sz="1200" b="1" dirty="0">
                <a:solidFill>
                  <a:schemeClr val="bg1"/>
                </a:solidFill>
              </a:rPr>
              <a:t>市场代表</a:t>
            </a:r>
            <a:endParaRPr lang="en-US" altLang="zh-CN" sz="1200" b="1" dirty="0">
              <a:solidFill>
                <a:schemeClr val="bg1"/>
              </a:solidFill>
            </a:endParaRPr>
          </a:p>
        </p:txBody>
      </p:sp>
      <p:sp>
        <p:nvSpPr>
          <p:cNvPr id="30" name="文本框 29">
            <a:extLst>
              <a:ext uri="{FF2B5EF4-FFF2-40B4-BE49-F238E27FC236}">
                <a16:creationId xmlns:a16="http://schemas.microsoft.com/office/drawing/2014/main" id="{BEBB62DC-EC30-1200-5F90-4BDC5AF90FCD}"/>
              </a:ext>
            </a:extLst>
          </p:cNvPr>
          <p:cNvSpPr txBox="1"/>
          <p:nvPr/>
        </p:nvSpPr>
        <p:spPr>
          <a:xfrm>
            <a:off x="701560" y="3545707"/>
            <a:ext cx="1213453" cy="3139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lnSpc>
                <a:spcPct val="120000"/>
              </a:lnSpc>
            </a:pPr>
            <a:r>
              <a:rPr lang="zh-CN" altLang="en-US" sz="1200" b="1" dirty="0">
                <a:solidFill>
                  <a:schemeClr val="bg1"/>
                </a:solidFill>
              </a:rPr>
              <a:t>系统架构师</a:t>
            </a:r>
            <a:endParaRPr lang="en-US" altLang="zh-CN" sz="1200" b="1" dirty="0">
              <a:solidFill>
                <a:schemeClr val="bg1"/>
              </a:solidFill>
            </a:endParaRPr>
          </a:p>
        </p:txBody>
      </p:sp>
      <p:sp>
        <p:nvSpPr>
          <p:cNvPr id="35" name="矩形 34">
            <a:extLst>
              <a:ext uri="{FF2B5EF4-FFF2-40B4-BE49-F238E27FC236}">
                <a16:creationId xmlns:a16="http://schemas.microsoft.com/office/drawing/2014/main" id="{BEE41CF9-3F2F-B74F-A6B0-D12ADE6DEFF0}"/>
              </a:ext>
            </a:extLst>
          </p:cNvPr>
          <p:cNvSpPr/>
          <p:nvPr/>
        </p:nvSpPr>
        <p:spPr>
          <a:xfrm>
            <a:off x="2185189" y="3576197"/>
            <a:ext cx="9575419" cy="366895"/>
          </a:xfrm>
          <a:prstGeom prst="rect">
            <a:avLst/>
          </a:prstGeom>
          <a:solidFill>
            <a:srgbClr val="D9D9D9"/>
          </a:solidFill>
          <a:ln>
            <a:solidFill>
              <a:schemeClr val="accent6">
                <a:lumMod val="40000"/>
                <a:lumOff val="60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20000"/>
              </a:lnSpc>
            </a:pPr>
            <a:r>
              <a:rPr lang="zh-CN" altLang="en-US" sz="1050" dirty="0"/>
              <a:t>监控和管理需求规格满足度；推动疑难</a:t>
            </a:r>
            <a:r>
              <a:rPr lang="en-US" altLang="zh-CN" sz="1050" dirty="0"/>
              <a:t>BUG</a:t>
            </a:r>
            <a:r>
              <a:rPr lang="zh-CN" altLang="en-US" sz="1050" dirty="0"/>
              <a:t>解决</a:t>
            </a:r>
            <a:endParaRPr lang="zh-CN" altLang="en-US" sz="1050" dirty="0">
              <a:solidFill>
                <a:schemeClr val="tx1">
                  <a:lumMod val="75000"/>
                  <a:lumOff val="25000"/>
                </a:schemeClr>
              </a:solidFill>
            </a:endParaRPr>
          </a:p>
        </p:txBody>
      </p:sp>
      <p:sp>
        <p:nvSpPr>
          <p:cNvPr id="36" name="文本框 35">
            <a:extLst>
              <a:ext uri="{FF2B5EF4-FFF2-40B4-BE49-F238E27FC236}">
                <a16:creationId xmlns:a16="http://schemas.microsoft.com/office/drawing/2014/main" id="{CA462542-82C2-8E6E-E8E9-FAF4D058496F}"/>
              </a:ext>
            </a:extLst>
          </p:cNvPr>
          <p:cNvSpPr txBox="1"/>
          <p:nvPr/>
        </p:nvSpPr>
        <p:spPr>
          <a:xfrm>
            <a:off x="2213595" y="4066537"/>
            <a:ext cx="9575419" cy="360000"/>
          </a:xfrm>
          <a:prstGeom prst="rect">
            <a:avLst/>
          </a:prstGeom>
          <a:solidFill>
            <a:srgbClr val="92B6D0"/>
          </a:solidFill>
          <a:ln>
            <a:solidFill>
              <a:schemeClr val="accent3">
                <a:lumMod val="40000"/>
                <a:lumOff val="60000"/>
              </a:schemeClr>
            </a:solidFill>
          </a:ln>
        </p:spPr>
        <p:style>
          <a:lnRef idx="2">
            <a:schemeClr val="accent3"/>
          </a:lnRef>
          <a:fillRef idx="1">
            <a:schemeClr val="lt1"/>
          </a:fillRef>
          <a:effectRef idx="0">
            <a:schemeClr val="accent3"/>
          </a:effectRef>
          <a:fontRef idx="minor">
            <a:schemeClr val="dk1"/>
          </a:fontRef>
        </p:style>
        <p:txBody>
          <a:bodyPr wrap="square" rtlCol="0" anchor="ctr" anchorCtr="1">
            <a:spAutoFit/>
          </a:bodyPr>
          <a:lstStyle/>
          <a:p>
            <a:pPr algn="ctr">
              <a:lnSpc>
                <a:spcPct val="120000"/>
              </a:lnSpc>
            </a:pPr>
            <a:r>
              <a:rPr lang="zh-CN" altLang="en-US" sz="1050" dirty="0">
                <a:solidFill>
                  <a:schemeClr val="tx1"/>
                </a:solidFill>
                <a:latin typeface="+mn-ea"/>
              </a:rPr>
              <a:t>跟踪市场需求；</a:t>
            </a:r>
            <a:r>
              <a:rPr lang="zh-CN" altLang="en-US" sz="1050" dirty="0">
                <a:solidFill>
                  <a:schemeClr val="tx1"/>
                </a:solidFill>
              </a:rPr>
              <a:t>产品</a:t>
            </a:r>
            <a:r>
              <a:rPr lang="zh-CN" altLang="en-US" sz="1050" dirty="0" smtClean="0">
                <a:solidFill>
                  <a:schemeClr val="tx1"/>
                </a:solidFill>
              </a:rPr>
              <a:t>推广</a:t>
            </a:r>
            <a:endParaRPr lang="en-US" altLang="zh-CN" sz="1050" dirty="0">
              <a:solidFill>
                <a:schemeClr val="tx1"/>
              </a:solidFill>
              <a:latin typeface="+mn-ea"/>
            </a:endParaRPr>
          </a:p>
        </p:txBody>
      </p:sp>
      <p:sp>
        <p:nvSpPr>
          <p:cNvPr id="37" name="矩形 36">
            <a:extLst>
              <a:ext uri="{FF2B5EF4-FFF2-40B4-BE49-F238E27FC236}">
                <a16:creationId xmlns:a16="http://schemas.microsoft.com/office/drawing/2014/main" id="{77C685C8-74B6-6BE9-826F-7F5CCE6BAA20}"/>
              </a:ext>
            </a:extLst>
          </p:cNvPr>
          <p:cNvSpPr/>
          <p:nvPr/>
        </p:nvSpPr>
        <p:spPr>
          <a:xfrm>
            <a:off x="2208595" y="4538959"/>
            <a:ext cx="9575418" cy="308740"/>
          </a:xfrm>
          <a:prstGeom prst="rect">
            <a:avLst/>
          </a:prstGeom>
          <a:solidFill>
            <a:schemeClr val="accent1">
              <a:lumMod val="40000"/>
              <a:lumOff val="60000"/>
            </a:schemeClr>
          </a:solidFill>
          <a:ln>
            <a:solidFill>
              <a:schemeClr val="accent1">
                <a:lumMod val="40000"/>
                <a:lumOff val="6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20000"/>
              </a:lnSpc>
            </a:pPr>
            <a:r>
              <a:rPr lang="zh-CN" altLang="en-US" sz="1050" dirty="0"/>
              <a:t>监控产品质量和计划</a:t>
            </a:r>
            <a:endParaRPr lang="en-US" altLang="zh-CN" sz="1050" dirty="0">
              <a:solidFill>
                <a:schemeClr val="tx1">
                  <a:lumMod val="75000"/>
                  <a:lumOff val="25000"/>
                </a:schemeClr>
              </a:solidFill>
              <a:latin typeface="+mn-ea"/>
            </a:endParaRPr>
          </a:p>
        </p:txBody>
      </p:sp>
      <p:sp>
        <p:nvSpPr>
          <p:cNvPr id="6" name="十字星 5"/>
          <p:cNvSpPr/>
          <p:nvPr/>
        </p:nvSpPr>
        <p:spPr>
          <a:xfrm>
            <a:off x="11654910" y="1688830"/>
            <a:ext cx="230287" cy="211514"/>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23D8BDB1-9846-7F35-2E6E-63472E0FEFA3}"/>
              </a:ext>
            </a:extLst>
          </p:cNvPr>
          <p:cNvSpPr txBox="1"/>
          <p:nvPr/>
        </p:nvSpPr>
        <p:spPr>
          <a:xfrm>
            <a:off x="10600126" y="746880"/>
            <a:ext cx="2237433" cy="328936"/>
          </a:xfrm>
          <a:prstGeom prst="rect">
            <a:avLst/>
          </a:prstGeom>
          <a:noFill/>
        </p:spPr>
        <p:txBody>
          <a:bodyPr wrap="square" rtlCol="0">
            <a:spAutoFit/>
          </a:bodyPr>
          <a:lstStyle/>
          <a:p>
            <a:pPr>
              <a:lnSpc>
                <a:spcPct val="120000"/>
              </a:lnSpc>
            </a:pPr>
            <a:r>
              <a:rPr lang="zh-CN" altLang="en-US" sz="1400" dirty="0">
                <a:solidFill>
                  <a:schemeClr val="tx1">
                    <a:lumMod val="75000"/>
                    <a:lumOff val="25000"/>
                  </a:schemeClr>
                </a:solidFill>
                <a:latin typeface="+mn-ea"/>
              </a:rPr>
              <a:t> </a:t>
            </a:r>
            <a:r>
              <a:rPr lang="zh-CN" altLang="en-US" sz="1050" b="1" dirty="0" smtClean="0">
                <a:solidFill>
                  <a:schemeClr val="tx1">
                    <a:lumMod val="75000"/>
                    <a:lumOff val="25000"/>
                  </a:schemeClr>
                </a:solidFill>
                <a:latin typeface="+mn-ea"/>
              </a:rPr>
              <a:t>品质抽测</a:t>
            </a:r>
            <a:endParaRPr lang="zh-CN" altLang="en-US" sz="1050" b="1" dirty="0">
              <a:solidFill>
                <a:schemeClr val="tx1">
                  <a:lumMod val="75000"/>
                  <a:lumOff val="25000"/>
                </a:schemeClr>
              </a:solidFill>
              <a:latin typeface="+mn-ea"/>
            </a:endParaRPr>
          </a:p>
        </p:txBody>
      </p:sp>
      <p:sp>
        <p:nvSpPr>
          <p:cNvPr id="39" name="十字星 38"/>
          <p:cNvSpPr/>
          <p:nvPr/>
        </p:nvSpPr>
        <p:spPr>
          <a:xfrm>
            <a:off x="11527420" y="908096"/>
            <a:ext cx="230287" cy="211514"/>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23D8BDB1-9846-7F35-2E6E-63472E0FEFA3}"/>
              </a:ext>
            </a:extLst>
          </p:cNvPr>
          <p:cNvSpPr txBox="1"/>
          <p:nvPr/>
        </p:nvSpPr>
        <p:spPr>
          <a:xfrm>
            <a:off x="11238770" y="1903565"/>
            <a:ext cx="2237433" cy="328936"/>
          </a:xfrm>
          <a:prstGeom prst="rect">
            <a:avLst/>
          </a:prstGeom>
          <a:noFill/>
        </p:spPr>
        <p:txBody>
          <a:bodyPr wrap="square" rtlCol="0">
            <a:spAutoFit/>
          </a:bodyPr>
          <a:lstStyle/>
          <a:p>
            <a:pPr>
              <a:lnSpc>
                <a:spcPct val="120000"/>
              </a:lnSpc>
            </a:pPr>
            <a:r>
              <a:rPr lang="zh-CN" altLang="en-US" sz="1400" dirty="0">
                <a:solidFill>
                  <a:schemeClr val="tx1">
                    <a:lumMod val="75000"/>
                    <a:lumOff val="25000"/>
                  </a:schemeClr>
                </a:solidFill>
                <a:latin typeface="+mn-ea"/>
              </a:rPr>
              <a:t> </a:t>
            </a:r>
            <a:r>
              <a:rPr lang="zh-CN" altLang="en-US" sz="1050" b="1" dirty="0" smtClean="0">
                <a:solidFill>
                  <a:schemeClr val="tx1">
                    <a:lumMod val="75000"/>
                    <a:lumOff val="25000"/>
                  </a:schemeClr>
                </a:solidFill>
                <a:latin typeface="+mn-ea"/>
              </a:rPr>
              <a:t>质量评审</a:t>
            </a:r>
            <a:endParaRPr lang="zh-CN" altLang="en-US" sz="1050" b="1" dirty="0">
              <a:solidFill>
                <a:schemeClr val="tx1">
                  <a:lumMod val="75000"/>
                  <a:lumOff val="25000"/>
                </a:schemeClr>
              </a:solidFill>
              <a:latin typeface="+mn-ea"/>
            </a:endParaRPr>
          </a:p>
        </p:txBody>
      </p:sp>
      <p:sp>
        <p:nvSpPr>
          <p:cNvPr id="33" name="十字星 32"/>
          <p:cNvSpPr/>
          <p:nvPr/>
        </p:nvSpPr>
        <p:spPr>
          <a:xfrm>
            <a:off x="2312318" y="2388390"/>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3" name="文本框 2"/>
          <p:cNvSpPr txBox="1"/>
          <p:nvPr/>
        </p:nvSpPr>
        <p:spPr>
          <a:xfrm>
            <a:off x="7873479" y="4112818"/>
            <a:ext cx="1686560" cy="281167"/>
          </a:xfrm>
          <a:prstGeom prst="rect">
            <a:avLst/>
          </a:prstGeom>
          <a:noFill/>
        </p:spPr>
        <p:txBody>
          <a:bodyPr wrap="square" rtlCol="0">
            <a:spAutoFit/>
          </a:bodyPr>
          <a:lstStyle/>
          <a:p>
            <a:pPr>
              <a:lnSpc>
                <a:spcPct val="120000"/>
              </a:lnSpc>
            </a:pPr>
            <a:r>
              <a:rPr lang="zh-CN" altLang="en-US" sz="1050" b="1" dirty="0" smtClean="0">
                <a:solidFill>
                  <a:srgbClr val="0000FF"/>
                </a:solidFill>
              </a:rPr>
              <a:t>预发布</a:t>
            </a:r>
          </a:p>
        </p:txBody>
      </p:sp>
      <p:sp>
        <p:nvSpPr>
          <p:cNvPr id="10" name="五角星 9"/>
          <p:cNvSpPr/>
          <p:nvPr/>
        </p:nvSpPr>
        <p:spPr>
          <a:xfrm>
            <a:off x="7970582" y="883562"/>
            <a:ext cx="205897" cy="167564"/>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849351" y="1645638"/>
            <a:ext cx="2845675" cy="480131"/>
          </a:xfrm>
          <a:prstGeom prst="rect">
            <a:avLst/>
          </a:prstGeom>
          <a:noFill/>
        </p:spPr>
        <p:txBody>
          <a:bodyPr wrap="square" rtlCol="0">
            <a:spAutoFit/>
          </a:bodyPr>
          <a:lstStyle/>
          <a:p>
            <a:pPr>
              <a:lnSpc>
                <a:spcPct val="120000"/>
              </a:lnSpc>
            </a:pPr>
            <a:r>
              <a:rPr lang="zh-CN" altLang="en-US" sz="1050" b="1" dirty="0" smtClean="0">
                <a:solidFill>
                  <a:srgbClr val="0000FF"/>
                </a:solidFill>
              </a:rPr>
              <a:t>未裁剪</a:t>
            </a:r>
            <a:r>
              <a:rPr lang="en-US" altLang="zh-CN" sz="1050" b="1" dirty="0" smtClean="0">
                <a:solidFill>
                  <a:srgbClr val="0000FF"/>
                </a:solidFill>
              </a:rPr>
              <a:t>PVT</a:t>
            </a:r>
            <a:r>
              <a:rPr lang="zh-CN" altLang="en-US" sz="1050" b="1" dirty="0" smtClean="0">
                <a:solidFill>
                  <a:srgbClr val="0000FF"/>
                </a:solidFill>
              </a:rPr>
              <a:t>时：产品预发布</a:t>
            </a:r>
            <a:r>
              <a:rPr lang="en-US" altLang="zh-CN" sz="1050" b="1" dirty="0" smtClean="0">
                <a:solidFill>
                  <a:srgbClr val="0000FF"/>
                </a:solidFill>
              </a:rPr>
              <a:t>——</a:t>
            </a:r>
            <a:r>
              <a:rPr lang="zh-CN" altLang="en-US" sz="1050" b="1" dirty="0" smtClean="0">
                <a:solidFill>
                  <a:srgbClr val="0000FF"/>
                </a:solidFill>
              </a:rPr>
              <a:t>市场代表</a:t>
            </a:r>
            <a:endParaRPr lang="en-US" altLang="zh-CN" sz="1050" b="1" dirty="0" smtClean="0">
              <a:solidFill>
                <a:srgbClr val="0000FF"/>
              </a:solidFill>
            </a:endParaRPr>
          </a:p>
          <a:p>
            <a:pPr>
              <a:lnSpc>
                <a:spcPct val="120000"/>
              </a:lnSpc>
            </a:pPr>
            <a:r>
              <a:rPr lang="zh-CN" altLang="en-US" sz="1050" b="1" dirty="0">
                <a:solidFill>
                  <a:srgbClr val="0000FF"/>
                </a:solidFill>
              </a:rPr>
              <a:t>少量</a:t>
            </a:r>
            <a:r>
              <a:rPr lang="zh-CN" altLang="en-US" sz="1050" b="1" dirty="0" smtClean="0">
                <a:solidFill>
                  <a:srgbClr val="0000FF"/>
                </a:solidFill>
              </a:rPr>
              <a:t>早期供货</a:t>
            </a:r>
          </a:p>
        </p:txBody>
      </p:sp>
      <p:sp>
        <p:nvSpPr>
          <p:cNvPr id="41" name="十字星 40"/>
          <p:cNvSpPr/>
          <p:nvPr/>
        </p:nvSpPr>
        <p:spPr>
          <a:xfrm>
            <a:off x="7544109" y="1581724"/>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3" name="文本框 42"/>
          <p:cNvSpPr txBox="1"/>
          <p:nvPr/>
        </p:nvSpPr>
        <p:spPr>
          <a:xfrm>
            <a:off x="6812498" y="1996370"/>
            <a:ext cx="2007662" cy="480131"/>
          </a:xfrm>
          <a:prstGeom prst="rect">
            <a:avLst/>
          </a:prstGeom>
          <a:noFill/>
          <a:ln>
            <a:solidFill>
              <a:schemeClr val="accent1"/>
            </a:solidFill>
            <a:prstDash val="lgDashDot"/>
          </a:ln>
        </p:spPr>
        <p:txBody>
          <a:bodyPr wrap="square" rtlCol="0">
            <a:spAutoFit/>
          </a:bodyPr>
          <a:lstStyle/>
          <a:p>
            <a:pPr>
              <a:lnSpc>
                <a:spcPct val="120000"/>
              </a:lnSpc>
            </a:pPr>
            <a:r>
              <a:rPr lang="zh-CN" altLang="en-US" sz="1050" b="1" dirty="0">
                <a:solidFill>
                  <a:srgbClr val="0000FF"/>
                </a:solidFill>
              </a:rPr>
              <a:t>双路 机架产品</a:t>
            </a:r>
          </a:p>
          <a:p>
            <a:pPr>
              <a:lnSpc>
                <a:spcPct val="120000"/>
              </a:lnSpc>
            </a:pPr>
            <a:r>
              <a:rPr lang="zh-CN" altLang="en-US" sz="1050" b="1" dirty="0">
                <a:solidFill>
                  <a:srgbClr val="0000FF"/>
                </a:solidFill>
              </a:rPr>
              <a:t>采购执行量产采购招标</a:t>
            </a:r>
            <a:r>
              <a:rPr lang="en-US" altLang="zh-CN" sz="1050" b="1" dirty="0">
                <a:solidFill>
                  <a:srgbClr val="0000FF"/>
                </a:solidFill>
              </a:rPr>
              <a:t>——4</a:t>
            </a:r>
            <a:r>
              <a:rPr lang="zh-CN" altLang="en-US" sz="1050" b="1" dirty="0">
                <a:solidFill>
                  <a:srgbClr val="0000FF"/>
                </a:solidFill>
              </a:rPr>
              <a:t>周</a:t>
            </a:r>
          </a:p>
        </p:txBody>
      </p:sp>
      <p:cxnSp>
        <p:nvCxnSpPr>
          <p:cNvPr id="17" name="直接箭头连接符 16"/>
          <p:cNvCxnSpPr/>
          <p:nvPr/>
        </p:nvCxnSpPr>
        <p:spPr>
          <a:xfrm flipH="1">
            <a:off x="7717930" y="1640551"/>
            <a:ext cx="367155" cy="370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9920813" y="2415389"/>
            <a:ext cx="1396536" cy="253916"/>
          </a:xfrm>
          <a:prstGeom prst="rect">
            <a:avLst/>
          </a:prstGeom>
        </p:spPr>
        <p:txBody>
          <a:bodyPr wrap="none">
            <a:spAutoFit/>
          </a:bodyPr>
          <a:lstStyle/>
          <a:p>
            <a:r>
              <a:rPr lang="zh-CN" altLang="en-US" sz="1050" b="1" dirty="0" smtClean="0">
                <a:solidFill>
                  <a:srgbClr val="0000FF"/>
                </a:solidFill>
                <a:latin typeface="+mn-ea"/>
              </a:rPr>
              <a:t>测试通过的通用部件</a:t>
            </a:r>
            <a:endParaRPr lang="en-US" altLang="zh-CN" sz="1050" b="1" dirty="0">
              <a:solidFill>
                <a:srgbClr val="0000FF"/>
              </a:solidFill>
              <a:latin typeface="+mn-ea"/>
            </a:endParaRPr>
          </a:p>
        </p:txBody>
      </p:sp>
      <p:cxnSp>
        <p:nvCxnSpPr>
          <p:cNvPr id="44" name="直接箭头连接符 43"/>
          <p:cNvCxnSpPr/>
          <p:nvPr/>
        </p:nvCxnSpPr>
        <p:spPr>
          <a:xfrm flipH="1" flipV="1">
            <a:off x="7849351" y="2511679"/>
            <a:ext cx="1103263" cy="143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十字星 44"/>
          <p:cNvSpPr/>
          <p:nvPr/>
        </p:nvSpPr>
        <p:spPr>
          <a:xfrm>
            <a:off x="6607640" y="2000953"/>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6" name="矩形 45"/>
          <p:cNvSpPr/>
          <p:nvPr/>
        </p:nvSpPr>
        <p:spPr>
          <a:xfrm>
            <a:off x="8727440" y="4048481"/>
            <a:ext cx="2013693" cy="415498"/>
          </a:xfrm>
          <a:prstGeom prst="rect">
            <a:avLst/>
          </a:prstGeom>
        </p:spPr>
        <p:txBody>
          <a:bodyPr wrap="none">
            <a:spAutoFit/>
          </a:bodyPr>
          <a:lstStyle/>
          <a:p>
            <a:r>
              <a:rPr lang="en-US" altLang="zh-CN" sz="1050" b="1" dirty="0">
                <a:solidFill>
                  <a:srgbClr val="0000FF"/>
                </a:solidFill>
                <a:latin typeface="+mn-ea"/>
              </a:rPr>
              <a:t>1</a:t>
            </a:r>
            <a:r>
              <a:rPr lang="zh-CN" altLang="en-US" sz="1050" b="1" dirty="0">
                <a:solidFill>
                  <a:srgbClr val="0000FF"/>
                </a:solidFill>
                <a:latin typeface="+mn-ea"/>
              </a:rPr>
              <a:t>）后续预计的生命周期用量</a:t>
            </a:r>
            <a:r>
              <a:rPr lang="zh-CN" altLang="en-US" sz="1050" b="1" dirty="0" smtClean="0">
                <a:solidFill>
                  <a:srgbClr val="0000FF"/>
                </a:solidFill>
                <a:latin typeface="+mn-ea"/>
              </a:rPr>
              <a:t>；</a:t>
            </a:r>
            <a:endParaRPr lang="en-US" altLang="zh-CN" sz="1050" b="1" dirty="0" smtClean="0">
              <a:solidFill>
                <a:srgbClr val="0000FF"/>
              </a:solidFill>
              <a:latin typeface="+mn-ea"/>
            </a:endParaRPr>
          </a:p>
          <a:p>
            <a:r>
              <a:rPr lang="en-US" altLang="zh-CN" sz="1050" b="1" dirty="0" smtClean="0">
                <a:solidFill>
                  <a:srgbClr val="0000FF"/>
                </a:solidFill>
                <a:latin typeface="+mn-ea"/>
              </a:rPr>
              <a:t>2</a:t>
            </a:r>
            <a:r>
              <a:rPr lang="zh-CN" altLang="en-US" sz="1050" b="1" dirty="0">
                <a:solidFill>
                  <a:srgbClr val="0000FF"/>
                </a:solidFill>
                <a:latin typeface="+mn-ea"/>
              </a:rPr>
              <a:t>）启动量产招标前给出</a:t>
            </a:r>
            <a:r>
              <a:rPr lang="en-US" altLang="zh-CN" sz="1050" b="1" dirty="0">
                <a:solidFill>
                  <a:srgbClr val="0000FF"/>
                </a:solidFill>
                <a:latin typeface="+mn-ea"/>
              </a:rPr>
              <a:t>FCS</a:t>
            </a:r>
          </a:p>
        </p:txBody>
      </p:sp>
      <p:cxnSp>
        <p:nvCxnSpPr>
          <p:cNvPr id="50" name="直接箭头连接符 49"/>
          <p:cNvCxnSpPr/>
          <p:nvPr/>
        </p:nvCxnSpPr>
        <p:spPr>
          <a:xfrm flipH="1" flipV="1">
            <a:off x="8912880" y="2334684"/>
            <a:ext cx="1002818" cy="174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152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7E2809-48E9-A1D7-F7EA-42118449E3D0}"/>
              </a:ext>
            </a:extLst>
          </p:cNvPr>
          <p:cNvSpPr>
            <a:spLocks noGrp="1"/>
          </p:cNvSpPr>
          <p:nvPr>
            <p:ph type="body" sz="quarter" idx="13"/>
          </p:nvPr>
        </p:nvSpPr>
        <p:spPr/>
        <p:txBody>
          <a:bodyPr/>
          <a:lstStyle/>
          <a:p>
            <a:r>
              <a:rPr lang="en-US" altLang="zh-CN" dirty="0" smtClean="0"/>
              <a:t>M4</a:t>
            </a:r>
            <a:r>
              <a:rPr lang="zh-CN" altLang="en-US" dirty="0" smtClean="0"/>
              <a:t>试制阶段</a:t>
            </a:r>
            <a:r>
              <a:rPr lang="en-US" altLang="zh-CN" dirty="0"/>
              <a:t>——</a:t>
            </a:r>
            <a:r>
              <a:rPr lang="zh-CN" altLang="en-US" dirty="0"/>
              <a:t>诉求、建议</a:t>
            </a:r>
          </a:p>
        </p:txBody>
      </p:sp>
      <p:graphicFrame>
        <p:nvGraphicFramePr>
          <p:cNvPr id="8" name="表格 18">
            <a:extLst>
              <a:ext uri="{FF2B5EF4-FFF2-40B4-BE49-F238E27FC236}">
                <a16:creationId xmlns:a16="http://schemas.microsoft.com/office/drawing/2014/main" id="{C4EA164D-F53E-36BD-54CC-3A76E551A949}"/>
              </a:ext>
            </a:extLst>
          </p:cNvPr>
          <p:cNvGraphicFramePr>
            <a:graphicFrameLocks noGrp="1"/>
          </p:cNvGraphicFramePr>
          <p:nvPr>
            <p:extLst>
              <p:ext uri="{D42A27DB-BD31-4B8C-83A1-F6EECF244321}">
                <p14:modId xmlns:p14="http://schemas.microsoft.com/office/powerpoint/2010/main" val="3079691772"/>
              </p:ext>
            </p:extLst>
          </p:nvPr>
        </p:nvGraphicFramePr>
        <p:xfrm>
          <a:off x="334963" y="981075"/>
          <a:ext cx="11341100" cy="1675765"/>
        </p:xfrm>
        <a:graphic>
          <a:graphicData uri="http://schemas.openxmlformats.org/drawingml/2006/table">
            <a:tbl>
              <a:tblPr firstRow="1" bandRow="1">
                <a:tableStyleId>{00A15C55-8517-42AA-B614-E9B94910E393}</a:tableStyleId>
              </a:tblPr>
              <a:tblGrid>
                <a:gridCol w="1101692">
                  <a:extLst>
                    <a:ext uri="{9D8B030D-6E8A-4147-A177-3AD203B41FA5}">
                      <a16:colId xmlns:a16="http://schemas.microsoft.com/office/drawing/2014/main" val="3334151599"/>
                    </a:ext>
                  </a:extLst>
                </a:gridCol>
                <a:gridCol w="1300899">
                  <a:extLst>
                    <a:ext uri="{9D8B030D-6E8A-4147-A177-3AD203B41FA5}">
                      <a16:colId xmlns:a16="http://schemas.microsoft.com/office/drawing/2014/main" val="2844502402"/>
                    </a:ext>
                  </a:extLst>
                </a:gridCol>
                <a:gridCol w="1263192">
                  <a:extLst>
                    <a:ext uri="{9D8B030D-6E8A-4147-A177-3AD203B41FA5}">
                      <a16:colId xmlns:a16="http://schemas.microsoft.com/office/drawing/2014/main" val="1128659240"/>
                    </a:ext>
                  </a:extLst>
                </a:gridCol>
                <a:gridCol w="4213781">
                  <a:extLst>
                    <a:ext uri="{9D8B030D-6E8A-4147-A177-3AD203B41FA5}">
                      <a16:colId xmlns:a16="http://schemas.microsoft.com/office/drawing/2014/main" val="3780626603"/>
                    </a:ext>
                  </a:extLst>
                </a:gridCol>
                <a:gridCol w="3461536">
                  <a:extLst>
                    <a:ext uri="{9D8B030D-6E8A-4147-A177-3AD203B41FA5}">
                      <a16:colId xmlns:a16="http://schemas.microsoft.com/office/drawing/2014/main" val="2468479109"/>
                    </a:ext>
                  </a:extLst>
                </a:gridCol>
              </a:tblGrid>
              <a:tr h="31318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200" dirty="0"/>
                        <a:t>阶段</a:t>
                      </a:r>
                      <a:endParaRPr lang="zh-CN" altLang="en-US" sz="1200" dirty="0">
                        <a:latin typeface="+mn-ea"/>
                        <a:ea typeface="+mn-ea"/>
                      </a:endParaRPr>
                    </a:p>
                  </a:txBody>
                  <a:tcPr anchor="ctr"/>
                </a:tc>
                <a:tc>
                  <a:txBody>
                    <a:bodyPr/>
                    <a:lstStyle/>
                    <a:p>
                      <a:pPr algn="ctr"/>
                      <a:r>
                        <a:rPr lang="zh-CN" altLang="en-US" sz="1200" dirty="0"/>
                        <a:t>项目角色</a:t>
                      </a:r>
                      <a:endParaRPr lang="zh-CN" altLang="en-US" sz="1200" dirty="0">
                        <a:latin typeface="+mn-ea"/>
                        <a:ea typeface="+mn-ea"/>
                      </a:endParaRPr>
                    </a:p>
                  </a:txBody>
                  <a:tcPr anchor="ctr"/>
                </a:tc>
                <a:tc>
                  <a:txBody>
                    <a:bodyPr/>
                    <a:lstStyle/>
                    <a:p>
                      <a:pPr algn="ctr"/>
                      <a:r>
                        <a:rPr lang="zh-CN" altLang="en-US" sz="1200" dirty="0" smtClean="0">
                          <a:latin typeface="+mn-ea"/>
                          <a:ea typeface="+mn-ea"/>
                        </a:rPr>
                        <a:t>类型</a:t>
                      </a:r>
                      <a:endParaRPr lang="zh-CN" altLang="en-US" sz="1200" dirty="0">
                        <a:latin typeface="+mn-ea"/>
                        <a:ea typeface="+mn-ea"/>
                      </a:endParaRPr>
                    </a:p>
                  </a:txBody>
                  <a:tcPr anchor="ctr"/>
                </a:tc>
                <a:tc>
                  <a:txBody>
                    <a:bodyPr/>
                    <a:lstStyle/>
                    <a:p>
                      <a:pPr algn="ctr"/>
                      <a:r>
                        <a:rPr lang="zh-CN" altLang="en-US" sz="1200" dirty="0"/>
                        <a:t>诉求</a:t>
                      </a:r>
                      <a:r>
                        <a:rPr lang="en-US" altLang="zh-CN" sz="1200" dirty="0"/>
                        <a:t>/</a:t>
                      </a:r>
                      <a:r>
                        <a:rPr lang="zh-CN" altLang="en-US" sz="1200" dirty="0"/>
                        <a:t>建议</a:t>
                      </a:r>
                      <a:endParaRPr lang="zh-CN" altLang="en-US" sz="1200" dirty="0">
                        <a:latin typeface="+mn-ea"/>
                        <a:ea typeface="+mn-ea"/>
                      </a:endParaRPr>
                    </a:p>
                  </a:txBody>
                  <a:tcPr anchor="ctr"/>
                </a:tc>
                <a:tc>
                  <a:txBody>
                    <a:bodyPr/>
                    <a:lstStyle/>
                    <a:p>
                      <a:pPr algn="ctr"/>
                      <a:r>
                        <a:rPr lang="zh-CN" altLang="en-US" sz="1200" dirty="0" smtClean="0"/>
                        <a:t>备注</a:t>
                      </a:r>
                      <a:endParaRPr lang="zh-CN" altLang="en-US" sz="1200" dirty="0"/>
                    </a:p>
                  </a:txBody>
                  <a:tcPr anchor="ctr"/>
                </a:tc>
                <a:extLst>
                  <a:ext uri="{0D108BD9-81ED-4DB2-BD59-A6C34878D82A}">
                    <a16:rowId xmlns:a16="http://schemas.microsoft.com/office/drawing/2014/main" val="4249472911"/>
                  </a:ext>
                </a:extLst>
              </a:tr>
              <a:tr h="1362580">
                <a:tc>
                  <a:txBody>
                    <a:bodyPr/>
                    <a:lstStyle/>
                    <a:p>
                      <a:pPr algn="ctr" fontAlgn="ctr" latinLnBrk="0"/>
                      <a:r>
                        <a:rPr lang="en-US" altLang="zh-CN" sz="1050" dirty="0" smtClean="0">
                          <a:solidFill>
                            <a:schemeClr val="tx1"/>
                          </a:solidFill>
                          <a:effectLst/>
                          <a:latin typeface="+mn-ea"/>
                          <a:ea typeface="+mn-ea"/>
                        </a:rPr>
                        <a:t>L10-</a:t>
                      </a:r>
                      <a:r>
                        <a:rPr lang="zh-CN" altLang="en-US" sz="1050" dirty="0" smtClean="0">
                          <a:solidFill>
                            <a:schemeClr val="tx1"/>
                          </a:solidFill>
                          <a:effectLst/>
                          <a:latin typeface="+mn-ea"/>
                          <a:ea typeface="+mn-ea"/>
                        </a:rPr>
                        <a:t>首件</a:t>
                      </a:r>
                      <a:r>
                        <a:rPr lang="en-US" altLang="zh-CN" sz="1050" dirty="0" smtClean="0">
                          <a:solidFill>
                            <a:schemeClr val="tx1"/>
                          </a:solidFill>
                          <a:effectLst/>
                          <a:latin typeface="+mn-ea"/>
                          <a:ea typeface="+mn-ea"/>
                        </a:rPr>
                        <a:t>/</a:t>
                      </a:r>
                      <a:r>
                        <a:rPr lang="zh-CN" altLang="en-US" sz="1050" dirty="0" smtClean="0">
                          <a:solidFill>
                            <a:schemeClr val="tx1"/>
                          </a:solidFill>
                          <a:effectLst/>
                          <a:latin typeface="+mn-ea"/>
                          <a:ea typeface="+mn-ea"/>
                        </a:rPr>
                        <a:t>批量试制</a:t>
                      </a:r>
                      <a:endParaRPr lang="en-US" sz="1050" dirty="0">
                        <a:solidFill>
                          <a:schemeClr val="tx1"/>
                        </a:solidFill>
                        <a:effectLst/>
                        <a:latin typeface="+mn-ea"/>
                        <a:ea typeface="+mn-ea"/>
                      </a:endParaRPr>
                    </a:p>
                  </a:txBody>
                  <a:tcPr anchor="ctr"/>
                </a:tc>
                <a:tc>
                  <a:txBody>
                    <a:bodyPr/>
                    <a:lstStyle/>
                    <a:p>
                      <a:pPr algn="ctr" fontAlgn="ctr" latinLnBrk="0"/>
                      <a:r>
                        <a:rPr lang="zh-CN" altLang="en-US" sz="1050" dirty="0" smtClean="0">
                          <a:solidFill>
                            <a:schemeClr val="tx1"/>
                          </a:solidFill>
                          <a:effectLst/>
                          <a:latin typeface="+mn-ea"/>
                          <a:ea typeface="+mn-ea"/>
                        </a:rPr>
                        <a:t>产品经理</a:t>
                      </a:r>
                      <a:r>
                        <a:rPr lang="en-US" altLang="zh-CN" sz="1050" dirty="0" smtClean="0">
                          <a:solidFill>
                            <a:schemeClr val="tx1"/>
                          </a:solidFill>
                          <a:effectLst/>
                          <a:latin typeface="+mn-ea"/>
                          <a:ea typeface="+mn-ea"/>
                        </a:rPr>
                        <a:t>B/</a:t>
                      </a:r>
                      <a:r>
                        <a:rPr lang="zh-CN" altLang="en-US" sz="1050" dirty="0" smtClean="0">
                          <a:solidFill>
                            <a:schemeClr val="tx1"/>
                          </a:solidFill>
                          <a:effectLst/>
                          <a:latin typeface="+mn-ea"/>
                          <a:ea typeface="+mn-ea"/>
                        </a:rPr>
                        <a:t>产品工程师</a:t>
                      </a:r>
                      <a:endParaRPr lang="en-US" altLang="zh-CN" sz="1050" dirty="0">
                        <a:solidFill>
                          <a:schemeClr val="tx1"/>
                        </a:solidFill>
                        <a:effectLst/>
                        <a:latin typeface="+mn-ea"/>
                        <a:ea typeface="+mn-ea"/>
                      </a:endParaRPr>
                    </a:p>
                  </a:txBody>
                  <a:tcPr anchor="ctr"/>
                </a:tc>
                <a:tc>
                  <a:txBody>
                    <a:bodyPr/>
                    <a:lstStyle/>
                    <a:p>
                      <a:pPr algn="ctr" fontAlgn="ctr" latinLnBrk="0"/>
                      <a:r>
                        <a:rPr lang="zh-CN" altLang="en-US" sz="1050" dirty="0">
                          <a:solidFill>
                            <a:schemeClr val="tx1"/>
                          </a:solidFill>
                          <a:effectLst/>
                          <a:latin typeface="+mn-ea"/>
                          <a:ea typeface="+mn-ea"/>
                        </a:rPr>
                        <a:t>统筹管理</a:t>
                      </a:r>
                    </a:p>
                  </a:txBody>
                  <a:tcPr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050" b="1" dirty="0" smtClean="0">
                          <a:solidFill>
                            <a:schemeClr val="tx1"/>
                          </a:solidFill>
                          <a:effectLst/>
                          <a:latin typeface="+mn-ea"/>
                          <a:ea typeface="+mn-ea"/>
                        </a:rPr>
                        <a:t>1</a:t>
                      </a:r>
                      <a:r>
                        <a:rPr lang="zh-CN" altLang="en-US" sz="1050" b="1" dirty="0" smtClean="0">
                          <a:solidFill>
                            <a:schemeClr val="tx1"/>
                          </a:solidFill>
                          <a:effectLst/>
                          <a:latin typeface="+mn-ea"/>
                          <a:ea typeface="+mn-ea"/>
                        </a:rPr>
                        <a:t>）诉求：</a:t>
                      </a:r>
                      <a:r>
                        <a:rPr lang="zh-CN" altLang="en-US" sz="1050" dirty="0" smtClean="0">
                          <a:solidFill>
                            <a:schemeClr val="tx1"/>
                          </a:solidFill>
                          <a:effectLst/>
                          <a:latin typeface="+mn-ea"/>
                          <a:ea typeface="+mn-ea"/>
                        </a:rPr>
                        <a:t>跟踪试产问题，尽早完成闭环，输出相关试产报告，避免成为转段缺失关键资料</a:t>
                      </a:r>
                      <a:endParaRPr lang="en-US" altLang="zh-CN" sz="1050" dirty="0">
                        <a:solidFill>
                          <a:schemeClr val="tx1"/>
                        </a:solidFill>
                        <a:effectLst/>
                        <a:latin typeface="+mn-ea"/>
                        <a:ea typeface="+mn-ea"/>
                      </a:endParaRPr>
                    </a:p>
                  </a:txBody>
                  <a:tcPr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zh-CN" altLang="en-US" sz="1050" dirty="0" smtClean="0">
                          <a:solidFill>
                            <a:schemeClr val="tx1"/>
                          </a:solidFill>
                          <a:effectLst/>
                          <a:latin typeface="+mn-ea"/>
                          <a:ea typeface="+mn-ea"/>
                        </a:rPr>
                        <a:t>南海</a:t>
                      </a:r>
                      <a:r>
                        <a:rPr lang="en-US" altLang="zh-CN" sz="1050" dirty="0" smtClean="0">
                          <a:solidFill>
                            <a:schemeClr val="tx1"/>
                          </a:solidFill>
                          <a:effectLst/>
                          <a:latin typeface="+mn-ea"/>
                          <a:ea typeface="+mn-ea"/>
                        </a:rPr>
                        <a:t>R620G50</a:t>
                      </a:r>
                      <a:r>
                        <a:rPr lang="zh-CN" altLang="en-US" sz="1050" dirty="0" smtClean="0">
                          <a:solidFill>
                            <a:schemeClr val="tx1"/>
                          </a:solidFill>
                          <a:effectLst/>
                          <a:latin typeface="+mn-ea"/>
                          <a:ea typeface="+mn-ea"/>
                        </a:rPr>
                        <a:t>机型进行二次试产闭环问题，经过比较长时间的问题讨论与决策才最终输出试产报告。</a:t>
                      </a:r>
                      <a:endParaRPr lang="en-US" altLang="zh-CN" sz="1050" dirty="0">
                        <a:solidFill>
                          <a:schemeClr val="tx1"/>
                        </a:solidFill>
                        <a:effectLst/>
                        <a:latin typeface="+mn-ea"/>
                        <a:ea typeface="+mn-ea"/>
                      </a:endParaRPr>
                    </a:p>
                  </a:txBody>
                  <a:tcPr anchor="ctr"/>
                </a:tc>
                <a:extLst>
                  <a:ext uri="{0D108BD9-81ED-4DB2-BD59-A6C34878D82A}">
                    <a16:rowId xmlns:a16="http://schemas.microsoft.com/office/drawing/2014/main" val="575491213"/>
                  </a:ext>
                </a:extLst>
              </a:tr>
            </a:tbl>
          </a:graphicData>
        </a:graphic>
      </p:graphicFrame>
    </p:spTree>
    <p:extLst>
      <p:ext uri="{BB962C8B-B14F-4D97-AF65-F5344CB8AC3E}">
        <p14:creationId xmlns:p14="http://schemas.microsoft.com/office/powerpoint/2010/main" val="12918800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7E2809-48E9-A1D7-F7EA-42118449E3D0}"/>
              </a:ext>
            </a:extLst>
          </p:cNvPr>
          <p:cNvSpPr>
            <a:spLocks noGrp="1"/>
          </p:cNvSpPr>
          <p:nvPr>
            <p:ph type="body" sz="quarter" idx="13"/>
          </p:nvPr>
        </p:nvSpPr>
        <p:spPr/>
        <p:txBody>
          <a:bodyPr/>
          <a:lstStyle/>
          <a:p>
            <a:r>
              <a:rPr lang="zh-CN" altLang="en-US" dirty="0"/>
              <a:t>产品研发全过程</a:t>
            </a:r>
            <a:r>
              <a:rPr lang="en-US" altLang="zh-CN" dirty="0" smtClean="0"/>
              <a:t>——</a:t>
            </a:r>
            <a:r>
              <a:rPr lang="zh-CN" altLang="en-US" dirty="0" smtClean="0"/>
              <a:t>建议诉求</a:t>
            </a:r>
            <a:endParaRPr lang="zh-CN" altLang="en-US" dirty="0"/>
          </a:p>
        </p:txBody>
      </p:sp>
      <p:graphicFrame>
        <p:nvGraphicFramePr>
          <p:cNvPr id="4" name="表格 18">
            <a:extLst>
              <a:ext uri="{FF2B5EF4-FFF2-40B4-BE49-F238E27FC236}">
                <a16:creationId xmlns:a16="http://schemas.microsoft.com/office/drawing/2014/main" id="{C4EA164D-F53E-36BD-54CC-3A76E551A949}"/>
              </a:ext>
            </a:extLst>
          </p:cNvPr>
          <p:cNvGraphicFramePr>
            <a:graphicFrameLocks noGrp="1"/>
          </p:cNvGraphicFramePr>
          <p:nvPr>
            <p:extLst>
              <p:ext uri="{D42A27DB-BD31-4B8C-83A1-F6EECF244321}">
                <p14:modId xmlns:p14="http://schemas.microsoft.com/office/powerpoint/2010/main" val="3593163779"/>
              </p:ext>
            </p:extLst>
          </p:nvPr>
        </p:nvGraphicFramePr>
        <p:xfrm>
          <a:off x="334963" y="981075"/>
          <a:ext cx="11341100" cy="1675765"/>
        </p:xfrm>
        <a:graphic>
          <a:graphicData uri="http://schemas.openxmlformats.org/drawingml/2006/table">
            <a:tbl>
              <a:tblPr firstRow="1" bandRow="1">
                <a:tableStyleId>{00A15C55-8517-42AA-B614-E9B94910E393}</a:tableStyleId>
              </a:tblPr>
              <a:tblGrid>
                <a:gridCol w="1101692">
                  <a:extLst>
                    <a:ext uri="{9D8B030D-6E8A-4147-A177-3AD203B41FA5}">
                      <a16:colId xmlns:a16="http://schemas.microsoft.com/office/drawing/2014/main" val="3334151599"/>
                    </a:ext>
                  </a:extLst>
                </a:gridCol>
                <a:gridCol w="1300899">
                  <a:extLst>
                    <a:ext uri="{9D8B030D-6E8A-4147-A177-3AD203B41FA5}">
                      <a16:colId xmlns:a16="http://schemas.microsoft.com/office/drawing/2014/main" val="2844502402"/>
                    </a:ext>
                  </a:extLst>
                </a:gridCol>
                <a:gridCol w="1263192">
                  <a:extLst>
                    <a:ext uri="{9D8B030D-6E8A-4147-A177-3AD203B41FA5}">
                      <a16:colId xmlns:a16="http://schemas.microsoft.com/office/drawing/2014/main" val="1128659240"/>
                    </a:ext>
                  </a:extLst>
                </a:gridCol>
                <a:gridCol w="4213781">
                  <a:extLst>
                    <a:ext uri="{9D8B030D-6E8A-4147-A177-3AD203B41FA5}">
                      <a16:colId xmlns:a16="http://schemas.microsoft.com/office/drawing/2014/main" val="3780626603"/>
                    </a:ext>
                  </a:extLst>
                </a:gridCol>
                <a:gridCol w="3461536">
                  <a:extLst>
                    <a:ext uri="{9D8B030D-6E8A-4147-A177-3AD203B41FA5}">
                      <a16:colId xmlns:a16="http://schemas.microsoft.com/office/drawing/2014/main" val="2468479109"/>
                    </a:ext>
                  </a:extLst>
                </a:gridCol>
              </a:tblGrid>
              <a:tr h="31318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200" dirty="0"/>
                        <a:t>阶段</a:t>
                      </a:r>
                      <a:endParaRPr lang="zh-CN" altLang="en-US" sz="1200" dirty="0">
                        <a:latin typeface="+mn-ea"/>
                        <a:ea typeface="+mn-ea"/>
                      </a:endParaRPr>
                    </a:p>
                  </a:txBody>
                  <a:tcPr anchor="ctr"/>
                </a:tc>
                <a:tc>
                  <a:txBody>
                    <a:bodyPr/>
                    <a:lstStyle/>
                    <a:p>
                      <a:pPr algn="ctr"/>
                      <a:r>
                        <a:rPr lang="zh-CN" altLang="en-US" sz="1200" dirty="0"/>
                        <a:t>项目角色</a:t>
                      </a:r>
                      <a:endParaRPr lang="zh-CN" altLang="en-US" sz="1200" dirty="0">
                        <a:latin typeface="+mn-ea"/>
                        <a:ea typeface="+mn-ea"/>
                      </a:endParaRPr>
                    </a:p>
                  </a:txBody>
                  <a:tcPr anchor="ctr"/>
                </a:tc>
                <a:tc>
                  <a:txBody>
                    <a:bodyPr/>
                    <a:lstStyle/>
                    <a:p>
                      <a:pPr algn="ctr"/>
                      <a:r>
                        <a:rPr lang="zh-CN" altLang="en-US" sz="1200" dirty="0" smtClean="0">
                          <a:latin typeface="+mn-ea"/>
                          <a:ea typeface="+mn-ea"/>
                        </a:rPr>
                        <a:t>类型</a:t>
                      </a:r>
                      <a:endParaRPr lang="zh-CN" altLang="en-US" sz="1200" dirty="0">
                        <a:latin typeface="+mn-ea"/>
                        <a:ea typeface="+mn-ea"/>
                      </a:endParaRPr>
                    </a:p>
                  </a:txBody>
                  <a:tcPr anchor="ctr"/>
                </a:tc>
                <a:tc>
                  <a:txBody>
                    <a:bodyPr/>
                    <a:lstStyle/>
                    <a:p>
                      <a:pPr algn="ctr"/>
                      <a:r>
                        <a:rPr lang="zh-CN" altLang="en-US" sz="1200" dirty="0"/>
                        <a:t>诉求</a:t>
                      </a:r>
                      <a:r>
                        <a:rPr lang="en-US" altLang="zh-CN" sz="1200" dirty="0"/>
                        <a:t>/</a:t>
                      </a:r>
                      <a:r>
                        <a:rPr lang="zh-CN" altLang="en-US" sz="1200" dirty="0"/>
                        <a:t>建议</a:t>
                      </a:r>
                      <a:endParaRPr lang="zh-CN" altLang="en-US" sz="1200" dirty="0">
                        <a:latin typeface="+mn-ea"/>
                        <a:ea typeface="+mn-ea"/>
                      </a:endParaRPr>
                    </a:p>
                  </a:txBody>
                  <a:tcPr anchor="ctr"/>
                </a:tc>
                <a:tc>
                  <a:txBody>
                    <a:bodyPr/>
                    <a:lstStyle/>
                    <a:p>
                      <a:pPr algn="ctr"/>
                      <a:r>
                        <a:rPr lang="zh-CN" altLang="en-US" sz="1200" dirty="0" smtClean="0"/>
                        <a:t>备注</a:t>
                      </a:r>
                      <a:endParaRPr lang="zh-CN" altLang="en-US" sz="1200" dirty="0"/>
                    </a:p>
                  </a:txBody>
                  <a:tcPr anchor="ctr"/>
                </a:tc>
                <a:extLst>
                  <a:ext uri="{0D108BD9-81ED-4DB2-BD59-A6C34878D82A}">
                    <a16:rowId xmlns:a16="http://schemas.microsoft.com/office/drawing/2014/main" val="4249472911"/>
                  </a:ext>
                </a:extLst>
              </a:tr>
              <a:tr h="1362580">
                <a:tc>
                  <a:txBody>
                    <a:bodyPr/>
                    <a:lstStyle/>
                    <a:p>
                      <a:pPr algn="ctr" fontAlgn="ctr" latinLnBrk="0"/>
                      <a:r>
                        <a:rPr lang="zh-CN" altLang="en-US" sz="1100" dirty="0">
                          <a:solidFill>
                            <a:srgbClr val="000000"/>
                          </a:solidFill>
                          <a:effectLst/>
                          <a:latin typeface="+mn-ea"/>
                          <a:ea typeface="+mn-ea"/>
                        </a:rPr>
                        <a:t>产品研发全过程</a:t>
                      </a:r>
                    </a:p>
                  </a:txBody>
                  <a:tcPr anchor="ctr"/>
                </a:tc>
                <a:tc>
                  <a:txBody>
                    <a:bodyPr/>
                    <a:lstStyle/>
                    <a:p>
                      <a:pPr algn="ctr" fontAlgn="ctr" latinLnBrk="0"/>
                      <a:r>
                        <a:rPr lang="zh-CN" altLang="en-US" sz="1100" dirty="0">
                          <a:solidFill>
                            <a:srgbClr val="000000"/>
                          </a:solidFill>
                          <a:effectLst/>
                          <a:latin typeface="+mn-ea"/>
                          <a:ea typeface="+mn-ea"/>
                        </a:rPr>
                        <a:t>开发经理，</a:t>
                      </a:r>
                      <a:endParaRPr lang="en-US" altLang="zh-CN" sz="1100" dirty="0">
                        <a:solidFill>
                          <a:srgbClr val="000000"/>
                        </a:solidFill>
                        <a:effectLst/>
                        <a:latin typeface="+mn-ea"/>
                        <a:ea typeface="+mn-ea"/>
                      </a:endParaRPr>
                    </a:p>
                    <a:p>
                      <a:pPr algn="ctr" fontAlgn="ctr" latinLnBrk="0"/>
                      <a:r>
                        <a:rPr lang="zh-CN" altLang="en-US" sz="1100" dirty="0">
                          <a:solidFill>
                            <a:srgbClr val="000000"/>
                          </a:solidFill>
                          <a:effectLst/>
                          <a:latin typeface="+mn-ea"/>
                          <a:ea typeface="+mn-ea"/>
                        </a:rPr>
                        <a:t>架构师</a:t>
                      </a:r>
                    </a:p>
                  </a:txBody>
                  <a:tcPr anchor="ctr"/>
                </a:tc>
                <a:tc>
                  <a:txBody>
                    <a:bodyPr/>
                    <a:lstStyle/>
                    <a:p>
                      <a:pPr algn="ctr" fontAlgn="ctr" latinLnBrk="0"/>
                      <a:r>
                        <a:rPr lang="zh-CN" altLang="en-US" sz="1100" dirty="0">
                          <a:solidFill>
                            <a:srgbClr val="000000"/>
                          </a:solidFill>
                          <a:effectLst/>
                          <a:latin typeface="+mn-ea"/>
                          <a:ea typeface="+mn-ea"/>
                        </a:rPr>
                        <a:t>经验分享</a:t>
                      </a:r>
                    </a:p>
                  </a:txBody>
                  <a:tcPr anchor="ctr"/>
                </a:tc>
                <a:tc>
                  <a:txBody>
                    <a:bodyPr/>
                    <a:lstStyle/>
                    <a:p>
                      <a:pPr algn="l" fontAlgn="ctr" latinLnBrk="0"/>
                      <a:r>
                        <a:rPr lang="zh-CN" altLang="en-US" sz="1100" b="1" dirty="0" smtClean="0">
                          <a:solidFill>
                            <a:srgbClr val="000000"/>
                          </a:solidFill>
                          <a:effectLst/>
                          <a:latin typeface="+mn-ea"/>
                          <a:ea typeface="+mn-ea"/>
                        </a:rPr>
                        <a:t>建议：</a:t>
                      </a:r>
                      <a:r>
                        <a:rPr lang="zh-CN" altLang="en-US" sz="1100" dirty="0" smtClean="0">
                          <a:solidFill>
                            <a:srgbClr val="000000"/>
                          </a:solidFill>
                          <a:effectLst/>
                          <a:latin typeface="+mn-ea"/>
                          <a:ea typeface="+mn-ea"/>
                        </a:rPr>
                        <a:t>针对</a:t>
                      </a:r>
                      <a:r>
                        <a:rPr lang="zh-CN" altLang="en-US" sz="1100" dirty="0">
                          <a:solidFill>
                            <a:srgbClr val="000000"/>
                          </a:solidFill>
                          <a:effectLst/>
                          <a:latin typeface="+mn-ea"/>
                          <a:ea typeface="+mn-ea"/>
                        </a:rPr>
                        <a:t>项目技术难点、卡点问题，建议组织技术主题经验分享交流（最好三地，多事业部），可减少其他项目重复淌坑问题。</a:t>
                      </a:r>
                    </a:p>
                  </a:txBody>
                  <a:tcPr anchor="ctr"/>
                </a:tc>
                <a:tc>
                  <a:txBody>
                    <a:bodyPr/>
                    <a:lstStyle/>
                    <a:p>
                      <a:pPr algn="l" fontAlgn="ctr" latinLnBrk="0"/>
                      <a:r>
                        <a:rPr lang="en-US" altLang="zh-CN" sz="1100" dirty="0">
                          <a:solidFill>
                            <a:srgbClr val="000000"/>
                          </a:solidFill>
                          <a:effectLst/>
                          <a:latin typeface="+mn-ea"/>
                          <a:ea typeface="+mn-ea"/>
                        </a:rPr>
                        <a:t>1</a:t>
                      </a:r>
                      <a:r>
                        <a:rPr lang="zh-CN" altLang="en-US" sz="1100" dirty="0">
                          <a:solidFill>
                            <a:srgbClr val="000000"/>
                          </a:solidFill>
                          <a:effectLst/>
                          <a:latin typeface="+mn-ea"/>
                          <a:ea typeface="+mn-ea"/>
                        </a:rPr>
                        <a:t>、松花湖海光三号</a:t>
                      </a:r>
                      <a:r>
                        <a:rPr lang="en-US" altLang="zh-CN" sz="1100" dirty="0">
                          <a:solidFill>
                            <a:srgbClr val="000000"/>
                          </a:solidFill>
                          <a:effectLst/>
                          <a:latin typeface="+mn-ea"/>
                          <a:ea typeface="+mn-ea"/>
                        </a:rPr>
                        <a:t>7000</a:t>
                      </a:r>
                      <a:r>
                        <a:rPr lang="zh-CN" altLang="en-US" sz="1100" dirty="0">
                          <a:solidFill>
                            <a:srgbClr val="000000"/>
                          </a:solidFill>
                          <a:effectLst/>
                          <a:latin typeface="+mn-ea"/>
                          <a:ea typeface="+mn-ea"/>
                        </a:rPr>
                        <a:t>系列</a:t>
                      </a:r>
                      <a:r>
                        <a:rPr lang="en-US" altLang="zh-CN" sz="1100" dirty="0">
                          <a:solidFill>
                            <a:srgbClr val="000000"/>
                          </a:solidFill>
                          <a:effectLst/>
                          <a:latin typeface="+mn-ea"/>
                          <a:ea typeface="+mn-ea"/>
                        </a:rPr>
                        <a:t>hang</a:t>
                      </a:r>
                      <a:r>
                        <a:rPr lang="zh-CN" altLang="en-US" sz="1100" dirty="0">
                          <a:solidFill>
                            <a:srgbClr val="000000"/>
                          </a:solidFill>
                          <a:effectLst/>
                          <a:latin typeface="+mn-ea"/>
                          <a:ea typeface="+mn-ea"/>
                        </a:rPr>
                        <a:t>机</a:t>
                      </a:r>
                      <a:r>
                        <a:rPr lang="en-US" altLang="zh-CN" sz="1100" dirty="0">
                          <a:solidFill>
                            <a:srgbClr val="000000"/>
                          </a:solidFill>
                          <a:effectLst/>
                          <a:latin typeface="+mn-ea"/>
                          <a:ea typeface="+mn-ea"/>
                        </a:rPr>
                        <a:t>bug</a:t>
                      </a:r>
                      <a:r>
                        <a:rPr lang="zh-CN" altLang="en-US" sz="1100" dirty="0">
                          <a:solidFill>
                            <a:srgbClr val="000000"/>
                          </a:solidFill>
                          <a:effectLst/>
                          <a:latin typeface="+mn-ea"/>
                          <a:ea typeface="+mn-ea"/>
                        </a:rPr>
                        <a:t>，南松湖（主板：</a:t>
                      </a:r>
                      <a:r>
                        <a:rPr lang="en-US" altLang="zh-CN" sz="1100" dirty="0">
                          <a:solidFill>
                            <a:srgbClr val="000000"/>
                          </a:solidFill>
                          <a:effectLst/>
                          <a:latin typeface="+mn-ea"/>
                          <a:ea typeface="+mn-ea"/>
                        </a:rPr>
                        <a:t>32DB16</a:t>
                      </a:r>
                      <a:r>
                        <a:rPr lang="zh-CN" altLang="en-US" sz="1100" dirty="0">
                          <a:solidFill>
                            <a:srgbClr val="000000"/>
                          </a:solidFill>
                          <a:effectLst/>
                          <a:latin typeface="+mn-ea"/>
                          <a:ea typeface="+mn-ea"/>
                        </a:rPr>
                        <a:t>）曾出现过，但因信息未流通，导致项目组花费</a:t>
                      </a:r>
                      <a:r>
                        <a:rPr lang="en-US" altLang="zh-CN" sz="1100" dirty="0">
                          <a:solidFill>
                            <a:srgbClr val="000000"/>
                          </a:solidFill>
                          <a:effectLst/>
                          <a:latin typeface="+mn-ea"/>
                          <a:ea typeface="+mn-ea"/>
                        </a:rPr>
                        <a:t>2</a:t>
                      </a:r>
                      <a:r>
                        <a:rPr lang="zh-CN" altLang="en-US" sz="1100" dirty="0">
                          <a:solidFill>
                            <a:srgbClr val="000000"/>
                          </a:solidFill>
                          <a:effectLst/>
                          <a:latin typeface="+mn-ea"/>
                          <a:ea typeface="+mn-ea"/>
                        </a:rPr>
                        <a:t>周排查问题方向。</a:t>
                      </a:r>
                      <a:br>
                        <a:rPr lang="zh-CN" altLang="en-US" sz="1100" dirty="0">
                          <a:solidFill>
                            <a:srgbClr val="000000"/>
                          </a:solidFill>
                          <a:effectLst/>
                          <a:latin typeface="+mn-ea"/>
                          <a:ea typeface="+mn-ea"/>
                        </a:rPr>
                      </a:br>
                      <a:r>
                        <a:rPr lang="en-US" altLang="zh-CN" sz="1100" dirty="0">
                          <a:solidFill>
                            <a:srgbClr val="000000"/>
                          </a:solidFill>
                          <a:effectLst/>
                          <a:latin typeface="+mn-ea"/>
                          <a:ea typeface="+mn-ea"/>
                        </a:rPr>
                        <a:t>2</a:t>
                      </a:r>
                      <a:r>
                        <a:rPr lang="zh-CN" altLang="en-US" sz="1100" dirty="0">
                          <a:solidFill>
                            <a:srgbClr val="000000"/>
                          </a:solidFill>
                          <a:effectLst/>
                          <a:latin typeface="+mn-ea"/>
                          <a:ea typeface="+mn-ea"/>
                        </a:rPr>
                        <a:t>、</a:t>
                      </a:r>
                      <a:r>
                        <a:rPr lang="en-US" altLang="zh-CN" sz="1100" dirty="0">
                          <a:solidFill>
                            <a:srgbClr val="000000"/>
                          </a:solidFill>
                          <a:effectLst/>
                          <a:latin typeface="+mn-ea"/>
                          <a:ea typeface="+mn-ea"/>
                        </a:rPr>
                        <a:t>HG4</a:t>
                      </a:r>
                      <a:r>
                        <a:rPr lang="zh-CN" altLang="en-US" sz="1100" dirty="0">
                          <a:solidFill>
                            <a:srgbClr val="000000"/>
                          </a:solidFill>
                          <a:effectLst/>
                          <a:latin typeface="+mn-ea"/>
                          <a:ea typeface="+mn-ea"/>
                        </a:rPr>
                        <a:t>号技术难点，可定期做技术分享，减少后续新项目重复淌坑。</a:t>
                      </a:r>
                    </a:p>
                  </a:txBody>
                  <a:tcPr anchor="ctr"/>
                </a:tc>
                <a:extLst>
                  <a:ext uri="{0D108BD9-81ED-4DB2-BD59-A6C34878D82A}">
                    <a16:rowId xmlns:a16="http://schemas.microsoft.com/office/drawing/2014/main" val="575491213"/>
                  </a:ext>
                </a:extLst>
              </a:tr>
            </a:tbl>
          </a:graphicData>
        </a:graphic>
      </p:graphicFrame>
    </p:spTree>
    <p:extLst>
      <p:ext uri="{BB962C8B-B14F-4D97-AF65-F5344CB8AC3E}">
        <p14:creationId xmlns:p14="http://schemas.microsoft.com/office/powerpoint/2010/main" val="10343856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交流时间</a:t>
            </a:r>
            <a:endParaRPr lang="zh-CN" altLang="en-US" dirty="0"/>
          </a:p>
        </p:txBody>
      </p:sp>
    </p:spTree>
    <p:extLst>
      <p:ext uri="{BB962C8B-B14F-4D97-AF65-F5344CB8AC3E}">
        <p14:creationId xmlns:p14="http://schemas.microsoft.com/office/powerpoint/2010/main" val="38178843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algn="ctr"/>
            <a:r>
              <a:rPr lang="zh-CN" altLang="en-US" sz="6600" dirty="0">
                <a:latin typeface="+mn-ea"/>
                <a:ea typeface="+mn-ea"/>
                <a:cs typeface="Times New Roman" panose="02020603050405020304" pitchFamily="18" charset="0"/>
              </a:rPr>
              <a:t>谢谢大家</a:t>
            </a:r>
          </a:p>
        </p:txBody>
      </p:sp>
      <p:sp>
        <p:nvSpPr>
          <p:cNvPr id="5" name="文本占位符 2"/>
          <p:cNvSpPr>
            <a:spLocks noGrp="1"/>
          </p:cNvSpPr>
          <p:nvPr>
            <p:ph type="body" sz="quarter" idx="12"/>
          </p:nvPr>
        </p:nvSpPr>
        <p:spPr/>
        <p:txBody>
          <a:bodyPr/>
          <a:lstStyle/>
          <a:p>
            <a:endParaRPr lang="zh-CN" altLang="en-US" dirty="0"/>
          </a:p>
          <a:p>
            <a:r>
              <a:rPr lang="zh-CN" altLang="en-US" dirty="0"/>
              <a:t>       </a:t>
            </a:r>
          </a:p>
        </p:txBody>
      </p:sp>
      <p:sp>
        <p:nvSpPr>
          <p:cNvPr id="4" name="文本占位符 4"/>
          <p:cNvSpPr txBox="1"/>
          <p:nvPr/>
        </p:nvSpPr>
        <p:spPr>
          <a:xfrm>
            <a:off x="8976320" y="2852936"/>
            <a:ext cx="1920213" cy="384043"/>
          </a:xfrm>
          <a:prstGeom prst="rect">
            <a:avLst/>
          </a:prstGeom>
        </p:spPr>
        <p:txBody>
          <a:bodyPr vert="horz" lIns="121920" tIns="60960" rIns="121920" bIns="60960" rtlCol="0">
            <a:noAutofit/>
          </a:bodyPr>
          <a:lstStyle>
            <a:lvl1pPr marL="0" indent="0" algn="l" rtl="0" eaLnBrk="1" fontAlgn="base" hangingPunct="1">
              <a:spcBef>
                <a:spcPct val="20000"/>
              </a:spcBef>
              <a:spcAft>
                <a:spcPct val="0"/>
              </a:spcAft>
              <a:buFont typeface="Arial" panose="020B0604020202020204" pitchFamily="34" charset="0"/>
              <a:buNone/>
              <a:defRPr lang="zh-CN" altLang="en-US" sz="1600" kern="1200">
                <a:solidFill>
                  <a:schemeClr val="bg1"/>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Font typeface="Arial" panose="020B0604020202020204" pitchFamily="34" charset="0"/>
              <a:buChar char="–"/>
              <a:defRPr lang="zh-CN" altLang="en-US"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1219170" rtl="0" eaLnBrk="1" fontAlgn="base" latinLnBrk="0" hangingPunct="1">
              <a:lnSpc>
                <a:spcPct val="100000"/>
              </a:lnSpc>
              <a:spcBef>
                <a:spcPct val="20000"/>
              </a:spcBef>
              <a:spcAft>
                <a:spcPct val="0"/>
              </a:spcAft>
              <a:buClrTx/>
              <a:buSzTx/>
              <a:buFont typeface="Arial" panose="020B0604020202020204" pitchFamily="34" charset="0"/>
              <a:buNone/>
              <a:tabLst/>
              <a:defRPr/>
            </a:pPr>
            <a:endParaRPr kumimoji="0" lang="zh-CN" alt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文本占位符 1">
            <a:extLst>
              <a:ext uri="{FF2B5EF4-FFF2-40B4-BE49-F238E27FC236}">
                <a16:creationId xmlns:a16="http://schemas.microsoft.com/office/drawing/2014/main" id="{0A792CE7-AA6B-49C9-D3BF-0E5F2570A9E9}"/>
              </a:ext>
            </a:extLst>
          </p:cNvPr>
          <p:cNvSpPr txBox="1">
            <a:spLocks/>
          </p:cNvSpPr>
          <p:nvPr/>
        </p:nvSpPr>
        <p:spPr>
          <a:xfrm>
            <a:off x="8382286" y="5009507"/>
            <a:ext cx="2415947" cy="627739"/>
          </a:xfrm>
          <a:prstGeom prst="rect">
            <a:avLst/>
          </a:prstGeom>
        </p:spPr>
        <p:txBody>
          <a:bodyPr/>
          <a:lst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2400" b="0" i="0" u="none" strike="noStrike" kern="1200" cap="none" spc="0" normalizeH="0" baseline="0" noProof="0" dirty="0">
                <a:ln>
                  <a:noFill/>
                </a:ln>
                <a:solidFill>
                  <a:prstClr val="white"/>
                </a:solidFill>
                <a:effectLst/>
                <a:uLnTx/>
                <a:uFillTx/>
                <a:latin typeface="Calibri"/>
                <a:ea typeface="微软雅黑"/>
                <a:cs typeface="+mn-cs"/>
              </a:rPr>
              <a:t>项目管理工程部</a:t>
            </a:r>
          </a:p>
        </p:txBody>
      </p:sp>
    </p:spTree>
    <p:extLst>
      <p:ext uri="{BB962C8B-B14F-4D97-AF65-F5344CB8AC3E}">
        <p14:creationId xmlns:p14="http://schemas.microsoft.com/office/powerpoint/2010/main" val="35887222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01657194-FDC1-A87B-EBDA-67840E66E05E}"/>
              </a:ext>
            </a:extLst>
          </p:cNvPr>
          <p:cNvSpPr txBox="1">
            <a:spLocks/>
          </p:cNvSpPr>
          <p:nvPr/>
        </p:nvSpPr>
        <p:spPr>
          <a:xfrm>
            <a:off x="1438100" y="2598003"/>
            <a:ext cx="9601202" cy="830997"/>
          </a:xfrm>
          <a:prstGeom prst="rect">
            <a:avLst/>
          </a:prstGeom>
        </p:spPr>
        <p:txBody>
          <a:bodyPr/>
          <a:lst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4800" b="0" i="0" u="none" strike="noStrike" kern="1200" cap="none" spc="0" normalizeH="0" baseline="0" noProof="0" dirty="0" smtClean="0">
                <a:ln>
                  <a:noFill/>
                </a:ln>
                <a:solidFill>
                  <a:prstClr val="white"/>
                </a:solidFill>
                <a:effectLst/>
                <a:uLnTx/>
                <a:uFillTx/>
                <a:latin typeface="微软雅黑"/>
                <a:ea typeface="微软雅黑"/>
                <a:cs typeface="Times New Roman" panose="02020603050405020304" pitchFamily="18" charset="0"/>
              </a:rPr>
              <a:t>硬件产品开发流程介绍</a:t>
            </a:r>
            <a:r>
              <a:rPr kumimoji="0" lang="zh-CN" altLang="en-US" sz="4800" b="0" i="0" u="none" strike="noStrike" kern="1200" cap="none" spc="0" normalizeH="0" baseline="0" noProof="0" dirty="0">
                <a:ln>
                  <a:noFill/>
                </a:ln>
                <a:solidFill>
                  <a:prstClr val="white"/>
                </a:solidFill>
                <a:effectLst/>
                <a:uLnTx/>
                <a:uFillTx/>
                <a:latin typeface="微软雅黑"/>
                <a:ea typeface="微软雅黑"/>
                <a:cs typeface="Times New Roman" panose="02020603050405020304" pitchFamily="18" charset="0"/>
              </a:rPr>
              <a:t>（增强）</a:t>
            </a:r>
          </a:p>
        </p:txBody>
      </p:sp>
    </p:spTree>
    <p:extLst>
      <p:ext uri="{BB962C8B-B14F-4D97-AF65-F5344CB8AC3E}">
        <p14:creationId xmlns:p14="http://schemas.microsoft.com/office/powerpoint/2010/main" val="25016070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24477" y="2673019"/>
            <a:ext cx="1850616" cy="2274238"/>
            <a:chOff x="785010" y="2251881"/>
            <a:chExt cx="1653861" cy="2782313"/>
          </a:xfrm>
          <a:solidFill>
            <a:schemeClr val="bg1">
              <a:lumMod val="85000"/>
            </a:schemeClr>
          </a:solidFill>
          <a:effectLst/>
        </p:grpSpPr>
        <p:sp>
          <p:nvSpPr>
            <p:cNvPr id="4" name="矩形 3"/>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概要设计说明书</a:t>
              </a:r>
            </a:p>
          </p:txBody>
        </p:sp>
        <p:sp>
          <p:nvSpPr>
            <p:cNvPr id="5" name="矩形 4"/>
            <p:cNvSpPr/>
            <p:nvPr/>
          </p:nvSpPr>
          <p:spPr>
            <a:xfrm>
              <a:off x="785011" y="2920619"/>
              <a:ext cx="1653860" cy="128867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方案选择</a:t>
              </a:r>
              <a:endParaRPr lang="en-US" altLang="zh-CN" sz="1200" dirty="0">
                <a:cs typeface="+mn-ea"/>
                <a:sym typeface="+mn-lt"/>
              </a:endParaRPr>
            </a:p>
            <a:p>
              <a:pPr algn="ctr"/>
              <a:r>
                <a:rPr lang="zh-CN" altLang="en-US" sz="1200" dirty="0">
                  <a:cs typeface="+mn-ea"/>
                  <a:sym typeface="+mn-lt"/>
                </a:rPr>
                <a:t>系统总体设计</a:t>
              </a:r>
              <a:endParaRPr lang="en-US" altLang="zh-CN" sz="1200" dirty="0">
                <a:cs typeface="+mn-ea"/>
                <a:sym typeface="+mn-lt"/>
              </a:endParaRPr>
            </a:p>
            <a:p>
              <a:pPr algn="ctr"/>
              <a:r>
                <a:rPr lang="zh-CN" altLang="en-US" sz="1200" dirty="0">
                  <a:cs typeface="+mn-ea"/>
                  <a:sym typeface="+mn-lt"/>
                </a:rPr>
                <a:t>子系统设计</a:t>
              </a:r>
              <a:endParaRPr lang="en-US" altLang="zh-CN" sz="1200" dirty="0">
                <a:cs typeface="+mn-ea"/>
                <a:sym typeface="+mn-lt"/>
              </a:endParaRPr>
            </a:p>
            <a:p>
              <a:pPr algn="ctr"/>
              <a:r>
                <a:rPr lang="zh-CN" altLang="en-US" sz="1200" dirty="0">
                  <a:cs typeface="+mn-ea"/>
                  <a:sym typeface="+mn-lt"/>
                </a:rPr>
                <a:t>六性设计</a:t>
              </a:r>
              <a:endParaRPr lang="en-US" altLang="zh-CN" sz="1200" dirty="0">
                <a:cs typeface="+mn-ea"/>
                <a:sym typeface="+mn-lt"/>
              </a:endParaRPr>
            </a:p>
            <a:p>
              <a:pPr algn="ctr"/>
              <a:r>
                <a:rPr lang="zh-CN" altLang="en-US" sz="1200" dirty="0">
                  <a:cs typeface="+mn-ea"/>
                  <a:sym typeface="+mn-lt"/>
                </a:rPr>
                <a:t>关键件与重要件清单</a:t>
              </a:r>
            </a:p>
          </p:txBody>
        </p:sp>
        <p:sp>
          <p:nvSpPr>
            <p:cNvPr id="6" name="矩形 5"/>
            <p:cNvSpPr/>
            <p:nvPr/>
          </p:nvSpPr>
          <p:spPr>
            <a:xfrm>
              <a:off x="785010" y="4201620"/>
              <a:ext cx="1653860" cy="83257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责任人：架构师、各研发工程师</a:t>
              </a:r>
              <a:endParaRPr lang="en-US" altLang="zh-CN" sz="1200" dirty="0">
                <a:solidFill>
                  <a:schemeClr val="tx1"/>
                </a:solidFill>
                <a:cs typeface="+mn-ea"/>
                <a:sym typeface="+mn-lt"/>
              </a:endParaRPr>
            </a:p>
          </p:txBody>
        </p:sp>
      </p:grpSp>
      <p:grpSp>
        <p:nvGrpSpPr>
          <p:cNvPr id="7" name="组合 6"/>
          <p:cNvGrpSpPr/>
          <p:nvPr/>
        </p:nvGrpSpPr>
        <p:grpSpPr>
          <a:xfrm>
            <a:off x="3201100" y="2673019"/>
            <a:ext cx="1856411" cy="2274238"/>
            <a:chOff x="779831" y="2251881"/>
            <a:chExt cx="1659040" cy="2782312"/>
          </a:xfrm>
          <a:solidFill>
            <a:schemeClr val="bg1">
              <a:lumMod val="85000"/>
            </a:schemeClr>
          </a:solidFill>
          <a:effectLst/>
        </p:grpSpPr>
        <p:sp>
          <p:nvSpPr>
            <p:cNvPr id="9" name="矩形 8"/>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散热仿真</a:t>
              </a:r>
            </a:p>
          </p:txBody>
        </p:sp>
        <p:sp>
          <p:nvSpPr>
            <p:cNvPr id="10" name="矩形 9"/>
            <p:cNvSpPr/>
            <p:nvPr/>
          </p:nvSpPr>
          <p:spPr>
            <a:xfrm>
              <a:off x="785011" y="2920621"/>
              <a:ext cx="1653860" cy="128867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散热仿真</a:t>
              </a:r>
            </a:p>
          </p:txBody>
        </p:sp>
        <p:sp>
          <p:nvSpPr>
            <p:cNvPr id="11" name="矩形 10"/>
            <p:cNvSpPr/>
            <p:nvPr/>
          </p:nvSpPr>
          <p:spPr>
            <a:xfrm>
              <a:off x="779831" y="4201619"/>
              <a:ext cx="1653860" cy="83257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责任人：散热工程师</a:t>
              </a:r>
            </a:p>
          </p:txBody>
        </p:sp>
      </p:grpSp>
      <p:grpSp>
        <p:nvGrpSpPr>
          <p:cNvPr id="12" name="组合 11"/>
          <p:cNvGrpSpPr/>
          <p:nvPr/>
        </p:nvGrpSpPr>
        <p:grpSpPr>
          <a:xfrm>
            <a:off x="5153314" y="2673020"/>
            <a:ext cx="1888751" cy="2288636"/>
            <a:chOff x="770559" y="2234533"/>
            <a:chExt cx="1687942" cy="2822302"/>
          </a:xfrm>
          <a:solidFill>
            <a:schemeClr val="bg1">
              <a:lumMod val="85000"/>
            </a:schemeClr>
          </a:solidFill>
          <a:effectLst/>
        </p:grpSpPr>
        <p:sp>
          <p:nvSpPr>
            <p:cNvPr id="13" name="矩形 12"/>
            <p:cNvSpPr/>
            <p:nvPr/>
          </p:nvSpPr>
          <p:spPr>
            <a:xfrm>
              <a:off x="770559" y="2234533"/>
              <a:ext cx="1687942" cy="6740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制定测试配置</a:t>
              </a:r>
            </a:p>
          </p:txBody>
        </p:sp>
        <p:sp>
          <p:nvSpPr>
            <p:cNvPr id="14" name="矩形 13"/>
            <p:cNvSpPr/>
            <p:nvPr/>
          </p:nvSpPr>
          <p:spPr>
            <a:xfrm>
              <a:off x="785011" y="2908614"/>
              <a:ext cx="1653860" cy="1298972"/>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典型配置文件产出</a:t>
              </a:r>
            </a:p>
          </p:txBody>
        </p:sp>
        <p:sp>
          <p:nvSpPr>
            <p:cNvPr id="15" name="矩形 14"/>
            <p:cNvSpPr/>
            <p:nvPr/>
          </p:nvSpPr>
          <p:spPr>
            <a:xfrm>
              <a:off x="772468" y="4224261"/>
              <a:ext cx="1686033" cy="83257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zh-CN" altLang="en-US" sz="1200" dirty="0" smtClean="0">
                  <a:solidFill>
                    <a:schemeClr val="tx1"/>
                  </a:solidFill>
                  <a:cs typeface="+mn-ea"/>
                  <a:sym typeface="+mn-lt"/>
                </a:rPr>
                <a:t>：产品工程师</a:t>
              </a:r>
              <a:endParaRPr lang="zh-CN" altLang="en-US" sz="1200" dirty="0">
                <a:solidFill>
                  <a:schemeClr val="tx1"/>
                </a:solidFill>
                <a:cs typeface="+mn-ea"/>
                <a:sym typeface="+mn-lt"/>
              </a:endParaRPr>
            </a:p>
          </p:txBody>
        </p:sp>
      </p:grpSp>
      <p:grpSp>
        <p:nvGrpSpPr>
          <p:cNvPr id="16" name="组合 15"/>
          <p:cNvGrpSpPr/>
          <p:nvPr/>
        </p:nvGrpSpPr>
        <p:grpSpPr>
          <a:xfrm>
            <a:off x="7137869" y="2673019"/>
            <a:ext cx="1858546" cy="2283807"/>
            <a:chOff x="785011" y="2251881"/>
            <a:chExt cx="1660948" cy="2794019"/>
          </a:xfrm>
          <a:solidFill>
            <a:schemeClr val="bg1">
              <a:lumMod val="85000"/>
            </a:schemeClr>
          </a:solidFill>
          <a:effectLst/>
        </p:grpSpPr>
        <p:sp>
          <p:nvSpPr>
            <p:cNvPr id="17" name="矩形 16"/>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FF"/>
                  </a:solidFill>
                  <a:cs typeface="+mn-ea"/>
                  <a:sym typeface="+mn-lt"/>
                </a:rPr>
                <a:t>提供产品发布策略</a:t>
              </a:r>
            </a:p>
          </p:txBody>
        </p:sp>
        <p:sp>
          <p:nvSpPr>
            <p:cNvPr id="18" name="矩形 17"/>
            <p:cNvSpPr/>
            <p:nvPr/>
          </p:nvSpPr>
          <p:spPr>
            <a:xfrm>
              <a:off x="785011" y="2920621"/>
              <a:ext cx="1653860" cy="128867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产品发布策略</a:t>
              </a:r>
            </a:p>
          </p:txBody>
        </p:sp>
        <p:sp>
          <p:nvSpPr>
            <p:cNvPr id="19" name="矩形 18"/>
            <p:cNvSpPr/>
            <p:nvPr/>
          </p:nvSpPr>
          <p:spPr>
            <a:xfrm>
              <a:off x="792099" y="4213323"/>
              <a:ext cx="1653860" cy="83257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责任人：市场代表</a:t>
              </a:r>
            </a:p>
          </p:txBody>
        </p:sp>
      </p:grpSp>
      <p:sp>
        <p:nvSpPr>
          <p:cNvPr id="21" name="矩形 20"/>
          <p:cNvSpPr/>
          <p:nvPr/>
        </p:nvSpPr>
        <p:spPr>
          <a:xfrm>
            <a:off x="239349" y="925369"/>
            <a:ext cx="11503643" cy="1170833"/>
          </a:xfrm>
          <a:prstGeom prst="rect">
            <a:avLst/>
          </a:prstGeom>
        </p:spPr>
        <p:txBody>
          <a:bodyPr wrap="square">
            <a:spAutoFit/>
          </a:bodyPr>
          <a:lstStyle/>
          <a:p>
            <a:pPr>
              <a:lnSpc>
                <a:spcPct val="150000"/>
              </a:lnSpc>
            </a:pPr>
            <a:r>
              <a:rPr lang="zh-CN" altLang="en-US" sz="1200" b="1" dirty="0">
                <a:solidFill>
                  <a:schemeClr val="tx1">
                    <a:lumMod val="75000"/>
                    <a:lumOff val="25000"/>
                  </a:schemeClr>
                </a:solidFill>
                <a:latin typeface="+mn-ea"/>
                <a:cs typeface="+mn-ea"/>
                <a:sym typeface="+mn-lt"/>
              </a:rPr>
              <a:t>概要设计：</a:t>
            </a:r>
            <a:endParaRPr lang="en-US" altLang="zh-CN" sz="1200" b="1" dirty="0">
              <a:solidFill>
                <a:schemeClr val="tx1">
                  <a:lumMod val="75000"/>
                  <a:lumOff val="25000"/>
                </a:schemeClr>
              </a:solidFill>
              <a:latin typeface="+mn-ea"/>
              <a:cs typeface="+mn-ea"/>
              <a:sym typeface="+mn-lt"/>
            </a:endParaRPr>
          </a:p>
          <a:p>
            <a:pPr marL="285750" indent="-285750">
              <a:lnSpc>
                <a:spcPct val="150000"/>
              </a:lnSpc>
              <a:buFont typeface="Wingdings" panose="05000000000000000000" pitchFamily="2" charset="2"/>
              <a:buChar char="l"/>
            </a:pPr>
            <a:r>
              <a:rPr lang="zh-CN" altLang="en-US" sz="1200" dirty="0">
                <a:solidFill>
                  <a:schemeClr val="tx1">
                    <a:lumMod val="75000"/>
                    <a:lumOff val="25000"/>
                  </a:schemeClr>
                </a:solidFill>
                <a:latin typeface="+mn-ea"/>
                <a:cs typeface="+mn-ea"/>
                <a:sym typeface="+mn-lt"/>
              </a:rPr>
              <a:t>概要设计</a:t>
            </a:r>
            <a:r>
              <a:rPr lang="zh-CN" altLang="en-US" sz="1200" b="1" dirty="0">
                <a:solidFill>
                  <a:schemeClr val="tx1">
                    <a:lumMod val="75000"/>
                    <a:lumOff val="25000"/>
                  </a:schemeClr>
                </a:solidFill>
                <a:latin typeface="+mn-ea"/>
                <a:cs typeface="+mn-ea"/>
                <a:sym typeface="+mn-lt"/>
              </a:rPr>
              <a:t>启动时机</a:t>
            </a:r>
            <a:r>
              <a:rPr lang="zh-CN" altLang="en-US" sz="1200" dirty="0">
                <a:solidFill>
                  <a:schemeClr val="tx1">
                    <a:lumMod val="75000"/>
                    <a:lumOff val="25000"/>
                  </a:schemeClr>
                </a:solidFill>
                <a:latin typeface="+mn-ea"/>
                <a:cs typeface="+mn-ea"/>
                <a:sym typeface="+mn-lt"/>
              </a:rPr>
              <a:t>：</a:t>
            </a:r>
            <a:r>
              <a:rPr lang="en-US" altLang="zh-CN" sz="1200" dirty="0">
                <a:solidFill>
                  <a:schemeClr val="tx1">
                    <a:lumMod val="75000"/>
                    <a:lumOff val="25000"/>
                  </a:schemeClr>
                </a:solidFill>
                <a:latin typeface="+mn-ea"/>
                <a:cs typeface="+mn-ea"/>
                <a:sym typeface="+mn-lt"/>
              </a:rPr>
              <a:t>DCP1</a:t>
            </a:r>
            <a:r>
              <a:rPr lang="zh-CN" altLang="en-US" sz="1200" dirty="0">
                <a:solidFill>
                  <a:schemeClr val="tx1">
                    <a:lumMod val="75000"/>
                    <a:lumOff val="25000"/>
                  </a:schemeClr>
                </a:solidFill>
                <a:latin typeface="+mn-ea"/>
                <a:cs typeface="+mn-ea"/>
                <a:sym typeface="+mn-lt"/>
              </a:rPr>
              <a:t>立项决策评审后；</a:t>
            </a:r>
            <a:endParaRPr lang="en-US" altLang="zh-CN" sz="1200" dirty="0">
              <a:solidFill>
                <a:schemeClr val="tx1">
                  <a:lumMod val="75000"/>
                  <a:lumOff val="25000"/>
                </a:schemeClr>
              </a:solidFill>
              <a:latin typeface="+mn-ea"/>
              <a:cs typeface="+mn-ea"/>
              <a:sym typeface="+mn-lt"/>
            </a:endParaRPr>
          </a:p>
          <a:p>
            <a:pPr marL="285750" indent="-285750">
              <a:lnSpc>
                <a:spcPct val="150000"/>
              </a:lnSpc>
              <a:buFont typeface="Wingdings" panose="05000000000000000000" pitchFamily="2" charset="2"/>
              <a:buChar char="l"/>
            </a:pPr>
            <a:r>
              <a:rPr lang="zh-CN" altLang="en-US" sz="1200" dirty="0">
                <a:solidFill>
                  <a:schemeClr val="tx1">
                    <a:lumMod val="75000"/>
                    <a:lumOff val="25000"/>
                  </a:schemeClr>
                </a:solidFill>
                <a:latin typeface="+mn-ea"/>
                <a:cs typeface="+mn-ea"/>
                <a:sym typeface="+mn-lt"/>
              </a:rPr>
              <a:t>概设设计依据：</a:t>
            </a:r>
            <a:r>
              <a:rPr lang="en-US" altLang="zh-CN" sz="1200" dirty="0">
                <a:solidFill>
                  <a:schemeClr val="tx1">
                    <a:lumMod val="75000"/>
                    <a:lumOff val="25000"/>
                  </a:schemeClr>
                </a:solidFill>
                <a:latin typeface="+mn-ea"/>
                <a:cs typeface="+mn-ea"/>
                <a:sym typeface="+mn-lt"/>
              </a:rPr>
              <a:t>PRD</a:t>
            </a:r>
            <a:r>
              <a:rPr lang="zh-CN" altLang="en-US" sz="1200" dirty="0">
                <a:solidFill>
                  <a:schemeClr val="tx1">
                    <a:lumMod val="75000"/>
                    <a:lumOff val="25000"/>
                  </a:schemeClr>
                </a:solidFill>
                <a:latin typeface="+mn-ea"/>
                <a:cs typeface="+mn-ea"/>
                <a:sym typeface="+mn-lt"/>
              </a:rPr>
              <a:t>；</a:t>
            </a:r>
            <a:endParaRPr lang="en-US" altLang="zh-CN" sz="1200" dirty="0">
              <a:solidFill>
                <a:schemeClr val="tx1">
                  <a:lumMod val="75000"/>
                  <a:lumOff val="25000"/>
                </a:schemeClr>
              </a:solidFill>
              <a:latin typeface="+mn-ea"/>
              <a:cs typeface="+mn-ea"/>
              <a:sym typeface="+mn-lt"/>
            </a:endParaRPr>
          </a:p>
          <a:p>
            <a:pPr marL="285750" indent="-285750">
              <a:lnSpc>
                <a:spcPct val="150000"/>
              </a:lnSpc>
              <a:buFont typeface="Wingdings" panose="05000000000000000000" pitchFamily="2" charset="2"/>
              <a:buChar char="l"/>
            </a:pPr>
            <a:r>
              <a:rPr lang="zh-CN" altLang="en-US" sz="1200" dirty="0">
                <a:solidFill>
                  <a:schemeClr val="tx1">
                    <a:lumMod val="75000"/>
                    <a:lumOff val="25000"/>
                  </a:schemeClr>
                </a:solidFill>
                <a:latin typeface="+mn-ea"/>
                <a:cs typeface="+mn-ea"/>
                <a:sym typeface="+mn-lt"/>
              </a:rPr>
              <a:t>概要设计</a:t>
            </a:r>
            <a:r>
              <a:rPr lang="zh-CN" altLang="en-US" sz="1200" b="1" dirty="0">
                <a:solidFill>
                  <a:schemeClr val="tx1">
                    <a:lumMod val="75000"/>
                    <a:lumOff val="25000"/>
                  </a:schemeClr>
                </a:solidFill>
                <a:latin typeface="+mn-ea"/>
                <a:cs typeface="+mn-ea"/>
                <a:sym typeface="+mn-lt"/>
              </a:rPr>
              <a:t>任务主要</a:t>
            </a:r>
            <a:r>
              <a:rPr lang="zh-CN" altLang="en-US" sz="1200" dirty="0">
                <a:solidFill>
                  <a:schemeClr val="tx1">
                    <a:lumMod val="75000"/>
                    <a:lumOff val="25000"/>
                  </a:schemeClr>
                </a:solidFill>
                <a:latin typeface="+mn-ea"/>
                <a:cs typeface="+mn-ea"/>
                <a:sym typeface="+mn-lt"/>
              </a:rPr>
              <a:t>包含以下五部分：概要设计说明书、散热仿真、制定测试配置、提供产品发布策略、搭建产品</a:t>
            </a:r>
            <a:r>
              <a:rPr lang="en-US" altLang="zh-CN" sz="1200" dirty="0">
                <a:solidFill>
                  <a:schemeClr val="tx1">
                    <a:lumMod val="75000"/>
                    <a:lumOff val="25000"/>
                  </a:schemeClr>
                </a:solidFill>
                <a:latin typeface="+mn-ea"/>
                <a:cs typeface="+mn-ea"/>
                <a:sym typeface="+mn-lt"/>
              </a:rPr>
              <a:t>Early BOM</a:t>
            </a:r>
            <a:r>
              <a:rPr lang="zh-CN" altLang="en-US" sz="1200" dirty="0">
                <a:solidFill>
                  <a:schemeClr val="tx1">
                    <a:lumMod val="75000"/>
                    <a:lumOff val="25000"/>
                  </a:schemeClr>
                </a:solidFill>
                <a:latin typeface="+mn-ea"/>
                <a:cs typeface="+mn-ea"/>
                <a:sym typeface="+mn-lt"/>
              </a:rPr>
              <a:t>；</a:t>
            </a:r>
            <a:endParaRPr lang="en-US" altLang="zh-CN" sz="1200" dirty="0">
              <a:solidFill>
                <a:schemeClr val="tx1">
                  <a:lumMod val="75000"/>
                  <a:lumOff val="25000"/>
                </a:schemeClr>
              </a:solidFill>
              <a:latin typeface="+mn-ea"/>
              <a:cs typeface="+mn-ea"/>
              <a:sym typeface="+mn-lt"/>
            </a:endParaRPr>
          </a:p>
        </p:txBody>
      </p:sp>
      <p:grpSp>
        <p:nvGrpSpPr>
          <p:cNvPr id="22" name="组合 21"/>
          <p:cNvGrpSpPr/>
          <p:nvPr/>
        </p:nvGrpSpPr>
        <p:grpSpPr>
          <a:xfrm>
            <a:off x="9114528" y="2673019"/>
            <a:ext cx="1858203" cy="2283806"/>
            <a:chOff x="785011" y="2251881"/>
            <a:chExt cx="1660641" cy="2794018"/>
          </a:xfrm>
          <a:solidFill>
            <a:schemeClr val="bg1">
              <a:lumMod val="85000"/>
            </a:schemeClr>
          </a:solidFill>
          <a:effectLst/>
        </p:grpSpPr>
        <p:sp>
          <p:nvSpPr>
            <p:cNvPr id="23" name="矩形 22"/>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latin typeface="微软雅黑" panose="020B0503020204020204" pitchFamily="34" charset="-122"/>
                  <a:ea typeface="微软雅黑" panose="020B0503020204020204" pitchFamily="34" charset="-122"/>
                  <a:cs typeface="+mn-ea"/>
                  <a:sym typeface="+mn-lt"/>
                </a:rPr>
                <a:t>搭建产品</a:t>
              </a:r>
              <a:r>
                <a:rPr lang="en-US" altLang="zh-CN" sz="1200" b="1" dirty="0">
                  <a:solidFill>
                    <a:sysClr val="windowText" lastClr="000000"/>
                  </a:solidFill>
                  <a:latin typeface="微软雅黑" panose="020B0503020204020204" pitchFamily="34" charset="-122"/>
                  <a:ea typeface="微软雅黑" panose="020B0503020204020204" pitchFamily="34" charset="-122"/>
                  <a:cs typeface="+mn-ea"/>
                  <a:sym typeface="+mn-lt"/>
                </a:rPr>
                <a:t>Early BOM</a:t>
              </a:r>
              <a:endParaRPr lang="zh-CN" altLang="en-US" sz="1200" b="1" dirty="0">
                <a:solidFill>
                  <a:sysClr val="windowText" lastClr="000000"/>
                </a:solidFill>
                <a:latin typeface="微软雅黑" panose="020B0503020204020204" pitchFamily="34" charset="-122"/>
                <a:ea typeface="微软雅黑" panose="020B0503020204020204" pitchFamily="34" charset="-122"/>
                <a:cs typeface="+mn-ea"/>
                <a:sym typeface="+mn-lt"/>
              </a:endParaRPr>
            </a:p>
          </p:txBody>
        </p:sp>
        <p:sp>
          <p:nvSpPr>
            <p:cNvPr id="24" name="矩形 23"/>
            <p:cNvSpPr/>
            <p:nvPr/>
          </p:nvSpPr>
          <p:spPr>
            <a:xfrm>
              <a:off x="785011" y="2920621"/>
              <a:ext cx="1653860" cy="128867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产品</a:t>
              </a:r>
              <a:r>
                <a:rPr lang="en-US" altLang="zh-CN" sz="1200" dirty="0">
                  <a:cs typeface="+mn-ea"/>
                  <a:sym typeface="+mn-lt"/>
                </a:rPr>
                <a:t>Early</a:t>
              </a:r>
              <a:r>
                <a:rPr lang="zh-CN" altLang="en-US" sz="1200" dirty="0">
                  <a:cs typeface="+mn-ea"/>
                  <a:sym typeface="+mn-lt"/>
                </a:rPr>
                <a:t> </a:t>
              </a:r>
              <a:r>
                <a:rPr lang="en-US" altLang="zh-CN" sz="1200" dirty="0">
                  <a:cs typeface="+mn-ea"/>
                  <a:sym typeface="+mn-lt"/>
                </a:rPr>
                <a:t>BOM</a:t>
              </a:r>
              <a:endParaRPr lang="zh-CN" altLang="en-US" sz="1200" dirty="0">
                <a:cs typeface="+mn-ea"/>
                <a:sym typeface="+mn-lt"/>
              </a:endParaRPr>
            </a:p>
          </p:txBody>
        </p:sp>
        <p:sp>
          <p:nvSpPr>
            <p:cNvPr id="25" name="矩形 24"/>
            <p:cNvSpPr/>
            <p:nvPr/>
          </p:nvSpPr>
          <p:spPr>
            <a:xfrm>
              <a:off x="791792" y="4213322"/>
              <a:ext cx="1653860" cy="83257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zh-CN" altLang="en-US" sz="1200" dirty="0" smtClean="0">
                  <a:solidFill>
                    <a:schemeClr val="tx1"/>
                  </a:solidFill>
                  <a:cs typeface="+mn-ea"/>
                  <a:sym typeface="+mn-lt"/>
                </a:rPr>
                <a:t>：产品工程师</a:t>
              </a:r>
              <a:endParaRPr lang="zh-CN" altLang="en-US" sz="1200" dirty="0">
                <a:solidFill>
                  <a:schemeClr val="tx1"/>
                </a:solidFill>
                <a:cs typeface="+mn-ea"/>
                <a:sym typeface="+mn-lt"/>
              </a:endParaRPr>
            </a:p>
          </p:txBody>
        </p:sp>
      </p:grpSp>
      <p:sp>
        <p:nvSpPr>
          <p:cNvPr id="32" name="文本占位符 1">
            <a:extLst>
              <a:ext uri="{FF2B5EF4-FFF2-40B4-BE49-F238E27FC236}">
                <a16:creationId xmlns:a16="http://schemas.microsoft.com/office/drawing/2014/main" id="{EB7291E7-BB52-466D-BC77-9B02653EB2B4}"/>
              </a:ext>
            </a:extLst>
          </p:cNvPr>
          <p:cNvSpPr>
            <a:spLocks noGrp="1"/>
          </p:cNvSpPr>
          <p:nvPr>
            <p:ph type="body" sz="quarter" idx="13"/>
          </p:nvPr>
        </p:nvSpPr>
        <p:spPr/>
        <p:txBody>
          <a:bodyPr/>
          <a:lstStyle/>
          <a:p>
            <a:r>
              <a:rPr lang="en-US" altLang="zh-CN" dirty="0"/>
              <a:t>L4</a:t>
            </a:r>
            <a:r>
              <a:rPr lang="zh-CN" altLang="en-US" dirty="0" smtClean="0"/>
              <a:t>概要设计</a:t>
            </a:r>
            <a:r>
              <a:rPr lang="en-US" altLang="zh-CN" dirty="0" smtClean="0"/>
              <a:t>——</a:t>
            </a:r>
            <a:r>
              <a:rPr lang="zh-CN" altLang="en-US" dirty="0" smtClean="0"/>
              <a:t>总述</a:t>
            </a:r>
            <a:endParaRPr lang="zh-CN" altLang="en-US" dirty="0"/>
          </a:p>
        </p:txBody>
      </p:sp>
      <p:sp>
        <p:nvSpPr>
          <p:cNvPr id="26" name="标题 7">
            <a:extLst>
              <a:ext uri="{FF2B5EF4-FFF2-40B4-BE49-F238E27FC236}">
                <a16:creationId xmlns:a16="http://schemas.microsoft.com/office/drawing/2014/main" id="{BC396957-5FAE-41CD-8D3C-C0E579E5DDDD}"/>
              </a:ext>
            </a:extLst>
          </p:cNvPr>
          <p:cNvSpPr txBox="1">
            <a:spLocks/>
          </p:cNvSpPr>
          <p:nvPr/>
        </p:nvSpPr>
        <p:spPr>
          <a:xfrm>
            <a:off x="3467245" y="2269371"/>
            <a:ext cx="5257509" cy="327388"/>
          </a:xfrm>
          <a:prstGeom prst="rect">
            <a:avLst/>
          </a:prstGeom>
          <a:solidFill>
            <a:schemeClr val="accent5">
              <a:lumMod val="60000"/>
              <a:lumOff val="40000"/>
            </a:schemeClr>
          </a:solidFill>
        </p:spPr>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r>
              <a:rPr lang="zh-CN" altLang="en-US" sz="1400" b="1" dirty="0">
                <a:solidFill>
                  <a:schemeClr val="bg1">
                    <a:lumMod val="95000"/>
                  </a:schemeClr>
                </a:solidFill>
                <a:cs typeface="+mn-ea"/>
                <a:sym typeface="+mn-lt"/>
              </a:rPr>
              <a:t>概要设计任务</a:t>
            </a:r>
            <a:endParaRPr lang="zh-CN" altLang="en-US" sz="1400" b="1" dirty="0">
              <a:solidFill>
                <a:schemeClr val="bg1">
                  <a:lumMod val="95000"/>
                </a:schemeClr>
              </a:solidFill>
              <a:latin typeface="+mn-ea"/>
              <a:ea typeface="+mn-ea"/>
            </a:endParaRPr>
          </a:p>
        </p:txBody>
      </p:sp>
      <p:cxnSp>
        <p:nvCxnSpPr>
          <p:cNvPr id="2" name="直接连接符 1">
            <a:extLst>
              <a:ext uri="{FF2B5EF4-FFF2-40B4-BE49-F238E27FC236}">
                <a16:creationId xmlns:a16="http://schemas.microsoft.com/office/drawing/2014/main" id="{3AF6C049-2056-72BB-DBC8-CC2C12750A14}"/>
              </a:ext>
            </a:extLst>
          </p:cNvPr>
          <p:cNvCxnSpPr/>
          <p:nvPr/>
        </p:nvCxnSpPr>
        <p:spPr>
          <a:xfrm>
            <a:off x="0" y="2231791"/>
            <a:ext cx="12192000"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224477" y="5266569"/>
            <a:ext cx="6100701" cy="757130"/>
          </a:xfrm>
          <a:prstGeom prst="rect">
            <a:avLst/>
          </a:prstGeom>
          <a:noFill/>
        </p:spPr>
        <p:txBody>
          <a:bodyPr wrap="square" rtlCol="0">
            <a:spAutoFit/>
          </a:bodyPr>
          <a:lstStyle/>
          <a:p>
            <a:pPr>
              <a:lnSpc>
                <a:spcPct val="120000"/>
              </a:lnSpc>
            </a:pPr>
            <a:r>
              <a:rPr lang="zh-CN" altLang="en-US" sz="1100" b="1" dirty="0">
                <a:solidFill>
                  <a:srgbClr val="178AA1"/>
                </a:solidFill>
                <a:latin typeface="+mn-ea"/>
              </a:rPr>
              <a:t>架构师重点</a:t>
            </a:r>
            <a:r>
              <a:rPr lang="zh-CN" altLang="en-US" sz="1100" b="1" dirty="0" smtClean="0">
                <a:solidFill>
                  <a:srgbClr val="178AA1"/>
                </a:solidFill>
                <a:latin typeface="+mn-ea"/>
              </a:rPr>
              <a:t>关注：</a:t>
            </a:r>
            <a:endParaRPr lang="en-US" altLang="zh-CN" sz="1100" b="1" dirty="0" smtClean="0">
              <a:solidFill>
                <a:srgbClr val="178AA1"/>
              </a:solidFill>
              <a:latin typeface="+mn-ea"/>
            </a:endParaRPr>
          </a:p>
          <a:p>
            <a:pPr>
              <a:lnSpc>
                <a:spcPct val="120000"/>
              </a:lnSpc>
            </a:pPr>
            <a:r>
              <a:rPr lang="en-US" altLang="zh-CN" sz="1100" dirty="0" smtClean="0">
                <a:solidFill>
                  <a:schemeClr val="tx1">
                    <a:lumMod val="75000"/>
                    <a:lumOff val="25000"/>
                  </a:schemeClr>
                </a:solidFill>
                <a:latin typeface="+mn-ea"/>
              </a:rPr>
              <a:t>1</a:t>
            </a:r>
            <a:r>
              <a:rPr lang="zh-CN" altLang="en-US" sz="1100" dirty="0" smtClean="0">
                <a:solidFill>
                  <a:schemeClr val="tx1">
                    <a:lumMod val="75000"/>
                    <a:lumOff val="25000"/>
                  </a:schemeClr>
                </a:solidFill>
                <a:latin typeface="+mn-ea"/>
              </a:rPr>
              <a:t>）下发概设各模块编制工作，输出</a:t>
            </a:r>
            <a:r>
              <a:rPr lang="en-US" altLang="zh-CN" sz="1100" dirty="0" smtClean="0">
                <a:solidFill>
                  <a:schemeClr val="tx1">
                    <a:lumMod val="75000"/>
                    <a:lumOff val="25000"/>
                  </a:schemeClr>
                </a:solidFill>
                <a:latin typeface="+mn-ea"/>
              </a:rPr>
              <a:t>《</a:t>
            </a:r>
            <a:r>
              <a:rPr lang="zh-CN" altLang="en-US" sz="1100" dirty="0" smtClean="0">
                <a:solidFill>
                  <a:schemeClr val="tx1">
                    <a:lumMod val="75000"/>
                    <a:lumOff val="25000"/>
                  </a:schemeClr>
                </a:solidFill>
                <a:latin typeface="+mn-ea"/>
              </a:rPr>
              <a:t>概要设计说明书</a:t>
            </a:r>
            <a:r>
              <a:rPr lang="en-US" altLang="zh-CN" sz="1100" dirty="0" smtClean="0">
                <a:solidFill>
                  <a:schemeClr val="tx1">
                    <a:lumMod val="75000"/>
                    <a:lumOff val="25000"/>
                  </a:schemeClr>
                </a:solidFill>
                <a:latin typeface="+mn-ea"/>
              </a:rPr>
              <a:t>》</a:t>
            </a:r>
            <a:r>
              <a:rPr lang="zh-CN" altLang="en-US" sz="1100" dirty="0" smtClean="0">
                <a:solidFill>
                  <a:schemeClr val="tx1">
                    <a:lumMod val="75000"/>
                    <a:lumOff val="25000"/>
                  </a:schemeClr>
                </a:solidFill>
                <a:latin typeface="+mn-ea"/>
              </a:rPr>
              <a:t>（含六性设计）；</a:t>
            </a:r>
            <a:endParaRPr lang="en-US" altLang="zh-CN" sz="1100" dirty="0" smtClean="0">
              <a:solidFill>
                <a:schemeClr val="tx1">
                  <a:lumMod val="75000"/>
                  <a:lumOff val="25000"/>
                </a:schemeClr>
              </a:solidFill>
              <a:latin typeface="+mn-ea"/>
            </a:endParaRPr>
          </a:p>
          <a:p>
            <a:pPr>
              <a:lnSpc>
                <a:spcPct val="120000"/>
              </a:lnSpc>
            </a:pPr>
            <a:r>
              <a:rPr lang="en-US" altLang="zh-CN" sz="1100" dirty="0" smtClean="0">
                <a:solidFill>
                  <a:schemeClr val="tx1">
                    <a:lumMod val="75000"/>
                    <a:lumOff val="25000"/>
                  </a:schemeClr>
                </a:solidFill>
                <a:latin typeface="+mn-ea"/>
              </a:rPr>
              <a:t>2</a:t>
            </a:r>
            <a:r>
              <a:rPr lang="zh-CN" altLang="en-US" sz="1100" dirty="0" smtClean="0">
                <a:solidFill>
                  <a:schemeClr val="tx1">
                    <a:lumMod val="75000"/>
                    <a:lumOff val="25000"/>
                  </a:schemeClr>
                </a:solidFill>
                <a:latin typeface="+mn-ea"/>
              </a:rPr>
              <a:t>）重点关注</a:t>
            </a:r>
            <a:r>
              <a:rPr lang="en-US" altLang="zh-CN" sz="1100" dirty="0" smtClean="0">
                <a:solidFill>
                  <a:schemeClr val="tx1">
                    <a:lumMod val="75000"/>
                    <a:lumOff val="25000"/>
                  </a:schemeClr>
                </a:solidFill>
                <a:latin typeface="+mn-ea"/>
              </a:rPr>
              <a:t>《</a:t>
            </a:r>
            <a:r>
              <a:rPr lang="zh-CN" altLang="en-US" sz="1100" dirty="0">
                <a:latin typeface="+mn-ea"/>
              </a:rPr>
              <a:t>标准化大纲</a:t>
            </a:r>
            <a:r>
              <a:rPr lang="en-US" altLang="zh-CN" sz="1100" dirty="0" smtClean="0">
                <a:solidFill>
                  <a:schemeClr val="tx1">
                    <a:lumMod val="75000"/>
                    <a:lumOff val="25000"/>
                  </a:schemeClr>
                </a:solidFill>
                <a:latin typeface="+mn-ea"/>
              </a:rPr>
              <a:t>》《</a:t>
            </a:r>
            <a:r>
              <a:rPr lang="zh-CN" altLang="en-US" sz="1100" dirty="0"/>
              <a:t>特性分析报告</a:t>
            </a:r>
            <a:r>
              <a:rPr lang="en-US" altLang="zh-CN" sz="1100" dirty="0" smtClean="0">
                <a:solidFill>
                  <a:schemeClr val="tx1">
                    <a:lumMod val="75000"/>
                    <a:lumOff val="25000"/>
                  </a:schemeClr>
                </a:solidFill>
                <a:latin typeface="+mn-ea"/>
              </a:rPr>
              <a:t>》《</a:t>
            </a:r>
            <a:r>
              <a:rPr lang="zh-CN" altLang="en-US" sz="1100" dirty="0"/>
              <a:t>标准化审查报告</a:t>
            </a:r>
            <a:r>
              <a:rPr lang="en-US" altLang="zh-CN" sz="1100" dirty="0" smtClean="0">
                <a:solidFill>
                  <a:schemeClr val="tx1">
                    <a:lumMod val="75000"/>
                    <a:lumOff val="25000"/>
                  </a:schemeClr>
                </a:solidFill>
                <a:latin typeface="+mn-ea"/>
              </a:rPr>
              <a:t>》《</a:t>
            </a:r>
            <a:r>
              <a:rPr lang="zh-CN" altLang="en-US" sz="1100" dirty="0">
                <a:solidFill>
                  <a:schemeClr val="tx1">
                    <a:lumMod val="75000"/>
                    <a:lumOff val="25000"/>
                  </a:schemeClr>
                </a:solidFill>
                <a:latin typeface="+mn-ea"/>
              </a:rPr>
              <a:t>关键</a:t>
            </a:r>
            <a:r>
              <a:rPr lang="zh-CN" altLang="en-US" sz="1100" dirty="0" smtClean="0">
                <a:solidFill>
                  <a:schemeClr val="tx1">
                    <a:lumMod val="75000"/>
                    <a:lumOff val="25000"/>
                  </a:schemeClr>
                </a:solidFill>
                <a:latin typeface="+mn-ea"/>
              </a:rPr>
              <a:t>件清单</a:t>
            </a:r>
            <a:r>
              <a:rPr lang="en-US" altLang="zh-CN" sz="1100" dirty="0" smtClean="0">
                <a:solidFill>
                  <a:schemeClr val="tx1">
                    <a:lumMod val="75000"/>
                    <a:lumOff val="25000"/>
                  </a:schemeClr>
                </a:solidFill>
                <a:latin typeface="+mn-ea"/>
              </a:rPr>
              <a:t>》GJB</a:t>
            </a:r>
            <a:r>
              <a:rPr lang="zh-CN" altLang="en-US" sz="1100" dirty="0" smtClean="0">
                <a:solidFill>
                  <a:schemeClr val="tx1">
                    <a:lumMod val="75000"/>
                    <a:lumOff val="25000"/>
                  </a:schemeClr>
                </a:solidFill>
                <a:latin typeface="+mn-ea"/>
              </a:rPr>
              <a:t>要求文档</a:t>
            </a:r>
            <a:r>
              <a:rPr lang="zh-CN" altLang="en-US" sz="1400" dirty="0" smtClean="0">
                <a:solidFill>
                  <a:schemeClr val="tx1">
                    <a:lumMod val="75000"/>
                    <a:lumOff val="25000"/>
                  </a:schemeClr>
                </a:solidFill>
                <a:latin typeface="+mn-ea"/>
              </a:rPr>
              <a:t>；</a:t>
            </a:r>
          </a:p>
        </p:txBody>
      </p:sp>
      <p:sp>
        <p:nvSpPr>
          <p:cNvPr id="27" name="十字星 26"/>
          <p:cNvSpPr/>
          <p:nvPr/>
        </p:nvSpPr>
        <p:spPr>
          <a:xfrm>
            <a:off x="881232" y="5266569"/>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8" name="十字星 27"/>
          <p:cNvSpPr/>
          <p:nvPr/>
        </p:nvSpPr>
        <p:spPr>
          <a:xfrm>
            <a:off x="5371952" y="2786763"/>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9" name="十字星 28"/>
          <p:cNvSpPr/>
          <p:nvPr/>
        </p:nvSpPr>
        <p:spPr>
          <a:xfrm>
            <a:off x="7168109" y="2786763"/>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954271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080970" y="3719553"/>
            <a:ext cx="1668981" cy="2565779"/>
            <a:chOff x="785011" y="2251881"/>
            <a:chExt cx="1653860" cy="3138985"/>
          </a:xfrm>
          <a:solidFill>
            <a:schemeClr val="bg1">
              <a:lumMod val="85000"/>
            </a:schemeClr>
          </a:solidFill>
          <a:effectLst/>
        </p:grpSpPr>
        <p:sp>
          <p:nvSpPr>
            <p:cNvPr id="4" name="矩形 3"/>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ysClr val="windowText" lastClr="000000"/>
                  </a:solidFill>
                  <a:cs typeface="+mn-ea"/>
                  <a:sym typeface="+mn-lt"/>
                </a:rPr>
                <a:t>系统设计方案选择</a:t>
              </a:r>
            </a:p>
          </p:txBody>
        </p:sp>
        <p:sp>
          <p:nvSpPr>
            <p:cNvPr id="5" name="矩形 4"/>
            <p:cNvSpPr/>
            <p:nvPr/>
          </p:nvSpPr>
          <p:spPr>
            <a:xfrm>
              <a:off x="785011" y="2920621"/>
              <a:ext cx="1653860" cy="62779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方案选择；</a:t>
              </a:r>
              <a:endParaRPr lang="en-US" altLang="zh-CN" sz="1200" dirty="0">
                <a:cs typeface="+mn-ea"/>
                <a:sym typeface="+mn-lt"/>
              </a:endParaRPr>
            </a:p>
            <a:p>
              <a:pPr algn="ctr"/>
              <a:r>
                <a:rPr lang="zh-CN" altLang="en-US" sz="1200" dirty="0">
                  <a:cs typeface="+mn-ea"/>
                  <a:sym typeface="+mn-lt"/>
                </a:rPr>
                <a:t>方案决策分析</a:t>
              </a:r>
              <a:r>
                <a:rPr lang="zh-CN" altLang="en-US" sz="1400" dirty="0">
                  <a:cs typeface="+mn-ea"/>
                  <a:sym typeface="+mn-lt"/>
                </a:rPr>
                <a:t>；</a:t>
              </a:r>
            </a:p>
          </p:txBody>
        </p:sp>
        <p:sp>
          <p:nvSpPr>
            <p:cNvPr id="6" name="矩形 5"/>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责任人：架构师、开发经理、产品总工</a:t>
              </a:r>
              <a:endParaRPr lang="en-US" altLang="zh-CN" sz="1200" dirty="0">
                <a:solidFill>
                  <a:schemeClr val="tx1"/>
                </a:solidFill>
                <a:cs typeface="+mn-ea"/>
                <a:sym typeface="+mn-lt"/>
              </a:endParaRPr>
            </a:p>
          </p:txBody>
        </p:sp>
      </p:grpSp>
      <p:grpSp>
        <p:nvGrpSpPr>
          <p:cNvPr id="7" name="组合 6"/>
          <p:cNvGrpSpPr/>
          <p:nvPr/>
        </p:nvGrpSpPr>
        <p:grpSpPr>
          <a:xfrm>
            <a:off x="4841972" y="3715198"/>
            <a:ext cx="1668981" cy="2565779"/>
            <a:chOff x="785011" y="2251881"/>
            <a:chExt cx="1653860" cy="3138985"/>
          </a:xfrm>
          <a:solidFill>
            <a:schemeClr val="bg1">
              <a:lumMod val="85000"/>
            </a:schemeClr>
          </a:solidFill>
          <a:effectLst/>
        </p:grpSpPr>
        <p:sp>
          <p:nvSpPr>
            <p:cNvPr id="9" name="矩形 8"/>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ysClr val="windowText" lastClr="000000"/>
                  </a:solidFill>
                  <a:cs typeface="+mn-ea"/>
                  <a:sym typeface="+mn-lt"/>
                </a:rPr>
                <a:t>系统总体设计</a:t>
              </a:r>
            </a:p>
          </p:txBody>
        </p:sp>
        <p:sp>
          <p:nvSpPr>
            <p:cNvPr id="10" name="矩形 9"/>
            <p:cNvSpPr/>
            <p:nvPr/>
          </p:nvSpPr>
          <p:spPr>
            <a:xfrm>
              <a:off x="785011" y="2920621"/>
              <a:ext cx="1653860" cy="62779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设计方案；</a:t>
              </a:r>
              <a:endParaRPr lang="en-US" altLang="zh-CN" sz="1200" dirty="0">
                <a:cs typeface="+mn-ea"/>
                <a:sym typeface="+mn-lt"/>
              </a:endParaRPr>
            </a:p>
            <a:p>
              <a:pPr algn="ctr"/>
              <a:r>
                <a:rPr lang="zh-CN" altLang="en-US" sz="1200" dirty="0">
                  <a:cs typeface="+mn-ea"/>
                  <a:sym typeface="+mn-lt"/>
                </a:rPr>
                <a:t>设计与需求映射关系；</a:t>
              </a:r>
            </a:p>
          </p:txBody>
        </p:sp>
        <p:sp>
          <p:nvSpPr>
            <p:cNvPr id="11" name="矩形 10"/>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责任人：架构师</a:t>
              </a:r>
            </a:p>
          </p:txBody>
        </p:sp>
      </p:grpSp>
      <p:grpSp>
        <p:nvGrpSpPr>
          <p:cNvPr id="12" name="组合 11"/>
          <p:cNvGrpSpPr/>
          <p:nvPr/>
        </p:nvGrpSpPr>
        <p:grpSpPr>
          <a:xfrm>
            <a:off x="6633954" y="3726986"/>
            <a:ext cx="1668981" cy="2565779"/>
            <a:chOff x="785010" y="2251881"/>
            <a:chExt cx="1653861" cy="3138985"/>
          </a:xfrm>
          <a:solidFill>
            <a:schemeClr val="bg1">
              <a:lumMod val="85000"/>
            </a:schemeClr>
          </a:solidFill>
          <a:effectLst/>
        </p:grpSpPr>
        <p:sp>
          <p:nvSpPr>
            <p:cNvPr id="13" name="矩形 12"/>
            <p:cNvSpPr/>
            <p:nvPr/>
          </p:nvSpPr>
          <p:spPr>
            <a:xfrm>
              <a:off x="785010"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ysClr val="windowText" lastClr="000000"/>
                  </a:solidFill>
                  <a:cs typeface="+mn-ea"/>
                  <a:sym typeface="+mn-lt"/>
                </a:rPr>
                <a:t>子系统设计</a:t>
              </a:r>
            </a:p>
          </p:txBody>
        </p:sp>
        <p:sp>
          <p:nvSpPr>
            <p:cNvPr id="14" name="矩形 13"/>
            <p:cNvSpPr/>
            <p:nvPr/>
          </p:nvSpPr>
          <p:spPr>
            <a:xfrm>
              <a:off x="785011" y="2920621"/>
              <a:ext cx="1653860" cy="62779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硬件、机箱、散热、电源模块、软件设计</a:t>
              </a:r>
            </a:p>
          </p:txBody>
        </p:sp>
        <p:sp>
          <p:nvSpPr>
            <p:cNvPr id="15" name="矩形 14"/>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责任人：硬件工程师、结构工程师、散热工程师、电源工程师、</a:t>
              </a:r>
              <a:r>
                <a:rPr lang="en-US" altLang="zh-CN" sz="1200" dirty="0">
                  <a:solidFill>
                    <a:schemeClr val="tx1"/>
                  </a:solidFill>
                  <a:cs typeface="+mn-ea"/>
                  <a:sym typeface="+mn-lt"/>
                </a:rPr>
                <a:t>BIOS</a:t>
              </a:r>
              <a:r>
                <a:rPr lang="zh-CN" altLang="en-US" sz="1200" dirty="0">
                  <a:solidFill>
                    <a:schemeClr val="tx1"/>
                  </a:solidFill>
                  <a:cs typeface="+mn-ea"/>
                  <a:sym typeface="+mn-lt"/>
                </a:rPr>
                <a:t>工程师、</a:t>
              </a:r>
              <a:r>
                <a:rPr lang="en-US" altLang="zh-CN" sz="1200" dirty="0">
                  <a:solidFill>
                    <a:schemeClr val="tx1"/>
                  </a:solidFill>
                  <a:cs typeface="+mn-ea"/>
                  <a:sym typeface="+mn-lt"/>
                </a:rPr>
                <a:t>BMC</a:t>
              </a:r>
              <a:r>
                <a:rPr lang="zh-CN" altLang="en-US" sz="1200" dirty="0">
                  <a:solidFill>
                    <a:schemeClr val="tx1"/>
                  </a:solidFill>
                  <a:cs typeface="+mn-ea"/>
                  <a:sym typeface="+mn-lt"/>
                </a:rPr>
                <a:t>工程师</a:t>
              </a:r>
            </a:p>
          </p:txBody>
        </p:sp>
      </p:grpSp>
      <p:grpSp>
        <p:nvGrpSpPr>
          <p:cNvPr id="16" name="组合 15"/>
          <p:cNvGrpSpPr/>
          <p:nvPr/>
        </p:nvGrpSpPr>
        <p:grpSpPr>
          <a:xfrm>
            <a:off x="8425935" y="3726986"/>
            <a:ext cx="1668980" cy="2565779"/>
            <a:chOff x="785011" y="2251881"/>
            <a:chExt cx="1653860" cy="3138985"/>
          </a:xfrm>
          <a:solidFill>
            <a:schemeClr val="bg1">
              <a:lumMod val="85000"/>
            </a:schemeClr>
          </a:solidFill>
          <a:effectLst/>
        </p:grpSpPr>
        <p:sp>
          <p:nvSpPr>
            <p:cNvPr id="17" name="矩形 16"/>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ysClr val="windowText" lastClr="000000"/>
                  </a:solidFill>
                  <a:cs typeface="+mn-ea"/>
                  <a:sym typeface="+mn-lt"/>
                </a:rPr>
                <a:t>系统六性设计</a:t>
              </a:r>
            </a:p>
          </p:txBody>
        </p:sp>
        <p:sp>
          <p:nvSpPr>
            <p:cNvPr id="18" name="矩形 17"/>
            <p:cNvSpPr/>
            <p:nvPr/>
          </p:nvSpPr>
          <p:spPr>
            <a:xfrm>
              <a:off x="785011" y="2920621"/>
              <a:ext cx="1653860" cy="62779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六性设计</a:t>
              </a:r>
            </a:p>
          </p:txBody>
        </p:sp>
        <p:sp>
          <p:nvSpPr>
            <p:cNvPr id="19" name="矩形 18"/>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责任人：产品经理</a:t>
              </a:r>
              <a:r>
                <a:rPr lang="en-US" altLang="zh-CN" sz="1200" dirty="0">
                  <a:solidFill>
                    <a:schemeClr val="tx1"/>
                  </a:solidFill>
                  <a:cs typeface="+mn-ea"/>
                  <a:sym typeface="+mn-lt"/>
                </a:rPr>
                <a:t>B</a:t>
              </a:r>
              <a:endParaRPr lang="zh-CN" altLang="en-US" sz="1200" dirty="0">
                <a:solidFill>
                  <a:schemeClr val="tx1"/>
                </a:solidFill>
                <a:cs typeface="+mn-ea"/>
                <a:sym typeface="+mn-lt"/>
              </a:endParaRPr>
            </a:p>
          </p:txBody>
        </p:sp>
      </p:grpSp>
      <p:sp>
        <p:nvSpPr>
          <p:cNvPr id="21" name="矩形 20"/>
          <p:cNvSpPr/>
          <p:nvPr/>
        </p:nvSpPr>
        <p:spPr>
          <a:xfrm>
            <a:off x="2802290" y="925369"/>
            <a:ext cx="8940702" cy="1530291"/>
          </a:xfrm>
          <a:prstGeom prst="rect">
            <a:avLst/>
          </a:prstGeom>
        </p:spPr>
        <p:txBody>
          <a:bodyPr wrap="square">
            <a:spAutoFit/>
          </a:bodyPr>
          <a:lstStyle/>
          <a:p>
            <a:pPr>
              <a:lnSpc>
                <a:spcPct val="150000"/>
              </a:lnSpc>
            </a:pPr>
            <a:r>
              <a:rPr lang="zh-CN" altLang="en-US" sz="1600" b="1" dirty="0">
                <a:solidFill>
                  <a:schemeClr val="tx1">
                    <a:lumMod val="75000"/>
                    <a:lumOff val="25000"/>
                  </a:schemeClr>
                </a:solidFill>
                <a:cs typeface="+mn-ea"/>
                <a:sym typeface="+mn-lt"/>
              </a:rPr>
              <a:t>概要设计说明书：</a:t>
            </a:r>
            <a:endParaRPr lang="en-US" altLang="zh-CN" sz="1600" b="1" dirty="0">
              <a:solidFill>
                <a:schemeClr val="tx1">
                  <a:lumMod val="75000"/>
                  <a:lumOff val="25000"/>
                </a:schemeClr>
              </a:solidFill>
              <a:cs typeface="+mn-ea"/>
              <a:sym typeface="+mn-lt"/>
            </a:endParaRPr>
          </a:p>
          <a:p>
            <a:pPr marL="285750" indent="-285750">
              <a:lnSpc>
                <a:spcPct val="150000"/>
              </a:lnSpc>
              <a:buFont typeface="Wingdings" panose="05000000000000000000" pitchFamily="2" charset="2"/>
              <a:buChar char="l"/>
            </a:pPr>
            <a:r>
              <a:rPr lang="zh-CN" altLang="en-US" sz="1600" dirty="0">
                <a:solidFill>
                  <a:schemeClr val="tx1">
                    <a:lumMod val="75000"/>
                    <a:lumOff val="25000"/>
                  </a:schemeClr>
                </a:solidFill>
                <a:cs typeface="+mn-ea"/>
                <a:sym typeface="+mn-lt"/>
              </a:rPr>
              <a:t>目的：提供架构决策和详设依据；</a:t>
            </a:r>
            <a:endParaRPr lang="en-US" altLang="zh-CN" sz="1600" dirty="0">
              <a:solidFill>
                <a:schemeClr val="tx1">
                  <a:lumMod val="75000"/>
                  <a:lumOff val="25000"/>
                </a:schemeClr>
              </a:solidFill>
              <a:cs typeface="+mn-ea"/>
              <a:sym typeface="+mn-lt"/>
            </a:endParaRPr>
          </a:p>
          <a:p>
            <a:pPr marL="285750" indent="-285750">
              <a:lnSpc>
                <a:spcPct val="150000"/>
              </a:lnSpc>
              <a:buFont typeface="Wingdings" panose="05000000000000000000" pitchFamily="2" charset="2"/>
              <a:buChar char="l"/>
            </a:pPr>
            <a:r>
              <a:rPr lang="zh-CN" altLang="en-US" sz="1600" dirty="0">
                <a:solidFill>
                  <a:schemeClr val="tx1">
                    <a:lumMod val="75000"/>
                    <a:lumOff val="25000"/>
                  </a:schemeClr>
                </a:solidFill>
                <a:cs typeface="+mn-ea"/>
                <a:sym typeface="+mn-lt"/>
              </a:rPr>
              <a:t>由架构师进行汇总并产出概要设计说明书，在</a:t>
            </a:r>
            <a:r>
              <a:rPr lang="en-US" altLang="zh-CN" sz="1600" dirty="0">
                <a:solidFill>
                  <a:schemeClr val="tx1">
                    <a:lumMod val="75000"/>
                    <a:lumOff val="25000"/>
                  </a:schemeClr>
                </a:solidFill>
                <a:cs typeface="+mn-ea"/>
                <a:sym typeface="+mn-lt"/>
              </a:rPr>
              <a:t>PLM</a:t>
            </a:r>
            <a:r>
              <a:rPr lang="zh-CN" altLang="en-US" sz="1600" dirty="0">
                <a:solidFill>
                  <a:schemeClr val="tx1">
                    <a:lumMod val="75000"/>
                    <a:lumOff val="25000"/>
                  </a:schemeClr>
                </a:solidFill>
                <a:cs typeface="+mn-ea"/>
                <a:sym typeface="+mn-lt"/>
              </a:rPr>
              <a:t>上进行同行评审 ；</a:t>
            </a:r>
            <a:endParaRPr lang="en-US" altLang="zh-CN" sz="1600" dirty="0">
              <a:solidFill>
                <a:schemeClr val="tx1">
                  <a:lumMod val="75000"/>
                  <a:lumOff val="25000"/>
                </a:schemeClr>
              </a:solidFill>
              <a:cs typeface="+mn-ea"/>
              <a:sym typeface="+mn-lt"/>
            </a:endParaRPr>
          </a:p>
          <a:p>
            <a:pPr marL="285750" indent="-285750">
              <a:lnSpc>
                <a:spcPct val="150000"/>
              </a:lnSpc>
              <a:buFont typeface="Wingdings" panose="05000000000000000000" pitchFamily="2" charset="2"/>
              <a:buChar char="l"/>
            </a:pPr>
            <a:r>
              <a:rPr lang="zh-CN" altLang="en-US" sz="1600" dirty="0">
                <a:solidFill>
                  <a:schemeClr val="tx1">
                    <a:lumMod val="75000"/>
                    <a:lumOff val="25000"/>
                  </a:schemeClr>
                </a:solidFill>
                <a:cs typeface="+mn-ea"/>
                <a:sym typeface="+mn-lt"/>
              </a:rPr>
              <a:t>主要包含以下五部分：</a:t>
            </a:r>
            <a:endParaRPr lang="en-US" altLang="zh-CN" sz="1600" dirty="0">
              <a:solidFill>
                <a:schemeClr val="tx1">
                  <a:lumMod val="75000"/>
                  <a:lumOff val="25000"/>
                </a:schemeClr>
              </a:solidFill>
              <a:cs typeface="+mn-ea"/>
              <a:sym typeface="+mn-lt"/>
            </a:endParaRPr>
          </a:p>
        </p:txBody>
      </p:sp>
      <p:grpSp>
        <p:nvGrpSpPr>
          <p:cNvPr id="22" name="组合 21"/>
          <p:cNvGrpSpPr/>
          <p:nvPr/>
        </p:nvGrpSpPr>
        <p:grpSpPr>
          <a:xfrm>
            <a:off x="10186938" y="3715198"/>
            <a:ext cx="1668981" cy="2565779"/>
            <a:chOff x="785011" y="2251881"/>
            <a:chExt cx="1653860" cy="3138985"/>
          </a:xfrm>
          <a:solidFill>
            <a:schemeClr val="bg1">
              <a:lumMod val="85000"/>
            </a:schemeClr>
          </a:solidFill>
          <a:effectLst/>
        </p:grpSpPr>
        <p:sp>
          <p:nvSpPr>
            <p:cNvPr id="23" name="矩形 22"/>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ysClr val="windowText" lastClr="000000"/>
                  </a:solidFill>
                  <a:latin typeface="微软雅黑" panose="020B0503020204020204" pitchFamily="34" charset="-122"/>
                  <a:ea typeface="微软雅黑" panose="020B0503020204020204" pitchFamily="34" charset="-122"/>
                  <a:cs typeface="+mn-ea"/>
                  <a:sym typeface="+mn-lt"/>
                </a:rPr>
                <a:t>系统关键件与重要件清单</a:t>
              </a:r>
            </a:p>
          </p:txBody>
        </p:sp>
        <p:sp>
          <p:nvSpPr>
            <p:cNvPr id="24" name="矩形 23"/>
            <p:cNvSpPr/>
            <p:nvPr/>
          </p:nvSpPr>
          <p:spPr>
            <a:xfrm>
              <a:off x="785011" y="2920621"/>
              <a:ext cx="1653860" cy="62779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关键件与重要件清单</a:t>
              </a:r>
            </a:p>
          </p:txBody>
        </p:sp>
        <p:sp>
          <p:nvSpPr>
            <p:cNvPr id="25" name="矩形 24"/>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责任人：架构师</a:t>
              </a:r>
            </a:p>
          </p:txBody>
        </p:sp>
      </p:grpSp>
      <p:sp>
        <p:nvSpPr>
          <p:cNvPr id="32" name="文本占位符 1">
            <a:extLst>
              <a:ext uri="{FF2B5EF4-FFF2-40B4-BE49-F238E27FC236}">
                <a16:creationId xmlns:a16="http://schemas.microsoft.com/office/drawing/2014/main" id="{EB7291E7-BB52-466D-BC77-9B02653EB2B4}"/>
              </a:ext>
            </a:extLst>
          </p:cNvPr>
          <p:cNvSpPr>
            <a:spLocks noGrp="1"/>
          </p:cNvSpPr>
          <p:nvPr>
            <p:ph type="body" sz="quarter" idx="13"/>
          </p:nvPr>
        </p:nvSpPr>
        <p:spPr/>
        <p:txBody>
          <a:bodyPr/>
          <a:lstStyle/>
          <a:p>
            <a:r>
              <a:rPr lang="en-US" altLang="zh-CN" dirty="0"/>
              <a:t>L4 </a:t>
            </a:r>
            <a:r>
              <a:rPr lang="zh-CN" altLang="en-US" dirty="0"/>
              <a:t>概要设计</a:t>
            </a:r>
          </a:p>
        </p:txBody>
      </p:sp>
      <p:sp>
        <p:nvSpPr>
          <p:cNvPr id="26" name="标题 7">
            <a:extLst>
              <a:ext uri="{FF2B5EF4-FFF2-40B4-BE49-F238E27FC236}">
                <a16:creationId xmlns:a16="http://schemas.microsoft.com/office/drawing/2014/main" id="{BC396957-5FAE-41CD-8D3C-C0E579E5DDDD}"/>
              </a:ext>
            </a:extLst>
          </p:cNvPr>
          <p:cNvSpPr txBox="1">
            <a:spLocks/>
          </p:cNvSpPr>
          <p:nvPr/>
        </p:nvSpPr>
        <p:spPr>
          <a:xfrm>
            <a:off x="5676462" y="2935181"/>
            <a:ext cx="3292564" cy="513156"/>
          </a:xfrm>
          <a:prstGeom prst="rect">
            <a:avLst/>
          </a:prstGeom>
          <a:solidFill>
            <a:schemeClr val="accent5">
              <a:lumMod val="60000"/>
              <a:lumOff val="40000"/>
            </a:schemeClr>
          </a:solidFill>
        </p:spPr>
        <p:txBody>
          <a:bodyPr anchor="ctr"/>
          <a:lstStyle>
            <a:lvl1pPr algn="ctr" defTabSz="1219170" rtl="0" eaLnBrk="1" latinLnBrk="0" hangingPunct="1">
              <a:spcBef>
                <a:spcPct val="0"/>
              </a:spcBef>
              <a:buNone/>
              <a:defRPr sz="5867" kern="1200">
                <a:solidFill>
                  <a:schemeClr val="tx1"/>
                </a:solidFill>
                <a:latin typeface="+mj-lt"/>
                <a:ea typeface="+mj-ea"/>
                <a:cs typeface="+mj-cs"/>
              </a:defRPr>
            </a:lvl1pPr>
          </a:lstStyle>
          <a:p>
            <a:r>
              <a:rPr lang="zh-CN" altLang="en-US" sz="2000" b="1" dirty="0">
                <a:solidFill>
                  <a:schemeClr val="bg1">
                    <a:lumMod val="95000"/>
                  </a:schemeClr>
                </a:solidFill>
                <a:cs typeface="+mn-ea"/>
                <a:sym typeface="+mn-lt"/>
              </a:rPr>
              <a:t>概要设计说明书</a:t>
            </a:r>
            <a:endParaRPr lang="zh-CN" altLang="en-US" sz="2000" b="1" dirty="0">
              <a:solidFill>
                <a:schemeClr val="bg1">
                  <a:lumMod val="95000"/>
                </a:schemeClr>
              </a:solidFill>
              <a:latin typeface="+mn-ea"/>
              <a:ea typeface="+mn-ea"/>
            </a:endParaRPr>
          </a:p>
        </p:txBody>
      </p:sp>
      <p:sp>
        <p:nvSpPr>
          <p:cNvPr id="28" name="矩形 27">
            <a:extLst>
              <a:ext uri="{FF2B5EF4-FFF2-40B4-BE49-F238E27FC236}">
                <a16:creationId xmlns:a16="http://schemas.microsoft.com/office/drawing/2014/main" id="{368BFBAD-0091-4AD0-8976-7711B01AA2E7}"/>
              </a:ext>
            </a:extLst>
          </p:cNvPr>
          <p:cNvSpPr/>
          <p:nvPr/>
        </p:nvSpPr>
        <p:spPr>
          <a:xfrm>
            <a:off x="583945" y="1567481"/>
            <a:ext cx="1659090" cy="357108"/>
          </a:xfrm>
          <a:prstGeom prst="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概要设计说明书</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9" name="直接连接符 28">
            <a:extLst>
              <a:ext uri="{FF2B5EF4-FFF2-40B4-BE49-F238E27FC236}">
                <a16:creationId xmlns:a16="http://schemas.microsoft.com/office/drawing/2014/main" id="{9F26C148-62FC-4AEF-AB83-0957A04F22C0}"/>
              </a:ext>
            </a:extLst>
          </p:cNvPr>
          <p:cNvCxnSpPr>
            <a:cxnSpLocks/>
          </p:cNvCxnSpPr>
          <p:nvPr/>
        </p:nvCxnSpPr>
        <p:spPr>
          <a:xfrm flipH="1">
            <a:off x="294489" y="1412611"/>
            <a:ext cx="13302" cy="4932463"/>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586F1033-D8DE-4CC5-AEAD-6CC407895711}"/>
              </a:ext>
            </a:extLst>
          </p:cNvPr>
          <p:cNvSpPr/>
          <p:nvPr/>
        </p:nvSpPr>
        <p:spPr>
          <a:xfrm>
            <a:off x="583943" y="4661530"/>
            <a:ext cx="1659091"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散热仿真</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09C28D8A-7995-4FB7-9DBE-2B40AA1A965C}"/>
              </a:ext>
            </a:extLst>
          </p:cNvPr>
          <p:cNvSpPr/>
          <p:nvPr/>
        </p:nvSpPr>
        <p:spPr>
          <a:xfrm>
            <a:off x="583942" y="5160186"/>
            <a:ext cx="1659092"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制定测试配置</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3" name="直接连接符 32">
            <a:extLst>
              <a:ext uri="{FF2B5EF4-FFF2-40B4-BE49-F238E27FC236}">
                <a16:creationId xmlns:a16="http://schemas.microsoft.com/office/drawing/2014/main" id="{5253C669-50B4-4100-9E00-EC85A5C8E3FA}"/>
              </a:ext>
            </a:extLst>
          </p:cNvPr>
          <p:cNvCxnSpPr/>
          <p:nvPr/>
        </p:nvCxnSpPr>
        <p:spPr>
          <a:xfrm flipH="1">
            <a:off x="295913" y="1738320"/>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946AE2F-FB66-4643-9F90-6566767FAF9D}"/>
              </a:ext>
            </a:extLst>
          </p:cNvPr>
          <p:cNvCxnSpPr/>
          <p:nvPr/>
        </p:nvCxnSpPr>
        <p:spPr>
          <a:xfrm flipH="1">
            <a:off x="295912" y="4840756"/>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E28CF54-F316-4A12-AADD-1BA3EC3851C6}"/>
              </a:ext>
            </a:extLst>
          </p:cNvPr>
          <p:cNvCxnSpPr/>
          <p:nvPr/>
        </p:nvCxnSpPr>
        <p:spPr>
          <a:xfrm flipH="1">
            <a:off x="295912" y="5334877"/>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9F5410FA-1B4A-4361-8E1A-70E4BB9F531F}"/>
              </a:ext>
            </a:extLst>
          </p:cNvPr>
          <p:cNvSpPr/>
          <p:nvPr/>
        </p:nvSpPr>
        <p:spPr>
          <a:xfrm>
            <a:off x="943102" y="2105816"/>
            <a:ext cx="1224136"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系统设计方案选择</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7" name="直接连接符 36">
            <a:extLst>
              <a:ext uri="{FF2B5EF4-FFF2-40B4-BE49-F238E27FC236}">
                <a16:creationId xmlns:a16="http://schemas.microsoft.com/office/drawing/2014/main" id="{68FA4CC7-CFD4-461C-B472-FFB847E1CDCA}"/>
              </a:ext>
            </a:extLst>
          </p:cNvPr>
          <p:cNvCxnSpPr>
            <a:stCxn id="36" idx="1"/>
          </p:cNvCxnSpPr>
          <p:nvPr/>
        </p:nvCxnSpPr>
        <p:spPr>
          <a:xfrm flipH="1">
            <a:off x="727078" y="2284370"/>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44DE7C6-BB9A-44B9-BC1B-CCF050184CA3}"/>
              </a:ext>
            </a:extLst>
          </p:cNvPr>
          <p:cNvCxnSpPr>
            <a:cxnSpLocks/>
          </p:cNvCxnSpPr>
          <p:nvPr/>
        </p:nvCxnSpPr>
        <p:spPr>
          <a:xfrm flipH="1">
            <a:off x="724313" y="1929482"/>
            <a:ext cx="8295" cy="2432656"/>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DCCFDA63-F775-4B24-90D3-E7AE2693895F}"/>
              </a:ext>
            </a:extLst>
          </p:cNvPr>
          <p:cNvSpPr/>
          <p:nvPr/>
        </p:nvSpPr>
        <p:spPr>
          <a:xfrm>
            <a:off x="943102" y="2635815"/>
            <a:ext cx="1218609"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系统总体设计</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A65C69DF-B625-4DCA-86B5-91DAD4CD2BDC}"/>
              </a:ext>
            </a:extLst>
          </p:cNvPr>
          <p:cNvSpPr/>
          <p:nvPr/>
        </p:nvSpPr>
        <p:spPr>
          <a:xfrm>
            <a:off x="943102" y="3174150"/>
            <a:ext cx="1218609" cy="357108"/>
          </a:xfrm>
          <a:prstGeom prst="rect">
            <a:avLst/>
          </a:prstGeom>
          <a:solidFill>
            <a:srgbClr val="B9B9B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子系统设计</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1" name="直接连接符 40">
            <a:extLst>
              <a:ext uri="{FF2B5EF4-FFF2-40B4-BE49-F238E27FC236}">
                <a16:creationId xmlns:a16="http://schemas.microsoft.com/office/drawing/2014/main" id="{5F1CD375-0989-4084-9E8D-39A2461B10DD}"/>
              </a:ext>
            </a:extLst>
          </p:cNvPr>
          <p:cNvCxnSpPr/>
          <p:nvPr/>
        </p:nvCxnSpPr>
        <p:spPr>
          <a:xfrm flipH="1">
            <a:off x="727078" y="2833059"/>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8209CD45-B645-48EA-8C01-2EB9DCC13321}"/>
              </a:ext>
            </a:extLst>
          </p:cNvPr>
          <p:cNvCxnSpPr/>
          <p:nvPr/>
        </p:nvCxnSpPr>
        <p:spPr>
          <a:xfrm flipH="1">
            <a:off x="727078" y="3337115"/>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FCC2C25C-D0FA-409F-AC62-DCD8F4B89244}"/>
              </a:ext>
            </a:extLst>
          </p:cNvPr>
          <p:cNvSpPr/>
          <p:nvPr/>
        </p:nvSpPr>
        <p:spPr>
          <a:xfrm>
            <a:off x="945705" y="3672297"/>
            <a:ext cx="1218609"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系统六性设计</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4" name="直接连接符 43">
            <a:extLst>
              <a:ext uri="{FF2B5EF4-FFF2-40B4-BE49-F238E27FC236}">
                <a16:creationId xmlns:a16="http://schemas.microsoft.com/office/drawing/2014/main" id="{81D2D02E-5576-48D8-80F9-E3B9FFBB1E6A}"/>
              </a:ext>
            </a:extLst>
          </p:cNvPr>
          <p:cNvCxnSpPr/>
          <p:nvPr/>
        </p:nvCxnSpPr>
        <p:spPr>
          <a:xfrm flipH="1">
            <a:off x="729681" y="3835262"/>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7CB2E4A-625F-4403-8FB0-D8AFA4B8CA55}"/>
              </a:ext>
            </a:extLst>
          </p:cNvPr>
          <p:cNvSpPr/>
          <p:nvPr/>
        </p:nvSpPr>
        <p:spPr>
          <a:xfrm>
            <a:off x="307791" y="1035722"/>
            <a:ext cx="2088233" cy="366885"/>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概要设计</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a16="http://schemas.microsoft.com/office/drawing/2014/main" id="{6D74AE1B-C568-459A-B833-E7BBF06D55D9}"/>
              </a:ext>
            </a:extLst>
          </p:cNvPr>
          <p:cNvSpPr/>
          <p:nvPr/>
        </p:nvSpPr>
        <p:spPr>
          <a:xfrm>
            <a:off x="950055" y="4199173"/>
            <a:ext cx="1218609"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系统关键件与重要件清单</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7" name="直接连接符 46">
            <a:extLst>
              <a:ext uri="{FF2B5EF4-FFF2-40B4-BE49-F238E27FC236}">
                <a16:creationId xmlns:a16="http://schemas.microsoft.com/office/drawing/2014/main" id="{DAAB021A-C72B-476E-BC48-C8D186935ABC}"/>
              </a:ext>
            </a:extLst>
          </p:cNvPr>
          <p:cNvCxnSpPr/>
          <p:nvPr/>
        </p:nvCxnSpPr>
        <p:spPr>
          <a:xfrm flipH="1">
            <a:off x="734031" y="4362138"/>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BB9AC53F-6F90-4A3C-AE59-233F9113B963}"/>
              </a:ext>
            </a:extLst>
          </p:cNvPr>
          <p:cNvSpPr/>
          <p:nvPr/>
        </p:nvSpPr>
        <p:spPr>
          <a:xfrm>
            <a:off x="588289" y="5687055"/>
            <a:ext cx="1659092"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提供产品发布策略</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9" name="直接连接符 48">
            <a:extLst>
              <a:ext uri="{FF2B5EF4-FFF2-40B4-BE49-F238E27FC236}">
                <a16:creationId xmlns:a16="http://schemas.microsoft.com/office/drawing/2014/main" id="{99466984-2264-4C54-9CEA-605628769C8D}"/>
              </a:ext>
            </a:extLst>
          </p:cNvPr>
          <p:cNvCxnSpPr/>
          <p:nvPr/>
        </p:nvCxnSpPr>
        <p:spPr>
          <a:xfrm flipH="1">
            <a:off x="300259" y="5861746"/>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C6CD4FE0-1B74-47BD-8EE8-FD0296A48020}"/>
              </a:ext>
            </a:extLst>
          </p:cNvPr>
          <p:cNvSpPr/>
          <p:nvPr/>
        </p:nvSpPr>
        <p:spPr>
          <a:xfrm>
            <a:off x="592642" y="6170383"/>
            <a:ext cx="1659092"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搭建产品</a:t>
            </a:r>
            <a:r>
              <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rPr>
              <a:t>Early BOM</a:t>
            </a:r>
          </a:p>
        </p:txBody>
      </p:sp>
      <p:cxnSp>
        <p:nvCxnSpPr>
          <p:cNvPr id="51" name="直接连接符 50">
            <a:extLst>
              <a:ext uri="{FF2B5EF4-FFF2-40B4-BE49-F238E27FC236}">
                <a16:creationId xmlns:a16="http://schemas.microsoft.com/office/drawing/2014/main" id="{64564A0E-DDEA-4431-8741-383C79655168}"/>
              </a:ext>
            </a:extLst>
          </p:cNvPr>
          <p:cNvCxnSpPr/>
          <p:nvPr/>
        </p:nvCxnSpPr>
        <p:spPr>
          <a:xfrm flipH="1">
            <a:off x="304612" y="6345074"/>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 name="直接连接符 1">
            <a:extLst>
              <a:ext uri="{FF2B5EF4-FFF2-40B4-BE49-F238E27FC236}">
                <a16:creationId xmlns:a16="http://schemas.microsoft.com/office/drawing/2014/main" id="{155FD1B7-A599-C54F-C111-8742D12328C9}"/>
              </a:ext>
            </a:extLst>
          </p:cNvPr>
          <p:cNvCxnSpPr>
            <a:cxnSpLocks/>
          </p:cNvCxnSpPr>
          <p:nvPr/>
        </p:nvCxnSpPr>
        <p:spPr>
          <a:xfrm>
            <a:off x="2898978" y="2693430"/>
            <a:ext cx="9293022"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31088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1">
            <a:extLst>
              <a:ext uri="{FF2B5EF4-FFF2-40B4-BE49-F238E27FC236}">
                <a16:creationId xmlns:a16="http://schemas.microsoft.com/office/drawing/2014/main" id="{D02AD6E0-B62C-4E4C-9DF6-67EBD01E7BEC}"/>
              </a:ext>
            </a:extLst>
          </p:cNvPr>
          <p:cNvSpPr txBox="1">
            <a:spLocks/>
          </p:cNvSpPr>
          <p:nvPr/>
        </p:nvSpPr>
        <p:spPr>
          <a:xfrm>
            <a:off x="226284" y="168984"/>
            <a:ext cx="9889099" cy="672075"/>
          </a:xfrm>
          <a:prstGeom prst="rect">
            <a:avLst/>
          </a:prstGeom>
        </p:spPr>
        <p:txBody>
          <a:bodyPr/>
          <a:lstStyle>
            <a:lvl1pPr marL="457189" indent="-457189" algn="l" defTabSz="1219170" rtl="0" eaLnBrk="1" latinLnBrk="0" hangingPunct="1">
              <a:spcBef>
                <a:spcPct val="20000"/>
              </a:spcBef>
              <a:buFont typeface="Arial" pitchFamily="34" charset="0"/>
              <a:buNone/>
              <a:defRPr sz="3733" b="1" kern="1200">
                <a:solidFill>
                  <a:schemeClr val="tx1">
                    <a:lumMod val="65000"/>
                    <a:lumOff val="35000"/>
                  </a:schemeClr>
                </a:solidFill>
                <a:latin typeface="微软雅黑" pitchFamily="34" charset="-122"/>
                <a:ea typeface="微软雅黑" pitchFamily="34" charset="-122"/>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altLang="zh-CN" dirty="0"/>
              <a:t>L4 </a:t>
            </a:r>
            <a:r>
              <a:rPr lang="zh-CN" altLang="en-US" dirty="0"/>
              <a:t>概要设计</a:t>
            </a:r>
          </a:p>
        </p:txBody>
      </p:sp>
      <p:sp>
        <p:nvSpPr>
          <p:cNvPr id="12" name="矩形 11">
            <a:extLst>
              <a:ext uri="{FF2B5EF4-FFF2-40B4-BE49-F238E27FC236}">
                <a16:creationId xmlns:a16="http://schemas.microsoft.com/office/drawing/2014/main" id="{B1AAEE6A-37EF-4207-8FAA-98884EAEE8D7}"/>
              </a:ext>
            </a:extLst>
          </p:cNvPr>
          <p:cNvSpPr/>
          <p:nvPr/>
        </p:nvSpPr>
        <p:spPr>
          <a:xfrm>
            <a:off x="583945" y="1567481"/>
            <a:ext cx="1659090" cy="357108"/>
          </a:xfrm>
          <a:prstGeom prst="rect">
            <a:avLst/>
          </a:prstGeom>
          <a:solidFill>
            <a:srgbClr val="B9B9B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概要设计说明书</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3" name="直接连接符 12">
            <a:extLst>
              <a:ext uri="{FF2B5EF4-FFF2-40B4-BE49-F238E27FC236}">
                <a16:creationId xmlns:a16="http://schemas.microsoft.com/office/drawing/2014/main" id="{4998BA83-DD95-48CD-B136-43779886133C}"/>
              </a:ext>
            </a:extLst>
          </p:cNvPr>
          <p:cNvCxnSpPr>
            <a:cxnSpLocks/>
          </p:cNvCxnSpPr>
          <p:nvPr/>
        </p:nvCxnSpPr>
        <p:spPr>
          <a:xfrm flipH="1">
            <a:off x="294489" y="1412611"/>
            <a:ext cx="13302" cy="4932463"/>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1570C6AD-2732-41AD-B3D7-C3EACE097C8D}"/>
              </a:ext>
            </a:extLst>
          </p:cNvPr>
          <p:cNvSpPr/>
          <p:nvPr/>
        </p:nvSpPr>
        <p:spPr>
          <a:xfrm>
            <a:off x="583943" y="4661530"/>
            <a:ext cx="1659091" cy="357108"/>
          </a:xfrm>
          <a:prstGeom prst="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散热仿真</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089C1834-424D-4FA8-8F28-C37F85B0A9B2}"/>
              </a:ext>
            </a:extLst>
          </p:cNvPr>
          <p:cNvSpPr/>
          <p:nvPr/>
        </p:nvSpPr>
        <p:spPr>
          <a:xfrm>
            <a:off x="583942" y="5160186"/>
            <a:ext cx="1659092" cy="357108"/>
          </a:xfrm>
          <a:prstGeom prst="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制定测试配置</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6" name="直接连接符 15">
            <a:extLst>
              <a:ext uri="{FF2B5EF4-FFF2-40B4-BE49-F238E27FC236}">
                <a16:creationId xmlns:a16="http://schemas.microsoft.com/office/drawing/2014/main" id="{2C3AFBA4-1A2C-461A-8713-5575E33FDE8C}"/>
              </a:ext>
            </a:extLst>
          </p:cNvPr>
          <p:cNvCxnSpPr/>
          <p:nvPr/>
        </p:nvCxnSpPr>
        <p:spPr>
          <a:xfrm flipH="1">
            <a:off x="295913" y="1738320"/>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0041F1F-0644-42ED-B81F-6ABF37F2100D}"/>
              </a:ext>
            </a:extLst>
          </p:cNvPr>
          <p:cNvCxnSpPr/>
          <p:nvPr/>
        </p:nvCxnSpPr>
        <p:spPr>
          <a:xfrm flipH="1">
            <a:off x="295912" y="4840756"/>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3C53D35-E976-4502-B8A5-BB27D4321BAC}"/>
              </a:ext>
            </a:extLst>
          </p:cNvPr>
          <p:cNvCxnSpPr/>
          <p:nvPr/>
        </p:nvCxnSpPr>
        <p:spPr>
          <a:xfrm flipH="1">
            <a:off x="295912" y="5334877"/>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355675A1-67E5-4CE6-B54B-F1AE709830F6}"/>
              </a:ext>
            </a:extLst>
          </p:cNvPr>
          <p:cNvSpPr/>
          <p:nvPr/>
        </p:nvSpPr>
        <p:spPr>
          <a:xfrm>
            <a:off x="943102" y="2105816"/>
            <a:ext cx="1224136"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系统设计方案选择</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0" name="直接连接符 19">
            <a:extLst>
              <a:ext uri="{FF2B5EF4-FFF2-40B4-BE49-F238E27FC236}">
                <a16:creationId xmlns:a16="http://schemas.microsoft.com/office/drawing/2014/main" id="{DE8C478A-53AC-4721-B5A4-63FA96C64F82}"/>
              </a:ext>
            </a:extLst>
          </p:cNvPr>
          <p:cNvCxnSpPr>
            <a:stCxn id="19" idx="1"/>
          </p:cNvCxnSpPr>
          <p:nvPr/>
        </p:nvCxnSpPr>
        <p:spPr>
          <a:xfrm flipH="1">
            <a:off x="727078" y="2284370"/>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4375F61-D9DC-47F3-9CD0-F51363ED4552}"/>
              </a:ext>
            </a:extLst>
          </p:cNvPr>
          <p:cNvCxnSpPr>
            <a:cxnSpLocks/>
          </p:cNvCxnSpPr>
          <p:nvPr/>
        </p:nvCxnSpPr>
        <p:spPr>
          <a:xfrm flipH="1">
            <a:off x="724313" y="1929482"/>
            <a:ext cx="8295" cy="2432656"/>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108E509D-E30F-4967-861C-404886B013D0}"/>
              </a:ext>
            </a:extLst>
          </p:cNvPr>
          <p:cNvSpPr/>
          <p:nvPr/>
        </p:nvSpPr>
        <p:spPr>
          <a:xfrm>
            <a:off x="943102" y="2635815"/>
            <a:ext cx="1218609"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系统总体设计</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A1381FD6-EBD9-4B33-BAD9-2451943EACE5}"/>
              </a:ext>
            </a:extLst>
          </p:cNvPr>
          <p:cNvSpPr/>
          <p:nvPr/>
        </p:nvSpPr>
        <p:spPr>
          <a:xfrm>
            <a:off x="943102" y="3174150"/>
            <a:ext cx="1218609" cy="357108"/>
          </a:xfrm>
          <a:prstGeom prst="rect">
            <a:avLst/>
          </a:prstGeom>
          <a:solidFill>
            <a:srgbClr val="B9B9B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子系统设计</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E37D3AD8-DF54-4FFA-A5CF-9E26C2718C24}"/>
              </a:ext>
            </a:extLst>
          </p:cNvPr>
          <p:cNvCxnSpPr/>
          <p:nvPr/>
        </p:nvCxnSpPr>
        <p:spPr>
          <a:xfrm flipH="1">
            <a:off x="727078" y="2833059"/>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59535F45-DEB1-484B-A80A-3623C87234FF}"/>
              </a:ext>
            </a:extLst>
          </p:cNvPr>
          <p:cNvCxnSpPr/>
          <p:nvPr/>
        </p:nvCxnSpPr>
        <p:spPr>
          <a:xfrm flipH="1">
            <a:off x="727078" y="3337115"/>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59DD144F-D93E-4173-A33C-8A3649FFBCF8}"/>
              </a:ext>
            </a:extLst>
          </p:cNvPr>
          <p:cNvSpPr/>
          <p:nvPr/>
        </p:nvSpPr>
        <p:spPr>
          <a:xfrm>
            <a:off x="945705" y="3672297"/>
            <a:ext cx="1218609" cy="357108"/>
          </a:xfrm>
          <a:prstGeom prst="rect">
            <a:avLst/>
          </a:prstGeom>
          <a:solidFill>
            <a:srgbClr val="B9B9B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系统六性设计</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27" name="直接连接符 26">
            <a:extLst>
              <a:ext uri="{FF2B5EF4-FFF2-40B4-BE49-F238E27FC236}">
                <a16:creationId xmlns:a16="http://schemas.microsoft.com/office/drawing/2014/main" id="{92D66A2F-E250-4F64-BC69-0F3DB6A85654}"/>
              </a:ext>
            </a:extLst>
          </p:cNvPr>
          <p:cNvCxnSpPr/>
          <p:nvPr/>
        </p:nvCxnSpPr>
        <p:spPr>
          <a:xfrm flipH="1">
            <a:off x="729681" y="3835262"/>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836F8BD2-C431-4FA6-BAD7-C8495A867679}"/>
              </a:ext>
            </a:extLst>
          </p:cNvPr>
          <p:cNvSpPr/>
          <p:nvPr/>
        </p:nvSpPr>
        <p:spPr>
          <a:xfrm>
            <a:off x="950055" y="4199173"/>
            <a:ext cx="1218609" cy="357108"/>
          </a:xfrm>
          <a:prstGeom prst="rect">
            <a:avLst/>
          </a:prstGeom>
          <a:solidFill>
            <a:srgbClr val="B9B9B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系统关键件与重要件清单</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0" name="直接连接符 29">
            <a:extLst>
              <a:ext uri="{FF2B5EF4-FFF2-40B4-BE49-F238E27FC236}">
                <a16:creationId xmlns:a16="http://schemas.microsoft.com/office/drawing/2014/main" id="{3A2F9DAF-436E-45DB-8776-115C59905E9F}"/>
              </a:ext>
            </a:extLst>
          </p:cNvPr>
          <p:cNvCxnSpPr/>
          <p:nvPr/>
        </p:nvCxnSpPr>
        <p:spPr>
          <a:xfrm flipH="1">
            <a:off x="734031" y="4362138"/>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9E252387-06F9-4B10-A24E-3C9DC6A146D0}"/>
              </a:ext>
            </a:extLst>
          </p:cNvPr>
          <p:cNvSpPr/>
          <p:nvPr/>
        </p:nvSpPr>
        <p:spPr>
          <a:xfrm>
            <a:off x="588289" y="5687055"/>
            <a:ext cx="1659092" cy="357108"/>
          </a:xfrm>
          <a:prstGeom prst="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提供产品</a:t>
            </a:r>
            <a:r>
              <a:rPr lang="zh-CN" altLang="en-US" sz="1200" b="1">
                <a:solidFill>
                  <a:schemeClr val="tx1">
                    <a:lumMod val="85000"/>
                    <a:lumOff val="15000"/>
                  </a:schemeClr>
                </a:solidFill>
                <a:latin typeface="微软雅黑" panose="020B0503020204020204" pitchFamily="34" charset="-122"/>
                <a:ea typeface="微软雅黑" panose="020B0503020204020204" pitchFamily="34" charset="-122"/>
              </a:rPr>
              <a:t>发布策略</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E19CE2FA-E9D2-40C4-A8B9-B28F133FCCCA}"/>
              </a:ext>
            </a:extLst>
          </p:cNvPr>
          <p:cNvCxnSpPr/>
          <p:nvPr/>
        </p:nvCxnSpPr>
        <p:spPr>
          <a:xfrm flipH="1">
            <a:off x="300259" y="5861746"/>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25B1DC42-CA5E-4C78-AEB0-ACAE2A86A20F}"/>
              </a:ext>
            </a:extLst>
          </p:cNvPr>
          <p:cNvSpPr/>
          <p:nvPr/>
        </p:nvSpPr>
        <p:spPr>
          <a:xfrm>
            <a:off x="592642" y="6170383"/>
            <a:ext cx="1659092" cy="357108"/>
          </a:xfrm>
          <a:prstGeom prst="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a:solidFill>
                  <a:schemeClr val="tx1">
                    <a:lumMod val="85000"/>
                    <a:lumOff val="15000"/>
                  </a:schemeClr>
                </a:solidFill>
                <a:latin typeface="微软雅黑" panose="020B0503020204020204" pitchFamily="34" charset="-122"/>
                <a:ea typeface="微软雅黑" panose="020B0503020204020204" pitchFamily="34" charset="-122"/>
              </a:rPr>
              <a:t>搭建产品</a:t>
            </a:r>
            <a:r>
              <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rPr>
              <a:t>Early BOM</a:t>
            </a:r>
          </a:p>
        </p:txBody>
      </p:sp>
      <p:cxnSp>
        <p:nvCxnSpPr>
          <p:cNvPr id="34" name="直接连接符 33">
            <a:extLst>
              <a:ext uri="{FF2B5EF4-FFF2-40B4-BE49-F238E27FC236}">
                <a16:creationId xmlns:a16="http://schemas.microsoft.com/office/drawing/2014/main" id="{A9B58029-8734-4042-97CE-901AA15E8628}"/>
              </a:ext>
            </a:extLst>
          </p:cNvPr>
          <p:cNvCxnSpPr/>
          <p:nvPr/>
        </p:nvCxnSpPr>
        <p:spPr>
          <a:xfrm flipH="1">
            <a:off x="304612" y="6345074"/>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5" name="圆角矩形 49">
            <a:extLst>
              <a:ext uri="{FF2B5EF4-FFF2-40B4-BE49-F238E27FC236}">
                <a16:creationId xmlns:a16="http://schemas.microsoft.com/office/drawing/2014/main" id="{83169119-9C03-4388-B9D6-A8C13CE4B397}"/>
              </a:ext>
            </a:extLst>
          </p:cNvPr>
          <p:cNvSpPr/>
          <p:nvPr/>
        </p:nvSpPr>
        <p:spPr>
          <a:xfrm>
            <a:off x="4004065" y="1639740"/>
            <a:ext cx="7169691" cy="569698"/>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l"/>
            </a:pPr>
            <a:r>
              <a:rPr lang="zh-CN" altLang="en-US" sz="1100" dirty="0">
                <a:solidFill>
                  <a:schemeClr val="tx1"/>
                </a:solidFill>
              </a:rPr>
              <a:t>建立散热仿真模型：基于结构给出</a:t>
            </a:r>
            <a:r>
              <a:rPr lang="en-US" altLang="zh-CN" sz="1100" dirty="0">
                <a:solidFill>
                  <a:schemeClr val="tx1"/>
                </a:solidFill>
              </a:rPr>
              <a:t>3D</a:t>
            </a:r>
            <a:r>
              <a:rPr lang="zh-CN" altLang="en-US" sz="1100" dirty="0">
                <a:solidFill>
                  <a:schemeClr val="tx1"/>
                </a:solidFill>
              </a:rPr>
              <a:t>图，建立散热仿真模型；</a:t>
            </a:r>
            <a:endParaRPr lang="en-US" altLang="zh-CN" sz="1100" dirty="0">
              <a:solidFill>
                <a:schemeClr val="tx1"/>
              </a:solidFill>
            </a:endParaRPr>
          </a:p>
          <a:p>
            <a:pPr marL="285750" indent="-285750">
              <a:lnSpc>
                <a:spcPct val="150000"/>
              </a:lnSpc>
              <a:buFont typeface="Wingdings" panose="05000000000000000000" pitchFamily="2" charset="2"/>
              <a:buChar char="l"/>
            </a:pPr>
            <a:r>
              <a:rPr lang="zh-CN" altLang="en-US" sz="1100" dirty="0">
                <a:solidFill>
                  <a:schemeClr val="tx1"/>
                </a:solidFill>
              </a:rPr>
              <a:t>系统散热方案优化：风扇选型，导风罩及散热器概要设计，仿真分析，给出初版散热方案；</a:t>
            </a:r>
            <a:endParaRPr lang="en-US" altLang="zh-CN" sz="1100" dirty="0">
              <a:solidFill>
                <a:schemeClr val="tx1"/>
              </a:solidFill>
            </a:endParaRPr>
          </a:p>
          <a:p>
            <a:pPr marL="171450" indent="-171450">
              <a:buFont typeface="Wingdings" panose="05000000000000000000" pitchFamily="2" charset="2"/>
              <a:buChar char="l"/>
            </a:pPr>
            <a:endParaRPr lang="zh-CN" altLang="en-US" sz="1100" b="1" dirty="0">
              <a:solidFill>
                <a:schemeClr val="tx1"/>
              </a:solidFill>
              <a:latin typeface="+mj-ea"/>
              <a:ea typeface="+mj-ea"/>
            </a:endParaRPr>
          </a:p>
        </p:txBody>
      </p:sp>
      <p:sp>
        <p:nvSpPr>
          <p:cNvPr id="36" name="Rectangle 6">
            <a:extLst>
              <a:ext uri="{FF2B5EF4-FFF2-40B4-BE49-F238E27FC236}">
                <a16:creationId xmlns:a16="http://schemas.microsoft.com/office/drawing/2014/main" id="{494ACE0F-6311-46B5-9C82-294DF8012941}"/>
              </a:ext>
            </a:extLst>
          </p:cNvPr>
          <p:cNvSpPr/>
          <p:nvPr/>
        </p:nvSpPr>
        <p:spPr>
          <a:xfrm>
            <a:off x="2694930" y="1767262"/>
            <a:ext cx="1184942" cy="338554"/>
          </a:xfrm>
          <a:prstGeom prst="rect">
            <a:avLst/>
          </a:prstGeom>
        </p:spPr>
        <p:txBody>
          <a:bodyPr wrap="square">
            <a:spAutoFit/>
          </a:bodyPr>
          <a:lstStyle/>
          <a:p>
            <a:pPr algn="ctr"/>
            <a:r>
              <a:rPr lang="zh-CN" altLang="en-US" sz="1600" b="1" dirty="0">
                <a:solidFill>
                  <a:schemeClr val="accent5">
                    <a:lumMod val="75000"/>
                  </a:schemeClr>
                </a:solidFill>
              </a:rPr>
              <a:t>散热仿真</a:t>
            </a:r>
          </a:p>
        </p:txBody>
      </p:sp>
      <p:sp>
        <p:nvSpPr>
          <p:cNvPr id="37" name="圆角矩形 49">
            <a:extLst>
              <a:ext uri="{FF2B5EF4-FFF2-40B4-BE49-F238E27FC236}">
                <a16:creationId xmlns:a16="http://schemas.microsoft.com/office/drawing/2014/main" id="{BAF584DC-9E22-4681-B1CD-2E4773794EFF}"/>
              </a:ext>
            </a:extLst>
          </p:cNvPr>
          <p:cNvSpPr/>
          <p:nvPr/>
        </p:nvSpPr>
        <p:spPr>
          <a:xfrm>
            <a:off x="4004065" y="4544331"/>
            <a:ext cx="7169691" cy="569698"/>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Wingdings" panose="05000000000000000000" pitchFamily="2" charset="2"/>
              <a:buChar char="l"/>
            </a:pPr>
            <a:r>
              <a:rPr lang="zh-CN" altLang="en-US" sz="1100" dirty="0">
                <a:solidFill>
                  <a:schemeClr val="tx1"/>
                </a:solidFill>
              </a:rPr>
              <a:t>产品早期</a:t>
            </a:r>
            <a:r>
              <a:rPr lang="en-US" altLang="zh-CN" sz="1100" dirty="0">
                <a:solidFill>
                  <a:schemeClr val="tx1"/>
                </a:solidFill>
              </a:rPr>
              <a:t>BOM</a:t>
            </a:r>
            <a:r>
              <a:rPr lang="zh-CN" altLang="en-US" sz="1100" dirty="0">
                <a:solidFill>
                  <a:schemeClr val="tx1"/>
                </a:solidFill>
              </a:rPr>
              <a:t>清单明细 </a:t>
            </a:r>
            <a:r>
              <a:rPr lang="en-US" altLang="zh-CN" sz="1100" dirty="0">
                <a:solidFill>
                  <a:schemeClr val="tx1"/>
                </a:solidFill>
              </a:rPr>
              <a:t>(</a:t>
            </a:r>
            <a:r>
              <a:rPr lang="zh-CN" altLang="en-US" sz="1100" dirty="0">
                <a:solidFill>
                  <a:schemeClr val="tx1"/>
                </a:solidFill>
              </a:rPr>
              <a:t>需上传</a:t>
            </a:r>
            <a:r>
              <a:rPr lang="en-US" altLang="zh-CN" sz="1100" dirty="0">
                <a:solidFill>
                  <a:schemeClr val="tx1"/>
                </a:solidFill>
              </a:rPr>
              <a:t>PLM</a:t>
            </a:r>
            <a:r>
              <a:rPr lang="zh-CN" altLang="en-US" sz="1100" dirty="0">
                <a:solidFill>
                  <a:schemeClr val="tx1"/>
                </a:solidFill>
              </a:rPr>
              <a:t>系统任务）</a:t>
            </a:r>
            <a:r>
              <a:rPr lang="zh-CN" altLang="en-US" sz="1100" dirty="0">
                <a:solidFill>
                  <a:schemeClr val="tx1"/>
                </a:solidFill>
                <a:latin typeface="微软雅黑" panose="020B0503020204020204" pitchFamily="34" charset="-122"/>
                <a:ea typeface="微软雅黑" panose="020B0503020204020204" pitchFamily="34" charset="-122"/>
              </a:rPr>
              <a:t>；</a:t>
            </a:r>
            <a:endParaRPr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38" name="Rectangle 6">
            <a:extLst>
              <a:ext uri="{FF2B5EF4-FFF2-40B4-BE49-F238E27FC236}">
                <a16:creationId xmlns:a16="http://schemas.microsoft.com/office/drawing/2014/main" id="{8FB74D09-BC30-46E2-A026-4D4E93E17FA4}"/>
              </a:ext>
            </a:extLst>
          </p:cNvPr>
          <p:cNvSpPr/>
          <p:nvPr/>
        </p:nvSpPr>
        <p:spPr>
          <a:xfrm>
            <a:off x="2694930" y="2519707"/>
            <a:ext cx="1107997" cy="584775"/>
          </a:xfrm>
          <a:prstGeom prst="rect">
            <a:avLst/>
          </a:prstGeom>
        </p:spPr>
        <p:txBody>
          <a:bodyPr wrap="square">
            <a:spAutoFit/>
          </a:bodyPr>
          <a:lstStyle/>
          <a:p>
            <a:pPr algn="ctr"/>
            <a:r>
              <a:rPr lang="zh-CN" altLang="en-US" sz="1600" b="1" dirty="0">
                <a:solidFill>
                  <a:schemeClr val="accent5">
                    <a:lumMod val="75000"/>
                  </a:schemeClr>
                </a:solidFill>
              </a:rPr>
              <a:t>制定测试配置</a:t>
            </a:r>
          </a:p>
        </p:txBody>
      </p:sp>
      <p:sp>
        <p:nvSpPr>
          <p:cNvPr id="39" name="圆角矩形 49">
            <a:extLst>
              <a:ext uri="{FF2B5EF4-FFF2-40B4-BE49-F238E27FC236}">
                <a16:creationId xmlns:a16="http://schemas.microsoft.com/office/drawing/2014/main" id="{B1B45FC5-42F3-46C5-8ED8-C2381BDCCBBA}"/>
              </a:ext>
            </a:extLst>
          </p:cNvPr>
          <p:cNvSpPr/>
          <p:nvPr/>
        </p:nvSpPr>
        <p:spPr>
          <a:xfrm>
            <a:off x="4004065" y="3664486"/>
            <a:ext cx="7169691" cy="534889"/>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Wingdings" panose="05000000000000000000" pitchFamily="2" charset="2"/>
              <a:buChar char="l"/>
            </a:pPr>
            <a:r>
              <a:rPr lang="zh-CN" altLang="en-US" sz="1100" dirty="0">
                <a:solidFill>
                  <a:schemeClr val="tx1"/>
                </a:solidFill>
              </a:rPr>
              <a:t>主要包含客户送测、早期供货等时间点要求</a:t>
            </a:r>
            <a:r>
              <a:rPr lang="en-US" altLang="zh-CN" sz="1100" dirty="0">
                <a:solidFill>
                  <a:schemeClr val="tx1"/>
                </a:solidFill>
              </a:rPr>
              <a:t>(</a:t>
            </a:r>
            <a:r>
              <a:rPr lang="zh-CN" altLang="en-US" sz="1100" dirty="0">
                <a:solidFill>
                  <a:schemeClr val="tx1"/>
                </a:solidFill>
              </a:rPr>
              <a:t>需上传</a:t>
            </a:r>
            <a:r>
              <a:rPr lang="en-US" altLang="zh-CN" sz="1100" dirty="0">
                <a:solidFill>
                  <a:schemeClr val="tx1"/>
                </a:solidFill>
              </a:rPr>
              <a:t>PLM</a:t>
            </a:r>
            <a:r>
              <a:rPr lang="zh-CN" altLang="en-US" sz="1100" dirty="0">
                <a:solidFill>
                  <a:schemeClr val="tx1"/>
                </a:solidFill>
              </a:rPr>
              <a:t>系统任务） ；</a:t>
            </a:r>
            <a:endParaRPr lang="en-US" altLang="zh-CN" sz="1100" dirty="0">
              <a:solidFill>
                <a:schemeClr val="tx1"/>
              </a:solidFill>
              <a:latin typeface="微软雅黑" panose="020B0503020204020204" pitchFamily="34" charset="-122"/>
              <a:ea typeface="微软雅黑" panose="020B0503020204020204" pitchFamily="34" charset="-122"/>
            </a:endParaRPr>
          </a:p>
        </p:txBody>
      </p:sp>
      <p:sp>
        <p:nvSpPr>
          <p:cNvPr id="40" name="Rectangle 6">
            <a:extLst>
              <a:ext uri="{FF2B5EF4-FFF2-40B4-BE49-F238E27FC236}">
                <a16:creationId xmlns:a16="http://schemas.microsoft.com/office/drawing/2014/main" id="{F14107A6-0202-4E94-880E-DD93385CFE44}"/>
              </a:ext>
            </a:extLst>
          </p:cNvPr>
          <p:cNvSpPr/>
          <p:nvPr/>
        </p:nvSpPr>
        <p:spPr>
          <a:xfrm>
            <a:off x="2694930" y="3518373"/>
            <a:ext cx="1184942" cy="584775"/>
          </a:xfrm>
          <a:prstGeom prst="rect">
            <a:avLst/>
          </a:prstGeom>
        </p:spPr>
        <p:txBody>
          <a:bodyPr wrap="square">
            <a:spAutoFit/>
          </a:bodyPr>
          <a:lstStyle/>
          <a:p>
            <a:pPr algn="ctr"/>
            <a:r>
              <a:rPr lang="zh-CN" altLang="en-US" sz="1600" b="1" dirty="0">
                <a:solidFill>
                  <a:schemeClr val="accent5">
                    <a:lumMod val="75000"/>
                  </a:schemeClr>
                </a:solidFill>
              </a:rPr>
              <a:t>提供产品发布策略</a:t>
            </a:r>
          </a:p>
        </p:txBody>
      </p:sp>
      <p:sp>
        <p:nvSpPr>
          <p:cNvPr id="41" name="圆角矩形 49">
            <a:extLst>
              <a:ext uri="{FF2B5EF4-FFF2-40B4-BE49-F238E27FC236}">
                <a16:creationId xmlns:a16="http://schemas.microsoft.com/office/drawing/2014/main" id="{A39BCF07-71CD-4F06-B9DC-56807DE4A0B0}"/>
              </a:ext>
            </a:extLst>
          </p:cNvPr>
          <p:cNvSpPr/>
          <p:nvPr/>
        </p:nvSpPr>
        <p:spPr>
          <a:xfrm>
            <a:off x="4004065" y="2554393"/>
            <a:ext cx="7169691" cy="765138"/>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l"/>
            </a:pPr>
            <a:r>
              <a:rPr lang="zh-CN" altLang="en-US" sz="1100" dirty="0">
                <a:solidFill>
                  <a:schemeClr val="tx1"/>
                </a:solidFill>
              </a:rPr>
              <a:t>制定产品典型配置清单；</a:t>
            </a:r>
            <a:endParaRPr lang="en-US" altLang="zh-CN" sz="1100" dirty="0">
              <a:solidFill>
                <a:schemeClr val="tx1"/>
              </a:solidFill>
            </a:endParaRPr>
          </a:p>
          <a:p>
            <a:pPr marL="285750" indent="-285750">
              <a:lnSpc>
                <a:spcPct val="150000"/>
              </a:lnSpc>
              <a:buFont typeface="Wingdings" panose="05000000000000000000" pitchFamily="2" charset="2"/>
              <a:buChar char="l"/>
            </a:pPr>
            <a:r>
              <a:rPr lang="zh-CN" altLang="en-US" sz="1100" dirty="0">
                <a:solidFill>
                  <a:schemeClr val="tx1"/>
                </a:solidFill>
              </a:rPr>
              <a:t>提供通用物料清单；</a:t>
            </a:r>
            <a:endParaRPr lang="en-US" altLang="zh-CN" sz="1100" dirty="0">
              <a:solidFill>
                <a:schemeClr val="tx1"/>
              </a:solidFill>
            </a:endParaRPr>
          </a:p>
          <a:p>
            <a:pPr marL="285750" indent="-285750">
              <a:lnSpc>
                <a:spcPct val="150000"/>
              </a:lnSpc>
              <a:buFont typeface="Wingdings" panose="05000000000000000000" pitchFamily="2" charset="2"/>
              <a:buChar char="l"/>
            </a:pPr>
            <a:r>
              <a:rPr lang="zh-CN" altLang="en-US" sz="1100" dirty="0">
                <a:solidFill>
                  <a:schemeClr val="tx1"/>
                </a:solidFill>
              </a:rPr>
              <a:t>需上传</a:t>
            </a:r>
            <a:r>
              <a:rPr lang="en-US" altLang="zh-CN" sz="1100" dirty="0">
                <a:solidFill>
                  <a:schemeClr val="tx1"/>
                </a:solidFill>
              </a:rPr>
              <a:t>PLM</a:t>
            </a:r>
            <a:r>
              <a:rPr lang="zh-CN" altLang="en-US" sz="1100" dirty="0">
                <a:solidFill>
                  <a:schemeClr val="tx1"/>
                </a:solidFill>
              </a:rPr>
              <a:t>系统</a:t>
            </a:r>
            <a:endParaRPr lang="en-US" altLang="zh-CN" sz="1100" dirty="0">
              <a:solidFill>
                <a:schemeClr val="tx1"/>
              </a:solidFill>
            </a:endParaRPr>
          </a:p>
        </p:txBody>
      </p:sp>
      <p:sp>
        <p:nvSpPr>
          <p:cNvPr id="42" name="Rectangle 6">
            <a:extLst>
              <a:ext uri="{FF2B5EF4-FFF2-40B4-BE49-F238E27FC236}">
                <a16:creationId xmlns:a16="http://schemas.microsoft.com/office/drawing/2014/main" id="{7C27CAAB-72DB-48F9-9F17-588EC805A9B4}"/>
              </a:ext>
            </a:extLst>
          </p:cNvPr>
          <p:cNvSpPr/>
          <p:nvPr/>
        </p:nvSpPr>
        <p:spPr>
          <a:xfrm>
            <a:off x="2694930" y="4517039"/>
            <a:ext cx="1107997" cy="584775"/>
          </a:xfrm>
          <a:prstGeom prst="rect">
            <a:avLst/>
          </a:prstGeom>
        </p:spPr>
        <p:txBody>
          <a:bodyPr wrap="square">
            <a:spAutoFit/>
          </a:bodyPr>
          <a:lstStyle/>
          <a:p>
            <a:pPr algn="ctr"/>
            <a:r>
              <a:rPr lang="zh-CN" altLang="en-US" sz="1600" b="1" dirty="0">
                <a:solidFill>
                  <a:schemeClr val="accent5">
                    <a:lumMod val="75000"/>
                  </a:schemeClr>
                </a:solidFill>
              </a:rPr>
              <a:t>搭建产品</a:t>
            </a:r>
            <a:r>
              <a:rPr lang="en-US" altLang="zh-CN" sz="1600" b="1" dirty="0">
                <a:solidFill>
                  <a:schemeClr val="accent5">
                    <a:lumMod val="75000"/>
                  </a:schemeClr>
                </a:solidFill>
              </a:rPr>
              <a:t>Early BOM</a:t>
            </a:r>
            <a:endParaRPr lang="zh-CN" altLang="en-US" sz="1600" b="1" dirty="0">
              <a:solidFill>
                <a:schemeClr val="accent5">
                  <a:lumMod val="75000"/>
                </a:schemeClr>
              </a:solidFill>
            </a:endParaRPr>
          </a:p>
        </p:txBody>
      </p:sp>
      <p:cxnSp>
        <p:nvCxnSpPr>
          <p:cNvPr id="44" name="直接连接符 43">
            <a:extLst>
              <a:ext uri="{FF2B5EF4-FFF2-40B4-BE49-F238E27FC236}">
                <a16:creationId xmlns:a16="http://schemas.microsoft.com/office/drawing/2014/main" id="{B301D4ED-D379-4531-9040-06C1342F1E1D}"/>
              </a:ext>
            </a:extLst>
          </p:cNvPr>
          <p:cNvCxnSpPr>
            <a:cxnSpLocks/>
          </p:cNvCxnSpPr>
          <p:nvPr/>
        </p:nvCxnSpPr>
        <p:spPr>
          <a:xfrm flipH="1">
            <a:off x="727078" y="2284370"/>
            <a:ext cx="216024" cy="0"/>
          </a:xfrm>
          <a:prstGeom prst="lin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B431A592-8FFE-4E0D-8785-DE1F1E7AC604}"/>
              </a:ext>
            </a:extLst>
          </p:cNvPr>
          <p:cNvSpPr/>
          <p:nvPr/>
        </p:nvSpPr>
        <p:spPr>
          <a:xfrm>
            <a:off x="583945" y="1567481"/>
            <a:ext cx="1659090" cy="357108"/>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200" b="1">
                <a:solidFill>
                  <a:schemeClr val="tx1">
                    <a:lumMod val="85000"/>
                    <a:lumOff val="15000"/>
                  </a:schemeClr>
                </a:solidFill>
                <a:latin typeface="微软雅黑" panose="020B0503020204020204" pitchFamily="34" charset="-122"/>
                <a:ea typeface="微软雅黑" panose="020B0503020204020204" pitchFamily="34" charset="-122"/>
              </a:rPr>
              <a:t>概要设计说明书</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46" name="直接连接符 45">
            <a:extLst>
              <a:ext uri="{FF2B5EF4-FFF2-40B4-BE49-F238E27FC236}">
                <a16:creationId xmlns:a16="http://schemas.microsoft.com/office/drawing/2014/main" id="{018EF0F0-91F0-43CC-AFFB-02E999D74C6A}"/>
              </a:ext>
            </a:extLst>
          </p:cNvPr>
          <p:cNvCxnSpPr/>
          <p:nvPr/>
        </p:nvCxnSpPr>
        <p:spPr>
          <a:xfrm flipH="1">
            <a:off x="295913" y="1738320"/>
            <a:ext cx="288030" cy="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43B836F8-7E1F-42A7-A347-C73B9C6DAF2F}"/>
              </a:ext>
            </a:extLst>
          </p:cNvPr>
          <p:cNvSpPr/>
          <p:nvPr/>
        </p:nvSpPr>
        <p:spPr>
          <a:xfrm>
            <a:off x="307791" y="1035722"/>
            <a:ext cx="2088233" cy="366885"/>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概要设计</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94016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L4</a:t>
            </a:r>
            <a:r>
              <a:rPr lang="zh-CN" altLang="en-US" dirty="0">
                <a:latin typeface="+mn-lt"/>
                <a:ea typeface="+mn-ea"/>
                <a:cs typeface="+mn-ea"/>
                <a:sym typeface="+mn-lt"/>
              </a:rPr>
              <a:t> 概要设计</a:t>
            </a:r>
            <a:r>
              <a:rPr lang="en-US" altLang="zh-CN" dirty="0">
                <a:latin typeface="+mn-lt"/>
                <a:ea typeface="+mn-ea"/>
                <a:cs typeface="+mn-ea"/>
                <a:sym typeface="+mn-lt"/>
              </a:rPr>
              <a:t>——</a:t>
            </a:r>
            <a:r>
              <a:rPr lang="zh-CN" altLang="en-US" dirty="0">
                <a:latin typeface="+mn-lt"/>
                <a:ea typeface="+mn-ea"/>
                <a:cs typeface="+mn-ea"/>
                <a:sym typeface="+mn-lt"/>
              </a:rPr>
              <a:t>主要</a:t>
            </a:r>
            <a:r>
              <a:rPr lang="zh-CN" altLang="en-US" dirty="0" smtClean="0">
                <a:latin typeface="+mn-lt"/>
                <a:ea typeface="+mn-ea"/>
                <a:cs typeface="+mn-ea"/>
                <a:sym typeface="+mn-lt"/>
              </a:rPr>
              <a:t>工作</a:t>
            </a:r>
            <a:r>
              <a:rPr lang="zh-CN" altLang="en-US" dirty="0" smtClean="0">
                <a:solidFill>
                  <a:srgbClr val="FF0000"/>
                </a:solidFill>
                <a:latin typeface="+mn-lt"/>
                <a:ea typeface="+mn-ea"/>
                <a:cs typeface="+mn-ea"/>
                <a:sym typeface="+mn-lt"/>
              </a:rPr>
              <a:t>（补充其他岗位）</a:t>
            </a:r>
            <a:endParaRPr lang="zh-CN" altLang="en-US" dirty="0">
              <a:solidFill>
                <a:srgbClr val="FF0000"/>
              </a:solidFill>
              <a:latin typeface="+mn-lt"/>
              <a:ea typeface="+mn-ea"/>
              <a:cs typeface="+mn-ea"/>
              <a:sym typeface="+mn-lt"/>
            </a:endParaRPr>
          </a:p>
        </p:txBody>
      </p:sp>
      <p:graphicFrame>
        <p:nvGraphicFramePr>
          <p:cNvPr id="94" name="表格 93"/>
          <p:cNvGraphicFramePr>
            <a:graphicFrameLocks noGrp="1"/>
          </p:cNvGraphicFramePr>
          <p:nvPr/>
        </p:nvGraphicFramePr>
        <p:xfrm>
          <a:off x="248789" y="1452306"/>
          <a:ext cx="11694421" cy="3721608"/>
        </p:xfrm>
        <a:graphic>
          <a:graphicData uri="http://schemas.openxmlformats.org/drawingml/2006/table">
            <a:tbl>
              <a:tblPr firstRow="1" bandRow="1">
                <a:tableStyleId>{00A15C55-8517-42AA-B614-E9B94910E393}</a:tableStyleId>
              </a:tblPr>
              <a:tblGrid>
                <a:gridCol w="1263015">
                  <a:extLst>
                    <a:ext uri="{9D8B030D-6E8A-4147-A177-3AD203B41FA5}">
                      <a16:colId xmlns:a16="http://schemas.microsoft.com/office/drawing/2014/main" val="1503978168"/>
                    </a:ext>
                  </a:extLst>
                </a:gridCol>
                <a:gridCol w="2499192">
                  <a:extLst>
                    <a:ext uri="{9D8B030D-6E8A-4147-A177-3AD203B41FA5}">
                      <a16:colId xmlns:a16="http://schemas.microsoft.com/office/drawing/2014/main" val="773509366"/>
                    </a:ext>
                  </a:extLst>
                </a:gridCol>
                <a:gridCol w="5193244">
                  <a:extLst>
                    <a:ext uri="{9D8B030D-6E8A-4147-A177-3AD203B41FA5}">
                      <a16:colId xmlns:a16="http://schemas.microsoft.com/office/drawing/2014/main" val="1193865247"/>
                    </a:ext>
                  </a:extLst>
                </a:gridCol>
                <a:gridCol w="2738970">
                  <a:extLst>
                    <a:ext uri="{9D8B030D-6E8A-4147-A177-3AD203B41FA5}">
                      <a16:colId xmlns:a16="http://schemas.microsoft.com/office/drawing/2014/main" val="869367937"/>
                    </a:ext>
                  </a:extLst>
                </a:gridCol>
              </a:tblGrid>
              <a:tr h="392649">
                <a:tc>
                  <a:txBody>
                    <a:bodyPr/>
                    <a:lstStyle/>
                    <a:p>
                      <a:pPr algn="ctr"/>
                      <a:r>
                        <a:rPr lang="zh-CN" altLang="en-US" sz="1900" dirty="0">
                          <a:sym typeface="+mn-lt"/>
                        </a:rPr>
                        <a:t>岗位名称</a:t>
                      </a:r>
                      <a:endParaRPr lang="zh-CN" altLang="en-US" sz="1900" dirty="0">
                        <a:latin typeface="+mn-lt"/>
                        <a:ea typeface="+mn-ea"/>
                        <a:cs typeface="+mn-ea"/>
                        <a:sym typeface="+mn-lt"/>
                      </a:endParaRPr>
                    </a:p>
                  </a:txBody>
                  <a:tcPr marL="121920" marR="121920" marT="60960" marB="60960"/>
                </a:tc>
                <a:tc gridSpan="2">
                  <a:txBody>
                    <a:bodyPr/>
                    <a:lstStyle/>
                    <a:p>
                      <a:pPr algn="ctr"/>
                      <a:r>
                        <a:rPr lang="zh-CN" altLang="en-US" sz="1900" dirty="0">
                          <a:sym typeface="+mn-lt"/>
                        </a:rPr>
                        <a:t>工作内容</a:t>
                      </a:r>
                      <a:r>
                        <a:rPr lang="en-US" altLang="zh-CN" sz="1900" dirty="0">
                          <a:sym typeface="+mn-lt"/>
                        </a:rPr>
                        <a:t>&amp;</a:t>
                      </a:r>
                      <a:r>
                        <a:rPr lang="zh-CN" altLang="en-US" sz="1900" dirty="0">
                          <a:sym typeface="+mn-lt"/>
                        </a:rPr>
                        <a:t>参与人</a:t>
                      </a:r>
                      <a:endParaRPr lang="zh-CN" altLang="en-US" sz="1900" dirty="0">
                        <a:latin typeface="+mn-lt"/>
                        <a:ea typeface="+mn-ea"/>
                        <a:cs typeface="+mn-ea"/>
                        <a:sym typeface="+mn-lt"/>
                      </a:endParaRPr>
                    </a:p>
                  </a:txBody>
                  <a:tcPr marL="121920" marR="121920" marT="60960" marB="60960"/>
                </a:tc>
                <a:tc hMerge="1">
                  <a:txBody>
                    <a:bodyPr/>
                    <a:lstStyle/>
                    <a:p>
                      <a:pPr algn="ctr"/>
                      <a:endParaRPr lang="zh-CN" altLang="en-US" sz="1900" dirty="0">
                        <a:latin typeface="+mn-lt"/>
                        <a:ea typeface="+mn-ea"/>
                        <a:cs typeface="+mn-ea"/>
                        <a:sym typeface="+mn-lt"/>
                      </a:endParaRPr>
                    </a:p>
                  </a:txBody>
                  <a:tcPr marL="121920" marR="121920" marT="60960" marB="60960">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900" dirty="0">
                          <a:sym typeface="+mn-lt"/>
                        </a:rPr>
                        <a:t>输出物</a:t>
                      </a:r>
                      <a:endParaRPr lang="zh-CN" altLang="en-US" sz="1900" dirty="0">
                        <a:latin typeface="+mn-lt"/>
                        <a:ea typeface="+mn-ea"/>
                        <a:cs typeface="+mn-ea"/>
                        <a:sym typeface="+mn-lt"/>
                      </a:endParaRPr>
                    </a:p>
                  </a:txBody>
                  <a:tcPr marL="121920" marR="121920" marT="60960" marB="60960"/>
                </a:tc>
                <a:extLst>
                  <a:ext uri="{0D108BD9-81ED-4DB2-BD59-A6C34878D82A}">
                    <a16:rowId xmlns:a16="http://schemas.microsoft.com/office/drawing/2014/main" val="3162067804"/>
                  </a:ext>
                </a:extLst>
              </a:tr>
              <a:tr h="1851614">
                <a:tc rowSpan="3">
                  <a:txBody>
                    <a:bodyPr/>
                    <a:lstStyle/>
                    <a:p>
                      <a:pPr algn="ctr"/>
                      <a:r>
                        <a:rPr lang="zh-CN" altLang="en-US" sz="1400" dirty="0">
                          <a:sym typeface="+mn-lt"/>
                        </a:rPr>
                        <a:t>项目经理</a:t>
                      </a:r>
                      <a:endParaRPr lang="zh-CN" altLang="en-US" sz="1400" dirty="0">
                        <a:latin typeface="+mn-lt"/>
                        <a:ea typeface="+mn-ea"/>
                        <a:cs typeface="+mn-ea"/>
                        <a:sym typeface="+mn-lt"/>
                      </a:endParaRPr>
                    </a:p>
                  </a:txBody>
                  <a:tcPr marL="121920" marR="121920" marT="60960" marB="60960" anchor="ctr"/>
                </a:tc>
                <a:tc>
                  <a:txBody>
                    <a:bodyPr/>
                    <a:lstStyle/>
                    <a:p>
                      <a:r>
                        <a:rPr lang="zh-CN" altLang="en-US" sz="1400">
                          <a:sym typeface="+mn-lt"/>
                        </a:rPr>
                        <a:t>项目进展及状态跟踪</a:t>
                      </a:r>
                      <a:endParaRPr lang="zh-CN" altLang="en-US" sz="1400" dirty="0">
                        <a:latin typeface="+mn-lt"/>
                        <a:ea typeface="+mn-ea"/>
                        <a:cs typeface="+mn-ea"/>
                        <a:sym typeface="+mn-lt"/>
                      </a:endParaRPr>
                    </a:p>
                  </a:txBody>
                  <a:tcPr marL="121920" marR="121920" marT="60960" marB="60960" anchor="ctr"/>
                </a:tc>
                <a:tc>
                  <a:txBody>
                    <a:bodyPr/>
                    <a:lstStyle/>
                    <a:p>
                      <a:pPr marL="285750" indent="-285750">
                        <a:buFont typeface="Arial" panose="020B0604020202020204" pitchFamily="34" charset="0"/>
                        <a:buChar char="•"/>
                      </a:pPr>
                      <a:r>
                        <a:rPr lang="zh-CN" altLang="en-US" sz="1400" dirty="0">
                          <a:solidFill>
                            <a:schemeClr val="tx1"/>
                          </a:solidFill>
                          <a:sym typeface="+mn-lt"/>
                        </a:rPr>
                        <a:t>项目进度监控：各技术组概要设计状态跟踪</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项目问题</a:t>
                      </a:r>
                      <a:r>
                        <a:rPr lang="en-US" altLang="zh-CN" sz="1400" dirty="0">
                          <a:solidFill>
                            <a:schemeClr val="tx1"/>
                          </a:solidFill>
                          <a:sym typeface="+mn-lt"/>
                        </a:rPr>
                        <a:t>&amp;</a:t>
                      </a:r>
                      <a:r>
                        <a:rPr lang="zh-CN" altLang="en-US" sz="1400" dirty="0">
                          <a:solidFill>
                            <a:schemeClr val="tx1"/>
                          </a:solidFill>
                          <a:sym typeface="+mn-lt"/>
                        </a:rPr>
                        <a:t>风险监控</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项目变更控制（可选）</a:t>
                      </a:r>
                      <a:endParaRPr lang="en-US" altLang="zh-CN"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《QR-D-PH-003-003</a:t>
                      </a:r>
                      <a:r>
                        <a:rPr lang="zh-CN" altLang="en-US" sz="1400" u="none" strike="noStrike" kern="1200" dirty="0">
                          <a:solidFill>
                            <a:schemeClr val="dk1"/>
                          </a:solidFill>
                          <a:effectLst/>
                          <a:sym typeface="+mn-lt"/>
                        </a:rPr>
                        <a:t>项目会议纪要</a:t>
                      </a:r>
                      <a:r>
                        <a:rPr lang="en-US" altLang="zh-CN" sz="1400" u="none" strike="noStrike" kern="1200" dirty="0">
                          <a:solidFill>
                            <a:schemeClr val="dk1"/>
                          </a:solidFill>
                          <a:effectLst/>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在研项目状态周报</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（双周）</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sym typeface="+mn-lt"/>
                        </a:rPr>
                        <a:t>   项目严重风险</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问题预警（决策委员会）</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《QR-D-PH-002-001 </a:t>
                      </a:r>
                      <a:r>
                        <a:rPr lang="zh-CN" altLang="en-US" sz="1400" u="none" strike="noStrike" kern="1200" dirty="0">
                          <a:solidFill>
                            <a:schemeClr val="dk1"/>
                          </a:solidFill>
                          <a:effectLst/>
                          <a:sym typeface="+mn-lt"/>
                        </a:rPr>
                        <a:t>项目计划书</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（可选）</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982289352"/>
                  </a:ext>
                </a:extLst>
              </a:tr>
              <a:tr h="222767">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400" dirty="0">
                          <a:sym typeface="+mn-lt"/>
                        </a:rPr>
                        <a:t>各组概要设计问题评审问题讨论会</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olidFill>
                            <a:schemeClr val="tx1"/>
                          </a:solidFill>
                          <a:sym typeface="+mn-lt"/>
                        </a:rPr>
                        <a:t>各产品工作者、产品经理、开发经理、系统架构师、评审问题提出人针对同行评审问题进行沟通讨论，形成结论，并追踪至问题闭环</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4082592736"/>
                  </a:ext>
                </a:extLst>
              </a:tr>
              <a:tr h="468848">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altLang="zh-CN" sz="1400" dirty="0">
                          <a:sym typeface="+mn-lt"/>
                        </a:rPr>
                        <a:t>TR3</a:t>
                      </a:r>
                      <a:r>
                        <a:rPr lang="zh-CN" altLang="en-US" sz="1400" dirty="0">
                          <a:sym typeface="+mn-lt"/>
                        </a:rPr>
                        <a:t>概要设计技术状态评审问题讨论会</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olidFill>
                            <a:schemeClr val="tx1"/>
                          </a:solidFill>
                          <a:sym typeface="+mn-lt"/>
                        </a:rPr>
                        <a:t>系统架构师、产品经理、开发经理、评审问题提出人针对评审问题进行沟通讨论，形成结论，并追踪至问题闭环</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《TR3</a:t>
                      </a:r>
                      <a:r>
                        <a:rPr lang="zh-CN" altLang="en-US" sz="1400" u="none" strike="noStrike" kern="1200" dirty="0">
                          <a:solidFill>
                            <a:schemeClr val="dk1"/>
                          </a:solidFill>
                          <a:effectLst/>
                          <a:sym typeface="+mn-lt"/>
                        </a:rPr>
                        <a:t>概要设计评审报告</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（系统架构师）</a:t>
                      </a: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821497477"/>
                  </a:ext>
                </a:extLst>
              </a:tr>
            </a:tbl>
          </a:graphicData>
        </a:graphic>
      </p:graphicFrame>
    </p:spTree>
    <p:extLst>
      <p:ext uri="{BB962C8B-B14F-4D97-AF65-F5344CB8AC3E}">
        <p14:creationId xmlns:p14="http://schemas.microsoft.com/office/powerpoint/2010/main" val="3174325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0503" y="1902992"/>
            <a:ext cx="1850615" cy="2349411"/>
            <a:chOff x="785011" y="2251881"/>
            <a:chExt cx="1653860" cy="3138985"/>
          </a:xfrm>
          <a:solidFill>
            <a:schemeClr val="bg1">
              <a:lumMod val="85000"/>
            </a:schemeClr>
          </a:solidFill>
          <a:effectLst/>
        </p:grpSpPr>
        <p:sp>
          <p:nvSpPr>
            <p:cNvPr id="4" name="矩形 3"/>
            <p:cNvSpPr/>
            <p:nvPr/>
          </p:nvSpPr>
          <p:spPr>
            <a:xfrm>
              <a:off x="785011" y="2251881"/>
              <a:ext cx="1653860" cy="9918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制定项目管理计划</a:t>
              </a:r>
            </a:p>
          </p:txBody>
        </p:sp>
        <p:sp>
          <p:nvSpPr>
            <p:cNvPr id="5" name="矩形 4"/>
            <p:cNvSpPr/>
            <p:nvPr/>
          </p:nvSpPr>
          <p:spPr>
            <a:xfrm>
              <a:off x="785011" y="3243704"/>
              <a:ext cx="1653860" cy="1314586"/>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sz="1200" dirty="0">
                  <a:cs typeface="+mn-ea"/>
                  <a:sym typeface="+mn-lt"/>
                </a:rPr>
                <a:t>输出物：项目计划书</a:t>
              </a:r>
            </a:p>
          </p:txBody>
        </p:sp>
        <p:sp>
          <p:nvSpPr>
            <p:cNvPr id="6" name="矩形 5"/>
            <p:cNvSpPr/>
            <p:nvPr/>
          </p:nvSpPr>
          <p:spPr>
            <a:xfrm>
              <a:off x="785011" y="4558292"/>
              <a:ext cx="1653860" cy="83257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责任人：项目经理</a:t>
              </a:r>
              <a:endParaRPr lang="en-US" altLang="zh-CN" sz="1200" dirty="0">
                <a:solidFill>
                  <a:schemeClr val="tx1"/>
                </a:solidFill>
                <a:cs typeface="+mn-ea"/>
                <a:sym typeface="+mn-lt"/>
              </a:endParaRPr>
            </a:p>
          </p:txBody>
        </p:sp>
      </p:grpSp>
      <p:grpSp>
        <p:nvGrpSpPr>
          <p:cNvPr id="7" name="组合 6"/>
          <p:cNvGrpSpPr/>
          <p:nvPr/>
        </p:nvGrpSpPr>
        <p:grpSpPr>
          <a:xfrm>
            <a:off x="2242921" y="1902992"/>
            <a:ext cx="1850615" cy="2349411"/>
            <a:chOff x="785011" y="2251881"/>
            <a:chExt cx="1653860" cy="3138985"/>
          </a:xfrm>
          <a:solidFill>
            <a:schemeClr val="bg1">
              <a:lumMod val="85000"/>
            </a:schemeClr>
          </a:solidFill>
          <a:effectLst/>
        </p:grpSpPr>
        <p:sp>
          <p:nvSpPr>
            <p:cNvPr id="9" name="矩形 8"/>
            <p:cNvSpPr/>
            <p:nvPr/>
          </p:nvSpPr>
          <p:spPr>
            <a:xfrm>
              <a:off x="785011" y="2251881"/>
              <a:ext cx="1653860" cy="99182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制定项目物料计划</a:t>
              </a:r>
            </a:p>
          </p:txBody>
        </p:sp>
        <p:sp>
          <p:nvSpPr>
            <p:cNvPr id="10" name="矩形 9"/>
            <p:cNvSpPr/>
            <p:nvPr/>
          </p:nvSpPr>
          <p:spPr>
            <a:xfrm>
              <a:off x="785011" y="3243702"/>
              <a:ext cx="1653860" cy="131459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200" dirty="0">
                  <a:cs typeface="+mn-ea"/>
                  <a:sym typeface="+mn-lt"/>
                </a:rPr>
                <a:t>输出物：物料管理计划</a:t>
              </a:r>
            </a:p>
          </p:txBody>
        </p:sp>
        <p:sp>
          <p:nvSpPr>
            <p:cNvPr id="11" name="矩形 10"/>
            <p:cNvSpPr/>
            <p:nvPr/>
          </p:nvSpPr>
          <p:spPr>
            <a:xfrm>
              <a:off x="785011" y="4558292"/>
              <a:ext cx="1653860" cy="83257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责任人：项目经理</a:t>
              </a:r>
            </a:p>
          </p:txBody>
        </p:sp>
      </p:grpSp>
      <p:grpSp>
        <p:nvGrpSpPr>
          <p:cNvPr id="12" name="组合 11"/>
          <p:cNvGrpSpPr/>
          <p:nvPr/>
        </p:nvGrpSpPr>
        <p:grpSpPr>
          <a:xfrm>
            <a:off x="4205510" y="1917060"/>
            <a:ext cx="1850615" cy="2335343"/>
            <a:chOff x="785011" y="2251881"/>
            <a:chExt cx="1653860" cy="2879900"/>
          </a:xfrm>
          <a:solidFill>
            <a:schemeClr val="bg1">
              <a:lumMod val="85000"/>
            </a:schemeClr>
          </a:solidFill>
          <a:effectLst/>
        </p:grpSpPr>
        <p:sp>
          <p:nvSpPr>
            <p:cNvPr id="13" name="矩形 12"/>
            <p:cNvSpPr/>
            <p:nvPr/>
          </p:nvSpPr>
          <p:spPr>
            <a:xfrm>
              <a:off x="785011" y="2251881"/>
              <a:ext cx="1653860" cy="898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项目可行性估算</a:t>
              </a:r>
            </a:p>
          </p:txBody>
        </p:sp>
        <p:sp>
          <p:nvSpPr>
            <p:cNvPr id="14" name="矩形 13"/>
            <p:cNvSpPr/>
            <p:nvPr/>
          </p:nvSpPr>
          <p:spPr>
            <a:xfrm>
              <a:off x="785011" y="3149972"/>
              <a:ext cx="1653860" cy="1213351"/>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r>
                <a:rPr lang="zh-CN" altLang="en-US" sz="1200" dirty="0">
                  <a:cs typeface="+mn-ea"/>
                  <a:sym typeface="+mn-lt"/>
                </a:rPr>
                <a:t>输出物：可行性估算报告</a:t>
              </a:r>
            </a:p>
          </p:txBody>
        </p:sp>
        <p:sp>
          <p:nvSpPr>
            <p:cNvPr id="15" name="矩形 14"/>
            <p:cNvSpPr/>
            <p:nvPr/>
          </p:nvSpPr>
          <p:spPr>
            <a:xfrm>
              <a:off x="785011" y="4363323"/>
              <a:ext cx="1653860" cy="7684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责任人：项目经理</a:t>
              </a:r>
            </a:p>
          </p:txBody>
        </p:sp>
      </p:grpSp>
      <p:grpSp>
        <p:nvGrpSpPr>
          <p:cNvPr id="16" name="组合 15"/>
          <p:cNvGrpSpPr/>
          <p:nvPr/>
        </p:nvGrpSpPr>
        <p:grpSpPr>
          <a:xfrm>
            <a:off x="6173894" y="1902992"/>
            <a:ext cx="1850615" cy="2349411"/>
            <a:chOff x="785011" y="2251881"/>
            <a:chExt cx="1653860" cy="2874279"/>
          </a:xfrm>
          <a:solidFill>
            <a:schemeClr val="bg1">
              <a:lumMod val="85000"/>
            </a:schemeClr>
          </a:solidFill>
          <a:effectLst/>
        </p:grpSpPr>
        <p:sp>
          <p:nvSpPr>
            <p:cNvPr id="17" name="矩形 16"/>
            <p:cNvSpPr/>
            <p:nvPr/>
          </p:nvSpPr>
          <p:spPr>
            <a:xfrm>
              <a:off x="785011" y="2251881"/>
              <a:ext cx="1653860" cy="9081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ysClr val="windowText" lastClr="000000"/>
                  </a:solidFill>
                  <a:latin typeface="+mn-ea"/>
                  <a:cs typeface="+mn-ea"/>
                  <a:sym typeface="+mn-lt"/>
                </a:rPr>
                <a:t>BIOS</a:t>
              </a:r>
              <a:r>
                <a:rPr lang="zh-CN" altLang="en-US" sz="1200" b="1" dirty="0">
                  <a:solidFill>
                    <a:sysClr val="windowText" lastClr="000000"/>
                  </a:solidFill>
                  <a:latin typeface="+mn-ea"/>
                  <a:cs typeface="+mn-ea"/>
                  <a:sym typeface="+mn-lt"/>
                </a:rPr>
                <a:t>版本计划</a:t>
              </a:r>
            </a:p>
          </p:txBody>
        </p:sp>
        <p:sp>
          <p:nvSpPr>
            <p:cNvPr id="18" name="矩形 17"/>
            <p:cNvSpPr/>
            <p:nvPr/>
          </p:nvSpPr>
          <p:spPr>
            <a:xfrm>
              <a:off x="785011" y="3174675"/>
              <a:ext cx="1653860" cy="1189119"/>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200" dirty="0">
                  <a:cs typeface="+mn-ea"/>
                  <a:sym typeface="+mn-lt"/>
                </a:rPr>
                <a:t>输出物：</a:t>
              </a:r>
              <a:r>
                <a:rPr lang="en-US" altLang="zh-CN" sz="1200" dirty="0">
                  <a:cs typeface="+mn-ea"/>
                  <a:sym typeface="+mn-lt"/>
                </a:rPr>
                <a:t>BIOS</a:t>
              </a:r>
              <a:r>
                <a:rPr lang="zh-CN" altLang="en-US" sz="1200" dirty="0">
                  <a:cs typeface="+mn-ea"/>
                  <a:sym typeface="+mn-lt"/>
                </a:rPr>
                <a:t>版本计划</a:t>
              </a:r>
            </a:p>
          </p:txBody>
        </p:sp>
        <p:sp>
          <p:nvSpPr>
            <p:cNvPr id="19" name="矩形 18"/>
            <p:cNvSpPr/>
            <p:nvPr/>
          </p:nvSpPr>
          <p:spPr>
            <a:xfrm>
              <a:off x="785011" y="4363795"/>
              <a:ext cx="1653860" cy="7623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en-US" altLang="zh-CN" sz="1200" dirty="0">
                  <a:solidFill>
                    <a:schemeClr val="tx1"/>
                  </a:solidFill>
                  <a:cs typeface="+mn-ea"/>
                  <a:sym typeface="+mn-lt"/>
                </a:rPr>
                <a:t>BIOS</a:t>
              </a:r>
              <a:r>
                <a:rPr lang="zh-CN" altLang="en-US" sz="1200" dirty="0">
                  <a:solidFill>
                    <a:schemeClr val="tx1"/>
                  </a:solidFill>
                  <a:cs typeface="+mn-ea"/>
                  <a:sym typeface="+mn-lt"/>
                </a:rPr>
                <a:t>工程师</a:t>
              </a:r>
            </a:p>
          </p:txBody>
        </p:sp>
      </p:grpSp>
      <p:grpSp>
        <p:nvGrpSpPr>
          <p:cNvPr id="22" name="组合 21"/>
          <p:cNvGrpSpPr/>
          <p:nvPr/>
        </p:nvGrpSpPr>
        <p:grpSpPr>
          <a:xfrm>
            <a:off x="8150553" y="1902992"/>
            <a:ext cx="1850615" cy="2349411"/>
            <a:chOff x="785011" y="2251881"/>
            <a:chExt cx="1653860" cy="3138985"/>
          </a:xfrm>
          <a:solidFill>
            <a:schemeClr val="bg1">
              <a:lumMod val="85000"/>
            </a:schemeClr>
          </a:solidFill>
          <a:effectLst/>
        </p:grpSpPr>
        <p:sp>
          <p:nvSpPr>
            <p:cNvPr id="23" name="矩形 22"/>
            <p:cNvSpPr/>
            <p:nvPr/>
          </p:nvSpPr>
          <p:spPr>
            <a:xfrm>
              <a:off x="785011" y="2251881"/>
              <a:ext cx="1653860" cy="100777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ysClr val="windowText" lastClr="000000"/>
                  </a:solidFill>
                  <a:latin typeface="微软雅黑" panose="020B0503020204020204" pitchFamily="34" charset="-122"/>
                  <a:ea typeface="微软雅黑" panose="020B0503020204020204" pitchFamily="34" charset="-122"/>
                  <a:cs typeface="+mn-ea"/>
                  <a:sym typeface="+mn-lt"/>
                </a:rPr>
                <a:t>BMC</a:t>
              </a:r>
              <a:r>
                <a:rPr lang="zh-CN" altLang="en-US" sz="1200" b="1" dirty="0">
                  <a:solidFill>
                    <a:sysClr val="windowText" lastClr="000000"/>
                  </a:solidFill>
                  <a:latin typeface="微软雅黑" panose="020B0503020204020204" pitchFamily="34" charset="-122"/>
                  <a:ea typeface="微软雅黑" panose="020B0503020204020204" pitchFamily="34" charset="-122"/>
                  <a:cs typeface="+mn-ea"/>
                  <a:sym typeface="+mn-lt"/>
                </a:rPr>
                <a:t>版本计划</a:t>
              </a:r>
            </a:p>
          </p:txBody>
        </p:sp>
        <p:sp>
          <p:nvSpPr>
            <p:cNvPr id="24" name="矩形 23"/>
            <p:cNvSpPr/>
            <p:nvPr/>
          </p:nvSpPr>
          <p:spPr>
            <a:xfrm>
              <a:off x="785011" y="3259660"/>
              <a:ext cx="1653860" cy="129863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200" dirty="0">
                  <a:cs typeface="+mn-ea"/>
                  <a:sym typeface="+mn-lt"/>
                </a:rPr>
                <a:t>输出物：</a:t>
              </a:r>
              <a:r>
                <a:rPr lang="en-US" altLang="zh-CN" sz="1200" dirty="0">
                  <a:cs typeface="+mn-ea"/>
                  <a:sym typeface="+mn-lt"/>
                </a:rPr>
                <a:t>BMC</a:t>
              </a:r>
              <a:r>
                <a:rPr lang="zh-CN" altLang="en-US" sz="1200" dirty="0">
                  <a:cs typeface="+mn-ea"/>
                  <a:sym typeface="+mn-lt"/>
                </a:rPr>
                <a:t>版本计划</a:t>
              </a:r>
            </a:p>
          </p:txBody>
        </p:sp>
        <p:sp>
          <p:nvSpPr>
            <p:cNvPr id="25" name="矩形 24"/>
            <p:cNvSpPr/>
            <p:nvPr/>
          </p:nvSpPr>
          <p:spPr>
            <a:xfrm>
              <a:off x="785011" y="4558289"/>
              <a:ext cx="1653860" cy="83257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en-US" altLang="zh-CN" sz="1200" dirty="0">
                  <a:solidFill>
                    <a:schemeClr val="tx1"/>
                  </a:solidFill>
                  <a:cs typeface="+mn-ea"/>
                  <a:sym typeface="+mn-lt"/>
                </a:rPr>
                <a:t>BMC</a:t>
              </a:r>
              <a:r>
                <a:rPr lang="zh-CN" altLang="en-US" sz="1200" dirty="0">
                  <a:solidFill>
                    <a:schemeClr val="tx1"/>
                  </a:solidFill>
                  <a:cs typeface="+mn-ea"/>
                  <a:sym typeface="+mn-lt"/>
                </a:rPr>
                <a:t>工程师</a:t>
              </a:r>
            </a:p>
          </p:txBody>
        </p:sp>
      </p:grpSp>
      <p:sp>
        <p:nvSpPr>
          <p:cNvPr id="32" name="文本占位符 1">
            <a:extLst>
              <a:ext uri="{FF2B5EF4-FFF2-40B4-BE49-F238E27FC236}">
                <a16:creationId xmlns:a16="http://schemas.microsoft.com/office/drawing/2014/main" id="{EB7291E7-BB52-466D-BC77-9B02653EB2B4}"/>
              </a:ext>
            </a:extLst>
          </p:cNvPr>
          <p:cNvSpPr>
            <a:spLocks noGrp="1"/>
          </p:cNvSpPr>
          <p:nvPr>
            <p:ph type="body" sz="quarter" idx="13"/>
          </p:nvPr>
        </p:nvSpPr>
        <p:spPr/>
        <p:txBody>
          <a:bodyPr/>
          <a:lstStyle/>
          <a:p>
            <a:r>
              <a:rPr lang="en-US" altLang="zh-CN" dirty="0"/>
              <a:t>L5 </a:t>
            </a:r>
            <a:r>
              <a:rPr lang="zh-CN" altLang="en-US" dirty="0"/>
              <a:t>开发计划</a:t>
            </a:r>
          </a:p>
        </p:txBody>
      </p:sp>
      <p:sp>
        <p:nvSpPr>
          <p:cNvPr id="26" name="标题 7">
            <a:extLst>
              <a:ext uri="{FF2B5EF4-FFF2-40B4-BE49-F238E27FC236}">
                <a16:creationId xmlns:a16="http://schemas.microsoft.com/office/drawing/2014/main" id="{BC396957-5FAE-41CD-8D3C-C0E579E5DDDD}"/>
              </a:ext>
            </a:extLst>
          </p:cNvPr>
          <p:cNvSpPr txBox="1">
            <a:spLocks/>
          </p:cNvSpPr>
          <p:nvPr/>
        </p:nvSpPr>
        <p:spPr>
          <a:xfrm>
            <a:off x="3486824" y="1182174"/>
            <a:ext cx="5257509" cy="3600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r>
              <a:rPr lang="zh-CN" altLang="en-US" sz="1400" b="1" dirty="0">
                <a:solidFill>
                  <a:schemeClr val="bg1">
                    <a:lumMod val="95000"/>
                  </a:schemeClr>
                </a:solidFill>
                <a:cs typeface="+mn-ea"/>
                <a:sym typeface="+mn-lt"/>
              </a:rPr>
              <a:t>开发计划</a:t>
            </a:r>
            <a:endParaRPr lang="zh-CN" altLang="en-US" sz="1400" b="1" dirty="0">
              <a:solidFill>
                <a:schemeClr val="bg1">
                  <a:lumMod val="95000"/>
                </a:schemeClr>
              </a:solidFill>
              <a:latin typeface="+mn-ea"/>
              <a:ea typeface="+mn-ea"/>
            </a:endParaRPr>
          </a:p>
        </p:txBody>
      </p:sp>
      <p:grpSp>
        <p:nvGrpSpPr>
          <p:cNvPr id="28" name="组合 27">
            <a:extLst>
              <a:ext uri="{FF2B5EF4-FFF2-40B4-BE49-F238E27FC236}">
                <a16:creationId xmlns:a16="http://schemas.microsoft.com/office/drawing/2014/main" id="{7896A5D5-0068-4E0E-A937-A3A268705663}"/>
              </a:ext>
            </a:extLst>
          </p:cNvPr>
          <p:cNvGrpSpPr/>
          <p:nvPr/>
        </p:nvGrpSpPr>
        <p:grpSpPr>
          <a:xfrm>
            <a:off x="10132150" y="1914892"/>
            <a:ext cx="1850615" cy="2337512"/>
            <a:chOff x="9470920" y="2079993"/>
            <a:chExt cx="1653860" cy="2859722"/>
          </a:xfrm>
          <a:solidFill>
            <a:schemeClr val="bg1">
              <a:lumMod val="85000"/>
            </a:schemeClr>
          </a:solidFill>
          <a:effectLst/>
        </p:grpSpPr>
        <p:sp>
          <p:nvSpPr>
            <p:cNvPr id="29" name="矩形 28">
              <a:extLst>
                <a:ext uri="{FF2B5EF4-FFF2-40B4-BE49-F238E27FC236}">
                  <a16:creationId xmlns:a16="http://schemas.microsoft.com/office/drawing/2014/main" id="{898BA932-62BC-44A9-89F8-6005A4E13BE8}"/>
                </a:ext>
              </a:extLst>
            </p:cNvPr>
            <p:cNvSpPr/>
            <p:nvPr/>
          </p:nvSpPr>
          <p:spPr>
            <a:xfrm>
              <a:off x="9470920" y="2079993"/>
              <a:ext cx="1653860" cy="9082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制定质量策划</a:t>
              </a:r>
            </a:p>
          </p:txBody>
        </p:sp>
        <p:sp>
          <p:nvSpPr>
            <p:cNvPr id="30" name="矩形 29">
              <a:extLst>
                <a:ext uri="{FF2B5EF4-FFF2-40B4-BE49-F238E27FC236}">
                  <a16:creationId xmlns:a16="http://schemas.microsoft.com/office/drawing/2014/main" id="{D69513B3-2D80-43BD-85BA-C2B585BFE7E6}"/>
                </a:ext>
              </a:extLst>
            </p:cNvPr>
            <p:cNvSpPr/>
            <p:nvPr/>
          </p:nvSpPr>
          <p:spPr>
            <a:xfrm>
              <a:off x="9470920" y="2973616"/>
              <a:ext cx="1653860" cy="1203731"/>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200" dirty="0">
                  <a:cs typeface="+mn-ea"/>
                  <a:sym typeface="+mn-lt"/>
                </a:rPr>
                <a:t>输出物：项目质量策划书</a:t>
              </a:r>
            </a:p>
          </p:txBody>
        </p:sp>
        <p:sp>
          <p:nvSpPr>
            <p:cNvPr id="31" name="矩形 30">
              <a:extLst>
                <a:ext uri="{FF2B5EF4-FFF2-40B4-BE49-F238E27FC236}">
                  <a16:creationId xmlns:a16="http://schemas.microsoft.com/office/drawing/2014/main" id="{1D4E5220-6712-4AED-B6D5-DD37F2329330}"/>
                </a:ext>
              </a:extLst>
            </p:cNvPr>
            <p:cNvSpPr/>
            <p:nvPr/>
          </p:nvSpPr>
          <p:spPr>
            <a:xfrm>
              <a:off x="9470920" y="4177348"/>
              <a:ext cx="1653860" cy="76236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en-US" altLang="zh-CN" sz="1200" dirty="0">
                  <a:solidFill>
                    <a:schemeClr val="tx1"/>
                  </a:solidFill>
                  <a:cs typeface="+mn-ea"/>
                  <a:sym typeface="+mn-lt"/>
                </a:rPr>
                <a:t>DQA</a:t>
              </a:r>
            </a:p>
          </p:txBody>
        </p:sp>
      </p:grpSp>
      <p:sp>
        <p:nvSpPr>
          <p:cNvPr id="33" name="文本框 32"/>
          <p:cNvSpPr txBox="1"/>
          <p:nvPr/>
        </p:nvSpPr>
        <p:spPr>
          <a:xfrm>
            <a:off x="402370" y="4613171"/>
            <a:ext cx="4187385" cy="867930"/>
          </a:xfrm>
          <a:prstGeom prst="rect">
            <a:avLst/>
          </a:prstGeom>
          <a:noFill/>
        </p:spPr>
        <p:txBody>
          <a:bodyPr wrap="square" rtlCol="0">
            <a:spAutoFit/>
          </a:bodyPr>
          <a:lstStyle/>
          <a:p>
            <a:pPr>
              <a:lnSpc>
                <a:spcPct val="120000"/>
              </a:lnSpc>
            </a:pPr>
            <a:r>
              <a:rPr lang="zh-CN" altLang="en-US" sz="1400" b="1" dirty="0">
                <a:solidFill>
                  <a:srgbClr val="178AA1"/>
                </a:solidFill>
                <a:latin typeface="+mn-ea"/>
              </a:rPr>
              <a:t>架构师重点</a:t>
            </a:r>
            <a:r>
              <a:rPr lang="zh-CN" altLang="en-US" sz="1400" b="1" dirty="0" smtClean="0">
                <a:solidFill>
                  <a:srgbClr val="178AA1"/>
                </a:solidFill>
                <a:latin typeface="+mn-ea"/>
              </a:rPr>
              <a:t>关注：</a:t>
            </a:r>
            <a:endParaRPr lang="en-US" altLang="zh-CN" sz="1400" b="1" dirty="0" smtClean="0">
              <a:solidFill>
                <a:srgbClr val="178AA1"/>
              </a:solidFill>
              <a:latin typeface="+mn-ea"/>
            </a:endParaRPr>
          </a:p>
          <a:p>
            <a:pPr>
              <a:lnSpc>
                <a:spcPct val="120000"/>
              </a:lnSpc>
            </a:pPr>
            <a:r>
              <a:rPr lang="en-US" altLang="zh-CN" sz="1400" dirty="0" smtClean="0">
                <a:solidFill>
                  <a:schemeClr val="tx1">
                    <a:lumMod val="75000"/>
                    <a:lumOff val="25000"/>
                  </a:schemeClr>
                </a:solidFill>
                <a:latin typeface="+mn-ea"/>
              </a:rPr>
              <a:t>1</a:t>
            </a:r>
            <a:r>
              <a:rPr lang="zh-CN" altLang="en-US" sz="1400" dirty="0" smtClean="0">
                <a:solidFill>
                  <a:schemeClr val="tx1">
                    <a:lumMod val="75000"/>
                    <a:lumOff val="25000"/>
                  </a:schemeClr>
                </a:solidFill>
                <a:latin typeface="+mn-ea"/>
              </a:rPr>
              <a:t>）审核各单位需求数量合理性；</a:t>
            </a:r>
            <a:endParaRPr lang="en-US" altLang="zh-CN" sz="1400" dirty="0" smtClean="0">
              <a:solidFill>
                <a:schemeClr val="tx1">
                  <a:lumMod val="75000"/>
                  <a:lumOff val="25000"/>
                </a:schemeClr>
              </a:solidFill>
              <a:latin typeface="+mn-ea"/>
            </a:endParaRPr>
          </a:p>
          <a:p>
            <a:pPr>
              <a:lnSpc>
                <a:spcPct val="120000"/>
              </a:lnSpc>
            </a:pPr>
            <a:r>
              <a:rPr lang="en-US" altLang="zh-CN" sz="1400" dirty="0" smtClean="0">
                <a:solidFill>
                  <a:schemeClr val="tx1">
                    <a:lumMod val="75000"/>
                    <a:lumOff val="25000"/>
                  </a:schemeClr>
                </a:solidFill>
                <a:latin typeface="+mn-ea"/>
              </a:rPr>
              <a:t>2</a:t>
            </a:r>
            <a:r>
              <a:rPr lang="zh-CN" altLang="en-US" sz="1400" dirty="0" smtClean="0">
                <a:solidFill>
                  <a:schemeClr val="tx1">
                    <a:lumMod val="75000"/>
                    <a:lumOff val="25000"/>
                  </a:schemeClr>
                </a:solidFill>
                <a:latin typeface="+mn-ea"/>
              </a:rPr>
              <a:t>）参与项目计划、</a:t>
            </a:r>
            <a:r>
              <a:rPr lang="en-US" altLang="zh-CN" sz="1400" dirty="0" smtClean="0">
                <a:solidFill>
                  <a:schemeClr val="tx1">
                    <a:lumMod val="75000"/>
                    <a:lumOff val="25000"/>
                  </a:schemeClr>
                </a:solidFill>
                <a:latin typeface="+mn-ea"/>
              </a:rPr>
              <a:t>FW</a:t>
            </a:r>
            <a:r>
              <a:rPr lang="zh-CN" altLang="en-US" sz="1400" dirty="0" smtClean="0">
                <a:solidFill>
                  <a:schemeClr val="tx1">
                    <a:lumMod val="75000"/>
                    <a:lumOff val="25000"/>
                  </a:schemeClr>
                </a:solidFill>
                <a:latin typeface="+mn-ea"/>
              </a:rPr>
              <a:t>迭代计划、质量策划评审；</a:t>
            </a:r>
          </a:p>
        </p:txBody>
      </p:sp>
      <p:sp>
        <p:nvSpPr>
          <p:cNvPr id="34" name="十字星 33"/>
          <p:cNvSpPr/>
          <p:nvPr/>
        </p:nvSpPr>
        <p:spPr>
          <a:xfrm>
            <a:off x="222866" y="4640319"/>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497984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L5 </a:t>
            </a:r>
            <a:r>
              <a:rPr lang="zh-CN" altLang="en-US" dirty="0">
                <a:latin typeface="+mn-lt"/>
                <a:ea typeface="+mn-ea"/>
                <a:cs typeface="+mn-ea"/>
                <a:sym typeface="+mn-lt"/>
              </a:rPr>
              <a:t>开发计划</a:t>
            </a:r>
            <a:r>
              <a:rPr lang="en-US" altLang="zh-CN" dirty="0">
                <a:latin typeface="+mn-lt"/>
                <a:ea typeface="+mn-ea"/>
                <a:cs typeface="+mn-ea"/>
                <a:sym typeface="+mn-lt"/>
              </a:rPr>
              <a:t>——</a:t>
            </a:r>
            <a:r>
              <a:rPr lang="zh-CN" altLang="en-US" dirty="0">
                <a:latin typeface="+mn-lt"/>
                <a:ea typeface="+mn-ea"/>
                <a:cs typeface="+mn-ea"/>
                <a:sym typeface="+mn-lt"/>
              </a:rPr>
              <a:t>主要</a:t>
            </a:r>
            <a:r>
              <a:rPr lang="zh-CN" altLang="en-US" dirty="0" smtClean="0">
                <a:latin typeface="+mn-lt"/>
                <a:ea typeface="+mn-ea"/>
                <a:cs typeface="+mn-ea"/>
                <a:sym typeface="+mn-lt"/>
              </a:rPr>
              <a:t>工作</a:t>
            </a:r>
            <a:r>
              <a:rPr lang="zh-CN" altLang="en-US" dirty="0">
                <a:solidFill>
                  <a:srgbClr val="FF0000"/>
                </a:solidFill>
                <a:cs typeface="+mn-ea"/>
                <a:sym typeface="+mn-lt"/>
              </a:rPr>
              <a:t>（补充其他岗位</a:t>
            </a:r>
            <a:r>
              <a:rPr lang="zh-CN" altLang="en-US" dirty="0" smtClean="0">
                <a:solidFill>
                  <a:srgbClr val="FF0000"/>
                </a:solidFill>
                <a:cs typeface="+mn-ea"/>
                <a:sym typeface="+mn-lt"/>
              </a:rPr>
              <a:t>）</a:t>
            </a:r>
            <a:endParaRPr lang="zh-CN" altLang="en-US" dirty="0">
              <a:solidFill>
                <a:srgbClr val="FF0000"/>
              </a:solidFill>
              <a:cs typeface="+mn-ea"/>
              <a:sym typeface="+mn-lt"/>
            </a:endParaRPr>
          </a:p>
        </p:txBody>
      </p:sp>
      <p:graphicFrame>
        <p:nvGraphicFramePr>
          <p:cNvPr id="94" name="表格 93"/>
          <p:cNvGraphicFramePr>
            <a:graphicFrameLocks noGrp="1"/>
          </p:cNvGraphicFramePr>
          <p:nvPr/>
        </p:nvGraphicFramePr>
        <p:xfrm>
          <a:off x="248789" y="1094372"/>
          <a:ext cx="11694421" cy="5192130"/>
        </p:xfrm>
        <a:graphic>
          <a:graphicData uri="http://schemas.openxmlformats.org/drawingml/2006/table">
            <a:tbl>
              <a:tblPr firstRow="1" bandRow="1">
                <a:tableStyleId>{00A15C55-8517-42AA-B614-E9B94910E393}</a:tableStyleId>
              </a:tblPr>
              <a:tblGrid>
                <a:gridCol w="1263015">
                  <a:extLst>
                    <a:ext uri="{9D8B030D-6E8A-4147-A177-3AD203B41FA5}">
                      <a16:colId xmlns:a16="http://schemas.microsoft.com/office/drawing/2014/main" val="1503978168"/>
                    </a:ext>
                  </a:extLst>
                </a:gridCol>
                <a:gridCol w="2499192">
                  <a:extLst>
                    <a:ext uri="{9D8B030D-6E8A-4147-A177-3AD203B41FA5}">
                      <a16:colId xmlns:a16="http://schemas.microsoft.com/office/drawing/2014/main" val="773509366"/>
                    </a:ext>
                  </a:extLst>
                </a:gridCol>
                <a:gridCol w="5193244">
                  <a:extLst>
                    <a:ext uri="{9D8B030D-6E8A-4147-A177-3AD203B41FA5}">
                      <a16:colId xmlns:a16="http://schemas.microsoft.com/office/drawing/2014/main" val="1193865247"/>
                    </a:ext>
                  </a:extLst>
                </a:gridCol>
                <a:gridCol w="2738970">
                  <a:extLst>
                    <a:ext uri="{9D8B030D-6E8A-4147-A177-3AD203B41FA5}">
                      <a16:colId xmlns:a16="http://schemas.microsoft.com/office/drawing/2014/main" val="869367937"/>
                    </a:ext>
                  </a:extLst>
                </a:gridCol>
              </a:tblGrid>
              <a:tr h="438062">
                <a:tc>
                  <a:txBody>
                    <a:bodyPr/>
                    <a:lstStyle/>
                    <a:p>
                      <a:pPr algn="ctr"/>
                      <a:r>
                        <a:rPr lang="zh-CN" altLang="en-US" sz="1600" dirty="0">
                          <a:sym typeface="+mn-lt"/>
                        </a:rPr>
                        <a:t>岗位名称</a:t>
                      </a:r>
                      <a:endParaRPr lang="zh-CN" altLang="en-US" sz="1600" dirty="0">
                        <a:latin typeface="+mn-lt"/>
                        <a:ea typeface="+mn-ea"/>
                        <a:cs typeface="+mn-ea"/>
                        <a:sym typeface="+mn-lt"/>
                      </a:endParaRPr>
                    </a:p>
                  </a:txBody>
                  <a:tcPr marL="121920" marR="121920" marT="60960" marB="60960" anchor="ctr"/>
                </a:tc>
                <a:tc gridSpan="2">
                  <a:txBody>
                    <a:bodyPr/>
                    <a:lstStyle/>
                    <a:p>
                      <a:pPr algn="ctr"/>
                      <a:r>
                        <a:rPr lang="zh-CN" altLang="en-US" sz="1600" dirty="0">
                          <a:sym typeface="+mn-lt"/>
                        </a:rPr>
                        <a:t>工作内容</a:t>
                      </a:r>
                      <a:r>
                        <a:rPr lang="en-US" altLang="zh-CN" sz="1600" dirty="0">
                          <a:sym typeface="+mn-lt"/>
                        </a:rPr>
                        <a:t>&amp;</a:t>
                      </a:r>
                      <a:r>
                        <a:rPr lang="zh-CN" altLang="en-US" sz="1600" dirty="0">
                          <a:sym typeface="+mn-lt"/>
                        </a:rPr>
                        <a:t>参与人</a:t>
                      </a:r>
                      <a:endParaRPr lang="zh-CN" altLang="en-US" sz="1600" dirty="0">
                        <a:latin typeface="+mn-lt"/>
                        <a:ea typeface="+mn-ea"/>
                        <a:cs typeface="+mn-ea"/>
                        <a:sym typeface="+mn-lt"/>
                      </a:endParaRPr>
                    </a:p>
                  </a:txBody>
                  <a:tcPr marL="121920" marR="121920" marT="60960" marB="60960" anchor="ctr"/>
                </a:tc>
                <a:tc hMerge="1">
                  <a:txBody>
                    <a:bodyPr/>
                    <a:lstStyle/>
                    <a:p>
                      <a:pPr algn="ctr"/>
                      <a:endParaRPr lang="zh-CN" altLang="en-US" sz="1900" dirty="0">
                        <a:latin typeface="+mn-lt"/>
                        <a:ea typeface="+mn-ea"/>
                        <a:cs typeface="+mn-ea"/>
                        <a:sym typeface="+mn-lt"/>
                      </a:endParaRPr>
                    </a:p>
                  </a:txBody>
                  <a:tcPr marL="121920" marR="121920" marT="60960" marB="60960">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600" dirty="0">
                          <a:sym typeface="+mn-lt"/>
                        </a:rPr>
                        <a:t>输出物</a:t>
                      </a:r>
                      <a:endParaRPr lang="zh-CN" altLang="en-US" sz="1600" dirty="0">
                        <a:latin typeface="+mn-lt"/>
                        <a:ea typeface="+mn-ea"/>
                        <a:cs typeface="+mn-ea"/>
                        <a:sym typeface="+mn-lt"/>
                      </a:endParaRPr>
                    </a:p>
                  </a:txBody>
                  <a:tcPr marL="121920" marR="121920" marT="60960" marB="60960" anchor="ctr"/>
                </a:tc>
                <a:extLst>
                  <a:ext uri="{0D108BD9-81ED-4DB2-BD59-A6C34878D82A}">
                    <a16:rowId xmlns:a16="http://schemas.microsoft.com/office/drawing/2014/main" val="3162067804"/>
                  </a:ext>
                </a:extLst>
              </a:tr>
              <a:tr h="661489">
                <a:tc rowSpan="5">
                  <a:txBody>
                    <a:bodyPr/>
                    <a:lstStyle/>
                    <a:p>
                      <a:pPr algn="ctr"/>
                      <a:r>
                        <a:rPr lang="zh-CN" altLang="en-US" sz="1200" dirty="0">
                          <a:sym typeface="+mn-lt"/>
                        </a:rPr>
                        <a:t>项目经理</a:t>
                      </a:r>
                      <a:endParaRPr lang="zh-CN" altLang="en-US" sz="1200" dirty="0">
                        <a:latin typeface="+mn-lt"/>
                        <a:ea typeface="+mn-ea"/>
                        <a:cs typeface="+mn-ea"/>
                        <a:sym typeface="+mn-lt"/>
                      </a:endParaRPr>
                    </a:p>
                  </a:txBody>
                  <a:tcPr marL="121920" marR="121920" marT="60960" marB="60960" anchor="ctr"/>
                </a:tc>
                <a:tc>
                  <a:txBody>
                    <a:bodyPr/>
                    <a:lstStyle/>
                    <a:p>
                      <a:pPr algn="ctr"/>
                      <a:r>
                        <a:rPr lang="zh-CN" altLang="en-US" sz="1200" dirty="0">
                          <a:sym typeface="+mn-lt"/>
                        </a:rPr>
                        <a:t>制定项目管理计划</a:t>
                      </a:r>
                      <a:endParaRPr lang="zh-CN" altLang="en-US" sz="1200" dirty="0">
                        <a:latin typeface="+mn-lt"/>
                        <a:ea typeface="+mn-ea"/>
                        <a:cs typeface="+mn-ea"/>
                        <a:sym typeface="+mn-lt"/>
                      </a:endParaRPr>
                    </a:p>
                  </a:txBody>
                  <a:tcPr marL="121920" marR="121920" marT="60960" marB="60960" anchor="ctr"/>
                </a:tc>
                <a:tc>
                  <a:txBody>
                    <a:bodyP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dirty="0">
                          <a:solidFill>
                            <a:schemeClr val="tx1"/>
                          </a:solidFill>
                          <a:sym typeface="+mn-lt"/>
                        </a:rPr>
                        <a:t>编写项目计划书</a:t>
                      </a:r>
                      <a:endParaRPr lang="en-US" altLang="zh-CN" sz="12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dirty="0">
                          <a:solidFill>
                            <a:schemeClr val="tx1"/>
                          </a:solidFill>
                          <a:sym typeface="+mn-lt"/>
                        </a:rPr>
                        <a:t>在</a:t>
                      </a:r>
                      <a:r>
                        <a:rPr lang="en-US" altLang="zh-CN" sz="1200" dirty="0">
                          <a:solidFill>
                            <a:schemeClr val="tx1"/>
                          </a:solidFill>
                          <a:sym typeface="+mn-lt"/>
                        </a:rPr>
                        <a:t>PLM</a:t>
                      </a:r>
                      <a:r>
                        <a:rPr lang="zh-CN" altLang="en-US" sz="1200" dirty="0">
                          <a:solidFill>
                            <a:schemeClr val="tx1"/>
                          </a:solidFill>
                          <a:sym typeface="+mn-lt"/>
                        </a:rPr>
                        <a:t>上完成评审</a:t>
                      </a:r>
                      <a:endParaRPr lang="en-US" altLang="zh-CN" sz="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200" u="none" strike="noStrike" kern="1200" dirty="0">
                          <a:solidFill>
                            <a:schemeClr val="dk1"/>
                          </a:solidFill>
                          <a:effectLst/>
                          <a:sym typeface="+mn-lt"/>
                        </a:rPr>
                        <a:t>《QR-D-PH-002-001 </a:t>
                      </a:r>
                      <a:r>
                        <a:rPr lang="zh-CN" altLang="en-US" sz="1200" u="none" strike="noStrike" kern="1200" dirty="0">
                          <a:solidFill>
                            <a:schemeClr val="dk1"/>
                          </a:solidFill>
                          <a:effectLst/>
                          <a:sym typeface="+mn-lt"/>
                        </a:rPr>
                        <a:t>项目计划书</a:t>
                      </a:r>
                      <a:r>
                        <a:rPr lang="en-US" altLang="zh-CN" sz="1200" u="none" strike="noStrike" kern="1200" dirty="0">
                          <a:solidFill>
                            <a:schemeClr val="dk1"/>
                          </a:solidFill>
                          <a:effectLst/>
                          <a:sym typeface="+mn-lt"/>
                        </a:rPr>
                        <a:t>》</a:t>
                      </a:r>
                      <a:endParaRPr lang="en-US" altLang="zh-CN" sz="12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9362905"/>
                  </a:ext>
                </a:extLst>
              </a:tr>
              <a:tr h="1327621">
                <a:tc vMerge="1">
                  <a:txBody>
                    <a:bodyPr/>
                    <a:lstStyle/>
                    <a:p>
                      <a:pPr algn="ctr"/>
                      <a:endParaRPr lang="zh-CN" altLang="en-US" sz="1400" dirty="0">
                        <a:latin typeface="+mn-lt"/>
                        <a:ea typeface="+mn-ea"/>
                        <a:cs typeface="+mn-ea"/>
                        <a:sym typeface="+mn-lt"/>
                      </a:endParaRPr>
                    </a:p>
                  </a:txBody>
                  <a:tcPr marL="121920" marR="121920" marT="60960" marB="6096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200" dirty="0">
                          <a:sym typeface="+mn-lt"/>
                        </a:rPr>
                        <a:t>制定项目物料计划</a:t>
                      </a:r>
                      <a:endParaRPr lang="zh-CN" altLang="en-US" sz="1200" dirty="0">
                        <a:latin typeface="+mn-lt"/>
                        <a:ea typeface="+mn-ea"/>
                        <a:cs typeface="+mn-ea"/>
                        <a:sym typeface="+mn-lt"/>
                      </a:endParaRPr>
                    </a:p>
                  </a:txBody>
                  <a:tcPr marL="121920" marR="121920" marT="60960" marB="60960" anchor="ctr"/>
                </a:tc>
                <a:tc>
                  <a:txBody>
                    <a:bodyPr/>
                    <a:lstStyle/>
                    <a:p>
                      <a:pPr marL="285750" indent="-285750">
                        <a:lnSpc>
                          <a:spcPct val="150000"/>
                        </a:lnSpc>
                        <a:buFont typeface="Arial" panose="020B0604020202020204" pitchFamily="34" charset="0"/>
                        <a:buChar char="•"/>
                      </a:pPr>
                      <a:r>
                        <a:rPr lang="zh-CN" altLang="en-US" sz="1200" dirty="0">
                          <a:solidFill>
                            <a:schemeClr val="tx1">
                              <a:lumMod val="75000"/>
                              <a:lumOff val="25000"/>
                            </a:schemeClr>
                          </a:solidFill>
                          <a:sym typeface="+mn-lt"/>
                        </a:rPr>
                        <a:t>收集产品经理</a:t>
                      </a:r>
                      <a:r>
                        <a:rPr lang="en-US" altLang="zh-CN" sz="1200" dirty="0">
                          <a:solidFill>
                            <a:schemeClr val="tx1">
                              <a:lumMod val="75000"/>
                              <a:lumOff val="25000"/>
                            </a:schemeClr>
                          </a:solidFill>
                          <a:sym typeface="+mn-lt"/>
                        </a:rPr>
                        <a:t>B</a:t>
                      </a:r>
                      <a:r>
                        <a:rPr lang="zh-CN" altLang="en-US" sz="1200" dirty="0">
                          <a:solidFill>
                            <a:schemeClr val="tx1">
                              <a:lumMod val="75000"/>
                              <a:lumOff val="25000"/>
                            </a:schemeClr>
                          </a:solidFill>
                          <a:sym typeface="+mn-lt"/>
                        </a:rPr>
                        <a:t>给出的典配清单，通用物料清单；</a:t>
                      </a:r>
                      <a:endParaRPr lang="en-US" altLang="zh-CN" sz="1200" dirty="0">
                        <a:solidFill>
                          <a:schemeClr val="tx1">
                            <a:lumMod val="75000"/>
                            <a:lumOff val="25000"/>
                          </a:schemeClr>
                        </a:solidFill>
                        <a:sym typeface="+mn-lt"/>
                      </a:endParaRPr>
                    </a:p>
                    <a:p>
                      <a:pPr marL="285750" indent="-285750">
                        <a:lnSpc>
                          <a:spcPct val="150000"/>
                        </a:lnSpc>
                        <a:buFont typeface="Arial" panose="020B0604020202020204" pitchFamily="34" charset="0"/>
                        <a:buChar char="•"/>
                      </a:pPr>
                      <a:r>
                        <a:rPr lang="zh-CN" altLang="en-US" sz="1200" dirty="0">
                          <a:solidFill>
                            <a:schemeClr val="tx1">
                              <a:lumMod val="75000"/>
                              <a:lumOff val="25000"/>
                            </a:schemeClr>
                          </a:solidFill>
                          <a:sym typeface="+mn-lt"/>
                        </a:rPr>
                        <a:t>部件负责人确认通用物料清单，研发确认开发物料清单及需求数量；</a:t>
                      </a:r>
                      <a:endParaRPr lang="en-US" altLang="zh-CN" sz="1200" dirty="0">
                        <a:solidFill>
                          <a:schemeClr val="tx1">
                            <a:lumMod val="75000"/>
                            <a:lumOff val="25000"/>
                          </a:schemeClr>
                        </a:solidFill>
                        <a:sym typeface="+mn-lt"/>
                      </a:endParaRPr>
                    </a:p>
                    <a:p>
                      <a:pPr marL="285750" indent="-285750">
                        <a:lnSpc>
                          <a:spcPct val="150000"/>
                        </a:lnSpc>
                        <a:buFont typeface="Arial" panose="020B0604020202020204" pitchFamily="34" charset="0"/>
                        <a:buChar char="•"/>
                      </a:pPr>
                      <a:r>
                        <a:rPr lang="zh-CN" altLang="en-US" sz="1200" dirty="0">
                          <a:solidFill>
                            <a:schemeClr val="tx1">
                              <a:lumMod val="75000"/>
                              <a:lumOff val="25000"/>
                            </a:schemeClr>
                          </a:solidFill>
                          <a:sym typeface="+mn-lt"/>
                        </a:rPr>
                        <a:t>整理制定项目物料计划（各个阶段测试物料清单）；</a:t>
                      </a:r>
                      <a:endParaRPr lang="en-US" altLang="zh-CN" sz="1200" dirty="0">
                        <a:solidFill>
                          <a:schemeClr val="tx1">
                            <a:lumMod val="75000"/>
                            <a:lumOff val="25000"/>
                          </a:schemeClr>
                        </a:solidFill>
                        <a:sym typeface="+mn-lt"/>
                      </a:endParaRPr>
                    </a:p>
                    <a:p>
                      <a:pPr marL="285750" indent="-285750">
                        <a:lnSpc>
                          <a:spcPct val="150000"/>
                        </a:lnSpc>
                        <a:buFont typeface="Arial" panose="020B0604020202020204" pitchFamily="34" charset="0"/>
                        <a:buChar char="•"/>
                      </a:pPr>
                      <a:r>
                        <a:rPr lang="zh-CN" altLang="en-US" sz="1200" dirty="0">
                          <a:solidFill>
                            <a:schemeClr val="tx1">
                              <a:lumMod val="75000"/>
                              <a:lumOff val="25000"/>
                            </a:schemeClr>
                          </a:solidFill>
                          <a:sym typeface="+mn-lt"/>
                        </a:rPr>
                        <a:t>项目经理确认物料计划合理性，产品总工审核；</a:t>
                      </a:r>
                      <a:endParaRPr lang="en-US" altLang="zh-CN" sz="1200" dirty="0">
                        <a:solidFill>
                          <a:schemeClr val="tx1">
                            <a:lumMod val="75000"/>
                            <a:lumOff val="25000"/>
                          </a:schemeClr>
                        </a:solidFill>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200" u="none" strike="noStrike" kern="1200" dirty="0">
                          <a:solidFill>
                            <a:schemeClr val="dk1"/>
                          </a:solidFill>
                          <a:effectLst/>
                          <a:sym typeface="+mn-lt"/>
                        </a:rPr>
                        <a:t>物料管理计划</a:t>
                      </a:r>
                      <a:endParaRPr lang="en-US" altLang="zh-CN" sz="12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133077152"/>
                  </a:ext>
                </a:extLst>
              </a:tr>
              <a:tr h="499511">
                <a:tc vMerge="1">
                  <a:txBody>
                    <a:bodyPr/>
                    <a:lstStyle/>
                    <a:p>
                      <a:pPr algn="ctr"/>
                      <a:endParaRPr lang="zh-CN" altLang="en-US" sz="1400" dirty="0">
                        <a:latin typeface="+mn-lt"/>
                        <a:ea typeface="+mn-ea"/>
                        <a:cs typeface="+mn-ea"/>
                        <a:sym typeface="+mn-lt"/>
                      </a:endParaRPr>
                    </a:p>
                  </a:txBody>
                  <a:tcPr marL="121920" marR="121920" marT="60960" marB="6096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200" dirty="0">
                          <a:sym typeface="+mn-lt"/>
                        </a:rPr>
                        <a:t>项目可行性估算</a:t>
                      </a:r>
                      <a:endParaRPr lang="zh-CN" altLang="en-US" sz="1200" dirty="0">
                        <a:latin typeface="+mn-lt"/>
                        <a:ea typeface="+mn-ea"/>
                        <a:cs typeface="+mn-ea"/>
                        <a:sym typeface="+mn-lt"/>
                      </a:endParaRPr>
                    </a:p>
                  </a:txBody>
                  <a:tcPr marL="121920" marR="121920" marT="60960" marB="60960" anchor="ctr"/>
                </a:tc>
                <a:tc>
                  <a:txBody>
                    <a:bodyP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dirty="0">
                          <a:solidFill>
                            <a:schemeClr val="tx1">
                              <a:lumMod val="75000"/>
                              <a:lumOff val="25000"/>
                            </a:schemeClr>
                          </a:solidFill>
                          <a:sym typeface="+mn-lt"/>
                        </a:rPr>
                        <a:t>主要为项目预算估算：包含物料费用估算、</a:t>
                      </a:r>
                      <a:r>
                        <a:rPr lang="en-US" altLang="zh-CN" sz="1200" dirty="0">
                          <a:solidFill>
                            <a:schemeClr val="tx1">
                              <a:lumMod val="75000"/>
                              <a:lumOff val="25000"/>
                            </a:schemeClr>
                          </a:solidFill>
                          <a:sym typeface="+mn-lt"/>
                        </a:rPr>
                        <a:t>NRE</a:t>
                      </a:r>
                      <a:r>
                        <a:rPr lang="zh-CN" altLang="en-US" sz="1200" dirty="0">
                          <a:solidFill>
                            <a:schemeClr val="tx1">
                              <a:lumMod val="75000"/>
                              <a:lumOff val="25000"/>
                            </a:schemeClr>
                          </a:solidFill>
                          <a:sym typeface="+mn-lt"/>
                        </a:rPr>
                        <a:t>、人力费用估算等</a:t>
                      </a:r>
                      <a:endParaRPr lang="en-US" altLang="zh-CN" sz="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200" u="none" strike="noStrike" kern="1200" dirty="0">
                          <a:solidFill>
                            <a:schemeClr val="dk1"/>
                          </a:solidFill>
                          <a:effectLst/>
                          <a:sym typeface="+mn-lt"/>
                        </a:rPr>
                        <a:t>可行性估算报告</a:t>
                      </a:r>
                      <a:endParaRPr lang="en-US" altLang="zh-CN" sz="12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4283218231"/>
                  </a:ext>
                </a:extLst>
              </a:tr>
              <a:tr h="1583672">
                <a:tc vMerge="1">
                  <a:txBody>
                    <a:bodyPr/>
                    <a:lstStyle/>
                    <a:p>
                      <a:pPr algn="ctr"/>
                      <a:endParaRPr lang="zh-CN" altLang="en-US" sz="1400" dirty="0">
                        <a:latin typeface="+mn-lt"/>
                        <a:ea typeface="+mn-ea"/>
                        <a:cs typeface="+mn-ea"/>
                        <a:sym typeface="+mn-lt"/>
                      </a:endParaRPr>
                    </a:p>
                  </a:txBody>
                  <a:tcPr marL="121920" marR="121920" marT="60960" marB="6096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200" dirty="0">
                          <a:sym typeface="+mn-lt"/>
                        </a:rPr>
                        <a:t>项目进展及状态跟踪</a:t>
                      </a:r>
                      <a:endParaRPr lang="zh-CN" altLang="en-US" sz="1200" dirty="0">
                        <a:latin typeface="+mn-lt"/>
                        <a:ea typeface="+mn-ea"/>
                        <a:cs typeface="+mn-ea"/>
                        <a:sym typeface="+mn-lt"/>
                      </a:endParaRPr>
                    </a:p>
                  </a:txBody>
                  <a:tcPr marL="121920" marR="121920" marT="60960" marB="60960" anchor="ctr"/>
                </a:tc>
                <a:tc>
                  <a:txBody>
                    <a:bodyPr/>
                    <a:lstStyle/>
                    <a:p>
                      <a:pPr marL="285750" indent="-285750">
                        <a:buFont typeface="Arial" panose="020B0604020202020204" pitchFamily="34" charset="0"/>
                        <a:buChar char="•"/>
                      </a:pPr>
                      <a:r>
                        <a:rPr lang="zh-CN" altLang="en-US" sz="1200" dirty="0">
                          <a:solidFill>
                            <a:schemeClr val="tx1"/>
                          </a:solidFill>
                          <a:sym typeface="+mn-lt"/>
                        </a:rPr>
                        <a:t>项目进度监控：</a:t>
                      </a:r>
                      <a:endParaRPr lang="en-US" altLang="zh-CN" sz="1200" dirty="0">
                        <a:solidFill>
                          <a:schemeClr val="tx1"/>
                        </a:solidFill>
                        <a:sym typeface="+mn-lt"/>
                      </a:endParaRPr>
                    </a:p>
                    <a:p>
                      <a:pPr marL="0" indent="0">
                        <a:buFont typeface="Arial" panose="020B0604020202020204" pitchFamily="34" charset="0"/>
                        <a:buNone/>
                      </a:pPr>
                      <a:r>
                        <a:rPr lang="en-US" altLang="zh-CN" sz="1200" dirty="0">
                          <a:solidFill>
                            <a:schemeClr val="tx1"/>
                          </a:solidFill>
                          <a:sym typeface="+mn-lt"/>
                        </a:rPr>
                        <a:t>         </a:t>
                      </a:r>
                      <a:r>
                        <a:rPr lang="zh-CN" altLang="en-US" sz="1200" dirty="0">
                          <a:solidFill>
                            <a:schemeClr val="tx1"/>
                          </a:solidFill>
                          <a:sym typeface="+mn-lt"/>
                        </a:rPr>
                        <a:t>各技术组开发计划进度跟踪</a:t>
                      </a:r>
                      <a:endParaRPr lang="en-US" altLang="zh-CN" sz="12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dirty="0">
                          <a:solidFill>
                            <a:schemeClr val="tx1"/>
                          </a:solidFill>
                          <a:sym typeface="+mn-lt"/>
                        </a:rPr>
                        <a:t>项目问题</a:t>
                      </a:r>
                      <a:r>
                        <a:rPr lang="en-US" altLang="zh-CN" sz="1200" dirty="0">
                          <a:solidFill>
                            <a:schemeClr val="tx1"/>
                          </a:solidFill>
                          <a:sym typeface="+mn-lt"/>
                        </a:rPr>
                        <a:t>&amp;</a:t>
                      </a:r>
                      <a:r>
                        <a:rPr lang="zh-CN" altLang="en-US" sz="1200" dirty="0">
                          <a:solidFill>
                            <a:schemeClr val="tx1"/>
                          </a:solidFill>
                          <a:sym typeface="+mn-lt"/>
                        </a:rPr>
                        <a:t>风险监控</a:t>
                      </a:r>
                      <a:endParaRPr lang="en-US" altLang="zh-CN" sz="12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dirty="0">
                          <a:solidFill>
                            <a:schemeClr val="tx1"/>
                          </a:solidFill>
                          <a:sym typeface="+mn-lt"/>
                        </a:rPr>
                        <a:t>项目变更控制</a:t>
                      </a:r>
                      <a:endParaRPr lang="en-US" altLang="zh-CN" sz="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200" u="none" strike="noStrike" kern="1200" dirty="0">
                          <a:solidFill>
                            <a:schemeClr val="dk1"/>
                          </a:solidFill>
                          <a:effectLst/>
                          <a:sym typeface="+mn-lt"/>
                        </a:rPr>
                        <a:t>《QR-D-PH-003-003</a:t>
                      </a:r>
                      <a:r>
                        <a:rPr lang="zh-CN" altLang="en-US" sz="1200" u="none" strike="noStrike" kern="1200" dirty="0">
                          <a:solidFill>
                            <a:schemeClr val="dk1"/>
                          </a:solidFill>
                          <a:effectLst/>
                          <a:sym typeface="+mn-lt"/>
                        </a:rPr>
                        <a:t>项目会议纪要</a:t>
                      </a:r>
                      <a:r>
                        <a:rPr lang="en-US" altLang="zh-CN" sz="1200" u="none" strike="noStrike" kern="1200" dirty="0">
                          <a:solidFill>
                            <a:schemeClr val="dk1"/>
                          </a:solidFill>
                          <a:effectLst/>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200" u="none" strike="noStrike" kern="1200" dirty="0">
                          <a:solidFill>
                            <a:schemeClr val="dk1"/>
                          </a:solidFill>
                          <a:effectLst/>
                          <a:sym typeface="+mn-lt"/>
                        </a:rPr>
                        <a:t>《</a:t>
                      </a:r>
                      <a:r>
                        <a:rPr lang="zh-CN" altLang="en-US" sz="1200" u="none" strike="noStrike" kern="1200" dirty="0">
                          <a:solidFill>
                            <a:schemeClr val="dk1"/>
                          </a:solidFill>
                          <a:effectLst/>
                          <a:sym typeface="+mn-lt"/>
                        </a:rPr>
                        <a:t>在研项目状态周报</a:t>
                      </a:r>
                      <a:r>
                        <a:rPr lang="en-US" altLang="zh-CN" sz="1200" u="none" strike="noStrike" kern="1200" dirty="0">
                          <a:solidFill>
                            <a:schemeClr val="dk1"/>
                          </a:solidFill>
                          <a:effectLst/>
                          <a:sym typeface="+mn-lt"/>
                        </a:rPr>
                        <a:t>》</a:t>
                      </a:r>
                      <a:r>
                        <a:rPr lang="zh-CN" altLang="en-US" sz="1200" u="none" strike="noStrike" kern="1200" dirty="0">
                          <a:solidFill>
                            <a:schemeClr val="dk1"/>
                          </a:solidFill>
                          <a:effectLst/>
                          <a:sym typeface="+mn-lt"/>
                        </a:rPr>
                        <a:t>（双周）</a:t>
                      </a:r>
                      <a:endParaRPr lang="en-US" altLang="zh-CN" sz="12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200" u="none" strike="noStrike" kern="1200" dirty="0">
                          <a:solidFill>
                            <a:schemeClr val="dk1"/>
                          </a:solidFill>
                          <a:effectLst/>
                          <a:sym typeface="+mn-lt"/>
                        </a:rPr>
                        <a:t>   项目严重风险</a:t>
                      </a:r>
                      <a:r>
                        <a:rPr lang="en-US" altLang="zh-CN" sz="1200" u="none" strike="noStrike" kern="1200" dirty="0">
                          <a:solidFill>
                            <a:schemeClr val="dk1"/>
                          </a:solidFill>
                          <a:effectLst/>
                          <a:sym typeface="+mn-lt"/>
                        </a:rPr>
                        <a:t>/</a:t>
                      </a:r>
                      <a:r>
                        <a:rPr lang="zh-CN" altLang="en-US" sz="1200" u="none" strike="noStrike" kern="1200" dirty="0">
                          <a:solidFill>
                            <a:schemeClr val="dk1"/>
                          </a:solidFill>
                          <a:effectLst/>
                          <a:sym typeface="+mn-lt"/>
                        </a:rPr>
                        <a:t>问题预警（决策委员会）</a:t>
                      </a:r>
                      <a:endParaRPr lang="en-US" altLang="zh-CN" sz="12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200" u="none" strike="noStrike" kern="1200" dirty="0">
                          <a:solidFill>
                            <a:schemeClr val="dk1"/>
                          </a:solidFill>
                          <a:effectLst/>
                          <a:sym typeface="+mn-lt"/>
                        </a:rPr>
                        <a:t>《QR-D-PH-002-001 </a:t>
                      </a:r>
                      <a:r>
                        <a:rPr lang="zh-CN" altLang="en-US" sz="1200" u="none" strike="noStrike" kern="1200" dirty="0">
                          <a:solidFill>
                            <a:schemeClr val="dk1"/>
                          </a:solidFill>
                          <a:effectLst/>
                          <a:sym typeface="+mn-lt"/>
                        </a:rPr>
                        <a:t>项目计划书</a:t>
                      </a:r>
                      <a:r>
                        <a:rPr lang="en-US" altLang="zh-CN" sz="1200" u="none" strike="noStrike" kern="1200" dirty="0">
                          <a:solidFill>
                            <a:schemeClr val="dk1"/>
                          </a:solidFill>
                          <a:effectLst/>
                          <a:sym typeface="+mn-lt"/>
                        </a:rPr>
                        <a:t>》</a:t>
                      </a:r>
                      <a:endParaRPr lang="en-US" altLang="zh-CN" sz="12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982289352"/>
                  </a:ext>
                </a:extLst>
              </a:tr>
              <a:tr h="681775">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200" dirty="0">
                          <a:sym typeface="+mn-lt"/>
                        </a:rPr>
                        <a:t>各组开发计划报告评审问题讨论会</a:t>
                      </a:r>
                      <a:endParaRPr lang="zh-CN" altLang="en-US" sz="1200" dirty="0">
                        <a:latin typeface="+mn-lt"/>
                        <a:ea typeface="+mn-ea"/>
                        <a:cs typeface="+mn-ea"/>
                        <a:sym typeface="+mn-lt"/>
                      </a:endParaRPr>
                    </a:p>
                  </a:txBody>
                  <a:tcPr marL="121920" marR="121920" marT="60960" marB="60960" anchor="ctr"/>
                </a:tc>
                <a:tc>
                  <a:txBody>
                    <a:bodyPr/>
                    <a:lstStyle/>
                    <a:p>
                      <a:r>
                        <a:rPr lang="zh-CN" altLang="en-US" sz="1200" dirty="0">
                          <a:solidFill>
                            <a:schemeClr val="tx1"/>
                          </a:solidFill>
                          <a:sym typeface="+mn-lt"/>
                        </a:rPr>
                        <a:t>各产品工作者、产品经理、开发经理、评审问题提出人针对评审问题进行沟通讨论，形成结论，并追踪至问题闭环</a:t>
                      </a:r>
                      <a:endParaRPr lang="zh-CN" altLang="en-US" sz="1200" dirty="0">
                        <a:solidFill>
                          <a:schemeClr val="tx1"/>
                        </a:solidFill>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200" kern="1200" dirty="0">
                        <a:solidFill>
                          <a:srgbClr val="0070C0"/>
                        </a:solidFill>
                        <a:latin typeface="+mn-lt"/>
                        <a:ea typeface="+mn-ea"/>
                        <a:cs typeface="+mn-ea"/>
                        <a:sym typeface="+mn-lt"/>
                      </a:endParaRPr>
                    </a:p>
                  </a:txBody>
                  <a:tcPr marL="121920" marR="121920" marT="60960" marB="60960" anchor="ctr"/>
                </a:tc>
                <a:extLst>
                  <a:ext uri="{0D108BD9-81ED-4DB2-BD59-A6C34878D82A}">
                    <a16:rowId xmlns:a16="http://schemas.microsoft.com/office/drawing/2014/main" val="757293535"/>
                  </a:ext>
                </a:extLst>
              </a:tr>
            </a:tbl>
          </a:graphicData>
        </a:graphic>
      </p:graphicFrame>
    </p:spTree>
    <p:extLst>
      <p:ext uri="{BB962C8B-B14F-4D97-AF65-F5344CB8AC3E}">
        <p14:creationId xmlns:p14="http://schemas.microsoft.com/office/powerpoint/2010/main" val="785361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01174" y="2463708"/>
            <a:ext cx="1929255" cy="2102542"/>
            <a:chOff x="785011" y="2251881"/>
            <a:chExt cx="1653860" cy="3138985"/>
          </a:xfrm>
          <a:solidFill>
            <a:schemeClr val="bg1">
              <a:lumMod val="85000"/>
            </a:schemeClr>
          </a:solidFill>
          <a:effectLst/>
        </p:grpSpPr>
        <p:sp>
          <p:nvSpPr>
            <p:cNvPr id="4" name="矩形 3"/>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板卡设计</a:t>
              </a:r>
              <a:endParaRPr lang="en-US" altLang="zh-CN" sz="1200" b="1" dirty="0">
                <a:solidFill>
                  <a:sysClr val="windowText" lastClr="000000"/>
                </a:solidFill>
                <a:cs typeface="+mn-ea"/>
                <a:sym typeface="+mn-lt"/>
              </a:endParaRPr>
            </a:p>
            <a:p>
              <a:pPr algn="ctr"/>
              <a:r>
                <a:rPr lang="zh-CN" altLang="en-US" sz="1200" b="1" dirty="0">
                  <a:solidFill>
                    <a:sysClr val="windowText" lastClr="000000"/>
                  </a:solidFill>
                  <a:cs typeface="+mn-ea"/>
                  <a:sym typeface="+mn-lt"/>
                </a:rPr>
                <a:t>线缆设计</a:t>
              </a:r>
            </a:p>
          </p:txBody>
        </p:sp>
        <p:sp>
          <p:nvSpPr>
            <p:cNvPr id="5" name="矩形 4"/>
            <p:cNvSpPr/>
            <p:nvPr/>
          </p:nvSpPr>
          <p:spPr>
            <a:xfrm>
              <a:off x="785011" y="2920621"/>
              <a:ext cx="1653860" cy="62779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200" dirty="0">
                  <a:cs typeface="+mn-ea"/>
                  <a:sym typeface="+mn-lt"/>
                </a:rPr>
                <a:t>主板、小板卡、线缆开发、主控</a:t>
              </a:r>
              <a:r>
                <a:rPr lang="en-US" altLang="zh-CN" sz="1200" dirty="0">
                  <a:cs typeface="+mn-ea"/>
                  <a:sym typeface="+mn-lt"/>
                </a:rPr>
                <a:t>FW</a:t>
              </a:r>
              <a:endParaRPr lang="zh-CN" altLang="en-US" sz="1200" dirty="0">
                <a:cs typeface="+mn-ea"/>
                <a:sym typeface="+mn-lt"/>
              </a:endParaRPr>
            </a:p>
          </p:txBody>
        </p:sp>
        <p:sp>
          <p:nvSpPr>
            <p:cNvPr id="6" name="矩形 5"/>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责任人：硬件工程师、电源工程师、</a:t>
              </a:r>
              <a:r>
                <a:rPr lang="en-US" altLang="zh-CN" sz="1200" dirty="0">
                  <a:solidFill>
                    <a:schemeClr val="tx1"/>
                  </a:solidFill>
                  <a:cs typeface="+mn-ea"/>
                  <a:sym typeface="+mn-lt"/>
                </a:rPr>
                <a:t>Layout</a:t>
              </a:r>
              <a:r>
                <a:rPr lang="zh-CN" altLang="en-US" sz="1200" dirty="0">
                  <a:solidFill>
                    <a:schemeClr val="tx1"/>
                  </a:solidFill>
                  <a:cs typeface="+mn-ea"/>
                  <a:sym typeface="+mn-lt"/>
                </a:rPr>
                <a:t>工程师、</a:t>
              </a:r>
              <a:r>
                <a:rPr lang="en-US" altLang="zh-CN" sz="1200" dirty="0">
                  <a:solidFill>
                    <a:schemeClr val="tx1"/>
                  </a:solidFill>
                  <a:cs typeface="+mn-ea"/>
                  <a:sym typeface="+mn-lt"/>
                </a:rPr>
                <a:t>SI</a:t>
              </a:r>
              <a:r>
                <a:rPr lang="zh-CN" altLang="en-US" sz="1200" dirty="0">
                  <a:solidFill>
                    <a:schemeClr val="tx1"/>
                  </a:solidFill>
                  <a:cs typeface="+mn-ea"/>
                  <a:sym typeface="+mn-lt"/>
                </a:rPr>
                <a:t>工程师、线缆工程师</a:t>
              </a:r>
            </a:p>
          </p:txBody>
        </p:sp>
      </p:grpSp>
      <p:grpSp>
        <p:nvGrpSpPr>
          <p:cNvPr id="7" name="组合 6"/>
          <p:cNvGrpSpPr/>
          <p:nvPr/>
        </p:nvGrpSpPr>
        <p:grpSpPr>
          <a:xfrm>
            <a:off x="2980542" y="2463708"/>
            <a:ext cx="1929255" cy="2102542"/>
            <a:chOff x="785011" y="2251881"/>
            <a:chExt cx="1653860" cy="3138985"/>
          </a:xfrm>
          <a:solidFill>
            <a:schemeClr val="bg1">
              <a:lumMod val="85000"/>
            </a:schemeClr>
          </a:solidFill>
          <a:effectLst/>
        </p:grpSpPr>
        <p:sp>
          <p:nvSpPr>
            <p:cNvPr id="9" name="矩形 8"/>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结构设计</a:t>
              </a:r>
            </a:p>
          </p:txBody>
        </p:sp>
        <p:sp>
          <p:nvSpPr>
            <p:cNvPr id="10" name="矩形 9"/>
            <p:cNvSpPr/>
            <p:nvPr/>
          </p:nvSpPr>
          <p:spPr>
            <a:xfrm>
              <a:off x="785011" y="2920621"/>
              <a:ext cx="1653860" cy="62779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机箱及周边开发</a:t>
              </a:r>
            </a:p>
          </p:txBody>
        </p:sp>
        <p:sp>
          <p:nvSpPr>
            <p:cNvPr id="11" name="矩形 10"/>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责任人：结构工程师、包装工程师</a:t>
              </a:r>
            </a:p>
          </p:txBody>
        </p:sp>
      </p:grpSp>
      <p:grpSp>
        <p:nvGrpSpPr>
          <p:cNvPr id="12" name="组合 11"/>
          <p:cNvGrpSpPr/>
          <p:nvPr/>
        </p:nvGrpSpPr>
        <p:grpSpPr>
          <a:xfrm>
            <a:off x="5171114" y="2463708"/>
            <a:ext cx="1929255" cy="2102542"/>
            <a:chOff x="785011" y="2251881"/>
            <a:chExt cx="1653860" cy="3138985"/>
          </a:xfrm>
          <a:solidFill>
            <a:schemeClr val="bg1">
              <a:lumMod val="85000"/>
            </a:schemeClr>
          </a:solidFill>
          <a:effectLst/>
        </p:grpSpPr>
        <p:sp>
          <p:nvSpPr>
            <p:cNvPr id="13" name="矩形 12"/>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ysClr val="windowText" lastClr="000000"/>
                  </a:solidFill>
                  <a:cs typeface="+mn-ea"/>
                  <a:sym typeface="+mn-lt"/>
                </a:rPr>
                <a:t>散热设计</a:t>
              </a:r>
            </a:p>
          </p:txBody>
        </p:sp>
        <p:sp>
          <p:nvSpPr>
            <p:cNvPr id="14" name="矩形 13"/>
            <p:cNvSpPr/>
            <p:nvPr/>
          </p:nvSpPr>
          <p:spPr>
            <a:xfrm>
              <a:off x="785011" y="2920621"/>
              <a:ext cx="1653860" cy="6277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散热器件</a:t>
              </a:r>
            </a:p>
          </p:txBody>
        </p:sp>
        <p:sp>
          <p:nvSpPr>
            <p:cNvPr id="15" name="矩形 14"/>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责任人：散热工程师</a:t>
              </a:r>
            </a:p>
          </p:txBody>
        </p:sp>
      </p:grpSp>
      <p:grpSp>
        <p:nvGrpSpPr>
          <p:cNvPr id="16" name="组合 15"/>
          <p:cNvGrpSpPr/>
          <p:nvPr/>
        </p:nvGrpSpPr>
        <p:grpSpPr>
          <a:xfrm>
            <a:off x="7361685" y="2463708"/>
            <a:ext cx="1929255" cy="2102542"/>
            <a:chOff x="785011" y="2251881"/>
            <a:chExt cx="1653860" cy="3138985"/>
          </a:xfrm>
          <a:solidFill>
            <a:schemeClr val="bg1">
              <a:lumMod val="85000"/>
            </a:schemeClr>
          </a:solidFill>
          <a:effectLst/>
        </p:grpSpPr>
        <p:sp>
          <p:nvSpPr>
            <p:cNvPr id="17" name="矩形 16"/>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ysClr val="windowText" lastClr="000000"/>
                  </a:solidFill>
                  <a:latin typeface="+mn-ea"/>
                  <a:cs typeface="+mn-ea"/>
                  <a:sym typeface="+mn-lt"/>
                </a:rPr>
                <a:t>FW </a:t>
              </a:r>
              <a:r>
                <a:rPr lang="zh-CN" altLang="en-US" sz="1200" b="1" dirty="0">
                  <a:solidFill>
                    <a:sysClr val="windowText" lastClr="000000"/>
                  </a:solidFill>
                  <a:latin typeface="+mn-ea"/>
                  <a:cs typeface="+mn-ea"/>
                  <a:sym typeface="+mn-lt"/>
                </a:rPr>
                <a:t>开发</a:t>
              </a:r>
            </a:p>
          </p:txBody>
        </p:sp>
        <p:sp>
          <p:nvSpPr>
            <p:cNvPr id="18" name="矩形 17"/>
            <p:cNvSpPr/>
            <p:nvPr/>
          </p:nvSpPr>
          <p:spPr>
            <a:xfrm>
              <a:off x="785011" y="2920621"/>
              <a:ext cx="1653860" cy="62779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cs typeface="+mn-ea"/>
                  <a:sym typeface="+mn-lt"/>
                </a:rPr>
                <a:t>BIOS</a:t>
              </a:r>
              <a:r>
                <a:rPr lang="zh-CN" altLang="en-US" sz="1200" dirty="0">
                  <a:cs typeface="+mn-ea"/>
                  <a:sym typeface="+mn-lt"/>
                </a:rPr>
                <a:t>、</a:t>
              </a:r>
              <a:r>
                <a:rPr lang="en-US" altLang="zh-CN" sz="1200" dirty="0">
                  <a:cs typeface="+mn-ea"/>
                  <a:sym typeface="+mn-lt"/>
                </a:rPr>
                <a:t>BMC</a:t>
              </a:r>
              <a:r>
                <a:rPr lang="zh-CN" altLang="en-US" sz="1200" dirty="0">
                  <a:cs typeface="+mn-ea"/>
                  <a:sym typeface="+mn-lt"/>
                </a:rPr>
                <a:t>、</a:t>
              </a:r>
              <a:r>
                <a:rPr lang="en-US" altLang="zh-CN" sz="1200" dirty="0">
                  <a:cs typeface="+mn-ea"/>
                  <a:sym typeface="+mn-lt"/>
                </a:rPr>
                <a:t>CMM FW</a:t>
              </a:r>
              <a:r>
                <a:rPr lang="zh-CN" altLang="en-US" sz="1200" dirty="0">
                  <a:cs typeface="+mn-ea"/>
                  <a:sym typeface="+mn-lt"/>
                </a:rPr>
                <a:t>开发</a:t>
              </a:r>
            </a:p>
          </p:txBody>
        </p:sp>
        <p:sp>
          <p:nvSpPr>
            <p:cNvPr id="19" name="矩形 18"/>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en-US" altLang="zh-CN" sz="1200" dirty="0">
                  <a:solidFill>
                    <a:schemeClr val="tx1"/>
                  </a:solidFill>
                  <a:cs typeface="+mn-ea"/>
                  <a:sym typeface="+mn-lt"/>
                </a:rPr>
                <a:t>BIOS</a:t>
              </a:r>
              <a:r>
                <a:rPr lang="zh-CN" altLang="en-US" sz="1200" dirty="0">
                  <a:solidFill>
                    <a:schemeClr val="tx1"/>
                  </a:solidFill>
                  <a:cs typeface="+mn-ea"/>
                  <a:sym typeface="+mn-lt"/>
                </a:rPr>
                <a:t>、</a:t>
              </a:r>
              <a:r>
                <a:rPr lang="en-US" altLang="zh-CN" sz="1200" dirty="0">
                  <a:solidFill>
                    <a:schemeClr val="tx1"/>
                  </a:solidFill>
                  <a:cs typeface="+mn-ea"/>
                  <a:sym typeface="+mn-lt"/>
                </a:rPr>
                <a:t>BMC</a:t>
              </a:r>
              <a:r>
                <a:rPr lang="zh-CN" altLang="en-US" sz="1200" dirty="0">
                  <a:solidFill>
                    <a:schemeClr val="tx1"/>
                  </a:solidFill>
                  <a:cs typeface="+mn-ea"/>
                  <a:sym typeface="+mn-lt"/>
                </a:rPr>
                <a:t>、</a:t>
              </a:r>
              <a:r>
                <a:rPr lang="en-US" altLang="zh-CN" sz="1200" dirty="0">
                  <a:solidFill>
                    <a:schemeClr val="tx1"/>
                  </a:solidFill>
                  <a:cs typeface="+mn-ea"/>
                  <a:sym typeface="+mn-lt"/>
                </a:rPr>
                <a:t>CMM</a:t>
              </a:r>
              <a:r>
                <a:rPr lang="zh-CN" altLang="en-US" sz="1200" dirty="0">
                  <a:solidFill>
                    <a:schemeClr val="tx1"/>
                  </a:solidFill>
                  <a:cs typeface="+mn-ea"/>
                  <a:sym typeface="+mn-lt"/>
                </a:rPr>
                <a:t>工程师</a:t>
              </a:r>
              <a:r>
                <a:rPr lang="en-US" altLang="zh-CN" sz="1200" dirty="0">
                  <a:solidFill>
                    <a:schemeClr val="tx1"/>
                  </a:solidFill>
                  <a:cs typeface="+mn-ea"/>
                  <a:sym typeface="+mn-lt"/>
                </a:rPr>
                <a:t> </a:t>
              </a:r>
              <a:endParaRPr lang="zh-CN" altLang="en-US" sz="1200" dirty="0">
                <a:solidFill>
                  <a:schemeClr val="tx1"/>
                </a:solidFill>
                <a:cs typeface="+mn-ea"/>
                <a:sym typeface="+mn-lt"/>
              </a:endParaRPr>
            </a:p>
          </p:txBody>
        </p:sp>
      </p:grpSp>
      <p:sp>
        <p:nvSpPr>
          <p:cNvPr id="21" name="矩形 20"/>
          <p:cNvSpPr/>
          <p:nvPr/>
        </p:nvSpPr>
        <p:spPr>
          <a:xfrm>
            <a:off x="239349" y="925369"/>
            <a:ext cx="11503643" cy="861774"/>
          </a:xfrm>
          <a:prstGeom prst="rect">
            <a:avLst/>
          </a:prstGeom>
        </p:spPr>
        <p:txBody>
          <a:bodyPr wrap="square">
            <a:spAutoFit/>
          </a:bodyPr>
          <a:lstStyle/>
          <a:p>
            <a:r>
              <a:rPr lang="zh-CN" altLang="en-US" sz="1400" b="1" dirty="0">
                <a:solidFill>
                  <a:schemeClr val="tx1">
                    <a:lumMod val="75000"/>
                    <a:lumOff val="25000"/>
                  </a:schemeClr>
                </a:solidFill>
                <a:cs typeface="+mn-ea"/>
                <a:sym typeface="+mn-lt"/>
              </a:rPr>
              <a:t>详设设计：</a:t>
            </a:r>
            <a:endParaRPr lang="en-US" altLang="zh-CN" sz="1400" b="1" dirty="0">
              <a:solidFill>
                <a:schemeClr val="tx1">
                  <a:lumMod val="75000"/>
                  <a:lumOff val="25000"/>
                </a:schemeClr>
              </a:solidFill>
              <a:cs typeface="+mn-ea"/>
              <a:sym typeface="+mn-lt"/>
            </a:endParaRPr>
          </a:p>
          <a:p>
            <a:pPr marL="285750" indent="-285750">
              <a:buFont typeface="Wingdings" panose="05000000000000000000" pitchFamily="2" charset="2"/>
              <a:buChar char="l"/>
            </a:pPr>
            <a:r>
              <a:rPr lang="zh-CN" altLang="en-US" sz="1200" dirty="0">
                <a:solidFill>
                  <a:schemeClr val="tx1">
                    <a:lumMod val="75000"/>
                    <a:lumOff val="25000"/>
                  </a:schemeClr>
                </a:solidFill>
                <a:cs typeface="+mn-ea"/>
                <a:sym typeface="+mn-lt"/>
              </a:rPr>
              <a:t>详设设计</a:t>
            </a:r>
            <a:r>
              <a:rPr lang="zh-CN" altLang="en-US" sz="1200" b="1" dirty="0">
                <a:solidFill>
                  <a:schemeClr val="tx1">
                    <a:lumMod val="75000"/>
                    <a:lumOff val="25000"/>
                  </a:schemeClr>
                </a:solidFill>
                <a:cs typeface="+mn-ea"/>
                <a:sym typeface="+mn-lt"/>
              </a:rPr>
              <a:t>启动</a:t>
            </a:r>
            <a:r>
              <a:rPr lang="zh-CN" altLang="en-US" sz="1200" dirty="0">
                <a:solidFill>
                  <a:schemeClr val="tx1">
                    <a:lumMod val="75000"/>
                    <a:lumOff val="25000"/>
                  </a:schemeClr>
                </a:solidFill>
                <a:cs typeface="+mn-ea"/>
                <a:sym typeface="+mn-lt"/>
              </a:rPr>
              <a:t>时机：</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TR2</a:t>
            </a:r>
            <a:r>
              <a:rPr lang="zh-CN" altLang="en-US" sz="1200" dirty="0">
                <a:solidFill>
                  <a:schemeClr val="tx1">
                    <a:lumMod val="75000"/>
                    <a:lumOff val="25000"/>
                  </a:schemeClr>
                </a:solidFill>
                <a:cs typeface="+mn-ea"/>
                <a:sym typeface="+mn-lt"/>
              </a:rPr>
              <a:t>系统总体方案评审</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/TR3</a:t>
            </a:r>
            <a:r>
              <a:rPr lang="zh-CN" altLang="en-US" sz="1200" dirty="0">
                <a:solidFill>
                  <a:schemeClr val="tx1">
                    <a:lumMod val="75000"/>
                    <a:lumOff val="25000"/>
                  </a:schemeClr>
                </a:solidFill>
                <a:cs typeface="+mn-ea"/>
                <a:sym typeface="+mn-lt"/>
              </a:rPr>
              <a:t>概要设计评审完成；</a:t>
            </a:r>
            <a:endParaRPr lang="en-US" altLang="zh-CN" sz="1200" dirty="0">
              <a:solidFill>
                <a:schemeClr val="tx1">
                  <a:lumMod val="75000"/>
                  <a:lumOff val="25000"/>
                </a:schemeClr>
              </a:solidFill>
              <a:cs typeface="+mn-ea"/>
              <a:sym typeface="+mn-lt"/>
            </a:endParaRPr>
          </a:p>
          <a:p>
            <a:pPr marL="285750" indent="-285750">
              <a:buFont typeface="Wingdings" panose="05000000000000000000" pitchFamily="2" charset="2"/>
              <a:buChar char="l"/>
            </a:pPr>
            <a:r>
              <a:rPr lang="zh-CN" altLang="en-US" sz="1200" dirty="0">
                <a:solidFill>
                  <a:schemeClr val="tx1">
                    <a:lumMod val="75000"/>
                    <a:lumOff val="25000"/>
                  </a:schemeClr>
                </a:solidFill>
                <a:cs typeface="+mn-ea"/>
                <a:sym typeface="+mn-lt"/>
              </a:rPr>
              <a:t>详设设计依据：</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PRD</a:t>
            </a:r>
            <a:r>
              <a:rPr lang="zh-CN" altLang="en-US" sz="1200" dirty="0">
                <a:solidFill>
                  <a:schemeClr val="tx1">
                    <a:lumMod val="75000"/>
                    <a:lumOff val="25000"/>
                  </a:schemeClr>
                </a:solidFill>
                <a:cs typeface="+mn-ea"/>
                <a:sym typeface="+mn-lt"/>
              </a:rPr>
              <a:t>；</a:t>
            </a:r>
            <a:endParaRPr lang="en-US" altLang="zh-CN" sz="1200" dirty="0">
              <a:solidFill>
                <a:schemeClr val="tx1">
                  <a:lumMod val="75000"/>
                  <a:lumOff val="25000"/>
                </a:schemeClr>
              </a:solidFill>
              <a:cs typeface="+mn-ea"/>
              <a:sym typeface="+mn-lt"/>
            </a:endParaRPr>
          </a:p>
          <a:p>
            <a:pPr marL="285750" indent="-285750">
              <a:buFont typeface="Wingdings" panose="05000000000000000000" pitchFamily="2" charset="2"/>
              <a:buChar char="l"/>
            </a:pPr>
            <a:r>
              <a:rPr lang="zh-CN" altLang="en-US" sz="1200" dirty="0">
                <a:solidFill>
                  <a:schemeClr val="tx1">
                    <a:lumMod val="75000"/>
                    <a:lumOff val="25000"/>
                  </a:schemeClr>
                </a:solidFill>
                <a:cs typeface="+mn-ea"/>
                <a:sym typeface="+mn-lt"/>
              </a:rPr>
              <a:t>详细设计任务：各模块详细设计、物料备料</a:t>
            </a:r>
            <a:r>
              <a:rPr lang="zh-CN" altLang="en-US" sz="1200" dirty="0" smtClean="0">
                <a:solidFill>
                  <a:schemeClr val="tx1">
                    <a:lumMod val="75000"/>
                    <a:lumOff val="25000"/>
                  </a:schemeClr>
                </a:solidFill>
                <a:cs typeface="+mn-ea"/>
                <a:sym typeface="+mn-lt"/>
              </a:rPr>
              <a:t>、</a:t>
            </a:r>
            <a:r>
              <a:rPr lang="en-US" altLang="zh-CN" sz="1200" dirty="0" smtClean="0">
                <a:solidFill>
                  <a:schemeClr val="tx1">
                    <a:lumMod val="75000"/>
                    <a:lumOff val="25000"/>
                  </a:schemeClr>
                </a:solidFill>
                <a:cs typeface="+mn-ea"/>
                <a:sym typeface="+mn-lt"/>
              </a:rPr>
              <a:t>Power On </a:t>
            </a:r>
            <a:r>
              <a:rPr lang="zh-CN" altLang="en-US" sz="1200" dirty="0" smtClean="0">
                <a:solidFill>
                  <a:schemeClr val="tx1">
                    <a:lumMod val="75000"/>
                    <a:lumOff val="25000"/>
                  </a:schemeClr>
                </a:solidFill>
                <a:cs typeface="+mn-ea"/>
                <a:sym typeface="+mn-lt"/>
              </a:rPr>
              <a:t>测试计划、</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EVT</a:t>
            </a:r>
            <a:r>
              <a:rPr lang="zh-CN" altLang="en-US" sz="1200" dirty="0">
                <a:solidFill>
                  <a:schemeClr val="tx1">
                    <a:lumMod val="75000"/>
                    <a:lumOff val="25000"/>
                  </a:schemeClr>
                </a:solidFill>
                <a:cs typeface="+mn-ea"/>
                <a:sym typeface="+mn-lt"/>
              </a:rPr>
              <a:t>测试计划。</a:t>
            </a:r>
            <a:endParaRPr lang="en-US" altLang="zh-CN" sz="1200" dirty="0">
              <a:solidFill>
                <a:schemeClr val="tx1">
                  <a:lumMod val="75000"/>
                  <a:lumOff val="25000"/>
                </a:schemeClr>
              </a:solidFill>
              <a:cs typeface="+mn-ea"/>
              <a:sym typeface="+mn-lt"/>
            </a:endParaRPr>
          </a:p>
        </p:txBody>
      </p:sp>
      <p:grpSp>
        <p:nvGrpSpPr>
          <p:cNvPr id="22" name="组合 21"/>
          <p:cNvGrpSpPr/>
          <p:nvPr/>
        </p:nvGrpSpPr>
        <p:grpSpPr>
          <a:xfrm>
            <a:off x="9619693" y="2463708"/>
            <a:ext cx="1929255" cy="2102542"/>
            <a:chOff x="785011" y="2251881"/>
            <a:chExt cx="1653860" cy="3138985"/>
          </a:xfrm>
          <a:solidFill>
            <a:schemeClr val="bg1">
              <a:lumMod val="85000"/>
            </a:schemeClr>
          </a:solidFill>
          <a:effectLst/>
        </p:grpSpPr>
        <p:sp>
          <p:nvSpPr>
            <p:cNvPr id="23" name="矩形 22"/>
            <p:cNvSpPr/>
            <p:nvPr/>
          </p:nvSpPr>
          <p:spPr>
            <a:xfrm>
              <a:off x="785011" y="2251881"/>
              <a:ext cx="1653860" cy="6687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ysClr val="windowText" lastClr="000000"/>
                  </a:solidFill>
                  <a:latin typeface="+mn-ea"/>
                  <a:cs typeface="+mn-ea"/>
                  <a:sym typeface="+mn-lt"/>
                </a:rPr>
                <a:t>ID</a:t>
              </a:r>
              <a:endParaRPr lang="zh-CN" altLang="en-US" sz="1200" b="1" dirty="0">
                <a:solidFill>
                  <a:sysClr val="windowText" lastClr="000000"/>
                </a:solidFill>
                <a:latin typeface="+mn-ea"/>
                <a:cs typeface="+mn-ea"/>
                <a:sym typeface="+mn-lt"/>
              </a:endParaRPr>
            </a:p>
          </p:txBody>
        </p:sp>
        <p:sp>
          <p:nvSpPr>
            <p:cNvPr id="24" name="矩形 23"/>
            <p:cNvSpPr/>
            <p:nvPr/>
          </p:nvSpPr>
          <p:spPr>
            <a:xfrm>
              <a:off x="785011" y="2920621"/>
              <a:ext cx="1653860" cy="6277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cs typeface="+mn-ea"/>
                  <a:sym typeface="+mn-lt"/>
                </a:rPr>
                <a:t>产品</a:t>
              </a:r>
              <a:r>
                <a:rPr lang="en-US" altLang="zh-CN" sz="1200" dirty="0">
                  <a:cs typeface="+mn-ea"/>
                  <a:sym typeface="+mn-lt"/>
                </a:rPr>
                <a:t>ID</a:t>
              </a:r>
              <a:r>
                <a:rPr lang="zh-CN" altLang="en-US" sz="1200" dirty="0">
                  <a:cs typeface="+mn-ea"/>
                  <a:sym typeface="+mn-lt"/>
                </a:rPr>
                <a:t>设计</a:t>
              </a:r>
            </a:p>
          </p:txBody>
        </p:sp>
        <p:sp>
          <p:nvSpPr>
            <p:cNvPr id="25" name="矩形 24"/>
            <p:cNvSpPr/>
            <p:nvPr/>
          </p:nvSpPr>
          <p:spPr>
            <a:xfrm>
              <a:off x="785011" y="3548418"/>
              <a:ext cx="1653860" cy="184244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cs typeface="+mn-ea"/>
                  <a:sym typeface="+mn-lt"/>
                </a:rPr>
                <a:t>责任人：</a:t>
              </a:r>
              <a:r>
                <a:rPr lang="en-US" altLang="zh-CN" sz="1200" dirty="0">
                  <a:solidFill>
                    <a:schemeClr val="tx1"/>
                  </a:solidFill>
                  <a:cs typeface="+mn-ea"/>
                  <a:sym typeface="+mn-lt"/>
                </a:rPr>
                <a:t>ID</a:t>
              </a:r>
              <a:r>
                <a:rPr lang="zh-CN" altLang="en-US" sz="1200" dirty="0">
                  <a:solidFill>
                    <a:schemeClr val="tx1"/>
                  </a:solidFill>
                  <a:cs typeface="+mn-ea"/>
                  <a:sym typeface="+mn-lt"/>
                </a:rPr>
                <a:t>工程师、平面工程师</a:t>
              </a:r>
            </a:p>
          </p:txBody>
        </p:sp>
      </p:grpSp>
      <p:sp>
        <p:nvSpPr>
          <p:cNvPr id="32" name="文本占位符 1">
            <a:extLst>
              <a:ext uri="{FF2B5EF4-FFF2-40B4-BE49-F238E27FC236}">
                <a16:creationId xmlns:a16="http://schemas.microsoft.com/office/drawing/2014/main" id="{EB7291E7-BB52-466D-BC77-9B02653EB2B4}"/>
              </a:ext>
            </a:extLst>
          </p:cNvPr>
          <p:cNvSpPr>
            <a:spLocks noGrp="1"/>
          </p:cNvSpPr>
          <p:nvPr>
            <p:ph type="body" sz="quarter" idx="13"/>
          </p:nvPr>
        </p:nvSpPr>
        <p:spPr/>
        <p:txBody>
          <a:bodyPr/>
          <a:lstStyle/>
          <a:p>
            <a:r>
              <a:rPr lang="en-US" altLang="zh-CN" dirty="0"/>
              <a:t>L6</a:t>
            </a:r>
            <a:r>
              <a:rPr lang="zh-CN" altLang="en-US" dirty="0"/>
              <a:t>详细设计</a:t>
            </a:r>
            <a:r>
              <a:rPr lang="en-US" altLang="zh-CN" dirty="0"/>
              <a:t>——</a:t>
            </a:r>
            <a:r>
              <a:rPr lang="zh-CN" altLang="en-US" dirty="0"/>
              <a:t>总述</a:t>
            </a:r>
          </a:p>
        </p:txBody>
      </p:sp>
      <p:sp>
        <p:nvSpPr>
          <p:cNvPr id="26" name="标题 7">
            <a:extLst>
              <a:ext uri="{FF2B5EF4-FFF2-40B4-BE49-F238E27FC236}">
                <a16:creationId xmlns:a16="http://schemas.microsoft.com/office/drawing/2014/main" id="{BC396957-5FAE-41CD-8D3C-C0E579E5DDDD}"/>
              </a:ext>
            </a:extLst>
          </p:cNvPr>
          <p:cNvSpPr txBox="1">
            <a:spLocks/>
          </p:cNvSpPr>
          <p:nvPr/>
        </p:nvSpPr>
        <p:spPr>
          <a:xfrm>
            <a:off x="3529389" y="1990108"/>
            <a:ext cx="5257509" cy="352605"/>
          </a:xfrm>
          <a:prstGeom prst="rect">
            <a:avLst/>
          </a:prstGeom>
          <a:solidFill>
            <a:schemeClr val="accent5"/>
          </a:solidFill>
          <a:ln>
            <a:noFill/>
          </a:ln>
        </p:spPr>
        <p:style>
          <a:lnRef idx="2">
            <a:schemeClr val="accent2">
              <a:shade val="50000"/>
            </a:schemeClr>
          </a:lnRef>
          <a:fillRef idx="1">
            <a:schemeClr val="accent2"/>
          </a:fillRef>
          <a:effectRef idx="0">
            <a:schemeClr val="accent2"/>
          </a:effectRef>
          <a:fontRef idx="minor">
            <a:schemeClr val="lt1"/>
          </a:fontRef>
        </p:style>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r>
              <a:rPr lang="zh-CN" altLang="en-US" sz="1400" b="1" dirty="0">
                <a:solidFill>
                  <a:schemeClr val="bg1">
                    <a:lumMod val="95000"/>
                  </a:schemeClr>
                </a:solidFill>
                <a:cs typeface="+mn-ea"/>
                <a:sym typeface="+mn-lt"/>
              </a:rPr>
              <a:t>新产品开发</a:t>
            </a:r>
            <a:endParaRPr lang="zh-CN" altLang="en-US" sz="1400" b="1" dirty="0">
              <a:solidFill>
                <a:schemeClr val="bg1">
                  <a:lumMod val="95000"/>
                </a:schemeClr>
              </a:solidFill>
              <a:latin typeface="+mn-ea"/>
              <a:ea typeface="+mn-ea"/>
            </a:endParaRPr>
          </a:p>
        </p:txBody>
      </p:sp>
      <p:cxnSp>
        <p:nvCxnSpPr>
          <p:cNvPr id="2" name="直接连接符 1">
            <a:extLst>
              <a:ext uri="{FF2B5EF4-FFF2-40B4-BE49-F238E27FC236}">
                <a16:creationId xmlns:a16="http://schemas.microsoft.com/office/drawing/2014/main" id="{6EDFFC98-3DDD-6B83-A50C-8E4CBD70CDDA}"/>
              </a:ext>
            </a:extLst>
          </p:cNvPr>
          <p:cNvCxnSpPr/>
          <p:nvPr/>
        </p:nvCxnSpPr>
        <p:spPr>
          <a:xfrm>
            <a:off x="0" y="1856339"/>
            <a:ext cx="12192000"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397553" y="4697288"/>
            <a:ext cx="11960163" cy="1237262"/>
          </a:xfrm>
          <a:prstGeom prst="rect">
            <a:avLst/>
          </a:prstGeom>
          <a:noFill/>
        </p:spPr>
        <p:txBody>
          <a:bodyPr wrap="square" rtlCol="0">
            <a:spAutoFit/>
          </a:bodyPr>
          <a:lstStyle/>
          <a:p>
            <a:pPr>
              <a:lnSpc>
                <a:spcPct val="120000"/>
              </a:lnSpc>
            </a:pPr>
            <a:r>
              <a:rPr lang="zh-CN" altLang="en-US" sz="1200" b="1" dirty="0">
                <a:solidFill>
                  <a:srgbClr val="178AA1"/>
                </a:solidFill>
                <a:latin typeface="+mn-ea"/>
              </a:rPr>
              <a:t>架构师重点关注：</a:t>
            </a:r>
            <a:endParaRPr lang="en-US" altLang="zh-CN" sz="1200" b="1" dirty="0">
              <a:solidFill>
                <a:srgbClr val="178AA1"/>
              </a:solidFill>
              <a:latin typeface="+mn-ea"/>
            </a:endParaRPr>
          </a:p>
          <a:p>
            <a:pPr>
              <a:lnSpc>
                <a:spcPct val="120000"/>
              </a:lnSpc>
            </a:pPr>
            <a:r>
              <a:rPr lang="en-US" altLang="zh-CN" sz="1200" dirty="0" smtClean="0">
                <a:solidFill>
                  <a:schemeClr val="tx1">
                    <a:lumMod val="75000"/>
                    <a:lumOff val="25000"/>
                  </a:schemeClr>
                </a:solidFill>
                <a:latin typeface="+mn-ea"/>
              </a:rPr>
              <a:t>1</a:t>
            </a:r>
            <a:r>
              <a:rPr lang="zh-CN" altLang="en-US" sz="1200" dirty="0" smtClean="0">
                <a:solidFill>
                  <a:schemeClr val="tx1">
                    <a:lumMod val="75000"/>
                    <a:lumOff val="25000"/>
                  </a:schemeClr>
                </a:solidFill>
                <a:latin typeface="+mn-ea"/>
              </a:rPr>
              <a:t>）整机系统线缆合理性评估、走线评审；</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2</a:t>
            </a:r>
            <a:r>
              <a:rPr lang="zh-CN" altLang="en-US" sz="1200" dirty="0" smtClean="0">
                <a:solidFill>
                  <a:schemeClr val="tx1">
                    <a:lumMod val="75000"/>
                    <a:lumOff val="25000"/>
                  </a:schemeClr>
                </a:solidFill>
                <a:latin typeface="+mn-ea"/>
              </a:rPr>
              <a:t>）参与各技术组、测试组同行评审（例如：结构设计、散热设计、</a:t>
            </a:r>
            <a:r>
              <a:rPr lang="en-US" altLang="zh-CN" sz="1200" dirty="0" smtClean="0">
                <a:solidFill>
                  <a:schemeClr val="tx1">
                    <a:lumMod val="75000"/>
                    <a:lumOff val="25000"/>
                  </a:schemeClr>
                </a:solidFill>
                <a:latin typeface="+mn-ea"/>
              </a:rPr>
              <a:t>SIT EVT</a:t>
            </a:r>
            <a:r>
              <a:rPr lang="zh-CN" altLang="en-US" sz="1200" dirty="0" smtClean="0">
                <a:solidFill>
                  <a:schemeClr val="tx1">
                    <a:lumMod val="75000"/>
                    <a:lumOff val="25000"/>
                  </a:schemeClr>
                </a:solidFill>
                <a:latin typeface="+mn-ea"/>
              </a:rPr>
              <a:t>测试计划、</a:t>
            </a:r>
            <a:r>
              <a:rPr lang="en-US" altLang="zh-CN" sz="1200" dirty="0" smtClean="0">
                <a:solidFill>
                  <a:schemeClr val="tx1">
                    <a:lumMod val="75000"/>
                    <a:lumOff val="25000"/>
                  </a:schemeClr>
                </a:solidFill>
                <a:latin typeface="+mn-ea"/>
              </a:rPr>
              <a:t>Power-On</a:t>
            </a:r>
            <a:r>
              <a:rPr lang="zh-CN" altLang="en-US" sz="1200" dirty="0" smtClean="0">
                <a:solidFill>
                  <a:schemeClr val="tx1">
                    <a:lumMod val="75000"/>
                    <a:lumOff val="25000"/>
                  </a:schemeClr>
                </a:solidFill>
                <a:latin typeface="+mn-ea"/>
              </a:rPr>
              <a:t>计划）；需满足系统方案设计要求，含六性的要求；</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3</a:t>
            </a:r>
            <a:r>
              <a:rPr lang="zh-CN" altLang="en-US" sz="1200" dirty="0" smtClean="0">
                <a:solidFill>
                  <a:schemeClr val="tx1">
                    <a:lumMod val="75000"/>
                    <a:lumOff val="25000"/>
                  </a:schemeClr>
                </a:solidFill>
                <a:latin typeface="+mn-ea"/>
              </a:rPr>
              <a:t>）重点方案、设计问题统筹：统筹问题、问题责任人监控、问题追踪、最终闭环；</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4</a:t>
            </a:r>
            <a:r>
              <a:rPr lang="zh-CN" altLang="en-US" sz="1200" dirty="0" smtClean="0">
                <a:solidFill>
                  <a:schemeClr val="tx1">
                    <a:lumMod val="75000"/>
                    <a:lumOff val="25000"/>
                  </a:schemeClr>
                </a:solidFill>
                <a:latin typeface="+mn-ea"/>
              </a:rPr>
              <a:t>）参与各类新开发模块报价确认；</a:t>
            </a:r>
            <a:endParaRPr lang="en-US" altLang="zh-CN" sz="1200" dirty="0" smtClean="0">
              <a:solidFill>
                <a:schemeClr val="tx1">
                  <a:lumMod val="75000"/>
                  <a:lumOff val="25000"/>
                </a:schemeClr>
              </a:solidFill>
              <a:latin typeface="+mn-ea"/>
            </a:endParaRPr>
          </a:p>
        </p:txBody>
      </p:sp>
      <p:sp>
        <p:nvSpPr>
          <p:cNvPr id="8" name="十字星 7"/>
          <p:cNvSpPr/>
          <p:nvPr/>
        </p:nvSpPr>
        <p:spPr>
          <a:xfrm>
            <a:off x="239349" y="4697288"/>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8" name="十字星 27"/>
          <p:cNvSpPr/>
          <p:nvPr/>
        </p:nvSpPr>
        <p:spPr>
          <a:xfrm>
            <a:off x="194892" y="6082283"/>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9" name="文本框 28"/>
          <p:cNvSpPr txBox="1"/>
          <p:nvPr/>
        </p:nvSpPr>
        <p:spPr>
          <a:xfrm>
            <a:off x="419086" y="6047198"/>
            <a:ext cx="3624593" cy="738344"/>
          </a:xfrm>
          <a:prstGeom prst="rect">
            <a:avLst/>
          </a:prstGeom>
          <a:noFill/>
        </p:spPr>
        <p:txBody>
          <a:bodyPr wrap="square" rtlCol="0">
            <a:spAutoFit/>
          </a:bodyPr>
          <a:lstStyle/>
          <a:p>
            <a:pPr>
              <a:lnSpc>
                <a:spcPct val="120000"/>
              </a:lnSpc>
            </a:pPr>
            <a:r>
              <a:rPr lang="zh-CN" altLang="en-US" sz="1200" b="1" dirty="0">
                <a:solidFill>
                  <a:srgbClr val="178AA1"/>
                </a:solidFill>
                <a:latin typeface="+mn-ea"/>
              </a:rPr>
              <a:t>产品工程师重点关注：</a:t>
            </a:r>
            <a:endParaRPr lang="en-US" altLang="zh-CN" sz="1200" b="1" dirty="0">
              <a:solidFill>
                <a:srgbClr val="178AA1"/>
              </a:solidFill>
              <a:latin typeface="+mn-ea"/>
            </a:endParaRPr>
          </a:p>
          <a:p>
            <a:pPr>
              <a:lnSpc>
                <a:spcPct val="120000"/>
              </a:lnSpc>
            </a:pPr>
            <a:r>
              <a:rPr lang="en-US" altLang="zh-CN" sz="1200" dirty="0" smtClean="0">
                <a:solidFill>
                  <a:schemeClr val="tx1">
                    <a:lumMod val="75000"/>
                    <a:lumOff val="25000"/>
                  </a:schemeClr>
                </a:solidFill>
                <a:latin typeface="+mn-ea"/>
              </a:rPr>
              <a:t>1</a:t>
            </a:r>
            <a:r>
              <a:rPr lang="zh-CN" altLang="en-US" sz="1200" dirty="0" smtClean="0">
                <a:solidFill>
                  <a:schemeClr val="tx1">
                    <a:lumMod val="75000"/>
                    <a:lumOff val="25000"/>
                  </a:schemeClr>
                </a:solidFill>
                <a:latin typeface="+mn-ea"/>
              </a:rPr>
              <a:t>）通用部件清单：是否涉及更新；</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2</a:t>
            </a:r>
            <a:r>
              <a:rPr lang="zh-CN" altLang="en-US" sz="1200" dirty="0" smtClean="0">
                <a:solidFill>
                  <a:schemeClr val="tx1">
                    <a:lumMod val="75000"/>
                    <a:lumOff val="25000"/>
                  </a:schemeClr>
                </a:solidFill>
                <a:latin typeface="+mn-ea"/>
              </a:rPr>
              <a:t>）评审各单位测试计划；</a:t>
            </a:r>
            <a:endParaRPr lang="en-US" altLang="zh-CN" sz="1200" dirty="0" smtClean="0">
              <a:solidFill>
                <a:schemeClr val="tx1">
                  <a:lumMod val="75000"/>
                  <a:lumOff val="25000"/>
                </a:schemeClr>
              </a:solidFill>
              <a:latin typeface="+mn-ea"/>
            </a:endParaRPr>
          </a:p>
        </p:txBody>
      </p:sp>
      <p:sp>
        <p:nvSpPr>
          <p:cNvPr id="30" name="文本框 29"/>
          <p:cNvSpPr txBox="1"/>
          <p:nvPr/>
        </p:nvSpPr>
        <p:spPr>
          <a:xfrm>
            <a:off x="3529389" y="6248452"/>
            <a:ext cx="2882914" cy="516745"/>
          </a:xfrm>
          <a:prstGeom prst="rect">
            <a:avLst/>
          </a:prstGeom>
          <a:noFill/>
        </p:spPr>
        <p:txBody>
          <a:bodyPr wrap="square" rtlCol="0">
            <a:spAutoFit/>
          </a:bodyPr>
          <a:lstStyle/>
          <a:p>
            <a:pPr>
              <a:lnSpc>
                <a:spcPct val="120000"/>
              </a:lnSpc>
            </a:pPr>
            <a:r>
              <a:rPr lang="en-US" altLang="zh-CN" sz="1200" dirty="0" smtClean="0">
                <a:solidFill>
                  <a:schemeClr val="tx1">
                    <a:lumMod val="75000"/>
                    <a:lumOff val="25000"/>
                  </a:schemeClr>
                </a:solidFill>
                <a:latin typeface="+mn-ea"/>
              </a:rPr>
              <a:t>3</a:t>
            </a:r>
            <a:r>
              <a:rPr lang="zh-CN" altLang="en-US" sz="1200" dirty="0" smtClean="0">
                <a:solidFill>
                  <a:schemeClr val="tx1">
                    <a:lumMod val="75000"/>
                    <a:lumOff val="25000"/>
                  </a:schemeClr>
                </a:solidFill>
                <a:latin typeface="+mn-ea"/>
              </a:rPr>
              <a:t>）系统方案、各单位详细方案；</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4</a:t>
            </a:r>
            <a:r>
              <a:rPr lang="zh-CN" altLang="en-US" sz="1200" dirty="0" smtClean="0">
                <a:solidFill>
                  <a:schemeClr val="tx1">
                    <a:lumMod val="75000"/>
                    <a:lumOff val="25000"/>
                  </a:schemeClr>
                </a:solidFill>
                <a:latin typeface="+mn-ea"/>
              </a:rPr>
              <a:t>）关注六性：项目组落实情况；</a:t>
            </a:r>
            <a:endParaRPr lang="en-US" altLang="zh-CN" sz="1200" dirty="0" smtClean="0">
              <a:solidFill>
                <a:schemeClr val="tx1">
                  <a:lumMod val="75000"/>
                  <a:lumOff val="25000"/>
                </a:schemeClr>
              </a:solidFill>
              <a:latin typeface="+mn-ea"/>
            </a:endParaRPr>
          </a:p>
        </p:txBody>
      </p:sp>
    </p:spTree>
    <p:extLst>
      <p:ext uri="{BB962C8B-B14F-4D97-AF65-F5344CB8AC3E}">
        <p14:creationId xmlns:p14="http://schemas.microsoft.com/office/powerpoint/2010/main" val="16285127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7833575-80C8-4C8D-A6E1-5363DFA2BA70}"/>
              </a:ext>
            </a:extLst>
          </p:cNvPr>
          <p:cNvSpPr>
            <a:spLocks noGrp="1"/>
          </p:cNvSpPr>
          <p:nvPr>
            <p:ph type="body" sz="quarter" idx="13"/>
          </p:nvPr>
        </p:nvSpPr>
        <p:spPr/>
        <p:txBody>
          <a:bodyPr/>
          <a:lstStyle/>
          <a:p>
            <a:r>
              <a:rPr lang="en-US" altLang="zh-CN" dirty="0"/>
              <a:t>L6</a:t>
            </a:r>
            <a:r>
              <a:rPr lang="zh-CN" altLang="en-US" dirty="0"/>
              <a:t>详细设计</a:t>
            </a:r>
            <a:r>
              <a:rPr lang="en-US" altLang="zh-CN" dirty="0"/>
              <a:t>——</a:t>
            </a:r>
            <a:r>
              <a:rPr lang="zh-CN" altLang="en-US" dirty="0"/>
              <a:t>板卡设计、线缆设计</a:t>
            </a:r>
          </a:p>
        </p:txBody>
      </p:sp>
      <p:cxnSp>
        <p:nvCxnSpPr>
          <p:cNvPr id="23" name="直接连接符 22"/>
          <p:cNvCxnSpPr>
            <a:cxnSpLocks/>
          </p:cNvCxnSpPr>
          <p:nvPr/>
        </p:nvCxnSpPr>
        <p:spPr>
          <a:xfrm>
            <a:off x="5742974" y="948828"/>
            <a:ext cx="0" cy="585116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6186650" y="977514"/>
            <a:ext cx="532789" cy="53278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a:off x="6328411" y="1119274"/>
            <a:ext cx="249268" cy="249268"/>
          </a:xfrm>
          <a:custGeom>
            <a:avLst/>
            <a:gdLst>
              <a:gd name="connsiteX0" fmla="*/ 233325 w 327309"/>
              <a:gd name="connsiteY0" fmla="*/ 56528 h 327309"/>
              <a:gd name="connsiteX1" fmla="*/ 50285 w 327309"/>
              <a:gd name="connsiteY1" fmla="*/ 239568 h 327309"/>
              <a:gd name="connsiteX2" fmla="*/ 87741 w 327309"/>
              <a:gd name="connsiteY2" fmla="*/ 277025 h 327309"/>
              <a:gd name="connsiteX3" fmla="*/ 270781 w 327309"/>
              <a:gd name="connsiteY3" fmla="*/ 93985 h 327309"/>
              <a:gd name="connsiteX4" fmla="*/ 239171 w 327309"/>
              <a:gd name="connsiteY4" fmla="*/ 31038 h 327309"/>
              <a:gd name="connsiteX5" fmla="*/ 296272 w 327309"/>
              <a:gd name="connsiteY5" fmla="*/ 88139 h 327309"/>
              <a:gd name="connsiteX6" fmla="*/ 80982 w 327309"/>
              <a:gd name="connsiteY6" fmla="*/ 303429 h 327309"/>
              <a:gd name="connsiteX7" fmla="*/ 59606 w 327309"/>
              <a:gd name="connsiteY7" fmla="*/ 282053 h 327309"/>
              <a:gd name="connsiteX8" fmla="*/ 59606 w 327309"/>
              <a:gd name="connsiteY8" fmla="*/ 282053 h 327309"/>
              <a:gd name="connsiteX9" fmla="*/ 80982 w 327309"/>
              <a:gd name="connsiteY9" fmla="*/ 303429 h 327309"/>
              <a:gd name="connsiteX10" fmla="*/ 0 w 327309"/>
              <a:gd name="connsiteY10" fmla="*/ 327309 h 327309"/>
              <a:gd name="connsiteX11" fmla="*/ 23881 w 327309"/>
              <a:gd name="connsiteY11" fmla="*/ 246328 h 327309"/>
              <a:gd name="connsiteX12" fmla="*/ 38193 w 327309"/>
              <a:gd name="connsiteY12" fmla="*/ 260640 h 327309"/>
              <a:gd name="connsiteX13" fmla="*/ 38193 w 327309"/>
              <a:gd name="connsiteY13" fmla="*/ 260640 h 327309"/>
              <a:gd name="connsiteX14" fmla="*/ 23881 w 327309"/>
              <a:gd name="connsiteY14" fmla="*/ 246328 h 327309"/>
              <a:gd name="connsiteX15" fmla="*/ 278071 w 327309"/>
              <a:gd name="connsiteY15" fmla="*/ 63 h 327309"/>
              <a:gd name="connsiteX16" fmla="*/ 292270 w 327309"/>
              <a:gd name="connsiteY16" fmla="*/ 4998 h 327309"/>
              <a:gd name="connsiteX17" fmla="*/ 322311 w 327309"/>
              <a:gd name="connsiteY17" fmla="*/ 35039 h 327309"/>
              <a:gd name="connsiteX18" fmla="*/ 320026 w 327309"/>
              <a:gd name="connsiteY18" fmla="*/ 64385 h 327309"/>
              <a:gd name="connsiteX19" fmla="*/ 304210 w 327309"/>
              <a:gd name="connsiteY19" fmla="*/ 80200 h 327309"/>
              <a:gd name="connsiteX20" fmla="*/ 247109 w 327309"/>
              <a:gd name="connsiteY20" fmla="*/ 23099 h 327309"/>
              <a:gd name="connsiteX21" fmla="*/ 262925 w 327309"/>
              <a:gd name="connsiteY21" fmla="*/ 7284 h 327309"/>
              <a:gd name="connsiteX22" fmla="*/ 278071 w 327309"/>
              <a:gd name="connsiteY22" fmla="*/ 63 h 32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7309" h="327309">
                <a:moveTo>
                  <a:pt x="233325" y="56528"/>
                </a:moveTo>
                <a:lnTo>
                  <a:pt x="50285" y="239568"/>
                </a:lnTo>
                <a:lnTo>
                  <a:pt x="87741" y="277025"/>
                </a:lnTo>
                <a:lnTo>
                  <a:pt x="270781" y="93985"/>
                </a:lnTo>
                <a:close/>
                <a:moveTo>
                  <a:pt x="239171" y="31038"/>
                </a:moveTo>
                <a:lnTo>
                  <a:pt x="296272" y="88139"/>
                </a:lnTo>
                <a:lnTo>
                  <a:pt x="80982" y="303429"/>
                </a:lnTo>
                <a:lnTo>
                  <a:pt x="59606" y="282053"/>
                </a:lnTo>
                <a:lnTo>
                  <a:pt x="59606" y="282053"/>
                </a:lnTo>
                <a:lnTo>
                  <a:pt x="80982" y="303429"/>
                </a:lnTo>
                <a:lnTo>
                  <a:pt x="0" y="327309"/>
                </a:lnTo>
                <a:lnTo>
                  <a:pt x="23881" y="246328"/>
                </a:lnTo>
                <a:lnTo>
                  <a:pt x="38193" y="260640"/>
                </a:lnTo>
                <a:lnTo>
                  <a:pt x="38193" y="260640"/>
                </a:lnTo>
                <a:lnTo>
                  <a:pt x="23881" y="246328"/>
                </a:lnTo>
                <a:close/>
                <a:moveTo>
                  <a:pt x="278071" y="63"/>
                </a:moveTo>
                <a:cubicBezTo>
                  <a:pt x="283381" y="-350"/>
                  <a:pt x="288534" y="1262"/>
                  <a:pt x="292270" y="4998"/>
                </a:cubicBezTo>
                <a:lnTo>
                  <a:pt x="322311" y="35039"/>
                </a:lnTo>
                <a:cubicBezTo>
                  <a:pt x="329784" y="42512"/>
                  <a:pt x="328760" y="55650"/>
                  <a:pt x="320026" y="64385"/>
                </a:cubicBezTo>
                <a:cubicBezTo>
                  <a:pt x="314754" y="69657"/>
                  <a:pt x="309482" y="74928"/>
                  <a:pt x="304210" y="80200"/>
                </a:cubicBezTo>
                <a:lnTo>
                  <a:pt x="247109" y="23099"/>
                </a:lnTo>
                <a:lnTo>
                  <a:pt x="262925" y="7284"/>
                </a:lnTo>
                <a:cubicBezTo>
                  <a:pt x="267292" y="2917"/>
                  <a:pt x="272760" y="477"/>
                  <a:pt x="278071" y="6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5757726" y="1510302"/>
            <a:ext cx="1390636" cy="406971"/>
          </a:xfrm>
          <a:prstGeom prst="rect">
            <a:avLst/>
          </a:prstGeom>
          <a:noFill/>
        </p:spPr>
        <p:txBody>
          <a:bodyPr wrap="square" lIns="0" rIns="0" rtlCol="0">
            <a:spAutoFit/>
          </a:bodyPr>
          <a:lstStyle/>
          <a:p>
            <a:pPr algn="ctr">
              <a:lnSpc>
                <a:spcPct val="125000"/>
              </a:lnSpc>
            </a:pPr>
            <a:r>
              <a:rPr lang="zh-CN" altLang="en-US" b="1" dirty="0">
                <a:latin typeface="微软雅黑" panose="020B0503020204020204" pitchFamily="34" charset="-122"/>
                <a:ea typeface="微软雅黑" panose="020B0503020204020204" pitchFamily="34" charset="-122"/>
              </a:rPr>
              <a:t>原理图设计</a:t>
            </a:r>
          </a:p>
        </p:txBody>
      </p:sp>
      <p:sp>
        <p:nvSpPr>
          <p:cNvPr id="27" name="文本框 26"/>
          <p:cNvSpPr txBox="1"/>
          <p:nvPr/>
        </p:nvSpPr>
        <p:spPr>
          <a:xfrm>
            <a:off x="7468274" y="814439"/>
            <a:ext cx="4578083" cy="1069716"/>
          </a:xfrm>
          <a:prstGeom prst="rect">
            <a:avLst/>
          </a:prstGeom>
          <a:noFill/>
        </p:spPr>
        <p:txBody>
          <a:bodyPr wrap="square" lIns="0" rIns="0" rtlCol="0" anchor="t">
            <a:spAutoFit/>
          </a:bodyPr>
          <a:lstStyle/>
          <a:p>
            <a:pPr>
              <a:lnSpc>
                <a:spcPct val="125000"/>
              </a:lnSpc>
            </a:pPr>
            <a:r>
              <a:rPr lang="zh-CN" altLang="en-US" sz="1300" dirty="0">
                <a:latin typeface="微软雅黑" panose="020B0503020204020204" pitchFamily="34" charset="-122"/>
                <a:ea typeface="微软雅黑" panose="020B0503020204020204" pitchFamily="34" charset="-122"/>
              </a:rPr>
              <a:t>硬件工程师、电源工程师根据</a:t>
            </a:r>
            <a:r>
              <a:rPr lang="en-US" altLang="zh-CN" sz="1300" dirty="0">
                <a:latin typeface="微软雅黑" panose="020B0503020204020204" pitchFamily="34" charset="-122"/>
                <a:ea typeface="微软雅黑" panose="020B0503020204020204" pitchFamily="34" charset="-122"/>
              </a:rPr>
              <a:t>PRD</a:t>
            </a:r>
            <a:r>
              <a:rPr lang="zh-CN" altLang="en-US" sz="1300" dirty="0">
                <a:latin typeface="微软雅黑" panose="020B0503020204020204" pitchFamily="34" charset="-122"/>
                <a:ea typeface="微软雅黑" panose="020B0503020204020204" pitchFamily="34" charset="-122"/>
              </a:rPr>
              <a:t>需求以及总体方案，完成原理图设计。</a:t>
            </a:r>
            <a:endParaRPr lang="en-US" altLang="zh-CN" sz="1300" dirty="0">
              <a:latin typeface="微软雅黑" panose="020B0503020204020204" pitchFamily="34" charset="-122"/>
              <a:ea typeface="微软雅黑" panose="020B0503020204020204" pitchFamily="34" charset="-122"/>
            </a:endParaRPr>
          </a:p>
          <a:p>
            <a:pPr>
              <a:lnSpc>
                <a:spcPct val="125000"/>
              </a:lnSpc>
            </a:pPr>
            <a:r>
              <a:rPr lang="zh-CN" altLang="en-US" sz="1300" b="1" dirty="0">
                <a:latin typeface="微软雅黑" panose="020B0503020204020204" pitchFamily="34" charset="-122"/>
                <a:ea typeface="微软雅黑" panose="020B0503020204020204" pitchFamily="34" charset="-122"/>
              </a:rPr>
              <a:t>备料</a:t>
            </a:r>
            <a:r>
              <a:rPr lang="zh-CN" altLang="en-US" sz="1300" dirty="0">
                <a:latin typeface="微软雅黑" panose="020B0503020204020204" pitchFamily="34" charset="-122"/>
                <a:ea typeface="微软雅黑" panose="020B0503020204020204" pitchFamily="34" charset="-122"/>
              </a:rPr>
              <a:t>：主板备料周期</a:t>
            </a:r>
            <a:r>
              <a:rPr lang="en-US" altLang="zh-CN" sz="1300" dirty="0">
                <a:latin typeface="微软雅黑" panose="020B0503020204020204" pitchFamily="34" charset="-122"/>
                <a:ea typeface="微软雅黑" panose="020B0503020204020204" pitchFamily="34" charset="-122"/>
              </a:rPr>
              <a:t>2</a:t>
            </a:r>
            <a:r>
              <a:rPr lang="zh-CN" altLang="en-US" sz="1300" dirty="0">
                <a:latin typeface="微软雅黑" panose="020B0503020204020204" pitchFamily="34" charset="-122"/>
                <a:ea typeface="微软雅黑" panose="020B0503020204020204" pitchFamily="34" charset="-122"/>
              </a:rPr>
              <a:t>个月，小板卡备料周期</a:t>
            </a:r>
            <a:r>
              <a:rPr lang="en-US" altLang="zh-CN" sz="1300" dirty="0">
                <a:latin typeface="微软雅黑" panose="020B0503020204020204" pitchFamily="34" charset="-122"/>
                <a:ea typeface="微软雅黑" panose="020B0503020204020204" pitchFamily="34" charset="-122"/>
              </a:rPr>
              <a:t>1</a:t>
            </a:r>
            <a:r>
              <a:rPr lang="zh-CN" altLang="en-US" sz="1300" dirty="0">
                <a:latin typeface="微软雅黑" panose="020B0503020204020204" pitchFamily="34" charset="-122"/>
                <a:ea typeface="微软雅黑" panose="020B0503020204020204" pitchFamily="34" charset="-122"/>
              </a:rPr>
              <a:t>个月（优先确认长交期物料：</a:t>
            </a:r>
            <a:r>
              <a:rPr lang="en-US" altLang="zh-CN" sz="1300" dirty="0">
                <a:latin typeface="微软雅黑" panose="020B0503020204020204" pitchFamily="34" charset="-122"/>
                <a:ea typeface="微软雅黑" panose="020B0503020204020204" pitchFamily="34" charset="-122"/>
              </a:rPr>
              <a:t>IC&amp;CON</a:t>
            </a:r>
            <a:r>
              <a:rPr lang="zh-CN" altLang="en-US" sz="1300" dirty="0">
                <a:latin typeface="微软雅黑" panose="020B0503020204020204" pitchFamily="34" charset="-122"/>
                <a:ea typeface="微软雅黑" panose="020B0503020204020204" pitchFamily="34" charset="-122"/>
              </a:rPr>
              <a:t>）。</a:t>
            </a:r>
          </a:p>
        </p:txBody>
      </p:sp>
      <p:sp>
        <p:nvSpPr>
          <p:cNvPr id="28" name="椭圆 27"/>
          <p:cNvSpPr/>
          <p:nvPr/>
        </p:nvSpPr>
        <p:spPr>
          <a:xfrm>
            <a:off x="6186650" y="2146431"/>
            <a:ext cx="532789" cy="53278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5757726" y="2679219"/>
            <a:ext cx="1390636" cy="406971"/>
          </a:xfrm>
          <a:prstGeom prst="rect">
            <a:avLst/>
          </a:prstGeom>
          <a:noFill/>
        </p:spPr>
        <p:txBody>
          <a:bodyPr wrap="square" lIns="0" rIns="0" rtlCol="0">
            <a:spAutoFit/>
          </a:bodyPr>
          <a:lstStyle/>
          <a:p>
            <a:pPr algn="ctr">
              <a:lnSpc>
                <a:spcPct val="125000"/>
              </a:lnSpc>
            </a:pPr>
            <a:r>
              <a:rPr lang="zh-CN" altLang="en-US" b="1" dirty="0">
                <a:latin typeface="微软雅黑" panose="020B0503020204020204" pitchFamily="34" charset="-122"/>
                <a:ea typeface="微软雅黑" panose="020B0503020204020204" pitchFamily="34" charset="-122"/>
              </a:rPr>
              <a:t>叠层设计</a:t>
            </a:r>
          </a:p>
        </p:txBody>
      </p:sp>
      <p:sp>
        <p:nvSpPr>
          <p:cNvPr id="30" name="文本框 29"/>
          <p:cNvSpPr txBox="1"/>
          <p:nvPr/>
        </p:nvSpPr>
        <p:spPr>
          <a:xfrm>
            <a:off x="7468275" y="1956590"/>
            <a:ext cx="4578082" cy="1569853"/>
          </a:xfrm>
          <a:prstGeom prst="rect">
            <a:avLst/>
          </a:prstGeom>
          <a:noFill/>
        </p:spPr>
        <p:txBody>
          <a:bodyPr wrap="square" lIns="0" rIns="0" rtlCol="0" anchor="t">
            <a:spAutoFit/>
          </a:bodyPr>
          <a:lstStyle/>
          <a:p>
            <a:pPr>
              <a:lnSpc>
                <a:spcPct val="125000"/>
              </a:lnSpc>
            </a:pPr>
            <a:r>
              <a:rPr lang="en-US" altLang="zh-CN" sz="1300" dirty="0">
                <a:latin typeface="微软雅黑" panose="020B0503020204020204" pitchFamily="34" charset="-122"/>
                <a:ea typeface="微软雅黑" panose="020B0503020204020204" pitchFamily="34" charset="-122"/>
              </a:rPr>
              <a:t>Layout</a:t>
            </a:r>
            <a:r>
              <a:rPr lang="zh-CN" altLang="en-US" sz="1300" dirty="0">
                <a:latin typeface="微软雅黑" panose="020B0503020204020204" pitchFamily="34" charset="-122"/>
                <a:ea typeface="微软雅黑" panose="020B0503020204020204" pitchFamily="34" charset="-122"/>
              </a:rPr>
              <a:t>、</a:t>
            </a:r>
            <a:r>
              <a:rPr lang="en-US" altLang="zh-CN" sz="1300" dirty="0">
                <a:latin typeface="微软雅黑" panose="020B0503020204020204" pitchFamily="34" charset="-122"/>
                <a:ea typeface="微软雅黑" panose="020B0503020204020204" pitchFamily="34" charset="-122"/>
              </a:rPr>
              <a:t>SI</a:t>
            </a:r>
            <a:r>
              <a:rPr lang="zh-CN" altLang="en-US" sz="1300" dirty="0">
                <a:latin typeface="微软雅黑" panose="020B0503020204020204" pitchFamily="34" charset="-122"/>
                <a:ea typeface="微软雅黑" panose="020B0503020204020204" pitchFamily="34" charset="-122"/>
              </a:rPr>
              <a:t>根据</a:t>
            </a:r>
            <a:r>
              <a:rPr lang="en-US" altLang="zh-CN" sz="1300" dirty="0">
                <a:latin typeface="微软雅黑" panose="020B0503020204020204" pitchFamily="34" charset="-122"/>
                <a:ea typeface="微软雅黑" panose="020B0503020204020204" pitchFamily="34" charset="-122"/>
              </a:rPr>
              <a:t>PRD </a:t>
            </a:r>
            <a:r>
              <a:rPr lang="zh-CN" altLang="en-US" sz="1300" dirty="0">
                <a:latin typeface="微软雅黑" panose="020B0503020204020204" pitchFamily="34" charset="-122"/>
                <a:ea typeface="微软雅黑" panose="020B0503020204020204" pitchFamily="34" charset="-122"/>
              </a:rPr>
              <a:t>硬件、信号需求和系统评估仿真结果，评估</a:t>
            </a:r>
            <a:r>
              <a:rPr lang="en-US" altLang="zh-CN" sz="1300" dirty="0">
                <a:latin typeface="微软雅黑" panose="020B0503020204020204" pitchFamily="34" charset="-122"/>
                <a:ea typeface="微软雅黑" panose="020B0503020204020204" pitchFamily="34" charset="-122"/>
              </a:rPr>
              <a:t>PCB </a:t>
            </a:r>
            <a:r>
              <a:rPr lang="zh-CN" altLang="en-US" sz="1300" dirty="0">
                <a:latin typeface="微软雅黑" panose="020B0503020204020204" pitchFamily="34" charset="-122"/>
                <a:ea typeface="微软雅黑" panose="020B0503020204020204" pitchFamily="34" charset="-122"/>
              </a:rPr>
              <a:t>层数。</a:t>
            </a:r>
            <a:r>
              <a:rPr lang="en-US" altLang="zh-CN" sz="1300" dirty="0">
                <a:latin typeface="微软雅黑" panose="020B0503020204020204" pitchFamily="34" charset="-122"/>
                <a:ea typeface="微软雅黑" panose="020B0503020204020204" pitchFamily="34" charset="-122"/>
              </a:rPr>
              <a:t>SI</a:t>
            </a:r>
            <a:r>
              <a:rPr lang="zh-CN" altLang="en-US" sz="1300" dirty="0">
                <a:latin typeface="微软雅黑" panose="020B0503020204020204" pitchFamily="34" charset="-122"/>
                <a:ea typeface="微软雅黑" panose="020B0503020204020204" pitchFamily="34" charset="-122"/>
              </a:rPr>
              <a:t>工程师根据</a:t>
            </a:r>
            <a:r>
              <a:rPr lang="en-US" altLang="zh-CN" sz="1300" dirty="0">
                <a:latin typeface="微软雅黑" panose="020B0503020204020204" pitchFamily="34" charset="-122"/>
                <a:ea typeface="微软雅黑" panose="020B0503020204020204" pitchFamily="34" charset="-122"/>
              </a:rPr>
              <a:t>Layout</a:t>
            </a:r>
            <a:r>
              <a:rPr lang="zh-CN" altLang="en-US" sz="1300" dirty="0">
                <a:latin typeface="微软雅黑" panose="020B0503020204020204" pitchFamily="34" charset="-122"/>
                <a:ea typeface="微软雅黑" panose="020B0503020204020204" pitchFamily="34" charset="-122"/>
              </a:rPr>
              <a:t>需求设计</a:t>
            </a:r>
            <a:r>
              <a:rPr lang="en-US" altLang="zh-CN" sz="1300" dirty="0">
                <a:latin typeface="微软雅黑" panose="020B0503020204020204" pitchFamily="34" charset="-122"/>
                <a:ea typeface="微软雅黑" panose="020B0503020204020204" pitchFamily="34" charset="-122"/>
              </a:rPr>
              <a:t>PCB</a:t>
            </a:r>
            <a:r>
              <a:rPr lang="zh-CN" altLang="en-US" sz="1300" dirty="0">
                <a:latin typeface="微软雅黑" panose="020B0503020204020204" pitchFamily="34" charset="-122"/>
                <a:ea typeface="微软雅黑" panose="020B0503020204020204" pitchFamily="34" charset="-122"/>
              </a:rPr>
              <a:t>叠层（周期预估</a:t>
            </a:r>
            <a:r>
              <a:rPr lang="en-US" altLang="zh-CN" sz="1300" dirty="0">
                <a:latin typeface="微软雅黑" panose="020B0503020204020204" pitchFamily="34" charset="-122"/>
                <a:ea typeface="微软雅黑" panose="020B0503020204020204" pitchFamily="34" charset="-122"/>
              </a:rPr>
              <a:t>4</a:t>
            </a:r>
            <a:r>
              <a:rPr lang="zh-CN" altLang="en-US" sz="1300" dirty="0">
                <a:latin typeface="微软雅黑" panose="020B0503020204020204" pitchFamily="34" charset="-122"/>
                <a:ea typeface="微软雅黑" panose="020B0503020204020204" pitchFamily="34" charset="-122"/>
              </a:rPr>
              <a:t>天），初版</a:t>
            </a:r>
            <a:r>
              <a:rPr lang="en-US" altLang="zh-CN" sz="1300" dirty="0">
                <a:latin typeface="微软雅黑" panose="020B0503020204020204" pitchFamily="34" charset="-122"/>
                <a:ea typeface="微软雅黑" panose="020B0503020204020204" pitchFamily="34" charset="-122"/>
              </a:rPr>
              <a:t>PCB</a:t>
            </a:r>
            <a:r>
              <a:rPr lang="zh-CN" altLang="en-US" sz="1300" dirty="0">
                <a:latin typeface="微软雅黑" panose="020B0503020204020204" pitchFamily="34" charset="-122"/>
                <a:ea typeface="微软雅黑" panose="020B0503020204020204" pitchFamily="34" charset="-122"/>
              </a:rPr>
              <a:t>叠层设计完成后与</a:t>
            </a:r>
            <a:r>
              <a:rPr lang="en-US" altLang="zh-CN" sz="1300" dirty="0">
                <a:latin typeface="微软雅黑" panose="020B0503020204020204" pitchFamily="34" charset="-122"/>
                <a:ea typeface="微软雅黑" panose="020B0503020204020204" pitchFamily="34" charset="-122"/>
              </a:rPr>
              <a:t>PCB</a:t>
            </a:r>
            <a:r>
              <a:rPr lang="zh-CN" altLang="en-US" sz="1300" dirty="0">
                <a:latin typeface="微软雅黑" panose="020B0503020204020204" pitchFamily="34" charset="-122"/>
                <a:ea typeface="微软雅黑" panose="020B0503020204020204" pitchFamily="34" charset="-122"/>
              </a:rPr>
              <a:t>厂商沟通，直至最终定版。</a:t>
            </a:r>
            <a:endParaRPr lang="en-US" altLang="zh-CN" sz="1300" dirty="0">
              <a:latin typeface="微软雅黑" panose="020B0503020204020204" pitchFamily="34" charset="-122"/>
              <a:ea typeface="微软雅黑" panose="020B0503020204020204" pitchFamily="34" charset="-122"/>
            </a:endParaRPr>
          </a:p>
          <a:p>
            <a:pPr>
              <a:lnSpc>
                <a:spcPct val="125000"/>
              </a:lnSpc>
            </a:pPr>
            <a:r>
              <a:rPr lang="zh-CN" altLang="en-US" sz="1300" b="1" dirty="0">
                <a:latin typeface="微软雅黑" panose="020B0503020204020204" pitchFamily="34" charset="-122"/>
                <a:ea typeface="微软雅黑" panose="020B0503020204020204" pitchFamily="34" charset="-122"/>
              </a:rPr>
              <a:t>备料：</a:t>
            </a:r>
            <a:r>
              <a:rPr lang="en-US" altLang="zh-CN" sz="1300" dirty="0">
                <a:latin typeface="微软雅黑" panose="020B0503020204020204" pitchFamily="34" charset="-122"/>
                <a:ea typeface="微软雅黑" panose="020B0503020204020204" pitchFamily="34" charset="-122"/>
              </a:rPr>
              <a:t>PCB</a:t>
            </a:r>
            <a:r>
              <a:rPr lang="zh-CN" altLang="en-US" sz="1300" dirty="0">
                <a:latin typeface="微软雅黑" panose="020B0503020204020204" pitchFamily="34" charset="-122"/>
                <a:ea typeface="微软雅黑" panose="020B0503020204020204" pitchFamily="34" charset="-122"/>
              </a:rPr>
              <a:t>基材材质不同，备料周期不同，</a:t>
            </a:r>
            <a:r>
              <a:rPr lang="en-US" altLang="zh-CN" sz="1300" dirty="0">
                <a:latin typeface="微软雅黑" panose="020B0503020204020204" pitchFamily="34" charset="-122"/>
                <a:ea typeface="微软雅黑" panose="020B0503020204020204" pitchFamily="34" charset="-122"/>
              </a:rPr>
              <a:t>Mid loss </a:t>
            </a:r>
            <a:r>
              <a:rPr lang="zh-CN" altLang="en-US" sz="1300" dirty="0">
                <a:latin typeface="微软雅黑" panose="020B0503020204020204" pitchFamily="34" charset="-122"/>
                <a:ea typeface="微软雅黑" panose="020B0503020204020204" pitchFamily="34" charset="-122"/>
              </a:rPr>
              <a:t>备料周期</a:t>
            </a:r>
            <a:r>
              <a:rPr lang="en-US" altLang="zh-CN" sz="1300" dirty="0">
                <a:latin typeface="微软雅黑" panose="020B0503020204020204" pitchFamily="34" charset="-122"/>
                <a:ea typeface="微软雅黑" panose="020B0503020204020204" pitchFamily="34" charset="-122"/>
              </a:rPr>
              <a:t>2~3</a:t>
            </a:r>
            <a:r>
              <a:rPr lang="zh-CN" altLang="en-US" sz="1300" dirty="0">
                <a:latin typeface="微软雅黑" panose="020B0503020204020204" pitchFamily="34" charset="-122"/>
                <a:ea typeface="微软雅黑" panose="020B0503020204020204" pitchFamily="34" charset="-122"/>
              </a:rPr>
              <a:t>周，</a:t>
            </a:r>
            <a:r>
              <a:rPr lang="en-US" altLang="zh-CN" sz="1300" dirty="0">
                <a:latin typeface="微软雅黑" panose="020B0503020204020204" pitchFamily="34" charset="-122"/>
                <a:ea typeface="微软雅黑" panose="020B0503020204020204" pitchFamily="34" charset="-122"/>
              </a:rPr>
              <a:t>Low loss </a:t>
            </a:r>
            <a:r>
              <a:rPr lang="zh-CN" altLang="en-US" sz="1300" dirty="0">
                <a:latin typeface="微软雅黑" panose="020B0503020204020204" pitchFamily="34" charset="-122"/>
                <a:ea typeface="微软雅黑" panose="020B0503020204020204" pitchFamily="34" charset="-122"/>
              </a:rPr>
              <a:t>备料周期</a:t>
            </a:r>
            <a:r>
              <a:rPr lang="en-US" altLang="zh-CN" sz="1300" dirty="0">
                <a:latin typeface="微软雅黑" panose="020B0503020204020204" pitchFamily="34" charset="-122"/>
                <a:ea typeface="微软雅黑" panose="020B0503020204020204" pitchFamily="34" charset="-122"/>
              </a:rPr>
              <a:t>3~4</a:t>
            </a:r>
            <a:r>
              <a:rPr lang="zh-CN" altLang="en-US" sz="1300" dirty="0">
                <a:latin typeface="微软雅黑" panose="020B0503020204020204" pitchFamily="34" charset="-122"/>
                <a:ea typeface="微软雅黑" panose="020B0503020204020204" pitchFamily="34" charset="-122"/>
              </a:rPr>
              <a:t>周。</a:t>
            </a:r>
          </a:p>
        </p:txBody>
      </p:sp>
      <p:sp>
        <p:nvSpPr>
          <p:cNvPr id="31" name="椭圆 30"/>
          <p:cNvSpPr/>
          <p:nvPr/>
        </p:nvSpPr>
        <p:spPr>
          <a:xfrm>
            <a:off x="6186650" y="3350916"/>
            <a:ext cx="532789" cy="53278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5839994" y="3874408"/>
            <a:ext cx="1390636" cy="406971"/>
          </a:xfrm>
          <a:prstGeom prst="rect">
            <a:avLst/>
          </a:prstGeom>
          <a:noFill/>
        </p:spPr>
        <p:txBody>
          <a:bodyPr wrap="square" lIns="0" rIns="0" rtlCol="0">
            <a:spAutoFit/>
          </a:bodyPr>
          <a:lstStyle/>
          <a:p>
            <a:pPr algn="ctr">
              <a:lnSpc>
                <a:spcPct val="125000"/>
              </a:lnSpc>
            </a:pPr>
            <a:r>
              <a:rPr lang="en-US" altLang="zh-CN" b="1" dirty="0">
                <a:latin typeface="微软雅黑" panose="020B0503020204020204" pitchFamily="34" charset="-122"/>
                <a:ea typeface="微软雅黑" panose="020B0503020204020204" pitchFamily="34" charset="-122"/>
              </a:rPr>
              <a:t>Layout</a:t>
            </a:r>
            <a:r>
              <a:rPr lang="zh-CN" altLang="en-US" b="1" dirty="0">
                <a:latin typeface="微软雅黑" panose="020B0503020204020204" pitchFamily="34" charset="-122"/>
                <a:ea typeface="微软雅黑" panose="020B0503020204020204" pitchFamily="34" charset="-122"/>
              </a:rPr>
              <a:t>设计</a:t>
            </a:r>
          </a:p>
        </p:txBody>
      </p:sp>
      <p:sp>
        <p:nvSpPr>
          <p:cNvPr id="33" name="文本框 32"/>
          <p:cNvSpPr txBox="1"/>
          <p:nvPr/>
        </p:nvSpPr>
        <p:spPr>
          <a:xfrm>
            <a:off x="7477616" y="3572447"/>
            <a:ext cx="4578059" cy="569580"/>
          </a:xfrm>
          <a:prstGeom prst="rect">
            <a:avLst/>
          </a:prstGeom>
          <a:noFill/>
        </p:spPr>
        <p:txBody>
          <a:bodyPr wrap="square" lIns="0" rIns="0" rtlCol="0" anchor="t">
            <a:spAutoFit/>
          </a:bodyPr>
          <a:lstStyle/>
          <a:p>
            <a:pPr>
              <a:lnSpc>
                <a:spcPct val="125000"/>
              </a:lnSpc>
            </a:pPr>
            <a:r>
              <a:rPr lang="en-US" altLang="zh-CN" sz="1300" dirty="0">
                <a:latin typeface="微软雅黑" panose="020B0503020204020204" pitchFamily="34" charset="-122"/>
                <a:ea typeface="微软雅黑" panose="020B0503020204020204" pitchFamily="34" charset="-122"/>
              </a:rPr>
              <a:t>Layout</a:t>
            </a:r>
            <a:r>
              <a:rPr lang="zh-CN" altLang="en-US" sz="1300" dirty="0">
                <a:latin typeface="微软雅黑" panose="020B0503020204020204" pitchFamily="34" charset="-122"/>
                <a:ea typeface="微软雅黑" panose="020B0503020204020204" pitchFamily="34" charset="-122"/>
              </a:rPr>
              <a:t>工程师根据原理图、结构布局图、</a:t>
            </a:r>
            <a:r>
              <a:rPr lang="en-US" altLang="zh-CN" sz="1300" dirty="0">
                <a:latin typeface="微软雅黑" panose="020B0503020204020204" pitchFamily="34" charset="-122"/>
                <a:ea typeface="微软雅黑" panose="020B0503020204020204" pitchFamily="34" charset="-122"/>
              </a:rPr>
              <a:t>Layout Guide</a:t>
            </a:r>
            <a:r>
              <a:rPr lang="zh-CN" altLang="en-US" sz="1300" dirty="0">
                <a:latin typeface="微软雅黑" panose="020B0503020204020204" pitchFamily="34" charset="-122"/>
                <a:ea typeface="微软雅黑" panose="020B0503020204020204" pitchFamily="34" charset="-122"/>
              </a:rPr>
              <a:t>进行</a:t>
            </a:r>
            <a:r>
              <a:rPr lang="en-US" altLang="zh-CN" sz="1300" dirty="0">
                <a:latin typeface="微软雅黑" panose="020B0503020204020204" pitchFamily="34" charset="-122"/>
                <a:ea typeface="微软雅黑" panose="020B0503020204020204" pitchFamily="34" charset="-122"/>
              </a:rPr>
              <a:t>Layout</a:t>
            </a:r>
            <a:r>
              <a:rPr lang="zh-CN" altLang="en-US" sz="1300" dirty="0">
                <a:latin typeface="微软雅黑" panose="020B0503020204020204" pitchFamily="34" charset="-122"/>
                <a:ea typeface="微软雅黑" panose="020B0503020204020204" pitchFamily="34" charset="-122"/>
              </a:rPr>
              <a:t>设计。</a:t>
            </a:r>
          </a:p>
        </p:txBody>
      </p:sp>
      <p:sp>
        <p:nvSpPr>
          <p:cNvPr id="34" name="任意多边形 33"/>
          <p:cNvSpPr>
            <a:spLocks noChangeAspect="1"/>
          </p:cNvSpPr>
          <p:nvPr/>
        </p:nvSpPr>
        <p:spPr>
          <a:xfrm>
            <a:off x="6375387" y="2285807"/>
            <a:ext cx="154448" cy="248400"/>
          </a:xfrm>
          <a:custGeom>
            <a:avLst/>
            <a:gdLst>
              <a:gd name="connsiteX0" fmla="*/ 677901 w 2374831"/>
              <a:gd name="connsiteY0" fmla="*/ 3412116 h 3819479"/>
              <a:gd name="connsiteX1" fmla="*/ 1644059 w 2374831"/>
              <a:gd name="connsiteY1" fmla="*/ 3412116 h 3819479"/>
              <a:gd name="connsiteX2" fmla="*/ 1644059 w 2374831"/>
              <a:gd name="connsiteY2" fmla="*/ 3636403 h 3819479"/>
              <a:gd name="connsiteX3" fmla="*/ 1452135 w 2374831"/>
              <a:gd name="connsiteY3" fmla="*/ 3636403 h 3819479"/>
              <a:gd name="connsiteX4" fmla="*/ 1406366 w 2374831"/>
              <a:gd name="connsiteY4" fmla="*/ 3819479 h 3819479"/>
              <a:gd name="connsiteX5" fmla="*/ 904644 w 2374831"/>
              <a:gd name="connsiteY5" fmla="*/ 3819479 h 3819479"/>
              <a:gd name="connsiteX6" fmla="*/ 858875 w 2374831"/>
              <a:gd name="connsiteY6" fmla="*/ 3636403 h 3819479"/>
              <a:gd name="connsiteX7" fmla="*/ 677901 w 2374831"/>
              <a:gd name="connsiteY7" fmla="*/ 3636403 h 3819479"/>
              <a:gd name="connsiteX8" fmla="*/ 1210563 w 2374831"/>
              <a:gd name="connsiteY8" fmla="*/ 214813 h 3819479"/>
              <a:gd name="connsiteX9" fmla="*/ 234135 w 2374831"/>
              <a:gd name="connsiteY9" fmla="*/ 1200968 h 3819479"/>
              <a:gd name="connsiteX10" fmla="*/ 530439 w 2374831"/>
              <a:gd name="connsiteY10" fmla="*/ 2356594 h 3819479"/>
              <a:gd name="connsiteX11" fmla="*/ 629422 w 2374831"/>
              <a:gd name="connsiteY11" fmla="*/ 2455121 h 3819479"/>
              <a:gd name="connsiteX12" fmla="*/ 632955 w 2374831"/>
              <a:gd name="connsiteY12" fmla="*/ 2454082 h 3819479"/>
              <a:gd name="connsiteX13" fmla="*/ 634850 w 2374831"/>
              <a:gd name="connsiteY13" fmla="*/ 2460524 h 3819479"/>
              <a:gd name="connsiteX14" fmla="*/ 645415 w 2374831"/>
              <a:gd name="connsiteY14" fmla="*/ 2471041 h 3819479"/>
              <a:gd name="connsiteX15" fmla="*/ 640611 w 2374831"/>
              <a:gd name="connsiteY15" fmla="*/ 2480115 h 3819479"/>
              <a:gd name="connsiteX16" fmla="*/ 825141 w 2374831"/>
              <a:gd name="connsiteY16" fmla="*/ 3107541 h 3819479"/>
              <a:gd name="connsiteX17" fmla="*/ 1520487 w 2374831"/>
              <a:gd name="connsiteY17" fmla="*/ 3107541 h 3819479"/>
              <a:gd name="connsiteX18" fmla="*/ 1697625 w 2374831"/>
              <a:gd name="connsiteY18" fmla="*/ 2505248 h 3819479"/>
              <a:gd name="connsiteX19" fmla="*/ 1694714 w 2374831"/>
              <a:gd name="connsiteY19" fmla="*/ 2499211 h 3819479"/>
              <a:gd name="connsiteX20" fmla="*/ 1701121 w 2374831"/>
              <a:gd name="connsiteY20" fmla="*/ 2493362 h 3819479"/>
              <a:gd name="connsiteX21" fmla="*/ 1703057 w 2374831"/>
              <a:gd name="connsiteY21" fmla="*/ 2486779 h 3819479"/>
              <a:gd name="connsiteX22" fmla="*/ 1707047 w 2374831"/>
              <a:gd name="connsiteY22" fmla="*/ 2487952 h 3819479"/>
              <a:gd name="connsiteX23" fmla="*/ 1814604 w 2374831"/>
              <a:gd name="connsiteY23" fmla="*/ 2389768 h 3819479"/>
              <a:gd name="connsiteX24" fmla="*/ 2146142 w 2374831"/>
              <a:gd name="connsiteY24" fmla="*/ 1237621 h 3819479"/>
              <a:gd name="connsiteX25" fmla="*/ 1210563 w 2374831"/>
              <a:gd name="connsiteY25" fmla="*/ 214813 h 3819479"/>
              <a:gd name="connsiteX26" fmla="*/ 1214591 w 2374831"/>
              <a:gd name="connsiteY26" fmla="*/ 383 h 3819479"/>
              <a:gd name="connsiteX27" fmla="*/ 2356115 w 2374831"/>
              <a:gd name="connsiteY27" fmla="*/ 1191705 h 3819479"/>
              <a:gd name="connsiteX28" fmla="*/ 1940101 w 2374831"/>
              <a:gd name="connsiteY28" fmla="*/ 2566662 h 3819479"/>
              <a:gd name="connsiteX29" fmla="*/ 1858280 w 2374831"/>
              <a:gd name="connsiteY29" fmla="*/ 2636176 h 3819479"/>
              <a:gd name="connsiteX30" fmla="*/ 1662374 w 2374831"/>
              <a:gd name="connsiteY30" fmla="*/ 3302282 h 3819479"/>
              <a:gd name="connsiteX31" fmla="*/ 1642818 w 2374831"/>
              <a:gd name="connsiteY31" fmla="*/ 3296530 h 3819479"/>
              <a:gd name="connsiteX32" fmla="*/ 1642365 w 2374831"/>
              <a:gd name="connsiteY32" fmla="*/ 3298341 h 3819479"/>
              <a:gd name="connsiteX33" fmla="*/ 668645 w 2374831"/>
              <a:gd name="connsiteY33" fmla="*/ 3298341 h 3819479"/>
              <a:gd name="connsiteX34" fmla="*/ 620945 w 2374831"/>
              <a:gd name="connsiteY34" fmla="*/ 3107541 h 3819479"/>
              <a:gd name="connsiteX35" fmla="*/ 625980 w 2374831"/>
              <a:gd name="connsiteY35" fmla="*/ 3107541 h 3819479"/>
              <a:gd name="connsiteX36" fmla="*/ 477257 w 2374831"/>
              <a:gd name="connsiteY36" fmla="*/ 2601865 h 3819479"/>
              <a:gd name="connsiteX37" fmla="*/ 398351 w 2374831"/>
              <a:gd name="connsiteY37" fmla="*/ 2528795 h 3819479"/>
              <a:gd name="connsiteX38" fmla="*/ 25870 w 2374831"/>
              <a:gd name="connsiteY38" fmla="*/ 1147159 h 3819479"/>
              <a:gd name="connsiteX39" fmla="*/ 1214591 w 2374831"/>
              <a:gd name="connsiteY39" fmla="*/ 383 h 381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374831" h="3819479">
                <a:moveTo>
                  <a:pt x="677901" y="3412116"/>
                </a:moveTo>
                <a:lnTo>
                  <a:pt x="1644059" y="3412116"/>
                </a:lnTo>
                <a:lnTo>
                  <a:pt x="1644059" y="3636403"/>
                </a:lnTo>
                <a:lnTo>
                  <a:pt x="1452135" y="3636403"/>
                </a:lnTo>
                <a:lnTo>
                  <a:pt x="1406366" y="3819479"/>
                </a:lnTo>
                <a:lnTo>
                  <a:pt x="904644" y="3819479"/>
                </a:lnTo>
                <a:lnTo>
                  <a:pt x="858875" y="3636403"/>
                </a:lnTo>
                <a:lnTo>
                  <a:pt x="677901" y="3636403"/>
                </a:lnTo>
                <a:close/>
                <a:moveTo>
                  <a:pt x="1210563" y="214813"/>
                </a:moveTo>
                <a:cubicBezTo>
                  <a:pt x="739590" y="200611"/>
                  <a:pt x="328256" y="616042"/>
                  <a:pt x="234135" y="1200968"/>
                </a:cubicBezTo>
                <a:cubicBezTo>
                  <a:pt x="165163" y="1629602"/>
                  <a:pt x="280924" y="2067284"/>
                  <a:pt x="530439" y="2356594"/>
                </a:cubicBezTo>
                <a:lnTo>
                  <a:pt x="629422" y="2455121"/>
                </a:lnTo>
                <a:lnTo>
                  <a:pt x="632955" y="2454082"/>
                </a:lnTo>
                <a:lnTo>
                  <a:pt x="634850" y="2460524"/>
                </a:lnTo>
                <a:lnTo>
                  <a:pt x="645415" y="2471041"/>
                </a:lnTo>
                <a:lnTo>
                  <a:pt x="640611" y="2480115"/>
                </a:lnTo>
                <a:lnTo>
                  <a:pt x="825141" y="3107541"/>
                </a:lnTo>
                <a:lnTo>
                  <a:pt x="1520487" y="3107541"/>
                </a:lnTo>
                <a:lnTo>
                  <a:pt x="1697625" y="2505248"/>
                </a:lnTo>
                <a:lnTo>
                  <a:pt x="1694714" y="2499211"/>
                </a:lnTo>
                <a:lnTo>
                  <a:pt x="1701121" y="2493362"/>
                </a:lnTo>
                <a:lnTo>
                  <a:pt x="1703057" y="2486779"/>
                </a:lnTo>
                <a:lnTo>
                  <a:pt x="1707047" y="2487952"/>
                </a:lnTo>
                <a:lnTo>
                  <a:pt x="1814604" y="2389768"/>
                </a:lnTo>
                <a:cubicBezTo>
                  <a:pt x="2075917" y="2110708"/>
                  <a:pt x="2205489" y="1673395"/>
                  <a:pt x="2146142" y="1237621"/>
                </a:cubicBezTo>
                <a:cubicBezTo>
                  <a:pt x="2067107" y="657287"/>
                  <a:pt x="1675186" y="228824"/>
                  <a:pt x="1210563" y="214813"/>
                </a:cubicBezTo>
                <a:close/>
                <a:moveTo>
                  <a:pt x="1214591" y="383"/>
                </a:moveTo>
                <a:cubicBezTo>
                  <a:pt x="1779092" y="16134"/>
                  <a:pt x="2256408" y="514273"/>
                  <a:pt x="2356115" y="1191705"/>
                </a:cubicBezTo>
                <a:cubicBezTo>
                  <a:pt x="2432917" y="1713508"/>
                  <a:pt x="2269282" y="2238010"/>
                  <a:pt x="1940101" y="2566662"/>
                </a:cubicBezTo>
                <a:lnTo>
                  <a:pt x="1858280" y="2636176"/>
                </a:lnTo>
                <a:lnTo>
                  <a:pt x="1662374" y="3302282"/>
                </a:lnTo>
                <a:lnTo>
                  <a:pt x="1642818" y="3296530"/>
                </a:lnTo>
                <a:lnTo>
                  <a:pt x="1642365" y="3298341"/>
                </a:lnTo>
                <a:lnTo>
                  <a:pt x="668645" y="3298341"/>
                </a:lnTo>
                <a:lnTo>
                  <a:pt x="620945" y="3107541"/>
                </a:lnTo>
                <a:lnTo>
                  <a:pt x="625980" y="3107541"/>
                </a:lnTo>
                <a:lnTo>
                  <a:pt x="477257" y="2601865"/>
                </a:lnTo>
                <a:lnTo>
                  <a:pt x="398351" y="2528795"/>
                </a:lnTo>
                <a:cubicBezTo>
                  <a:pt x="83040" y="2187205"/>
                  <a:pt x="-63507" y="1661104"/>
                  <a:pt x="25870" y="1147159"/>
                </a:cubicBezTo>
                <a:cubicBezTo>
                  <a:pt x="144292" y="466195"/>
                  <a:pt x="643655" y="-15547"/>
                  <a:pt x="1214591" y="38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a:spLocks noChangeAspect="1"/>
          </p:cNvSpPr>
          <p:nvPr/>
        </p:nvSpPr>
        <p:spPr>
          <a:xfrm>
            <a:off x="6328411" y="3493110"/>
            <a:ext cx="248400" cy="248400"/>
          </a:xfrm>
          <a:custGeom>
            <a:avLst/>
            <a:gdLst>
              <a:gd name="connsiteX0" fmla="*/ 2880510 w 6121022"/>
              <a:gd name="connsiteY0" fmla="*/ 1007091 h 6121022"/>
              <a:gd name="connsiteX1" fmla="*/ 3240510 w 6121022"/>
              <a:gd name="connsiteY1" fmla="*/ 1007091 h 6121022"/>
              <a:gd name="connsiteX2" fmla="*/ 3240510 w 6121022"/>
              <a:gd name="connsiteY2" fmla="*/ 2880510 h 6121022"/>
              <a:gd name="connsiteX3" fmla="*/ 4517409 w 6121022"/>
              <a:gd name="connsiteY3" fmla="*/ 2880510 h 6121022"/>
              <a:gd name="connsiteX4" fmla="*/ 4517409 w 6121022"/>
              <a:gd name="connsiteY4" fmla="*/ 3240510 h 6121022"/>
              <a:gd name="connsiteX5" fmla="*/ 3240510 w 6121022"/>
              <a:gd name="connsiteY5" fmla="*/ 3240510 h 6121022"/>
              <a:gd name="connsiteX6" fmla="*/ 3240510 w 6121022"/>
              <a:gd name="connsiteY6" fmla="*/ 3245324 h 6121022"/>
              <a:gd name="connsiteX7" fmla="*/ 2880510 w 6121022"/>
              <a:gd name="connsiteY7" fmla="*/ 3245324 h 6121022"/>
              <a:gd name="connsiteX8" fmla="*/ 2880510 w 6121022"/>
              <a:gd name="connsiteY8" fmla="*/ 3240510 h 6121022"/>
              <a:gd name="connsiteX9" fmla="*/ 2880510 w 6121022"/>
              <a:gd name="connsiteY9" fmla="*/ 2880510 h 6121022"/>
              <a:gd name="connsiteX10" fmla="*/ 3060510 w 6121022"/>
              <a:gd name="connsiteY10" fmla="*/ 417638 h 6121022"/>
              <a:gd name="connsiteX11" fmla="*/ 417637 w 6121022"/>
              <a:gd name="connsiteY11" fmla="*/ 3060511 h 6121022"/>
              <a:gd name="connsiteX12" fmla="*/ 3060510 w 6121022"/>
              <a:gd name="connsiteY12" fmla="*/ 5703384 h 6121022"/>
              <a:gd name="connsiteX13" fmla="*/ 5703383 w 6121022"/>
              <a:gd name="connsiteY13" fmla="*/ 3060511 h 6121022"/>
              <a:gd name="connsiteX14" fmla="*/ 3060510 w 6121022"/>
              <a:gd name="connsiteY14" fmla="*/ 417638 h 6121022"/>
              <a:gd name="connsiteX15" fmla="*/ 3060511 w 6121022"/>
              <a:gd name="connsiteY15" fmla="*/ 0 h 6121022"/>
              <a:gd name="connsiteX16" fmla="*/ 6121022 w 6121022"/>
              <a:gd name="connsiteY16" fmla="*/ 3060511 h 6121022"/>
              <a:gd name="connsiteX17" fmla="*/ 3060511 w 6121022"/>
              <a:gd name="connsiteY17" fmla="*/ 6121022 h 6121022"/>
              <a:gd name="connsiteX18" fmla="*/ 0 w 6121022"/>
              <a:gd name="connsiteY18" fmla="*/ 3060511 h 6121022"/>
              <a:gd name="connsiteX19" fmla="*/ 3060511 w 6121022"/>
              <a:gd name="connsiteY19" fmla="*/ 0 h 612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121022" h="6121022">
                <a:moveTo>
                  <a:pt x="2880510" y="1007091"/>
                </a:moveTo>
                <a:lnTo>
                  <a:pt x="3240510" y="1007091"/>
                </a:lnTo>
                <a:lnTo>
                  <a:pt x="3240510" y="2880510"/>
                </a:lnTo>
                <a:lnTo>
                  <a:pt x="4517409" y="2880510"/>
                </a:lnTo>
                <a:lnTo>
                  <a:pt x="4517409" y="3240510"/>
                </a:lnTo>
                <a:lnTo>
                  <a:pt x="3240510" y="3240510"/>
                </a:lnTo>
                <a:lnTo>
                  <a:pt x="3240510" y="3245324"/>
                </a:lnTo>
                <a:lnTo>
                  <a:pt x="2880510" y="3245324"/>
                </a:lnTo>
                <a:lnTo>
                  <a:pt x="2880510" y="3240510"/>
                </a:lnTo>
                <a:lnTo>
                  <a:pt x="2880510" y="2880510"/>
                </a:lnTo>
                <a:close/>
                <a:moveTo>
                  <a:pt x="3060510" y="417638"/>
                </a:moveTo>
                <a:cubicBezTo>
                  <a:pt x="1600892" y="417638"/>
                  <a:pt x="417637" y="1600893"/>
                  <a:pt x="417637" y="3060511"/>
                </a:cubicBezTo>
                <a:cubicBezTo>
                  <a:pt x="417637" y="4520129"/>
                  <a:pt x="1600892" y="5703384"/>
                  <a:pt x="3060510" y="5703384"/>
                </a:cubicBezTo>
                <a:cubicBezTo>
                  <a:pt x="4520128" y="5703384"/>
                  <a:pt x="5703383" y="4520129"/>
                  <a:pt x="5703383" y="3060511"/>
                </a:cubicBezTo>
                <a:cubicBezTo>
                  <a:pt x="5703383" y="1600893"/>
                  <a:pt x="4520128" y="417638"/>
                  <a:pt x="3060510" y="417638"/>
                </a:cubicBezTo>
                <a:close/>
                <a:moveTo>
                  <a:pt x="3060511" y="0"/>
                </a:moveTo>
                <a:cubicBezTo>
                  <a:pt x="4750785" y="0"/>
                  <a:pt x="6121022" y="1370237"/>
                  <a:pt x="6121022" y="3060511"/>
                </a:cubicBezTo>
                <a:cubicBezTo>
                  <a:pt x="6121022" y="4750785"/>
                  <a:pt x="4750785" y="6121022"/>
                  <a:pt x="3060511" y="6121022"/>
                </a:cubicBezTo>
                <a:cubicBezTo>
                  <a:pt x="1370237" y="6121022"/>
                  <a:pt x="0" y="4750785"/>
                  <a:pt x="0" y="3060511"/>
                </a:cubicBezTo>
                <a:cubicBezTo>
                  <a:pt x="0" y="1370237"/>
                  <a:pt x="1370237" y="0"/>
                  <a:pt x="30605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E8EBCE0B-2920-4213-AA6B-B9AD0AD26617}"/>
              </a:ext>
            </a:extLst>
          </p:cNvPr>
          <p:cNvSpPr/>
          <p:nvPr/>
        </p:nvSpPr>
        <p:spPr>
          <a:xfrm>
            <a:off x="6179112" y="4472476"/>
            <a:ext cx="540327" cy="540327"/>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任意多边形 23">
            <a:extLst>
              <a:ext uri="{FF2B5EF4-FFF2-40B4-BE49-F238E27FC236}">
                <a16:creationId xmlns:a16="http://schemas.microsoft.com/office/drawing/2014/main" id="{1545F985-E864-4DC8-9565-1E7E7E60F7BA}"/>
              </a:ext>
            </a:extLst>
          </p:cNvPr>
          <p:cNvSpPr>
            <a:spLocks noChangeAspect="1"/>
          </p:cNvSpPr>
          <p:nvPr/>
        </p:nvSpPr>
        <p:spPr>
          <a:xfrm>
            <a:off x="6344892" y="4616685"/>
            <a:ext cx="208765" cy="252000"/>
          </a:xfrm>
          <a:custGeom>
            <a:avLst/>
            <a:gdLst>
              <a:gd name="connsiteX0" fmla="*/ 2540739 w 5081480"/>
              <a:gd name="connsiteY0" fmla="*/ 1728231 h 6133889"/>
              <a:gd name="connsiteX1" fmla="*/ 1728230 w 5081480"/>
              <a:gd name="connsiteY1" fmla="*/ 2540740 h 6133889"/>
              <a:gd name="connsiteX2" fmla="*/ 2540739 w 5081480"/>
              <a:gd name="connsiteY2" fmla="*/ 3353249 h 6133889"/>
              <a:gd name="connsiteX3" fmla="*/ 3353248 w 5081480"/>
              <a:gd name="connsiteY3" fmla="*/ 2540740 h 6133889"/>
              <a:gd name="connsiteX4" fmla="*/ 2540739 w 5081480"/>
              <a:gd name="connsiteY4" fmla="*/ 1728231 h 6133889"/>
              <a:gd name="connsiteX5" fmla="*/ 2540740 w 5081480"/>
              <a:gd name="connsiteY5" fmla="*/ 1407975 h 6133889"/>
              <a:gd name="connsiteX6" fmla="*/ 3673505 w 5081480"/>
              <a:gd name="connsiteY6" fmla="*/ 2540740 h 6133889"/>
              <a:gd name="connsiteX7" fmla="*/ 2540740 w 5081480"/>
              <a:gd name="connsiteY7" fmla="*/ 3673505 h 6133889"/>
              <a:gd name="connsiteX8" fmla="*/ 1407975 w 5081480"/>
              <a:gd name="connsiteY8" fmla="*/ 2540740 h 6133889"/>
              <a:gd name="connsiteX9" fmla="*/ 2540740 w 5081480"/>
              <a:gd name="connsiteY9" fmla="*/ 1407975 h 6133889"/>
              <a:gd name="connsiteX10" fmla="*/ 2540740 w 5081480"/>
              <a:gd name="connsiteY10" fmla="*/ 305592 h 6133889"/>
              <a:gd name="connsiteX11" fmla="*/ 960252 w 5081480"/>
              <a:gd name="connsiteY11" fmla="*/ 960252 h 6133889"/>
              <a:gd name="connsiteX12" fmla="*/ 960252 w 5081480"/>
              <a:gd name="connsiteY12" fmla="*/ 4121228 h 6133889"/>
              <a:gd name="connsiteX13" fmla="*/ 2540740 w 5081480"/>
              <a:gd name="connsiteY13" fmla="*/ 5701715 h 6133889"/>
              <a:gd name="connsiteX14" fmla="*/ 4121228 w 5081480"/>
              <a:gd name="connsiteY14" fmla="*/ 4121228 h 6133889"/>
              <a:gd name="connsiteX15" fmla="*/ 4121228 w 5081480"/>
              <a:gd name="connsiteY15" fmla="*/ 960252 h 6133889"/>
              <a:gd name="connsiteX16" fmla="*/ 2540740 w 5081480"/>
              <a:gd name="connsiteY16" fmla="*/ 305592 h 6133889"/>
              <a:gd name="connsiteX17" fmla="*/ 2540741 w 5081480"/>
              <a:gd name="connsiteY17" fmla="*/ 0 h 6133889"/>
              <a:gd name="connsiteX18" fmla="*/ 4337315 w 5081480"/>
              <a:gd name="connsiteY18" fmla="*/ 744165 h 6133889"/>
              <a:gd name="connsiteX19" fmla="*/ 4337315 w 5081480"/>
              <a:gd name="connsiteY19" fmla="*/ 4337315 h 6133889"/>
              <a:gd name="connsiteX20" fmla="*/ 2540740 w 5081480"/>
              <a:gd name="connsiteY20" fmla="*/ 6133889 h 6133889"/>
              <a:gd name="connsiteX21" fmla="*/ 744165 w 5081480"/>
              <a:gd name="connsiteY21" fmla="*/ 4337315 h 6133889"/>
              <a:gd name="connsiteX22" fmla="*/ 744165 w 5081480"/>
              <a:gd name="connsiteY22" fmla="*/ 744165 h 6133889"/>
              <a:gd name="connsiteX23" fmla="*/ 2540741 w 5081480"/>
              <a:gd name="connsiteY23" fmla="*/ 0 h 613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81480" h="6133889">
                <a:moveTo>
                  <a:pt x="2540739" y="1728231"/>
                </a:moveTo>
                <a:cubicBezTo>
                  <a:pt x="2092003" y="1728231"/>
                  <a:pt x="1728230" y="2092004"/>
                  <a:pt x="1728230" y="2540740"/>
                </a:cubicBezTo>
                <a:cubicBezTo>
                  <a:pt x="1728230" y="2989476"/>
                  <a:pt x="2092003" y="3353249"/>
                  <a:pt x="2540739" y="3353249"/>
                </a:cubicBezTo>
                <a:cubicBezTo>
                  <a:pt x="2989475" y="3353249"/>
                  <a:pt x="3353248" y="2989476"/>
                  <a:pt x="3353248" y="2540740"/>
                </a:cubicBezTo>
                <a:cubicBezTo>
                  <a:pt x="3353248" y="2092004"/>
                  <a:pt x="2989475" y="1728231"/>
                  <a:pt x="2540739" y="1728231"/>
                </a:cubicBezTo>
                <a:close/>
                <a:moveTo>
                  <a:pt x="2540740" y="1407975"/>
                </a:moveTo>
                <a:cubicBezTo>
                  <a:pt x="3166349" y="1407975"/>
                  <a:pt x="3673505" y="1915131"/>
                  <a:pt x="3673505" y="2540740"/>
                </a:cubicBezTo>
                <a:cubicBezTo>
                  <a:pt x="3673505" y="3166349"/>
                  <a:pt x="3166349" y="3673505"/>
                  <a:pt x="2540740" y="3673505"/>
                </a:cubicBezTo>
                <a:cubicBezTo>
                  <a:pt x="1915131" y="3673505"/>
                  <a:pt x="1407975" y="3166349"/>
                  <a:pt x="1407975" y="2540740"/>
                </a:cubicBezTo>
                <a:cubicBezTo>
                  <a:pt x="1407975" y="1915131"/>
                  <a:pt x="1915131" y="1407975"/>
                  <a:pt x="2540740" y="1407975"/>
                </a:cubicBezTo>
                <a:close/>
                <a:moveTo>
                  <a:pt x="2540740" y="305592"/>
                </a:moveTo>
                <a:cubicBezTo>
                  <a:pt x="1968716" y="305592"/>
                  <a:pt x="1396692" y="523813"/>
                  <a:pt x="960252" y="960252"/>
                </a:cubicBezTo>
                <a:cubicBezTo>
                  <a:pt x="87373" y="1833132"/>
                  <a:pt x="87373" y="3248348"/>
                  <a:pt x="960252" y="4121228"/>
                </a:cubicBezTo>
                <a:lnTo>
                  <a:pt x="2540740" y="5701715"/>
                </a:lnTo>
                <a:lnTo>
                  <a:pt x="4121228" y="4121228"/>
                </a:lnTo>
                <a:cubicBezTo>
                  <a:pt x="4994107" y="3248348"/>
                  <a:pt x="4994107" y="1833132"/>
                  <a:pt x="4121228" y="960252"/>
                </a:cubicBezTo>
                <a:cubicBezTo>
                  <a:pt x="3684788" y="523813"/>
                  <a:pt x="3112764" y="305592"/>
                  <a:pt x="2540740" y="305592"/>
                </a:cubicBezTo>
                <a:close/>
                <a:moveTo>
                  <a:pt x="2540741" y="0"/>
                </a:moveTo>
                <a:cubicBezTo>
                  <a:pt x="3190972" y="0"/>
                  <a:pt x="3841205" y="248054"/>
                  <a:pt x="4337315" y="744165"/>
                </a:cubicBezTo>
                <a:cubicBezTo>
                  <a:pt x="5329535" y="1736387"/>
                  <a:pt x="5329535" y="3345095"/>
                  <a:pt x="4337315" y="4337315"/>
                </a:cubicBezTo>
                <a:lnTo>
                  <a:pt x="2540740" y="6133889"/>
                </a:lnTo>
                <a:lnTo>
                  <a:pt x="744165" y="4337315"/>
                </a:lnTo>
                <a:cubicBezTo>
                  <a:pt x="-248055" y="3345094"/>
                  <a:pt x="-248055" y="1736387"/>
                  <a:pt x="744165" y="744165"/>
                </a:cubicBezTo>
                <a:cubicBezTo>
                  <a:pt x="1240276" y="248055"/>
                  <a:pt x="1890508" y="0"/>
                  <a:pt x="25407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0" name="文本框 39">
            <a:extLst>
              <a:ext uri="{FF2B5EF4-FFF2-40B4-BE49-F238E27FC236}">
                <a16:creationId xmlns:a16="http://schemas.microsoft.com/office/drawing/2014/main" id="{E608C55B-ABD5-4C7F-B0F8-2C9919A4A898}"/>
              </a:ext>
            </a:extLst>
          </p:cNvPr>
          <p:cNvSpPr txBox="1"/>
          <p:nvPr/>
        </p:nvSpPr>
        <p:spPr>
          <a:xfrm>
            <a:off x="5757726" y="5038254"/>
            <a:ext cx="1390636" cy="406971"/>
          </a:xfrm>
          <a:prstGeom prst="rect">
            <a:avLst/>
          </a:prstGeom>
          <a:noFill/>
        </p:spPr>
        <p:txBody>
          <a:bodyPr wrap="square" lIns="0" rIns="0" rtlCol="0">
            <a:spAutoFit/>
          </a:bodyPr>
          <a:lstStyle/>
          <a:p>
            <a:pPr algn="ctr">
              <a:lnSpc>
                <a:spcPct val="125000"/>
              </a:lnSpc>
            </a:pPr>
            <a:r>
              <a:rPr lang="en-US" altLang="zh-CN" b="1" dirty="0">
                <a:latin typeface="微软雅黑" panose="020B0503020204020204" pitchFamily="34" charset="-122"/>
                <a:ea typeface="微软雅黑" panose="020B0503020204020204" pitchFamily="34" charset="-122"/>
              </a:rPr>
              <a:t>SI</a:t>
            </a:r>
            <a:r>
              <a:rPr lang="zh-CN" altLang="en-US" b="1" dirty="0">
                <a:latin typeface="微软雅黑" panose="020B0503020204020204" pitchFamily="34" charset="-122"/>
                <a:ea typeface="微软雅黑" panose="020B0503020204020204" pitchFamily="34" charset="-122"/>
              </a:rPr>
              <a:t>仿真</a:t>
            </a:r>
          </a:p>
        </p:txBody>
      </p:sp>
      <p:sp>
        <p:nvSpPr>
          <p:cNvPr id="41" name="文本框 40">
            <a:extLst>
              <a:ext uri="{FF2B5EF4-FFF2-40B4-BE49-F238E27FC236}">
                <a16:creationId xmlns:a16="http://schemas.microsoft.com/office/drawing/2014/main" id="{E535D276-F931-48CA-95D6-27D1364AEB5E}"/>
              </a:ext>
            </a:extLst>
          </p:cNvPr>
          <p:cNvSpPr txBox="1"/>
          <p:nvPr/>
        </p:nvSpPr>
        <p:spPr>
          <a:xfrm>
            <a:off x="7450061" y="4550295"/>
            <a:ext cx="4494682" cy="569580"/>
          </a:xfrm>
          <a:prstGeom prst="rect">
            <a:avLst/>
          </a:prstGeom>
          <a:noFill/>
        </p:spPr>
        <p:txBody>
          <a:bodyPr wrap="square" lIns="0" rIns="0" rtlCol="0" anchor="t">
            <a:spAutoFit/>
          </a:bodyPr>
          <a:lstStyle/>
          <a:p>
            <a:pPr>
              <a:lnSpc>
                <a:spcPct val="125000"/>
              </a:lnSpc>
            </a:pPr>
            <a:r>
              <a:rPr lang="en-US" altLang="zh-CN" sz="1300" dirty="0">
                <a:latin typeface="微软雅黑" panose="020B0503020204020204" pitchFamily="34" charset="-122"/>
                <a:ea typeface="微软雅黑" panose="020B0503020204020204" pitchFamily="34" charset="-122"/>
              </a:rPr>
              <a:t>SI</a:t>
            </a:r>
            <a:r>
              <a:rPr lang="zh-CN" altLang="en-US" sz="1300" dirty="0">
                <a:latin typeface="微软雅黑" panose="020B0503020204020204" pitchFamily="34" charset="-122"/>
                <a:ea typeface="微软雅黑" panose="020B0503020204020204" pitchFamily="34" charset="-122"/>
              </a:rPr>
              <a:t>模型仿真，确认过孔阻抗连续性；整体链路的阻抗连续性，以及整体链路的损耗。</a:t>
            </a:r>
          </a:p>
        </p:txBody>
      </p:sp>
      <p:sp>
        <p:nvSpPr>
          <p:cNvPr id="22" name="矩形 21">
            <a:extLst>
              <a:ext uri="{FF2B5EF4-FFF2-40B4-BE49-F238E27FC236}">
                <a16:creationId xmlns:a16="http://schemas.microsoft.com/office/drawing/2014/main" id="{D8226F07-A27C-4365-A42A-6D958C14CE5A}"/>
              </a:ext>
            </a:extLst>
          </p:cNvPr>
          <p:cNvSpPr/>
          <p:nvPr/>
        </p:nvSpPr>
        <p:spPr>
          <a:xfrm>
            <a:off x="239350" y="925369"/>
            <a:ext cx="2388345" cy="1661993"/>
          </a:xfrm>
          <a:prstGeom prst="rect">
            <a:avLst/>
          </a:prstGeom>
        </p:spPr>
        <p:txBody>
          <a:bodyPr wrap="square">
            <a:spAutoFit/>
          </a:bodyPr>
          <a:lstStyle/>
          <a:p>
            <a:r>
              <a:rPr lang="zh-CN" altLang="en-US" b="1" dirty="0">
                <a:solidFill>
                  <a:schemeClr val="tx1">
                    <a:lumMod val="75000"/>
                    <a:lumOff val="25000"/>
                  </a:schemeClr>
                </a:solidFill>
                <a:cs typeface="+mn-ea"/>
                <a:sym typeface="+mn-lt"/>
              </a:rPr>
              <a:t>板卡设计、线缆设计</a:t>
            </a:r>
            <a:endParaRPr lang="en-US" altLang="zh-CN" b="1" dirty="0">
              <a:solidFill>
                <a:schemeClr val="tx1">
                  <a:lumMod val="75000"/>
                  <a:lumOff val="25000"/>
                </a:schemeClr>
              </a:solidFill>
              <a:cs typeface="+mn-ea"/>
              <a:sym typeface="+mn-lt"/>
            </a:endParaRPr>
          </a:p>
          <a:p>
            <a:pPr marL="285750" indent="-285750">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原理图设计</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叠层设计</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Layout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设计</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SI</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仿真</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线缆设计</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3" name="组合 2">
            <a:extLst>
              <a:ext uri="{FF2B5EF4-FFF2-40B4-BE49-F238E27FC236}">
                <a16:creationId xmlns:a16="http://schemas.microsoft.com/office/drawing/2014/main" id="{E111DC2C-4610-4E59-9113-B28802C885A2}"/>
              </a:ext>
            </a:extLst>
          </p:cNvPr>
          <p:cNvGrpSpPr/>
          <p:nvPr/>
        </p:nvGrpSpPr>
        <p:grpSpPr>
          <a:xfrm>
            <a:off x="6179110" y="5666795"/>
            <a:ext cx="540327" cy="540327"/>
            <a:chOff x="6179110" y="5910635"/>
            <a:chExt cx="540327" cy="540327"/>
          </a:xfrm>
          <a:solidFill>
            <a:schemeClr val="accent3">
              <a:lumMod val="60000"/>
              <a:lumOff val="40000"/>
            </a:schemeClr>
          </a:solidFill>
        </p:grpSpPr>
        <p:sp>
          <p:nvSpPr>
            <p:cNvPr id="44" name="椭圆 43">
              <a:extLst>
                <a:ext uri="{FF2B5EF4-FFF2-40B4-BE49-F238E27FC236}">
                  <a16:creationId xmlns:a16="http://schemas.microsoft.com/office/drawing/2014/main" id="{518361BE-8C7D-4FC2-89FA-13B1711D8D42}"/>
                </a:ext>
              </a:extLst>
            </p:cNvPr>
            <p:cNvSpPr/>
            <p:nvPr/>
          </p:nvSpPr>
          <p:spPr>
            <a:xfrm>
              <a:off x="6179110" y="5910635"/>
              <a:ext cx="540327" cy="5403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Freeform 26">
              <a:extLst>
                <a:ext uri="{FF2B5EF4-FFF2-40B4-BE49-F238E27FC236}">
                  <a16:creationId xmlns:a16="http://schemas.microsoft.com/office/drawing/2014/main" id="{78033ADD-E610-438E-981F-3C0F0FF90769}"/>
                </a:ext>
              </a:extLst>
            </p:cNvPr>
            <p:cNvSpPr>
              <a:spLocks noEditPoints="1"/>
            </p:cNvSpPr>
            <p:nvPr/>
          </p:nvSpPr>
          <p:spPr bwMode="auto">
            <a:xfrm>
              <a:off x="6328411" y="6061036"/>
              <a:ext cx="225246" cy="216155"/>
            </a:xfrm>
            <a:custGeom>
              <a:avLst/>
              <a:gdLst/>
              <a:ahLst/>
              <a:cxnLst>
                <a:cxn ang="0">
                  <a:pos x="51" y="27"/>
                </a:cxn>
                <a:cxn ang="0">
                  <a:pos x="46" y="23"/>
                </a:cxn>
                <a:cxn ang="0">
                  <a:pos x="52" y="20"/>
                </a:cxn>
                <a:cxn ang="0">
                  <a:pos x="49" y="13"/>
                </a:cxn>
                <a:cxn ang="0">
                  <a:pos x="47" y="12"/>
                </a:cxn>
                <a:cxn ang="0">
                  <a:pos x="40" y="13"/>
                </a:cxn>
                <a:cxn ang="0">
                  <a:pos x="43" y="7"/>
                </a:cxn>
                <a:cxn ang="0">
                  <a:pos x="37" y="2"/>
                </a:cxn>
                <a:cxn ang="0">
                  <a:pos x="32" y="7"/>
                </a:cxn>
                <a:cxn ang="0">
                  <a:pos x="29" y="1"/>
                </a:cxn>
                <a:cxn ang="0">
                  <a:pos x="27" y="0"/>
                </a:cxn>
                <a:cxn ang="0">
                  <a:pos x="19" y="2"/>
                </a:cxn>
                <a:cxn ang="0">
                  <a:pos x="18" y="9"/>
                </a:cxn>
                <a:cxn ang="0">
                  <a:pos x="12" y="4"/>
                </a:cxn>
                <a:cxn ang="0">
                  <a:pos x="6" y="10"/>
                </a:cxn>
                <a:cxn ang="0">
                  <a:pos x="10" y="15"/>
                </a:cxn>
                <a:cxn ang="0">
                  <a:pos x="3" y="16"/>
                </a:cxn>
                <a:cxn ang="0">
                  <a:pos x="2" y="17"/>
                </a:cxn>
                <a:cxn ang="0">
                  <a:pos x="0" y="25"/>
                </a:cxn>
                <a:cxn ang="0">
                  <a:pos x="7" y="27"/>
                </a:cxn>
                <a:cxn ang="0">
                  <a:pos x="2" y="31"/>
                </a:cxn>
                <a:cxn ang="0">
                  <a:pos x="4" y="39"/>
                </a:cxn>
                <a:cxn ang="0">
                  <a:pos x="6" y="40"/>
                </a:cxn>
                <a:cxn ang="0">
                  <a:pos x="12" y="40"/>
                </a:cxn>
                <a:cxn ang="0">
                  <a:pos x="10" y="47"/>
                </a:cxn>
                <a:cxn ang="0">
                  <a:pos x="17" y="50"/>
                </a:cxn>
                <a:cxn ang="0">
                  <a:pos x="21" y="45"/>
                </a:cxn>
                <a:cxn ang="0">
                  <a:pos x="23" y="51"/>
                </a:cxn>
                <a:cxn ang="0">
                  <a:pos x="24" y="52"/>
                </a:cxn>
                <a:cxn ang="0">
                  <a:pos x="32" y="52"/>
                </a:cxn>
                <a:cxn ang="0">
                  <a:pos x="33" y="50"/>
                </a:cxn>
                <a:cxn ang="0">
                  <a:pos x="35" y="44"/>
                </a:cxn>
                <a:cxn ang="0">
                  <a:pos x="40" y="48"/>
                </a:cxn>
                <a:cxn ang="0">
                  <a:pos x="46" y="43"/>
                </a:cxn>
                <a:cxn ang="0">
                  <a:pos x="46" y="41"/>
                </a:cxn>
                <a:cxn ang="0">
                  <a:pos x="43" y="35"/>
                </a:cxn>
                <a:cxn ang="0">
                  <a:pos x="50" y="36"/>
                </a:cxn>
                <a:cxn ang="0">
                  <a:pos x="52" y="29"/>
                </a:cxn>
                <a:cxn ang="0">
                  <a:pos x="33" y="28"/>
                </a:cxn>
                <a:cxn ang="0">
                  <a:pos x="19" y="25"/>
                </a:cxn>
                <a:cxn ang="0">
                  <a:pos x="33" y="28"/>
                </a:cxn>
              </a:cxnLst>
              <a:rect l="0" t="0" r="r" b="b"/>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grpFill/>
            <a:ln w="9525">
              <a:solidFill>
                <a:schemeClr val="bg1"/>
              </a:solidFill>
              <a:round/>
            </a:ln>
          </p:spPr>
          <p:txBody>
            <a:bodyPr/>
            <a:lstStyle/>
            <a:p>
              <a:pPr>
                <a:defRPr/>
              </a:pPr>
              <a:endParaRPr lang="da-DK" sz="2400" kern="0" dirty="0">
                <a:solidFill>
                  <a:sysClr val="windowText" lastClr="000000"/>
                </a:solidFill>
                <a:latin typeface="微软雅黑" panose="020B0503020204020204" pitchFamily="34" charset="-122"/>
                <a:ea typeface="微软雅黑" panose="020B0503020204020204" pitchFamily="34" charset="-122"/>
              </a:endParaRPr>
            </a:p>
          </p:txBody>
        </p:sp>
      </p:grpSp>
      <p:sp>
        <p:nvSpPr>
          <p:cNvPr id="48" name="文本框 47">
            <a:extLst>
              <a:ext uri="{FF2B5EF4-FFF2-40B4-BE49-F238E27FC236}">
                <a16:creationId xmlns:a16="http://schemas.microsoft.com/office/drawing/2014/main" id="{8F95A276-5EBF-4818-966A-9E78E5D5E0D4}"/>
              </a:ext>
            </a:extLst>
          </p:cNvPr>
          <p:cNvSpPr txBox="1"/>
          <p:nvPr/>
        </p:nvSpPr>
        <p:spPr>
          <a:xfrm>
            <a:off x="5834517" y="6216176"/>
            <a:ext cx="1390636" cy="406971"/>
          </a:xfrm>
          <a:prstGeom prst="rect">
            <a:avLst/>
          </a:prstGeom>
          <a:noFill/>
        </p:spPr>
        <p:txBody>
          <a:bodyPr wrap="square" lIns="0" rIns="0" rtlCol="0">
            <a:spAutoFit/>
          </a:bodyPr>
          <a:lstStyle/>
          <a:p>
            <a:pPr algn="ctr">
              <a:lnSpc>
                <a:spcPct val="125000"/>
              </a:lnSpc>
            </a:pPr>
            <a:r>
              <a:rPr lang="zh-CN" altLang="en-US" b="1" dirty="0">
                <a:latin typeface="微软雅黑" panose="020B0503020204020204" pitchFamily="34" charset="-122"/>
                <a:ea typeface="微软雅黑" panose="020B0503020204020204" pitchFamily="34" charset="-122"/>
              </a:rPr>
              <a:t>线缆设计</a:t>
            </a:r>
          </a:p>
        </p:txBody>
      </p:sp>
      <p:sp>
        <p:nvSpPr>
          <p:cNvPr id="49" name="文本框 48">
            <a:extLst>
              <a:ext uri="{FF2B5EF4-FFF2-40B4-BE49-F238E27FC236}">
                <a16:creationId xmlns:a16="http://schemas.microsoft.com/office/drawing/2014/main" id="{9E350480-2562-45E2-BDC8-59B6FE62F6C1}"/>
              </a:ext>
            </a:extLst>
          </p:cNvPr>
          <p:cNvSpPr txBox="1"/>
          <p:nvPr/>
        </p:nvSpPr>
        <p:spPr>
          <a:xfrm>
            <a:off x="7450061" y="5475419"/>
            <a:ext cx="4494682" cy="1319785"/>
          </a:xfrm>
          <a:prstGeom prst="rect">
            <a:avLst/>
          </a:prstGeom>
          <a:noFill/>
        </p:spPr>
        <p:txBody>
          <a:bodyPr wrap="square" lIns="0" rIns="0" rtlCol="0" anchor="t">
            <a:spAutoFit/>
          </a:bodyPr>
          <a:lstStyle/>
          <a:p>
            <a:pPr>
              <a:lnSpc>
                <a:spcPct val="125000"/>
              </a:lnSpc>
            </a:pPr>
            <a:r>
              <a:rPr lang="zh-CN" altLang="en-US" sz="1300" dirty="0">
                <a:latin typeface="微软雅黑" panose="020B0503020204020204" pitchFamily="34" charset="-122"/>
                <a:ea typeface="微软雅黑" panose="020B0503020204020204" pitchFamily="34" charset="-122"/>
              </a:rPr>
              <a:t>系统架构师</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硬件工程师根据产品测试配置需求，确认新开线缆规格，结构工程师确认线长，最终由系统架构师</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硬件工程师输出</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线缆样品制作需求单</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。线缆工程师根据</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线缆样品制作需求单</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请厂商回传图纸，图纸确认完成后，启动线缆制作。</a:t>
            </a:r>
          </a:p>
        </p:txBody>
      </p:sp>
      <p:sp>
        <p:nvSpPr>
          <p:cNvPr id="36" name="矩形 35">
            <a:extLst>
              <a:ext uri="{FF2B5EF4-FFF2-40B4-BE49-F238E27FC236}">
                <a16:creationId xmlns:a16="http://schemas.microsoft.com/office/drawing/2014/main" id="{B0CED49F-0CEF-4EF8-883B-9045668522CE}"/>
              </a:ext>
            </a:extLst>
          </p:cNvPr>
          <p:cNvSpPr/>
          <p:nvPr/>
        </p:nvSpPr>
        <p:spPr>
          <a:xfrm>
            <a:off x="3638348" y="1119166"/>
            <a:ext cx="2388345" cy="1354217"/>
          </a:xfrm>
          <a:prstGeom prst="rect">
            <a:avLst/>
          </a:prstGeom>
        </p:spPr>
        <p:txBody>
          <a:bodyPr wrap="square">
            <a:spAutoFit/>
          </a:bodyPr>
          <a:lstStyle/>
          <a:p>
            <a:r>
              <a:rPr lang="zh-CN" altLang="en-US" b="1" dirty="0">
                <a:solidFill>
                  <a:schemeClr val="tx1">
                    <a:lumMod val="75000"/>
                    <a:lumOff val="25000"/>
                  </a:schemeClr>
                </a:solidFill>
                <a:cs typeface="+mn-ea"/>
                <a:sym typeface="+mn-lt"/>
              </a:rPr>
              <a:t>物料追踪</a:t>
            </a:r>
            <a:endParaRPr lang="en-US" altLang="zh-CN" b="1" dirty="0">
              <a:solidFill>
                <a:schemeClr val="tx1">
                  <a:lumMod val="75000"/>
                  <a:lumOff val="25000"/>
                </a:schemeClr>
              </a:solidFill>
              <a:cs typeface="+mn-ea"/>
              <a:sym typeface="+mn-lt"/>
            </a:endParaRPr>
          </a:p>
          <a:p>
            <a:pPr marL="285750" indent="-285750">
              <a:buFont typeface="Arial" panose="020B0604020202020204" pitchFamily="34" charset="0"/>
              <a:buChar char="•"/>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PCB</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基材交期</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PCB</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交期</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板卡交期</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a:p>
            <a:pPr marL="285750" indent="-285750">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线缆交期</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7" name="AutoShape 44">
            <a:extLst>
              <a:ext uri="{FF2B5EF4-FFF2-40B4-BE49-F238E27FC236}">
                <a16:creationId xmlns:a16="http://schemas.microsoft.com/office/drawing/2014/main" id="{409EEEE9-2FFA-47C9-8ED5-382258BB81A5}"/>
              </a:ext>
            </a:extLst>
          </p:cNvPr>
          <p:cNvSpPr>
            <a:spLocks noChangeArrowheads="1"/>
          </p:cNvSpPr>
          <p:nvPr/>
        </p:nvSpPr>
        <p:spPr bwMode="auto">
          <a:xfrm rot="17429801">
            <a:off x="2506198" y="1610611"/>
            <a:ext cx="908795" cy="936625"/>
          </a:xfrm>
          <a:custGeom>
            <a:avLst/>
            <a:gdLst>
              <a:gd name="G0" fmla="+- 0 0 0"/>
              <a:gd name="G1" fmla="+- -7261746 0 0"/>
              <a:gd name="G2" fmla="+- 0 0 -7261746"/>
              <a:gd name="G3" fmla="+- 10800 0 0"/>
              <a:gd name="G4" fmla="+- 0 0 0"/>
              <a:gd name="T0" fmla="*/ 360 256 1"/>
              <a:gd name="T1" fmla="*/ 0 256 1"/>
              <a:gd name="G5" fmla="+- G2 T0 T1"/>
              <a:gd name="G6" fmla="?: G2 G2 G5"/>
              <a:gd name="G7" fmla="+- 0 0 G6"/>
              <a:gd name="G8" fmla="+- 5400 0 0"/>
              <a:gd name="G9" fmla="+- 0 0 -7261746"/>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7261746"/>
              <a:gd name="G36" fmla="sin G34 -7261746"/>
              <a:gd name="G37" fmla="+/ -7261746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6932 w 21600"/>
              <a:gd name="T5" fmla="*/ 1909 h 21600"/>
              <a:gd name="T6" fmla="*/ 7922 w 21600"/>
              <a:gd name="T7" fmla="*/ 3228 h 21600"/>
              <a:gd name="T8" fmla="*/ 13866 w 21600"/>
              <a:gd name="T9" fmla="*/ 6354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10144" y="5399"/>
                  <a:pt x="9494" y="5519"/>
                  <a:pt x="8881" y="5752"/>
                </a:cubicBezTo>
                <a:lnTo>
                  <a:pt x="6963" y="704"/>
                </a:lnTo>
                <a:cubicBezTo>
                  <a:pt x="8189" y="238"/>
                  <a:pt x="9489"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5">
              <a:lumMod val="60000"/>
              <a:lumOff val="40000"/>
            </a:schemeClr>
          </a:solidFill>
          <a:ln>
            <a:noFill/>
          </a:ln>
          <a:effectLst/>
        </p:spPr>
        <p:txBody>
          <a:bodyPr wrap="none" anchor="ctr"/>
          <a:lstStyle/>
          <a:p>
            <a:endParaRPr lang="zh-CN" altLang="en-US">
              <a:solidFill>
                <a:srgbClr val="FFFFFF"/>
              </a:solidFill>
              <a:latin typeface="微软雅黑" panose="020B0503020204020204" pitchFamily="34" charset="-122"/>
              <a:ea typeface="微软雅黑" panose="020B0503020204020204" pitchFamily="34" charset="-122"/>
            </a:endParaRPr>
          </a:p>
        </p:txBody>
      </p:sp>
      <p:graphicFrame>
        <p:nvGraphicFramePr>
          <p:cNvPr id="5" name="表格 4">
            <a:extLst>
              <a:ext uri="{FF2B5EF4-FFF2-40B4-BE49-F238E27FC236}">
                <a16:creationId xmlns:a16="http://schemas.microsoft.com/office/drawing/2014/main" id="{830108F1-C70B-9EF4-BFB6-2984BE9873BD}"/>
              </a:ext>
            </a:extLst>
          </p:cNvPr>
          <p:cNvGraphicFramePr>
            <a:graphicFrameLocks noGrp="1"/>
          </p:cNvGraphicFramePr>
          <p:nvPr/>
        </p:nvGraphicFramePr>
        <p:xfrm>
          <a:off x="207239" y="2534207"/>
          <a:ext cx="5395173" cy="4237085"/>
        </p:xfrm>
        <a:graphic>
          <a:graphicData uri="http://schemas.openxmlformats.org/drawingml/2006/table">
            <a:tbl>
              <a:tblPr firstRow="1" bandRow="1"/>
              <a:tblGrid>
                <a:gridCol w="564548">
                  <a:extLst>
                    <a:ext uri="{9D8B030D-6E8A-4147-A177-3AD203B41FA5}">
                      <a16:colId xmlns:a16="http://schemas.microsoft.com/office/drawing/2014/main" val="773509366"/>
                    </a:ext>
                  </a:extLst>
                </a:gridCol>
                <a:gridCol w="1162974">
                  <a:extLst>
                    <a:ext uri="{9D8B030D-6E8A-4147-A177-3AD203B41FA5}">
                      <a16:colId xmlns:a16="http://schemas.microsoft.com/office/drawing/2014/main" val="869367937"/>
                    </a:ext>
                  </a:extLst>
                </a:gridCol>
                <a:gridCol w="1571348">
                  <a:extLst>
                    <a:ext uri="{9D8B030D-6E8A-4147-A177-3AD203B41FA5}">
                      <a16:colId xmlns:a16="http://schemas.microsoft.com/office/drawing/2014/main" val="99857605"/>
                    </a:ext>
                  </a:extLst>
                </a:gridCol>
                <a:gridCol w="2096303">
                  <a:extLst>
                    <a:ext uri="{9D8B030D-6E8A-4147-A177-3AD203B41FA5}">
                      <a16:colId xmlns:a16="http://schemas.microsoft.com/office/drawing/2014/main" val="1047766596"/>
                    </a:ext>
                  </a:extLst>
                </a:gridCol>
              </a:tblGrid>
              <a:tr h="328211">
                <a:tc>
                  <a:txBody>
                    <a:bodyPr/>
                    <a:lstStyle/>
                    <a:p>
                      <a:pPr algn="ctr"/>
                      <a:r>
                        <a:rPr lang="zh-CN" altLang="en-US" sz="1400" b="1" dirty="0">
                          <a:solidFill>
                            <a:schemeClr val="bg1"/>
                          </a:solidFill>
                          <a:latin typeface="+mn-ea"/>
                          <a:ea typeface="+mn-ea"/>
                        </a:rPr>
                        <a:t>序号</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p>
                      <a:pPr algn="ctr"/>
                      <a:r>
                        <a:rPr lang="zh-CN" altLang="en-US" sz="1400" b="1" dirty="0">
                          <a:solidFill>
                            <a:schemeClr val="bg1"/>
                          </a:solidFill>
                          <a:latin typeface="+mn-ea"/>
                          <a:ea typeface="+mn-ea"/>
                        </a:rPr>
                        <a:t>工作名称</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p>
                      <a:pPr algn="ctr"/>
                      <a:r>
                        <a:rPr lang="zh-CN" altLang="en-US" sz="1400" b="1" dirty="0">
                          <a:solidFill>
                            <a:schemeClr val="bg1"/>
                          </a:solidFill>
                          <a:latin typeface="+mn-ea"/>
                          <a:ea typeface="+mn-ea"/>
                        </a:rPr>
                        <a:t>责任人</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p>
                      <a:pPr algn="ctr"/>
                      <a:r>
                        <a:rPr lang="zh-CN" altLang="en-US" sz="1400" b="1" dirty="0">
                          <a:solidFill>
                            <a:schemeClr val="bg1"/>
                          </a:solidFill>
                          <a:latin typeface="+mn-ea"/>
                          <a:ea typeface="+mn-ea"/>
                        </a:rPr>
                        <a:t>交付物</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extLst>
                  <a:ext uri="{0D108BD9-81ED-4DB2-BD59-A6C34878D82A}">
                    <a16:rowId xmlns:a16="http://schemas.microsoft.com/office/drawing/2014/main" val="3162067804"/>
                  </a:ext>
                </a:extLst>
              </a:tr>
              <a:tr h="1222724">
                <a:tc>
                  <a:txBody>
                    <a:bodyPr/>
                    <a:lstStyle/>
                    <a:p>
                      <a:r>
                        <a:rPr lang="en-US" altLang="zh-CN" sz="1200" dirty="0">
                          <a:latin typeface="+mn-ea"/>
                          <a:ea typeface="+mn-ea"/>
                        </a:rPr>
                        <a:t>1</a:t>
                      </a:r>
                      <a:endParaRPr lang="zh-CN" altLang="en-US" sz="1200" dirty="0">
                        <a:latin typeface="+mn-ea"/>
                        <a:ea typeface="+mn-ea"/>
                      </a:endParaRPr>
                    </a:p>
                  </a:txBody>
                  <a:tcPr anchor="ctr" anchorCtr="1">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zh-CN" altLang="en-US" sz="1200" dirty="0">
                          <a:latin typeface="+mn-ea"/>
                          <a:ea typeface="+mn-ea"/>
                        </a:rPr>
                        <a:t>原理图设计</a:t>
                      </a:r>
                    </a:p>
                  </a:txBody>
                  <a:tcPr anchor="ctr" anchorCtr="1">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pPr algn="ctr"/>
                      <a:r>
                        <a:rPr lang="zh-CN" altLang="en-US" sz="1200" dirty="0">
                          <a:solidFill>
                            <a:srgbClr val="0070C0"/>
                          </a:solidFill>
                          <a:latin typeface="+mn-ea"/>
                          <a:ea typeface="+mn-ea"/>
                        </a:rPr>
                        <a:t>硬件工程师</a:t>
                      </a:r>
                      <a:endParaRPr lang="en-US" altLang="zh-CN" sz="1200" dirty="0">
                        <a:solidFill>
                          <a:srgbClr val="0070C0"/>
                        </a:solidFill>
                        <a:latin typeface="+mn-ea"/>
                        <a:ea typeface="+mn-ea"/>
                      </a:endParaRPr>
                    </a:p>
                    <a:p>
                      <a:pPr algn="ctr"/>
                      <a:r>
                        <a:rPr lang="zh-CN" altLang="en-US" sz="1200" dirty="0">
                          <a:solidFill>
                            <a:srgbClr val="0070C0"/>
                          </a:solidFill>
                          <a:latin typeface="+mn-ea"/>
                          <a:ea typeface="+mn-ea"/>
                        </a:rPr>
                        <a:t>电源工程师</a:t>
                      </a:r>
                    </a:p>
                  </a:txBody>
                  <a:tcPr anchor="ctr" anchorCtr="1">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pPr algn="ctr"/>
                      <a:r>
                        <a:rPr lang="en-US" altLang="zh-CN" sz="1200" dirty="0">
                          <a:latin typeface="+mn-ea"/>
                          <a:ea typeface="+mn-ea"/>
                        </a:rPr>
                        <a:t>《BOM》</a:t>
                      </a:r>
                      <a:r>
                        <a:rPr lang="zh-CN" altLang="en-US" sz="1200" dirty="0">
                          <a:latin typeface="+mn-ea"/>
                          <a:ea typeface="+mn-ea"/>
                        </a:rPr>
                        <a:t>、</a:t>
                      </a:r>
                      <a:r>
                        <a:rPr lang="en-US" altLang="zh-CN" sz="1200" dirty="0">
                          <a:latin typeface="+mn-ea"/>
                          <a:ea typeface="+mn-ea"/>
                        </a:rPr>
                        <a:t>《</a:t>
                      </a:r>
                      <a:r>
                        <a:rPr lang="zh-CN" altLang="en-US" sz="1200" dirty="0">
                          <a:latin typeface="+mn-ea"/>
                          <a:ea typeface="+mn-ea"/>
                        </a:rPr>
                        <a:t>原理图</a:t>
                      </a:r>
                      <a:r>
                        <a:rPr lang="en-US" altLang="zh-CN" sz="1200" dirty="0">
                          <a:latin typeface="+mn-ea"/>
                          <a:ea typeface="+mn-ea"/>
                        </a:rPr>
                        <a:t>Schematic》</a:t>
                      </a:r>
                      <a:r>
                        <a:rPr lang="zh-CN" altLang="en-US" sz="1200" dirty="0">
                          <a:latin typeface="+mn-ea"/>
                          <a:ea typeface="+mn-ea"/>
                        </a:rPr>
                        <a:t>、</a:t>
                      </a:r>
                      <a:r>
                        <a:rPr lang="en-US" altLang="zh-CN" sz="1200" dirty="0">
                          <a:latin typeface="+mn-ea"/>
                          <a:ea typeface="+mn-ea"/>
                        </a:rPr>
                        <a:t>《Layout guideline》</a:t>
                      </a:r>
                      <a:r>
                        <a:rPr lang="zh-CN" altLang="en-US" sz="1200" dirty="0">
                          <a:latin typeface="+mn-ea"/>
                          <a:ea typeface="+mn-ea"/>
                        </a:rPr>
                        <a:t>、</a:t>
                      </a:r>
                      <a:r>
                        <a:rPr lang="en-US" altLang="zh-CN" sz="1200" dirty="0">
                          <a:latin typeface="+mn-ea"/>
                          <a:ea typeface="+mn-ea"/>
                        </a:rPr>
                        <a:t>《Gerber</a:t>
                      </a:r>
                      <a:r>
                        <a:rPr lang="zh-CN" altLang="en-US" sz="1200" dirty="0">
                          <a:latin typeface="+mn-ea"/>
                          <a:ea typeface="+mn-ea"/>
                        </a:rPr>
                        <a:t>文件</a:t>
                      </a:r>
                      <a:r>
                        <a:rPr lang="en-US" altLang="zh-CN" sz="1200" dirty="0">
                          <a:latin typeface="+mn-ea"/>
                          <a:ea typeface="+mn-ea"/>
                        </a:rPr>
                        <a:t>》</a:t>
                      </a:r>
                      <a:r>
                        <a:rPr lang="zh-CN" altLang="en-US" sz="1200" dirty="0">
                          <a:latin typeface="+mn-ea"/>
                          <a:ea typeface="+mn-ea"/>
                        </a:rPr>
                        <a:t>、</a:t>
                      </a:r>
                      <a:r>
                        <a:rPr lang="en-US" altLang="zh-CN" sz="1200" dirty="0">
                          <a:latin typeface="+mn-ea"/>
                          <a:ea typeface="+mn-ea"/>
                        </a:rPr>
                        <a:t>《</a:t>
                      </a:r>
                      <a:r>
                        <a:rPr lang="zh-CN" altLang="en-US" sz="1200" dirty="0">
                          <a:latin typeface="+mn-ea"/>
                          <a:ea typeface="+mn-ea"/>
                        </a:rPr>
                        <a:t>自研板卡</a:t>
                      </a:r>
                      <a:r>
                        <a:rPr lang="en-US" altLang="zh-CN" sz="1200" dirty="0">
                          <a:latin typeface="+mn-ea"/>
                          <a:ea typeface="+mn-ea"/>
                        </a:rPr>
                        <a:t>SCH</a:t>
                      </a:r>
                      <a:r>
                        <a:rPr lang="zh-CN" altLang="en-US" sz="1200" dirty="0">
                          <a:latin typeface="+mn-ea"/>
                          <a:ea typeface="+mn-ea"/>
                        </a:rPr>
                        <a:t>检查记录跟踪表</a:t>
                      </a:r>
                      <a:r>
                        <a:rPr lang="en-US" altLang="zh-CN" sz="1200" dirty="0">
                          <a:latin typeface="+mn-ea"/>
                          <a:ea typeface="+mn-ea"/>
                        </a:rPr>
                        <a:t>》</a:t>
                      </a:r>
                      <a:r>
                        <a:rPr lang="zh-CN" altLang="en-US" sz="1200" dirty="0">
                          <a:latin typeface="+mn-ea"/>
                          <a:ea typeface="+mn-ea"/>
                        </a:rPr>
                        <a:t>、</a:t>
                      </a:r>
                      <a:r>
                        <a:rPr lang="en-US" altLang="zh-CN" sz="1200" dirty="0">
                          <a:latin typeface="+mn-ea"/>
                          <a:ea typeface="+mn-ea"/>
                        </a:rPr>
                        <a:t>《PI</a:t>
                      </a:r>
                      <a:r>
                        <a:rPr lang="zh-CN" altLang="en-US" sz="1200" dirty="0">
                          <a:latin typeface="+mn-ea"/>
                          <a:ea typeface="+mn-ea"/>
                        </a:rPr>
                        <a:t>仿真</a:t>
                      </a:r>
                      <a:r>
                        <a:rPr lang="en-US" altLang="zh-CN" sz="1200" dirty="0">
                          <a:latin typeface="+mn-ea"/>
                          <a:ea typeface="+mn-ea"/>
                        </a:rPr>
                        <a:t>》</a:t>
                      </a:r>
                      <a:r>
                        <a:rPr lang="zh-CN" altLang="en-US" sz="1200" dirty="0">
                          <a:latin typeface="+mn-ea"/>
                          <a:ea typeface="+mn-ea"/>
                        </a:rPr>
                        <a:t>、</a:t>
                      </a:r>
                      <a:r>
                        <a:rPr lang="en-US" altLang="zh-CN" sz="1200" dirty="0">
                          <a:latin typeface="+mn-ea"/>
                          <a:ea typeface="+mn-ea"/>
                        </a:rPr>
                        <a:t>《Porting guide》</a:t>
                      </a:r>
                    </a:p>
                  </a:txBody>
                  <a:tcPr anchor="ctr" anchorCtr="1">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extLst>
                  <a:ext uri="{0D108BD9-81ED-4DB2-BD59-A6C34878D82A}">
                    <a16:rowId xmlns:a16="http://schemas.microsoft.com/office/drawing/2014/main" val="2982289352"/>
                  </a:ext>
                </a:extLst>
              </a:tr>
              <a:tr h="244545">
                <a:tc>
                  <a:txBody>
                    <a:bodyPr/>
                    <a:lstStyle/>
                    <a:p>
                      <a:r>
                        <a:rPr lang="en-US" altLang="zh-CN" sz="1200" dirty="0">
                          <a:latin typeface="+mn-ea"/>
                          <a:ea typeface="+mn-ea"/>
                        </a:rPr>
                        <a:t>2</a:t>
                      </a:r>
                      <a:endParaRPr lang="zh-CN" altLang="en-US" sz="1200" dirty="0">
                        <a:latin typeface="+mn-ea"/>
                        <a:ea typeface="+mn-ea"/>
                      </a:endParaRP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r>
                        <a:rPr lang="zh-CN" altLang="en-US" sz="1200" dirty="0">
                          <a:latin typeface="+mn-ea"/>
                          <a:ea typeface="+mn-ea"/>
                        </a:rPr>
                        <a:t>叠层设计</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200" dirty="0">
                          <a:solidFill>
                            <a:srgbClr val="0070C0"/>
                          </a:solidFill>
                          <a:latin typeface="+mn-ea"/>
                          <a:ea typeface="+mn-ea"/>
                        </a:rPr>
                        <a:t>SI</a:t>
                      </a:r>
                      <a:r>
                        <a:rPr lang="zh-CN" altLang="en-US" sz="1200" dirty="0">
                          <a:solidFill>
                            <a:srgbClr val="0070C0"/>
                          </a:solidFill>
                          <a:latin typeface="+mn-ea"/>
                          <a:ea typeface="+mn-ea"/>
                        </a:rPr>
                        <a:t>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pPr algn="ctr"/>
                      <a:r>
                        <a:rPr lang="en-US" altLang="zh-CN" sz="1200" dirty="0">
                          <a:latin typeface="+mn-ea"/>
                          <a:ea typeface="+mn-ea"/>
                        </a:rPr>
                        <a:t>《PCB</a:t>
                      </a:r>
                      <a:r>
                        <a:rPr lang="zh-CN" altLang="en-US" sz="1200" dirty="0">
                          <a:latin typeface="+mn-ea"/>
                          <a:ea typeface="+mn-ea"/>
                        </a:rPr>
                        <a:t>叠层文件</a:t>
                      </a:r>
                      <a:r>
                        <a:rPr lang="en-US" altLang="zh-CN" sz="1200" dirty="0">
                          <a:latin typeface="+mn-ea"/>
                          <a:ea typeface="+mn-ea"/>
                        </a:rPr>
                        <a:t>》</a:t>
                      </a:r>
                      <a:endParaRPr lang="zh-CN" altLang="en-US" sz="1200" dirty="0">
                        <a:latin typeface="+mn-ea"/>
                        <a:ea typeface="+mn-ea"/>
                      </a:endParaRP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extLst>
                  <a:ext uri="{0D108BD9-81ED-4DB2-BD59-A6C34878D82A}">
                    <a16:rowId xmlns:a16="http://schemas.microsoft.com/office/drawing/2014/main" val="3999801777"/>
                  </a:ext>
                </a:extLst>
              </a:tr>
              <a:tr h="984633">
                <a:tc>
                  <a:txBody>
                    <a:bodyPr/>
                    <a:lstStyle/>
                    <a:p>
                      <a:r>
                        <a:rPr lang="en-US" altLang="zh-CN" sz="1200" dirty="0">
                          <a:latin typeface="+mn-ea"/>
                          <a:ea typeface="+mn-ea"/>
                        </a:rPr>
                        <a:t>3</a:t>
                      </a:r>
                      <a:endParaRPr lang="zh-CN" altLang="en-US" sz="1200" dirty="0">
                        <a:latin typeface="+mn-ea"/>
                        <a:ea typeface="+mn-ea"/>
                      </a:endParaRP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en-US" altLang="zh-CN" sz="1200" dirty="0">
                          <a:latin typeface="+mn-ea"/>
                          <a:ea typeface="+mn-ea"/>
                        </a:rPr>
                        <a:t>Layout </a:t>
                      </a:r>
                      <a:r>
                        <a:rPr lang="zh-CN" altLang="en-US" sz="1200" dirty="0">
                          <a:latin typeface="+mn-ea"/>
                          <a:ea typeface="+mn-ea"/>
                        </a:rPr>
                        <a:t>设计</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pPr algn="ctr"/>
                      <a:r>
                        <a:rPr lang="en-US" altLang="zh-CN" sz="1200" dirty="0">
                          <a:solidFill>
                            <a:srgbClr val="0070C0"/>
                          </a:solidFill>
                          <a:latin typeface="+mn-ea"/>
                          <a:ea typeface="+mn-ea"/>
                        </a:rPr>
                        <a:t>Layout</a:t>
                      </a:r>
                      <a:r>
                        <a:rPr lang="zh-CN" altLang="en-US" sz="1200" dirty="0">
                          <a:solidFill>
                            <a:srgbClr val="0070C0"/>
                          </a:solidFill>
                          <a:latin typeface="+mn-ea"/>
                          <a:ea typeface="+mn-ea"/>
                        </a:rPr>
                        <a:t>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pPr algn="ctr"/>
                      <a:r>
                        <a:rPr lang="en-US" altLang="zh-CN" sz="1200" dirty="0">
                          <a:latin typeface="+mn-ea"/>
                          <a:ea typeface="+mn-ea"/>
                        </a:rPr>
                        <a:t>《BRD》</a:t>
                      </a:r>
                      <a:r>
                        <a:rPr lang="zh-CN" altLang="en-US" sz="1200" dirty="0">
                          <a:latin typeface="+mn-ea"/>
                          <a:ea typeface="+mn-ea"/>
                        </a:rPr>
                        <a:t>、</a:t>
                      </a:r>
                      <a:r>
                        <a:rPr lang="en-US" altLang="zh-CN" sz="1200" dirty="0">
                          <a:latin typeface="+mn-ea"/>
                          <a:ea typeface="+mn-ea"/>
                        </a:rPr>
                        <a:t>《</a:t>
                      </a:r>
                      <a:r>
                        <a:rPr lang="zh-CN" altLang="en-US" sz="1200" dirty="0">
                          <a:latin typeface="+mn-ea"/>
                          <a:ea typeface="+mn-ea"/>
                        </a:rPr>
                        <a:t>板卡</a:t>
                      </a:r>
                      <a:r>
                        <a:rPr lang="en-US" altLang="zh-CN" sz="1200" dirty="0">
                          <a:latin typeface="+mn-ea"/>
                          <a:ea typeface="+mn-ea"/>
                        </a:rPr>
                        <a:t>DXF</a:t>
                      </a:r>
                      <a:r>
                        <a:rPr lang="zh-CN" altLang="en-US" sz="1200" dirty="0">
                          <a:latin typeface="+mn-ea"/>
                          <a:ea typeface="+mn-ea"/>
                        </a:rPr>
                        <a:t>反导文件</a:t>
                      </a:r>
                      <a:r>
                        <a:rPr lang="en-US" altLang="zh-CN" sz="1200" dirty="0">
                          <a:latin typeface="+mn-ea"/>
                          <a:ea typeface="+mn-ea"/>
                        </a:rPr>
                        <a:t>》</a:t>
                      </a:r>
                      <a:r>
                        <a:rPr lang="zh-CN" altLang="en-US" sz="1200" dirty="0">
                          <a:latin typeface="+mn-ea"/>
                          <a:ea typeface="+mn-ea"/>
                        </a:rPr>
                        <a:t>、</a:t>
                      </a:r>
                      <a:r>
                        <a:rPr lang="en-US" altLang="zh-CN" sz="1200" dirty="0">
                          <a:latin typeface="+mn-ea"/>
                          <a:ea typeface="+mn-ea"/>
                        </a:rPr>
                        <a:t>《</a:t>
                      </a:r>
                      <a:r>
                        <a:rPr lang="zh-CN" altLang="en-US" sz="1200" dirty="0">
                          <a:latin typeface="+mn-ea"/>
                          <a:ea typeface="+mn-ea"/>
                        </a:rPr>
                        <a:t>自研板卡</a:t>
                      </a:r>
                      <a:r>
                        <a:rPr lang="en-US" altLang="zh-CN" sz="1200" dirty="0">
                          <a:latin typeface="+mn-ea"/>
                          <a:ea typeface="+mn-ea"/>
                        </a:rPr>
                        <a:t>BRD</a:t>
                      </a:r>
                      <a:r>
                        <a:rPr lang="zh-CN" altLang="en-US" sz="1200" dirty="0">
                          <a:latin typeface="+mn-ea"/>
                          <a:ea typeface="+mn-ea"/>
                        </a:rPr>
                        <a:t>检查记录跟踪表</a:t>
                      </a:r>
                      <a:r>
                        <a:rPr lang="en-US" altLang="zh-CN" sz="1200" dirty="0">
                          <a:latin typeface="+mn-ea"/>
                          <a:ea typeface="+mn-ea"/>
                        </a:rPr>
                        <a:t>》</a:t>
                      </a:r>
                      <a:r>
                        <a:rPr lang="zh-CN" altLang="en-US" sz="1200" dirty="0">
                          <a:latin typeface="+mn-ea"/>
                          <a:ea typeface="+mn-ea"/>
                        </a:rPr>
                        <a:t>、</a:t>
                      </a:r>
                      <a:r>
                        <a:rPr lang="en-US" altLang="zh-CN" sz="1200" dirty="0">
                          <a:latin typeface="+mn-ea"/>
                          <a:ea typeface="+mn-ea"/>
                        </a:rPr>
                        <a:t>《PCB Product Requirement》</a:t>
                      </a:r>
                      <a:r>
                        <a:rPr lang="zh-CN" altLang="en-US" sz="1200" dirty="0">
                          <a:latin typeface="+mn-ea"/>
                          <a:ea typeface="+mn-ea"/>
                        </a:rPr>
                        <a:t>、</a:t>
                      </a:r>
                      <a:r>
                        <a:rPr lang="en-US" altLang="zh-CN" sz="1200" dirty="0">
                          <a:latin typeface="+mn-ea"/>
                          <a:ea typeface="+mn-ea"/>
                        </a:rPr>
                        <a:t>《CAD</a:t>
                      </a:r>
                      <a:r>
                        <a:rPr lang="zh-CN" altLang="en-US" sz="1200" dirty="0">
                          <a:latin typeface="+mn-ea"/>
                          <a:ea typeface="+mn-ea"/>
                        </a:rPr>
                        <a:t>、</a:t>
                      </a:r>
                      <a:r>
                        <a:rPr lang="en-US" altLang="zh-CN" sz="1200" dirty="0">
                          <a:latin typeface="+mn-ea"/>
                          <a:ea typeface="+mn-ea"/>
                        </a:rPr>
                        <a:t>ODB</a:t>
                      </a:r>
                      <a:r>
                        <a:rPr lang="zh-CN" altLang="en-US" sz="1200" dirty="0">
                          <a:latin typeface="+mn-ea"/>
                          <a:ea typeface="+mn-ea"/>
                        </a:rPr>
                        <a:t>、</a:t>
                      </a:r>
                      <a:r>
                        <a:rPr lang="en-US" altLang="zh-CN" sz="1200" dirty="0">
                          <a:latin typeface="+mn-ea"/>
                          <a:ea typeface="+mn-ea"/>
                        </a:rPr>
                        <a:t>Place》</a:t>
                      </a:r>
                      <a:endParaRPr lang="zh-CN" altLang="en-US" sz="1200" dirty="0">
                        <a:latin typeface="+mn-ea"/>
                        <a:ea typeface="+mn-ea"/>
                      </a:endParaRP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78AA1">
                        <a:tint val="40000"/>
                      </a:srgbClr>
                    </a:solidFill>
                  </a:tcPr>
                </a:tc>
                <a:extLst>
                  <a:ext uri="{0D108BD9-81ED-4DB2-BD59-A6C34878D82A}">
                    <a16:rowId xmlns:a16="http://schemas.microsoft.com/office/drawing/2014/main" val="605051381"/>
                  </a:ext>
                </a:extLst>
              </a:tr>
              <a:tr h="537998">
                <a:tc>
                  <a:txBody>
                    <a:bodyPr/>
                    <a:lstStyle/>
                    <a:p>
                      <a:r>
                        <a:rPr lang="en-US" altLang="zh-CN" sz="1200" dirty="0">
                          <a:latin typeface="+mn-ea"/>
                          <a:ea typeface="+mn-ea"/>
                        </a:rPr>
                        <a:t>4</a:t>
                      </a:r>
                      <a:endParaRPr lang="zh-CN" altLang="en-US" sz="1200" dirty="0">
                        <a:latin typeface="+mn-ea"/>
                        <a:ea typeface="+mn-ea"/>
                      </a:endParaRP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r>
                        <a:rPr lang="en-US" altLang="zh-CN" sz="1200" dirty="0">
                          <a:latin typeface="+mn-ea"/>
                          <a:ea typeface="+mn-ea"/>
                        </a:rPr>
                        <a:t>1.Gerber out</a:t>
                      </a:r>
                    </a:p>
                    <a:p>
                      <a:r>
                        <a:rPr lang="en-US" altLang="zh-CN" sz="1200" dirty="0">
                          <a:latin typeface="+mn-ea"/>
                          <a:ea typeface="+mn-ea"/>
                        </a:rPr>
                        <a:t>2.</a:t>
                      </a:r>
                      <a:r>
                        <a:rPr lang="zh-CN" altLang="en-US" sz="1200" dirty="0">
                          <a:latin typeface="+mn-ea"/>
                          <a:ea typeface="+mn-ea"/>
                        </a:rPr>
                        <a:t>工程确认</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pPr algn="ctr"/>
                      <a:r>
                        <a:rPr lang="zh-CN" altLang="en-US" sz="1200" dirty="0">
                          <a:solidFill>
                            <a:srgbClr val="0070C0"/>
                          </a:solidFill>
                          <a:latin typeface="+mn-ea"/>
                          <a:ea typeface="+mn-ea"/>
                        </a:rPr>
                        <a:t>硬件工程师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pPr algn="ctr"/>
                      <a:r>
                        <a:rPr lang="en-US" altLang="zh-CN" sz="1200" dirty="0">
                          <a:latin typeface="+mn-ea"/>
                          <a:ea typeface="+mn-ea"/>
                        </a:rPr>
                        <a:t>《Gerber </a:t>
                      </a:r>
                      <a:r>
                        <a:rPr lang="zh-CN" altLang="en-US" sz="1200" dirty="0">
                          <a:latin typeface="+mn-ea"/>
                          <a:ea typeface="+mn-ea"/>
                        </a:rPr>
                        <a:t>文件</a:t>
                      </a:r>
                      <a:r>
                        <a:rPr lang="en-US" altLang="zh-CN" sz="1200" dirty="0">
                          <a:latin typeface="+mn-ea"/>
                          <a:ea typeface="+mn-ea"/>
                        </a:rPr>
                        <a:t>》</a:t>
                      </a:r>
                      <a:r>
                        <a:rPr lang="zh-CN" altLang="en-US" sz="1200" dirty="0">
                          <a:latin typeface="+mn-ea"/>
                          <a:ea typeface="+mn-ea"/>
                        </a:rPr>
                        <a:t>、</a:t>
                      </a:r>
                      <a:r>
                        <a:rPr lang="en-US" altLang="zh-CN" sz="1200" dirty="0">
                          <a:latin typeface="+mn-ea"/>
                          <a:ea typeface="+mn-ea"/>
                        </a:rPr>
                        <a:t>《Working Gerber》</a:t>
                      </a:r>
                      <a:r>
                        <a:rPr lang="zh-CN" altLang="en-US" sz="1200" dirty="0">
                          <a:latin typeface="+mn-ea"/>
                          <a:ea typeface="+mn-ea"/>
                        </a:rPr>
                        <a:t>、</a:t>
                      </a:r>
                      <a:r>
                        <a:rPr lang="en-US" altLang="zh-CN" sz="1200" dirty="0">
                          <a:latin typeface="+mn-ea"/>
                          <a:ea typeface="+mn-ea"/>
                        </a:rPr>
                        <a:t>《PCB</a:t>
                      </a:r>
                      <a:r>
                        <a:rPr lang="zh-CN" altLang="en-US" sz="1200" dirty="0">
                          <a:latin typeface="+mn-ea"/>
                          <a:ea typeface="+mn-ea"/>
                        </a:rPr>
                        <a:t>工程单</a:t>
                      </a:r>
                      <a:r>
                        <a:rPr lang="en-US" altLang="zh-CN" sz="1200" dirty="0">
                          <a:latin typeface="+mn-ea"/>
                          <a:ea typeface="+mn-ea"/>
                        </a:rPr>
                        <a:t>》</a:t>
                      </a:r>
                      <a:endParaRPr lang="zh-CN" altLang="en-US" sz="1200" dirty="0">
                        <a:latin typeface="+mn-ea"/>
                        <a:ea typeface="+mn-ea"/>
                      </a:endParaRP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7EDF0"/>
                    </a:solidFill>
                  </a:tcPr>
                </a:tc>
                <a:extLst>
                  <a:ext uri="{0D108BD9-81ED-4DB2-BD59-A6C34878D82A}">
                    <a16:rowId xmlns:a16="http://schemas.microsoft.com/office/drawing/2014/main" val="1855724173"/>
                  </a:ext>
                </a:extLst>
              </a:tr>
              <a:tr h="210682">
                <a:tc>
                  <a:txBody>
                    <a:bodyPr/>
                    <a:lstStyle/>
                    <a:p>
                      <a:r>
                        <a:rPr lang="en-US" altLang="zh-CN" sz="1200" dirty="0">
                          <a:latin typeface="+mn-ea"/>
                          <a:ea typeface="+mn-ea"/>
                        </a:rPr>
                        <a:t>5</a:t>
                      </a:r>
                      <a:endParaRPr lang="zh-CN" altLang="en-US" sz="1200" dirty="0">
                        <a:latin typeface="+mn-ea"/>
                        <a:ea typeface="+mn-ea"/>
                      </a:endParaRP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CCDAE0"/>
                    </a:solidFill>
                  </a:tcPr>
                </a:tc>
                <a:tc>
                  <a:txBody>
                    <a:bodyPr/>
                    <a:lstStyle/>
                    <a:p>
                      <a:r>
                        <a:rPr lang="en-US" altLang="zh-CN" sz="1200" dirty="0">
                          <a:latin typeface="+mn-ea"/>
                          <a:ea typeface="+mn-ea"/>
                        </a:rPr>
                        <a:t>SI</a:t>
                      </a:r>
                      <a:r>
                        <a:rPr lang="zh-CN" altLang="en-US" sz="1200" dirty="0">
                          <a:latin typeface="+mn-ea"/>
                          <a:ea typeface="+mn-ea"/>
                        </a:rPr>
                        <a:t>仿真</a:t>
                      </a: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CCDAE0"/>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200" dirty="0">
                          <a:solidFill>
                            <a:srgbClr val="0070C0"/>
                          </a:solidFill>
                          <a:latin typeface="+mn-ea"/>
                          <a:ea typeface="+mn-ea"/>
                        </a:rPr>
                        <a:t>SI</a:t>
                      </a:r>
                      <a:r>
                        <a:rPr lang="zh-CN" altLang="en-US" sz="1200" dirty="0">
                          <a:solidFill>
                            <a:srgbClr val="0070C0"/>
                          </a:solidFill>
                          <a:latin typeface="+mn-ea"/>
                          <a:ea typeface="+mn-ea"/>
                        </a:rPr>
                        <a:t>工程师</a:t>
                      </a: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CCDAE0"/>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200" dirty="0">
                          <a:latin typeface="+mn-ea"/>
                          <a:ea typeface="+mn-ea"/>
                        </a:rPr>
                        <a:t>《SI</a:t>
                      </a:r>
                      <a:r>
                        <a:rPr lang="zh-CN" altLang="en-US" sz="1200" dirty="0">
                          <a:latin typeface="+mn-ea"/>
                          <a:ea typeface="+mn-ea"/>
                        </a:rPr>
                        <a:t>仿真报告</a:t>
                      </a:r>
                      <a:r>
                        <a:rPr lang="en-US" altLang="zh-CN" sz="1200" dirty="0">
                          <a:latin typeface="+mn-ea"/>
                          <a:ea typeface="+mn-ea"/>
                        </a:rPr>
                        <a:t>》</a:t>
                      </a:r>
                      <a:endParaRPr lang="zh-CN" altLang="en-US" sz="1200" dirty="0">
                        <a:latin typeface="+mn-ea"/>
                        <a:ea typeface="+mn-ea"/>
                      </a:endParaRP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CCDAE0"/>
                    </a:solidFill>
                  </a:tcPr>
                </a:tc>
                <a:extLst>
                  <a:ext uri="{0D108BD9-81ED-4DB2-BD59-A6C34878D82A}">
                    <a16:rowId xmlns:a16="http://schemas.microsoft.com/office/drawing/2014/main" val="2344668952"/>
                  </a:ext>
                </a:extLst>
              </a:tr>
              <a:tr h="491590">
                <a:tc>
                  <a:txBody>
                    <a:bodyPr/>
                    <a:lstStyle/>
                    <a:p>
                      <a:r>
                        <a:rPr lang="en-US" altLang="zh-CN" sz="1200" dirty="0">
                          <a:latin typeface="+mn-ea"/>
                          <a:ea typeface="+mn-ea"/>
                        </a:rPr>
                        <a:t>6</a:t>
                      </a:r>
                      <a:endParaRPr lang="zh-CN" altLang="en-US" sz="1200" dirty="0">
                        <a:latin typeface="+mn-ea"/>
                        <a:ea typeface="+mn-ea"/>
                      </a:endParaRP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r>
                        <a:rPr lang="zh-CN" altLang="en-US" sz="1200" dirty="0">
                          <a:latin typeface="+mn-ea"/>
                          <a:ea typeface="+mn-ea"/>
                        </a:rPr>
                        <a:t>线缆设计</a:t>
                      </a: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mn-ea"/>
                          <a:ea typeface="+mn-ea"/>
                        </a:rPr>
                        <a:t>系统架构师</a:t>
                      </a:r>
                      <a:r>
                        <a:rPr lang="en-US" altLang="zh-CN" sz="1200" dirty="0">
                          <a:solidFill>
                            <a:srgbClr val="0070C0"/>
                          </a:solidFill>
                          <a:latin typeface="+mn-ea"/>
                          <a:ea typeface="+mn-ea"/>
                        </a:rPr>
                        <a:t>/</a:t>
                      </a:r>
                      <a:r>
                        <a:rPr lang="zh-CN" altLang="en-US" sz="1200" dirty="0">
                          <a:solidFill>
                            <a:srgbClr val="0070C0"/>
                          </a:solidFill>
                          <a:latin typeface="+mn-ea"/>
                          <a:ea typeface="+mn-ea"/>
                        </a:rPr>
                        <a:t>硬件工程师、线缆工程师</a:t>
                      </a: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DF0"/>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200" dirty="0">
                          <a:latin typeface="+mn-ea"/>
                          <a:ea typeface="+mn-ea"/>
                        </a:rPr>
                        <a:t>《</a:t>
                      </a:r>
                      <a:r>
                        <a:rPr lang="zh-CN" altLang="en-US" sz="1200" dirty="0">
                          <a:latin typeface="+mn-ea"/>
                          <a:ea typeface="+mn-ea"/>
                        </a:rPr>
                        <a:t>线缆样品制作需求</a:t>
                      </a:r>
                      <a:r>
                        <a:rPr lang="en-US" altLang="zh-CN" sz="1200" dirty="0">
                          <a:latin typeface="+mn-ea"/>
                          <a:ea typeface="+mn-ea"/>
                        </a:rPr>
                        <a:t>》</a:t>
                      </a:r>
                      <a:endParaRPr lang="zh-CN" altLang="en-US" sz="1200" dirty="0">
                        <a:latin typeface="+mn-ea"/>
                        <a:ea typeface="+mn-ea"/>
                      </a:endParaRPr>
                    </a:p>
                  </a:txBody>
                  <a:tcPr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DF0"/>
                    </a:solidFill>
                  </a:tcPr>
                </a:tc>
                <a:extLst>
                  <a:ext uri="{0D108BD9-81ED-4DB2-BD59-A6C34878D82A}">
                    <a16:rowId xmlns:a16="http://schemas.microsoft.com/office/drawing/2014/main" val="3688737437"/>
                  </a:ext>
                </a:extLst>
              </a:tr>
            </a:tbl>
          </a:graphicData>
        </a:graphic>
      </p:graphicFrame>
    </p:spTree>
    <p:extLst>
      <p:ext uri="{BB962C8B-B14F-4D97-AF65-F5344CB8AC3E}">
        <p14:creationId xmlns:p14="http://schemas.microsoft.com/office/powerpoint/2010/main" val="3344378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
            <a:extLst>
              <a:ext uri="{FF2B5EF4-FFF2-40B4-BE49-F238E27FC236}">
                <a16:creationId xmlns:a16="http://schemas.microsoft.com/office/drawing/2014/main" id="{DB8BC9F0-0AD3-4E1E-9F64-A6B30F5EDA2E}"/>
              </a:ext>
            </a:extLst>
          </p:cNvPr>
          <p:cNvSpPr>
            <a:spLocks noGrp="1"/>
          </p:cNvSpPr>
          <p:nvPr>
            <p:ph type="body" sz="quarter" idx="13"/>
          </p:nvPr>
        </p:nvSpPr>
        <p:spPr>
          <a:xfrm>
            <a:off x="239349" y="164637"/>
            <a:ext cx="9889099" cy="672075"/>
          </a:xfrm>
        </p:spPr>
        <p:txBody>
          <a:bodyPr/>
          <a:lstStyle/>
          <a:p>
            <a:r>
              <a:rPr lang="en-US" altLang="zh-CN" dirty="0"/>
              <a:t>L6</a:t>
            </a:r>
            <a:r>
              <a:rPr lang="zh-CN" altLang="en-US" dirty="0"/>
              <a:t>详细设计</a:t>
            </a:r>
            <a:r>
              <a:rPr lang="en-US" altLang="zh-CN" dirty="0"/>
              <a:t>——FW</a:t>
            </a:r>
            <a:r>
              <a:rPr lang="zh-CN" altLang="en-US" dirty="0"/>
              <a:t>开发、</a:t>
            </a:r>
            <a:r>
              <a:rPr lang="en-US" altLang="zh-CN" dirty="0"/>
              <a:t> ID</a:t>
            </a:r>
            <a:r>
              <a:rPr lang="zh-CN" altLang="en-US" dirty="0"/>
              <a:t>设计</a:t>
            </a:r>
          </a:p>
        </p:txBody>
      </p:sp>
      <p:sp>
        <p:nvSpPr>
          <p:cNvPr id="5" name="矩形 4">
            <a:extLst>
              <a:ext uri="{FF2B5EF4-FFF2-40B4-BE49-F238E27FC236}">
                <a16:creationId xmlns:a16="http://schemas.microsoft.com/office/drawing/2014/main" id="{4DC6F34A-1D06-4878-A0EF-2587B2516796}"/>
              </a:ext>
            </a:extLst>
          </p:cNvPr>
          <p:cNvSpPr/>
          <p:nvPr/>
        </p:nvSpPr>
        <p:spPr>
          <a:xfrm>
            <a:off x="391562" y="1415035"/>
            <a:ext cx="11358496" cy="1323439"/>
          </a:xfrm>
          <a:prstGeom prst="rect">
            <a:avLst/>
          </a:prstGeom>
        </p:spPr>
        <p:txBody>
          <a:bodyPr wrap="square">
            <a:spAutoFit/>
          </a:bodyPr>
          <a:lstStyle/>
          <a:p>
            <a:pPr marL="285750" indent="-285750">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BIOS</a:t>
            </a:r>
            <a:r>
              <a:rPr lang="zh-CN" altLang="en-US" sz="1600" b="1" dirty="0">
                <a:latin typeface="微软雅黑" panose="020B0503020204020204" pitchFamily="34" charset="-122"/>
                <a:ea typeface="微软雅黑" panose="020B0503020204020204" pitchFamily="34" charset="-122"/>
              </a:rPr>
              <a:t>：</a:t>
            </a:r>
            <a:r>
              <a:rPr lang="en-US" altLang="zh-CN" sz="1600" b="0" i="0" dirty="0">
                <a:solidFill>
                  <a:srgbClr val="333333"/>
                </a:solidFill>
                <a:effectLst/>
                <a:latin typeface="微软雅黑" panose="020B0503020204020204" pitchFamily="34" charset="-122"/>
                <a:ea typeface="微软雅黑" panose="020B0503020204020204" pitchFamily="34" charset="-122"/>
              </a:rPr>
              <a:t>Basic </a:t>
            </a:r>
            <a:r>
              <a:rPr lang="en-US" altLang="zh-CN" sz="1600" b="0" i="0" dirty="0" err="1">
                <a:solidFill>
                  <a:srgbClr val="333333"/>
                </a:solidFill>
                <a:effectLst/>
                <a:latin typeface="微软雅黑" panose="020B0503020204020204" pitchFamily="34" charset="-122"/>
                <a:ea typeface="微软雅黑" panose="020B0503020204020204" pitchFamily="34" charset="-122"/>
              </a:rPr>
              <a:t>Input/Output</a:t>
            </a:r>
            <a:r>
              <a:rPr lang="en-US" altLang="zh-CN" sz="1600" b="0" i="0" dirty="0">
                <a:solidFill>
                  <a:srgbClr val="333333"/>
                </a:solidFill>
                <a:effectLst/>
                <a:latin typeface="微软雅黑" panose="020B0503020204020204" pitchFamily="34" charset="-122"/>
                <a:ea typeface="微软雅黑" panose="020B0503020204020204" pitchFamily="34" charset="-122"/>
              </a:rPr>
              <a:t> System </a:t>
            </a:r>
            <a:r>
              <a:rPr lang="zh-CN" altLang="en-US" sz="1600" b="0" i="0" dirty="0">
                <a:solidFill>
                  <a:srgbClr val="333333"/>
                </a:solidFill>
                <a:effectLst/>
                <a:latin typeface="arial" panose="020B0604020202020204" pitchFamily="34" charset="0"/>
              </a:rPr>
              <a:t>基本输入</a:t>
            </a:r>
            <a:r>
              <a:rPr lang="en-US" altLang="zh-CN" sz="1600" b="0" i="0" dirty="0">
                <a:solidFill>
                  <a:srgbClr val="333333"/>
                </a:solidFill>
                <a:effectLst/>
                <a:latin typeface="arial" panose="020B0604020202020204" pitchFamily="34" charset="0"/>
              </a:rPr>
              <a:t>/</a:t>
            </a:r>
            <a:r>
              <a:rPr lang="zh-CN" altLang="en-US" sz="1600" b="0" i="0" dirty="0">
                <a:solidFill>
                  <a:srgbClr val="333333"/>
                </a:solidFill>
                <a:effectLst/>
                <a:latin typeface="arial" panose="020B0604020202020204" pitchFamily="34" charset="0"/>
              </a:rPr>
              <a:t>输出系统；</a:t>
            </a:r>
            <a:endParaRPr lang="en-US" altLang="zh-CN" sz="16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BMC: </a:t>
            </a:r>
            <a:r>
              <a:rPr lang="en-US" altLang="zh-CN" sz="1600" dirty="0">
                <a:latin typeface="微软雅黑" panose="020B0503020204020204" pitchFamily="34" charset="-122"/>
                <a:ea typeface="微软雅黑" panose="020B0503020204020204" pitchFamily="34" charset="-122"/>
              </a:rPr>
              <a:t>Baseboard Management Controller </a:t>
            </a:r>
            <a:r>
              <a:rPr lang="zh-CN" altLang="en-US" sz="1600" i="0" dirty="0">
                <a:effectLst/>
                <a:latin typeface="微软雅黑" panose="020B0503020204020204" pitchFamily="34" charset="-122"/>
                <a:ea typeface="微软雅黑" panose="020B0503020204020204" pitchFamily="34" charset="-122"/>
              </a:rPr>
              <a:t>基板管理控制器</a:t>
            </a:r>
            <a:r>
              <a:rPr lang="zh-CN" altLang="en-US" sz="1600" dirty="0">
                <a:latin typeface="微软雅黑" panose="020B0503020204020204" pitchFamily="34" charset="-122"/>
                <a:ea typeface="微软雅黑" panose="020B0503020204020204" pitchFamily="34" charset="-122"/>
              </a:rPr>
              <a:t>：</a:t>
            </a:r>
            <a:r>
              <a:rPr lang="zh-CN" altLang="en-US" sz="1600" i="0" dirty="0">
                <a:effectLst/>
                <a:latin typeface="微软雅黑" panose="020B0503020204020204" pitchFamily="34" charset="-122"/>
                <a:ea typeface="微软雅黑" panose="020B0503020204020204" pitchFamily="34" charset="-122"/>
              </a:rPr>
              <a:t>是整个服务器单板的大管家，可以监控服务器的物理健康特征，如温度、电压、风扇工作状态、电源状态等；</a:t>
            </a:r>
            <a:endParaRPr lang="en-US" altLang="zh-CN" sz="16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CMM</a:t>
            </a:r>
            <a:r>
              <a:rPr lang="zh-CN" altLang="en-US" sz="1600" b="1"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Chassis Management Module</a:t>
            </a:r>
            <a:r>
              <a:rPr lang="zh-CN" altLang="en-US" sz="1600" b="0" i="0" dirty="0">
                <a:solidFill>
                  <a:srgbClr val="333333"/>
                </a:solidFill>
                <a:effectLst/>
                <a:latin typeface="arial" panose="020B0604020202020204" pitchFamily="34" charset="0"/>
              </a:rPr>
              <a:t>机箱管理模块：</a:t>
            </a:r>
            <a:r>
              <a:rPr lang="en-US" altLang="zh-CN" sz="1600" b="0" i="0" dirty="0">
                <a:solidFill>
                  <a:srgbClr val="333333"/>
                </a:solidFill>
                <a:effectLst/>
                <a:latin typeface="arial" panose="020B0604020202020204" pitchFamily="34" charset="0"/>
              </a:rPr>
              <a:t>CMM</a:t>
            </a:r>
            <a:r>
              <a:rPr lang="zh-CN" altLang="en-US" sz="1600" b="0" i="0" dirty="0">
                <a:solidFill>
                  <a:srgbClr val="333333"/>
                </a:solidFill>
                <a:effectLst/>
                <a:latin typeface="arial" panose="020B0604020202020204" pitchFamily="34" charset="0"/>
              </a:rPr>
              <a:t>是机箱管理模块，主要控制刀片类型服务器中，机箱的电源、风扇，交换、节点等部件模块的运行状态，并提供必要的信息查询和设置接口；</a:t>
            </a:r>
            <a:endParaRPr lang="en-US" altLang="zh-CN" sz="1600" dirty="0">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EBF6CC26-E86A-4B05-9845-421194397E72}"/>
              </a:ext>
            </a:extLst>
          </p:cNvPr>
          <p:cNvGraphicFramePr>
            <a:graphicFrameLocks noGrp="1"/>
          </p:cNvGraphicFramePr>
          <p:nvPr/>
        </p:nvGraphicFramePr>
        <p:xfrm>
          <a:off x="441943" y="2694385"/>
          <a:ext cx="11358497" cy="1483944"/>
        </p:xfrm>
        <a:graphic>
          <a:graphicData uri="http://schemas.openxmlformats.org/drawingml/2006/table">
            <a:tbl>
              <a:tblPr firstRow="1" bandRow="1">
                <a:tableStyleId>{00A15C55-8517-42AA-B614-E9B94910E393}</a:tableStyleId>
              </a:tblPr>
              <a:tblGrid>
                <a:gridCol w="1922487">
                  <a:extLst>
                    <a:ext uri="{9D8B030D-6E8A-4147-A177-3AD203B41FA5}">
                      <a16:colId xmlns:a16="http://schemas.microsoft.com/office/drawing/2014/main" val="773509366"/>
                    </a:ext>
                  </a:extLst>
                </a:gridCol>
                <a:gridCol w="1680382">
                  <a:extLst>
                    <a:ext uri="{9D8B030D-6E8A-4147-A177-3AD203B41FA5}">
                      <a16:colId xmlns:a16="http://schemas.microsoft.com/office/drawing/2014/main" val="869367937"/>
                    </a:ext>
                  </a:extLst>
                </a:gridCol>
                <a:gridCol w="4751196">
                  <a:extLst>
                    <a:ext uri="{9D8B030D-6E8A-4147-A177-3AD203B41FA5}">
                      <a16:colId xmlns:a16="http://schemas.microsoft.com/office/drawing/2014/main" val="99857605"/>
                    </a:ext>
                  </a:extLst>
                </a:gridCol>
                <a:gridCol w="3004432">
                  <a:extLst>
                    <a:ext uri="{9D8B030D-6E8A-4147-A177-3AD203B41FA5}">
                      <a16:colId xmlns:a16="http://schemas.microsoft.com/office/drawing/2014/main" val="1047766596"/>
                    </a:ext>
                  </a:extLst>
                </a:gridCol>
              </a:tblGrid>
              <a:tr h="321928">
                <a:tc>
                  <a:txBody>
                    <a:bodyPr/>
                    <a:lstStyle/>
                    <a:p>
                      <a:pPr algn="ctr"/>
                      <a:r>
                        <a:rPr lang="zh-CN" altLang="en-US" sz="1400" dirty="0"/>
                        <a:t>任务名称</a:t>
                      </a:r>
                      <a:endParaRPr lang="zh-CN" altLang="en-US" sz="1400" dirty="0">
                        <a:latin typeface="+mn-ea"/>
                        <a:ea typeface="+mn-ea"/>
                      </a:endParaRPr>
                    </a:p>
                  </a:txBody>
                  <a:tcPr anchor="ctr" anchorCtr="1"/>
                </a:tc>
                <a:tc>
                  <a:txBody>
                    <a:bodyPr/>
                    <a:lstStyle/>
                    <a:p>
                      <a:pPr algn="ctr"/>
                      <a:r>
                        <a:rPr lang="zh-CN" altLang="en-US" sz="1400" dirty="0"/>
                        <a:t>责任人</a:t>
                      </a:r>
                      <a:endParaRPr lang="zh-CN" altLang="en-US" sz="1400" dirty="0">
                        <a:latin typeface="+mn-ea"/>
                        <a:ea typeface="+mn-ea"/>
                      </a:endParaRPr>
                    </a:p>
                  </a:txBody>
                  <a:tcPr anchor="ctr" anchorCtr="1"/>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400" dirty="0"/>
                        <a:t>设计依据</a:t>
                      </a:r>
                      <a:endParaRPr lang="zh-CN" altLang="en-US" sz="1400" dirty="0">
                        <a:latin typeface="+mn-ea"/>
                        <a:ea typeface="+mn-ea"/>
                      </a:endParaRPr>
                    </a:p>
                  </a:txBody>
                  <a:tcPr anchor="ctr" anchorCtr="1"/>
                </a:tc>
                <a:tc>
                  <a:txBody>
                    <a:bodyPr/>
                    <a:lstStyle/>
                    <a:p>
                      <a:pPr algn="ctr"/>
                      <a:r>
                        <a:rPr lang="zh-CN" altLang="en-US" sz="1400" dirty="0"/>
                        <a:t>交付物</a:t>
                      </a:r>
                      <a:endParaRPr lang="zh-CN" altLang="en-US" sz="1400" dirty="0">
                        <a:latin typeface="+mn-ea"/>
                        <a:ea typeface="+mn-ea"/>
                      </a:endParaRPr>
                    </a:p>
                  </a:txBody>
                  <a:tcPr anchor="ctr" anchorCtr="1"/>
                </a:tc>
                <a:extLst>
                  <a:ext uri="{0D108BD9-81ED-4DB2-BD59-A6C34878D82A}">
                    <a16:rowId xmlns:a16="http://schemas.microsoft.com/office/drawing/2014/main" val="3162067804"/>
                  </a:ext>
                </a:extLst>
              </a:tr>
              <a:tr h="449818">
                <a:tc>
                  <a:txBody>
                    <a:bodyPr/>
                    <a:lstStyle/>
                    <a:p>
                      <a:pPr algn="ctr"/>
                      <a:r>
                        <a:rPr lang="en-US" altLang="zh-CN" sz="1400" dirty="0"/>
                        <a:t>BIOS</a:t>
                      </a:r>
                      <a:r>
                        <a:rPr lang="zh-CN" altLang="en-US" sz="1400" dirty="0"/>
                        <a:t>详细设计</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algn="ctr"/>
                      <a:r>
                        <a:rPr lang="en-US" altLang="zh-CN" sz="1400" dirty="0">
                          <a:solidFill>
                            <a:srgbClr val="0070C0"/>
                          </a:solidFill>
                        </a:rPr>
                        <a:t>BIOS</a:t>
                      </a:r>
                      <a:r>
                        <a:rPr lang="zh-CN" altLang="en-US" sz="1400" dirty="0">
                          <a:solidFill>
                            <a:srgbClr val="0070C0"/>
                          </a:solidFill>
                        </a:rPr>
                        <a:t>工程师</a:t>
                      </a:r>
                      <a:endParaRPr lang="zh-CN" altLang="en-US" sz="1400" dirty="0">
                        <a:solidFill>
                          <a:srgbClr val="0070C0"/>
                        </a:solidFill>
                        <a:latin typeface="微软雅黑" panose="020B0503020204020204" pitchFamily="34" charset="-122"/>
                        <a:ea typeface="微软雅黑" panose="020B0503020204020204" pitchFamily="34" charset="-122"/>
                      </a:endParaRPr>
                    </a:p>
                  </a:txBody>
                  <a:tcPr anchor="ctr" anchorCtr="1"/>
                </a:tc>
                <a:tc>
                  <a:txBody>
                    <a:bodyPr/>
                    <a:lstStyle/>
                    <a:p>
                      <a:pPr algn="ctr"/>
                      <a:r>
                        <a:rPr lang="zh-CN" altLang="en-US" sz="1400" dirty="0"/>
                        <a:t>根据</a:t>
                      </a:r>
                      <a:r>
                        <a:rPr lang="en-US" altLang="zh-CN" sz="1400" dirty="0"/>
                        <a:t>PRD</a:t>
                      </a:r>
                      <a:r>
                        <a:rPr lang="zh-CN" altLang="en-US" sz="1400" dirty="0"/>
                        <a:t>需求以及</a:t>
                      </a:r>
                      <a:r>
                        <a:rPr lang="en-US" altLang="zh-CN" sz="1400" dirty="0"/>
                        <a:t>BIOS</a:t>
                      </a:r>
                      <a:r>
                        <a:rPr lang="zh-CN" altLang="en-US" sz="1400" dirty="0"/>
                        <a:t>迭代计划，开发</a:t>
                      </a:r>
                      <a:r>
                        <a:rPr lang="en-US" altLang="zh-CN" sz="1400" dirty="0"/>
                        <a:t>BIOS</a:t>
                      </a:r>
                      <a:r>
                        <a:rPr lang="zh-CN" altLang="en-US" sz="1400" dirty="0"/>
                        <a:t>功能</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algn="ctr"/>
                      <a:r>
                        <a:rPr lang="en-US" altLang="zh-CN" sz="1400" dirty="0">
                          <a:solidFill>
                            <a:srgbClr val="0070C0"/>
                          </a:solidFill>
                        </a:rPr>
                        <a:t>《</a:t>
                      </a:r>
                      <a:r>
                        <a:rPr lang="en-US" altLang="zh-CN" sz="1400" u="none" strike="noStrike" dirty="0">
                          <a:solidFill>
                            <a:srgbClr val="0070C0"/>
                          </a:solidFill>
                          <a:effectLst/>
                        </a:rPr>
                        <a:t>BIOS FW</a:t>
                      </a:r>
                      <a:r>
                        <a:rPr lang="en-US" altLang="zh-CN" sz="1400" dirty="0">
                          <a:solidFill>
                            <a:srgbClr val="0070C0"/>
                          </a:solidFill>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400" dirty="0">
                          <a:solidFill>
                            <a:srgbClr val="0070C0"/>
                          </a:solidFill>
                        </a:rPr>
                        <a:t>《</a:t>
                      </a:r>
                      <a:r>
                        <a:rPr lang="en-US" altLang="zh-CN" sz="1400" u="none" strike="noStrike" dirty="0">
                          <a:solidFill>
                            <a:srgbClr val="0070C0"/>
                          </a:solidFill>
                          <a:effectLst/>
                        </a:rPr>
                        <a:t>BIOS Setup Layout</a:t>
                      </a:r>
                      <a:r>
                        <a:rPr lang="en-US" altLang="zh-CN" sz="1400" dirty="0">
                          <a:solidFill>
                            <a:srgbClr val="0070C0"/>
                          </a:solidFill>
                        </a:rPr>
                        <a:t>》</a:t>
                      </a:r>
                      <a:endParaRPr lang="en-US" altLang="zh-CN" sz="1400" dirty="0">
                        <a:solidFill>
                          <a:srgbClr val="0070C0"/>
                        </a:solidFill>
                        <a:latin typeface="微软雅黑" panose="020B0503020204020204" pitchFamily="34" charset="-122"/>
                        <a:ea typeface="微软雅黑" panose="020B0503020204020204" pitchFamily="34" charset="-122"/>
                      </a:endParaRPr>
                    </a:p>
                  </a:txBody>
                  <a:tcPr anchor="ctr" anchorCtr="1"/>
                </a:tc>
                <a:extLst>
                  <a:ext uri="{0D108BD9-81ED-4DB2-BD59-A6C34878D82A}">
                    <a16:rowId xmlns:a16="http://schemas.microsoft.com/office/drawing/2014/main" val="2982289352"/>
                  </a:ext>
                </a:extLst>
              </a:tr>
              <a:tr h="321928">
                <a:tc>
                  <a:txBody>
                    <a:bodyPr/>
                    <a:lstStyle/>
                    <a:p>
                      <a:pPr algn="ctr"/>
                      <a:r>
                        <a:rPr lang="en-US" altLang="zh-CN" sz="1400" dirty="0"/>
                        <a:t>BMC</a:t>
                      </a:r>
                      <a:r>
                        <a:rPr lang="zh-CN" altLang="en-US" sz="1400" dirty="0"/>
                        <a:t>详细设计</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algn="ctr"/>
                      <a:r>
                        <a:rPr lang="en-US" altLang="zh-CN" sz="1400" dirty="0">
                          <a:solidFill>
                            <a:srgbClr val="0070C0"/>
                          </a:solidFill>
                        </a:rPr>
                        <a:t>BMC</a:t>
                      </a:r>
                      <a:r>
                        <a:rPr lang="zh-CN" altLang="en-US" sz="1400" dirty="0">
                          <a:solidFill>
                            <a:srgbClr val="0070C0"/>
                          </a:solidFill>
                        </a:rPr>
                        <a:t>工程师</a:t>
                      </a:r>
                      <a:endParaRPr lang="zh-CN" altLang="en-US" sz="1400" dirty="0">
                        <a:solidFill>
                          <a:srgbClr val="0070C0"/>
                        </a:solidFill>
                        <a:latin typeface="微软雅黑" panose="020B0503020204020204" pitchFamily="34" charset="-122"/>
                        <a:ea typeface="微软雅黑" panose="020B0503020204020204" pitchFamily="34" charset="-122"/>
                      </a:endParaRPr>
                    </a:p>
                  </a:txBody>
                  <a:tcPr anchor="ctr" anchorCtr="1"/>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400" dirty="0"/>
                        <a:t>根据</a:t>
                      </a:r>
                      <a:r>
                        <a:rPr lang="en-US" altLang="zh-CN" sz="1400" dirty="0"/>
                        <a:t>PRD</a:t>
                      </a:r>
                      <a:r>
                        <a:rPr lang="zh-CN" altLang="en-US" sz="1400" dirty="0"/>
                        <a:t>需求以及</a:t>
                      </a:r>
                      <a:r>
                        <a:rPr lang="en-US" altLang="zh-CN" sz="1400" dirty="0"/>
                        <a:t>BMC</a:t>
                      </a:r>
                      <a:r>
                        <a:rPr lang="zh-CN" altLang="en-US" sz="1400" dirty="0"/>
                        <a:t>迭代计划，开发</a:t>
                      </a:r>
                      <a:r>
                        <a:rPr lang="en-US" altLang="zh-CN" sz="1400" dirty="0"/>
                        <a:t>BMC</a:t>
                      </a:r>
                      <a:r>
                        <a:rPr lang="zh-CN" altLang="en-US" sz="1400" dirty="0"/>
                        <a:t>功能</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400" dirty="0">
                          <a:solidFill>
                            <a:srgbClr val="0070C0"/>
                          </a:solidFill>
                        </a:rPr>
                        <a:t>《</a:t>
                      </a:r>
                      <a:r>
                        <a:rPr lang="en-US" altLang="zh-CN" sz="1400" u="none" strike="noStrike" dirty="0">
                          <a:solidFill>
                            <a:srgbClr val="0070C0"/>
                          </a:solidFill>
                          <a:effectLst/>
                        </a:rPr>
                        <a:t>BMC FW</a:t>
                      </a:r>
                      <a:r>
                        <a:rPr lang="en-US" altLang="zh-CN" sz="1400" dirty="0">
                          <a:solidFill>
                            <a:srgbClr val="0070C0"/>
                          </a:solidFill>
                        </a:rPr>
                        <a:t>》</a:t>
                      </a:r>
                      <a:endParaRPr lang="en-US" altLang="zh-CN" sz="1400" dirty="0">
                        <a:solidFill>
                          <a:srgbClr val="0070C0"/>
                        </a:solidFill>
                        <a:latin typeface="微软雅黑" panose="020B0503020204020204" pitchFamily="34" charset="-122"/>
                        <a:ea typeface="微软雅黑" panose="020B0503020204020204" pitchFamily="34" charset="-122"/>
                      </a:endParaRPr>
                    </a:p>
                  </a:txBody>
                  <a:tcPr anchor="ctr" anchorCtr="1"/>
                </a:tc>
                <a:extLst>
                  <a:ext uri="{0D108BD9-81ED-4DB2-BD59-A6C34878D82A}">
                    <a16:rowId xmlns:a16="http://schemas.microsoft.com/office/drawing/2014/main" val="2344668952"/>
                  </a:ext>
                </a:extLst>
              </a:tr>
              <a:tr h="321928">
                <a:tc>
                  <a:txBody>
                    <a:bodyPr/>
                    <a:lstStyle/>
                    <a:p>
                      <a:pPr algn="ctr"/>
                      <a:r>
                        <a:rPr lang="en-US" altLang="zh-CN" sz="1400" dirty="0"/>
                        <a:t>CMM</a:t>
                      </a:r>
                      <a:r>
                        <a:rPr lang="zh-CN" altLang="en-US" sz="1400" dirty="0"/>
                        <a:t>详细设计</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algn="ctr"/>
                      <a:r>
                        <a:rPr lang="en-US" altLang="zh-CN" sz="1400" dirty="0">
                          <a:solidFill>
                            <a:srgbClr val="0070C0"/>
                          </a:solidFill>
                        </a:rPr>
                        <a:t>CMM</a:t>
                      </a:r>
                      <a:r>
                        <a:rPr lang="zh-CN" altLang="en-US" sz="1400" dirty="0">
                          <a:solidFill>
                            <a:srgbClr val="0070C0"/>
                          </a:solidFill>
                        </a:rPr>
                        <a:t>工程师</a:t>
                      </a:r>
                      <a:endParaRPr lang="zh-CN" altLang="en-US" sz="1400" dirty="0">
                        <a:solidFill>
                          <a:srgbClr val="0070C0"/>
                        </a:solidFill>
                        <a:latin typeface="微软雅黑" panose="020B0503020204020204" pitchFamily="34" charset="-122"/>
                        <a:ea typeface="微软雅黑" panose="020B0503020204020204" pitchFamily="34" charset="-122"/>
                      </a:endParaRPr>
                    </a:p>
                  </a:txBody>
                  <a:tcPr anchor="ctr" anchorCtr="1"/>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400" dirty="0"/>
                        <a:t>根据</a:t>
                      </a:r>
                      <a:r>
                        <a:rPr lang="en-US" altLang="zh-CN" sz="1400" dirty="0"/>
                        <a:t>PRD</a:t>
                      </a:r>
                      <a:r>
                        <a:rPr lang="zh-CN" altLang="en-US" sz="1400" dirty="0"/>
                        <a:t>需求以及</a:t>
                      </a:r>
                      <a:r>
                        <a:rPr lang="en-US" altLang="zh-CN" sz="1400" dirty="0"/>
                        <a:t>CMM</a:t>
                      </a:r>
                      <a:r>
                        <a:rPr lang="zh-CN" altLang="en-US" sz="1400" dirty="0"/>
                        <a:t>迭代计划，开发</a:t>
                      </a:r>
                      <a:r>
                        <a:rPr lang="en-US" altLang="zh-CN" sz="1400" dirty="0"/>
                        <a:t>CMM</a:t>
                      </a:r>
                      <a:r>
                        <a:rPr lang="zh-CN" altLang="en-US" sz="1400" dirty="0"/>
                        <a:t>功能</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400" dirty="0">
                          <a:solidFill>
                            <a:srgbClr val="0070C0"/>
                          </a:solidFill>
                        </a:rPr>
                        <a:t>《</a:t>
                      </a:r>
                      <a:r>
                        <a:rPr lang="en-US" altLang="zh-CN" sz="1400" u="none" strike="noStrike" dirty="0">
                          <a:solidFill>
                            <a:srgbClr val="0070C0"/>
                          </a:solidFill>
                          <a:effectLst/>
                        </a:rPr>
                        <a:t>CMM FW</a:t>
                      </a:r>
                      <a:r>
                        <a:rPr lang="en-US" altLang="zh-CN" sz="1400" dirty="0">
                          <a:solidFill>
                            <a:srgbClr val="0070C0"/>
                          </a:solidFill>
                        </a:rPr>
                        <a:t>》</a:t>
                      </a:r>
                      <a:endParaRPr lang="en-US" altLang="zh-CN" sz="1400" dirty="0">
                        <a:solidFill>
                          <a:srgbClr val="0070C0"/>
                        </a:solidFill>
                        <a:latin typeface="微软雅黑" panose="020B0503020204020204" pitchFamily="34" charset="-122"/>
                        <a:ea typeface="微软雅黑" panose="020B0503020204020204" pitchFamily="34" charset="-122"/>
                      </a:endParaRPr>
                    </a:p>
                  </a:txBody>
                  <a:tcPr anchor="ctr" anchorCtr="1"/>
                </a:tc>
                <a:extLst>
                  <a:ext uri="{0D108BD9-81ED-4DB2-BD59-A6C34878D82A}">
                    <a16:rowId xmlns:a16="http://schemas.microsoft.com/office/drawing/2014/main" val="3688737437"/>
                  </a:ext>
                </a:extLst>
              </a:tr>
            </a:tbl>
          </a:graphicData>
        </a:graphic>
      </p:graphicFrame>
      <p:sp>
        <p:nvSpPr>
          <p:cNvPr id="7" name="矩形 6">
            <a:extLst>
              <a:ext uri="{FF2B5EF4-FFF2-40B4-BE49-F238E27FC236}">
                <a16:creationId xmlns:a16="http://schemas.microsoft.com/office/drawing/2014/main" id="{CC66C16C-8A30-4FBA-BFC4-06D15243D53B}"/>
              </a:ext>
            </a:extLst>
          </p:cNvPr>
          <p:cNvSpPr/>
          <p:nvPr/>
        </p:nvSpPr>
        <p:spPr>
          <a:xfrm>
            <a:off x="391562" y="4800672"/>
            <a:ext cx="10750571" cy="830997"/>
          </a:xfrm>
          <a:prstGeom prst="rect">
            <a:avLst/>
          </a:prstGeom>
        </p:spPr>
        <p:txBody>
          <a:bodyPr wrap="square">
            <a:spAutoFit/>
          </a:bodyPr>
          <a:lstStyle/>
          <a:p>
            <a:pPr marL="285750" indent="-285750">
              <a:buFont typeface="Wingdings" panose="05000000000000000000" pitchFamily="2" charset="2"/>
              <a:buChar char="l"/>
            </a:pPr>
            <a:r>
              <a:rPr lang="en-US" altLang="zh-CN" sz="1600" dirty="0">
                <a:latin typeface="微软雅黑" panose="020B0503020204020204" pitchFamily="34" charset="-122"/>
                <a:ea typeface="微软雅黑" panose="020B0503020204020204" pitchFamily="34" charset="-122"/>
              </a:rPr>
              <a:t>ID </a:t>
            </a:r>
            <a:r>
              <a:rPr lang="zh-CN" altLang="en-US" sz="1600" dirty="0">
                <a:latin typeface="微软雅黑" panose="020B0503020204020204" pitchFamily="34" charset="-122"/>
                <a:ea typeface="微软雅黑" panose="020B0503020204020204" pitchFamily="34" charset="-122"/>
              </a:rPr>
              <a:t>设计：前面板、箱耳、丝印、标签、贴纸等</a:t>
            </a:r>
            <a:endParaRPr lang="en-US" altLang="zh-CN" sz="1600"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备注</a:t>
            </a:r>
            <a:r>
              <a:rPr lang="zh-CN" altLang="en-US" sz="1600" dirty="0">
                <a:latin typeface="微软雅黑" panose="020B0503020204020204" pitchFamily="34" charset="-122"/>
                <a:ea typeface="微软雅黑" panose="020B0503020204020204" pitchFamily="34" charset="-122"/>
              </a:rPr>
              <a:t>：部分</a:t>
            </a:r>
            <a:r>
              <a:rPr lang="en-US" altLang="zh-CN" sz="1600" dirty="0">
                <a:latin typeface="微软雅黑" panose="020B0503020204020204" pitchFamily="34" charset="-122"/>
                <a:ea typeface="微软雅黑" panose="020B0503020204020204" pitchFamily="34" charset="-122"/>
              </a:rPr>
              <a:t>ID</a:t>
            </a:r>
            <a:r>
              <a:rPr lang="zh-CN" altLang="en-US" sz="1600" dirty="0">
                <a:latin typeface="微软雅黑" panose="020B0503020204020204" pitchFamily="34" charset="-122"/>
                <a:ea typeface="微软雅黑" panose="020B0503020204020204" pitchFamily="34" charset="-122"/>
              </a:rPr>
              <a:t>需求无法在详细设计阶段完成，例如：产品手册中线框图、产品前视图</a:t>
            </a:r>
            <a:r>
              <a:rPr lang="en-US" altLang="zh-CN" sz="1600" dirty="0">
                <a:latin typeface="微软雅黑" panose="020B0503020204020204" pitchFamily="34" charset="-122"/>
                <a:ea typeface="微软雅黑" panose="020B0503020204020204" pitchFamily="34" charset="-122"/>
              </a:rPr>
              <a:t>&amp;</a:t>
            </a:r>
            <a:r>
              <a:rPr lang="zh-CN" altLang="en-US" sz="1600" dirty="0">
                <a:latin typeface="微软雅黑" panose="020B0503020204020204" pitchFamily="34" charset="-122"/>
                <a:ea typeface="微软雅黑" panose="020B0503020204020204" pitchFamily="34" charset="-122"/>
              </a:rPr>
              <a:t>后视图标准图片（机箱图纸定版后开始制作）。</a:t>
            </a:r>
            <a:endParaRPr lang="en-US" altLang="zh-CN" sz="1600" dirty="0">
              <a:latin typeface="微软雅黑" panose="020B0503020204020204" pitchFamily="34" charset="-122"/>
              <a:ea typeface="微软雅黑" panose="020B0503020204020204" pitchFamily="34" charset="-122"/>
            </a:endParaRPr>
          </a:p>
        </p:txBody>
      </p:sp>
      <p:graphicFrame>
        <p:nvGraphicFramePr>
          <p:cNvPr id="11" name="表格 10">
            <a:extLst>
              <a:ext uri="{FF2B5EF4-FFF2-40B4-BE49-F238E27FC236}">
                <a16:creationId xmlns:a16="http://schemas.microsoft.com/office/drawing/2014/main" id="{F03EF3E3-25FA-44B1-9469-8D602AC841DD}"/>
              </a:ext>
            </a:extLst>
          </p:cNvPr>
          <p:cNvGraphicFramePr>
            <a:graphicFrameLocks noGrp="1"/>
          </p:cNvGraphicFramePr>
          <p:nvPr/>
        </p:nvGraphicFramePr>
        <p:xfrm>
          <a:off x="461194" y="5635110"/>
          <a:ext cx="11339245" cy="1118808"/>
        </p:xfrm>
        <a:graphic>
          <a:graphicData uri="http://schemas.openxmlformats.org/drawingml/2006/table">
            <a:tbl>
              <a:tblPr firstRow="1" bandRow="1">
                <a:tableStyleId>{00A15C55-8517-42AA-B614-E9B94910E393}</a:tableStyleId>
              </a:tblPr>
              <a:tblGrid>
                <a:gridCol w="1919229">
                  <a:extLst>
                    <a:ext uri="{9D8B030D-6E8A-4147-A177-3AD203B41FA5}">
                      <a16:colId xmlns:a16="http://schemas.microsoft.com/office/drawing/2014/main" val="773509366"/>
                    </a:ext>
                  </a:extLst>
                </a:gridCol>
                <a:gridCol w="1677534">
                  <a:extLst>
                    <a:ext uri="{9D8B030D-6E8A-4147-A177-3AD203B41FA5}">
                      <a16:colId xmlns:a16="http://schemas.microsoft.com/office/drawing/2014/main" val="869367937"/>
                    </a:ext>
                  </a:extLst>
                </a:gridCol>
                <a:gridCol w="4743142">
                  <a:extLst>
                    <a:ext uri="{9D8B030D-6E8A-4147-A177-3AD203B41FA5}">
                      <a16:colId xmlns:a16="http://schemas.microsoft.com/office/drawing/2014/main" val="99857605"/>
                    </a:ext>
                  </a:extLst>
                </a:gridCol>
                <a:gridCol w="2999340">
                  <a:extLst>
                    <a:ext uri="{9D8B030D-6E8A-4147-A177-3AD203B41FA5}">
                      <a16:colId xmlns:a16="http://schemas.microsoft.com/office/drawing/2014/main" val="1047766596"/>
                    </a:ext>
                  </a:extLst>
                </a:gridCol>
              </a:tblGrid>
              <a:tr h="383950">
                <a:tc>
                  <a:txBody>
                    <a:bodyPr/>
                    <a:lstStyle/>
                    <a:p>
                      <a:r>
                        <a:rPr lang="zh-CN" altLang="en-US" sz="1400" dirty="0"/>
                        <a:t>任务名称</a:t>
                      </a:r>
                      <a:endParaRPr lang="zh-CN" altLang="en-US" sz="1400" dirty="0">
                        <a:latin typeface="+mn-ea"/>
                        <a:ea typeface="+mn-ea"/>
                      </a:endParaRPr>
                    </a:p>
                  </a:txBody>
                  <a:tcPr anchor="ctr" anchorCtr="1"/>
                </a:tc>
                <a:tc>
                  <a:txBody>
                    <a:bodyPr/>
                    <a:lstStyle/>
                    <a:p>
                      <a:r>
                        <a:rPr lang="zh-CN" altLang="en-US" sz="1400" dirty="0"/>
                        <a:t>责任人</a:t>
                      </a:r>
                      <a:endParaRPr lang="zh-CN" altLang="en-US" sz="1400" dirty="0">
                        <a:latin typeface="+mn-ea"/>
                        <a:ea typeface="+mn-ea"/>
                      </a:endParaRPr>
                    </a:p>
                  </a:txBody>
                  <a:tcPr anchor="ctr" anchorCtr="1"/>
                </a:tc>
                <a:tc>
                  <a:txBody>
                    <a:bodyPr/>
                    <a:lstStyle/>
                    <a:p>
                      <a:r>
                        <a:rPr lang="zh-CN" altLang="en-US" sz="1400" dirty="0"/>
                        <a:t>设计依据</a:t>
                      </a:r>
                      <a:endParaRPr lang="zh-CN" altLang="en-US" sz="1400" dirty="0">
                        <a:latin typeface="+mn-ea"/>
                        <a:ea typeface="+mn-ea"/>
                      </a:endParaRPr>
                    </a:p>
                  </a:txBody>
                  <a:tcPr anchor="ctr" anchorCtr="1"/>
                </a:tc>
                <a:tc>
                  <a:txBody>
                    <a:bodyPr/>
                    <a:lstStyle/>
                    <a:p>
                      <a:r>
                        <a:rPr lang="zh-CN" altLang="en-US" sz="1400" dirty="0"/>
                        <a:t>交付物</a:t>
                      </a:r>
                      <a:endParaRPr lang="zh-CN" altLang="en-US" sz="1400" dirty="0">
                        <a:latin typeface="+mn-ea"/>
                        <a:ea typeface="+mn-ea"/>
                      </a:endParaRPr>
                    </a:p>
                  </a:txBody>
                  <a:tcPr anchor="ctr" anchorCtr="1"/>
                </a:tc>
                <a:extLst>
                  <a:ext uri="{0D108BD9-81ED-4DB2-BD59-A6C34878D82A}">
                    <a16:rowId xmlns:a16="http://schemas.microsoft.com/office/drawing/2014/main" val="3162067804"/>
                  </a:ext>
                </a:extLst>
              </a:tr>
              <a:tr h="734858">
                <a:tc>
                  <a:txBody>
                    <a:bodyPr/>
                    <a:lstStyle/>
                    <a:p>
                      <a:r>
                        <a:rPr lang="en-US" altLang="zh-CN" sz="1400" dirty="0"/>
                        <a:t>ID</a:t>
                      </a:r>
                      <a:r>
                        <a:rPr lang="zh-CN" altLang="en-US" sz="1400" dirty="0"/>
                        <a:t>详细设计</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r>
                        <a:rPr lang="en-US" altLang="zh-CN" sz="1400" dirty="0">
                          <a:solidFill>
                            <a:srgbClr val="0070C0"/>
                          </a:solidFill>
                        </a:rPr>
                        <a:t>ID</a:t>
                      </a:r>
                      <a:r>
                        <a:rPr lang="zh-CN" altLang="en-US" sz="1400" dirty="0">
                          <a:solidFill>
                            <a:srgbClr val="0070C0"/>
                          </a:solidFill>
                        </a:rPr>
                        <a:t>工程师</a:t>
                      </a:r>
                      <a:endParaRPr lang="zh-CN" altLang="en-US" sz="1400" dirty="0">
                        <a:solidFill>
                          <a:srgbClr val="0070C0"/>
                        </a:solidFill>
                        <a:latin typeface="微软雅黑" panose="020B0503020204020204" pitchFamily="34" charset="-122"/>
                        <a:ea typeface="微软雅黑" panose="020B0503020204020204" pitchFamily="34" charset="-122"/>
                      </a:endParaRPr>
                    </a:p>
                  </a:txBody>
                  <a:tcPr anchor="ctr" anchorCtr="1"/>
                </a:tc>
                <a:tc>
                  <a:txBody>
                    <a:bodyPr/>
                    <a:lstStyle/>
                    <a:p>
                      <a:r>
                        <a:rPr lang="zh-CN" altLang="en-US" sz="1400" dirty="0"/>
                        <a:t>根据</a:t>
                      </a:r>
                      <a:r>
                        <a:rPr lang="en-US" altLang="zh-CN" sz="1400" dirty="0"/>
                        <a:t>PRD</a:t>
                      </a:r>
                      <a:r>
                        <a:rPr lang="zh-CN" altLang="en-US" sz="1400" dirty="0"/>
                        <a:t>需求，进行</a:t>
                      </a:r>
                      <a:r>
                        <a:rPr lang="en-US" altLang="zh-CN" sz="1400" dirty="0"/>
                        <a:t>ID</a:t>
                      </a:r>
                      <a:r>
                        <a:rPr lang="zh-CN" altLang="en-US" sz="1400" dirty="0"/>
                        <a:t>设计</a:t>
                      </a:r>
                      <a:endParaRPr lang="zh-CN" altLang="en-US" sz="1400" dirty="0">
                        <a:latin typeface="微软雅黑" panose="020B0503020204020204" pitchFamily="34" charset="-122"/>
                        <a:ea typeface="微软雅黑" panose="020B0503020204020204" pitchFamily="34" charset="-122"/>
                      </a:endParaRPr>
                    </a:p>
                  </a:txBody>
                  <a:tcPr anchor="ctr" anchorCtr="1"/>
                </a:tc>
                <a:tc>
                  <a:txBody>
                    <a:bodyPr/>
                    <a:lstStyle/>
                    <a:p>
                      <a:pPr algn="ctr"/>
                      <a:r>
                        <a:rPr lang="en-US" altLang="zh-CN" sz="1400" dirty="0">
                          <a:solidFill>
                            <a:srgbClr val="0070C0"/>
                          </a:solidFill>
                        </a:rPr>
                        <a:t>《</a:t>
                      </a:r>
                      <a:r>
                        <a:rPr lang="zh-CN" altLang="en-US" sz="1400" u="none" strike="noStrike" dirty="0">
                          <a:solidFill>
                            <a:srgbClr val="0070C0"/>
                          </a:solidFill>
                          <a:effectLst/>
                        </a:rPr>
                        <a:t>产品</a:t>
                      </a:r>
                      <a:r>
                        <a:rPr lang="en-US" altLang="zh-CN" sz="1400" u="none" strike="noStrike" dirty="0">
                          <a:solidFill>
                            <a:srgbClr val="0070C0"/>
                          </a:solidFill>
                          <a:effectLst/>
                        </a:rPr>
                        <a:t>ID</a:t>
                      </a:r>
                      <a:r>
                        <a:rPr lang="zh-CN" altLang="en-US" sz="1400" u="none" strike="noStrike" dirty="0">
                          <a:solidFill>
                            <a:srgbClr val="0070C0"/>
                          </a:solidFill>
                          <a:effectLst/>
                        </a:rPr>
                        <a:t>方案</a:t>
                      </a:r>
                      <a:r>
                        <a:rPr lang="en-US" altLang="zh-CN" sz="1400" u="none" strike="noStrike" dirty="0">
                          <a:solidFill>
                            <a:srgbClr val="0070C0"/>
                          </a:solidFill>
                          <a:effectLst/>
                        </a:rPr>
                        <a:t>-</a:t>
                      </a:r>
                      <a:r>
                        <a:rPr lang="zh-CN" altLang="en-US" sz="1400" u="none" strike="noStrike" dirty="0">
                          <a:solidFill>
                            <a:srgbClr val="0070C0"/>
                          </a:solidFill>
                          <a:effectLst/>
                        </a:rPr>
                        <a:t>包（</a:t>
                      </a:r>
                      <a:r>
                        <a:rPr lang="en-US" altLang="zh-CN" sz="1400" u="none" strike="noStrike" dirty="0">
                          <a:solidFill>
                            <a:srgbClr val="0070C0"/>
                          </a:solidFill>
                          <a:effectLst/>
                        </a:rPr>
                        <a:t>3D</a:t>
                      </a:r>
                      <a:r>
                        <a:rPr lang="zh-CN" altLang="en-US" sz="1400" u="none" strike="noStrike" dirty="0">
                          <a:solidFill>
                            <a:srgbClr val="0070C0"/>
                          </a:solidFill>
                          <a:effectLst/>
                        </a:rPr>
                        <a:t>模型、设计说明</a:t>
                      </a:r>
                      <a:r>
                        <a:rPr lang="en-US" altLang="zh-CN" sz="1400" u="none" strike="noStrike" dirty="0">
                          <a:solidFill>
                            <a:srgbClr val="0070C0"/>
                          </a:solidFill>
                          <a:effectLst/>
                        </a:rPr>
                        <a:t>PPT</a:t>
                      </a:r>
                      <a:r>
                        <a:rPr lang="zh-CN" altLang="en-US" sz="1400" u="none" strike="noStrike" dirty="0">
                          <a:solidFill>
                            <a:srgbClr val="0070C0"/>
                          </a:solidFill>
                          <a:effectLst/>
                        </a:rPr>
                        <a:t>等）</a:t>
                      </a:r>
                      <a:r>
                        <a:rPr lang="en-US" altLang="zh-CN" sz="1400" dirty="0">
                          <a:solidFill>
                            <a:srgbClr val="0070C0"/>
                          </a:solidFill>
                        </a:rPr>
                        <a:t>》</a:t>
                      </a:r>
                    </a:p>
                    <a:p>
                      <a:pPr algn="ctr"/>
                      <a:r>
                        <a:rPr lang="en-US" altLang="zh-CN" sz="1400" dirty="0">
                          <a:solidFill>
                            <a:srgbClr val="0070C0"/>
                          </a:solidFill>
                        </a:rPr>
                        <a:t>《</a:t>
                      </a:r>
                      <a:r>
                        <a:rPr lang="zh-CN" altLang="en-US" sz="1400" u="none" strike="noStrike" dirty="0">
                          <a:solidFill>
                            <a:srgbClr val="0070C0"/>
                          </a:solidFill>
                          <a:effectLst/>
                        </a:rPr>
                        <a:t>工业设计部件规格书</a:t>
                      </a:r>
                      <a:r>
                        <a:rPr lang="en-US" altLang="zh-CN" sz="1400" dirty="0">
                          <a:solidFill>
                            <a:srgbClr val="0070C0"/>
                          </a:solidFill>
                        </a:rPr>
                        <a:t>》</a:t>
                      </a:r>
                      <a:endParaRPr lang="en-US" altLang="zh-CN" sz="1400" dirty="0">
                        <a:solidFill>
                          <a:srgbClr val="0070C0"/>
                        </a:solidFill>
                        <a:latin typeface="微软雅黑" panose="020B0503020204020204" pitchFamily="34" charset="-122"/>
                        <a:ea typeface="微软雅黑" panose="020B0503020204020204" pitchFamily="34" charset="-122"/>
                      </a:endParaRPr>
                    </a:p>
                  </a:txBody>
                  <a:tcPr anchor="ctr" anchorCtr="1"/>
                </a:tc>
                <a:extLst>
                  <a:ext uri="{0D108BD9-81ED-4DB2-BD59-A6C34878D82A}">
                    <a16:rowId xmlns:a16="http://schemas.microsoft.com/office/drawing/2014/main" val="2982289352"/>
                  </a:ext>
                </a:extLst>
              </a:tr>
            </a:tbl>
          </a:graphicData>
        </a:graphic>
      </p:graphicFrame>
      <p:cxnSp>
        <p:nvCxnSpPr>
          <p:cNvPr id="10" name="直接连接符 9">
            <a:extLst>
              <a:ext uri="{FF2B5EF4-FFF2-40B4-BE49-F238E27FC236}">
                <a16:creationId xmlns:a16="http://schemas.microsoft.com/office/drawing/2014/main" id="{C1CC1C11-642B-4800-96D3-BA62DBA2D809}"/>
              </a:ext>
            </a:extLst>
          </p:cNvPr>
          <p:cNvCxnSpPr/>
          <p:nvPr/>
        </p:nvCxnSpPr>
        <p:spPr>
          <a:xfrm>
            <a:off x="0" y="4238144"/>
            <a:ext cx="12192000"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Freeform 6">
            <a:extLst>
              <a:ext uri="{FF2B5EF4-FFF2-40B4-BE49-F238E27FC236}">
                <a16:creationId xmlns:a16="http://schemas.microsoft.com/office/drawing/2014/main" id="{C66EE1C1-442B-FC9C-C544-D160D14D3880}"/>
              </a:ext>
            </a:extLst>
          </p:cNvPr>
          <p:cNvSpPr/>
          <p:nvPr/>
        </p:nvSpPr>
        <p:spPr bwMode="auto">
          <a:xfrm>
            <a:off x="441943" y="854198"/>
            <a:ext cx="1962411" cy="543351"/>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ln/>
        </p:spPr>
        <p:style>
          <a:lnRef idx="2">
            <a:schemeClr val="accent3">
              <a:shade val="50000"/>
            </a:schemeClr>
          </a:lnRef>
          <a:fillRef idx="1">
            <a:schemeClr val="accent3"/>
          </a:fillRef>
          <a:effectRef idx="0">
            <a:schemeClr val="accent3"/>
          </a:effectRef>
          <a:fontRef idx="minor">
            <a:schemeClr val="lt1"/>
          </a:fontRef>
        </p:style>
        <p:txBody>
          <a:bodyPr vert="horz" wrap="square" lIns="121920" tIns="60960" rIns="121920" bIns="60960" numCol="1" anchor="ctr" anchorCtr="0" compatLnSpc="1"/>
          <a:lstStyle/>
          <a:p>
            <a:pPr algn="ctr"/>
            <a:r>
              <a:rPr lang="en-US" altLang="zh-CN" sz="2535" b="1" dirty="0">
                <a:latin typeface="微软雅黑" panose="020B0503020204020204" pitchFamily="34" charset="-122"/>
                <a:ea typeface="微软雅黑" panose="020B0503020204020204" pitchFamily="34" charset="-122"/>
              </a:rPr>
              <a:t>FW</a:t>
            </a:r>
            <a:r>
              <a:rPr lang="zh-CN" altLang="en-US" sz="2535" b="1" dirty="0">
                <a:latin typeface="微软雅黑" panose="020B0503020204020204" pitchFamily="34" charset="-122"/>
                <a:ea typeface="微软雅黑" panose="020B0503020204020204" pitchFamily="34" charset="-122"/>
              </a:rPr>
              <a:t>开发</a:t>
            </a:r>
            <a:endParaRPr lang="en-US" altLang="zh-CN" sz="2535" b="1" dirty="0">
              <a:latin typeface="微软雅黑" panose="020B0503020204020204" pitchFamily="34" charset="-122"/>
              <a:ea typeface="微软雅黑" panose="020B0503020204020204" pitchFamily="34" charset="-122"/>
            </a:endParaRPr>
          </a:p>
        </p:txBody>
      </p:sp>
      <p:sp>
        <p:nvSpPr>
          <p:cNvPr id="9" name="Freeform 6">
            <a:extLst>
              <a:ext uri="{FF2B5EF4-FFF2-40B4-BE49-F238E27FC236}">
                <a16:creationId xmlns:a16="http://schemas.microsoft.com/office/drawing/2014/main" id="{7820CEF8-C112-7A1F-9259-0BD7B45640AF}"/>
              </a:ext>
            </a:extLst>
          </p:cNvPr>
          <p:cNvSpPr/>
          <p:nvPr/>
        </p:nvSpPr>
        <p:spPr bwMode="auto">
          <a:xfrm>
            <a:off x="441943" y="4299027"/>
            <a:ext cx="1962411" cy="543351"/>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ln/>
        </p:spPr>
        <p:style>
          <a:lnRef idx="2">
            <a:schemeClr val="accent3">
              <a:shade val="50000"/>
            </a:schemeClr>
          </a:lnRef>
          <a:fillRef idx="1">
            <a:schemeClr val="accent3"/>
          </a:fillRef>
          <a:effectRef idx="0">
            <a:schemeClr val="accent3"/>
          </a:effectRef>
          <a:fontRef idx="minor">
            <a:schemeClr val="lt1"/>
          </a:fontRef>
        </p:style>
        <p:txBody>
          <a:bodyPr vert="horz" wrap="square" lIns="121920" tIns="60960" rIns="121920" bIns="60960" numCol="1" anchor="ctr" anchorCtr="0" compatLnSpc="1"/>
          <a:lstStyle/>
          <a:p>
            <a:pPr algn="ctr"/>
            <a:r>
              <a:rPr lang="en-US" altLang="zh-CN" sz="2535" b="1" dirty="0">
                <a:latin typeface="微软雅黑" panose="020B0503020204020204" pitchFamily="34" charset="-122"/>
                <a:ea typeface="微软雅黑" panose="020B0503020204020204" pitchFamily="34" charset="-122"/>
              </a:rPr>
              <a:t>ID</a:t>
            </a:r>
            <a:r>
              <a:rPr lang="zh-CN" altLang="en-US" sz="2535" b="1" dirty="0">
                <a:latin typeface="微软雅黑" panose="020B0503020204020204" pitchFamily="34" charset="-122"/>
                <a:ea typeface="微软雅黑" panose="020B0503020204020204" pitchFamily="34" charset="-122"/>
              </a:rPr>
              <a:t>设计</a:t>
            </a:r>
            <a:endParaRPr lang="en-US" altLang="zh-CN" sz="2535"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2126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
            <a:extLst>
              <a:ext uri="{FF2B5EF4-FFF2-40B4-BE49-F238E27FC236}">
                <a16:creationId xmlns:a16="http://schemas.microsoft.com/office/drawing/2014/main" id="{DB8BC9F0-0AD3-4E1E-9F64-A6B30F5EDA2E}"/>
              </a:ext>
            </a:extLst>
          </p:cNvPr>
          <p:cNvSpPr>
            <a:spLocks noGrp="1"/>
          </p:cNvSpPr>
          <p:nvPr>
            <p:ph type="body" sz="quarter" idx="13"/>
          </p:nvPr>
        </p:nvSpPr>
        <p:spPr>
          <a:xfrm>
            <a:off x="239349" y="164637"/>
            <a:ext cx="9889099" cy="672075"/>
          </a:xfrm>
        </p:spPr>
        <p:txBody>
          <a:bodyPr/>
          <a:lstStyle/>
          <a:p>
            <a:r>
              <a:rPr lang="en-US" altLang="zh-CN" dirty="0"/>
              <a:t>L6</a:t>
            </a:r>
            <a:r>
              <a:rPr lang="zh-CN" altLang="en-US" dirty="0"/>
              <a:t>详细设计</a:t>
            </a:r>
            <a:r>
              <a:rPr lang="en-US" altLang="zh-CN" dirty="0"/>
              <a:t>——</a:t>
            </a:r>
            <a:r>
              <a:rPr lang="zh-CN" altLang="en-US" dirty="0"/>
              <a:t>结构、散热设计</a:t>
            </a:r>
          </a:p>
        </p:txBody>
      </p:sp>
      <p:sp>
        <p:nvSpPr>
          <p:cNvPr id="5" name="矩形 4">
            <a:extLst>
              <a:ext uri="{FF2B5EF4-FFF2-40B4-BE49-F238E27FC236}">
                <a16:creationId xmlns:a16="http://schemas.microsoft.com/office/drawing/2014/main" id="{4DC6F34A-1D06-4878-A0EF-2587B2516796}"/>
              </a:ext>
            </a:extLst>
          </p:cNvPr>
          <p:cNvSpPr/>
          <p:nvPr/>
        </p:nvSpPr>
        <p:spPr>
          <a:xfrm>
            <a:off x="391562" y="1438524"/>
            <a:ext cx="10551120" cy="584775"/>
          </a:xfrm>
          <a:prstGeom prst="rect">
            <a:avLst/>
          </a:prstGeom>
        </p:spPr>
        <p:txBody>
          <a:bodyPr wrap="square">
            <a:spAutoFit/>
          </a:bodyPr>
          <a:lstStyle/>
          <a:p>
            <a:pPr marL="285750" indent="-28575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结构设计：</a:t>
            </a:r>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机箱、刀箱、箱耳、导风罩、风扇仓、风扇支架、</a:t>
            </a:r>
            <a:r>
              <a:rPr lang="en-US" altLang="zh-CN" sz="1600" dirty="0">
                <a:latin typeface="微软雅黑" panose="020B0503020204020204" pitchFamily="34" charset="-122"/>
                <a:ea typeface="微软雅黑" panose="020B0503020204020204" pitchFamily="34" charset="-122"/>
              </a:rPr>
              <a:t>Cage</a:t>
            </a:r>
            <a:r>
              <a:rPr lang="zh-CN" altLang="en-US" sz="1600" dirty="0">
                <a:latin typeface="微软雅黑" panose="020B0503020204020204" pitchFamily="34" charset="-122"/>
                <a:ea typeface="微软雅黑" panose="020B0503020204020204" pitchFamily="34" charset="-122"/>
              </a:rPr>
              <a:t>、挡片类</a:t>
            </a:r>
            <a:endParaRPr lang="en-US" altLang="zh-CN" sz="16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CC66C16C-8A30-4FBA-BFC4-06D15243D53B}"/>
              </a:ext>
            </a:extLst>
          </p:cNvPr>
          <p:cNvSpPr/>
          <p:nvPr/>
        </p:nvSpPr>
        <p:spPr>
          <a:xfrm>
            <a:off x="391562" y="4376861"/>
            <a:ext cx="6947581" cy="338554"/>
          </a:xfrm>
          <a:prstGeom prst="rect">
            <a:avLst/>
          </a:prstGeom>
        </p:spPr>
        <p:txBody>
          <a:bodyPr wrap="square">
            <a:spAutoFit/>
          </a:bodyPr>
          <a:lstStyle/>
          <a:p>
            <a:pPr marL="285750" indent="-28575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散热设计：散热器件</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风冷散热器、液冷散热器、风扇</a:t>
            </a:r>
            <a:endParaRPr lang="en-US" altLang="zh-CN" sz="1600" dirty="0">
              <a:latin typeface="微软雅黑" panose="020B0503020204020204" pitchFamily="34" charset="-122"/>
              <a:ea typeface="微软雅黑" panose="020B0503020204020204" pitchFamily="34" charset="-122"/>
            </a:endParaRPr>
          </a:p>
        </p:txBody>
      </p:sp>
      <p:sp>
        <p:nvSpPr>
          <p:cNvPr id="12" name="Freeform 6">
            <a:extLst>
              <a:ext uri="{FF2B5EF4-FFF2-40B4-BE49-F238E27FC236}">
                <a16:creationId xmlns:a16="http://schemas.microsoft.com/office/drawing/2014/main" id="{8088E099-04E2-4F55-A346-D876D9649776}"/>
              </a:ext>
            </a:extLst>
          </p:cNvPr>
          <p:cNvSpPr/>
          <p:nvPr/>
        </p:nvSpPr>
        <p:spPr bwMode="auto">
          <a:xfrm>
            <a:off x="461194" y="871684"/>
            <a:ext cx="1962411" cy="543351"/>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ln/>
        </p:spPr>
        <p:style>
          <a:lnRef idx="2">
            <a:schemeClr val="accent3">
              <a:shade val="50000"/>
            </a:schemeClr>
          </a:lnRef>
          <a:fillRef idx="1">
            <a:schemeClr val="accent3"/>
          </a:fillRef>
          <a:effectRef idx="0">
            <a:schemeClr val="accent3"/>
          </a:effectRef>
          <a:fontRef idx="minor">
            <a:schemeClr val="lt1"/>
          </a:fontRef>
        </p:style>
        <p:txBody>
          <a:bodyPr vert="horz" wrap="square" lIns="121920" tIns="60960" rIns="121920" bIns="60960" numCol="1" anchor="t" anchorCtr="0" compatLnSpc="1"/>
          <a:lstStyle/>
          <a:p>
            <a:pPr algn="ctr"/>
            <a:r>
              <a:rPr lang="zh-CN" altLang="en-US" sz="2535" b="1" dirty="0">
                <a:latin typeface="微软雅黑" panose="020B0503020204020204" pitchFamily="34" charset="-122"/>
                <a:ea typeface="微软雅黑" panose="020B0503020204020204" pitchFamily="34" charset="-122"/>
              </a:rPr>
              <a:t>结构设计</a:t>
            </a:r>
            <a:endParaRPr lang="en-US" sz="2535" b="1" dirty="0">
              <a:latin typeface="微软雅黑" panose="020B0503020204020204" pitchFamily="34" charset="-122"/>
              <a:ea typeface="微软雅黑" panose="020B0503020204020204" pitchFamily="34" charset="-122"/>
            </a:endParaRPr>
          </a:p>
        </p:txBody>
      </p:sp>
      <p:sp>
        <p:nvSpPr>
          <p:cNvPr id="13" name="Freeform 6">
            <a:extLst>
              <a:ext uri="{FF2B5EF4-FFF2-40B4-BE49-F238E27FC236}">
                <a16:creationId xmlns:a16="http://schemas.microsoft.com/office/drawing/2014/main" id="{F77AACCD-1D7F-4540-92BA-77FE7FBE9AEF}"/>
              </a:ext>
            </a:extLst>
          </p:cNvPr>
          <p:cNvSpPr/>
          <p:nvPr/>
        </p:nvSpPr>
        <p:spPr bwMode="auto">
          <a:xfrm>
            <a:off x="461193" y="3812670"/>
            <a:ext cx="1962412" cy="543351"/>
          </a:xfrm>
          <a:custGeom>
            <a:avLst/>
            <a:gdLst>
              <a:gd name="T0" fmla="*/ 16 w 1028"/>
              <a:gd name="T1" fmla="*/ 0 h 522"/>
              <a:gd name="T2" fmla="*/ 941 w 1028"/>
              <a:gd name="T3" fmla="*/ 0 h 522"/>
              <a:gd name="T4" fmla="*/ 958 w 1028"/>
              <a:gd name="T5" fmla="*/ 16 h 522"/>
              <a:gd name="T6" fmla="*/ 958 w 1028"/>
              <a:gd name="T7" fmla="*/ 225 h 522"/>
              <a:gd name="T8" fmla="*/ 1028 w 1028"/>
              <a:gd name="T9" fmla="*/ 262 h 522"/>
              <a:gd name="T10" fmla="*/ 958 w 1028"/>
              <a:gd name="T11" fmla="*/ 302 h 522"/>
              <a:gd name="T12" fmla="*/ 958 w 1028"/>
              <a:gd name="T13" fmla="*/ 506 h 522"/>
              <a:gd name="T14" fmla="*/ 941 w 1028"/>
              <a:gd name="T15" fmla="*/ 522 h 522"/>
              <a:gd name="T16" fmla="*/ 16 w 1028"/>
              <a:gd name="T17" fmla="*/ 522 h 522"/>
              <a:gd name="T18" fmla="*/ 0 w 1028"/>
              <a:gd name="T19" fmla="*/ 506 h 522"/>
              <a:gd name="T20" fmla="*/ 0 w 1028"/>
              <a:gd name="T21" fmla="*/ 16 h 522"/>
              <a:gd name="T22" fmla="*/ 16 w 1028"/>
              <a:gd name="T2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ln/>
        </p:spPr>
        <p:style>
          <a:lnRef idx="2">
            <a:schemeClr val="accent3">
              <a:shade val="50000"/>
            </a:schemeClr>
          </a:lnRef>
          <a:fillRef idx="1">
            <a:schemeClr val="accent3"/>
          </a:fillRef>
          <a:effectRef idx="0">
            <a:schemeClr val="accent3"/>
          </a:effectRef>
          <a:fontRef idx="minor">
            <a:schemeClr val="lt1"/>
          </a:fontRef>
        </p:style>
        <p:txBody>
          <a:bodyPr vert="horz" wrap="square" lIns="121920" tIns="60960" rIns="121920" bIns="60960" numCol="1" anchor="t" anchorCtr="0" compatLnSpc="1"/>
          <a:lstStyle/>
          <a:p>
            <a:pPr algn="ctr"/>
            <a:r>
              <a:rPr lang="zh-CN" altLang="en-US" sz="2535" b="1" dirty="0">
                <a:latin typeface="微软雅黑" panose="020B0503020204020204" pitchFamily="34" charset="-122"/>
                <a:ea typeface="微软雅黑" panose="020B0503020204020204" pitchFamily="34" charset="-122"/>
              </a:rPr>
              <a:t>散热设计</a:t>
            </a:r>
            <a:endParaRPr lang="en-US" sz="2535" b="1" dirty="0">
              <a:latin typeface="微软雅黑" panose="020B0503020204020204" pitchFamily="34" charset="-122"/>
              <a:ea typeface="微软雅黑" panose="020B0503020204020204" pitchFamily="34" charset="-122"/>
            </a:endParaRPr>
          </a:p>
        </p:txBody>
      </p:sp>
      <p:cxnSp>
        <p:nvCxnSpPr>
          <p:cNvPr id="9" name="直接连接符 8">
            <a:extLst>
              <a:ext uri="{FF2B5EF4-FFF2-40B4-BE49-F238E27FC236}">
                <a16:creationId xmlns:a16="http://schemas.microsoft.com/office/drawing/2014/main" id="{04109CE5-A9EE-4722-ADD6-D8A5EE5CE6D5}"/>
              </a:ext>
            </a:extLst>
          </p:cNvPr>
          <p:cNvCxnSpPr/>
          <p:nvPr/>
        </p:nvCxnSpPr>
        <p:spPr>
          <a:xfrm>
            <a:off x="0" y="3714199"/>
            <a:ext cx="12192000"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3" name="表格 2">
            <a:extLst>
              <a:ext uri="{FF2B5EF4-FFF2-40B4-BE49-F238E27FC236}">
                <a16:creationId xmlns:a16="http://schemas.microsoft.com/office/drawing/2014/main" id="{52774D88-9CD8-94C9-658E-BF75D235DD97}"/>
              </a:ext>
            </a:extLst>
          </p:cNvPr>
          <p:cNvGraphicFramePr>
            <a:graphicFrameLocks noGrp="1"/>
          </p:cNvGraphicFramePr>
          <p:nvPr/>
        </p:nvGraphicFramePr>
        <p:xfrm>
          <a:off x="465884" y="2009029"/>
          <a:ext cx="11334553" cy="1571608"/>
        </p:xfrm>
        <a:graphic>
          <a:graphicData uri="http://schemas.openxmlformats.org/drawingml/2006/table">
            <a:tbl>
              <a:tblPr firstRow="1" bandRow="1">
                <a:effectLst/>
              </a:tblPr>
              <a:tblGrid>
                <a:gridCol w="1918434">
                  <a:extLst>
                    <a:ext uri="{9D8B030D-6E8A-4147-A177-3AD203B41FA5}">
                      <a16:colId xmlns:a16="http://schemas.microsoft.com/office/drawing/2014/main" val="773509366"/>
                    </a:ext>
                  </a:extLst>
                </a:gridCol>
                <a:gridCol w="1676840">
                  <a:extLst>
                    <a:ext uri="{9D8B030D-6E8A-4147-A177-3AD203B41FA5}">
                      <a16:colId xmlns:a16="http://schemas.microsoft.com/office/drawing/2014/main" val="869367937"/>
                    </a:ext>
                  </a:extLst>
                </a:gridCol>
                <a:gridCol w="4741180">
                  <a:extLst>
                    <a:ext uri="{9D8B030D-6E8A-4147-A177-3AD203B41FA5}">
                      <a16:colId xmlns:a16="http://schemas.microsoft.com/office/drawing/2014/main" val="99857605"/>
                    </a:ext>
                  </a:extLst>
                </a:gridCol>
                <a:gridCol w="2998099">
                  <a:extLst>
                    <a:ext uri="{9D8B030D-6E8A-4147-A177-3AD203B41FA5}">
                      <a16:colId xmlns:a16="http://schemas.microsoft.com/office/drawing/2014/main" val="1047766596"/>
                    </a:ext>
                  </a:extLst>
                </a:gridCol>
              </a:tblGrid>
              <a:tr h="321928">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algn="ctr"/>
                      <a:r>
                        <a:rPr lang="zh-CN" altLang="en-US" sz="1400" dirty="0">
                          <a:latin typeface="+mn-ea"/>
                          <a:ea typeface="+mn-ea"/>
                        </a:rPr>
                        <a:t>任务名称</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algn="ctr"/>
                      <a:r>
                        <a:rPr lang="zh-CN" altLang="en-US" sz="1400" dirty="0">
                          <a:latin typeface="+mn-ea"/>
                          <a:ea typeface="+mn-ea"/>
                        </a:rPr>
                        <a:t>责任人</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400" dirty="0">
                          <a:latin typeface="+mn-ea"/>
                          <a:ea typeface="+mn-ea"/>
                        </a:rPr>
                        <a:t>设计依据</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algn="ctr"/>
                      <a:r>
                        <a:rPr lang="zh-CN" altLang="en-US" sz="1400" dirty="0">
                          <a:latin typeface="+mn-ea"/>
                          <a:ea typeface="+mn-ea"/>
                        </a:rPr>
                        <a:t>交付物</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extLst>
                  <a:ext uri="{0D108BD9-81ED-4DB2-BD59-A6C34878D82A}">
                    <a16:rowId xmlns:a16="http://schemas.microsoft.com/office/drawing/2014/main" val="3162067804"/>
                  </a:ext>
                </a:extLst>
              </a:tr>
              <a:tr h="449818">
                <a:tc>
                  <a:txBody>
                    <a:bodyPr/>
                    <a:lstStyle/>
                    <a:p>
                      <a:r>
                        <a:rPr lang="zh-CN" altLang="en-US" sz="1400" dirty="0">
                          <a:latin typeface="微软雅黑" panose="020B0503020204020204" pitchFamily="34" charset="-122"/>
                          <a:ea typeface="微软雅黑" panose="020B0503020204020204" pitchFamily="34" charset="-122"/>
                        </a:rPr>
                        <a:t>结构详细设计</a:t>
                      </a: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rPr>
                        <a:t>结构工程师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zh-CN" altLang="en-US" sz="1400" dirty="0">
                          <a:latin typeface="微软雅黑" panose="020B0503020204020204" pitchFamily="34" charset="-122"/>
                          <a:ea typeface="微软雅黑" panose="020B0503020204020204" pitchFamily="34" charset="-122"/>
                        </a:rPr>
                        <a:t>根据</a:t>
                      </a:r>
                      <a:r>
                        <a:rPr lang="en-US" altLang="zh-CN" sz="1400" dirty="0">
                          <a:latin typeface="微软雅黑" panose="020B0503020204020204" pitchFamily="34" charset="-122"/>
                          <a:ea typeface="微软雅黑" panose="020B0503020204020204" pitchFamily="34" charset="-122"/>
                        </a:rPr>
                        <a:t>PRD</a:t>
                      </a:r>
                      <a:r>
                        <a:rPr lang="zh-CN" altLang="en-US" sz="1400" dirty="0">
                          <a:latin typeface="微软雅黑" panose="020B0503020204020204" pitchFamily="34" charset="-122"/>
                          <a:ea typeface="微软雅黑" panose="020B0503020204020204" pitchFamily="34" charset="-122"/>
                        </a:rPr>
                        <a:t>需求确定的开发范围，进行结构详细设计，图纸完成</a:t>
                      </a:r>
                      <a:r>
                        <a:rPr lang="en-US" altLang="zh-CN" sz="1400" dirty="0">
                          <a:latin typeface="微软雅黑" panose="020B0503020204020204" pitchFamily="34" charset="-122"/>
                          <a:ea typeface="微软雅黑" panose="020B0503020204020204" pitchFamily="34" charset="-122"/>
                        </a:rPr>
                        <a:t>90%</a:t>
                      </a:r>
                      <a:r>
                        <a:rPr lang="zh-CN" altLang="en-US" sz="1400" dirty="0">
                          <a:latin typeface="微软雅黑" panose="020B0503020204020204" pitchFamily="34" charset="-122"/>
                          <a:ea typeface="微软雅黑" panose="020B0503020204020204" pitchFamily="34" charset="-122"/>
                        </a:rPr>
                        <a:t>后，请采购介入报价，备料，参考备料周期</a:t>
                      </a:r>
                      <a:r>
                        <a:rPr lang="en-US" altLang="zh-CN" sz="1400" dirty="0">
                          <a:latin typeface="微软雅黑" panose="020B0503020204020204" pitchFamily="34" charset="-122"/>
                          <a:ea typeface="微软雅黑" panose="020B0503020204020204" pitchFamily="34" charset="-122"/>
                        </a:rPr>
                        <a:t>4~6</a:t>
                      </a:r>
                      <a:r>
                        <a:rPr lang="zh-CN" altLang="en-US" sz="1400" dirty="0">
                          <a:latin typeface="微软雅黑" panose="020B0503020204020204" pitchFamily="34" charset="-122"/>
                          <a:ea typeface="微软雅黑" panose="020B0503020204020204" pitchFamily="34" charset="-122"/>
                        </a:rPr>
                        <a:t>周（不同部件备料周期不同）</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结构布局图</a:t>
                      </a: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u="none" strike="noStrike" dirty="0">
                          <a:solidFill>
                            <a:srgbClr val="0070C0"/>
                          </a:solidFill>
                          <a:effectLst/>
                          <a:latin typeface="微软雅黑" panose="020B0503020204020204" pitchFamily="34" charset="-122"/>
                          <a:ea typeface="微软雅黑" panose="020B0503020204020204" pitchFamily="34" charset="-122"/>
                        </a:rPr>
                        <a:t>结构设计说明</a:t>
                      </a:r>
                      <a:r>
                        <a:rPr lang="en-US" altLang="zh-CN" sz="1400" u="none" strike="noStrike" dirty="0">
                          <a:solidFill>
                            <a:srgbClr val="0070C0"/>
                          </a:solidFill>
                          <a:effectLst/>
                          <a:latin typeface="微软雅黑" panose="020B0503020204020204" pitchFamily="34" charset="-122"/>
                          <a:ea typeface="微软雅黑" panose="020B0503020204020204" pitchFamily="34" charset="-122"/>
                        </a:rPr>
                        <a:t>》</a:t>
                      </a:r>
                      <a:r>
                        <a:rPr lang="zh-CN" altLang="en-US" sz="1400" u="none" strike="noStrike" dirty="0">
                          <a:solidFill>
                            <a:srgbClr val="0070C0"/>
                          </a:solidFill>
                          <a:effectLst/>
                          <a:latin typeface="微软雅黑" panose="020B0503020204020204" pitchFamily="34" charset="-122"/>
                          <a:ea typeface="微软雅黑" panose="020B0503020204020204" pitchFamily="34" charset="-122"/>
                        </a:rPr>
                        <a:t>、</a:t>
                      </a:r>
                      <a:r>
                        <a:rPr lang="en-US" altLang="zh-CN" sz="1400" u="none" strike="noStrike" dirty="0">
                          <a:solidFill>
                            <a:srgbClr val="0070C0"/>
                          </a:solidFill>
                          <a:effectLst/>
                          <a:latin typeface="微软雅黑" panose="020B0503020204020204" pitchFamily="34" charset="-122"/>
                          <a:ea typeface="微软雅黑" panose="020B0503020204020204" pitchFamily="34" charset="-122"/>
                        </a:rPr>
                        <a:t>《</a:t>
                      </a:r>
                      <a:r>
                        <a:rPr lang="zh-CN" altLang="en-US" sz="1400" u="none" strike="noStrike" dirty="0">
                          <a:solidFill>
                            <a:srgbClr val="0070C0"/>
                          </a:solidFill>
                          <a:effectLst/>
                          <a:latin typeface="微软雅黑" panose="020B0503020204020204" pitchFamily="34" charset="-122"/>
                          <a:ea typeface="微软雅黑" panose="020B0503020204020204" pitchFamily="34" charset="-122"/>
                        </a:rPr>
                        <a:t>结构</a:t>
                      </a:r>
                      <a:r>
                        <a:rPr lang="en-US" altLang="zh-CN" sz="1400" u="none" strike="noStrike" dirty="0">
                          <a:solidFill>
                            <a:srgbClr val="0070C0"/>
                          </a:solidFill>
                          <a:effectLst/>
                          <a:latin typeface="微软雅黑" panose="020B0503020204020204" pitchFamily="34" charset="-122"/>
                          <a:ea typeface="微软雅黑" panose="020B0503020204020204" pitchFamily="34" charset="-122"/>
                        </a:rPr>
                        <a:t>3D</a:t>
                      </a:r>
                      <a:r>
                        <a:rPr lang="zh-CN" altLang="en-US" sz="1400" u="none" strike="noStrike" dirty="0">
                          <a:solidFill>
                            <a:srgbClr val="0070C0"/>
                          </a:solidFill>
                          <a:effectLst/>
                          <a:latin typeface="微软雅黑" panose="020B0503020204020204" pitchFamily="34" charset="-122"/>
                          <a:ea typeface="微软雅黑" panose="020B0503020204020204" pitchFamily="34" charset="-122"/>
                        </a:rPr>
                        <a:t>文件</a:t>
                      </a:r>
                      <a:r>
                        <a:rPr lang="en-US" altLang="zh-CN" sz="1400" u="none" strike="noStrike" dirty="0">
                          <a:solidFill>
                            <a:srgbClr val="0070C0"/>
                          </a:solidFill>
                          <a:effectLst/>
                          <a:latin typeface="微软雅黑" panose="020B0503020204020204" pitchFamily="34" charset="-122"/>
                          <a:ea typeface="微软雅黑" panose="020B0503020204020204" pitchFamily="34" charset="-122"/>
                        </a:rPr>
                        <a:t>》</a:t>
                      </a: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u="none" strike="noStrike" dirty="0">
                          <a:solidFill>
                            <a:srgbClr val="0070C0"/>
                          </a:solidFill>
                          <a:effectLst/>
                          <a:latin typeface="微软雅黑" panose="020B0503020204020204" pitchFamily="34" charset="-122"/>
                          <a:ea typeface="微软雅黑" panose="020B0503020204020204" pitchFamily="34" charset="-122"/>
                        </a:rPr>
                        <a:t>结构</a:t>
                      </a:r>
                      <a:r>
                        <a:rPr lang="en-US" altLang="zh-CN" sz="1400" u="none" strike="noStrike" dirty="0">
                          <a:solidFill>
                            <a:srgbClr val="0070C0"/>
                          </a:solidFill>
                          <a:effectLst/>
                          <a:latin typeface="微软雅黑" panose="020B0503020204020204" pitchFamily="34" charset="-122"/>
                          <a:ea typeface="微软雅黑" panose="020B0503020204020204" pitchFamily="34" charset="-122"/>
                        </a:rPr>
                        <a:t>2D</a:t>
                      </a:r>
                      <a:r>
                        <a:rPr lang="zh-CN" altLang="en-US" sz="1400" u="none" strike="noStrike" dirty="0">
                          <a:solidFill>
                            <a:srgbClr val="0070C0"/>
                          </a:solidFill>
                          <a:effectLst/>
                          <a:latin typeface="微软雅黑" panose="020B0503020204020204" pitchFamily="34" charset="-122"/>
                          <a:ea typeface="微软雅黑" panose="020B0503020204020204" pitchFamily="34" charset="-122"/>
                        </a:rPr>
                        <a:t>文件</a:t>
                      </a:r>
                      <a:r>
                        <a:rPr lang="en-US" altLang="zh-CN" sz="1400" dirty="0">
                          <a:solidFill>
                            <a:srgbClr val="0070C0"/>
                          </a:solidFill>
                          <a:latin typeface="微软雅黑" panose="020B0503020204020204" pitchFamily="34" charset="-122"/>
                          <a:ea typeface="微软雅黑" panose="020B0503020204020204" pitchFamily="34" charset="-122"/>
                        </a:rPr>
                        <a:t>》</a:t>
                      </a: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extLst>
                  <a:ext uri="{0D108BD9-81ED-4DB2-BD59-A6C34878D82A}">
                    <a16:rowId xmlns:a16="http://schemas.microsoft.com/office/drawing/2014/main" val="2982289352"/>
                  </a:ext>
                </a:extLst>
              </a:tr>
              <a:tr h="321928">
                <a:tc>
                  <a:txBody>
                    <a:bodyPr/>
                    <a:lstStyle/>
                    <a:p>
                      <a:r>
                        <a:rPr lang="zh-CN" altLang="en-US" sz="1400" dirty="0">
                          <a:latin typeface="微软雅黑" panose="020B0503020204020204" pitchFamily="34" charset="-122"/>
                          <a:ea typeface="微软雅黑" panose="020B0503020204020204" pitchFamily="34" charset="-122"/>
                        </a:rPr>
                        <a:t>包材详细设计</a:t>
                      </a: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rPr>
                        <a:t>包装工程师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tc>
                  <a:txBody>
                    <a:bodyPr/>
                    <a:lstStyle/>
                    <a:p>
                      <a:r>
                        <a:rPr lang="zh-CN" altLang="en-US" sz="1400" dirty="0">
                          <a:latin typeface="微软雅黑" panose="020B0503020204020204" pitchFamily="34" charset="-122"/>
                          <a:ea typeface="微软雅黑" panose="020B0503020204020204" pitchFamily="34" charset="-122"/>
                        </a:rPr>
                        <a:t>根据</a:t>
                      </a:r>
                      <a:r>
                        <a:rPr lang="en-US" altLang="zh-CN" sz="1400" dirty="0">
                          <a:latin typeface="微软雅黑" panose="020B0503020204020204" pitchFamily="34" charset="-122"/>
                          <a:ea typeface="微软雅黑" panose="020B0503020204020204" pitchFamily="34" charset="-122"/>
                        </a:rPr>
                        <a:t>PRD</a:t>
                      </a:r>
                      <a:r>
                        <a:rPr lang="zh-CN" altLang="en-US" sz="1400" dirty="0">
                          <a:latin typeface="微软雅黑" panose="020B0503020204020204" pitchFamily="34" charset="-122"/>
                          <a:ea typeface="微软雅黑" panose="020B0503020204020204" pitchFamily="34" charset="-122"/>
                        </a:rPr>
                        <a:t>需求</a:t>
                      </a:r>
                      <a:r>
                        <a:rPr lang="en-US" altLang="zh-CN" sz="1400" dirty="0">
                          <a:latin typeface="微软雅黑" panose="020B0503020204020204" pitchFamily="34" charset="-122"/>
                          <a:ea typeface="微软雅黑" panose="020B0503020204020204" pitchFamily="34" charset="-122"/>
                        </a:rPr>
                        <a:t>&amp;</a:t>
                      </a:r>
                      <a:r>
                        <a:rPr lang="zh-CN" altLang="en-US" sz="1400" dirty="0">
                          <a:latin typeface="微软雅黑" panose="020B0503020204020204" pitchFamily="34" charset="-122"/>
                          <a:ea typeface="微软雅黑" panose="020B0503020204020204" pitchFamily="34" charset="-122"/>
                        </a:rPr>
                        <a:t>产品测试配置，进行包材详细设计，参考备料周期</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天</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结构包装设计图</a:t>
                      </a:r>
                      <a:r>
                        <a:rPr lang="en-US" altLang="zh-CN" sz="1400" dirty="0">
                          <a:solidFill>
                            <a:srgbClr val="0070C0"/>
                          </a:solidFill>
                          <a:latin typeface="微软雅黑" panose="020B0503020204020204" pitchFamily="34" charset="-122"/>
                          <a:ea typeface="微软雅黑" panose="020B0503020204020204" pitchFamily="34" charset="-122"/>
                        </a:rPr>
                        <a:t>》</a:t>
                      </a: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extLst>
                  <a:ext uri="{0D108BD9-81ED-4DB2-BD59-A6C34878D82A}">
                    <a16:rowId xmlns:a16="http://schemas.microsoft.com/office/drawing/2014/main" val="2344668952"/>
                  </a:ext>
                </a:extLst>
              </a:tr>
            </a:tbl>
          </a:graphicData>
        </a:graphic>
      </p:graphicFrame>
      <p:graphicFrame>
        <p:nvGraphicFramePr>
          <p:cNvPr id="8" name="表格 7">
            <a:extLst>
              <a:ext uri="{FF2B5EF4-FFF2-40B4-BE49-F238E27FC236}">
                <a16:creationId xmlns:a16="http://schemas.microsoft.com/office/drawing/2014/main" id="{6817B4E4-9723-48E2-96BB-CBF0AD3E54D0}"/>
              </a:ext>
            </a:extLst>
          </p:cNvPr>
          <p:cNvGraphicFramePr>
            <a:graphicFrameLocks noGrp="1"/>
          </p:cNvGraphicFramePr>
          <p:nvPr/>
        </p:nvGraphicFramePr>
        <p:xfrm>
          <a:off x="465884" y="4806719"/>
          <a:ext cx="11334553" cy="1784968"/>
        </p:xfrm>
        <a:graphic>
          <a:graphicData uri="http://schemas.openxmlformats.org/drawingml/2006/table">
            <a:tbl>
              <a:tblPr firstRow="1" bandRow="1"/>
              <a:tblGrid>
                <a:gridCol w="1918434">
                  <a:extLst>
                    <a:ext uri="{9D8B030D-6E8A-4147-A177-3AD203B41FA5}">
                      <a16:colId xmlns:a16="http://schemas.microsoft.com/office/drawing/2014/main" val="773509366"/>
                    </a:ext>
                  </a:extLst>
                </a:gridCol>
                <a:gridCol w="1676840">
                  <a:extLst>
                    <a:ext uri="{9D8B030D-6E8A-4147-A177-3AD203B41FA5}">
                      <a16:colId xmlns:a16="http://schemas.microsoft.com/office/drawing/2014/main" val="869367937"/>
                    </a:ext>
                  </a:extLst>
                </a:gridCol>
                <a:gridCol w="4741180">
                  <a:extLst>
                    <a:ext uri="{9D8B030D-6E8A-4147-A177-3AD203B41FA5}">
                      <a16:colId xmlns:a16="http://schemas.microsoft.com/office/drawing/2014/main" val="99857605"/>
                    </a:ext>
                  </a:extLst>
                </a:gridCol>
                <a:gridCol w="2998099">
                  <a:extLst>
                    <a:ext uri="{9D8B030D-6E8A-4147-A177-3AD203B41FA5}">
                      <a16:colId xmlns:a16="http://schemas.microsoft.com/office/drawing/2014/main" val="1047766596"/>
                    </a:ext>
                  </a:extLst>
                </a:gridCol>
              </a:tblGrid>
              <a:tr h="321928">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algn="ctr"/>
                      <a:r>
                        <a:rPr lang="zh-CN" altLang="en-US" sz="1400" dirty="0">
                          <a:latin typeface="+mn-ea"/>
                          <a:ea typeface="+mn-ea"/>
                        </a:rPr>
                        <a:t>任务名称</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algn="ctr"/>
                      <a:r>
                        <a:rPr lang="zh-CN" altLang="en-US" sz="1400" dirty="0">
                          <a:latin typeface="+mn-ea"/>
                          <a:ea typeface="+mn-ea"/>
                        </a:rPr>
                        <a:t>责任人</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400" dirty="0">
                          <a:latin typeface="+mn-ea"/>
                          <a:ea typeface="+mn-ea"/>
                        </a:rPr>
                        <a:t>设计依据</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tc>
                  <a:txBody>
                    <a:bodyPr/>
                    <a:lstStyle>
                      <a:lvl1pPr marL="0" algn="l" defTabSz="1219170" rtl="0" eaLnBrk="1" latinLnBrk="0" hangingPunct="1">
                        <a:defRPr sz="2400" b="1" kern="1200">
                          <a:solidFill>
                            <a:schemeClr val="lt1"/>
                          </a:solidFill>
                          <a:latin typeface="Calibri"/>
                          <a:ea typeface="微软雅黑"/>
                        </a:defRPr>
                      </a:lvl1pPr>
                      <a:lvl2pPr marL="609585" algn="l" defTabSz="1219170" rtl="0" eaLnBrk="1" latinLnBrk="0" hangingPunct="1">
                        <a:defRPr sz="2400" b="1" kern="1200">
                          <a:solidFill>
                            <a:schemeClr val="lt1"/>
                          </a:solidFill>
                          <a:latin typeface="Calibri"/>
                          <a:ea typeface="微软雅黑"/>
                        </a:defRPr>
                      </a:lvl2pPr>
                      <a:lvl3pPr marL="1219170" algn="l" defTabSz="1219170" rtl="0" eaLnBrk="1" latinLnBrk="0" hangingPunct="1">
                        <a:defRPr sz="2400" b="1" kern="1200">
                          <a:solidFill>
                            <a:schemeClr val="lt1"/>
                          </a:solidFill>
                          <a:latin typeface="Calibri"/>
                          <a:ea typeface="微软雅黑"/>
                        </a:defRPr>
                      </a:lvl3pPr>
                      <a:lvl4pPr marL="1828754" algn="l" defTabSz="1219170" rtl="0" eaLnBrk="1" latinLnBrk="0" hangingPunct="1">
                        <a:defRPr sz="2400" b="1" kern="1200">
                          <a:solidFill>
                            <a:schemeClr val="lt1"/>
                          </a:solidFill>
                          <a:latin typeface="Calibri"/>
                          <a:ea typeface="微软雅黑"/>
                        </a:defRPr>
                      </a:lvl4pPr>
                      <a:lvl5pPr marL="2438339" algn="l" defTabSz="1219170" rtl="0" eaLnBrk="1" latinLnBrk="0" hangingPunct="1">
                        <a:defRPr sz="2400" b="1" kern="1200">
                          <a:solidFill>
                            <a:schemeClr val="lt1"/>
                          </a:solidFill>
                          <a:latin typeface="Calibri"/>
                          <a:ea typeface="微软雅黑"/>
                        </a:defRPr>
                      </a:lvl5pPr>
                      <a:lvl6pPr marL="3047924" algn="l" defTabSz="1219170" rtl="0" eaLnBrk="1" latinLnBrk="0" hangingPunct="1">
                        <a:defRPr sz="2400" b="1" kern="1200">
                          <a:solidFill>
                            <a:schemeClr val="lt1"/>
                          </a:solidFill>
                          <a:latin typeface="Calibri"/>
                          <a:ea typeface="微软雅黑"/>
                        </a:defRPr>
                      </a:lvl6pPr>
                      <a:lvl7pPr marL="3657509" algn="l" defTabSz="1219170" rtl="0" eaLnBrk="1" latinLnBrk="0" hangingPunct="1">
                        <a:defRPr sz="2400" b="1" kern="1200">
                          <a:solidFill>
                            <a:schemeClr val="lt1"/>
                          </a:solidFill>
                          <a:latin typeface="Calibri"/>
                          <a:ea typeface="微软雅黑"/>
                        </a:defRPr>
                      </a:lvl7pPr>
                      <a:lvl8pPr marL="4267093" algn="l" defTabSz="1219170" rtl="0" eaLnBrk="1" latinLnBrk="0" hangingPunct="1">
                        <a:defRPr sz="2400" b="1" kern="1200">
                          <a:solidFill>
                            <a:schemeClr val="lt1"/>
                          </a:solidFill>
                          <a:latin typeface="Calibri"/>
                          <a:ea typeface="微软雅黑"/>
                        </a:defRPr>
                      </a:lvl8pPr>
                      <a:lvl9pPr marL="4876678" algn="l" defTabSz="1219170" rtl="0" eaLnBrk="1" latinLnBrk="0" hangingPunct="1">
                        <a:defRPr sz="2400" b="1" kern="1200">
                          <a:solidFill>
                            <a:schemeClr val="lt1"/>
                          </a:solidFill>
                          <a:latin typeface="Calibri"/>
                          <a:ea typeface="微软雅黑"/>
                        </a:defRPr>
                      </a:lvl9pPr>
                    </a:lstStyle>
                    <a:p>
                      <a:pPr algn="ctr"/>
                      <a:r>
                        <a:rPr lang="zh-CN" altLang="en-US" sz="1400" dirty="0">
                          <a:latin typeface="+mn-ea"/>
                          <a:ea typeface="+mn-ea"/>
                        </a:rPr>
                        <a:t>交付物</a:t>
                      </a:r>
                    </a:p>
                  </a:txBody>
                  <a:tcPr anchor="ctr" anchorCtr="1">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78AA1"/>
                    </a:solidFill>
                  </a:tcPr>
                </a:tc>
                <a:extLst>
                  <a:ext uri="{0D108BD9-81ED-4DB2-BD59-A6C34878D82A}">
                    <a16:rowId xmlns:a16="http://schemas.microsoft.com/office/drawing/2014/main" val="3162067804"/>
                  </a:ext>
                </a:extLst>
              </a:tr>
              <a:tr h="449818">
                <a:tc>
                  <a:txBody>
                    <a:bodyPr/>
                    <a:lstStyle/>
                    <a:p>
                      <a:pPr algn="ctr"/>
                      <a:r>
                        <a:rPr lang="zh-CN" altLang="en-US" sz="1400" dirty="0">
                          <a:latin typeface="微软雅黑" panose="020B0503020204020204" pitchFamily="34" charset="-122"/>
                          <a:ea typeface="微软雅黑" panose="020B0503020204020204" pitchFamily="34" charset="-122"/>
                        </a:rPr>
                        <a:t>散热仿真（可选）</a:t>
                      </a: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zh-CN" altLang="en-US" sz="1400" dirty="0">
                          <a:solidFill>
                            <a:srgbClr val="0070C0"/>
                          </a:solidFill>
                          <a:latin typeface="微软雅黑" panose="020B0503020204020204" pitchFamily="34" charset="-122"/>
                          <a:ea typeface="微软雅黑" panose="020B0503020204020204" pitchFamily="34" charset="-122"/>
                        </a:rPr>
                        <a:t>散热工程师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zh-CN" altLang="en-US" sz="1400" dirty="0">
                          <a:latin typeface="微软雅黑" panose="020B0503020204020204" pitchFamily="34" charset="-122"/>
                          <a:ea typeface="微软雅黑" panose="020B0503020204020204" pitchFamily="34" charset="-122"/>
                        </a:rPr>
                        <a:t>新产品开发或者散热器件、机箱、或者板卡布局变更等，将进行散热仿真（散热工程师根据</a:t>
                      </a:r>
                      <a:r>
                        <a:rPr lang="en-US" altLang="zh-CN" sz="1400" dirty="0">
                          <a:latin typeface="微软雅黑" panose="020B0503020204020204" pitchFamily="34" charset="-122"/>
                          <a:ea typeface="微软雅黑" panose="020B0503020204020204" pitchFamily="34" charset="-122"/>
                        </a:rPr>
                        <a:t>PRD</a:t>
                      </a:r>
                      <a:r>
                        <a:rPr lang="zh-CN" altLang="en-US" sz="1400" dirty="0">
                          <a:latin typeface="微软雅黑" panose="020B0503020204020204" pitchFamily="34" charset="-122"/>
                          <a:ea typeface="微软雅黑" panose="020B0503020204020204" pitchFamily="34" charset="-122"/>
                        </a:rPr>
                        <a:t>评估是否需进行散热仿真）</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tc>
                  <a:txBody>
                    <a:bodyPr/>
                    <a:lstStyle/>
                    <a:p>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散热仿真报告</a:t>
                      </a:r>
                      <a:r>
                        <a:rPr lang="en-US" altLang="zh-CN" sz="1400" dirty="0">
                          <a:solidFill>
                            <a:srgbClr val="0070C0"/>
                          </a:solidFill>
                          <a:latin typeface="微软雅黑" panose="020B0503020204020204" pitchFamily="34" charset="-122"/>
                          <a:ea typeface="微软雅黑" panose="020B0503020204020204" pitchFamily="34" charset="-122"/>
                        </a:rPr>
                        <a:t>》</a:t>
                      </a: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40000"/>
                      </a:srgbClr>
                    </a:solidFill>
                  </a:tcPr>
                </a:tc>
                <a:extLst>
                  <a:ext uri="{0D108BD9-81ED-4DB2-BD59-A6C34878D82A}">
                    <a16:rowId xmlns:a16="http://schemas.microsoft.com/office/drawing/2014/main" val="2982289352"/>
                  </a:ext>
                </a:extLst>
              </a:tr>
              <a:tr h="321928">
                <a:tc>
                  <a:txBody>
                    <a:bodyPr/>
                    <a:lstStyle/>
                    <a:p>
                      <a:pPr algn="ctr"/>
                      <a:r>
                        <a:rPr lang="zh-CN" altLang="en-US" sz="1400" dirty="0">
                          <a:latin typeface="微软雅黑" panose="020B0503020204020204" pitchFamily="34" charset="-122"/>
                          <a:ea typeface="微软雅黑" panose="020B0503020204020204" pitchFamily="34" charset="-122"/>
                        </a:rPr>
                        <a:t>散热详细设计</a:t>
                      </a:r>
                    </a:p>
                  </a:txBody>
                  <a:tcPr anchor="ctr" anchorCtr="1">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400" dirty="0">
                          <a:solidFill>
                            <a:srgbClr val="0070C0"/>
                          </a:solidFill>
                          <a:latin typeface="微软雅黑" panose="020B0503020204020204" pitchFamily="34" charset="-122"/>
                          <a:ea typeface="微软雅黑" panose="020B0503020204020204" pitchFamily="34" charset="-122"/>
                        </a:rPr>
                        <a:t>散热工程师</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tc>
                  <a:txBody>
                    <a:bodyPr/>
                    <a:lstStyle/>
                    <a:p>
                      <a:r>
                        <a:rPr lang="zh-CN" altLang="en-US" sz="1400" dirty="0">
                          <a:latin typeface="微软雅黑" panose="020B0503020204020204" pitchFamily="34" charset="-122"/>
                          <a:ea typeface="微软雅黑" panose="020B0503020204020204" pitchFamily="34" charset="-122"/>
                        </a:rPr>
                        <a:t>根据</a:t>
                      </a:r>
                      <a:r>
                        <a:rPr lang="en-US" altLang="zh-CN" sz="1400" dirty="0">
                          <a:latin typeface="微软雅黑" panose="020B0503020204020204" pitchFamily="34" charset="-122"/>
                          <a:ea typeface="微软雅黑" panose="020B0503020204020204" pitchFamily="34" charset="-122"/>
                        </a:rPr>
                        <a:t>PRD</a:t>
                      </a:r>
                      <a:r>
                        <a:rPr lang="zh-CN" altLang="en-US" sz="1400" dirty="0">
                          <a:latin typeface="微软雅黑" panose="020B0503020204020204" pitchFamily="34" charset="-122"/>
                          <a:ea typeface="微软雅黑" panose="020B0503020204020204" pitchFamily="34" charset="-122"/>
                        </a:rPr>
                        <a:t>需求确认的开发范围，进行散热器件设计，与厂商沟通部件规格书，规格书定版后，采购报价，备料，参考备料周期</a:t>
                      </a:r>
                      <a:r>
                        <a:rPr lang="en-US" altLang="zh-CN" sz="1400" dirty="0">
                          <a:latin typeface="微软雅黑" panose="020B0503020204020204" pitchFamily="34" charset="-122"/>
                          <a:ea typeface="微软雅黑" panose="020B0503020204020204" pitchFamily="34" charset="-122"/>
                        </a:rPr>
                        <a:t>4~6</a:t>
                      </a:r>
                      <a:r>
                        <a:rPr lang="zh-CN" altLang="en-US" sz="1400" dirty="0">
                          <a:latin typeface="微软雅黑" panose="020B0503020204020204" pitchFamily="34" charset="-122"/>
                          <a:ea typeface="微软雅黑" panose="020B0503020204020204" pitchFamily="34" charset="-122"/>
                        </a:rPr>
                        <a:t>周</a:t>
                      </a:r>
                    </a:p>
                  </a:txBody>
                  <a:tcPr anchor="ctr" anchorCtr="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tc>
                  <a:txBody>
                    <a:bodyPr/>
                    <a:lstStyle/>
                    <a:p>
                      <a:pPr algn="ct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散热器设计图</a:t>
                      </a: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a:t>
                      </a: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风扇设计图</a:t>
                      </a: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a:t>
                      </a:r>
                      <a:r>
                        <a:rPr lang="en-US" altLang="zh-CN" sz="1400" dirty="0">
                          <a:solidFill>
                            <a:srgbClr val="0070C0"/>
                          </a:solidFill>
                          <a:latin typeface="微软雅黑" panose="020B0503020204020204" pitchFamily="34" charset="-122"/>
                          <a:ea typeface="微软雅黑" panose="020B0503020204020204" pitchFamily="34" charset="-122"/>
                        </a:rPr>
                        <a:t>《</a:t>
                      </a:r>
                      <a:r>
                        <a:rPr lang="zh-CN" altLang="en-US" sz="1400" dirty="0">
                          <a:solidFill>
                            <a:srgbClr val="0070C0"/>
                          </a:solidFill>
                          <a:latin typeface="微软雅黑" panose="020B0503020204020204" pitchFamily="34" charset="-122"/>
                          <a:ea typeface="微软雅黑" panose="020B0503020204020204" pitchFamily="34" charset="-122"/>
                        </a:rPr>
                        <a:t>散热部件规格书</a:t>
                      </a:r>
                      <a:r>
                        <a:rPr lang="en-US" altLang="zh-CN" sz="1400" dirty="0">
                          <a:solidFill>
                            <a:srgbClr val="0070C0"/>
                          </a:solidFill>
                          <a:latin typeface="微软雅黑" panose="020B0503020204020204" pitchFamily="34" charset="-122"/>
                          <a:ea typeface="微软雅黑" panose="020B0503020204020204" pitchFamily="34" charset="-122"/>
                        </a:rPr>
                        <a:t>》</a:t>
                      </a:r>
                    </a:p>
                  </a:txBody>
                  <a:tcPr anchor="ctr" anchorCtr="1">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78AA1">
                        <a:tint val="20000"/>
                      </a:srgbClr>
                    </a:solidFill>
                  </a:tcPr>
                </a:tc>
                <a:extLst>
                  <a:ext uri="{0D108BD9-81ED-4DB2-BD59-A6C34878D82A}">
                    <a16:rowId xmlns:a16="http://schemas.microsoft.com/office/drawing/2014/main" val="2344668952"/>
                  </a:ext>
                </a:extLst>
              </a:tr>
            </a:tbl>
          </a:graphicData>
        </a:graphic>
      </p:graphicFrame>
    </p:spTree>
    <p:extLst>
      <p:ext uri="{BB962C8B-B14F-4D97-AF65-F5344CB8AC3E}">
        <p14:creationId xmlns:p14="http://schemas.microsoft.com/office/powerpoint/2010/main" val="3841324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11"/>
          <p:cNvSpPr txBox="1">
            <a:spLocks noChangeArrowheads="1"/>
          </p:cNvSpPr>
          <p:nvPr/>
        </p:nvSpPr>
        <p:spPr bwMode="auto">
          <a:xfrm flipH="1">
            <a:off x="6748847" y="3308964"/>
            <a:ext cx="2173841" cy="73834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责任人：电源测试工程师</a:t>
            </a:r>
            <a:endParaRPr lang="en-US" altLang="zh-CN" sz="1200" dirty="0">
              <a:latin typeface="微软雅黑" panose="020B0503020204020204" pitchFamily="34" charset="-122"/>
              <a:ea typeface="微软雅黑" panose="020B0503020204020204" pitchFamily="34" charset="-122"/>
              <a:cs typeface="+mn-ea"/>
              <a:sym typeface="+mn-lt"/>
            </a:endParaRP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《EVT </a:t>
            </a:r>
            <a:r>
              <a:rPr lang="zh-CN" altLang="en-US" sz="1200" dirty="0">
                <a:latin typeface="微软雅黑" panose="020B0503020204020204" pitchFamily="34" charset="-122"/>
                <a:ea typeface="微软雅黑" panose="020B0503020204020204" pitchFamily="34" charset="-122"/>
                <a:cs typeface="+mn-ea"/>
                <a:sym typeface="+mn-lt"/>
              </a:rPr>
              <a:t>电源测试计划</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8" name="Line 9"/>
          <p:cNvSpPr>
            <a:spLocks noChangeShapeType="1"/>
          </p:cNvSpPr>
          <p:nvPr/>
        </p:nvSpPr>
        <p:spPr bwMode="auto">
          <a:xfrm flipV="1">
            <a:off x="8325336" y="5231259"/>
            <a:ext cx="0" cy="1203122"/>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sp>
        <p:nvSpPr>
          <p:cNvPr id="37" name="TextBox 11"/>
          <p:cNvSpPr txBox="1">
            <a:spLocks noChangeArrowheads="1"/>
          </p:cNvSpPr>
          <p:nvPr/>
        </p:nvSpPr>
        <p:spPr bwMode="auto">
          <a:xfrm flipH="1">
            <a:off x="3332784" y="2019260"/>
            <a:ext cx="2752079" cy="33855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系统</a:t>
            </a:r>
            <a:r>
              <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Power-On </a:t>
            </a: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计划</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9" name="TextBox 11"/>
          <p:cNvSpPr txBox="1">
            <a:spLocks noChangeArrowheads="1"/>
          </p:cNvSpPr>
          <p:nvPr/>
        </p:nvSpPr>
        <p:spPr bwMode="auto">
          <a:xfrm flipH="1">
            <a:off x="6542635" y="2935953"/>
            <a:ext cx="2310727" cy="33855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EVT DC</a:t>
            </a: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测试计划</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1" name="TextBox 11"/>
          <p:cNvSpPr txBox="1">
            <a:spLocks noChangeArrowheads="1"/>
          </p:cNvSpPr>
          <p:nvPr/>
        </p:nvSpPr>
        <p:spPr bwMode="auto">
          <a:xfrm flipH="1">
            <a:off x="8395922" y="5213574"/>
            <a:ext cx="2364341" cy="33855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mn-lt"/>
                <a:ea typeface="+mn-ea"/>
                <a:cs typeface="+mn-ea"/>
                <a:sym typeface="+mn-lt"/>
              </a:rPr>
              <a:t>EVT</a:t>
            </a:r>
            <a:r>
              <a:rPr lang="zh-CN" altLang="en-US" sz="1600" b="1" kern="0" dirty="0">
                <a:solidFill>
                  <a:schemeClr val="tx1">
                    <a:lumMod val="65000"/>
                    <a:lumOff val="35000"/>
                  </a:schemeClr>
                </a:solidFill>
                <a:latin typeface="+mn-lt"/>
                <a:ea typeface="+mn-ea"/>
                <a:cs typeface="+mn-ea"/>
                <a:sym typeface="+mn-lt"/>
              </a:rPr>
              <a:t>散热测试计划</a:t>
            </a:r>
            <a:endParaRPr lang="en-US" altLang="zh-CN" sz="1600" b="1" kern="0" dirty="0">
              <a:solidFill>
                <a:schemeClr val="tx1">
                  <a:lumMod val="65000"/>
                  <a:lumOff val="35000"/>
                </a:schemeClr>
              </a:solidFill>
              <a:latin typeface="+mn-lt"/>
              <a:ea typeface="+mn-ea"/>
              <a:cs typeface="+mn-ea"/>
              <a:sym typeface="+mn-lt"/>
            </a:endParaRPr>
          </a:p>
        </p:txBody>
      </p:sp>
      <p:sp>
        <p:nvSpPr>
          <p:cNvPr id="45" name="TextBox 11"/>
          <p:cNvSpPr txBox="1">
            <a:spLocks noChangeArrowheads="1"/>
          </p:cNvSpPr>
          <p:nvPr/>
        </p:nvSpPr>
        <p:spPr bwMode="auto">
          <a:xfrm flipH="1">
            <a:off x="4938252" y="5210833"/>
            <a:ext cx="2087449" cy="339813"/>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mn-lt"/>
                <a:ea typeface="+mn-ea"/>
                <a:cs typeface="+mn-ea"/>
                <a:sym typeface="+mn-lt"/>
              </a:rPr>
              <a:t>EVT SI</a:t>
            </a:r>
            <a:r>
              <a:rPr lang="zh-CN" altLang="en-US" sz="1600" b="1" kern="0" dirty="0">
                <a:solidFill>
                  <a:schemeClr val="tx1">
                    <a:lumMod val="65000"/>
                    <a:lumOff val="35000"/>
                  </a:schemeClr>
                </a:solidFill>
                <a:latin typeface="+mn-lt"/>
                <a:ea typeface="+mn-ea"/>
                <a:cs typeface="+mn-ea"/>
                <a:sym typeface="+mn-lt"/>
              </a:rPr>
              <a:t>测试计划</a:t>
            </a:r>
            <a:endParaRPr lang="en-US" altLang="zh-CN" sz="1600" b="1" kern="0" dirty="0">
              <a:solidFill>
                <a:schemeClr val="tx1">
                  <a:lumMod val="65000"/>
                  <a:lumOff val="35000"/>
                </a:schemeClr>
              </a:solidFill>
              <a:latin typeface="+mn-lt"/>
              <a:ea typeface="+mn-ea"/>
              <a:cs typeface="+mn-ea"/>
              <a:sym typeface="+mn-lt"/>
            </a:endParaRPr>
          </a:p>
        </p:txBody>
      </p:sp>
      <p:sp>
        <p:nvSpPr>
          <p:cNvPr id="48" name="TextBox 11"/>
          <p:cNvSpPr txBox="1">
            <a:spLocks noChangeArrowheads="1"/>
          </p:cNvSpPr>
          <p:nvPr/>
        </p:nvSpPr>
        <p:spPr bwMode="auto">
          <a:xfrm flipH="1">
            <a:off x="10056045" y="2640904"/>
            <a:ext cx="2087449" cy="584775"/>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EVT </a:t>
            </a: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可靠性、</a:t>
            </a:r>
            <a:r>
              <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PA</a:t>
            </a: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测试计划</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2" name="文本占位符 1">
            <a:extLst>
              <a:ext uri="{FF2B5EF4-FFF2-40B4-BE49-F238E27FC236}">
                <a16:creationId xmlns:a16="http://schemas.microsoft.com/office/drawing/2014/main" id="{C830A524-88E2-49C2-8C16-C456FD6566B1}"/>
              </a:ext>
            </a:extLst>
          </p:cNvPr>
          <p:cNvSpPr>
            <a:spLocks noGrp="1"/>
          </p:cNvSpPr>
          <p:nvPr>
            <p:ph type="body" sz="quarter" idx="13"/>
          </p:nvPr>
        </p:nvSpPr>
        <p:spPr>
          <a:xfrm>
            <a:off x="239349" y="164637"/>
            <a:ext cx="10687254" cy="672075"/>
          </a:xfrm>
        </p:spPr>
        <p:txBody>
          <a:bodyPr/>
          <a:lstStyle/>
          <a:p>
            <a:r>
              <a:rPr lang="en-US" altLang="zh-CN" dirty="0"/>
              <a:t>L6</a:t>
            </a:r>
            <a:r>
              <a:rPr lang="zh-CN" altLang="en-US" dirty="0"/>
              <a:t>详细设计</a:t>
            </a:r>
            <a:r>
              <a:rPr lang="en-US" altLang="zh-CN" dirty="0"/>
              <a:t>——Power-On </a:t>
            </a:r>
            <a:r>
              <a:rPr lang="zh-CN" altLang="en-US" dirty="0"/>
              <a:t>计划、</a:t>
            </a:r>
            <a:r>
              <a:rPr lang="en-US" altLang="zh-CN" dirty="0"/>
              <a:t>EVT </a:t>
            </a:r>
            <a:r>
              <a:rPr lang="zh-CN" altLang="en-US" dirty="0"/>
              <a:t>测试计划</a:t>
            </a:r>
          </a:p>
        </p:txBody>
      </p:sp>
      <p:grpSp>
        <p:nvGrpSpPr>
          <p:cNvPr id="31" name="组合 30">
            <a:extLst>
              <a:ext uri="{FF2B5EF4-FFF2-40B4-BE49-F238E27FC236}">
                <a16:creationId xmlns:a16="http://schemas.microsoft.com/office/drawing/2014/main" id="{26259AFE-8C91-491C-BCA7-C96E7D0D2E75}"/>
              </a:ext>
            </a:extLst>
          </p:cNvPr>
          <p:cNvGrpSpPr/>
          <p:nvPr/>
        </p:nvGrpSpPr>
        <p:grpSpPr>
          <a:xfrm>
            <a:off x="111598" y="4150914"/>
            <a:ext cx="11968805" cy="978416"/>
            <a:chOff x="56601" y="2982732"/>
            <a:chExt cx="11968805" cy="978416"/>
          </a:xfrm>
        </p:grpSpPr>
        <p:grpSp>
          <p:nvGrpSpPr>
            <p:cNvPr id="30" name="组合 29">
              <a:extLst>
                <a:ext uri="{FF2B5EF4-FFF2-40B4-BE49-F238E27FC236}">
                  <a16:creationId xmlns:a16="http://schemas.microsoft.com/office/drawing/2014/main" id="{910CCD9A-183E-407D-AECB-78E5F5BB75ED}"/>
                </a:ext>
              </a:extLst>
            </p:cNvPr>
            <p:cNvGrpSpPr/>
            <p:nvPr/>
          </p:nvGrpSpPr>
          <p:grpSpPr>
            <a:xfrm>
              <a:off x="56601" y="2982732"/>
              <a:ext cx="11968805" cy="972438"/>
              <a:chOff x="-670883" y="2982762"/>
              <a:chExt cx="11862700" cy="954428"/>
            </a:xfrm>
          </p:grpSpPr>
          <p:grpSp>
            <p:nvGrpSpPr>
              <p:cNvPr id="2" name="组合 1"/>
              <p:cNvGrpSpPr/>
              <p:nvPr/>
            </p:nvGrpSpPr>
            <p:grpSpPr>
              <a:xfrm>
                <a:off x="-670883" y="2982762"/>
                <a:ext cx="4386881" cy="952803"/>
                <a:chOff x="-1515345" y="2352956"/>
                <a:chExt cx="3422953" cy="798390"/>
              </a:xfrm>
            </p:grpSpPr>
            <p:sp>
              <p:nvSpPr>
                <p:cNvPr id="16" name="AutoShape 15"/>
                <p:cNvSpPr>
                  <a:spLocks noChangeArrowheads="1"/>
                </p:cNvSpPr>
                <p:nvPr/>
              </p:nvSpPr>
              <p:spPr bwMode="auto">
                <a:xfrm>
                  <a:off x="-1515345" y="2352956"/>
                  <a:ext cx="1414678" cy="798390"/>
                </a:xfrm>
                <a:prstGeom prst="homePlate">
                  <a:avLst>
                    <a:gd name="adj" fmla="val 33678"/>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kern="0" dirty="0">
                      <a:solidFill>
                        <a:srgbClr val="FFFFFF"/>
                      </a:solidFill>
                      <a:latin typeface="微软雅黑" panose="020B0503020204020204" pitchFamily="34" charset="-122"/>
                      <a:ea typeface="微软雅黑" panose="020B0503020204020204" pitchFamily="34" charset="-122"/>
                    </a:rPr>
                    <a:t>HW</a:t>
                  </a:r>
                  <a:r>
                    <a:rPr lang="zh-CN" altLang="en-US" sz="2000" b="1" kern="0" dirty="0">
                      <a:solidFill>
                        <a:srgbClr val="FFFFFF"/>
                      </a:solidFill>
                      <a:latin typeface="微软雅黑" panose="020B0503020204020204" pitchFamily="34" charset="-122"/>
                      <a:ea typeface="微软雅黑" panose="020B0503020204020204" pitchFamily="34" charset="-122"/>
                    </a:rPr>
                    <a:t>、</a:t>
                  </a:r>
                  <a:r>
                    <a:rPr lang="en-US" altLang="zh-CN" sz="2000" b="1" kern="0" dirty="0">
                      <a:solidFill>
                        <a:srgbClr val="FFFFFF"/>
                      </a:solidFill>
                      <a:latin typeface="微软雅黑" panose="020B0503020204020204" pitchFamily="34" charset="-122"/>
                      <a:ea typeface="微软雅黑" panose="020B0503020204020204" pitchFamily="34" charset="-122"/>
                    </a:rPr>
                    <a:t>DC</a:t>
                  </a:r>
                  <a:endParaRPr lang="zh-CN" altLang="en-US" sz="2000" b="1" kern="0" dirty="0">
                    <a:solidFill>
                      <a:srgbClr val="FFFFFF"/>
                    </a:solidFill>
                    <a:latin typeface="微软雅黑" panose="020B0503020204020204" pitchFamily="34" charset="-122"/>
                    <a:ea typeface="微软雅黑" panose="020B0503020204020204" pitchFamily="34" charset="-122"/>
                  </a:endParaRPr>
                </a:p>
              </p:txBody>
            </p:sp>
            <p:sp>
              <p:nvSpPr>
                <p:cNvPr id="11" name="WordArt 20"/>
                <p:cNvSpPr>
                  <a:spLocks noChangeArrowheads="1" noChangeShapeType="1"/>
                </p:cNvSpPr>
                <p:nvPr/>
              </p:nvSpPr>
              <p:spPr bwMode="auto">
                <a:xfrm>
                  <a:off x="1043608" y="2591511"/>
                  <a:ext cx="864000" cy="324000"/>
                </a:xfrm>
                <a:prstGeom prst="rect">
                  <a:avLst/>
                </a:prstGeom>
                <a:extLst>
                  <a:ext uri="{AF507438-7753-43E0-B8FC-AC1667EBCBE1}">
                    <a14:hiddenEffects xmlns:a14="http://schemas.microsoft.com/office/drawing/2010/main">
                      <a:effectLst/>
                    </a14:hiddenEffects>
                  </a:ext>
                </a:extLst>
              </p:spPr>
              <p:txBody>
                <a:bodyPr wrap="none" fromWordArt="1"/>
                <a:lstStyle/>
                <a:p>
                  <a:pPr algn="ctr">
                    <a:defRPr/>
                  </a:pPr>
                  <a:r>
                    <a:rPr lang="en-US" altLang="zh-CN" sz="1867" b="1" kern="0" dirty="0">
                      <a:ln w="9525" cmpd="sng">
                        <a:noFill/>
                        <a:round/>
                      </a:ln>
                      <a:solidFill>
                        <a:schemeClr val="bg1"/>
                      </a:solidFill>
                      <a:latin typeface="微软雅黑" panose="020B0503020204020204" pitchFamily="34" charset="-122"/>
                      <a:ea typeface="微软雅黑" panose="020B0503020204020204" pitchFamily="34" charset="-122"/>
                    </a:rPr>
                    <a:t>SIT</a:t>
                  </a:r>
                  <a:endParaRPr lang="zh-CN" altLang="en-US" sz="1867" b="1" kern="0" dirty="0">
                    <a:ln w="9525" cmpd="sng">
                      <a:noFill/>
                      <a:round/>
                    </a:ln>
                    <a:solidFill>
                      <a:schemeClr val="bg1"/>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4081011" y="2984387"/>
                <a:ext cx="1901439" cy="952803"/>
                <a:chOff x="2229248" y="2354318"/>
                <a:chExt cx="1483636" cy="798390"/>
              </a:xfrm>
            </p:grpSpPr>
            <p:sp>
              <p:nvSpPr>
                <p:cNvPr id="17" name="AutoShape 16"/>
                <p:cNvSpPr>
                  <a:spLocks noChangeArrowheads="1"/>
                </p:cNvSpPr>
                <p:nvPr/>
              </p:nvSpPr>
              <p:spPr bwMode="auto">
                <a:xfrm>
                  <a:off x="2229248" y="2354318"/>
                  <a:ext cx="1483636" cy="798390"/>
                </a:xfrm>
                <a:prstGeom prst="chevron">
                  <a:avLst>
                    <a:gd name="adj" fmla="val 33678"/>
                  </a:avLst>
                </a:prstGeom>
                <a:solidFill>
                  <a:schemeClr val="bg1">
                    <a:lumMod val="5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400" kern="0">
                    <a:solidFill>
                      <a:srgbClr val="FFFFFF"/>
                    </a:solidFill>
                    <a:latin typeface="微软雅黑" panose="020B0503020204020204" pitchFamily="34" charset="-122"/>
                    <a:ea typeface="微软雅黑" panose="020B0503020204020204" pitchFamily="34" charset="-122"/>
                  </a:endParaRPr>
                </a:p>
              </p:txBody>
            </p:sp>
            <p:sp>
              <p:nvSpPr>
                <p:cNvPr id="12" name="WordArt 21"/>
                <p:cNvSpPr>
                  <a:spLocks noChangeArrowheads="1" noChangeShapeType="1"/>
                </p:cNvSpPr>
                <p:nvPr/>
              </p:nvSpPr>
              <p:spPr bwMode="auto">
                <a:xfrm>
                  <a:off x="2648610" y="2591511"/>
                  <a:ext cx="864000" cy="324000"/>
                </a:xfrm>
                <a:prstGeom prst="rect">
                  <a:avLst/>
                </a:prstGeom>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14:hiddenEffects>
                  </a:ext>
                </a:extLst>
              </p:spPr>
              <p:txBody>
                <a:bodyPr wrap="none" fromWordArt="1"/>
                <a:lstStyle/>
                <a:p>
                  <a:pPr algn="ctr" defTabSz="914377"/>
                  <a:r>
                    <a:rPr lang="en-US" altLang="zh-CN" sz="2000" b="1" dirty="0">
                      <a:solidFill>
                        <a:schemeClr val="bg1"/>
                      </a:solidFill>
                      <a:latin typeface="微软雅黑" panose="020B0503020204020204" pitchFamily="34" charset="-122"/>
                      <a:ea typeface="微软雅黑" panose="020B0503020204020204" pitchFamily="34" charset="-122"/>
                    </a:rPr>
                    <a:t>SI</a:t>
                  </a:r>
                  <a:r>
                    <a:rPr lang="zh-CN" altLang="en-US" sz="2000" b="1" dirty="0">
                      <a:solidFill>
                        <a:schemeClr val="bg1"/>
                      </a:solidFill>
                      <a:latin typeface="微软雅黑" panose="020B0503020204020204" pitchFamily="34" charset="-122"/>
                      <a:ea typeface="微软雅黑" panose="020B0503020204020204" pitchFamily="34" charset="-122"/>
                    </a:rPr>
                    <a:t>测试</a:t>
                  </a:r>
                </a:p>
              </p:txBody>
            </p:sp>
          </p:grpSp>
          <p:grpSp>
            <p:nvGrpSpPr>
              <p:cNvPr id="21" name="组合 20"/>
              <p:cNvGrpSpPr/>
              <p:nvPr/>
            </p:nvGrpSpPr>
            <p:grpSpPr>
              <a:xfrm>
                <a:off x="5712509" y="2984385"/>
                <a:ext cx="2006411" cy="952803"/>
                <a:chOff x="3501870" y="2354316"/>
                <a:chExt cx="1565543" cy="798390"/>
              </a:xfrm>
            </p:grpSpPr>
            <p:sp>
              <p:nvSpPr>
                <p:cNvPr id="18" name="AutoShape 17"/>
                <p:cNvSpPr>
                  <a:spLocks noChangeArrowheads="1"/>
                </p:cNvSpPr>
                <p:nvPr/>
              </p:nvSpPr>
              <p:spPr bwMode="auto">
                <a:xfrm>
                  <a:off x="3501870" y="2354316"/>
                  <a:ext cx="1565543" cy="798390"/>
                </a:xfrm>
                <a:prstGeom prst="chevron">
                  <a:avLst>
                    <a:gd name="adj" fmla="val 33678"/>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400" kern="0">
                    <a:solidFill>
                      <a:srgbClr val="FFFFFF"/>
                    </a:solidFill>
                    <a:latin typeface="微软雅黑" panose="020B0503020204020204" pitchFamily="34" charset="-122"/>
                    <a:ea typeface="微软雅黑" panose="020B0503020204020204" pitchFamily="34" charset="-122"/>
                  </a:endParaRPr>
                </a:p>
              </p:txBody>
            </p:sp>
            <p:sp>
              <p:nvSpPr>
                <p:cNvPr id="13" name="WordArt 22"/>
                <p:cNvSpPr>
                  <a:spLocks noChangeArrowheads="1" noChangeShapeType="1"/>
                </p:cNvSpPr>
                <p:nvPr/>
              </p:nvSpPr>
              <p:spPr bwMode="auto">
                <a:xfrm>
                  <a:off x="3868142" y="2591511"/>
                  <a:ext cx="864000" cy="324000"/>
                </a:xfrm>
                <a:prstGeom prst="rect">
                  <a:avLst/>
                </a:prstGeom>
                <a:extLst>
                  <a:ext uri="{AF507438-7753-43E0-B8FC-AC1667EBCBE1}">
                    <a14:hiddenEffects xmlns:a14="http://schemas.microsoft.com/office/drawing/2010/main">
                      <a:effectLst/>
                    </a14:hiddenEffects>
                  </a:ext>
                </a:extLst>
              </p:spPr>
              <p:txBody>
                <a:bodyPr wrap="none" fromWordArt="1"/>
                <a:lstStyle/>
                <a:p>
                  <a:pPr algn="ctr">
                    <a:defRPr/>
                  </a:pPr>
                  <a:r>
                    <a:rPr lang="en-US" altLang="zh-CN" sz="2000" b="1" kern="0" dirty="0">
                      <a:ln w="9525" cmpd="sng">
                        <a:noFill/>
                        <a:round/>
                      </a:ln>
                      <a:solidFill>
                        <a:schemeClr val="bg1"/>
                      </a:solidFill>
                      <a:latin typeface="微软雅黑" panose="020B0503020204020204" pitchFamily="34" charset="-122"/>
                      <a:ea typeface="微软雅黑" panose="020B0503020204020204" pitchFamily="34" charset="-122"/>
                    </a:rPr>
                    <a:t>DC</a:t>
                  </a:r>
                  <a:r>
                    <a:rPr lang="zh-CN" altLang="en-US" sz="2000" b="1" kern="0" dirty="0">
                      <a:ln w="9525" cmpd="sng">
                        <a:noFill/>
                        <a:round/>
                      </a:ln>
                      <a:solidFill>
                        <a:schemeClr val="bg1"/>
                      </a:solidFill>
                      <a:latin typeface="微软雅黑" panose="020B0503020204020204" pitchFamily="34" charset="-122"/>
                      <a:ea typeface="微软雅黑" panose="020B0503020204020204" pitchFamily="34" charset="-122"/>
                    </a:rPr>
                    <a:t>测试</a:t>
                  </a:r>
                </a:p>
              </p:txBody>
            </p:sp>
          </p:grpSp>
          <p:grpSp>
            <p:nvGrpSpPr>
              <p:cNvPr id="22" name="组合 21"/>
              <p:cNvGrpSpPr/>
              <p:nvPr/>
            </p:nvGrpSpPr>
            <p:grpSpPr>
              <a:xfrm>
                <a:off x="7448962" y="2984385"/>
                <a:ext cx="2006411" cy="952803"/>
                <a:chOff x="4837779" y="2354316"/>
                <a:chExt cx="1565543" cy="798390"/>
              </a:xfrm>
            </p:grpSpPr>
            <p:sp>
              <p:nvSpPr>
                <p:cNvPr id="19" name="AutoShape 18"/>
                <p:cNvSpPr>
                  <a:spLocks noChangeArrowheads="1"/>
                </p:cNvSpPr>
                <p:nvPr/>
              </p:nvSpPr>
              <p:spPr bwMode="auto">
                <a:xfrm>
                  <a:off x="4837779" y="2354316"/>
                  <a:ext cx="1565543" cy="798390"/>
                </a:xfrm>
                <a:prstGeom prst="chevron">
                  <a:avLst>
                    <a:gd name="adj" fmla="val 33678"/>
                  </a:avLst>
                </a:prstGeom>
                <a:solidFill>
                  <a:schemeClr val="bg1">
                    <a:lumMod val="5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400" kern="0">
                    <a:solidFill>
                      <a:srgbClr val="FFFFFF"/>
                    </a:solidFill>
                    <a:latin typeface="微软雅黑" panose="020B0503020204020204" pitchFamily="34" charset="-122"/>
                    <a:ea typeface="微软雅黑" panose="020B0503020204020204" pitchFamily="34" charset="-122"/>
                  </a:endParaRPr>
                </a:p>
              </p:txBody>
            </p:sp>
            <p:sp>
              <p:nvSpPr>
                <p:cNvPr id="14" name="WordArt 23"/>
                <p:cNvSpPr>
                  <a:spLocks noChangeArrowheads="1" noChangeShapeType="1"/>
                </p:cNvSpPr>
                <p:nvPr/>
              </p:nvSpPr>
              <p:spPr bwMode="auto">
                <a:xfrm>
                  <a:off x="5208350" y="2579917"/>
                  <a:ext cx="864000" cy="324000"/>
                </a:xfrm>
                <a:prstGeom prst="rect">
                  <a:avLst/>
                </a:prstGeom>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14:hiddenEffects>
                  </a:ext>
                </a:extLst>
              </p:spPr>
              <p:txBody>
                <a:bodyPr wrap="none" fromWordArt="1"/>
                <a:lstStyle/>
                <a:p>
                  <a:pPr algn="ctr" defTabSz="914377"/>
                  <a:r>
                    <a:rPr lang="zh-CN" altLang="en-US" sz="1867" b="1" dirty="0">
                      <a:solidFill>
                        <a:schemeClr val="bg1"/>
                      </a:solidFill>
                      <a:latin typeface="微软雅黑" panose="020B0503020204020204" pitchFamily="34" charset="-122"/>
                      <a:ea typeface="微软雅黑" panose="020B0503020204020204" pitchFamily="34" charset="-122"/>
                    </a:rPr>
                    <a:t>散热测试</a:t>
                  </a:r>
                </a:p>
              </p:txBody>
            </p:sp>
          </p:grpSp>
          <p:grpSp>
            <p:nvGrpSpPr>
              <p:cNvPr id="23" name="组合 22"/>
              <p:cNvGrpSpPr/>
              <p:nvPr/>
            </p:nvGrpSpPr>
            <p:grpSpPr>
              <a:xfrm>
                <a:off x="9185406" y="2984385"/>
                <a:ext cx="2006411" cy="952803"/>
                <a:chOff x="6175239" y="2354316"/>
                <a:chExt cx="1565543" cy="798390"/>
              </a:xfrm>
            </p:grpSpPr>
            <p:sp>
              <p:nvSpPr>
                <p:cNvPr id="20" name="AutoShape 19"/>
                <p:cNvSpPr>
                  <a:spLocks noChangeArrowheads="1"/>
                </p:cNvSpPr>
                <p:nvPr/>
              </p:nvSpPr>
              <p:spPr bwMode="auto">
                <a:xfrm>
                  <a:off x="6175239" y="2354316"/>
                  <a:ext cx="1565543" cy="798390"/>
                </a:xfrm>
                <a:prstGeom prst="chevron">
                  <a:avLst>
                    <a:gd name="adj" fmla="val 33678"/>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400" kern="0">
                    <a:solidFill>
                      <a:srgbClr val="FFFFFF"/>
                    </a:solidFill>
                    <a:latin typeface="微软雅黑" panose="020B0503020204020204" pitchFamily="34" charset="-122"/>
                    <a:ea typeface="微软雅黑" panose="020B0503020204020204" pitchFamily="34" charset="-122"/>
                  </a:endParaRPr>
                </a:p>
              </p:txBody>
            </p:sp>
            <p:sp>
              <p:nvSpPr>
                <p:cNvPr id="15" name="WordArt 23"/>
                <p:cNvSpPr>
                  <a:spLocks noChangeArrowheads="1" noChangeShapeType="1"/>
                </p:cNvSpPr>
                <p:nvPr/>
              </p:nvSpPr>
              <p:spPr bwMode="auto">
                <a:xfrm>
                  <a:off x="6579343" y="2591511"/>
                  <a:ext cx="864000" cy="324000"/>
                </a:xfrm>
                <a:prstGeom prst="rect">
                  <a:avLst/>
                </a:prstGeom>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14:hiddenEffects>
                  </a:ext>
                </a:extLst>
              </p:spPr>
              <p:txBody>
                <a:bodyPr wrap="none" fromWordArt="1"/>
                <a:lstStyle/>
                <a:p>
                  <a:pPr algn="ctr" defTabSz="914377"/>
                  <a:r>
                    <a:rPr lang="zh-CN" altLang="en-US" sz="2000" b="1" dirty="0">
                      <a:solidFill>
                        <a:schemeClr val="bg1"/>
                      </a:solidFill>
                      <a:latin typeface="微软雅黑" panose="020B0503020204020204" pitchFamily="34" charset="-122"/>
                      <a:ea typeface="微软雅黑" panose="020B0503020204020204" pitchFamily="34" charset="-122"/>
                    </a:rPr>
                    <a:t>可靠性、</a:t>
                  </a:r>
                  <a:r>
                    <a:rPr lang="en-US" altLang="zh-CN" sz="2000" b="1" dirty="0">
                      <a:solidFill>
                        <a:schemeClr val="bg1"/>
                      </a:solidFill>
                      <a:latin typeface="微软雅黑" panose="020B0503020204020204" pitchFamily="34" charset="-122"/>
                      <a:ea typeface="微软雅黑" panose="020B0503020204020204" pitchFamily="34" charset="-122"/>
                    </a:rPr>
                    <a:t>PA</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sp>
          <p:nvSpPr>
            <p:cNvPr id="57" name="AutoShape 16">
              <a:extLst>
                <a:ext uri="{FF2B5EF4-FFF2-40B4-BE49-F238E27FC236}">
                  <a16:creationId xmlns:a16="http://schemas.microsoft.com/office/drawing/2014/main" id="{956A46C9-F0E2-4B96-BE9F-EC602937246E}"/>
                </a:ext>
              </a:extLst>
            </p:cNvPr>
            <p:cNvSpPr>
              <a:spLocks noChangeArrowheads="1"/>
            </p:cNvSpPr>
            <p:nvPr/>
          </p:nvSpPr>
          <p:spPr bwMode="auto">
            <a:xfrm>
              <a:off x="1599108" y="2990366"/>
              <a:ext cx="1932855" cy="970782"/>
            </a:xfrm>
            <a:prstGeom prst="chevron">
              <a:avLst>
                <a:gd name="adj" fmla="val 33678"/>
              </a:avLst>
            </a:prstGeom>
            <a:solidFill>
              <a:schemeClr val="bg1">
                <a:lumMod val="5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r>
                <a:rPr lang="en-US" altLang="zh-CN" sz="2000" b="1" kern="0" dirty="0">
                  <a:solidFill>
                    <a:srgbClr val="FFFFFF"/>
                  </a:solidFill>
                  <a:latin typeface="微软雅黑" panose="020B0503020204020204" pitchFamily="34" charset="-122"/>
                  <a:ea typeface="微软雅黑" panose="020B0503020204020204" pitchFamily="34" charset="-122"/>
                </a:rPr>
                <a:t>BIOS</a:t>
              </a:r>
              <a:r>
                <a:rPr lang="zh-CN" altLang="en-US" sz="2000" b="1" kern="0" dirty="0">
                  <a:solidFill>
                    <a:srgbClr val="FFFFFF"/>
                  </a:solidFill>
                  <a:latin typeface="微软雅黑" panose="020B0503020204020204" pitchFamily="34" charset="-122"/>
                  <a:ea typeface="微软雅黑" panose="020B0503020204020204" pitchFamily="34" charset="-122"/>
                </a:rPr>
                <a:t>、</a:t>
              </a:r>
              <a:r>
                <a:rPr lang="en-US" altLang="zh-CN" sz="2000" b="1" kern="0" dirty="0">
                  <a:solidFill>
                    <a:srgbClr val="FFFFFF"/>
                  </a:solidFill>
                  <a:latin typeface="微软雅黑" panose="020B0503020204020204" pitchFamily="34" charset="-122"/>
                  <a:ea typeface="微软雅黑" panose="020B0503020204020204" pitchFamily="34" charset="-122"/>
                </a:rPr>
                <a:t>BMC</a:t>
              </a:r>
            </a:p>
            <a:p>
              <a:pPr>
                <a:defRPr/>
              </a:pPr>
              <a:r>
                <a:rPr lang="zh-CN" altLang="en-US" sz="2000" b="1" kern="0" dirty="0">
                  <a:solidFill>
                    <a:srgbClr val="FFFFFF"/>
                  </a:solidFill>
                  <a:latin typeface="微软雅黑" panose="020B0503020204020204" pitchFamily="34" charset="-122"/>
                  <a:ea typeface="微软雅黑" panose="020B0503020204020204" pitchFamily="34" charset="-122"/>
                </a:rPr>
                <a:t>、</a:t>
              </a:r>
              <a:r>
                <a:rPr lang="en-US" altLang="zh-CN" sz="2000" b="1" kern="0" dirty="0">
                  <a:solidFill>
                    <a:srgbClr val="FFFFFF"/>
                  </a:solidFill>
                  <a:latin typeface="微软雅黑" panose="020B0503020204020204" pitchFamily="34" charset="-122"/>
                  <a:ea typeface="微软雅黑" panose="020B0503020204020204" pitchFamily="34" charset="-122"/>
                </a:rPr>
                <a:t>CMM</a:t>
              </a:r>
              <a:endParaRPr lang="zh-CN" altLang="en-US" sz="2000" b="1" kern="0" dirty="0">
                <a:solidFill>
                  <a:srgbClr val="FFFFFF"/>
                </a:solidFill>
                <a:latin typeface="微软雅黑" panose="020B0503020204020204" pitchFamily="34" charset="-122"/>
                <a:ea typeface="微软雅黑" panose="020B0503020204020204" pitchFamily="34" charset="-122"/>
              </a:endParaRPr>
            </a:p>
          </p:txBody>
        </p:sp>
        <p:sp>
          <p:nvSpPr>
            <p:cNvPr id="58" name="AutoShape 17">
              <a:extLst>
                <a:ext uri="{FF2B5EF4-FFF2-40B4-BE49-F238E27FC236}">
                  <a16:creationId xmlns:a16="http://schemas.microsoft.com/office/drawing/2014/main" id="{37F5D733-C427-4CE2-B8F7-011EAE4018FF}"/>
                </a:ext>
              </a:extLst>
            </p:cNvPr>
            <p:cNvSpPr>
              <a:spLocks noChangeArrowheads="1"/>
            </p:cNvSpPr>
            <p:nvPr/>
          </p:nvSpPr>
          <p:spPr bwMode="auto">
            <a:xfrm>
              <a:off x="3239813" y="2990366"/>
              <a:ext cx="1894479" cy="970782"/>
            </a:xfrm>
            <a:prstGeom prst="chevron">
              <a:avLst>
                <a:gd name="adj" fmla="val 33678"/>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kern="0" dirty="0">
                  <a:solidFill>
                    <a:srgbClr val="FFFFFF"/>
                  </a:solidFill>
                  <a:latin typeface="微软雅黑" panose="020B0503020204020204" pitchFamily="34" charset="-122"/>
                  <a:ea typeface="微软雅黑" panose="020B0503020204020204" pitchFamily="34" charset="-122"/>
                </a:rPr>
                <a:t>SIT</a:t>
              </a:r>
              <a:endParaRPr lang="zh-CN" altLang="en-US" sz="2000" b="1" kern="0" dirty="0">
                <a:solidFill>
                  <a:srgbClr val="FFFFFF"/>
                </a:solidFill>
                <a:latin typeface="微软雅黑" panose="020B0503020204020204" pitchFamily="34" charset="-122"/>
                <a:ea typeface="微软雅黑" panose="020B0503020204020204" pitchFamily="34" charset="-122"/>
              </a:endParaRPr>
            </a:p>
          </p:txBody>
        </p:sp>
      </p:grpSp>
      <p:sp>
        <p:nvSpPr>
          <p:cNvPr id="59" name="TextBox 11">
            <a:extLst>
              <a:ext uri="{FF2B5EF4-FFF2-40B4-BE49-F238E27FC236}">
                <a16:creationId xmlns:a16="http://schemas.microsoft.com/office/drawing/2014/main" id="{DFC1016A-2223-47CF-BD34-5BB641E85810}"/>
              </a:ext>
            </a:extLst>
          </p:cNvPr>
          <p:cNvSpPr txBox="1">
            <a:spLocks noChangeArrowheads="1"/>
          </p:cNvSpPr>
          <p:nvPr/>
        </p:nvSpPr>
        <p:spPr bwMode="auto">
          <a:xfrm flipH="1">
            <a:off x="1708766" y="5210834"/>
            <a:ext cx="2468599" cy="584775"/>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mn-lt"/>
                <a:ea typeface="+mn-ea"/>
                <a:cs typeface="+mn-ea"/>
                <a:sym typeface="+mn-lt"/>
              </a:rPr>
              <a:t>BIOS</a:t>
            </a:r>
            <a:r>
              <a:rPr lang="zh-CN" altLang="en-US" sz="1600" b="1" kern="0" dirty="0">
                <a:solidFill>
                  <a:schemeClr val="tx1">
                    <a:lumMod val="65000"/>
                    <a:lumOff val="35000"/>
                  </a:schemeClr>
                </a:solidFill>
                <a:latin typeface="+mn-lt"/>
                <a:ea typeface="+mn-ea"/>
                <a:cs typeface="+mn-ea"/>
                <a:sym typeface="+mn-lt"/>
              </a:rPr>
              <a:t>、</a:t>
            </a:r>
            <a:r>
              <a:rPr lang="en-US" altLang="zh-CN" sz="1600" b="1" kern="0" dirty="0">
                <a:solidFill>
                  <a:schemeClr val="tx1">
                    <a:lumMod val="65000"/>
                    <a:lumOff val="35000"/>
                  </a:schemeClr>
                </a:solidFill>
                <a:latin typeface="+mn-lt"/>
                <a:ea typeface="+mn-ea"/>
                <a:cs typeface="+mn-ea"/>
                <a:sym typeface="+mn-lt"/>
              </a:rPr>
              <a:t>BMC</a:t>
            </a:r>
            <a:r>
              <a:rPr lang="zh-CN" altLang="en-US" sz="1600" b="1" kern="0" dirty="0">
                <a:solidFill>
                  <a:schemeClr val="tx1">
                    <a:lumMod val="65000"/>
                    <a:lumOff val="35000"/>
                  </a:schemeClr>
                </a:solidFill>
                <a:latin typeface="+mn-lt"/>
                <a:ea typeface="+mn-ea"/>
                <a:cs typeface="+mn-ea"/>
                <a:sym typeface="+mn-lt"/>
              </a:rPr>
              <a:t>、</a:t>
            </a:r>
            <a:r>
              <a:rPr lang="en-US" altLang="zh-CN" sz="1600" b="1" kern="0" dirty="0">
                <a:solidFill>
                  <a:schemeClr val="tx1">
                    <a:lumMod val="65000"/>
                    <a:lumOff val="35000"/>
                  </a:schemeClr>
                </a:solidFill>
                <a:latin typeface="+mn-lt"/>
                <a:ea typeface="+mn-ea"/>
                <a:cs typeface="+mn-ea"/>
                <a:sym typeface="+mn-lt"/>
              </a:rPr>
              <a:t>CMM</a:t>
            </a:r>
            <a:r>
              <a:rPr lang="zh-CN" altLang="en-US" sz="1600" b="1" kern="0" dirty="0">
                <a:solidFill>
                  <a:schemeClr val="tx1">
                    <a:lumMod val="65000"/>
                    <a:lumOff val="35000"/>
                  </a:schemeClr>
                </a:solidFill>
                <a:latin typeface="+mn-lt"/>
                <a:ea typeface="+mn-ea"/>
                <a:cs typeface="+mn-ea"/>
                <a:sym typeface="+mn-lt"/>
              </a:rPr>
              <a:t> </a:t>
            </a:r>
            <a:r>
              <a:rPr lang="en-US" altLang="zh-CN" sz="1600" b="1" kern="0" dirty="0">
                <a:solidFill>
                  <a:schemeClr val="tx1">
                    <a:lumMod val="65000"/>
                    <a:lumOff val="35000"/>
                  </a:schemeClr>
                </a:solidFill>
                <a:latin typeface="+mn-lt"/>
                <a:ea typeface="+mn-ea"/>
                <a:cs typeface="+mn-ea"/>
                <a:sym typeface="+mn-lt"/>
              </a:rPr>
              <a:t>Power-On </a:t>
            </a:r>
            <a:r>
              <a:rPr lang="zh-CN" altLang="en-US" sz="1600" b="1" kern="0" dirty="0">
                <a:solidFill>
                  <a:schemeClr val="tx1">
                    <a:lumMod val="65000"/>
                    <a:lumOff val="35000"/>
                  </a:schemeClr>
                </a:solidFill>
                <a:latin typeface="+mn-lt"/>
                <a:ea typeface="+mn-ea"/>
                <a:cs typeface="+mn-ea"/>
                <a:sym typeface="+mn-lt"/>
              </a:rPr>
              <a:t>计划</a:t>
            </a:r>
            <a:endParaRPr lang="en-US" altLang="zh-CN" sz="1600" b="1" kern="0" dirty="0">
              <a:solidFill>
                <a:schemeClr val="tx1">
                  <a:lumMod val="65000"/>
                  <a:lumOff val="35000"/>
                </a:schemeClr>
              </a:solidFill>
              <a:latin typeface="+mn-lt"/>
              <a:ea typeface="+mn-ea"/>
              <a:cs typeface="+mn-ea"/>
              <a:sym typeface="+mn-lt"/>
            </a:endParaRPr>
          </a:p>
        </p:txBody>
      </p:sp>
      <p:sp>
        <p:nvSpPr>
          <p:cNvPr id="62" name="文本框 61">
            <a:extLst>
              <a:ext uri="{FF2B5EF4-FFF2-40B4-BE49-F238E27FC236}">
                <a16:creationId xmlns:a16="http://schemas.microsoft.com/office/drawing/2014/main" id="{2A6C5678-4AAE-4D60-9ECE-D0EB0EFE5513}"/>
              </a:ext>
            </a:extLst>
          </p:cNvPr>
          <p:cNvSpPr txBox="1"/>
          <p:nvPr/>
        </p:nvSpPr>
        <p:spPr>
          <a:xfrm>
            <a:off x="3332784" y="3061988"/>
            <a:ext cx="2652927" cy="338554"/>
          </a:xfrm>
          <a:prstGeom prst="rect">
            <a:avLst/>
          </a:prstGeom>
          <a:noFill/>
        </p:spPr>
        <p:txBody>
          <a:bodyPr wrap="square">
            <a:spAutoFit/>
          </a:body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EVT SIT</a:t>
            </a: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测试计划</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3" name="TextBox 11">
            <a:extLst>
              <a:ext uri="{FF2B5EF4-FFF2-40B4-BE49-F238E27FC236}">
                <a16:creationId xmlns:a16="http://schemas.microsoft.com/office/drawing/2014/main" id="{2B7AA59A-9B3B-461D-9A1D-F2C7F7C9FAF6}"/>
              </a:ext>
            </a:extLst>
          </p:cNvPr>
          <p:cNvSpPr txBox="1">
            <a:spLocks noChangeArrowheads="1"/>
          </p:cNvSpPr>
          <p:nvPr/>
        </p:nvSpPr>
        <p:spPr bwMode="auto">
          <a:xfrm flipH="1">
            <a:off x="10230778" y="3148514"/>
            <a:ext cx="2055902" cy="959943"/>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责任人：可靠性、</a:t>
            </a:r>
            <a:r>
              <a:rPr lang="en-US" altLang="zh-CN" sz="1200" dirty="0">
                <a:latin typeface="微软雅黑" panose="020B0503020204020204" pitchFamily="34" charset="-122"/>
                <a:ea typeface="微软雅黑" panose="020B0503020204020204" pitchFamily="34" charset="-122"/>
                <a:cs typeface="+mn-ea"/>
                <a:sym typeface="+mn-lt"/>
              </a:rPr>
              <a:t>PA</a:t>
            </a:r>
            <a:r>
              <a:rPr lang="zh-CN" altLang="en-US" sz="1200" dirty="0">
                <a:latin typeface="微软雅黑" panose="020B0503020204020204" pitchFamily="34" charset="-122"/>
                <a:ea typeface="微软雅黑" panose="020B0503020204020204" pitchFamily="34" charset="-122"/>
                <a:cs typeface="+mn-ea"/>
                <a:sym typeface="+mn-lt"/>
              </a:rPr>
              <a:t>工程师</a:t>
            </a:r>
            <a:endParaRPr lang="en-US" altLang="zh-CN" sz="1200" dirty="0">
              <a:latin typeface="微软雅黑" panose="020B0503020204020204" pitchFamily="34" charset="-122"/>
              <a:ea typeface="微软雅黑" panose="020B0503020204020204" pitchFamily="34" charset="-122"/>
              <a:cs typeface="+mn-ea"/>
              <a:sym typeface="+mn-lt"/>
            </a:endParaRP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《EVT </a:t>
            </a:r>
            <a:r>
              <a:rPr lang="zh-CN" altLang="en-US" sz="1200" dirty="0">
                <a:latin typeface="微软雅黑" panose="020B0503020204020204" pitchFamily="34" charset="-122"/>
                <a:ea typeface="微软雅黑" panose="020B0503020204020204" pitchFamily="34" charset="-122"/>
                <a:cs typeface="+mn-ea"/>
                <a:sym typeface="+mn-lt"/>
              </a:rPr>
              <a:t>可靠性、</a:t>
            </a:r>
            <a:r>
              <a:rPr lang="en-US" altLang="zh-CN" sz="1200" dirty="0">
                <a:latin typeface="微软雅黑" panose="020B0503020204020204" pitchFamily="34" charset="-122"/>
                <a:ea typeface="微软雅黑" panose="020B0503020204020204" pitchFamily="34" charset="-122"/>
                <a:cs typeface="+mn-ea"/>
                <a:sym typeface="+mn-lt"/>
              </a:rPr>
              <a:t>PA</a:t>
            </a:r>
            <a:r>
              <a:rPr lang="zh-CN" altLang="en-US" sz="1200" dirty="0">
                <a:latin typeface="微软雅黑" panose="020B0503020204020204" pitchFamily="34" charset="-122"/>
                <a:ea typeface="微软雅黑" panose="020B0503020204020204" pitchFamily="34" charset="-122"/>
                <a:cs typeface="+mn-ea"/>
                <a:sym typeface="+mn-lt"/>
              </a:rPr>
              <a:t>测试计划</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64" name="Line 9">
            <a:extLst>
              <a:ext uri="{FF2B5EF4-FFF2-40B4-BE49-F238E27FC236}">
                <a16:creationId xmlns:a16="http://schemas.microsoft.com/office/drawing/2014/main" id="{ED28694C-EBFE-4412-9851-554524AA75E5}"/>
              </a:ext>
            </a:extLst>
          </p:cNvPr>
          <p:cNvSpPr>
            <a:spLocks noChangeShapeType="1"/>
          </p:cNvSpPr>
          <p:nvPr/>
        </p:nvSpPr>
        <p:spPr bwMode="auto">
          <a:xfrm flipH="1" flipV="1">
            <a:off x="10056045" y="2719649"/>
            <a:ext cx="0" cy="1327659"/>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sp>
        <p:nvSpPr>
          <p:cNvPr id="65" name="Line 9">
            <a:extLst>
              <a:ext uri="{FF2B5EF4-FFF2-40B4-BE49-F238E27FC236}">
                <a16:creationId xmlns:a16="http://schemas.microsoft.com/office/drawing/2014/main" id="{B1470A1F-A1F4-4798-87B0-B4CAC27F6DBB}"/>
              </a:ext>
            </a:extLst>
          </p:cNvPr>
          <p:cNvSpPr>
            <a:spLocks noChangeShapeType="1"/>
          </p:cNvSpPr>
          <p:nvPr/>
        </p:nvSpPr>
        <p:spPr bwMode="auto">
          <a:xfrm flipV="1">
            <a:off x="6530664" y="2935952"/>
            <a:ext cx="0" cy="1102238"/>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sp>
        <p:nvSpPr>
          <p:cNvPr id="66" name="TextBox 11">
            <a:extLst>
              <a:ext uri="{FF2B5EF4-FFF2-40B4-BE49-F238E27FC236}">
                <a16:creationId xmlns:a16="http://schemas.microsoft.com/office/drawing/2014/main" id="{ADACE828-0663-44D1-9F97-230FB41314E1}"/>
              </a:ext>
            </a:extLst>
          </p:cNvPr>
          <p:cNvSpPr txBox="1">
            <a:spLocks noChangeArrowheads="1"/>
          </p:cNvSpPr>
          <p:nvPr/>
        </p:nvSpPr>
        <p:spPr bwMode="auto">
          <a:xfrm flipH="1">
            <a:off x="3582095" y="2350477"/>
            <a:ext cx="2173841" cy="73834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a:t>
            </a:r>
            <a:r>
              <a:rPr lang="en-US" altLang="zh-CN" sz="1200" dirty="0">
                <a:latin typeface="微软雅黑" panose="020B0503020204020204" pitchFamily="34" charset="-122"/>
                <a:ea typeface="微软雅黑" panose="020B0503020204020204" pitchFamily="34" charset="-122"/>
                <a:cs typeface="+mn-ea"/>
                <a:sym typeface="+mn-lt"/>
              </a:rPr>
              <a:t>TPM</a:t>
            </a: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系统</a:t>
            </a:r>
            <a:r>
              <a:rPr lang="en-US" altLang="zh-CN" sz="1200" dirty="0">
                <a:latin typeface="微软雅黑" panose="020B0503020204020204" pitchFamily="34" charset="-122"/>
                <a:ea typeface="微软雅黑" panose="020B0503020204020204" pitchFamily="34" charset="-122"/>
                <a:cs typeface="+mn-ea"/>
                <a:sym typeface="+mn-lt"/>
              </a:rPr>
              <a:t>Power-On </a:t>
            </a:r>
            <a:r>
              <a:rPr lang="zh-CN" altLang="en-US" sz="1200" dirty="0">
                <a:latin typeface="微软雅黑" panose="020B0503020204020204" pitchFamily="34" charset="-122"/>
                <a:ea typeface="微软雅黑" panose="020B0503020204020204" pitchFamily="34" charset="-122"/>
                <a:cs typeface="+mn-ea"/>
                <a:sym typeface="+mn-lt"/>
              </a:rPr>
              <a:t>计划</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67" name="TextBox 11">
            <a:extLst>
              <a:ext uri="{FF2B5EF4-FFF2-40B4-BE49-F238E27FC236}">
                <a16:creationId xmlns:a16="http://schemas.microsoft.com/office/drawing/2014/main" id="{4D17A03B-166A-4D80-BA1C-A557BD21E7FB}"/>
              </a:ext>
            </a:extLst>
          </p:cNvPr>
          <p:cNvSpPr txBox="1">
            <a:spLocks noChangeArrowheads="1"/>
          </p:cNvSpPr>
          <p:nvPr/>
        </p:nvSpPr>
        <p:spPr bwMode="auto">
          <a:xfrm flipH="1">
            <a:off x="3550279" y="3376463"/>
            <a:ext cx="3015193" cy="72148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a:t>
            </a:r>
            <a:r>
              <a:rPr lang="en-US" altLang="zh-CN" sz="1200" dirty="0">
                <a:latin typeface="微软雅黑" panose="020B0503020204020204" pitchFamily="34" charset="-122"/>
                <a:ea typeface="微软雅黑" panose="020B0503020204020204" pitchFamily="34" charset="-122"/>
                <a:cs typeface="+mn-ea"/>
                <a:sym typeface="+mn-lt"/>
              </a:rPr>
              <a:t>TPM</a:t>
            </a: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100" dirty="0">
                <a:latin typeface="微软雅黑" panose="020B0503020204020204" pitchFamily="34" charset="-122"/>
                <a:ea typeface="微软雅黑" panose="020B0503020204020204" pitchFamily="34" charset="-122"/>
                <a:cs typeface="+mn-ea"/>
                <a:sym typeface="+mn-lt"/>
              </a:rPr>
              <a:t>《BIOS</a:t>
            </a:r>
            <a:r>
              <a:rPr lang="zh-CN" altLang="en-US" sz="1100" dirty="0">
                <a:latin typeface="微软雅黑" panose="020B0503020204020204" pitchFamily="34" charset="-122"/>
                <a:ea typeface="微软雅黑" panose="020B0503020204020204" pitchFamily="34" charset="-122"/>
                <a:cs typeface="+mn-ea"/>
                <a:sym typeface="+mn-lt"/>
              </a:rPr>
              <a:t>、</a:t>
            </a:r>
            <a:r>
              <a:rPr lang="en-US" altLang="zh-CN" sz="1100" dirty="0">
                <a:latin typeface="微软雅黑" panose="020B0503020204020204" pitchFamily="34" charset="-122"/>
                <a:ea typeface="微软雅黑" panose="020B0503020204020204" pitchFamily="34" charset="-122"/>
                <a:cs typeface="+mn-ea"/>
                <a:sym typeface="+mn-lt"/>
              </a:rPr>
              <a:t>BMC </a:t>
            </a:r>
            <a:r>
              <a:rPr lang="zh-CN" altLang="en-US" sz="1100" dirty="0">
                <a:latin typeface="微软雅黑" panose="020B0503020204020204" pitchFamily="34" charset="-122"/>
                <a:ea typeface="微软雅黑" panose="020B0503020204020204" pitchFamily="34" charset="-122"/>
                <a:cs typeface="+mn-ea"/>
                <a:sym typeface="+mn-lt"/>
              </a:rPr>
              <a:t>单元测试计划</a:t>
            </a:r>
            <a:r>
              <a:rPr lang="en-US" altLang="zh-CN" sz="1100" dirty="0">
                <a:latin typeface="微软雅黑" panose="020B0503020204020204" pitchFamily="34" charset="-122"/>
                <a:ea typeface="微软雅黑" panose="020B0503020204020204" pitchFamily="34" charset="-122"/>
                <a:cs typeface="+mn-ea"/>
                <a:sym typeface="+mn-lt"/>
              </a:rPr>
              <a:t>》 </a:t>
            </a:r>
            <a:r>
              <a:rPr lang="zh-CN" altLang="en-US" sz="1100" dirty="0">
                <a:latin typeface="微软雅黑" panose="020B0503020204020204" pitchFamily="34" charset="-122"/>
                <a:ea typeface="微软雅黑" panose="020B0503020204020204" pitchFamily="34" charset="-122"/>
                <a:cs typeface="+mn-ea"/>
                <a:sym typeface="+mn-lt"/>
              </a:rPr>
              <a:t>、</a:t>
            </a:r>
            <a:r>
              <a:rPr lang="en-US" altLang="zh-CN" sz="1100" dirty="0">
                <a:latin typeface="微软雅黑" panose="020B0503020204020204" pitchFamily="34" charset="-122"/>
                <a:ea typeface="微软雅黑" panose="020B0503020204020204" pitchFamily="34" charset="-122"/>
                <a:cs typeface="+mn-ea"/>
                <a:sym typeface="+mn-lt"/>
              </a:rPr>
              <a:t>《</a:t>
            </a:r>
            <a:r>
              <a:rPr lang="zh-CN" altLang="en-US" sz="1100" dirty="0">
                <a:latin typeface="微软雅黑" panose="020B0503020204020204" pitchFamily="34" charset="-122"/>
                <a:ea typeface="微软雅黑" panose="020B0503020204020204" pitchFamily="34" charset="-122"/>
                <a:cs typeface="+mn-ea"/>
                <a:sym typeface="+mn-lt"/>
              </a:rPr>
              <a:t>硬件全功能测试计划（含机构）</a:t>
            </a:r>
            <a:r>
              <a:rPr lang="en-US" altLang="zh-CN" sz="1100" dirty="0">
                <a:latin typeface="微软雅黑" panose="020B0503020204020204" pitchFamily="34" charset="-122"/>
                <a:ea typeface="微软雅黑" panose="020B0503020204020204" pitchFamily="34" charset="-122"/>
                <a:cs typeface="+mn-ea"/>
                <a:sym typeface="+mn-lt"/>
              </a:rPr>
              <a:t>》</a:t>
            </a:r>
            <a:endParaRPr lang="en-US" altLang="zh-CN" sz="1100" dirty="0">
              <a:latin typeface="微软雅黑" panose="020B0503020204020204" pitchFamily="34" charset="-122"/>
              <a:ea typeface="微软雅黑" panose="020B0503020204020204" pitchFamily="34" charset="-122"/>
            </a:endParaRPr>
          </a:p>
        </p:txBody>
      </p:sp>
      <p:sp>
        <p:nvSpPr>
          <p:cNvPr id="68" name="Line 9">
            <a:extLst>
              <a:ext uri="{FF2B5EF4-FFF2-40B4-BE49-F238E27FC236}">
                <a16:creationId xmlns:a16="http://schemas.microsoft.com/office/drawing/2014/main" id="{E5C3C3DE-DA22-432A-A3C9-E09C01CF1921}"/>
              </a:ext>
            </a:extLst>
          </p:cNvPr>
          <p:cNvSpPr>
            <a:spLocks noChangeShapeType="1"/>
          </p:cNvSpPr>
          <p:nvPr/>
        </p:nvSpPr>
        <p:spPr bwMode="auto">
          <a:xfrm flipV="1">
            <a:off x="3314540" y="2087662"/>
            <a:ext cx="18244" cy="1943632"/>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sp>
        <p:nvSpPr>
          <p:cNvPr id="69" name="TextBox 11">
            <a:extLst>
              <a:ext uri="{FF2B5EF4-FFF2-40B4-BE49-F238E27FC236}">
                <a16:creationId xmlns:a16="http://schemas.microsoft.com/office/drawing/2014/main" id="{BB04D9D2-A56F-466F-B2C4-D843D0CD9F7B}"/>
              </a:ext>
            </a:extLst>
          </p:cNvPr>
          <p:cNvSpPr txBox="1">
            <a:spLocks noChangeArrowheads="1"/>
          </p:cNvSpPr>
          <p:nvPr/>
        </p:nvSpPr>
        <p:spPr bwMode="auto">
          <a:xfrm flipH="1">
            <a:off x="8565156" y="5632239"/>
            <a:ext cx="2173841" cy="73834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责任人：散热测试工程师</a:t>
            </a:r>
            <a:endParaRPr lang="en-US" altLang="zh-CN" sz="1200" dirty="0">
              <a:latin typeface="微软雅黑" panose="020B0503020204020204" pitchFamily="34" charset="-122"/>
              <a:ea typeface="微软雅黑" panose="020B0503020204020204" pitchFamily="34" charset="-122"/>
              <a:cs typeface="+mn-ea"/>
              <a:sym typeface="+mn-lt"/>
            </a:endParaRP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《EVT </a:t>
            </a:r>
            <a:r>
              <a:rPr lang="zh-CN" altLang="en-US" sz="1200" dirty="0">
                <a:latin typeface="微软雅黑" panose="020B0503020204020204" pitchFamily="34" charset="-122"/>
                <a:ea typeface="微软雅黑" panose="020B0503020204020204" pitchFamily="34" charset="-122"/>
                <a:cs typeface="+mn-ea"/>
                <a:sym typeface="+mn-lt"/>
              </a:rPr>
              <a:t>散热测试计划</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70" name="Line 9">
            <a:extLst>
              <a:ext uri="{FF2B5EF4-FFF2-40B4-BE49-F238E27FC236}">
                <a16:creationId xmlns:a16="http://schemas.microsoft.com/office/drawing/2014/main" id="{87DA91EA-2439-4349-8AAB-E27476852D98}"/>
              </a:ext>
            </a:extLst>
          </p:cNvPr>
          <p:cNvSpPr>
            <a:spLocks noChangeShapeType="1"/>
          </p:cNvSpPr>
          <p:nvPr/>
        </p:nvSpPr>
        <p:spPr bwMode="auto">
          <a:xfrm flipV="1">
            <a:off x="4920574" y="5220626"/>
            <a:ext cx="0" cy="1203122"/>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sp>
        <p:nvSpPr>
          <p:cNvPr id="71" name="TextBox 11">
            <a:extLst>
              <a:ext uri="{FF2B5EF4-FFF2-40B4-BE49-F238E27FC236}">
                <a16:creationId xmlns:a16="http://schemas.microsoft.com/office/drawing/2014/main" id="{8D837EB7-490C-4CAA-9D72-20196CCC006E}"/>
              </a:ext>
            </a:extLst>
          </p:cNvPr>
          <p:cNvSpPr txBox="1">
            <a:spLocks noChangeArrowheads="1"/>
          </p:cNvSpPr>
          <p:nvPr/>
        </p:nvSpPr>
        <p:spPr bwMode="auto">
          <a:xfrm flipH="1">
            <a:off x="5152679" y="5630120"/>
            <a:ext cx="2173841" cy="73834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a:t>
            </a:r>
            <a:r>
              <a:rPr lang="en-US" altLang="zh-CN" sz="1200" dirty="0">
                <a:latin typeface="微软雅黑" panose="020B0503020204020204" pitchFamily="34" charset="-122"/>
                <a:ea typeface="微软雅黑" panose="020B0503020204020204" pitchFamily="34" charset="-122"/>
                <a:cs typeface="+mn-ea"/>
                <a:sym typeface="+mn-lt"/>
              </a:rPr>
              <a:t>SI</a:t>
            </a:r>
            <a:r>
              <a:rPr lang="zh-CN" altLang="en-US" sz="1200" dirty="0">
                <a:latin typeface="微软雅黑" panose="020B0503020204020204" pitchFamily="34" charset="-122"/>
                <a:ea typeface="微软雅黑" panose="020B0503020204020204" pitchFamily="34" charset="-122"/>
                <a:cs typeface="+mn-ea"/>
                <a:sym typeface="+mn-lt"/>
              </a:rPr>
              <a:t>测试工程师</a:t>
            </a:r>
            <a:endParaRPr lang="en-US" altLang="zh-CN" sz="1200" dirty="0">
              <a:latin typeface="微软雅黑" panose="020B0503020204020204" pitchFamily="34" charset="-122"/>
              <a:ea typeface="微软雅黑" panose="020B0503020204020204" pitchFamily="34" charset="-122"/>
              <a:cs typeface="+mn-ea"/>
              <a:sym typeface="+mn-lt"/>
            </a:endParaRP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《EVT SI</a:t>
            </a:r>
            <a:r>
              <a:rPr lang="zh-CN" altLang="en-US" sz="1200" dirty="0">
                <a:latin typeface="微软雅黑" panose="020B0503020204020204" pitchFamily="34" charset="-122"/>
                <a:ea typeface="微软雅黑" panose="020B0503020204020204" pitchFamily="34" charset="-122"/>
                <a:cs typeface="+mn-ea"/>
                <a:sym typeface="+mn-lt"/>
              </a:rPr>
              <a:t>测试计划</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72" name="TextBox 11">
            <a:extLst>
              <a:ext uri="{FF2B5EF4-FFF2-40B4-BE49-F238E27FC236}">
                <a16:creationId xmlns:a16="http://schemas.microsoft.com/office/drawing/2014/main" id="{38EB1ED6-A1DC-4ECE-AD21-85E3968461B3}"/>
              </a:ext>
            </a:extLst>
          </p:cNvPr>
          <p:cNvSpPr txBox="1">
            <a:spLocks noChangeArrowheads="1"/>
          </p:cNvSpPr>
          <p:nvPr/>
        </p:nvSpPr>
        <p:spPr bwMode="auto">
          <a:xfrm flipH="1">
            <a:off x="1940874" y="5812394"/>
            <a:ext cx="2747579" cy="959943"/>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a:t>
            </a:r>
            <a:r>
              <a:rPr lang="en-US" altLang="zh-CN" sz="1200" dirty="0">
                <a:latin typeface="微软雅黑" panose="020B0503020204020204" pitchFamily="34" charset="-122"/>
                <a:ea typeface="微软雅黑" panose="020B0503020204020204" pitchFamily="34" charset="-122"/>
                <a:cs typeface="+mn-ea"/>
                <a:sym typeface="+mn-lt"/>
              </a:rPr>
              <a:t>BIOS</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dirty="0">
                <a:latin typeface="微软雅黑" panose="020B0503020204020204" pitchFamily="34" charset="-122"/>
                <a:ea typeface="微软雅黑" panose="020B0503020204020204" pitchFamily="34" charset="-122"/>
                <a:cs typeface="+mn-ea"/>
                <a:sym typeface="+mn-lt"/>
              </a:rPr>
              <a:t>BMC</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dirty="0">
                <a:latin typeface="微软雅黑" panose="020B0503020204020204" pitchFamily="34" charset="-122"/>
                <a:ea typeface="微软雅黑" panose="020B0503020204020204" pitchFamily="34" charset="-122"/>
                <a:cs typeface="+mn-ea"/>
                <a:sym typeface="+mn-lt"/>
              </a:rPr>
              <a:t>CMM</a:t>
            </a:r>
            <a:r>
              <a:rPr lang="zh-CN" altLang="en-US" sz="1200" dirty="0">
                <a:latin typeface="微软雅黑" panose="020B0503020204020204" pitchFamily="34" charset="-122"/>
                <a:ea typeface="微软雅黑" panose="020B0503020204020204" pitchFamily="34" charset="-122"/>
                <a:cs typeface="+mn-ea"/>
                <a:sym typeface="+mn-lt"/>
              </a:rPr>
              <a:t>工程师</a:t>
            </a:r>
            <a:endParaRPr lang="en-US" altLang="zh-CN" sz="1200" dirty="0">
              <a:latin typeface="微软雅黑" panose="020B0503020204020204" pitchFamily="34" charset="-122"/>
              <a:ea typeface="微软雅黑" panose="020B0503020204020204" pitchFamily="34" charset="-122"/>
              <a:cs typeface="+mn-ea"/>
              <a:sym typeface="+mn-lt"/>
            </a:endParaRP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 BIOS</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dirty="0">
                <a:latin typeface="微软雅黑" panose="020B0503020204020204" pitchFamily="34" charset="-122"/>
                <a:ea typeface="微软雅黑" panose="020B0503020204020204" pitchFamily="34" charset="-122"/>
                <a:cs typeface="+mn-ea"/>
                <a:sym typeface="+mn-lt"/>
              </a:rPr>
              <a:t>BMC</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dirty="0">
                <a:latin typeface="微软雅黑" panose="020B0503020204020204" pitchFamily="34" charset="-122"/>
                <a:ea typeface="微软雅黑" panose="020B0503020204020204" pitchFamily="34" charset="-122"/>
                <a:cs typeface="+mn-ea"/>
                <a:sym typeface="+mn-lt"/>
              </a:rPr>
              <a:t>CMM</a:t>
            </a:r>
            <a:r>
              <a:rPr lang="zh-CN" altLang="en-US" sz="1200" dirty="0">
                <a:latin typeface="微软雅黑" panose="020B0503020204020204" pitchFamily="34" charset="-122"/>
                <a:ea typeface="微软雅黑" panose="020B0503020204020204" pitchFamily="34" charset="-122"/>
                <a:cs typeface="+mn-ea"/>
                <a:sym typeface="+mn-lt"/>
              </a:rPr>
              <a:t> </a:t>
            </a:r>
            <a:r>
              <a:rPr lang="en-US" altLang="zh-CN" sz="1200" dirty="0">
                <a:latin typeface="微软雅黑" panose="020B0503020204020204" pitchFamily="34" charset="-122"/>
                <a:ea typeface="微软雅黑" panose="020B0503020204020204" pitchFamily="34" charset="-122"/>
                <a:cs typeface="+mn-ea"/>
                <a:sym typeface="+mn-lt"/>
              </a:rPr>
              <a:t>Power-On</a:t>
            </a:r>
            <a:r>
              <a:rPr lang="zh-CN" altLang="en-US" sz="1200" dirty="0">
                <a:latin typeface="微软雅黑" panose="020B0503020204020204" pitchFamily="34" charset="-122"/>
                <a:ea typeface="微软雅黑" panose="020B0503020204020204" pitchFamily="34" charset="-122"/>
                <a:cs typeface="+mn-ea"/>
                <a:sym typeface="+mn-lt"/>
              </a:rPr>
              <a:t>计划</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73" name="TextBox 11">
            <a:extLst>
              <a:ext uri="{FF2B5EF4-FFF2-40B4-BE49-F238E27FC236}">
                <a16:creationId xmlns:a16="http://schemas.microsoft.com/office/drawing/2014/main" id="{0253D575-811E-4CCC-A386-7568BCA11E3C}"/>
              </a:ext>
            </a:extLst>
          </p:cNvPr>
          <p:cNvSpPr txBox="1">
            <a:spLocks noChangeArrowheads="1"/>
          </p:cNvSpPr>
          <p:nvPr/>
        </p:nvSpPr>
        <p:spPr bwMode="auto">
          <a:xfrm flipH="1">
            <a:off x="403482" y="3308964"/>
            <a:ext cx="2415059" cy="73834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责任人：硬件、电源工程师</a:t>
            </a:r>
            <a:endParaRPr lang="en-US" altLang="zh-CN" sz="1200" dirty="0">
              <a:latin typeface="微软雅黑" panose="020B0503020204020204" pitchFamily="34" charset="-122"/>
              <a:ea typeface="微软雅黑" panose="020B0503020204020204" pitchFamily="34" charset="-122"/>
              <a:cs typeface="+mn-ea"/>
              <a:sym typeface="+mn-lt"/>
            </a:endParaRPr>
          </a:p>
          <a:p>
            <a:pPr marL="171450" lvl="0" indent="-171450" eaLnBrk="1" hangingPunct="1">
              <a:lnSpc>
                <a:spcPct val="120000"/>
              </a:lnSpc>
              <a:buFont typeface="Wingdings" panose="05000000000000000000" pitchFamily="2" charset="2"/>
              <a:buChar char="Ø"/>
              <a:defRPr/>
            </a:pPr>
            <a:r>
              <a:rPr lang="zh-CN" altLang="en-US" sz="1200" dirty="0">
                <a:latin typeface="微软雅黑" panose="020B0503020204020204" pitchFamily="34" charset="-122"/>
                <a:ea typeface="微软雅黑" panose="020B0503020204020204" pitchFamily="34" charset="-122"/>
                <a:cs typeface="+mn-ea"/>
                <a:sym typeface="+mn-lt"/>
              </a:rPr>
              <a:t>交付物：</a:t>
            </a:r>
            <a:r>
              <a:rPr lang="en-US" altLang="zh-CN" sz="1200" dirty="0">
                <a:latin typeface="微软雅黑" panose="020B0503020204020204" pitchFamily="34" charset="-122"/>
                <a:ea typeface="微软雅黑" panose="020B0503020204020204" pitchFamily="34" charset="-122"/>
                <a:cs typeface="+mn-ea"/>
                <a:sym typeface="+mn-lt"/>
              </a:rPr>
              <a:t>《Power-On</a:t>
            </a:r>
            <a:r>
              <a:rPr lang="zh-CN" altLang="en-US" sz="1200" dirty="0">
                <a:latin typeface="微软雅黑" panose="020B0503020204020204" pitchFamily="34" charset="-122"/>
                <a:ea typeface="微软雅黑" panose="020B0503020204020204" pitchFamily="34" charset="-122"/>
                <a:cs typeface="+mn-ea"/>
                <a:sym typeface="+mn-lt"/>
              </a:rPr>
              <a:t>计划（含电源）</a:t>
            </a:r>
            <a:r>
              <a:rPr lang="en-US" altLang="zh-CN"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endParaRPr>
          </a:p>
        </p:txBody>
      </p:sp>
      <p:sp>
        <p:nvSpPr>
          <p:cNvPr id="74" name="TextBox 11">
            <a:extLst>
              <a:ext uri="{FF2B5EF4-FFF2-40B4-BE49-F238E27FC236}">
                <a16:creationId xmlns:a16="http://schemas.microsoft.com/office/drawing/2014/main" id="{E268A2F3-1038-46CE-9092-229876BF4216}"/>
              </a:ext>
            </a:extLst>
          </p:cNvPr>
          <p:cNvSpPr txBox="1">
            <a:spLocks noChangeArrowheads="1"/>
          </p:cNvSpPr>
          <p:nvPr/>
        </p:nvSpPr>
        <p:spPr bwMode="auto">
          <a:xfrm flipH="1">
            <a:off x="197269" y="2881273"/>
            <a:ext cx="2899086" cy="338554"/>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80990" indent="-380990" eaLnBrk="1" hangingPunct="1">
              <a:buClr>
                <a:schemeClr val="accent1"/>
              </a:buClr>
              <a:buFont typeface="Wingdings" panose="05000000000000000000" pitchFamily="2" charset="2"/>
              <a:buChar char="n"/>
              <a:defRPr/>
            </a:pPr>
            <a:r>
              <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Power-On</a:t>
            </a:r>
            <a:r>
              <a:rPr lang="zh-CN" altLang="en-US"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计划（含电源）</a:t>
            </a:r>
            <a:endParaRPr lang="en-US" altLang="zh-CN" sz="16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5" name="Line 9">
            <a:extLst>
              <a:ext uri="{FF2B5EF4-FFF2-40B4-BE49-F238E27FC236}">
                <a16:creationId xmlns:a16="http://schemas.microsoft.com/office/drawing/2014/main" id="{0F844F13-F7EB-48B9-8554-D8CCAC9068DB}"/>
              </a:ext>
            </a:extLst>
          </p:cNvPr>
          <p:cNvSpPr>
            <a:spLocks noChangeShapeType="1"/>
          </p:cNvSpPr>
          <p:nvPr/>
        </p:nvSpPr>
        <p:spPr bwMode="auto">
          <a:xfrm flipV="1">
            <a:off x="185300" y="2935952"/>
            <a:ext cx="0" cy="1102238"/>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843CE8FE-D672-43AF-A387-78409275CEF7}"/>
              </a:ext>
            </a:extLst>
          </p:cNvPr>
          <p:cNvSpPr txBox="1"/>
          <p:nvPr/>
        </p:nvSpPr>
        <p:spPr>
          <a:xfrm>
            <a:off x="196628" y="1076096"/>
            <a:ext cx="7148932" cy="830997"/>
          </a:xfrm>
          <a:prstGeom prst="rect">
            <a:avLst/>
          </a:prstGeom>
          <a:noFill/>
        </p:spPr>
        <p:txBody>
          <a:bodyPr wrap="square">
            <a:spAutoFit/>
          </a:bodyPr>
          <a:lstStyle/>
          <a:p>
            <a:pPr marL="285750" indent="-285750">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Power-On </a:t>
            </a:r>
            <a:r>
              <a:rPr lang="zh-CN" altLang="en-US" sz="1600" b="1" dirty="0">
                <a:latin typeface="微软雅黑" panose="020B0503020204020204" pitchFamily="34" charset="-122"/>
                <a:ea typeface="微软雅黑" panose="020B0503020204020204" pitchFamily="34" charset="-122"/>
              </a:rPr>
              <a:t>计划、</a:t>
            </a:r>
            <a:r>
              <a:rPr lang="en-US" altLang="zh-CN" sz="1600" b="1" dirty="0">
                <a:latin typeface="微软雅黑" panose="020B0503020204020204" pitchFamily="34" charset="-122"/>
                <a:ea typeface="微软雅黑" panose="020B0503020204020204" pitchFamily="34" charset="-122"/>
              </a:rPr>
              <a:t>EVT </a:t>
            </a:r>
            <a:r>
              <a:rPr lang="zh-CN" altLang="en-US" sz="1600" b="1" dirty="0">
                <a:latin typeface="微软雅黑" panose="020B0503020204020204" pitchFamily="34" charset="-122"/>
                <a:ea typeface="微软雅黑" panose="020B0503020204020204" pitchFamily="34" charset="-122"/>
              </a:rPr>
              <a:t>测试计划：</a:t>
            </a:r>
            <a:endParaRPr lang="en-US" altLang="zh-CN" sz="1600" b="1" dirty="0">
              <a:latin typeface="微软雅黑" panose="020B0503020204020204" pitchFamily="34" charset="-122"/>
              <a:ea typeface="微软雅黑" panose="020B0503020204020204" pitchFamily="34" charset="-122"/>
            </a:endParaRPr>
          </a:p>
          <a:p>
            <a:r>
              <a:rPr lang="en-US" altLang="zh-CN" sz="1600" b="1"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A01</a:t>
            </a:r>
            <a:r>
              <a:rPr lang="zh-CN" altLang="en-US" sz="1600" dirty="0">
                <a:latin typeface="微软雅黑" panose="020B0503020204020204" pitchFamily="34" charset="-122"/>
                <a:ea typeface="微软雅黑" panose="020B0503020204020204" pitchFamily="34" charset="-122"/>
              </a:rPr>
              <a:t>板卡出图、结构出图后根据</a:t>
            </a:r>
            <a:r>
              <a:rPr lang="en-US" altLang="zh-CN" sz="1600" dirty="0">
                <a:latin typeface="微软雅黑" panose="020B0503020204020204" pitchFamily="34" charset="-122"/>
                <a:ea typeface="微软雅黑" panose="020B0503020204020204" pitchFamily="34" charset="-122"/>
              </a:rPr>
              <a:t>Power-On </a:t>
            </a:r>
            <a:r>
              <a:rPr lang="zh-CN" altLang="en-US" sz="1600" dirty="0">
                <a:latin typeface="微软雅黑" panose="020B0503020204020204" pitchFamily="34" charset="-122"/>
                <a:ea typeface="微软雅黑" panose="020B0503020204020204" pitchFamily="34" charset="-122"/>
              </a:rPr>
              <a:t>以及</a:t>
            </a:r>
            <a:r>
              <a:rPr lang="en-US" altLang="zh-CN" sz="1600" dirty="0">
                <a:latin typeface="微软雅黑" panose="020B0503020204020204" pitchFamily="34" charset="-122"/>
                <a:ea typeface="微软雅黑" panose="020B0503020204020204" pitchFamily="34" charset="-122"/>
              </a:rPr>
              <a:t>EVT</a:t>
            </a:r>
            <a:r>
              <a:rPr lang="zh-CN" altLang="en-US" sz="1600" dirty="0">
                <a:latin typeface="微软雅黑" panose="020B0503020204020204" pitchFamily="34" charset="-122"/>
                <a:ea typeface="微软雅黑" panose="020B0503020204020204" pitchFamily="34" charset="-122"/>
              </a:rPr>
              <a:t>可启测时间，制定</a:t>
            </a:r>
            <a:r>
              <a:rPr lang="en-US" altLang="zh-CN" sz="1600" dirty="0">
                <a:latin typeface="微软雅黑" panose="020B0503020204020204" pitchFamily="34" charset="-122"/>
                <a:ea typeface="微软雅黑" panose="020B0503020204020204" pitchFamily="34" charset="-122"/>
              </a:rPr>
              <a:t>Power-On</a:t>
            </a:r>
            <a:r>
              <a:rPr lang="zh-CN" altLang="en-US" sz="1600" dirty="0">
                <a:latin typeface="微软雅黑" panose="020B0503020204020204" pitchFamily="34" charset="-122"/>
                <a:ea typeface="微软雅黑" panose="020B0503020204020204" pitchFamily="34" charset="-122"/>
              </a:rPr>
              <a:t>以及</a:t>
            </a:r>
            <a:r>
              <a:rPr lang="en-US" altLang="zh-CN" sz="1600" dirty="0">
                <a:latin typeface="微软雅黑" panose="020B0503020204020204" pitchFamily="34" charset="-122"/>
                <a:ea typeface="微软雅黑" panose="020B0503020204020204" pitchFamily="34" charset="-122"/>
              </a:rPr>
              <a:t>EVT</a:t>
            </a:r>
            <a:r>
              <a:rPr lang="zh-CN" altLang="en-US" sz="1600" dirty="0">
                <a:latin typeface="微软雅黑" panose="020B0503020204020204" pitchFamily="34" charset="-122"/>
                <a:ea typeface="微软雅黑" panose="020B0503020204020204" pitchFamily="34" charset="-122"/>
              </a:rPr>
              <a:t>测试计划。</a:t>
            </a:r>
            <a:endParaRPr lang="en-US" altLang="zh-CN" sz="1600" dirty="0">
              <a:latin typeface="微软雅黑" panose="020B0503020204020204" pitchFamily="34" charset="-122"/>
              <a:ea typeface="微软雅黑" panose="020B0503020204020204" pitchFamily="34" charset="-122"/>
            </a:endParaRPr>
          </a:p>
        </p:txBody>
      </p:sp>
      <p:sp>
        <p:nvSpPr>
          <p:cNvPr id="77" name="Line 9">
            <a:extLst>
              <a:ext uri="{FF2B5EF4-FFF2-40B4-BE49-F238E27FC236}">
                <a16:creationId xmlns:a16="http://schemas.microsoft.com/office/drawing/2014/main" id="{7BBBCC74-496A-4D20-8F11-9972A0AAD112}"/>
              </a:ext>
            </a:extLst>
          </p:cNvPr>
          <p:cNvSpPr>
            <a:spLocks noChangeShapeType="1"/>
          </p:cNvSpPr>
          <p:nvPr/>
        </p:nvSpPr>
        <p:spPr bwMode="auto">
          <a:xfrm flipH="1" flipV="1">
            <a:off x="1646811" y="5210833"/>
            <a:ext cx="7289" cy="1561504"/>
          </a:xfrm>
          <a:prstGeom prst="line">
            <a:avLst/>
          </a:prstGeom>
          <a:noFill/>
          <a:ln w="12700" cmpd="sng">
            <a:solidFill>
              <a:schemeClr val="bg1">
                <a:lumMod val="50000"/>
              </a:schemeClr>
            </a:solidFill>
            <a:round/>
            <a:headEnd type="diamond" w="med" len="med"/>
            <a:tailEnd type="diamond"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2400" kern="0">
              <a:solidFill>
                <a:srgbClr val="080808"/>
              </a:solidFill>
              <a:latin typeface="微软雅黑" panose="020B0503020204020204" pitchFamily="34" charset="-122"/>
              <a:ea typeface="微软雅黑" panose="020B0503020204020204" pitchFamily="34" charset="-122"/>
            </a:endParaRPr>
          </a:p>
        </p:txBody>
      </p:sp>
      <p:grpSp>
        <p:nvGrpSpPr>
          <p:cNvPr id="78" name="组合 77">
            <a:extLst>
              <a:ext uri="{FF2B5EF4-FFF2-40B4-BE49-F238E27FC236}">
                <a16:creationId xmlns:a16="http://schemas.microsoft.com/office/drawing/2014/main" id="{4E0EAA40-2517-4441-8930-6FA77E2A0879}"/>
              </a:ext>
            </a:extLst>
          </p:cNvPr>
          <p:cNvGrpSpPr/>
          <p:nvPr/>
        </p:nvGrpSpPr>
        <p:grpSpPr>
          <a:xfrm>
            <a:off x="7660922" y="1098337"/>
            <a:ext cx="883666" cy="1275562"/>
            <a:chOff x="6470234" y="2403489"/>
            <a:chExt cx="883666" cy="1275562"/>
          </a:xfrm>
          <a:solidFill>
            <a:schemeClr val="bg1">
              <a:lumMod val="65000"/>
            </a:schemeClr>
          </a:solidFill>
        </p:grpSpPr>
        <p:sp>
          <p:nvSpPr>
            <p:cNvPr id="79" name="泪滴形 78">
              <a:extLst>
                <a:ext uri="{FF2B5EF4-FFF2-40B4-BE49-F238E27FC236}">
                  <a16:creationId xmlns:a16="http://schemas.microsoft.com/office/drawing/2014/main" id="{65780CED-1675-4254-9C3F-ED207D8A3826}"/>
                </a:ext>
              </a:extLst>
            </p:cNvPr>
            <p:cNvSpPr/>
            <p:nvPr/>
          </p:nvSpPr>
          <p:spPr>
            <a:xfrm rot="8100000">
              <a:off x="6470234" y="2403489"/>
              <a:ext cx="883666" cy="883666"/>
            </a:xfrm>
            <a:prstGeom prst="teardrop">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F7F5D92E-F6DF-48F1-8D03-F5CBBCEF292D}"/>
                </a:ext>
              </a:extLst>
            </p:cNvPr>
            <p:cNvSpPr/>
            <p:nvPr/>
          </p:nvSpPr>
          <p:spPr>
            <a:xfrm>
              <a:off x="6826469" y="3507854"/>
              <a:ext cx="171197" cy="17119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 name="Picture 4" descr="E:\PPT\PPT_图标\220.png">
              <a:extLst>
                <a:ext uri="{FF2B5EF4-FFF2-40B4-BE49-F238E27FC236}">
                  <a16:creationId xmlns:a16="http://schemas.microsoft.com/office/drawing/2014/main" id="{8C22FE55-DB29-4119-909C-D431AD968C54}"/>
                </a:ext>
              </a:extLst>
            </p:cNvPr>
            <p:cNvPicPr>
              <a:picLocks noChangeAspect="1" noChangeArrowheads="1"/>
            </p:cNvPicPr>
            <p:nvPr/>
          </p:nvPicPr>
          <p:blipFill>
            <a:blip r:embed="rId3" cstate="print">
              <a:biLevel thresh="50000"/>
              <a:extLst>
                <a:ext uri="{28A0092B-C50C-407E-A947-70E740481C1C}">
                  <a14:useLocalDpi xmlns:a14="http://schemas.microsoft.com/office/drawing/2010/main" val="0"/>
                </a:ext>
              </a:extLst>
            </a:blip>
            <a:srcRect/>
            <a:stretch>
              <a:fillRect/>
            </a:stretch>
          </p:blipFill>
          <p:spPr bwMode="auto">
            <a:xfrm>
              <a:off x="6685111" y="2613742"/>
              <a:ext cx="494002" cy="492079"/>
            </a:xfrm>
            <a:prstGeom prst="rect">
              <a:avLst/>
            </a:prstGeom>
            <a:grpFill/>
          </p:spPr>
        </p:pic>
      </p:grpSp>
      <p:sp>
        <p:nvSpPr>
          <p:cNvPr id="82" name="文本框 81">
            <a:extLst>
              <a:ext uri="{FF2B5EF4-FFF2-40B4-BE49-F238E27FC236}">
                <a16:creationId xmlns:a16="http://schemas.microsoft.com/office/drawing/2014/main" id="{A9FE89FA-5603-4E89-9D94-4707CDEBE974}"/>
              </a:ext>
            </a:extLst>
          </p:cNvPr>
          <p:cNvSpPr txBox="1"/>
          <p:nvPr/>
        </p:nvSpPr>
        <p:spPr>
          <a:xfrm>
            <a:off x="8595515" y="1184220"/>
            <a:ext cx="3087317" cy="1323439"/>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备注：</a:t>
            </a:r>
            <a:endParaRPr lang="en-US" altLang="zh-CN" sz="1600" b="1"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1.Power-On</a:t>
            </a:r>
            <a:r>
              <a:rPr lang="zh-CN" altLang="en-US" sz="1600" dirty="0">
                <a:latin typeface="微软雅黑" panose="020B0503020204020204" pitchFamily="34" charset="-122"/>
                <a:ea typeface="微软雅黑" panose="020B0503020204020204" pitchFamily="34" charset="-122"/>
              </a:rPr>
              <a:t>内容参考</a:t>
            </a:r>
            <a:r>
              <a:rPr lang="en-US" altLang="zh-CN" sz="1600" dirty="0">
                <a:latin typeface="微软雅黑" panose="020B0503020204020204" pitchFamily="34" charset="-122"/>
                <a:ea typeface="微软雅黑" panose="020B0503020204020204" pitchFamily="34" charset="-122"/>
              </a:rPr>
              <a:t>L7</a:t>
            </a:r>
            <a:r>
              <a:rPr lang="zh-CN" altLang="en-US" sz="1600" dirty="0">
                <a:latin typeface="微软雅黑" panose="020B0503020204020204" pitchFamily="34" charset="-122"/>
                <a:ea typeface="微软雅黑" panose="020B0503020204020204" pitchFamily="34" charset="-122"/>
              </a:rPr>
              <a:t>阶段介绍</a:t>
            </a:r>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2.EVT</a:t>
            </a:r>
            <a:r>
              <a:rPr lang="zh-CN" altLang="en-US" sz="1600" dirty="0">
                <a:latin typeface="微软雅黑" panose="020B0503020204020204" pitchFamily="34" charset="-122"/>
                <a:ea typeface="微软雅黑" panose="020B0503020204020204" pitchFamily="34" charset="-122"/>
              </a:rPr>
              <a:t>测试内容参考基础技能</a:t>
            </a:r>
            <a:r>
              <a:rPr lang="en-US" altLang="zh-CN" sz="1600" dirty="0">
                <a:latin typeface="微软雅黑" panose="020B0503020204020204" pitchFamily="34" charset="-122"/>
                <a:ea typeface="微软雅黑" panose="020B0503020204020204" pitchFamily="34" charset="-122"/>
              </a:rPr>
              <a:t>《EVT</a:t>
            </a:r>
            <a:r>
              <a:rPr lang="zh-CN" altLang="en-US" sz="1600" dirty="0">
                <a:latin typeface="微软雅黑" panose="020B0503020204020204" pitchFamily="34" charset="-122"/>
                <a:ea typeface="微软雅黑" panose="020B0503020204020204" pitchFamily="34" charset="-122"/>
              </a:rPr>
              <a:t>流程</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1329185"/>
      </p:ext>
    </p:extLst>
  </p:cSld>
  <p:clrMapOvr>
    <a:masterClrMapping/>
  </p:clrMapOvr>
  <mc:AlternateContent xmlns:mc="http://schemas.openxmlformats.org/markup-compatibility/2006" xmlns:p14="http://schemas.microsoft.com/office/powerpoint/2010/main">
    <mc:Choice Requires="p14">
      <p:transition p14:dur="0" advTm="8000"/>
    </mc:Choice>
    <mc:Fallback xmlns="">
      <p:transition advTm="800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L6</a:t>
            </a:r>
            <a:r>
              <a:rPr lang="zh-CN" altLang="en-US" dirty="0">
                <a:latin typeface="+mn-lt"/>
                <a:ea typeface="+mn-ea"/>
                <a:cs typeface="+mn-ea"/>
                <a:sym typeface="+mn-lt"/>
              </a:rPr>
              <a:t>详细设计</a:t>
            </a:r>
            <a:r>
              <a:rPr lang="en-US" altLang="zh-CN" dirty="0">
                <a:latin typeface="+mn-lt"/>
                <a:ea typeface="+mn-ea"/>
                <a:cs typeface="+mn-ea"/>
                <a:sym typeface="+mn-lt"/>
              </a:rPr>
              <a:t>——</a:t>
            </a:r>
            <a:r>
              <a:rPr lang="zh-CN" altLang="en-US" dirty="0">
                <a:latin typeface="+mn-lt"/>
                <a:ea typeface="+mn-ea"/>
                <a:cs typeface="+mn-ea"/>
                <a:sym typeface="+mn-lt"/>
              </a:rPr>
              <a:t>主要</a:t>
            </a:r>
            <a:r>
              <a:rPr lang="zh-CN" altLang="en-US" dirty="0" smtClean="0">
                <a:latin typeface="+mn-lt"/>
                <a:ea typeface="+mn-ea"/>
                <a:cs typeface="+mn-ea"/>
                <a:sym typeface="+mn-lt"/>
              </a:rPr>
              <a:t>工作</a:t>
            </a:r>
            <a:r>
              <a:rPr lang="zh-CN" altLang="en-US" dirty="0">
                <a:solidFill>
                  <a:srgbClr val="FF0000"/>
                </a:solidFill>
                <a:cs typeface="+mn-ea"/>
                <a:sym typeface="+mn-lt"/>
              </a:rPr>
              <a:t>（补充其他岗位）</a:t>
            </a:r>
          </a:p>
          <a:p>
            <a:endParaRPr lang="zh-CN" altLang="en-US" dirty="0">
              <a:latin typeface="+mn-lt"/>
              <a:ea typeface="+mn-ea"/>
              <a:cs typeface="+mn-ea"/>
              <a:sym typeface="+mn-lt"/>
            </a:endParaRPr>
          </a:p>
        </p:txBody>
      </p:sp>
      <p:graphicFrame>
        <p:nvGraphicFramePr>
          <p:cNvPr id="94" name="表格 93"/>
          <p:cNvGraphicFramePr>
            <a:graphicFrameLocks noGrp="1"/>
          </p:cNvGraphicFramePr>
          <p:nvPr/>
        </p:nvGraphicFramePr>
        <p:xfrm>
          <a:off x="258230" y="836712"/>
          <a:ext cx="11694421" cy="5954241"/>
        </p:xfrm>
        <a:graphic>
          <a:graphicData uri="http://schemas.openxmlformats.org/drawingml/2006/table">
            <a:tbl>
              <a:tblPr firstRow="1" bandRow="1">
                <a:tableStyleId>{00A15C55-8517-42AA-B614-E9B94910E393}</a:tableStyleId>
              </a:tblPr>
              <a:tblGrid>
                <a:gridCol w="1263015">
                  <a:extLst>
                    <a:ext uri="{9D8B030D-6E8A-4147-A177-3AD203B41FA5}">
                      <a16:colId xmlns:a16="http://schemas.microsoft.com/office/drawing/2014/main" val="1503978168"/>
                    </a:ext>
                  </a:extLst>
                </a:gridCol>
                <a:gridCol w="2499192">
                  <a:extLst>
                    <a:ext uri="{9D8B030D-6E8A-4147-A177-3AD203B41FA5}">
                      <a16:colId xmlns:a16="http://schemas.microsoft.com/office/drawing/2014/main" val="773509366"/>
                    </a:ext>
                  </a:extLst>
                </a:gridCol>
                <a:gridCol w="5193244">
                  <a:extLst>
                    <a:ext uri="{9D8B030D-6E8A-4147-A177-3AD203B41FA5}">
                      <a16:colId xmlns:a16="http://schemas.microsoft.com/office/drawing/2014/main" val="1193865247"/>
                    </a:ext>
                  </a:extLst>
                </a:gridCol>
                <a:gridCol w="2738970">
                  <a:extLst>
                    <a:ext uri="{9D8B030D-6E8A-4147-A177-3AD203B41FA5}">
                      <a16:colId xmlns:a16="http://schemas.microsoft.com/office/drawing/2014/main" val="869367937"/>
                    </a:ext>
                  </a:extLst>
                </a:gridCol>
              </a:tblGrid>
              <a:tr h="392649">
                <a:tc>
                  <a:txBody>
                    <a:bodyPr/>
                    <a:lstStyle/>
                    <a:p>
                      <a:pPr algn="ctr"/>
                      <a:r>
                        <a:rPr lang="zh-CN" altLang="en-US" sz="1900" dirty="0">
                          <a:sym typeface="+mn-lt"/>
                        </a:rPr>
                        <a:t>岗位名称</a:t>
                      </a:r>
                      <a:endParaRPr lang="zh-CN" altLang="en-US" sz="1900" dirty="0">
                        <a:latin typeface="+mn-lt"/>
                        <a:ea typeface="+mn-ea"/>
                        <a:cs typeface="+mn-ea"/>
                        <a:sym typeface="+mn-lt"/>
                      </a:endParaRPr>
                    </a:p>
                  </a:txBody>
                  <a:tcPr marL="121920" marR="121920" marT="60960" marB="60960"/>
                </a:tc>
                <a:tc gridSpan="2">
                  <a:txBody>
                    <a:bodyPr/>
                    <a:lstStyle/>
                    <a:p>
                      <a:pPr algn="ctr"/>
                      <a:r>
                        <a:rPr lang="zh-CN" altLang="en-US" sz="1900" dirty="0">
                          <a:sym typeface="+mn-lt"/>
                        </a:rPr>
                        <a:t>工作内容</a:t>
                      </a:r>
                      <a:r>
                        <a:rPr lang="en-US" altLang="zh-CN" sz="1900" dirty="0">
                          <a:sym typeface="+mn-lt"/>
                        </a:rPr>
                        <a:t>&amp;</a:t>
                      </a:r>
                      <a:r>
                        <a:rPr lang="zh-CN" altLang="en-US" sz="1900" dirty="0">
                          <a:sym typeface="+mn-lt"/>
                        </a:rPr>
                        <a:t>参与人</a:t>
                      </a:r>
                      <a:endParaRPr lang="zh-CN" altLang="en-US" sz="1900" dirty="0">
                        <a:latin typeface="+mn-lt"/>
                        <a:ea typeface="+mn-ea"/>
                        <a:cs typeface="+mn-ea"/>
                        <a:sym typeface="+mn-lt"/>
                      </a:endParaRPr>
                    </a:p>
                  </a:txBody>
                  <a:tcPr marL="121920" marR="121920" marT="60960" marB="60960"/>
                </a:tc>
                <a:tc hMerge="1">
                  <a:txBody>
                    <a:bodyPr/>
                    <a:lstStyle/>
                    <a:p>
                      <a:pPr algn="ctr"/>
                      <a:endParaRPr lang="zh-CN" altLang="en-US" sz="1900" dirty="0">
                        <a:latin typeface="+mn-lt"/>
                        <a:ea typeface="+mn-ea"/>
                        <a:cs typeface="+mn-ea"/>
                        <a:sym typeface="+mn-lt"/>
                      </a:endParaRPr>
                    </a:p>
                  </a:txBody>
                  <a:tcPr marL="121920" marR="121920" marT="60960" marB="60960">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900" dirty="0">
                          <a:sym typeface="+mn-lt"/>
                        </a:rPr>
                        <a:t>输出物</a:t>
                      </a:r>
                      <a:endParaRPr lang="zh-CN" altLang="en-US" sz="1900" dirty="0">
                        <a:latin typeface="+mn-lt"/>
                        <a:ea typeface="+mn-ea"/>
                        <a:cs typeface="+mn-ea"/>
                        <a:sym typeface="+mn-lt"/>
                      </a:endParaRPr>
                    </a:p>
                  </a:txBody>
                  <a:tcPr marL="121920" marR="121920" marT="60960" marB="60960"/>
                </a:tc>
                <a:extLst>
                  <a:ext uri="{0D108BD9-81ED-4DB2-BD59-A6C34878D82A}">
                    <a16:rowId xmlns:a16="http://schemas.microsoft.com/office/drawing/2014/main" val="3162067804"/>
                  </a:ext>
                </a:extLst>
              </a:tr>
              <a:tr h="3105627">
                <a:tc rowSpan="4">
                  <a:txBody>
                    <a:bodyPr/>
                    <a:lstStyle/>
                    <a:p>
                      <a:pPr algn="ctr"/>
                      <a:r>
                        <a:rPr lang="zh-CN" altLang="en-US" sz="1400" dirty="0">
                          <a:sym typeface="+mn-lt"/>
                        </a:rPr>
                        <a:t>项目经理</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ym typeface="+mn-lt"/>
                        </a:rPr>
                        <a:t>项目进展及状态跟踪</a:t>
                      </a:r>
                      <a:endParaRPr lang="zh-CN" altLang="en-US" sz="1400" dirty="0">
                        <a:latin typeface="+mn-lt"/>
                        <a:ea typeface="+mn-ea"/>
                        <a:cs typeface="+mn-ea"/>
                        <a:sym typeface="+mn-lt"/>
                      </a:endParaRPr>
                    </a:p>
                  </a:txBody>
                  <a:tcPr marL="121920" marR="121920" marT="60960" marB="60960" anchor="ctr"/>
                </a:tc>
                <a:tc>
                  <a:txBody>
                    <a:bodyPr/>
                    <a:lstStyle/>
                    <a:p>
                      <a:pPr marL="285750" indent="-285750">
                        <a:buFont typeface="Arial" panose="020B0604020202020204" pitchFamily="34" charset="0"/>
                        <a:buChar char="•"/>
                      </a:pPr>
                      <a:r>
                        <a:rPr lang="zh-CN" altLang="en-US" sz="1400" dirty="0">
                          <a:solidFill>
                            <a:schemeClr val="tx1"/>
                          </a:solidFill>
                          <a:sym typeface="+mn-lt"/>
                        </a:rPr>
                        <a:t>项目进度监控：</a:t>
                      </a:r>
                      <a:endParaRPr lang="en-US" altLang="zh-CN" sz="1400" dirty="0">
                        <a:solidFill>
                          <a:schemeClr val="tx1"/>
                        </a:solidFill>
                        <a:sym typeface="+mn-lt"/>
                      </a:endParaRPr>
                    </a:p>
                    <a:p>
                      <a:pPr marL="0" indent="0">
                        <a:buFont typeface="Arial" panose="020B0604020202020204" pitchFamily="34" charset="0"/>
                        <a:buNone/>
                      </a:pPr>
                      <a:r>
                        <a:rPr lang="en-US" altLang="zh-CN" sz="1400" dirty="0">
                          <a:solidFill>
                            <a:schemeClr val="tx1"/>
                          </a:solidFill>
                          <a:sym typeface="+mn-lt"/>
                        </a:rPr>
                        <a:t>       √</a:t>
                      </a:r>
                      <a:r>
                        <a:rPr lang="zh-CN" altLang="en-US" sz="1400" dirty="0">
                          <a:solidFill>
                            <a:schemeClr val="tx1"/>
                          </a:solidFill>
                          <a:sym typeface="+mn-lt"/>
                        </a:rPr>
                        <a:t>各技术组详细设计状态跟踪</a:t>
                      </a:r>
                      <a:endParaRPr lang="en-US" altLang="zh-CN" sz="1400" dirty="0">
                        <a:solidFill>
                          <a:schemeClr val="tx1"/>
                        </a:solidFill>
                        <a:sym typeface="+mn-lt"/>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400" dirty="0">
                          <a:solidFill>
                            <a:schemeClr val="tx1"/>
                          </a:solidFill>
                          <a:sym typeface="+mn-lt"/>
                        </a:rPr>
                        <a:t>       √EVT</a:t>
                      </a:r>
                      <a:r>
                        <a:rPr lang="zh-CN" altLang="en-US" sz="1400" dirty="0">
                          <a:solidFill>
                            <a:schemeClr val="tx1"/>
                          </a:solidFill>
                          <a:sym typeface="+mn-lt"/>
                        </a:rPr>
                        <a:t>测试物料领用</a:t>
                      </a:r>
                      <a:r>
                        <a:rPr lang="en-US" altLang="zh-CN" sz="1400" dirty="0">
                          <a:solidFill>
                            <a:schemeClr val="tx1"/>
                          </a:solidFill>
                          <a:sym typeface="+mn-lt"/>
                        </a:rPr>
                        <a:t>&amp;</a:t>
                      </a:r>
                      <a:r>
                        <a:rPr lang="zh-CN" altLang="en-US" sz="1400" dirty="0">
                          <a:solidFill>
                            <a:schemeClr val="tx1"/>
                          </a:solidFill>
                          <a:sym typeface="+mn-lt"/>
                        </a:rPr>
                        <a:t>测试物料采购，物料交期跟踪</a:t>
                      </a:r>
                      <a:endParaRPr lang="en-US" altLang="zh-CN" sz="1400" dirty="0">
                        <a:solidFill>
                          <a:schemeClr val="tx1"/>
                        </a:solidFill>
                        <a:sym typeface="+mn-lt"/>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400" dirty="0">
                          <a:solidFill>
                            <a:schemeClr val="tx1"/>
                          </a:solidFill>
                          <a:sym typeface="+mn-lt"/>
                        </a:rPr>
                        <a:t>          </a:t>
                      </a:r>
                      <a:r>
                        <a:rPr lang="zh-CN" altLang="en-US" sz="1400" dirty="0">
                          <a:solidFill>
                            <a:schemeClr val="tx1"/>
                          </a:solidFill>
                          <a:sym typeface="+mn-lt"/>
                        </a:rPr>
                        <a:t>主板</a:t>
                      </a:r>
                      <a:r>
                        <a:rPr lang="en-US" altLang="zh-CN" sz="1400" dirty="0">
                          <a:solidFill>
                            <a:schemeClr val="tx1"/>
                          </a:solidFill>
                          <a:sym typeface="+mn-lt"/>
                        </a:rPr>
                        <a:t>SMT</a:t>
                      </a:r>
                      <a:r>
                        <a:rPr lang="zh-CN" altLang="en-US" sz="1400" dirty="0">
                          <a:solidFill>
                            <a:schemeClr val="tx1"/>
                          </a:solidFill>
                          <a:sym typeface="+mn-lt"/>
                        </a:rPr>
                        <a:t>状态跟踪</a:t>
                      </a:r>
                      <a:endParaRPr lang="en-US" altLang="zh-CN" sz="1400" dirty="0">
                        <a:solidFill>
                          <a:schemeClr val="tx1"/>
                        </a:solidFill>
                        <a:sym typeface="+mn-lt"/>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dirty="0">
                          <a:solidFill>
                            <a:schemeClr val="tx1"/>
                          </a:solidFill>
                          <a:sym typeface="+mn-lt"/>
                        </a:rPr>
                        <a:t>           小板卡</a:t>
                      </a:r>
                      <a:r>
                        <a:rPr lang="en-US" altLang="zh-CN" sz="1400" dirty="0">
                          <a:solidFill>
                            <a:schemeClr val="tx1"/>
                          </a:solidFill>
                          <a:sym typeface="+mn-lt"/>
                        </a:rPr>
                        <a:t>SMT </a:t>
                      </a:r>
                      <a:r>
                        <a:rPr lang="zh-CN" altLang="en-US" sz="1400" dirty="0">
                          <a:solidFill>
                            <a:schemeClr val="tx1"/>
                          </a:solidFill>
                          <a:sym typeface="+mn-lt"/>
                        </a:rPr>
                        <a:t>状态跟踪</a:t>
                      </a:r>
                      <a:endParaRPr lang="en-US" altLang="zh-CN" sz="1400" dirty="0">
                        <a:solidFill>
                          <a:schemeClr val="tx1"/>
                        </a:solidFill>
                        <a:sym typeface="+mn-lt"/>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400" dirty="0">
                          <a:solidFill>
                            <a:schemeClr val="tx1"/>
                          </a:solidFill>
                          <a:sym typeface="+mn-lt"/>
                        </a:rPr>
                        <a:t>           </a:t>
                      </a:r>
                      <a:r>
                        <a:rPr lang="zh-CN" altLang="en-US" sz="1400" dirty="0">
                          <a:solidFill>
                            <a:schemeClr val="tx1"/>
                          </a:solidFill>
                          <a:sym typeface="+mn-lt"/>
                        </a:rPr>
                        <a:t>结构样品制样状态跟踪</a:t>
                      </a:r>
                      <a:endParaRPr lang="en-US" altLang="zh-CN" sz="1400" dirty="0">
                        <a:solidFill>
                          <a:schemeClr val="tx1"/>
                        </a:solidFill>
                        <a:sym typeface="+mn-lt"/>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400" dirty="0">
                          <a:solidFill>
                            <a:schemeClr val="tx1"/>
                          </a:solidFill>
                          <a:sym typeface="+mn-lt"/>
                        </a:rPr>
                        <a:t>           散热器件作状态跟踪</a:t>
                      </a:r>
                      <a:endParaRPr lang="en-US" altLang="zh-CN" sz="1400" dirty="0">
                        <a:solidFill>
                          <a:schemeClr val="tx1"/>
                        </a:solidFill>
                        <a:sym typeface="+mn-lt"/>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400" dirty="0">
                          <a:solidFill>
                            <a:schemeClr val="tx1"/>
                          </a:solidFill>
                          <a:sym typeface="+mn-lt"/>
                        </a:rPr>
                        <a:t>           </a:t>
                      </a:r>
                      <a:r>
                        <a:rPr lang="zh-CN" altLang="en-US" sz="1400" dirty="0">
                          <a:solidFill>
                            <a:schemeClr val="tx1"/>
                          </a:solidFill>
                          <a:sym typeface="+mn-lt"/>
                        </a:rPr>
                        <a:t>线缆制作状态跟踪</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物料计划管理：项目物料计划维护</a:t>
                      </a:r>
                      <a:endParaRPr lang="en-US" altLang="zh-CN" sz="1400" dirty="0">
                        <a:solidFill>
                          <a:schemeClr val="tx1"/>
                        </a:solidFill>
                        <a:sym typeface="+mn-lt"/>
                      </a:endParaRPr>
                    </a:p>
                    <a:p>
                      <a:pPr marL="0" indent="0">
                        <a:buFont typeface="Arial" panose="020B0604020202020204" pitchFamily="34" charset="0"/>
                        <a:buNone/>
                      </a:pPr>
                      <a:r>
                        <a:rPr lang="en-US" altLang="zh-CN" sz="1400" dirty="0">
                          <a:solidFill>
                            <a:schemeClr val="tx1"/>
                          </a:solidFill>
                          <a:sym typeface="+mn-lt"/>
                        </a:rPr>
                        <a:t>        PCB</a:t>
                      </a:r>
                      <a:r>
                        <a:rPr lang="zh-CN" altLang="en-US" sz="1400" dirty="0">
                          <a:solidFill>
                            <a:schemeClr val="tx1"/>
                          </a:solidFill>
                          <a:sym typeface="+mn-lt"/>
                        </a:rPr>
                        <a:t>基材</a:t>
                      </a:r>
                      <a:r>
                        <a:rPr lang="en-US" altLang="zh-CN" sz="1400" dirty="0">
                          <a:solidFill>
                            <a:schemeClr val="tx1"/>
                          </a:solidFill>
                          <a:sym typeface="+mn-lt"/>
                        </a:rPr>
                        <a:t>&amp;PCBA</a:t>
                      </a:r>
                      <a:r>
                        <a:rPr lang="zh-CN" altLang="en-US" sz="1400" dirty="0">
                          <a:solidFill>
                            <a:schemeClr val="tx1"/>
                          </a:solidFill>
                          <a:sym typeface="+mn-lt"/>
                        </a:rPr>
                        <a:t>备料</a:t>
                      </a:r>
                      <a:endParaRPr lang="en-US" altLang="zh-CN" sz="1400" dirty="0">
                        <a:solidFill>
                          <a:schemeClr val="tx1"/>
                        </a:solidFill>
                        <a:sym typeface="+mn-lt"/>
                      </a:endParaRPr>
                    </a:p>
                    <a:p>
                      <a:pPr marL="0" indent="0">
                        <a:buFont typeface="Arial" panose="020B0604020202020204" pitchFamily="34" charset="0"/>
                        <a:buNone/>
                      </a:pPr>
                      <a:r>
                        <a:rPr lang="zh-CN" altLang="en-US" sz="1400" dirty="0">
                          <a:solidFill>
                            <a:schemeClr val="tx1"/>
                          </a:solidFill>
                          <a:sym typeface="+mn-lt"/>
                        </a:rPr>
                        <a:t>        结构样品报价、制样通知</a:t>
                      </a:r>
                      <a:endParaRPr lang="en-US" altLang="zh-CN" sz="1400" dirty="0">
                        <a:solidFill>
                          <a:schemeClr val="tx1"/>
                        </a:solidFill>
                        <a:sym typeface="+mn-lt"/>
                      </a:endParaRPr>
                    </a:p>
                    <a:p>
                      <a:pPr marL="0" indent="0">
                        <a:buFont typeface="Arial" panose="020B0604020202020204" pitchFamily="34" charset="0"/>
                        <a:buNone/>
                      </a:pPr>
                      <a:r>
                        <a:rPr lang="zh-CN" altLang="en-US" sz="1400" dirty="0">
                          <a:solidFill>
                            <a:schemeClr val="tx1"/>
                          </a:solidFill>
                          <a:sym typeface="+mn-lt"/>
                        </a:rPr>
                        <a:t>        散热器件报价、制样通知</a:t>
                      </a:r>
                      <a:endParaRPr lang="en-US" altLang="zh-CN" sz="1400" dirty="0">
                        <a:solidFill>
                          <a:schemeClr val="tx1"/>
                        </a:solidFill>
                        <a:sym typeface="+mn-lt"/>
                      </a:endParaRPr>
                    </a:p>
                    <a:p>
                      <a:pPr marL="0" indent="0">
                        <a:buFont typeface="Arial" panose="020B0604020202020204" pitchFamily="34" charset="0"/>
                        <a:buNone/>
                      </a:pPr>
                      <a:r>
                        <a:rPr lang="en-US" altLang="zh-CN" sz="1400" dirty="0">
                          <a:solidFill>
                            <a:schemeClr val="tx1"/>
                          </a:solidFill>
                          <a:sym typeface="+mn-lt"/>
                        </a:rPr>
                        <a:t>        </a:t>
                      </a:r>
                      <a:r>
                        <a:rPr lang="zh-CN" altLang="en-US" sz="1400" dirty="0">
                          <a:solidFill>
                            <a:schemeClr val="tx1"/>
                          </a:solidFill>
                          <a:sym typeface="+mn-lt"/>
                        </a:rPr>
                        <a:t>线缆报价、制样通知</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项目计划书维护</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项目问题</a:t>
                      </a:r>
                      <a:r>
                        <a:rPr lang="en-US" altLang="zh-CN" sz="1400" dirty="0">
                          <a:solidFill>
                            <a:schemeClr val="tx1"/>
                          </a:solidFill>
                          <a:sym typeface="+mn-lt"/>
                        </a:rPr>
                        <a:t>&amp;</a:t>
                      </a:r>
                      <a:r>
                        <a:rPr lang="zh-CN" altLang="en-US" sz="1400" dirty="0">
                          <a:solidFill>
                            <a:schemeClr val="tx1"/>
                          </a:solidFill>
                          <a:sym typeface="+mn-lt"/>
                        </a:rPr>
                        <a:t>风险监控</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项目变更控制</a:t>
                      </a:r>
                      <a:endParaRPr lang="en-US" altLang="zh-CN"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《QR-D-PH-003-003</a:t>
                      </a:r>
                      <a:r>
                        <a:rPr lang="zh-CN" altLang="en-US" sz="1400" u="none" strike="noStrike" kern="1200" dirty="0">
                          <a:solidFill>
                            <a:schemeClr val="dk1"/>
                          </a:solidFill>
                          <a:effectLst/>
                          <a:sym typeface="+mn-lt"/>
                        </a:rPr>
                        <a:t>项目会议纪要</a:t>
                      </a:r>
                      <a:r>
                        <a:rPr lang="en-US" altLang="zh-CN" sz="1400" u="none" strike="noStrike" kern="1200" dirty="0">
                          <a:solidFill>
                            <a:schemeClr val="dk1"/>
                          </a:solidFill>
                          <a:effectLst/>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在研项目状态周报</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（双周）</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sym typeface="+mn-lt"/>
                        </a:rPr>
                        <a:t>   项目严重风险</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问题预警（决策委员会）</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《QR-D-PH-002-001 </a:t>
                      </a:r>
                      <a:r>
                        <a:rPr lang="zh-CN" altLang="en-US" sz="1400" u="none" strike="noStrike" kern="1200" dirty="0">
                          <a:solidFill>
                            <a:schemeClr val="dk1"/>
                          </a:solidFill>
                          <a:effectLst/>
                          <a:sym typeface="+mn-lt"/>
                        </a:rPr>
                        <a:t>项目计划书</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（可选）</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982289352"/>
                  </a:ext>
                </a:extLst>
              </a:tr>
              <a:tr h="222767">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组织各组详细设计问题评审问题讨论会</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olidFill>
                            <a:schemeClr val="tx1"/>
                          </a:solidFill>
                          <a:sym typeface="+mn-lt"/>
                        </a:rPr>
                        <a:t>各产品工作者、产品经理、开发经理、系统架构师、评审问题提出人针对同行评审问题进行沟通讨论，形成结论，并追踪至问题闭环</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4082592736"/>
                  </a:ext>
                </a:extLst>
              </a:tr>
              <a:tr h="468848">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a:t>
                      </a:r>
                      <a:r>
                        <a:rPr lang="en-US" altLang="zh-CN" sz="1400" dirty="0">
                          <a:sym typeface="+mn-lt"/>
                        </a:rPr>
                        <a:t>TR3A</a:t>
                      </a:r>
                      <a:r>
                        <a:rPr lang="zh-CN" altLang="en-US" sz="1400" dirty="0">
                          <a:sym typeface="+mn-lt"/>
                        </a:rPr>
                        <a:t>详细设计技术状态评审问题讨论会</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olidFill>
                            <a:schemeClr val="tx1"/>
                          </a:solidFill>
                          <a:sym typeface="+mn-lt"/>
                        </a:rPr>
                        <a:t>系统架构师、产品经理、开发经理、评审问题提出人针对评审问题进行沟通讨论，形成结论，并追踪至问题闭环</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《TR3A</a:t>
                      </a:r>
                      <a:r>
                        <a:rPr lang="zh-CN" altLang="en-US" sz="1400" u="none" strike="noStrike" kern="1200" dirty="0">
                          <a:solidFill>
                            <a:schemeClr val="dk1"/>
                          </a:solidFill>
                          <a:effectLst/>
                          <a:sym typeface="+mn-lt"/>
                        </a:rPr>
                        <a:t>详细设计评审报告</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（系统架构师）</a:t>
                      </a: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821497477"/>
                  </a:ext>
                </a:extLst>
              </a:tr>
              <a:tr h="611097">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组织各组</a:t>
                      </a:r>
                      <a:r>
                        <a:rPr lang="en-US" altLang="zh-CN" sz="1400" dirty="0">
                          <a:sym typeface="+mn-lt"/>
                        </a:rPr>
                        <a:t>EVT</a:t>
                      </a:r>
                      <a:r>
                        <a:rPr lang="zh-CN" altLang="en-US" sz="1400" dirty="0">
                          <a:sym typeface="+mn-lt"/>
                        </a:rPr>
                        <a:t>、</a:t>
                      </a:r>
                      <a:r>
                        <a:rPr lang="en-US" altLang="zh-CN" sz="1400" dirty="0">
                          <a:sym typeface="+mn-lt"/>
                        </a:rPr>
                        <a:t>Power-On</a:t>
                      </a:r>
                      <a:r>
                        <a:rPr lang="zh-CN" altLang="en-US" sz="1400" dirty="0">
                          <a:sym typeface="+mn-lt"/>
                        </a:rPr>
                        <a:t>测试计划评审问题讨论会</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olidFill>
                            <a:schemeClr val="tx1"/>
                          </a:solidFill>
                          <a:sym typeface="+mn-lt"/>
                        </a:rPr>
                        <a:t>各产品工作者、产品经理、开发经理、评审问题提出人针对评审问题进行沟通讨论，形成结论，并追踪至问题闭环</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400" kern="1200" dirty="0">
                        <a:solidFill>
                          <a:srgbClr val="0070C0"/>
                        </a:solidFill>
                        <a:latin typeface="+mn-lt"/>
                        <a:ea typeface="+mn-ea"/>
                        <a:cs typeface="+mn-ea"/>
                        <a:sym typeface="+mn-lt"/>
                      </a:endParaRPr>
                    </a:p>
                  </a:txBody>
                  <a:tcPr marL="121920" marR="121920" marT="60960" marB="60960" anchor="ctr"/>
                </a:tc>
                <a:extLst>
                  <a:ext uri="{0D108BD9-81ED-4DB2-BD59-A6C34878D82A}">
                    <a16:rowId xmlns:a16="http://schemas.microsoft.com/office/drawing/2014/main" val="757293535"/>
                  </a:ext>
                </a:extLst>
              </a:tr>
            </a:tbl>
          </a:graphicData>
        </a:graphic>
      </p:graphicFrame>
    </p:spTree>
    <p:extLst>
      <p:ext uri="{BB962C8B-B14F-4D97-AF65-F5344CB8AC3E}">
        <p14:creationId xmlns:p14="http://schemas.microsoft.com/office/powerpoint/2010/main" val="3344346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ṣ1îḋê"/>
          <p:cNvSpPr txBox="1"/>
          <p:nvPr/>
        </p:nvSpPr>
        <p:spPr>
          <a:xfrm>
            <a:off x="5344029" y="1023362"/>
            <a:ext cx="2737652" cy="464132"/>
          </a:xfrm>
          <a:prstGeom prst="rect">
            <a:avLst/>
          </a:prstGeom>
          <a:noFill/>
        </p:spPr>
        <p:txBody>
          <a:bodyPr wrap="none" lIns="120000" tIns="62400" rIns="120000" bIns="62400" anchor="ctr" anchorCtr="0">
            <a:normAutofit/>
          </a:bodyPr>
          <a:lstStyle/>
          <a:p>
            <a:pPr defTabSz="1219170"/>
            <a:r>
              <a:rPr lang="en-US" altLang="zh-CN" sz="1600" b="1" dirty="0">
                <a:solidFill>
                  <a:prstClr val="black">
                    <a:lumMod val="75000"/>
                    <a:lumOff val="25000"/>
                  </a:prstClr>
                </a:solidFill>
                <a:latin typeface="+mn-ea"/>
              </a:rPr>
              <a:t>HW/DC Power-On</a:t>
            </a:r>
            <a:endParaRPr lang="zh-CN" altLang="en-US" sz="1600" b="1" dirty="0">
              <a:solidFill>
                <a:prstClr val="black">
                  <a:lumMod val="75000"/>
                  <a:lumOff val="25000"/>
                </a:prstClr>
              </a:solidFill>
              <a:latin typeface="+mn-ea"/>
            </a:endParaRPr>
          </a:p>
        </p:txBody>
      </p:sp>
      <p:sp>
        <p:nvSpPr>
          <p:cNvPr id="9" name="íṧ1îďê"/>
          <p:cNvSpPr txBox="1"/>
          <p:nvPr/>
        </p:nvSpPr>
        <p:spPr>
          <a:xfrm>
            <a:off x="5344029" y="1362406"/>
            <a:ext cx="6770100" cy="907976"/>
          </a:xfrm>
          <a:prstGeom prst="rect">
            <a:avLst/>
          </a:prstGeom>
          <a:noFill/>
        </p:spPr>
        <p:txBody>
          <a:bodyPr wrap="square" lIns="120000" tIns="62400" rIns="120000" bIns="62400" anchor="t" anchorCtr="0">
            <a:noAutofit/>
          </a:bodyPr>
          <a:lstStyle/>
          <a:p>
            <a:pPr marL="228594" indent="-228594" defTabSz="1219170">
              <a:lnSpc>
                <a:spcPct val="120000"/>
              </a:lnSpc>
              <a:buFont typeface="Arial" panose="020B0604020202020204" pitchFamily="34" charset="0"/>
              <a:buChar char="•"/>
            </a:pPr>
            <a:r>
              <a:rPr lang="zh-CN" altLang="en-US" sz="1400" dirty="0">
                <a:solidFill>
                  <a:prstClr val="black">
                    <a:lumMod val="75000"/>
                    <a:lumOff val="25000"/>
                  </a:prstClr>
                </a:solidFill>
                <a:latin typeface="+mn-ea"/>
              </a:rPr>
              <a:t>硬件工程师、电源工程师针对</a:t>
            </a:r>
            <a:r>
              <a:rPr lang="en-US" altLang="zh-CN" sz="1400" dirty="0">
                <a:solidFill>
                  <a:prstClr val="black">
                    <a:lumMod val="75000"/>
                    <a:lumOff val="25000"/>
                  </a:prstClr>
                </a:solidFill>
                <a:latin typeface="+mn-ea"/>
              </a:rPr>
              <a:t>A01</a:t>
            </a:r>
            <a:r>
              <a:rPr lang="zh-CN" altLang="en-US" sz="1400" dirty="0">
                <a:solidFill>
                  <a:prstClr val="black">
                    <a:lumMod val="75000"/>
                    <a:lumOff val="25000"/>
                  </a:prstClr>
                </a:solidFill>
                <a:latin typeface="+mn-ea"/>
              </a:rPr>
              <a:t>主板进行开机以及相关测试</a:t>
            </a:r>
            <a:endParaRPr lang="en-US" altLang="zh-CN" sz="1400" dirty="0">
              <a:solidFill>
                <a:prstClr val="black">
                  <a:lumMod val="75000"/>
                  <a:lumOff val="25000"/>
                </a:prstClr>
              </a:solidFill>
              <a:latin typeface="+mn-ea"/>
            </a:endParaRPr>
          </a:p>
          <a:p>
            <a:pPr marL="228594" indent="-228594" defTabSz="1219170">
              <a:lnSpc>
                <a:spcPct val="120000"/>
              </a:lnSpc>
              <a:buFont typeface="Arial" panose="020B0604020202020204" pitchFamily="34" charset="0"/>
              <a:buChar char="•"/>
            </a:pPr>
            <a:r>
              <a:rPr lang="zh-CN" altLang="en-US" sz="1400" dirty="0">
                <a:solidFill>
                  <a:prstClr val="black">
                    <a:lumMod val="75000"/>
                    <a:lumOff val="25000"/>
                  </a:prstClr>
                </a:solidFill>
                <a:latin typeface="+mn-ea"/>
              </a:rPr>
              <a:t>交付物：</a:t>
            </a:r>
            <a:r>
              <a:rPr lang="en-US" altLang="zh-CN" sz="1400" dirty="0">
                <a:solidFill>
                  <a:prstClr val="black">
                    <a:lumMod val="75000"/>
                    <a:lumOff val="25000"/>
                  </a:prstClr>
                </a:solidFill>
                <a:latin typeface="+mn-ea"/>
              </a:rPr>
              <a:t>《Power-On</a:t>
            </a:r>
            <a:r>
              <a:rPr lang="zh-CN" altLang="en-US" sz="1400" dirty="0">
                <a:solidFill>
                  <a:prstClr val="black">
                    <a:lumMod val="75000"/>
                    <a:lumOff val="25000"/>
                  </a:prstClr>
                </a:solidFill>
                <a:latin typeface="+mn-ea"/>
              </a:rPr>
              <a:t>报告</a:t>
            </a:r>
            <a:r>
              <a:rPr lang="en-US" altLang="zh-CN" sz="1400" dirty="0">
                <a:solidFill>
                  <a:prstClr val="black">
                    <a:lumMod val="75000"/>
                    <a:lumOff val="25000"/>
                  </a:prstClr>
                </a:solidFill>
                <a:latin typeface="+mn-ea"/>
              </a:rPr>
              <a:t>》《</a:t>
            </a:r>
            <a:r>
              <a:rPr lang="zh-CN" altLang="en-US" sz="1400" dirty="0">
                <a:solidFill>
                  <a:prstClr val="black">
                    <a:lumMod val="75000"/>
                    <a:lumOff val="25000"/>
                  </a:prstClr>
                </a:solidFill>
                <a:latin typeface="+mn-ea"/>
              </a:rPr>
              <a:t>主控</a:t>
            </a:r>
            <a:r>
              <a:rPr lang="en-US" altLang="zh-CN" sz="1400" dirty="0">
                <a:solidFill>
                  <a:prstClr val="black">
                    <a:lumMod val="75000"/>
                    <a:lumOff val="25000"/>
                  </a:prstClr>
                </a:solidFill>
                <a:latin typeface="+mn-ea"/>
              </a:rPr>
              <a:t>FW-CPLD》《VR Firmware》</a:t>
            </a:r>
          </a:p>
        </p:txBody>
      </p:sp>
      <p:sp>
        <p:nvSpPr>
          <p:cNvPr id="14" name="文本占位符 1">
            <a:extLst>
              <a:ext uri="{FF2B5EF4-FFF2-40B4-BE49-F238E27FC236}">
                <a16:creationId xmlns:a16="http://schemas.microsoft.com/office/drawing/2014/main" id="{F9390F56-6C54-49DF-B859-F3C81CDC98C2}"/>
              </a:ext>
            </a:extLst>
          </p:cNvPr>
          <p:cNvSpPr>
            <a:spLocks noGrp="1"/>
          </p:cNvSpPr>
          <p:nvPr>
            <p:ph type="body" sz="quarter" idx="13"/>
          </p:nvPr>
        </p:nvSpPr>
        <p:spPr>
          <a:xfrm>
            <a:off x="239349" y="164637"/>
            <a:ext cx="9889099" cy="672075"/>
          </a:xfrm>
        </p:spPr>
        <p:txBody>
          <a:bodyPr/>
          <a:lstStyle/>
          <a:p>
            <a:r>
              <a:rPr lang="en-US" altLang="zh-CN" dirty="0"/>
              <a:t>L7Power-On——</a:t>
            </a:r>
            <a:r>
              <a:rPr lang="zh-CN" altLang="en-US" dirty="0"/>
              <a:t>总述</a:t>
            </a:r>
          </a:p>
        </p:txBody>
      </p:sp>
      <p:sp>
        <p:nvSpPr>
          <p:cNvPr id="15" name="矩形 14">
            <a:extLst>
              <a:ext uri="{FF2B5EF4-FFF2-40B4-BE49-F238E27FC236}">
                <a16:creationId xmlns:a16="http://schemas.microsoft.com/office/drawing/2014/main" id="{ACACB2E5-86C3-45F2-B710-8D52745F0106}"/>
              </a:ext>
            </a:extLst>
          </p:cNvPr>
          <p:cNvSpPr/>
          <p:nvPr/>
        </p:nvSpPr>
        <p:spPr>
          <a:xfrm>
            <a:off x="574320" y="1091919"/>
            <a:ext cx="3959813" cy="2062103"/>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Power-On</a:t>
            </a:r>
            <a:r>
              <a:rPr lang="zh-CN" altLang="en-US" sz="1600" b="1" dirty="0">
                <a:latin typeface="微软雅黑" panose="020B0503020204020204" pitchFamily="34" charset="-122"/>
                <a:ea typeface="微软雅黑" panose="020B0503020204020204" pitchFamily="34" charset="-122"/>
              </a:rPr>
              <a:t>启动条件</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r>
              <a:rPr lang="en-US" altLang="zh-CN" sz="1600" dirty="0" smtClean="0">
                <a:latin typeface="微软雅黑" panose="020B0503020204020204" pitchFamily="34" charset="-122"/>
                <a:ea typeface="微软雅黑" panose="020B0503020204020204" pitchFamily="34" charset="-122"/>
              </a:rPr>
              <a:t>     1.Power-On</a:t>
            </a:r>
            <a:r>
              <a:rPr lang="zh-CN" altLang="en-US" sz="1600" dirty="0">
                <a:latin typeface="微软雅黑" panose="020B0503020204020204" pitchFamily="34" charset="-122"/>
                <a:ea typeface="微软雅黑" panose="020B0503020204020204" pitchFamily="34" charset="-122"/>
              </a:rPr>
              <a:t>必须关键物料到货：</a:t>
            </a:r>
            <a:r>
              <a:rPr lang="en-US" altLang="zh-CN" sz="1600" dirty="0">
                <a:latin typeface="微软雅黑" panose="020B0503020204020204" pitchFamily="34" charset="-122"/>
                <a:ea typeface="微软雅黑" panose="020B0503020204020204" pitchFamily="34" charset="-122"/>
              </a:rPr>
              <a:t>A01</a:t>
            </a:r>
            <a:r>
              <a:rPr lang="zh-CN" altLang="en-US" sz="1600" dirty="0">
                <a:latin typeface="微软雅黑" panose="020B0503020204020204" pitchFamily="34" charset="-122"/>
                <a:ea typeface="微软雅黑" panose="020B0503020204020204" pitchFamily="34" charset="-122"/>
              </a:rPr>
              <a:t>主板回板、</a:t>
            </a:r>
            <a:r>
              <a:rPr lang="en-US" altLang="zh-CN" sz="1600" dirty="0">
                <a:latin typeface="微软雅黑" panose="020B0503020204020204" pitchFamily="34" charset="-122"/>
                <a:ea typeface="微软雅黑" panose="020B0503020204020204" pitchFamily="34" charset="-122"/>
              </a:rPr>
              <a:t>CPU(LGA</a:t>
            </a:r>
            <a:r>
              <a:rPr lang="zh-CN" altLang="en-US" sz="1600" dirty="0">
                <a:latin typeface="微软雅黑" panose="020B0503020204020204" pitchFamily="34" charset="-122"/>
                <a:ea typeface="微软雅黑" panose="020B0503020204020204" pitchFamily="34" charset="-122"/>
              </a:rPr>
              <a:t>类型）</a:t>
            </a:r>
            <a:r>
              <a:rPr lang="zh-CN" altLang="en-US" sz="1600" dirty="0" smtClean="0">
                <a:latin typeface="微软雅黑" panose="020B0503020204020204" pitchFamily="34" charset="-122"/>
                <a:ea typeface="微软雅黑" panose="020B0503020204020204" pitchFamily="34" charset="-122"/>
              </a:rPr>
              <a:t>等</a:t>
            </a:r>
            <a:endParaRPr lang="en-US" altLang="zh-CN" sz="1600" dirty="0">
              <a:latin typeface="微软雅黑" panose="020B0503020204020204" pitchFamily="34" charset="-122"/>
              <a:ea typeface="微软雅黑" panose="020B0503020204020204" pitchFamily="34" charset="-122"/>
            </a:endParaRPr>
          </a:p>
          <a:p>
            <a:r>
              <a:rPr lang="en-US" altLang="zh-CN" sz="1600" dirty="0" smtClean="0">
                <a:latin typeface="微软雅黑" panose="020B0503020204020204" pitchFamily="34" charset="-122"/>
                <a:ea typeface="微软雅黑" panose="020B0503020204020204" pitchFamily="34" charset="-122"/>
              </a:rPr>
              <a:t>     2.Power-On</a:t>
            </a:r>
            <a:r>
              <a:rPr lang="zh-CN" altLang="en-US" sz="1600" dirty="0">
                <a:latin typeface="微软雅黑" panose="020B0503020204020204" pitchFamily="34" charset="-122"/>
                <a:ea typeface="微软雅黑" panose="020B0503020204020204" pitchFamily="34" charset="-122"/>
              </a:rPr>
              <a:t>版本</a:t>
            </a:r>
            <a:r>
              <a:rPr lang="en-US" altLang="zh-CN" sz="1600" dirty="0">
                <a:latin typeface="微软雅黑" panose="020B0503020204020204" pitchFamily="34" charset="-122"/>
                <a:ea typeface="微软雅黑" panose="020B0503020204020204" pitchFamily="34" charset="-122"/>
              </a:rPr>
              <a:t>BIOS</a:t>
            </a:r>
          </a:p>
          <a:p>
            <a:r>
              <a:rPr lang="en-US" altLang="zh-CN" sz="1600" dirty="0" smtClean="0">
                <a:latin typeface="微软雅黑" panose="020B0503020204020204" pitchFamily="34" charset="-122"/>
                <a:ea typeface="微软雅黑" panose="020B0503020204020204" pitchFamily="34" charset="-122"/>
              </a:rPr>
              <a:t>     3.Power-On</a:t>
            </a:r>
            <a:r>
              <a:rPr lang="zh-CN" altLang="en-US" sz="1600" dirty="0">
                <a:latin typeface="微软雅黑" panose="020B0503020204020204" pitchFamily="34" charset="-122"/>
                <a:ea typeface="微软雅黑" panose="020B0503020204020204" pitchFamily="34" charset="-122"/>
              </a:rPr>
              <a:t>版本</a:t>
            </a:r>
            <a:r>
              <a:rPr lang="en-US" altLang="zh-CN" sz="1600" dirty="0">
                <a:latin typeface="微软雅黑" panose="020B0503020204020204" pitchFamily="34" charset="-122"/>
                <a:ea typeface="微软雅黑" panose="020B0503020204020204" pitchFamily="34" charset="-122"/>
              </a:rPr>
              <a:t>BMC</a:t>
            </a:r>
          </a:p>
          <a:p>
            <a:r>
              <a:rPr lang="en-US" altLang="zh-CN" sz="1600" dirty="0">
                <a:latin typeface="微软雅黑" panose="020B0503020204020204" pitchFamily="34" charset="-122"/>
                <a:ea typeface="微软雅黑" panose="020B0503020204020204" pitchFamily="34" charset="-122"/>
              </a:rPr>
              <a:t> </a:t>
            </a:r>
            <a:r>
              <a:rPr lang="en-US" altLang="zh-CN" sz="1600" dirty="0" smtClean="0">
                <a:latin typeface="微软雅黑" panose="020B0503020204020204" pitchFamily="34" charset="-122"/>
                <a:ea typeface="微软雅黑" panose="020B0503020204020204" pitchFamily="34" charset="-122"/>
              </a:rPr>
              <a:t>    4.Porting </a:t>
            </a:r>
            <a:r>
              <a:rPr lang="en-US" altLang="zh-CN" sz="1600" dirty="0">
                <a:latin typeface="微软雅黑" panose="020B0503020204020204" pitchFamily="34" charset="-122"/>
                <a:ea typeface="微软雅黑" panose="020B0503020204020204" pitchFamily="34" charset="-122"/>
              </a:rPr>
              <a:t>Guide</a:t>
            </a:r>
          </a:p>
          <a:p>
            <a:pPr marL="285750" indent="-28575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Power-On</a:t>
            </a:r>
            <a:r>
              <a:rPr lang="zh-CN" altLang="en-US" sz="1600" b="1" dirty="0">
                <a:latin typeface="微软雅黑" panose="020B0503020204020204" pitchFamily="34" charset="-122"/>
                <a:ea typeface="微软雅黑" panose="020B0503020204020204" pitchFamily="34" charset="-122"/>
              </a:rPr>
              <a:t>周期：</a:t>
            </a:r>
            <a:r>
              <a:rPr lang="en-US" altLang="zh-CN" sz="1600" dirty="0">
                <a:latin typeface="微软雅黑" panose="020B0503020204020204" pitchFamily="34" charset="-122"/>
                <a:ea typeface="微软雅黑" panose="020B0503020204020204" pitchFamily="34" charset="-122"/>
              </a:rPr>
              <a:t>2W</a:t>
            </a:r>
          </a:p>
        </p:txBody>
      </p:sp>
      <p:sp>
        <p:nvSpPr>
          <p:cNvPr id="5" name="îṥliďe">
            <a:extLst>
              <a:ext uri="{FF2B5EF4-FFF2-40B4-BE49-F238E27FC236}">
                <a16:creationId xmlns:a16="http://schemas.microsoft.com/office/drawing/2014/main" id="{F46435CC-7052-9F28-743D-44BD52281329}"/>
              </a:ext>
            </a:extLst>
          </p:cNvPr>
          <p:cNvSpPr txBox="1"/>
          <p:nvPr/>
        </p:nvSpPr>
        <p:spPr>
          <a:xfrm>
            <a:off x="5427732" y="2389140"/>
            <a:ext cx="3575105" cy="464132"/>
          </a:xfrm>
          <a:prstGeom prst="rect">
            <a:avLst/>
          </a:prstGeom>
          <a:noFill/>
        </p:spPr>
        <p:txBody>
          <a:bodyPr wrap="none" lIns="120000" tIns="62400" rIns="120000" bIns="62400" anchor="ctr" anchorCtr="0">
            <a:normAutofit/>
          </a:bodyPr>
          <a:lstStyle/>
          <a:p>
            <a:pPr defTabSz="1219170"/>
            <a:r>
              <a:rPr lang="en-US" altLang="zh-CN" sz="1600" b="1" dirty="0">
                <a:solidFill>
                  <a:prstClr val="black">
                    <a:lumMod val="75000"/>
                    <a:lumOff val="25000"/>
                  </a:prstClr>
                </a:solidFill>
                <a:latin typeface="+mn-ea"/>
              </a:rPr>
              <a:t>BIOS Power-On </a:t>
            </a:r>
            <a:endParaRPr lang="zh-CN" altLang="en-US" sz="1600" b="1" dirty="0">
              <a:solidFill>
                <a:prstClr val="black">
                  <a:lumMod val="75000"/>
                  <a:lumOff val="25000"/>
                </a:prstClr>
              </a:solidFill>
              <a:latin typeface="+mn-ea"/>
            </a:endParaRPr>
          </a:p>
        </p:txBody>
      </p:sp>
      <p:sp>
        <p:nvSpPr>
          <p:cNvPr id="6" name="íšļíḍê">
            <a:extLst>
              <a:ext uri="{FF2B5EF4-FFF2-40B4-BE49-F238E27FC236}">
                <a16:creationId xmlns:a16="http://schemas.microsoft.com/office/drawing/2014/main" id="{5B06E0BA-9280-A443-79A5-4E31621434DA}"/>
              </a:ext>
            </a:extLst>
          </p:cNvPr>
          <p:cNvSpPr txBox="1"/>
          <p:nvPr/>
        </p:nvSpPr>
        <p:spPr>
          <a:xfrm>
            <a:off x="5344029" y="2670000"/>
            <a:ext cx="6448610" cy="930480"/>
          </a:xfrm>
          <a:prstGeom prst="rect">
            <a:avLst/>
          </a:prstGeom>
          <a:noFill/>
        </p:spPr>
        <p:txBody>
          <a:bodyPr wrap="square" lIns="120000" tIns="62400" rIns="120000" bIns="62400" anchor="t" anchorCtr="0">
            <a:noAutofit/>
          </a:bodyPr>
          <a:lstStyle/>
          <a:p>
            <a:pPr marL="228594" indent="-228594" defTabSz="1219170">
              <a:lnSpc>
                <a:spcPct val="120000"/>
              </a:lnSpc>
              <a:buFont typeface="Arial" panose="020B0604020202020204" pitchFamily="34" charset="0"/>
              <a:buChar char="•"/>
            </a:pPr>
            <a:r>
              <a:rPr lang="en-US" altLang="zh-CN" sz="1400" dirty="0">
                <a:solidFill>
                  <a:prstClr val="black">
                    <a:lumMod val="75000"/>
                    <a:lumOff val="25000"/>
                  </a:prstClr>
                </a:solidFill>
                <a:latin typeface="+mn-ea"/>
              </a:rPr>
              <a:t>BIOS</a:t>
            </a:r>
            <a:r>
              <a:rPr lang="zh-CN" altLang="en-US" sz="1400" dirty="0">
                <a:solidFill>
                  <a:prstClr val="black">
                    <a:lumMod val="75000"/>
                    <a:lumOff val="25000"/>
                  </a:prstClr>
                </a:solidFill>
                <a:latin typeface="+mn-ea"/>
              </a:rPr>
              <a:t>：与硬件工程师合作，完成</a:t>
            </a:r>
            <a:r>
              <a:rPr lang="en-US" altLang="zh-CN" sz="1400" dirty="0">
                <a:solidFill>
                  <a:prstClr val="black">
                    <a:lumMod val="75000"/>
                    <a:lumOff val="25000"/>
                  </a:prstClr>
                </a:solidFill>
                <a:latin typeface="+mn-ea"/>
              </a:rPr>
              <a:t>BIOS</a:t>
            </a:r>
            <a:r>
              <a:rPr lang="zh-CN" altLang="en-US" sz="1400" dirty="0">
                <a:solidFill>
                  <a:prstClr val="black">
                    <a:lumMod val="75000"/>
                    <a:lumOff val="25000"/>
                  </a:prstClr>
                </a:solidFill>
                <a:latin typeface="+mn-ea"/>
              </a:rPr>
              <a:t>对系统的上电</a:t>
            </a:r>
            <a:r>
              <a:rPr lang="en-US" altLang="zh-CN" sz="1400" dirty="0">
                <a:solidFill>
                  <a:prstClr val="black">
                    <a:lumMod val="75000"/>
                    <a:lumOff val="25000"/>
                  </a:prstClr>
                </a:solidFill>
                <a:latin typeface="+mn-ea"/>
              </a:rPr>
              <a:t>POST</a:t>
            </a:r>
            <a:r>
              <a:rPr lang="zh-CN" altLang="en-US" sz="1400" dirty="0">
                <a:solidFill>
                  <a:prstClr val="black">
                    <a:lumMod val="75000"/>
                    <a:lumOff val="25000"/>
                  </a:prstClr>
                </a:solidFill>
                <a:latin typeface="+mn-ea"/>
              </a:rPr>
              <a:t>，并对基本功能进行调试与验证</a:t>
            </a:r>
            <a:endParaRPr lang="en-US" altLang="zh-CN" sz="1400" dirty="0">
              <a:solidFill>
                <a:prstClr val="black">
                  <a:lumMod val="75000"/>
                  <a:lumOff val="25000"/>
                </a:prstClr>
              </a:solidFill>
              <a:latin typeface="+mn-ea"/>
            </a:endParaRPr>
          </a:p>
          <a:p>
            <a:pPr marL="228594" indent="-228594" defTabSz="1219170">
              <a:lnSpc>
                <a:spcPct val="120000"/>
              </a:lnSpc>
              <a:buFont typeface="Arial" panose="020B0604020202020204" pitchFamily="34" charset="0"/>
              <a:buChar char="•"/>
            </a:pPr>
            <a:r>
              <a:rPr lang="zh-CN" altLang="en-US" sz="1400" dirty="0">
                <a:solidFill>
                  <a:prstClr val="black">
                    <a:lumMod val="75000"/>
                    <a:lumOff val="25000"/>
                  </a:prstClr>
                </a:solidFill>
                <a:latin typeface="+mn-ea"/>
              </a:rPr>
              <a:t>交付物：</a:t>
            </a:r>
            <a:r>
              <a:rPr lang="en-US" altLang="zh-CN" sz="1400" dirty="0">
                <a:solidFill>
                  <a:prstClr val="black">
                    <a:lumMod val="75000"/>
                    <a:lumOff val="25000"/>
                  </a:prstClr>
                </a:solidFill>
                <a:latin typeface="+mn-ea"/>
              </a:rPr>
              <a:t>《BIOS Power-On </a:t>
            </a:r>
            <a:r>
              <a:rPr lang="zh-CN" altLang="en-US" sz="1400" dirty="0">
                <a:solidFill>
                  <a:prstClr val="black">
                    <a:lumMod val="75000"/>
                    <a:lumOff val="25000"/>
                  </a:prstClr>
                </a:solidFill>
                <a:latin typeface="+mn-ea"/>
              </a:rPr>
              <a:t>报告</a:t>
            </a:r>
            <a:r>
              <a:rPr lang="en-US" altLang="zh-CN" sz="1400" dirty="0">
                <a:solidFill>
                  <a:prstClr val="black">
                    <a:lumMod val="75000"/>
                    <a:lumOff val="25000"/>
                  </a:prstClr>
                </a:solidFill>
                <a:latin typeface="+mn-ea"/>
              </a:rPr>
              <a:t>》</a:t>
            </a:r>
          </a:p>
        </p:txBody>
      </p:sp>
      <p:sp>
        <p:nvSpPr>
          <p:cNvPr id="10" name="îṥliďe">
            <a:extLst>
              <a:ext uri="{FF2B5EF4-FFF2-40B4-BE49-F238E27FC236}">
                <a16:creationId xmlns:a16="http://schemas.microsoft.com/office/drawing/2014/main" id="{3CE7D637-860B-BE80-A35D-76784EB95EA7}"/>
              </a:ext>
            </a:extLst>
          </p:cNvPr>
          <p:cNvSpPr txBox="1"/>
          <p:nvPr/>
        </p:nvSpPr>
        <p:spPr>
          <a:xfrm>
            <a:off x="5427732" y="3736505"/>
            <a:ext cx="3575105" cy="464132"/>
          </a:xfrm>
          <a:prstGeom prst="rect">
            <a:avLst/>
          </a:prstGeom>
          <a:noFill/>
        </p:spPr>
        <p:txBody>
          <a:bodyPr wrap="none" lIns="120000" tIns="62400" rIns="120000" bIns="62400" anchor="ctr" anchorCtr="0">
            <a:normAutofit/>
          </a:bodyPr>
          <a:lstStyle/>
          <a:p>
            <a:pPr defTabSz="1219170"/>
            <a:r>
              <a:rPr lang="en-US" altLang="zh-CN" sz="1600" b="1" dirty="0">
                <a:solidFill>
                  <a:prstClr val="black">
                    <a:lumMod val="75000"/>
                    <a:lumOff val="25000"/>
                  </a:prstClr>
                </a:solidFill>
                <a:latin typeface="+mn-ea"/>
              </a:rPr>
              <a:t>BMC</a:t>
            </a:r>
            <a:r>
              <a:rPr lang="zh-CN" altLang="en-US" sz="1600" b="1" dirty="0">
                <a:solidFill>
                  <a:prstClr val="black">
                    <a:lumMod val="75000"/>
                    <a:lumOff val="25000"/>
                  </a:prstClr>
                </a:solidFill>
                <a:latin typeface="+mn-ea"/>
              </a:rPr>
              <a:t>、</a:t>
            </a:r>
            <a:r>
              <a:rPr lang="en-US" altLang="zh-CN" sz="1600" b="1" dirty="0">
                <a:solidFill>
                  <a:prstClr val="black">
                    <a:lumMod val="75000"/>
                    <a:lumOff val="25000"/>
                  </a:prstClr>
                </a:solidFill>
                <a:latin typeface="+mn-ea"/>
              </a:rPr>
              <a:t>CMM Power-On </a:t>
            </a:r>
            <a:endParaRPr lang="zh-CN" altLang="en-US" sz="1600" b="1" dirty="0">
              <a:solidFill>
                <a:prstClr val="black">
                  <a:lumMod val="75000"/>
                  <a:lumOff val="25000"/>
                </a:prstClr>
              </a:solidFill>
              <a:latin typeface="+mn-ea"/>
            </a:endParaRPr>
          </a:p>
        </p:txBody>
      </p:sp>
      <p:sp>
        <p:nvSpPr>
          <p:cNvPr id="12" name="íšļíḍê">
            <a:extLst>
              <a:ext uri="{FF2B5EF4-FFF2-40B4-BE49-F238E27FC236}">
                <a16:creationId xmlns:a16="http://schemas.microsoft.com/office/drawing/2014/main" id="{40637714-D1FF-3811-A7BE-7C8A5843A571}"/>
              </a:ext>
            </a:extLst>
          </p:cNvPr>
          <p:cNvSpPr txBox="1"/>
          <p:nvPr/>
        </p:nvSpPr>
        <p:spPr>
          <a:xfrm>
            <a:off x="5344029" y="4139569"/>
            <a:ext cx="6681986" cy="607347"/>
          </a:xfrm>
          <a:prstGeom prst="rect">
            <a:avLst/>
          </a:prstGeom>
          <a:noFill/>
        </p:spPr>
        <p:txBody>
          <a:bodyPr wrap="square" lIns="120000" tIns="62400" rIns="120000" bIns="62400" anchor="t" anchorCtr="0">
            <a:noAutofit/>
          </a:bodyPr>
          <a:lstStyle/>
          <a:p>
            <a:pPr marL="228594" indent="-228594" defTabSz="1219170">
              <a:lnSpc>
                <a:spcPct val="120000"/>
              </a:lnSpc>
              <a:buFont typeface="Arial" panose="020B0604020202020204" pitchFamily="34" charset="0"/>
              <a:buChar char="•"/>
            </a:pPr>
            <a:r>
              <a:rPr lang="en-US" altLang="zh-CN" sz="1400" dirty="0">
                <a:solidFill>
                  <a:prstClr val="black">
                    <a:lumMod val="75000"/>
                    <a:lumOff val="25000"/>
                  </a:prstClr>
                </a:solidFill>
                <a:latin typeface="+mn-ea"/>
              </a:rPr>
              <a:t>BMC</a:t>
            </a:r>
            <a:r>
              <a:rPr lang="zh-CN" altLang="en-US" sz="1400" dirty="0">
                <a:solidFill>
                  <a:prstClr val="black">
                    <a:lumMod val="75000"/>
                    <a:lumOff val="25000"/>
                  </a:prstClr>
                </a:solidFill>
                <a:latin typeface="+mn-ea"/>
              </a:rPr>
              <a:t>、</a:t>
            </a:r>
            <a:r>
              <a:rPr lang="en-US" altLang="zh-CN" sz="1400" dirty="0">
                <a:solidFill>
                  <a:prstClr val="black">
                    <a:lumMod val="75000"/>
                    <a:lumOff val="25000"/>
                  </a:prstClr>
                </a:solidFill>
                <a:latin typeface="+mn-ea"/>
              </a:rPr>
              <a:t>CMM</a:t>
            </a:r>
            <a:r>
              <a:rPr lang="zh-CN" altLang="en-US" sz="1400" dirty="0">
                <a:solidFill>
                  <a:prstClr val="black">
                    <a:lumMod val="75000"/>
                    <a:lumOff val="25000"/>
                  </a:prstClr>
                </a:solidFill>
                <a:latin typeface="+mn-ea"/>
              </a:rPr>
              <a:t>：</a:t>
            </a:r>
            <a:r>
              <a:rPr lang="en-US" altLang="zh-CN" sz="1400" dirty="0">
                <a:solidFill>
                  <a:prstClr val="black">
                    <a:lumMod val="75000"/>
                    <a:lumOff val="25000"/>
                  </a:prstClr>
                </a:solidFill>
                <a:latin typeface="+mn-ea"/>
              </a:rPr>
              <a:t>BMC</a:t>
            </a:r>
            <a:r>
              <a:rPr lang="zh-CN" altLang="en-US" sz="1400" dirty="0">
                <a:solidFill>
                  <a:prstClr val="black">
                    <a:lumMod val="75000"/>
                    <a:lumOff val="25000"/>
                  </a:prstClr>
                </a:solidFill>
                <a:latin typeface="+mn-ea"/>
              </a:rPr>
              <a:t>、</a:t>
            </a:r>
            <a:r>
              <a:rPr lang="en-US" altLang="zh-CN" sz="1400" dirty="0">
                <a:solidFill>
                  <a:prstClr val="black">
                    <a:lumMod val="75000"/>
                    <a:lumOff val="25000"/>
                  </a:prstClr>
                </a:solidFill>
                <a:latin typeface="+mn-ea"/>
              </a:rPr>
              <a:t>CMM</a:t>
            </a:r>
            <a:r>
              <a:rPr lang="zh-CN" altLang="en-US" sz="1400" dirty="0">
                <a:solidFill>
                  <a:prstClr val="black">
                    <a:lumMod val="75000"/>
                    <a:lumOff val="25000"/>
                  </a:prstClr>
                </a:solidFill>
                <a:latin typeface="+mn-ea"/>
              </a:rPr>
              <a:t>基本功能调试与验证</a:t>
            </a:r>
            <a:endParaRPr lang="en-US" altLang="zh-CN" sz="1400" dirty="0">
              <a:solidFill>
                <a:prstClr val="black">
                  <a:lumMod val="75000"/>
                  <a:lumOff val="25000"/>
                </a:prstClr>
              </a:solidFill>
              <a:latin typeface="+mn-ea"/>
            </a:endParaRPr>
          </a:p>
          <a:p>
            <a:pPr marL="228594" indent="-228594" defTabSz="1219170">
              <a:lnSpc>
                <a:spcPct val="120000"/>
              </a:lnSpc>
              <a:buFont typeface="Arial" panose="020B0604020202020204" pitchFamily="34" charset="0"/>
              <a:buChar char="•"/>
            </a:pPr>
            <a:r>
              <a:rPr lang="zh-CN" altLang="en-US" sz="1400" dirty="0">
                <a:solidFill>
                  <a:prstClr val="black">
                    <a:lumMod val="75000"/>
                    <a:lumOff val="25000"/>
                  </a:prstClr>
                </a:solidFill>
                <a:latin typeface="+mn-ea"/>
              </a:rPr>
              <a:t>交付物：</a:t>
            </a:r>
            <a:r>
              <a:rPr lang="en-US" altLang="zh-CN" sz="1400" dirty="0">
                <a:solidFill>
                  <a:prstClr val="black">
                    <a:lumMod val="75000"/>
                    <a:lumOff val="25000"/>
                  </a:prstClr>
                </a:solidFill>
                <a:latin typeface="+mn-ea"/>
              </a:rPr>
              <a:t>《BMC Power-On </a:t>
            </a:r>
            <a:r>
              <a:rPr lang="zh-CN" altLang="en-US" sz="1400" dirty="0">
                <a:solidFill>
                  <a:prstClr val="black">
                    <a:lumMod val="75000"/>
                    <a:lumOff val="25000"/>
                  </a:prstClr>
                </a:solidFill>
                <a:latin typeface="+mn-ea"/>
              </a:rPr>
              <a:t>报告</a:t>
            </a:r>
            <a:r>
              <a:rPr lang="en-US" altLang="zh-CN" sz="1400" dirty="0">
                <a:solidFill>
                  <a:prstClr val="black">
                    <a:lumMod val="75000"/>
                    <a:lumOff val="25000"/>
                  </a:prstClr>
                </a:solidFill>
                <a:latin typeface="+mn-ea"/>
              </a:rPr>
              <a:t>》</a:t>
            </a:r>
            <a:r>
              <a:rPr lang="zh-CN" altLang="en-US" sz="1400" dirty="0">
                <a:solidFill>
                  <a:prstClr val="black">
                    <a:lumMod val="75000"/>
                    <a:lumOff val="25000"/>
                  </a:prstClr>
                </a:solidFill>
                <a:latin typeface="+mn-ea"/>
              </a:rPr>
              <a:t>、</a:t>
            </a:r>
            <a:r>
              <a:rPr lang="en-US" altLang="zh-CN" sz="1400" dirty="0">
                <a:solidFill>
                  <a:prstClr val="black">
                    <a:lumMod val="75000"/>
                    <a:lumOff val="25000"/>
                  </a:prstClr>
                </a:solidFill>
                <a:latin typeface="+mn-ea"/>
              </a:rPr>
              <a:t> 《CMM Power-On </a:t>
            </a:r>
            <a:r>
              <a:rPr lang="zh-CN" altLang="en-US" sz="1400" dirty="0">
                <a:solidFill>
                  <a:prstClr val="black">
                    <a:lumMod val="75000"/>
                    <a:lumOff val="25000"/>
                  </a:prstClr>
                </a:solidFill>
                <a:latin typeface="+mn-ea"/>
              </a:rPr>
              <a:t>报告</a:t>
            </a:r>
            <a:r>
              <a:rPr lang="en-US" altLang="zh-CN" sz="1400" dirty="0">
                <a:solidFill>
                  <a:prstClr val="black">
                    <a:lumMod val="75000"/>
                    <a:lumOff val="25000"/>
                  </a:prstClr>
                </a:solidFill>
                <a:latin typeface="+mn-ea"/>
              </a:rPr>
              <a:t>》</a:t>
            </a:r>
          </a:p>
        </p:txBody>
      </p:sp>
      <p:sp>
        <p:nvSpPr>
          <p:cNvPr id="21" name="í$ḷiḓê">
            <a:extLst>
              <a:ext uri="{FF2B5EF4-FFF2-40B4-BE49-F238E27FC236}">
                <a16:creationId xmlns:a16="http://schemas.microsoft.com/office/drawing/2014/main" id="{63EA4ABD-E670-D75D-AE32-4DCE81ED7B20}"/>
              </a:ext>
            </a:extLst>
          </p:cNvPr>
          <p:cNvSpPr txBox="1"/>
          <p:nvPr/>
        </p:nvSpPr>
        <p:spPr>
          <a:xfrm>
            <a:off x="5427732" y="5019334"/>
            <a:ext cx="2724763" cy="489836"/>
          </a:xfrm>
          <a:prstGeom prst="rect">
            <a:avLst/>
          </a:prstGeom>
          <a:noFill/>
        </p:spPr>
        <p:txBody>
          <a:bodyPr wrap="none" lIns="120000" tIns="62400" rIns="120000" bIns="62400" anchor="ctr" anchorCtr="0">
            <a:normAutofit/>
          </a:bodyPr>
          <a:lstStyle/>
          <a:p>
            <a:pPr defTabSz="1219170"/>
            <a:r>
              <a:rPr lang="zh-CN" altLang="en-US" sz="1600" b="1" dirty="0">
                <a:solidFill>
                  <a:prstClr val="black">
                    <a:lumMod val="75000"/>
                    <a:lumOff val="25000"/>
                  </a:prstClr>
                </a:solidFill>
                <a:latin typeface="+mn-ea"/>
              </a:rPr>
              <a:t>系统</a:t>
            </a:r>
            <a:r>
              <a:rPr lang="en-US" altLang="zh-CN" sz="1600" b="1" dirty="0">
                <a:solidFill>
                  <a:prstClr val="black">
                    <a:lumMod val="75000"/>
                    <a:lumOff val="25000"/>
                  </a:prstClr>
                </a:solidFill>
                <a:latin typeface="+mn-ea"/>
              </a:rPr>
              <a:t>Power-On</a:t>
            </a:r>
            <a:endParaRPr lang="zh-CN" altLang="en-US" sz="1600" b="1" dirty="0">
              <a:solidFill>
                <a:prstClr val="black">
                  <a:lumMod val="75000"/>
                  <a:lumOff val="25000"/>
                </a:prstClr>
              </a:solidFill>
              <a:latin typeface="+mn-ea"/>
            </a:endParaRPr>
          </a:p>
        </p:txBody>
      </p:sp>
      <p:sp>
        <p:nvSpPr>
          <p:cNvPr id="22" name="íSļiḍê">
            <a:extLst>
              <a:ext uri="{FF2B5EF4-FFF2-40B4-BE49-F238E27FC236}">
                <a16:creationId xmlns:a16="http://schemas.microsoft.com/office/drawing/2014/main" id="{A9C351AD-9B3E-648B-2F22-000E35654703}"/>
              </a:ext>
            </a:extLst>
          </p:cNvPr>
          <p:cNvSpPr txBox="1"/>
          <p:nvPr/>
        </p:nvSpPr>
        <p:spPr>
          <a:xfrm>
            <a:off x="5344029" y="5398323"/>
            <a:ext cx="6250208" cy="547187"/>
          </a:xfrm>
          <a:prstGeom prst="rect">
            <a:avLst/>
          </a:prstGeom>
          <a:noFill/>
        </p:spPr>
        <p:txBody>
          <a:bodyPr wrap="square" lIns="120000" tIns="62400" rIns="120000" bIns="62400" anchor="t" anchorCtr="0">
            <a:noAutofit/>
          </a:bodyPr>
          <a:lstStyle/>
          <a:p>
            <a:pPr marL="228594" indent="-228594" defTabSz="1219170">
              <a:lnSpc>
                <a:spcPct val="120000"/>
              </a:lnSpc>
              <a:buFont typeface="Arial" panose="020B0604020202020204" pitchFamily="34" charset="0"/>
              <a:buChar char="•"/>
            </a:pPr>
            <a:r>
              <a:rPr lang="en-US" altLang="zh-CN" sz="1400" dirty="0">
                <a:solidFill>
                  <a:prstClr val="black">
                    <a:lumMod val="75000"/>
                    <a:lumOff val="25000"/>
                  </a:prstClr>
                </a:solidFill>
                <a:latin typeface="+mn-ea"/>
              </a:rPr>
              <a:t>EVT</a:t>
            </a:r>
            <a:r>
              <a:rPr lang="zh-CN" altLang="en-US" sz="1400" dirty="0">
                <a:solidFill>
                  <a:prstClr val="black">
                    <a:lumMod val="75000"/>
                    <a:lumOff val="25000"/>
                  </a:prstClr>
                </a:solidFill>
                <a:latin typeface="+mn-ea"/>
              </a:rPr>
              <a:t>启测前验证板卡稳定性，确保无重大问题影响</a:t>
            </a:r>
            <a:r>
              <a:rPr lang="en-US" altLang="zh-CN" sz="1400" dirty="0">
                <a:solidFill>
                  <a:prstClr val="black">
                    <a:lumMod val="75000"/>
                    <a:lumOff val="25000"/>
                  </a:prstClr>
                </a:solidFill>
                <a:latin typeface="+mn-ea"/>
              </a:rPr>
              <a:t>EVT</a:t>
            </a:r>
            <a:r>
              <a:rPr lang="zh-CN" altLang="en-US" sz="1400" dirty="0">
                <a:solidFill>
                  <a:prstClr val="black">
                    <a:lumMod val="75000"/>
                    <a:lumOff val="25000"/>
                  </a:prstClr>
                </a:solidFill>
                <a:latin typeface="+mn-ea"/>
              </a:rPr>
              <a:t>测试</a:t>
            </a:r>
            <a:endParaRPr lang="en-US" altLang="zh-CN" sz="1400" dirty="0">
              <a:solidFill>
                <a:prstClr val="black">
                  <a:lumMod val="75000"/>
                  <a:lumOff val="25000"/>
                </a:prstClr>
              </a:solidFill>
              <a:latin typeface="+mn-ea"/>
            </a:endParaRPr>
          </a:p>
          <a:p>
            <a:pPr marL="228594" indent="-228594" defTabSz="1219170">
              <a:lnSpc>
                <a:spcPct val="120000"/>
              </a:lnSpc>
              <a:buFont typeface="Arial" panose="020B0604020202020204" pitchFamily="34" charset="0"/>
              <a:buChar char="•"/>
            </a:pPr>
            <a:r>
              <a:rPr lang="zh-CN" altLang="en-US" sz="1400" dirty="0">
                <a:solidFill>
                  <a:prstClr val="black">
                    <a:lumMod val="75000"/>
                    <a:lumOff val="25000"/>
                  </a:prstClr>
                </a:solidFill>
                <a:latin typeface="+mn-ea"/>
              </a:rPr>
              <a:t>交付物：</a:t>
            </a:r>
            <a:r>
              <a:rPr lang="en-US" altLang="zh-CN" sz="1400" dirty="0">
                <a:solidFill>
                  <a:prstClr val="black">
                    <a:lumMod val="75000"/>
                    <a:lumOff val="25000"/>
                  </a:prstClr>
                </a:solidFill>
                <a:latin typeface="+mn-ea"/>
              </a:rPr>
              <a:t>《</a:t>
            </a:r>
            <a:r>
              <a:rPr lang="zh-CN" altLang="en-US" sz="1400" dirty="0">
                <a:solidFill>
                  <a:prstClr val="black">
                    <a:lumMod val="75000"/>
                    <a:lumOff val="25000"/>
                  </a:prstClr>
                </a:solidFill>
                <a:latin typeface="+mn-ea"/>
              </a:rPr>
              <a:t>系统</a:t>
            </a:r>
            <a:r>
              <a:rPr lang="en-US" altLang="zh-CN" sz="1400" dirty="0">
                <a:solidFill>
                  <a:prstClr val="black">
                    <a:lumMod val="75000"/>
                    <a:lumOff val="25000"/>
                  </a:prstClr>
                </a:solidFill>
                <a:latin typeface="+mn-ea"/>
              </a:rPr>
              <a:t>Power-On </a:t>
            </a:r>
            <a:r>
              <a:rPr lang="zh-CN" altLang="en-US" sz="1400" dirty="0">
                <a:solidFill>
                  <a:prstClr val="black">
                    <a:lumMod val="75000"/>
                    <a:lumOff val="25000"/>
                  </a:prstClr>
                </a:solidFill>
                <a:latin typeface="+mn-ea"/>
              </a:rPr>
              <a:t>报告</a:t>
            </a:r>
            <a:r>
              <a:rPr lang="en-US" altLang="zh-CN" sz="1400" dirty="0">
                <a:solidFill>
                  <a:prstClr val="black">
                    <a:lumMod val="75000"/>
                    <a:lumOff val="25000"/>
                  </a:prstClr>
                </a:solidFill>
                <a:latin typeface="+mn-ea"/>
              </a:rPr>
              <a:t>》</a:t>
            </a:r>
          </a:p>
        </p:txBody>
      </p:sp>
      <p:sp>
        <p:nvSpPr>
          <p:cNvPr id="24" name="íṣḻíḓè">
            <a:extLst>
              <a:ext uri="{FF2B5EF4-FFF2-40B4-BE49-F238E27FC236}">
                <a16:creationId xmlns:a16="http://schemas.microsoft.com/office/drawing/2014/main" id="{979E06EE-4340-E8DF-D3DB-3DDFA66A325F}"/>
              </a:ext>
            </a:extLst>
          </p:cNvPr>
          <p:cNvSpPr/>
          <p:nvPr/>
        </p:nvSpPr>
        <p:spPr bwMode="auto">
          <a:xfrm>
            <a:off x="4749966" y="1144233"/>
            <a:ext cx="594063" cy="56053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4">
              <a:lumMod val="75000"/>
            </a:schemeClr>
          </a:solidFill>
          <a:ln w="9525">
            <a:noFill/>
            <a:round/>
            <a:headEnd/>
            <a:tailEnd/>
          </a:ln>
        </p:spPr>
        <p:txBody>
          <a:bodyPr anchor="ctr"/>
          <a:lstStyle/>
          <a:p>
            <a:pPr algn="ctr" defTabSz="1219170"/>
            <a:endParaRPr sz="2667">
              <a:solidFill>
                <a:prstClr val="black">
                  <a:lumMod val="75000"/>
                  <a:lumOff val="25000"/>
                </a:prstClr>
              </a:solidFill>
              <a:ea typeface="微软雅黑"/>
            </a:endParaRPr>
          </a:p>
        </p:txBody>
      </p:sp>
      <p:sp>
        <p:nvSpPr>
          <p:cNvPr id="25" name="íṣḻíḓè">
            <a:extLst>
              <a:ext uri="{FF2B5EF4-FFF2-40B4-BE49-F238E27FC236}">
                <a16:creationId xmlns:a16="http://schemas.microsoft.com/office/drawing/2014/main" id="{F76E36DB-7336-D69D-8868-8B4C34A8432A}"/>
              </a:ext>
            </a:extLst>
          </p:cNvPr>
          <p:cNvSpPr/>
          <p:nvPr/>
        </p:nvSpPr>
        <p:spPr bwMode="auto">
          <a:xfrm>
            <a:off x="4749966" y="2475335"/>
            <a:ext cx="594063" cy="56053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6">
              <a:lumMod val="75000"/>
            </a:schemeClr>
          </a:solidFill>
          <a:ln w="9525">
            <a:noFill/>
            <a:round/>
            <a:headEnd/>
            <a:tailEnd/>
          </a:ln>
        </p:spPr>
        <p:txBody>
          <a:bodyPr anchor="ctr"/>
          <a:lstStyle/>
          <a:p>
            <a:pPr algn="ctr" defTabSz="1219170"/>
            <a:endParaRPr sz="2667">
              <a:solidFill>
                <a:prstClr val="black">
                  <a:lumMod val="75000"/>
                  <a:lumOff val="25000"/>
                </a:prstClr>
              </a:solidFill>
              <a:ea typeface="微软雅黑"/>
            </a:endParaRPr>
          </a:p>
        </p:txBody>
      </p:sp>
      <p:sp>
        <p:nvSpPr>
          <p:cNvPr id="26" name="íṣḻíḓè">
            <a:extLst>
              <a:ext uri="{FF2B5EF4-FFF2-40B4-BE49-F238E27FC236}">
                <a16:creationId xmlns:a16="http://schemas.microsoft.com/office/drawing/2014/main" id="{422EF465-9358-5BB2-D5DD-9BE55D008158}"/>
              </a:ext>
            </a:extLst>
          </p:cNvPr>
          <p:cNvSpPr/>
          <p:nvPr/>
        </p:nvSpPr>
        <p:spPr bwMode="auto">
          <a:xfrm>
            <a:off x="4749966" y="3808645"/>
            <a:ext cx="594063" cy="56053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4">
              <a:lumMod val="75000"/>
            </a:schemeClr>
          </a:solidFill>
          <a:ln w="9525">
            <a:noFill/>
            <a:round/>
            <a:headEnd/>
            <a:tailEnd/>
          </a:ln>
        </p:spPr>
        <p:txBody>
          <a:bodyPr anchor="ctr"/>
          <a:lstStyle/>
          <a:p>
            <a:pPr algn="ctr" defTabSz="1219170"/>
            <a:endParaRPr sz="2667">
              <a:solidFill>
                <a:prstClr val="black">
                  <a:lumMod val="75000"/>
                  <a:lumOff val="25000"/>
                </a:prstClr>
              </a:solidFill>
              <a:ea typeface="微软雅黑"/>
            </a:endParaRPr>
          </a:p>
        </p:txBody>
      </p:sp>
      <p:sp>
        <p:nvSpPr>
          <p:cNvPr id="27" name="íṣḻíḓè">
            <a:extLst>
              <a:ext uri="{FF2B5EF4-FFF2-40B4-BE49-F238E27FC236}">
                <a16:creationId xmlns:a16="http://schemas.microsoft.com/office/drawing/2014/main" id="{80579E9C-15F2-FB3D-EFF6-453B1E2E5D1A}"/>
              </a:ext>
            </a:extLst>
          </p:cNvPr>
          <p:cNvSpPr/>
          <p:nvPr/>
        </p:nvSpPr>
        <p:spPr bwMode="auto">
          <a:xfrm>
            <a:off x="4749966" y="5125913"/>
            <a:ext cx="594063" cy="56053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6">
              <a:lumMod val="75000"/>
            </a:schemeClr>
          </a:solidFill>
          <a:ln w="9525">
            <a:noFill/>
            <a:round/>
            <a:headEnd/>
            <a:tailEnd/>
          </a:ln>
        </p:spPr>
        <p:txBody>
          <a:bodyPr anchor="ctr"/>
          <a:lstStyle/>
          <a:p>
            <a:pPr algn="ctr" defTabSz="1219170"/>
            <a:endParaRPr sz="2667">
              <a:solidFill>
                <a:prstClr val="black">
                  <a:lumMod val="75000"/>
                  <a:lumOff val="25000"/>
                </a:prstClr>
              </a:solidFill>
              <a:ea typeface="微软雅黑"/>
            </a:endParaRPr>
          </a:p>
        </p:txBody>
      </p:sp>
      <p:sp>
        <p:nvSpPr>
          <p:cNvPr id="16" name="文本框 15"/>
          <p:cNvSpPr txBox="1"/>
          <p:nvPr/>
        </p:nvSpPr>
        <p:spPr>
          <a:xfrm>
            <a:off x="547246" y="5499335"/>
            <a:ext cx="4678881" cy="757130"/>
          </a:xfrm>
          <a:prstGeom prst="rect">
            <a:avLst/>
          </a:prstGeom>
          <a:noFill/>
        </p:spPr>
        <p:txBody>
          <a:bodyPr wrap="square" rtlCol="0">
            <a:spAutoFit/>
          </a:bodyPr>
          <a:lstStyle/>
          <a:p>
            <a:pPr>
              <a:lnSpc>
                <a:spcPct val="120000"/>
              </a:lnSpc>
            </a:pPr>
            <a:r>
              <a:rPr lang="zh-CN" altLang="en-US" sz="1200" b="1" dirty="0">
                <a:solidFill>
                  <a:srgbClr val="178AA1"/>
                </a:solidFill>
                <a:latin typeface="+mn-ea"/>
              </a:rPr>
              <a:t>架构师重点关注：</a:t>
            </a:r>
            <a:endParaRPr lang="en-US" altLang="zh-CN" sz="1200" b="1" dirty="0">
              <a:solidFill>
                <a:srgbClr val="178AA1"/>
              </a:solidFill>
              <a:latin typeface="+mn-ea"/>
            </a:endParaRPr>
          </a:p>
          <a:p>
            <a:pPr>
              <a:lnSpc>
                <a:spcPct val="120000"/>
              </a:lnSpc>
            </a:pPr>
            <a:r>
              <a:rPr lang="en-US" altLang="zh-CN" sz="1200" dirty="0" smtClean="0">
                <a:solidFill>
                  <a:schemeClr val="tx1">
                    <a:lumMod val="75000"/>
                    <a:lumOff val="25000"/>
                  </a:schemeClr>
                </a:solidFill>
                <a:latin typeface="+mn-ea"/>
              </a:rPr>
              <a:t>1</a:t>
            </a:r>
            <a:r>
              <a:rPr lang="zh-CN" altLang="en-US" sz="1200" dirty="0" smtClean="0">
                <a:solidFill>
                  <a:schemeClr val="tx1">
                    <a:lumMod val="75000"/>
                    <a:lumOff val="25000"/>
                  </a:schemeClr>
                </a:solidFill>
                <a:latin typeface="+mn-ea"/>
              </a:rPr>
              <a:t>）参与</a:t>
            </a:r>
            <a:r>
              <a:rPr lang="en-US" altLang="zh-CN" sz="1200" dirty="0" smtClean="0">
                <a:solidFill>
                  <a:schemeClr val="tx1">
                    <a:lumMod val="75000"/>
                    <a:lumOff val="25000"/>
                  </a:schemeClr>
                </a:solidFill>
                <a:latin typeface="+mn-ea"/>
              </a:rPr>
              <a:t>Power –On </a:t>
            </a:r>
            <a:r>
              <a:rPr lang="zh-CN" altLang="en-US" sz="1200" dirty="0" smtClean="0">
                <a:solidFill>
                  <a:schemeClr val="tx1">
                    <a:lumMod val="75000"/>
                    <a:lumOff val="25000"/>
                  </a:schemeClr>
                </a:solidFill>
                <a:latin typeface="+mn-ea"/>
              </a:rPr>
              <a:t>进程中疑难问题攻关；</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2</a:t>
            </a:r>
            <a:r>
              <a:rPr lang="zh-CN" altLang="en-US" sz="1200" dirty="0" smtClean="0">
                <a:solidFill>
                  <a:schemeClr val="tx1">
                    <a:lumMod val="75000"/>
                    <a:lumOff val="25000"/>
                  </a:schemeClr>
                </a:solidFill>
                <a:latin typeface="+mn-ea"/>
              </a:rPr>
              <a:t>）评审</a:t>
            </a:r>
            <a:r>
              <a:rPr lang="en-US" altLang="zh-CN" sz="1200" dirty="0" smtClean="0">
                <a:solidFill>
                  <a:schemeClr val="tx1">
                    <a:lumMod val="75000"/>
                    <a:lumOff val="25000"/>
                  </a:schemeClr>
                </a:solidFill>
                <a:latin typeface="+mn-ea"/>
              </a:rPr>
              <a:t>Power-On</a:t>
            </a:r>
            <a:r>
              <a:rPr lang="zh-CN" altLang="en-US" sz="1200" dirty="0">
                <a:solidFill>
                  <a:schemeClr val="tx1">
                    <a:lumMod val="75000"/>
                    <a:lumOff val="25000"/>
                  </a:schemeClr>
                </a:solidFill>
                <a:latin typeface="+mn-ea"/>
              </a:rPr>
              <a:t>报告</a:t>
            </a:r>
            <a:r>
              <a:rPr lang="zh-CN" altLang="en-US" sz="1200" dirty="0" smtClean="0">
                <a:solidFill>
                  <a:schemeClr val="tx1">
                    <a:lumMod val="75000"/>
                    <a:lumOff val="25000"/>
                  </a:schemeClr>
                </a:solidFill>
                <a:latin typeface="+mn-ea"/>
              </a:rPr>
              <a:t>；</a:t>
            </a:r>
            <a:endParaRPr lang="en-US" altLang="zh-CN" sz="1200" dirty="0" smtClean="0">
              <a:solidFill>
                <a:schemeClr val="tx1">
                  <a:lumMod val="75000"/>
                  <a:lumOff val="25000"/>
                </a:schemeClr>
              </a:solidFill>
              <a:latin typeface="+mn-ea"/>
            </a:endParaRPr>
          </a:p>
        </p:txBody>
      </p:sp>
      <p:sp>
        <p:nvSpPr>
          <p:cNvPr id="17" name="十字星 16"/>
          <p:cNvSpPr/>
          <p:nvPr/>
        </p:nvSpPr>
        <p:spPr>
          <a:xfrm>
            <a:off x="319832" y="5524966"/>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60279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L7Power-On——</a:t>
            </a:r>
            <a:r>
              <a:rPr lang="zh-CN" altLang="en-US" dirty="0">
                <a:latin typeface="+mn-lt"/>
                <a:ea typeface="+mn-ea"/>
                <a:cs typeface="+mn-ea"/>
                <a:sym typeface="+mn-lt"/>
              </a:rPr>
              <a:t>主要</a:t>
            </a:r>
            <a:r>
              <a:rPr lang="zh-CN" altLang="en-US" dirty="0" smtClean="0">
                <a:latin typeface="+mn-lt"/>
                <a:ea typeface="+mn-ea"/>
                <a:cs typeface="+mn-ea"/>
                <a:sym typeface="+mn-lt"/>
              </a:rPr>
              <a:t>工作</a:t>
            </a:r>
            <a:r>
              <a:rPr lang="zh-CN" altLang="en-US" dirty="0">
                <a:solidFill>
                  <a:srgbClr val="FF0000"/>
                </a:solidFill>
                <a:cs typeface="+mn-ea"/>
                <a:sym typeface="+mn-lt"/>
              </a:rPr>
              <a:t>（补充其他岗位）</a:t>
            </a:r>
          </a:p>
          <a:p>
            <a:endParaRPr lang="zh-CN" altLang="en-US" dirty="0">
              <a:latin typeface="+mn-lt"/>
              <a:ea typeface="+mn-ea"/>
              <a:cs typeface="+mn-ea"/>
              <a:sym typeface="+mn-lt"/>
            </a:endParaRPr>
          </a:p>
        </p:txBody>
      </p:sp>
      <p:graphicFrame>
        <p:nvGraphicFramePr>
          <p:cNvPr id="94" name="表格 93"/>
          <p:cNvGraphicFramePr>
            <a:graphicFrameLocks noGrp="1"/>
          </p:cNvGraphicFramePr>
          <p:nvPr/>
        </p:nvGraphicFramePr>
        <p:xfrm>
          <a:off x="408373" y="1112127"/>
          <a:ext cx="11363417" cy="3965899"/>
        </p:xfrm>
        <a:graphic>
          <a:graphicData uri="http://schemas.openxmlformats.org/drawingml/2006/table">
            <a:tbl>
              <a:tblPr firstRow="1" bandRow="1">
                <a:tableStyleId>{00A15C55-8517-42AA-B614-E9B94910E393}</a:tableStyleId>
              </a:tblPr>
              <a:tblGrid>
                <a:gridCol w="1227266">
                  <a:extLst>
                    <a:ext uri="{9D8B030D-6E8A-4147-A177-3AD203B41FA5}">
                      <a16:colId xmlns:a16="http://schemas.microsoft.com/office/drawing/2014/main" val="1503978168"/>
                    </a:ext>
                  </a:extLst>
                </a:gridCol>
                <a:gridCol w="2428454">
                  <a:extLst>
                    <a:ext uri="{9D8B030D-6E8A-4147-A177-3AD203B41FA5}">
                      <a16:colId xmlns:a16="http://schemas.microsoft.com/office/drawing/2014/main" val="773509366"/>
                    </a:ext>
                  </a:extLst>
                </a:gridCol>
                <a:gridCol w="5046252">
                  <a:extLst>
                    <a:ext uri="{9D8B030D-6E8A-4147-A177-3AD203B41FA5}">
                      <a16:colId xmlns:a16="http://schemas.microsoft.com/office/drawing/2014/main" val="1193865247"/>
                    </a:ext>
                  </a:extLst>
                </a:gridCol>
                <a:gridCol w="2661445">
                  <a:extLst>
                    <a:ext uri="{9D8B030D-6E8A-4147-A177-3AD203B41FA5}">
                      <a16:colId xmlns:a16="http://schemas.microsoft.com/office/drawing/2014/main" val="869367937"/>
                    </a:ext>
                  </a:extLst>
                </a:gridCol>
              </a:tblGrid>
              <a:tr h="529338">
                <a:tc>
                  <a:txBody>
                    <a:bodyPr/>
                    <a:lstStyle/>
                    <a:p>
                      <a:pPr algn="ctr"/>
                      <a:r>
                        <a:rPr lang="zh-CN" altLang="en-US" sz="1900" dirty="0">
                          <a:sym typeface="+mn-lt"/>
                        </a:rPr>
                        <a:t>岗位名称</a:t>
                      </a:r>
                      <a:endParaRPr lang="zh-CN" altLang="en-US" sz="1900" dirty="0">
                        <a:latin typeface="+mn-lt"/>
                        <a:ea typeface="+mn-ea"/>
                        <a:cs typeface="+mn-ea"/>
                        <a:sym typeface="+mn-lt"/>
                      </a:endParaRPr>
                    </a:p>
                  </a:txBody>
                  <a:tcPr marL="121920" marR="121920" marT="60960" marB="60960"/>
                </a:tc>
                <a:tc gridSpan="2">
                  <a:txBody>
                    <a:bodyPr/>
                    <a:lstStyle/>
                    <a:p>
                      <a:pPr algn="ctr"/>
                      <a:r>
                        <a:rPr lang="zh-CN" altLang="en-US" sz="1900" dirty="0">
                          <a:sym typeface="+mn-lt"/>
                        </a:rPr>
                        <a:t>工作内容</a:t>
                      </a:r>
                      <a:r>
                        <a:rPr lang="en-US" altLang="zh-CN" sz="1900" dirty="0">
                          <a:sym typeface="+mn-lt"/>
                        </a:rPr>
                        <a:t>&amp;</a:t>
                      </a:r>
                      <a:r>
                        <a:rPr lang="zh-CN" altLang="en-US" sz="1900" dirty="0">
                          <a:sym typeface="+mn-lt"/>
                        </a:rPr>
                        <a:t>参与人</a:t>
                      </a:r>
                      <a:endParaRPr lang="zh-CN" altLang="en-US" sz="1900" dirty="0">
                        <a:latin typeface="+mn-lt"/>
                        <a:ea typeface="+mn-ea"/>
                        <a:cs typeface="+mn-ea"/>
                        <a:sym typeface="+mn-lt"/>
                      </a:endParaRPr>
                    </a:p>
                  </a:txBody>
                  <a:tcPr marL="121920" marR="121920" marT="60960" marB="60960"/>
                </a:tc>
                <a:tc hMerge="1">
                  <a:txBody>
                    <a:bodyPr/>
                    <a:lstStyle/>
                    <a:p>
                      <a:pPr algn="ctr"/>
                      <a:endParaRPr lang="zh-CN" altLang="en-US" sz="1900" dirty="0">
                        <a:latin typeface="+mn-lt"/>
                        <a:ea typeface="+mn-ea"/>
                        <a:cs typeface="+mn-ea"/>
                        <a:sym typeface="+mn-lt"/>
                      </a:endParaRPr>
                    </a:p>
                  </a:txBody>
                  <a:tcPr marL="121920" marR="121920" marT="60960" marB="60960">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AD2830"/>
                    </a:solidFill>
                  </a:tcPr>
                </a:tc>
                <a:tc>
                  <a:txBody>
                    <a:bodyPr/>
                    <a:lstStyle/>
                    <a:p>
                      <a:pPr algn="ctr"/>
                      <a:r>
                        <a:rPr lang="zh-CN" altLang="en-US" sz="1900" dirty="0">
                          <a:sym typeface="+mn-lt"/>
                        </a:rPr>
                        <a:t>输出物</a:t>
                      </a:r>
                      <a:endParaRPr lang="zh-CN" altLang="en-US" sz="1900" dirty="0">
                        <a:latin typeface="+mn-lt"/>
                        <a:ea typeface="+mn-ea"/>
                        <a:cs typeface="+mn-ea"/>
                        <a:sym typeface="+mn-lt"/>
                      </a:endParaRPr>
                    </a:p>
                  </a:txBody>
                  <a:tcPr marL="121920" marR="121920" marT="60960" marB="60960"/>
                </a:tc>
                <a:extLst>
                  <a:ext uri="{0D108BD9-81ED-4DB2-BD59-A6C34878D82A}">
                    <a16:rowId xmlns:a16="http://schemas.microsoft.com/office/drawing/2014/main" val="3162067804"/>
                  </a:ext>
                </a:extLst>
              </a:tr>
              <a:tr h="2650431">
                <a:tc rowSpan="2">
                  <a:txBody>
                    <a:bodyPr/>
                    <a:lstStyle/>
                    <a:p>
                      <a:pPr algn="ctr"/>
                      <a:r>
                        <a:rPr lang="zh-CN" altLang="en-US" sz="1400" dirty="0">
                          <a:sym typeface="+mn-lt"/>
                        </a:rPr>
                        <a:t>项目经理</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ym typeface="+mn-lt"/>
                        </a:rPr>
                        <a:t>项目进展及状态跟踪</a:t>
                      </a:r>
                      <a:endParaRPr lang="zh-CN" altLang="en-US" sz="1400" dirty="0">
                        <a:latin typeface="+mn-lt"/>
                        <a:ea typeface="+mn-ea"/>
                        <a:cs typeface="+mn-ea"/>
                        <a:sym typeface="+mn-lt"/>
                      </a:endParaRPr>
                    </a:p>
                  </a:txBody>
                  <a:tcPr marL="121920" marR="121920" marT="60960" marB="60960" anchor="ctr"/>
                </a:tc>
                <a:tc>
                  <a:txBody>
                    <a:bodyPr/>
                    <a:lstStyle/>
                    <a:p>
                      <a:pPr marL="285750" indent="-285750">
                        <a:buFont typeface="Arial" panose="020B0604020202020204" pitchFamily="34" charset="0"/>
                        <a:buChar char="•"/>
                      </a:pPr>
                      <a:r>
                        <a:rPr lang="zh-CN" altLang="en-US" sz="1400" dirty="0">
                          <a:solidFill>
                            <a:schemeClr val="tx1"/>
                          </a:solidFill>
                          <a:sym typeface="+mn-lt"/>
                        </a:rPr>
                        <a:t>项目进度监控：</a:t>
                      </a:r>
                      <a:endParaRPr lang="en-US" altLang="zh-CN" sz="1400" dirty="0">
                        <a:solidFill>
                          <a:schemeClr val="tx1"/>
                        </a:solidFill>
                        <a:sym typeface="+mn-lt"/>
                      </a:endParaRPr>
                    </a:p>
                    <a:p>
                      <a:pPr marL="0" indent="0">
                        <a:buFont typeface="Arial" panose="020B0604020202020204" pitchFamily="34" charset="0"/>
                        <a:buNone/>
                      </a:pPr>
                      <a:r>
                        <a:rPr lang="en-US" altLang="zh-CN" sz="1400" dirty="0">
                          <a:solidFill>
                            <a:schemeClr val="tx1"/>
                          </a:solidFill>
                          <a:sym typeface="+mn-lt"/>
                        </a:rPr>
                        <a:t>      </a:t>
                      </a:r>
                      <a:r>
                        <a:rPr lang="zh-CN" altLang="en-US" sz="1400" dirty="0">
                          <a:solidFill>
                            <a:schemeClr val="tx1"/>
                          </a:solidFill>
                          <a:sym typeface="+mn-lt"/>
                        </a:rPr>
                        <a:t>各技术组</a:t>
                      </a:r>
                      <a:r>
                        <a:rPr lang="en-US" altLang="zh-CN" sz="1400" dirty="0">
                          <a:solidFill>
                            <a:schemeClr val="tx1"/>
                          </a:solidFill>
                          <a:sym typeface="+mn-lt"/>
                        </a:rPr>
                        <a:t>Power-On</a:t>
                      </a:r>
                      <a:r>
                        <a:rPr lang="zh-CN" altLang="en-US" sz="1400" dirty="0">
                          <a:solidFill>
                            <a:schemeClr val="tx1"/>
                          </a:solidFill>
                          <a:sym typeface="+mn-lt"/>
                        </a:rPr>
                        <a:t>进度跟踪</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项目问题</a:t>
                      </a:r>
                      <a:r>
                        <a:rPr lang="en-US" altLang="zh-CN" sz="1400" dirty="0">
                          <a:solidFill>
                            <a:schemeClr val="tx1"/>
                          </a:solidFill>
                          <a:sym typeface="+mn-lt"/>
                        </a:rPr>
                        <a:t>&amp;</a:t>
                      </a:r>
                      <a:r>
                        <a:rPr lang="zh-CN" altLang="en-US" sz="1400" dirty="0">
                          <a:solidFill>
                            <a:schemeClr val="tx1"/>
                          </a:solidFill>
                          <a:sym typeface="+mn-lt"/>
                        </a:rPr>
                        <a:t>风险监控</a:t>
                      </a:r>
                      <a:endParaRPr lang="en-US" altLang="zh-CN" sz="1400" dirty="0">
                        <a:solidFill>
                          <a:schemeClr val="tx1"/>
                        </a:solidFill>
                        <a:sym typeface="+mn-lt"/>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dirty="0">
                          <a:solidFill>
                            <a:schemeClr val="tx1"/>
                          </a:solidFill>
                          <a:sym typeface="+mn-lt"/>
                        </a:rPr>
                        <a:t>项目变更控制</a:t>
                      </a:r>
                      <a:endParaRPr lang="en-US" altLang="zh-CN"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《QR-D-PH-003-003</a:t>
                      </a:r>
                      <a:r>
                        <a:rPr lang="zh-CN" altLang="en-US" sz="1400" u="none" strike="noStrike" kern="1200" dirty="0">
                          <a:solidFill>
                            <a:schemeClr val="dk1"/>
                          </a:solidFill>
                          <a:effectLst/>
                          <a:sym typeface="+mn-lt"/>
                        </a:rPr>
                        <a:t>项目会议纪要</a:t>
                      </a:r>
                      <a:r>
                        <a:rPr lang="en-US" altLang="zh-CN" sz="1400" u="none" strike="noStrike" kern="1200" dirty="0">
                          <a:solidFill>
                            <a:schemeClr val="dk1"/>
                          </a:solidFill>
                          <a:effectLst/>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在研项目状态周报</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（双周）</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sym typeface="+mn-lt"/>
                        </a:rPr>
                        <a:t>   项目严重风险</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问题预警（决策委员会）</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《QR-D-PH-002-001 </a:t>
                      </a:r>
                      <a:r>
                        <a:rPr lang="zh-CN" altLang="en-US" sz="1400" u="none" strike="noStrike" kern="1200" dirty="0">
                          <a:solidFill>
                            <a:schemeClr val="dk1"/>
                          </a:solidFill>
                          <a:effectLst/>
                          <a:sym typeface="+mn-lt"/>
                        </a:rPr>
                        <a:t>项目计划书</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（可选）</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982289352"/>
                  </a:ext>
                </a:extLst>
              </a:tr>
              <a:tr h="786130">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zh-CN" altLang="en-US" sz="1400" dirty="0">
                          <a:sym typeface="+mn-lt"/>
                        </a:rPr>
                        <a:t>组织各组</a:t>
                      </a:r>
                      <a:r>
                        <a:rPr lang="en-US" altLang="zh-CN" sz="1400" dirty="0">
                          <a:sym typeface="+mn-lt"/>
                        </a:rPr>
                        <a:t>Power-On</a:t>
                      </a:r>
                      <a:r>
                        <a:rPr lang="zh-CN" altLang="en-US" sz="1400" dirty="0">
                          <a:sym typeface="+mn-lt"/>
                        </a:rPr>
                        <a:t>报告评审问题讨论会</a:t>
                      </a:r>
                      <a:endParaRPr lang="zh-CN" altLang="en-US" sz="1400" dirty="0">
                        <a:latin typeface="+mn-lt"/>
                        <a:ea typeface="+mn-ea"/>
                        <a:cs typeface="+mn-ea"/>
                        <a:sym typeface="+mn-lt"/>
                      </a:endParaRPr>
                    </a:p>
                  </a:txBody>
                  <a:tcPr marL="121920" marR="121920" marT="60960" marB="60960" anchor="ctr"/>
                </a:tc>
                <a:tc>
                  <a:txBody>
                    <a:bodyPr/>
                    <a:lstStyle/>
                    <a:p>
                      <a:r>
                        <a:rPr lang="zh-CN" altLang="en-US" sz="1400" dirty="0">
                          <a:solidFill>
                            <a:schemeClr val="tx1"/>
                          </a:solidFill>
                          <a:sym typeface="+mn-lt"/>
                        </a:rPr>
                        <a:t>各产品工作者、产品经理、开发经理、评审问题提出人针对评审问题进行沟通讨论，形成结论，并追踪至问题闭环</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400" kern="1200" dirty="0">
                        <a:solidFill>
                          <a:srgbClr val="0070C0"/>
                        </a:solidFill>
                        <a:latin typeface="+mn-lt"/>
                        <a:ea typeface="+mn-ea"/>
                        <a:cs typeface="+mn-ea"/>
                        <a:sym typeface="+mn-lt"/>
                      </a:endParaRPr>
                    </a:p>
                  </a:txBody>
                  <a:tcPr marL="121920" marR="121920" marT="60960" marB="60960" anchor="ctr"/>
                </a:tc>
                <a:extLst>
                  <a:ext uri="{0D108BD9-81ED-4DB2-BD59-A6C34878D82A}">
                    <a16:rowId xmlns:a16="http://schemas.microsoft.com/office/drawing/2014/main" val="757293535"/>
                  </a:ext>
                </a:extLst>
              </a:tr>
            </a:tbl>
          </a:graphicData>
        </a:graphic>
      </p:graphicFrame>
    </p:spTree>
    <p:extLst>
      <p:ext uri="{BB962C8B-B14F-4D97-AF65-F5344CB8AC3E}">
        <p14:creationId xmlns:p14="http://schemas.microsoft.com/office/powerpoint/2010/main" val="3306866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L8 EVT</a:t>
            </a:r>
            <a:r>
              <a:rPr lang="zh-CN" altLang="en-US" dirty="0"/>
              <a:t>概念及工期划分</a:t>
            </a:r>
          </a:p>
        </p:txBody>
      </p:sp>
      <p:sp>
        <p:nvSpPr>
          <p:cNvPr id="71" name="文本框 29"/>
          <p:cNvSpPr txBox="1">
            <a:spLocks noChangeArrowheads="1"/>
          </p:cNvSpPr>
          <p:nvPr/>
        </p:nvSpPr>
        <p:spPr bwMode="auto">
          <a:xfrm>
            <a:off x="306552" y="774767"/>
            <a:ext cx="106771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50000"/>
              </a:lnSpc>
              <a:buFont typeface="Wingdings" panose="05000000000000000000" pitchFamily="2" charset="2"/>
              <a:buChar char="Ø"/>
            </a:pPr>
            <a:r>
              <a:rPr lang="en-US" altLang="zh-CN" sz="1200" dirty="0">
                <a:latin typeface="+mn-ea"/>
                <a:ea typeface="+mn-ea"/>
              </a:rPr>
              <a:t>EVT(Engineering Verification Test)</a:t>
            </a:r>
            <a:r>
              <a:rPr lang="zh-CN" altLang="en-US" sz="1200" dirty="0">
                <a:latin typeface="+mn-ea"/>
                <a:ea typeface="+mn-ea"/>
              </a:rPr>
              <a:t>指工程验证，此阶段是针对工程原型机做验证。这一阶段的重点是尽可能多的发现设计问题，以便及早修正</a:t>
            </a:r>
            <a:r>
              <a:rPr lang="zh-CN" altLang="en-US" sz="1200" dirty="0" smtClean="0">
                <a:latin typeface="+mn-ea"/>
                <a:ea typeface="+mn-ea"/>
              </a:rPr>
              <a:t>。</a:t>
            </a:r>
            <a:endParaRPr lang="en-US" altLang="zh-CN" sz="1200" b="1" dirty="0">
              <a:solidFill>
                <a:srgbClr val="404040"/>
              </a:solidFill>
              <a:latin typeface="+mn-ea"/>
              <a:ea typeface="+mn-ea"/>
              <a:sym typeface="等线" panose="02010600030101010101" pitchFamily="2" charset="-122"/>
            </a:endParaRPr>
          </a:p>
          <a:p>
            <a:pPr>
              <a:lnSpc>
                <a:spcPct val="150000"/>
              </a:lnSpc>
              <a:buFont typeface="Wingdings" panose="05000000000000000000" pitchFamily="2" charset="2"/>
              <a:buChar char="Ø"/>
            </a:pPr>
            <a:r>
              <a:rPr lang="en-US" altLang="zh-CN" sz="1200" dirty="0">
                <a:solidFill>
                  <a:srgbClr val="404040"/>
                </a:solidFill>
                <a:latin typeface="+mn-ea"/>
                <a:ea typeface="+mn-ea"/>
                <a:sym typeface="等线" panose="02010600030101010101" pitchFamily="2" charset="-122"/>
              </a:rPr>
              <a:t>EVT</a:t>
            </a:r>
            <a:r>
              <a:rPr lang="zh-CN" altLang="en-US" sz="1200" dirty="0">
                <a:solidFill>
                  <a:srgbClr val="404040"/>
                </a:solidFill>
                <a:latin typeface="+mn-ea"/>
                <a:ea typeface="+mn-ea"/>
                <a:sym typeface="等线" panose="02010600030101010101" pitchFamily="2" charset="-122"/>
              </a:rPr>
              <a:t>周期（标准工期：</a:t>
            </a:r>
            <a:r>
              <a:rPr lang="en-US" altLang="zh-CN" sz="1200" dirty="0">
                <a:solidFill>
                  <a:srgbClr val="404040"/>
                </a:solidFill>
                <a:latin typeface="+mn-ea"/>
                <a:ea typeface="+mn-ea"/>
                <a:sym typeface="等线" panose="02010600030101010101" pitchFamily="2" charset="-122"/>
              </a:rPr>
              <a:t>9</a:t>
            </a:r>
            <a:r>
              <a:rPr lang="zh-CN" altLang="en-US" sz="1200" dirty="0">
                <a:solidFill>
                  <a:srgbClr val="404040"/>
                </a:solidFill>
                <a:latin typeface="+mn-ea"/>
                <a:ea typeface="+mn-ea"/>
                <a:sym typeface="等线" panose="02010600030101010101" pitchFamily="2" charset="-122"/>
              </a:rPr>
              <a:t>周）</a:t>
            </a:r>
            <a:endParaRPr lang="en-US" altLang="zh-CN" sz="1200" dirty="0">
              <a:solidFill>
                <a:srgbClr val="404040"/>
              </a:solidFill>
              <a:latin typeface="+mn-ea"/>
              <a:ea typeface="+mn-ea"/>
              <a:sym typeface="等线" panose="0201060003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4019308207"/>
              </p:ext>
            </p:extLst>
          </p:nvPr>
        </p:nvGraphicFramePr>
        <p:xfrm>
          <a:off x="334963" y="1446842"/>
          <a:ext cx="10465172" cy="3840426"/>
        </p:xfrm>
        <a:graphic>
          <a:graphicData uri="http://schemas.openxmlformats.org/drawingml/2006/table">
            <a:tbl>
              <a:tblPr firstRow="1" bandRow="1">
                <a:tableStyleId>{5C22544A-7EE6-4342-B048-85BDC9FD1C3A}</a:tableStyleId>
              </a:tblPr>
              <a:tblGrid>
                <a:gridCol w="652883">
                  <a:extLst>
                    <a:ext uri="{9D8B030D-6E8A-4147-A177-3AD203B41FA5}">
                      <a16:colId xmlns:a16="http://schemas.microsoft.com/office/drawing/2014/main" val="898584963"/>
                    </a:ext>
                  </a:extLst>
                </a:gridCol>
                <a:gridCol w="1011260">
                  <a:extLst>
                    <a:ext uri="{9D8B030D-6E8A-4147-A177-3AD203B41FA5}">
                      <a16:colId xmlns:a16="http://schemas.microsoft.com/office/drawing/2014/main" val="3673292109"/>
                    </a:ext>
                  </a:extLst>
                </a:gridCol>
                <a:gridCol w="1011260">
                  <a:extLst>
                    <a:ext uri="{9D8B030D-6E8A-4147-A177-3AD203B41FA5}">
                      <a16:colId xmlns:a16="http://schemas.microsoft.com/office/drawing/2014/main" val="1020949310"/>
                    </a:ext>
                  </a:extLst>
                </a:gridCol>
                <a:gridCol w="1011260">
                  <a:extLst>
                    <a:ext uri="{9D8B030D-6E8A-4147-A177-3AD203B41FA5}">
                      <a16:colId xmlns:a16="http://schemas.microsoft.com/office/drawing/2014/main" val="3683074341"/>
                    </a:ext>
                  </a:extLst>
                </a:gridCol>
                <a:gridCol w="1011260">
                  <a:extLst>
                    <a:ext uri="{9D8B030D-6E8A-4147-A177-3AD203B41FA5}">
                      <a16:colId xmlns:a16="http://schemas.microsoft.com/office/drawing/2014/main" val="1821825963"/>
                    </a:ext>
                  </a:extLst>
                </a:gridCol>
                <a:gridCol w="1011260">
                  <a:extLst>
                    <a:ext uri="{9D8B030D-6E8A-4147-A177-3AD203B41FA5}">
                      <a16:colId xmlns:a16="http://schemas.microsoft.com/office/drawing/2014/main" val="2065625844"/>
                    </a:ext>
                  </a:extLst>
                </a:gridCol>
                <a:gridCol w="1011260">
                  <a:extLst>
                    <a:ext uri="{9D8B030D-6E8A-4147-A177-3AD203B41FA5}">
                      <a16:colId xmlns:a16="http://schemas.microsoft.com/office/drawing/2014/main" val="3169718729"/>
                    </a:ext>
                  </a:extLst>
                </a:gridCol>
                <a:gridCol w="1011260">
                  <a:extLst>
                    <a:ext uri="{9D8B030D-6E8A-4147-A177-3AD203B41FA5}">
                      <a16:colId xmlns:a16="http://schemas.microsoft.com/office/drawing/2014/main" val="3473688751"/>
                    </a:ext>
                  </a:extLst>
                </a:gridCol>
                <a:gridCol w="1011260">
                  <a:extLst>
                    <a:ext uri="{9D8B030D-6E8A-4147-A177-3AD203B41FA5}">
                      <a16:colId xmlns:a16="http://schemas.microsoft.com/office/drawing/2014/main" val="3036016720"/>
                    </a:ext>
                  </a:extLst>
                </a:gridCol>
                <a:gridCol w="1011260">
                  <a:extLst>
                    <a:ext uri="{9D8B030D-6E8A-4147-A177-3AD203B41FA5}">
                      <a16:colId xmlns:a16="http://schemas.microsoft.com/office/drawing/2014/main" val="3318977312"/>
                    </a:ext>
                  </a:extLst>
                </a:gridCol>
                <a:gridCol w="710949">
                  <a:extLst>
                    <a:ext uri="{9D8B030D-6E8A-4147-A177-3AD203B41FA5}">
                      <a16:colId xmlns:a16="http://schemas.microsoft.com/office/drawing/2014/main" val="3950995722"/>
                    </a:ext>
                  </a:extLst>
                </a:gridCol>
              </a:tblGrid>
              <a:tr h="494453">
                <a:tc>
                  <a:txBody>
                    <a:bodyPr/>
                    <a:lstStyle/>
                    <a:p>
                      <a:pPr algn="ctr"/>
                      <a:r>
                        <a:rPr lang="en-US" altLang="zh-CN" sz="1200" dirty="0">
                          <a:latin typeface="+mn-ea"/>
                          <a:ea typeface="+mn-ea"/>
                        </a:rPr>
                        <a:t>PO</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W1</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W2</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W3</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W4</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W5</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W6</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W7</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W8</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W9</a:t>
                      </a:r>
                      <a:endParaRPr lang="zh-CN" altLang="en-US" sz="1200" dirty="0">
                        <a:latin typeface="+mn-ea"/>
                        <a:ea typeface="+mn-ea"/>
                      </a:endParaRPr>
                    </a:p>
                  </a:txBody>
                  <a:tcPr marL="121920" marR="121920" marT="60960" marB="60960" anchor="ctr">
                    <a:solidFill>
                      <a:schemeClr val="bg2">
                        <a:lumMod val="50000"/>
                      </a:schemeClr>
                    </a:solidFill>
                  </a:tcPr>
                </a:tc>
                <a:tc>
                  <a:txBody>
                    <a:bodyPr/>
                    <a:lstStyle/>
                    <a:p>
                      <a:pPr algn="ctr"/>
                      <a:r>
                        <a:rPr lang="en-US" altLang="zh-CN" sz="1200" dirty="0">
                          <a:latin typeface="+mn-ea"/>
                          <a:ea typeface="+mn-ea"/>
                        </a:rPr>
                        <a:t>DVT</a:t>
                      </a:r>
                      <a:endParaRPr lang="zh-CN" altLang="en-US" sz="1200" dirty="0">
                        <a:latin typeface="+mn-ea"/>
                        <a:ea typeface="+mn-ea"/>
                      </a:endParaRPr>
                    </a:p>
                  </a:txBody>
                  <a:tcPr marL="121920" marR="121920" marT="60960" marB="60960" anchor="ctr">
                    <a:solidFill>
                      <a:schemeClr val="bg2">
                        <a:lumMod val="50000"/>
                      </a:schemeClr>
                    </a:solidFill>
                  </a:tcPr>
                </a:tc>
                <a:extLst>
                  <a:ext uri="{0D108BD9-81ED-4DB2-BD59-A6C34878D82A}">
                    <a16:rowId xmlns:a16="http://schemas.microsoft.com/office/drawing/2014/main" val="3823509739"/>
                  </a:ext>
                </a:extLst>
              </a:tr>
              <a:tr h="3345973">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tc>
                  <a:txBody>
                    <a:bodyPr/>
                    <a:lstStyle/>
                    <a:p>
                      <a:endParaRPr lang="zh-CN" altLang="en-US" sz="1200" dirty="0"/>
                    </a:p>
                  </a:txBody>
                  <a:tcPr marL="121920" marR="121920" marT="60960" marB="60960">
                    <a:solidFill>
                      <a:schemeClr val="bg1">
                        <a:lumMod val="95000"/>
                      </a:schemeClr>
                    </a:solidFill>
                  </a:tcPr>
                </a:tc>
                <a:extLst>
                  <a:ext uri="{0D108BD9-81ED-4DB2-BD59-A6C34878D82A}">
                    <a16:rowId xmlns:a16="http://schemas.microsoft.com/office/drawing/2014/main" val="1350951440"/>
                  </a:ext>
                </a:extLst>
              </a:tr>
            </a:tbl>
          </a:graphicData>
        </a:graphic>
      </p:graphicFrame>
      <p:sp>
        <p:nvSpPr>
          <p:cNvPr id="5" name="矩形 4"/>
          <p:cNvSpPr/>
          <p:nvPr/>
        </p:nvSpPr>
        <p:spPr>
          <a:xfrm>
            <a:off x="1002171" y="2669555"/>
            <a:ext cx="6048672" cy="2447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mn-ea"/>
              </a:rPr>
              <a:t>SIT</a:t>
            </a:r>
            <a:r>
              <a:rPr lang="zh-CN" altLang="en-US" sz="1200" b="1" dirty="0">
                <a:latin typeface="+mn-ea"/>
              </a:rPr>
              <a:t>测试</a:t>
            </a:r>
          </a:p>
        </p:txBody>
      </p:sp>
      <p:sp>
        <p:nvSpPr>
          <p:cNvPr id="7" name="矩形 6"/>
          <p:cNvSpPr/>
          <p:nvPr/>
        </p:nvSpPr>
        <p:spPr>
          <a:xfrm>
            <a:off x="4559437" y="4654518"/>
            <a:ext cx="1440160" cy="22934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板卡改版</a:t>
            </a:r>
          </a:p>
        </p:txBody>
      </p:sp>
      <p:sp>
        <p:nvSpPr>
          <p:cNvPr id="8" name="矩形 7"/>
          <p:cNvSpPr/>
          <p:nvPr/>
        </p:nvSpPr>
        <p:spPr>
          <a:xfrm>
            <a:off x="6095609" y="4646573"/>
            <a:ext cx="3936436" cy="22934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生产加工</a:t>
            </a:r>
          </a:p>
        </p:txBody>
      </p:sp>
      <p:sp>
        <p:nvSpPr>
          <p:cNvPr id="11" name="矩形 10"/>
          <p:cNvSpPr/>
          <p:nvPr/>
        </p:nvSpPr>
        <p:spPr>
          <a:xfrm>
            <a:off x="1002171" y="2333046"/>
            <a:ext cx="6048672" cy="23836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mn-ea"/>
              </a:rPr>
              <a:t>SI</a:t>
            </a:r>
            <a:r>
              <a:rPr lang="zh-CN" altLang="en-US" sz="1200" b="1" dirty="0">
                <a:latin typeface="+mn-ea"/>
              </a:rPr>
              <a:t>测试</a:t>
            </a:r>
          </a:p>
        </p:txBody>
      </p:sp>
      <p:sp>
        <p:nvSpPr>
          <p:cNvPr id="15" name="矩形 14"/>
          <p:cNvSpPr/>
          <p:nvPr/>
        </p:nvSpPr>
        <p:spPr>
          <a:xfrm>
            <a:off x="1002171" y="3331917"/>
            <a:ext cx="2976331" cy="2447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mn-ea"/>
              </a:rPr>
              <a:t>PA</a:t>
            </a:r>
            <a:r>
              <a:rPr lang="zh-CN" altLang="en-US" sz="1200" b="1" dirty="0">
                <a:latin typeface="+mn-ea"/>
              </a:rPr>
              <a:t>测试</a:t>
            </a:r>
          </a:p>
        </p:txBody>
      </p:sp>
      <p:sp>
        <p:nvSpPr>
          <p:cNvPr id="16" name="矩形 15"/>
          <p:cNvSpPr/>
          <p:nvPr/>
        </p:nvSpPr>
        <p:spPr>
          <a:xfrm>
            <a:off x="1002170" y="3652722"/>
            <a:ext cx="3983857" cy="23246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可靠性测试</a:t>
            </a:r>
          </a:p>
        </p:txBody>
      </p:sp>
      <p:sp>
        <p:nvSpPr>
          <p:cNvPr id="17" name="矩形 16"/>
          <p:cNvSpPr/>
          <p:nvPr/>
        </p:nvSpPr>
        <p:spPr>
          <a:xfrm>
            <a:off x="2927256" y="4950031"/>
            <a:ext cx="3072341" cy="2412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机构改版</a:t>
            </a:r>
          </a:p>
        </p:txBody>
      </p:sp>
      <p:sp>
        <p:nvSpPr>
          <p:cNvPr id="18" name="矩形 17"/>
          <p:cNvSpPr/>
          <p:nvPr/>
        </p:nvSpPr>
        <p:spPr>
          <a:xfrm>
            <a:off x="6095607" y="4947159"/>
            <a:ext cx="3936436" cy="2440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生产加工</a:t>
            </a:r>
          </a:p>
        </p:txBody>
      </p:sp>
      <p:sp>
        <p:nvSpPr>
          <p:cNvPr id="19" name="矩形 18"/>
          <p:cNvSpPr/>
          <p:nvPr/>
        </p:nvSpPr>
        <p:spPr>
          <a:xfrm>
            <a:off x="2010283" y="4287090"/>
            <a:ext cx="8021760" cy="23352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latin typeface="+mn-ea"/>
              </a:rPr>
              <a:t>Debug+Bug</a:t>
            </a:r>
            <a:r>
              <a:rPr lang="zh-CN" altLang="en-US" sz="1200" b="1" dirty="0">
                <a:latin typeface="+mn-ea"/>
              </a:rPr>
              <a:t>验证</a:t>
            </a:r>
          </a:p>
        </p:txBody>
      </p:sp>
      <p:cxnSp>
        <p:nvCxnSpPr>
          <p:cNvPr id="6" name="直接连接符 5"/>
          <p:cNvCxnSpPr/>
          <p:nvPr/>
        </p:nvCxnSpPr>
        <p:spPr>
          <a:xfrm>
            <a:off x="1002171" y="2152492"/>
            <a:ext cx="6053544" cy="0"/>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1002171" y="2021632"/>
            <a:ext cx="6048672" cy="2196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mn-ea"/>
              </a:rPr>
              <a:t>DC</a:t>
            </a:r>
            <a:r>
              <a:rPr lang="zh-CN" altLang="en-US" sz="1200" b="1" dirty="0">
                <a:latin typeface="+mn-ea"/>
              </a:rPr>
              <a:t>测试</a:t>
            </a:r>
          </a:p>
        </p:txBody>
      </p:sp>
      <p:sp>
        <p:nvSpPr>
          <p:cNvPr id="31" name="矩形 30"/>
          <p:cNvSpPr/>
          <p:nvPr/>
        </p:nvSpPr>
        <p:spPr>
          <a:xfrm>
            <a:off x="1002171" y="3005540"/>
            <a:ext cx="6048672" cy="2447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散热测试</a:t>
            </a:r>
          </a:p>
        </p:txBody>
      </p:sp>
      <p:sp>
        <p:nvSpPr>
          <p:cNvPr id="41" name="流程图: 接点 40"/>
          <p:cNvSpPr/>
          <p:nvPr/>
        </p:nvSpPr>
        <p:spPr>
          <a:xfrm>
            <a:off x="3903764" y="3402844"/>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3" name="流程图: 接点 42"/>
          <p:cNvSpPr/>
          <p:nvPr/>
        </p:nvSpPr>
        <p:spPr>
          <a:xfrm>
            <a:off x="3903764" y="3725566"/>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2" name="流程图: 接点 21"/>
          <p:cNvSpPr/>
          <p:nvPr/>
        </p:nvSpPr>
        <p:spPr>
          <a:xfrm>
            <a:off x="4991485" y="2741207"/>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0" name="流程图: 接点 39"/>
          <p:cNvSpPr/>
          <p:nvPr/>
        </p:nvSpPr>
        <p:spPr>
          <a:xfrm>
            <a:off x="4986028" y="3082307"/>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1" name="等腰三角形 60"/>
          <p:cNvSpPr/>
          <p:nvPr/>
        </p:nvSpPr>
        <p:spPr>
          <a:xfrm>
            <a:off x="8367617" y="1936231"/>
            <a:ext cx="288032" cy="31141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3" name="等腰三角形 62"/>
          <p:cNvSpPr/>
          <p:nvPr/>
        </p:nvSpPr>
        <p:spPr>
          <a:xfrm>
            <a:off x="9423732" y="1932493"/>
            <a:ext cx="288032" cy="31141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cxnSp>
        <p:nvCxnSpPr>
          <p:cNvPr id="64" name="直接连接符 63"/>
          <p:cNvCxnSpPr>
            <a:endCxn id="65" idx="0"/>
          </p:cNvCxnSpPr>
          <p:nvPr/>
        </p:nvCxnSpPr>
        <p:spPr>
          <a:xfrm flipH="1">
            <a:off x="8505125" y="2147329"/>
            <a:ext cx="6508" cy="286102"/>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7958495" y="2433431"/>
            <a:ext cx="1093259" cy="535531"/>
          </a:xfrm>
          <a:prstGeom prst="rect">
            <a:avLst/>
          </a:prstGeom>
          <a:noFill/>
        </p:spPr>
        <p:txBody>
          <a:bodyPr wrap="square" rtlCol="0">
            <a:spAutoFit/>
          </a:bodyPr>
          <a:lstStyle/>
          <a:p>
            <a:pPr>
              <a:lnSpc>
                <a:spcPct val="120000"/>
              </a:lnSpc>
            </a:pPr>
            <a:r>
              <a:rPr lang="zh-CN" altLang="en-US" sz="1200" dirty="0">
                <a:solidFill>
                  <a:schemeClr val="tx1">
                    <a:lumMod val="75000"/>
                    <a:lumOff val="25000"/>
                  </a:schemeClr>
                </a:solidFill>
                <a:latin typeface="+mn-ea"/>
              </a:rPr>
              <a:t>各组</a:t>
            </a:r>
            <a:r>
              <a:rPr lang="en-US" altLang="zh-CN" sz="1200" dirty="0">
                <a:solidFill>
                  <a:schemeClr val="tx1">
                    <a:lumMod val="75000"/>
                    <a:lumOff val="25000"/>
                  </a:schemeClr>
                </a:solidFill>
                <a:latin typeface="+mn-ea"/>
              </a:rPr>
              <a:t>EVT</a:t>
            </a:r>
            <a:r>
              <a:rPr lang="zh-CN" altLang="en-US" sz="1200" dirty="0">
                <a:solidFill>
                  <a:schemeClr val="tx1">
                    <a:lumMod val="75000"/>
                    <a:lumOff val="25000"/>
                  </a:schemeClr>
                </a:solidFill>
                <a:latin typeface="+mn-ea"/>
              </a:rPr>
              <a:t>测试报告评审</a:t>
            </a:r>
          </a:p>
        </p:txBody>
      </p:sp>
      <p:cxnSp>
        <p:nvCxnSpPr>
          <p:cNvPr id="67" name="直接连接符 66"/>
          <p:cNvCxnSpPr>
            <a:endCxn id="68" idx="0"/>
          </p:cNvCxnSpPr>
          <p:nvPr/>
        </p:nvCxnSpPr>
        <p:spPr>
          <a:xfrm>
            <a:off x="9598383" y="2241268"/>
            <a:ext cx="0" cy="515931"/>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8999143" y="2757199"/>
            <a:ext cx="1198479" cy="535531"/>
          </a:xfrm>
          <a:prstGeom prst="rect">
            <a:avLst/>
          </a:prstGeom>
          <a:noFill/>
        </p:spPr>
        <p:txBody>
          <a:bodyPr wrap="square" rtlCol="0">
            <a:spAutoFit/>
          </a:bodyPr>
          <a:lstStyle/>
          <a:p>
            <a:pPr>
              <a:lnSpc>
                <a:spcPct val="120000"/>
              </a:lnSpc>
            </a:pPr>
            <a:r>
              <a:rPr lang="zh-CN" altLang="en-US" sz="1200" dirty="0">
                <a:solidFill>
                  <a:schemeClr val="tx1">
                    <a:lumMod val="75000"/>
                    <a:lumOff val="25000"/>
                  </a:schemeClr>
                </a:solidFill>
                <a:latin typeface="+mn-ea"/>
              </a:rPr>
              <a:t>各组</a:t>
            </a:r>
            <a:r>
              <a:rPr lang="en-US" altLang="zh-CN" sz="1200" dirty="0">
                <a:solidFill>
                  <a:schemeClr val="tx1">
                    <a:lumMod val="75000"/>
                    <a:lumOff val="25000"/>
                  </a:schemeClr>
                </a:solidFill>
                <a:latin typeface="+mn-ea"/>
              </a:rPr>
              <a:t>DVT</a:t>
            </a:r>
            <a:r>
              <a:rPr lang="zh-CN" altLang="en-US" sz="1200" dirty="0">
                <a:solidFill>
                  <a:schemeClr val="tx1">
                    <a:lumMod val="75000"/>
                    <a:lumOff val="25000"/>
                  </a:schemeClr>
                </a:solidFill>
                <a:latin typeface="+mn-ea"/>
              </a:rPr>
              <a:t>测试计划评审</a:t>
            </a:r>
          </a:p>
        </p:txBody>
      </p:sp>
      <p:cxnSp>
        <p:nvCxnSpPr>
          <p:cNvPr id="74" name="直接连接符 73"/>
          <p:cNvCxnSpPr>
            <a:cxnSpLocks/>
          </p:cNvCxnSpPr>
          <p:nvPr/>
        </p:nvCxnSpPr>
        <p:spPr>
          <a:xfrm>
            <a:off x="10095801" y="1917731"/>
            <a:ext cx="0" cy="3369538"/>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75" name="右箭头 74"/>
          <p:cNvSpPr/>
          <p:nvPr/>
        </p:nvSpPr>
        <p:spPr>
          <a:xfrm>
            <a:off x="10128052" y="3127919"/>
            <a:ext cx="520419" cy="274925"/>
          </a:xfrm>
          <a:prstGeom prst="rightArrow">
            <a:avLst/>
          </a:prstGeom>
          <a:solidFill>
            <a:schemeClr val="accent6">
              <a:lumMod val="10000"/>
            </a:schemeClr>
          </a:solidFill>
          <a:ln>
            <a:solidFill>
              <a:schemeClr val="accent6">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77" name="五角星 76"/>
          <p:cNvSpPr/>
          <p:nvPr/>
        </p:nvSpPr>
        <p:spPr>
          <a:xfrm>
            <a:off x="9976389" y="3155402"/>
            <a:ext cx="192025" cy="167992"/>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78" name="文本框 77"/>
          <p:cNvSpPr txBox="1"/>
          <p:nvPr/>
        </p:nvSpPr>
        <p:spPr>
          <a:xfrm>
            <a:off x="10000288" y="3379570"/>
            <a:ext cx="1001376" cy="535531"/>
          </a:xfrm>
          <a:prstGeom prst="rect">
            <a:avLst/>
          </a:prstGeom>
          <a:noFill/>
        </p:spPr>
        <p:txBody>
          <a:bodyPr wrap="square" rtlCol="0">
            <a:spAutoFit/>
          </a:bodyPr>
          <a:lstStyle/>
          <a:p>
            <a:pPr>
              <a:lnSpc>
                <a:spcPct val="120000"/>
              </a:lnSpc>
            </a:pPr>
            <a:r>
              <a:rPr lang="en-US" altLang="zh-CN" sz="1200" b="1" dirty="0">
                <a:solidFill>
                  <a:srgbClr val="FF0000"/>
                </a:solidFill>
                <a:latin typeface="+mn-ea"/>
              </a:rPr>
              <a:t>MR2 DVT</a:t>
            </a:r>
            <a:r>
              <a:rPr lang="zh-CN" altLang="en-US" sz="1200" b="1" dirty="0">
                <a:solidFill>
                  <a:srgbClr val="FF0000"/>
                </a:solidFill>
                <a:latin typeface="+mn-ea"/>
              </a:rPr>
              <a:t>准入评审</a:t>
            </a:r>
          </a:p>
        </p:txBody>
      </p:sp>
      <p:cxnSp>
        <p:nvCxnSpPr>
          <p:cNvPr id="80" name="直接连接符 79"/>
          <p:cNvCxnSpPr>
            <a:cxnSpLocks/>
          </p:cNvCxnSpPr>
          <p:nvPr/>
        </p:nvCxnSpPr>
        <p:spPr>
          <a:xfrm>
            <a:off x="1001399" y="1917731"/>
            <a:ext cx="0" cy="3402581"/>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81" name="右箭头 80"/>
          <p:cNvSpPr/>
          <p:nvPr/>
        </p:nvSpPr>
        <p:spPr>
          <a:xfrm>
            <a:off x="383284" y="3136091"/>
            <a:ext cx="520419" cy="274925"/>
          </a:xfrm>
          <a:prstGeom prst="rightArrow">
            <a:avLst/>
          </a:prstGeom>
          <a:solidFill>
            <a:schemeClr val="accent6">
              <a:lumMod val="10000"/>
            </a:schemeClr>
          </a:solidFill>
          <a:ln>
            <a:solidFill>
              <a:schemeClr val="accent6">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4" name="矩形 83"/>
          <p:cNvSpPr/>
          <p:nvPr/>
        </p:nvSpPr>
        <p:spPr>
          <a:xfrm>
            <a:off x="1001400" y="3973141"/>
            <a:ext cx="8998889" cy="23830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latin typeface="+mn-ea"/>
              </a:rPr>
              <a:t>软件版本开发（</a:t>
            </a:r>
            <a:r>
              <a:rPr lang="en-US" altLang="zh-CN" sz="1200" b="1" dirty="0">
                <a:latin typeface="+mn-ea"/>
              </a:rPr>
              <a:t>2</a:t>
            </a:r>
            <a:r>
              <a:rPr lang="zh-CN" altLang="en-US" sz="1200" b="1" dirty="0">
                <a:latin typeface="+mn-ea"/>
              </a:rPr>
              <a:t>周</a:t>
            </a:r>
            <a:r>
              <a:rPr lang="en-US" altLang="zh-CN" sz="1200" b="1" dirty="0">
                <a:latin typeface="+mn-ea"/>
              </a:rPr>
              <a:t>/</a:t>
            </a:r>
            <a:r>
              <a:rPr lang="zh-CN" altLang="en-US" sz="1200" b="1" dirty="0">
                <a:latin typeface="+mn-ea"/>
              </a:rPr>
              <a:t>迭代）</a:t>
            </a:r>
          </a:p>
        </p:txBody>
      </p:sp>
      <p:cxnSp>
        <p:nvCxnSpPr>
          <p:cNvPr id="42" name="直接箭头连接符 41"/>
          <p:cNvCxnSpPr/>
          <p:nvPr/>
        </p:nvCxnSpPr>
        <p:spPr>
          <a:xfrm>
            <a:off x="3951770" y="3448457"/>
            <a:ext cx="1108925" cy="1167399"/>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3942498" y="3778090"/>
            <a:ext cx="2729" cy="1210211"/>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2975875" y="2806585"/>
            <a:ext cx="8896" cy="2115940"/>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2" idx="3"/>
          </p:cNvCxnSpPr>
          <p:nvPr/>
        </p:nvCxnSpPr>
        <p:spPr>
          <a:xfrm flipH="1">
            <a:off x="3932591" y="2819071"/>
            <a:ext cx="1072955" cy="2169229"/>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5" name="等腰三角形 84"/>
          <p:cNvSpPr/>
          <p:nvPr/>
        </p:nvSpPr>
        <p:spPr>
          <a:xfrm>
            <a:off x="9680531" y="4002839"/>
            <a:ext cx="200349" cy="164523"/>
          </a:xfrm>
          <a:prstGeom prst="triangle">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6" name="文本框 85"/>
          <p:cNvSpPr txBox="1"/>
          <p:nvPr/>
        </p:nvSpPr>
        <p:spPr>
          <a:xfrm>
            <a:off x="8489762" y="3898417"/>
            <a:ext cx="1308997" cy="313932"/>
          </a:xfrm>
          <a:prstGeom prst="rect">
            <a:avLst/>
          </a:prstGeom>
          <a:noFill/>
        </p:spPr>
        <p:txBody>
          <a:bodyPr wrap="square" rtlCol="0">
            <a:spAutoFit/>
          </a:bodyPr>
          <a:lstStyle/>
          <a:p>
            <a:pPr>
              <a:lnSpc>
                <a:spcPct val="120000"/>
              </a:lnSpc>
            </a:pPr>
            <a:r>
              <a:rPr lang="zh-CN" altLang="en-US" sz="1200" b="1" dirty="0">
                <a:solidFill>
                  <a:schemeClr val="bg1"/>
                </a:solidFill>
              </a:rPr>
              <a:t>全功能版本</a:t>
            </a:r>
          </a:p>
        </p:txBody>
      </p:sp>
      <p:sp>
        <p:nvSpPr>
          <p:cNvPr id="46" name="流程图: 接点 45"/>
          <p:cNvSpPr/>
          <p:nvPr/>
        </p:nvSpPr>
        <p:spPr>
          <a:xfrm>
            <a:off x="2928928" y="2727676"/>
            <a:ext cx="96011" cy="91224"/>
          </a:xfrm>
          <a:prstGeom prst="flowChartConnector">
            <a:avLst/>
          </a:prstGeom>
          <a:solidFill>
            <a:srgbClr val="C5EEFF"/>
          </a:solidFill>
          <a:ln>
            <a:solidFill>
              <a:srgbClr val="C5EE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3" name="文本框 12"/>
          <p:cNvSpPr txBox="1"/>
          <p:nvPr/>
        </p:nvSpPr>
        <p:spPr>
          <a:xfrm>
            <a:off x="3065733" y="4603768"/>
            <a:ext cx="1765531" cy="313932"/>
          </a:xfrm>
          <a:prstGeom prst="rect">
            <a:avLst/>
          </a:prstGeom>
          <a:noFill/>
        </p:spPr>
        <p:txBody>
          <a:bodyPr wrap="square" rtlCol="0">
            <a:spAutoFit/>
          </a:bodyPr>
          <a:lstStyle/>
          <a:p>
            <a:pPr>
              <a:lnSpc>
                <a:spcPct val="120000"/>
              </a:lnSpc>
            </a:pPr>
            <a:r>
              <a:rPr lang="zh-CN" altLang="en-US" sz="1200" b="1" dirty="0">
                <a:solidFill>
                  <a:schemeClr val="tx1">
                    <a:lumMod val="75000"/>
                    <a:lumOff val="25000"/>
                  </a:schemeClr>
                </a:solidFill>
              </a:rPr>
              <a:t>输出改版意见</a:t>
            </a:r>
          </a:p>
        </p:txBody>
      </p:sp>
      <p:sp>
        <p:nvSpPr>
          <p:cNvPr id="92" name="等腰三角形 91"/>
          <p:cNvSpPr/>
          <p:nvPr/>
        </p:nvSpPr>
        <p:spPr>
          <a:xfrm>
            <a:off x="1001399" y="3000902"/>
            <a:ext cx="200349" cy="16452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2">
                  <a:lumMod val="25000"/>
                </a:schemeClr>
              </a:solidFill>
            </a:endParaRPr>
          </a:p>
        </p:txBody>
      </p:sp>
      <p:sp>
        <p:nvSpPr>
          <p:cNvPr id="93" name="文本框 92"/>
          <p:cNvSpPr txBox="1"/>
          <p:nvPr/>
        </p:nvSpPr>
        <p:spPr>
          <a:xfrm>
            <a:off x="482707" y="2725411"/>
            <a:ext cx="1572597" cy="313932"/>
          </a:xfrm>
          <a:prstGeom prst="rect">
            <a:avLst/>
          </a:prstGeom>
          <a:noFill/>
        </p:spPr>
        <p:txBody>
          <a:bodyPr wrap="square" rtlCol="0">
            <a:spAutoFit/>
          </a:bodyPr>
          <a:lstStyle/>
          <a:p>
            <a:pPr>
              <a:lnSpc>
                <a:spcPct val="120000"/>
              </a:lnSpc>
            </a:pPr>
            <a:r>
              <a:rPr lang="zh-CN" altLang="en-US" sz="1200" b="1" dirty="0">
                <a:solidFill>
                  <a:schemeClr val="bg2">
                    <a:lumMod val="25000"/>
                  </a:schemeClr>
                </a:solidFill>
              </a:rPr>
              <a:t>机构安装评审</a:t>
            </a:r>
          </a:p>
        </p:txBody>
      </p:sp>
      <p:sp>
        <p:nvSpPr>
          <p:cNvPr id="98" name="文本框 97"/>
          <p:cNvSpPr txBox="1"/>
          <p:nvPr/>
        </p:nvSpPr>
        <p:spPr>
          <a:xfrm>
            <a:off x="4818737" y="5165583"/>
            <a:ext cx="3014921" cy="317716"/>
          </a:xfrm>
          <a:prstGeom prst="rect">
            <a:avLst/>
          </a:prstGeom>
          <a:noFill/>
        </p:spPr>
        <p:txBody>
          <a:bodyPr wrap="square" rtlCol="0">
            <a:spAutoFit/>
          </a:bodyPr>
          <a:lstStyle/>
          <a:p>
            <a:pPr>
              <a:lnSpc>
                <a:spcPct val="120000"/>
              </a:lnSpc>
            </a:pPr>
            <a:r>
              <a:rPr lang="en-US" altLang="zh-CN" sz="1333" dirty="0">
                <a:solidFill>
                  <a:srgbClr val="0AB156"/>
                </a:solidFill>
                <a:latin typeface="+mn-ea"/>
              </a:rPr>
              <a:t>TR4 </a:t>
            </a:r>
            <a:r>
              <a:rPr lang="zh-CN" altLang="en-US" sz="1333" dirty="0">
                <a:solidFill>
                  <a:srgbClr val="0AB156"/>
                </a:solidFill>
                <a:latin typeface="+mn-ea"/>
              </a:rPr>
              <a:t>原型机技术状态评审 </a:t>
            </a:r>
            <a:r>
              <a:rPr lang="en-US" altLang="zh-CN" sz="1333" dirty="0">
                <a:solidFill>
                  <a:srgbClr val="0AB156"/>
                </a:solidFill>
                <a:latin typeface="+mn-ea"/>
              </a:rPr>
              <a:t>B01 G/O</a:t>
            </a:r>
            <a:endParaRPr lang="zh-CN" altLang="en-US" sz="1333" dirty="0">
              <a:solidFill>
                <a:srgbClr val="0AB156"/>
              </a:solidFill>
              <a:latin typeface="+mn-ea"/>
            </a:endParaRPr>
          </a:p>
        </p:txBody>
      </p:sp>
      <p:sp>
        <p:nvSpPr>
          <p:cNvPr id="102" name="矩形 101"/>
          <p:cNvSpPr/>
          <p:nvPr/>
        </p:nvSpPr>
        <p:spPr>
          <a:xfrm>
            <a:off x="5045536" y="2033904"/>
            <a:ext cx="2005307" cy="179705"/>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3" name="矩形 102"/>
          <p:cNvSpPr/>
          <p:nvPr/>
        </p:nvSpPr>
        <p:spPr>
          <a:xfrm>
            <a:off x="5044031" y="2357401"/>
            <a:ext cx="2005307" cy="179705"/>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4" name="矩形 103"/>
          <p:cNvSpPr/>
          <p:nvPr/>
        </p:nvSpPr>
        <p:spPr>
          <a:xfrm>
            <a:off x="3919518" y="3675907"/>
            <a:ext cx="1089103" cy="181768"/>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95" name="等腰三角形 94"/>
          <p:cNvSpPr/>
          <p:nvPr/>
        </p:nvSpPr>
        <p:spPr>
          <a:xfrm>
            <a:off x="5643540" y="1949202"/>
            <a:ext cx="288032" cy="311413"/>
          </a:xfrm>
          <a:prstGeom prst="triangle">
            <a:avLst/>
          </a:prstGeom>
          <a:solidFill>
            <a:srgbClr val="00B050"/>
          </a:solidFill>
          <a:ln>
            <a:solidFill>
              <a:srgbClr val="0AB1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cxnSp>
        <p:nvCxnSpPr>
          <p:cNvPr id="96" name="直接连接符 95"/>
          <p:cNvCxnSpPr/>
          <p:nvPr/>
        </p:nvCxnSpPr>
        <p:spPr>
          <a:xfrm>
            <a:off x="5778409" y="2290380"/>
            <a:ext cx="9148" cy="2900879"/>
          </a:xfrm>
          <a:prstGeom prst="line">
            <a:avLst/>
          </a:prstGeom>
          <a:ln w="22225">
            <a:solidFill>
              <a:srgbClr val="0AB156"/>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a:off x="3963771" y="3103110"/>
            <a:ext cx="1062347" cy="1819415"/>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9" name="流程图: 接点 38"/>
          <p:cNvSpPr/>
          <p:nvPr/>
        </p:nvSpPr>
        <p:spPr>
          <a:xfrm>
            <a:off x="4991485" y="2407826"/>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cxnSp>
        <p:nvCxnSpPr>
          <p:cNvPr id="14" name="直接箭头连接符 13"/>
          <p:cNvCxnSpPr>
            <a:cxnSpLocks/>
            <a:stCxn id="102" idx="1"/>
          </p:cNvCxnSpPr>
          <p:nvPr/>
        </p:nvCxnSpPr>
        <p:spPr>
          <a:xfrm>
            <a:off x="5045536" y="2123757"/>
            <a:ext cx="19769" cy="2522816"/>
          </a:xfrm>
          <a:prstGeom prst="straightConnector1">
            <a:avLst/>
          </a:prstGeom>
          <a:ln w="25400">
            <a:solidFill>
              <a:srgbClr val="FFC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3933226" y="3738167"/>
            <a:ext cx="1148813" cy="912723"/>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334962" y="5328452"/>
            <a:ext cx="9376801" cy="757130"/>
          </a:xfrm>
          <a:prstGeom prst="rect">
            <a:avLst/>
          </a:prstGeom>
          <a:noFill/>
        </p:spPr>
        <p:txBody>
          <a:bodyPr wrap="square" rtlCol="0">
            <a:spAutoFit/>
          </a:bodyPr>
          <a:lstStyle/>
          <a:p>
            <a:pPr>
              <a:lnSpc>
                <a:spcPct val="120000"/>
              </a:lnSpc>
            </a:pPr>
            <a:r>
              <a:rPr lang="zh-CN" altLang="en-US" sz="1200" b="1" dirty="0" smtClean="0">
                <a:solidFill>
                  <a:srgbClr val="178AA1"/>
                </a:solidFill>
                <a:latin typeface="+mn-ea"/>
              </a:rPr>
              <a:t>架构师重点</a:t>
            </a:r>
            <a:r>
              <a:rPr lang="zh-CN" altLang="en-US" sz="1200" b="1" dirty="0">
                <a:solidFill>
                  <a:srgbClr val="178AA1"/>
                </a:solidFill>
                <a:latin typeface="+mn-ea"/>
              </a:rPr>
              <a:t>关注</a:t>
            </a:r>
            <a:r>
              <a:rPr lang="zh-CN" altLang="en-US" sz="1200" b="1" dirty="0" smtClean="0">
                <a:solidFill>
                  <a:srgbClr val="178AA1"/>
                </a:solidFill>
                <a:latin typeface="+mn-ea"/>
              </a:rPr>
              <a:t>：</a:t>
            </a:r>
            <a:endParaRPr lang="en-US" altLang="zh-CN" sz="1200" b="1" dirty="0" smtClean="0">
              <a:solidFill>
                <a:srgbClr val="178AA1"/>
              </a:solidFill>
              <a:latin typeface="+mn-ea"/>
            </a:endParaRPr>
          </a:p>
          <a:p>
            <a:pPr>
              <a:lnSpc>
                <a:spcPct val="120000"/>
              </a:lnSpc>
            </a:pPr>
            <a:r>
              <a:rPr lang="en-US" altLang="zh-CN" sz="1200" dirty="0" smtClean="0">
                <a:solidFill>
                  <a:schemeClr val="tx1">
                    <a:lumMod val="75000"/>
                    <a:lumOff val="25000"/>
                  </a:schemeClr>
                </a:solidFill>
                <a:latin typeface="+mn-ea"/>
              </a:rPr>
              <a:t>1</a:t>
            </a:r>
            <a:r>
              <a:rPr lang="zh-CN" altLang="en-US" sz="1200" dirty="0" smtClean="0">
                <a:solidFill>
                  <a:schemeClr val="tx1">
                    <a:lumMod val="75000"/>
                    <a:lumOff val="25000"/>
                  </a:schemeClr>
                </a:solidFill>
                <a:latin typeface="+mn-ea"/>
              </a:rPr>
              <a:t>）参与重要评审：结构安装评审（重点关注可制造性、可维护性）</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2</a:t>
            </a:r>
            <a:r>
              <a:rPr lang="zh-CN" altLang="en-US" sz="1200" dirty="0" smtClean="0">
                <a:solidFill>
                  <a:schemeClr val="tx1">
                    <a:lumMod val="75000"/>
                    <a:lumOff val="25000"/>
                  </a:schemeClr>
                </a:solidFill>
                <a:latin typeface="+mn-ea"/>
              </a:rPr>
              <a:t>）过程监控：推动供应商、推动卡点问题、风险评估、技术问题方向指引、</a:t>
            </a:r>
            <a:r>
              <a:rPr lang="zh-CN" altLang="en-US" sz="1200" dirty="0"/>
              <a:t>元器件</a:t>
            </a:r>
            <a:r>
              <a:rPr lang="en-US" altLang="zh-CN" sz="1200" dirty="0"/>
              <a:t>/</a:t>
            </a:r>
            <a:r>
              <a:rPr lang="zh-CN" altLang="en-US" sz="1200" dirty="0"/>
              <a:t>部件验证结果</a:t>
            </a:r>
            <a:r>
              <a:rPr lang="zh-CN" altLang="en-US" sz="1200" dirty="0" smtClean="0"/>
              <a:t>监控</a:t>
            </a:r>
            <a:r>
              <a:rPr lang="zh-CN" altLang="en-US" sz="1200" dirty="0" smtClean="0">
                <a:solidFill>
                  <a:schemeClr val="tx1">
                    <a:lumMod val="75000"/>
                    <a:lumOff val="25000"/>
                  </a:schemeClr>
                </a:solidFill>
                <a:latin typeface="+mn-ea"/>
              </a:rPr>
              <a:t>、可执行的项目组内决策</a:t>
            </a:r>
            <a:endParaRPr lang="en-US" altLang="zh-CN" sz="1200" dirty="0">
              <a:solidFill>
                <a:schemeClr val="tx1">
                  <a:lumMod val="75000"/>
                  <a:lumOff val="25000"/>
                </a:schemeClr>
              </a:solidFill>
              <a:latin typeface="+mn-ea"/>
            </a:endParaRPr>
          </a:p>
        </p:txBody>
      </p:sp>
      <p:sp>
        <p:nvSpPr>
          <p:cNvPr id="56" name="十字星 55"/>
          <p:cNvSpPr/>
          <p:nvPr/>
        </p:nvSpPr>
        <p:spPr>
          <a:xfrm>
            <a:off x="127252" y="5328451"/>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7" name="文本框 56"/>
          <p:cNvSpPr txBox="1"/>
          <p:nvPr/>
        </p:nvSpPr>
        <p:spPr>
          <a:xfrm>
            <a:off x="327787" y="6019444"/>
            <a:ext cx="5459770" cy="757130"/>
          </a:xfrm>
          <a:prstGeom prst="rect">
            <a:avLst/>
          </a:prstGeom>
          <a:noFill/>
        </p:spPr>
        <p:txBody>
          <a:bodyPr wrap="square" rtlCol="0">
            <a:spAutoFit/>
          </a:bodyPr>
          <a:lstStyle/>
          <a:p>
            <a:pPr>
              <a:lnSpc>
                <a:spcPct val="120000"/>
              </a:lnSpc>
            </a:pPr>
            <a:r>
              <a:rPr lang="zh-CN" altLang="en-US" sz="1200" b="1" dirty="0">
                <a:solidFill>
                  <a:srgbClr val="178AA1"/>
                </a:solidFill>
                <a:latin typeface="+mn-ea"/>
              </a:rPr>
              <a:t>产品工程师重点关注：</a:t>
            </a:r>
            <a:endParaRPr lang="en-US" altLang="zh-CN" sz="1200" b="1" dirty="0" smtClean="0">
              <a:solidFill>
                <a:srgbClr val="178AA1"/>
              </a:solidFill>
              <a:latin typeface="+mn-ea"/>
            </a:endParaRPr>
          </a:p>
          <a:p>
            <a:pPr>
              <a:lnSpc>
                <a:spcPct val="120000"/>
              </a:lnSpc>
            </a:pPr>
            <a:r>
              <a:rPr lang="en-US" altLang="zh-CN" sz="1200" dirty="0" smtClean="0">
                <a:solidFill>
                  <a:schemeClr val="tx1">
                    <a:lumMod val="75000"/>
                    <a:lumOff val="25000"/>
                  </a:schemeClr>
                </a:solidFill>
                <a:latin typeface="+mn-ea"/>
              </a:rPr>
              <a:t>1</a:t>
            </a:r>
            <a:r>
              <a:rPr lang="zh-CN" altLang="en-US" sz="1200" dirty="0" smtClean="0">
                <a:solidFill>
                  <a:schemeClr val="tx1">
                    <a:lumMod val="75000"/>
                    <a:lumOff val="25000"/>
                  </a:schemeClr>
                </a:solidFill>
                <a:latin typeface="+mn-ea"/>
              </a:rPr>
              <a:t>）参与重要评审：重点结构安装评审（重点关注可制造性、可维护性）</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2</a:t>
            </a:r>
            <a:r>
              <a:rPr lang="zh-CN" altLang="en-US" sz="1200" dirty="0" smtClean="0">
                <a:solidFill>
                  <a:schemeClr val="tx1">
                    <a:lumMod val="75000"/>
                    <a:lumOff val="25000"/>
                  </a:schemeClr>
                </a:solidFill>
                <a:latin typeface="+mn-ea"/>
              </a:rPr>
              <a:t>）需求满足度确认：参与过程问题沟通；</a:t>
            </a:r>
            <a:r>
              <a:rPr lang="en-US" altLang="zh-CN" sz="1200" dirty="0" smtClean="0">
                <a:solidFill>
                  <a:schemeClr val="tx1">
                    <a:lumMod val="75000"/>
                    <a:lumOff val="25000"/>
                  </a:schemeClr>
                </a:solidFill>
                <a:latin typeface="+mn-ea"/>
              </a:rPr>
              <a:t>3</a:t>
            </a:r>
            <a:r>
              <a:rPr lang="zh-CN" altLang="en-US" sz="1200" dirty="0" smtClean="0">
                <a:solidFill>
                  <a:schemeClr val="tx1">
                    <a:lumMod val="75000"/>
                    <a:lumOff val="25000"/>
                  </a:schemeClr>
                </a:solidFill>
                <a:latin typeface="+mn-ea"/>
              </a:rPr>
              <a:t>）</a:t>
            </a:r>
            <a:r>
              <a:rPr lang="zh-CN" altLang="en-US" sz="1200" dirty="0">
                <a:solidFill>
                  <a:schemeClr val="tx1">
                    <a:lumMod val="75000"/>
                    <a:lumOff val="25000"/>
                  </a:schemeClr>
                </a:solidFill>
                <a:latin typeface="+mn-ea"/>
              </a:rPr>
              <a:t>通用部件清单：是否</a:t>
            </a:r>
            <a:r>
              <a:rPr lang="zh-CN" altLang="en-US" sz="1200" dirty="0" smtClean="0">
                <a:solidFill>
                  <a:schemeClr val="tx1">
                    <a:lumMod val="75000"/>
                    <a:lumOff val="25000"/>
                  </a:schemeClr>
                </a:solidFill>
                <a:latin typeface="+mn-ea"/>
              </a:rPr>
              <a:t>涉及更新</a:t>
            </a:r>
            <a:endParaRPr lang="en-US" altLang="zh-CN" sz="1200" dirty="0">
              <a:solidFill>
                <a:schemeClr val="tx1">
                  <a:lumMod val="75000"/>
                  <a:lumOff val="25000"/>
                </a:schemeClr>
              </a:solidFill>
              <a:latin typeface="+mn-ea"/>
            </a:endParaRPr>
          </a:p>
        </p:txBody>
      </p:sp>
      <p:sp>
        <p:nvSpPr>
          <p:cNvPr id="58" name="十字星 57"/>
          <p:cNvSpPr/>
          <p:nvPr/>
        </p:nvSpPr>
        <p:spPr>
          <a:xfrm>
            <a:off x="146587" y="6012661"/>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9" name="文本框 58"/>
          <p:cNvSpPr txBox="1"/>
          <p:nvPr/>
        </p:nvSpPr>
        <p:spPr>
          <a:xfrm>
            <a:off x="5925764" y="6081746"/>
            <a:ext cx="5459770" cy="757130"/>
          </a:xfrm>
          <a:prstGeom prst="rect">
            <a:avLst/>
          </a:prstGeom>
          <a:noFill/>
        </p:spPr>
        <p:txBody>
          <a:bodyPr wrap="square" rtlCol="0">
            <a:spAutoFit/>
          </a:bodyPr>
          <a:lstStyle/>
          <a:p>
            <a:pPr>
              <a:lnSpc>
                <a:spcPct val="120000"/>
              </a:lnSpc>
            </a:pPr>
            <a:r>
              <a:rPr lang="zh-CN" altLang="en-US" sz="1200" b="1" dirty="0" smtClean="0">
                <a:solidFill>
                  <a:srgbClr val="178AA1"/>
                </a:solidFill>
                <a:latin typeface="+mn-ea"/>
              </a:rPr>
              <a:t>市场代表重点关注：</a:t>
            </a:r>
            <a:endParaRPr lang="en-US" altLang="zh-CN" sz="1200" b="1" dirty="0" smtClean="0">
              <a:solidFill>
                <a:srgbClr val="178AA1"/>
              </a:solidFill>
              <a:latin typeface="+mn-ea"/>
            </a:endParaRPr>
          </a:p>
          <a:p>
            <a:pPr>
              <a:lnSpc>
                <a:spcPct val="120000"/>
              </a:lnSpc>
            </a:pPr>
            <a:r>
              <a:rPr lang="en-US" altLang="zh-CN" sz="1200" dirty="0" smtClean="0">
                <a:solidFill>
                  <a:schemeClr val="tx1">
                    <a:lumMod val="75000"/>
                    <a:lumOff val="25000"/>
                  </a:schemeClr>
                </a:solidFill>
                <a:latin typeface="+mn-ea"/>
              </a:rPr>
              <a:t>1</a:t>
            </a:r>
            <a:r>
              <a:rPr lang="zh-CN" altLang="en-US" sz="1200" dirty="0" smtClean="0">
                <a:solidFill>
                  <a:schemeClr val="tx1">
                    <a:lumMod val="75000"/>
                    <a:lumOff val="25000"/>
                  </a:schemeClr>
                </a:solidFill>
                <a:latin typeface="+mn-ea"/>
              </a:rPr>
              <a:t>）参与重要评审；</a:t>
            </a:r>
            <a:endParaRPr lang="en-US" altLang="zh-CN" sz="1200" dirty="0" smtClean="0">
              <a:solidFill>
                <a:schemeClr val="tx1">
                  <a:lumMod val="75000"/>
                  <a:lumOff val="25000"/>
                </a:schemeClr>
              </a:solidFill>
              <a:latin typeface="+mn-ea"/>
            </a:endParaRPr>
          </a:p>
          <a:p>
            <a:pPr>
              <a:lnSpc>
                <a:spcPct val="120000"/>
              </a:lnSpc>
            </a:pPr>
            <a:r>
              <a:rPr lang="en-US" altLang="zh-CN" sz="1200" dirty="0" smtClean="0">
                <a:solidFill>
                  <a:schemeClr val="tx1">
                    <a:lumMod val="75000"/>
                    <a:lumOff val="25000"/>
                  </a:schemeClr>
                </a:solidFill>
                <a:latin typeface="+mn-ea"/>
              </a:rPr>
              <a:t>2</a:t>
            </a:r>
            <a:r>
              <a:rPr lang="zh-CN" altLang="en-US" sz="1200" dirty="0" smtClean="0">
                <a:solidFill>
                  <a:schemeClr val="tx1">
                    <a:lumMod val="75000"/>
                    <a:lumOff val="25000"/>
                  </a:schemeClr>
                </a:solidFill>
                <a:latin typeface="+mn-ea"/>
              </a:rPr>
              <a:t>）关注</a:t>
            </a:r>
            <a:r>
              <a:rPr lang="zh-CN" altLang="en-US" sz="1200" dirty="0">
                <a:solidFill>
                  <a:schemeClr val="tx1">
                    <a:lumMod val="75000"/>
                    <a:lumOff val="25000"/>
                  </a:schemeClr>
                </a:solidFill>
                <a:latin typeface="+mn-ea"/>
              </a:rPr>
              <a:t>与</a:t>
            </a:r>
            <a:r>
              <a:rPr lang="zh-CN" altLang="en-US" sz="1200" dirty="0" smtClean="0">
                <a:solidFill>
                  <a:schemeClr val="tx1">
                    <a:lumMod val="75000"/>
                    <a:lumOff val="25000"/>
                  </a:schemeClr>
                </a:solidFill>
                <a:latin typeface="+mn-ea"/>
              </a:rPr>
              <a:t>成本变更相关事件；</a:t>
            </a:r>
            <a:endParaRPr lang="en-US" altLang="zh-CN" sz="1200" dirty="0">
              <a:solidFill>
                <a:schemeClr val="tx1">
                  <a:lumMod val="75000"/>
                  <a:lumOff val="25000"/>
                </a:schemeClr>
              </a:solidFill>
              <a:latin typeface="+mn-ea"/>
            </a:endParaRPr>
          </a:p>
        </p:txBody>
      </p:sp>
      <p:sp>
        <p:nvSpPr>
          <p:cNvPr id="60" name="十字星 59"/>
          <p:cNvSpPr/>
          <p:nvPr/>
        </p:nvSpPr>
        <p:spPr>
          <a:xfrm>
            <a:off x="5744563" y="6116275"/>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75425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L8 EVT</a:t>
            </a:r>
            <a:r>
              <a:rPr lang="zh-CN" altLang="en-US" dirty="0"/>
              <a:t>（准入）过程控制点</a:t>
            </a:r>
            <a:r>
              <a:rPr lang="en-US" altLang="zh-CN" dirty="0"/>
              <a:t>——</a:t>
            </a:r>
            <a:r>
              <a:rPr lang="zh-CN" altLang="en-US" dirty="0"/>
              <a:t>内部</a:t>
            </a:r>
          </a:p>
        </p:txBody>
      </p:sp>
      <p:sp>
        <p:nvSpPr>
          <p:cNvPr id="3" name="文本框 2">
            <a:extLst>
              <a:ext uri="{FF2B5EF4-FFF2-40B4-BE49-F238E27FC236}">
                <a16:creationId xmlns:a16="http://schemas.microsoft.com/office/drawing/2014/main" id="{EC4838C9-9332-EB5A-376E-DC34A98BABA8}"/>
              </a:ext>
            </a:extLst>
          </p:cNvPr>
          <p:cNvSpPr txBox="1"/>
          <p:nvPr/>
        </p:nvSpPr>
        <p:spPr>
          <a:xfrm>
            <a:off x="239349" y="949910"/>
            <a:ext cx="3249575" cy="39658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latin typeface="+mn-ea"/>
              </a:rPr>
              <a:t>EVT</a:t>
            </a:r>
            <a:r>
              <a:rPr lang="zh-CN" altLang="en-US" b="1" dirty="0">
                <a:solidFill>
                  <a:schemeClr val="tx1">
                    <a:lumMod val="75000"/>
                    <a:lumOff val="25000"/>
                  </a:schemeClr>
                </a:solidFill>
                <a:latin typeface="+mn-ea"/>
              </a:rPr>
              <a:t>测试计划评审通过</a:t>
            </a:r>
            <a:endParaRPr lang="en-US" altLang="zh-CN" b="1" dirty="0">
              <a:solidFill>
                <a:schemeClr val="tx1">
                  <a:lumMod val="75000"/>
                  <a:lumOff val="25000"/>
                </a:schemeClr>
              </a:solidFill>
              <a:latin typeface="+mn-ea"/>
            </a:endParaRPr>
          </a:p>
        </p:txBody>
      </p:sp>
      <p:sp>
        <p:nvSpPr>
          <p:cNvPr id="4" name="文本框 3">
            <a:extLst>
              <a:ext uri="{FF2B5EF4-FFF2-40B4-BE49-F238E27FC236}">
                <a16:creationId xmlns:a16="http://schemas.microsoft.com/office/drawing/2014/main" id="{CA52BFC8-2F03-0704-572C-7A68E65AB246}"/>
              </a:ext>
            </a:extLst>
          </p:cNvPr>
          <p:cNvSpPr txBox="1"/>
          <p:nvPr/>
        </p:nvSpPr>
        <p:spPr>
          <a:xfrm>
            <a:off x="239349" y="3374291"/>
            <a:ext cx="4510204" cy="734945"/>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rPr>
              <a:t>EVT</a:t>
            </a:r>
            <a:r>
              <a:rPr lang="zh-CN" altLang="en-US" b="1" dirty="0">
                <a:solidFill>
                  <a:schemeClr val="tx1">
                    <a:lumMod val="75000"/>
                    <a:lumOff val="25000"/>
                  </a:schemeClr>
                </a:solidFill>
              </a:rPr>
              <a:t>系统组装关键物料已齐套</a:t>
            </a:r>
            <a:endParaRPr lang="en-US" altLang="zh-CN" b="1" dirty="0">
              <a:solidFill>
                <a:schemeClr val="tx1">
                  <a:lumMod val="75000"/>
                  <a:lumOff val="25000"/>
                </a:schemeClr>
              </a:solidFill>
            </a:endParaRPr>
          </a:p>
          <a:p>
            <a:pPr>
              <a:lnSpc>
                <a:spcPct val="120000"/>
              </a:lnSpc>
            </a:pPr>
            <a:endParaRPr lang="zh-CN" altLang="en-US" b="1" dirty="0">
              <a:solidFill>
                <a:schemeClr val="tx1">
                  <a:lumMod val="75000"/>
                  <a:lumOff val="25000"/>
                </a:schemeClr>
              </a:solidFill>
            </a:endParaRPr>
          </a:p>
        </p:txBody>
      </p:sp>
      <p:sp>
        <p:nvSpPr>
          <p:cNvPr id="6" name="文本框 5">
            <a:extLst>
              <a:ext uri="{FF2B5EF4-FFF2-40B4-BE49-F238E27FC236}">
                <a16:creationId xmlns:a16="http://schemas.microsoft.com/office/drawing/2014/main" id="{0104B899-665D-79AC-5DC9-8B85C698A980}"/>
              </a:ext>
            </a:extLst>
          </p:cNvPr>
          <p:cNvSpPr txBox="1"/>
          <p:nvPr/>
        </p:nvSpPr>
        <p:spPr>
          <a:xfrm>
            <a:off x="239349" y="3821073"/>
            <a:ext cx="5939509" cy="734945"/>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rPr>
              <a:t>EVT</a:t>
            </a:r>
            <a:r>
              <a:rPr lang="zh-CN" altLang="en-US" b="1" dirty="0">
                <a:solidFill>
                  <a:schemeClr val="tx1">
                    <a:lumMod val="75000"/>
                    <a:lumOff val="25000"/>
                  </a:schemeClr>
                </a:solidFill>
              </a:rPr>
              <a:t>固件版本已发布（</a:t>
            </a:r>
            <a:r>
              <a:rPr lang="en-US" altLang="zh-CN" b="1" dirty="0">
                <a:solidFill>
                  <a:schemeClr val="tx1">
                    <a:lumMod val="75000"/>
                    <a:lumOff val="25000"/>
                  </a:schemeClr>
                </a:solidFill>
              </a:rPr>
              <a:t>BIOS</a:t>
            </a:r>
            <a:r>
              <a:rPr lang="zh-CN" altLang="en-US" b="1" dirty="0">
                <a:solidFill>
                  <a:schemeClr val="tx1">
                    <a:lumMod val="75000"/>
                    <a:lumOff val="25000"/>
                  </a:schemeClr>
                </a:solidFill>
              </a:rPr>
              <a:t>、</a:t>
            </a:r>
            <a:r>
              <a:rPr lang="en-US" altLang="zh-CN" b="1" dirty="0">
                <a:solidFill>
                  <a:schemeClr val="tx1">
                    <a:lumMod val="75000"/>
                    <a:lumOff val="25000"/>
                  </a:schemeClr>
                </a:solidFill>
              </a:rPr>
              <a:t>BMC</a:t>
            </a:r>
            <a:r>
              <a:rPr lang="zh-CN" altLang="en-US" b="1" dirty="0">
                <a:solidFill>
                  <a:schemeClr val="tx1">
                    <a:lumMod val="75000"/>
                    <a:lumOff val="25000"/>
                  </a:schemeClr>
                </a:solidFill>
              </a:rPr>
              <a:t>、</a:t>
            </a:r>
            <a:r>
              <a:rPr lang="en-US" altLang="zh-CN" b="1" dirty="0">
                <a:solidFill>
                  <a:schemeClr val="tx1">
                    <a:lumMod val="75000"/>
                    <a:lumOff val="25000"/>
                  </a:schemeClr>
                </a:solidFill>
              </a:rPr>
              <a:t>CMM</a:t>
            </a:r>
            <a:r>
              <a:rPr lang="zh-CN" altLang="en-US" b="1" dirty="0">
                <a:solidFill>
                  <a:schemeClr val="tx1">
                    <a:lumMod val="75000"/>
                    <a:lumOff val="25000"/>
                  </a:schemeClr>
                </a:solidFill>
              </a:rPr>
              <a:t>）</a:t>
            </a:r>
            <a:endParaRPr lang="en-US" altLang="zh-CN" b="1" dirty="0">
              <a:solidFill>
                <a:schemeClr val="tx1">
                  <a:lumMod val="75000"/>
                  <a:lumOff val="25000"/>
                </a:schemeClr>
              </a:solidFill>
            </a:endParaRPr>
          </a:p>
          <a:p>
            <a:pPr>
              <a:lnSpc>
                <a:spcPct val="120000"/>
              </a:lnSpc>
            </a:pPr>
            <a:endParaRPr lang="zh-CN" altLang="en-US" b="1" dirty="0">
              <a:solidFill>
                <a:schemeClr val="tx1">
                  <a:lumMod val="75000"/>
                  <a:lumOff val="25000"/>
                </a:schemeClr>
              </a:solidFill>
            </a:endParaRPr>
          </a:p>
        </p:txBody>
      </p:sp>
      <p:sp>
        <p:nvSpPr>
          <p:cNvPr id="7" name="文本框 6">
            <a:extLst>
              <a:ext uri="{FF2B5EF4-FFF2-40B4-BE49-F238E27FC236}">
                <a16:creationId xmlns:a16="http://schemas.microsoft.com/office/drawing/2014/main" id="{2CC7CCEC-C8BF-9815-0502-5EB42A33F658}"/>
              </a:ext>
            </a:extLst>
          </p:cNvPr>
          <p:cNvSpPr txBox="1"/>
          <p:nvPr/>
        </p:nvSpPr>
        <p:spPr>
          <a:xfrm>
            <a:off x="239349" y="4267855"/>
            <a:ext cx="3498149" cy="401264"/>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rPr>
              <a:t>Power-On</a:t>
            </a:r>
            <a:r>
              <a:rPr lang="zh-CN" altLang="en-US" b="1" dirty="0">
                <a:solidFill>
                  <a:schemeClr val="tx1">
                    <a:lumMod val="75000"/>
                    <a:lumOff val="25000"/>
                  </a:schemeClr>
                </a:solidFill>
              </a:rPr>
              <a:t>测试报告评审通过</a:t>
            </a:r>
          </a:p>
        </p:txBody>
      </p:sp>
      <p:graphicFrame>
        <p:nvGraphicFramePr>
          <p:cNvPr id="8" name="表格 8">
            <a:extLst>
              <a:ext uri="{FF2B5EF4-FFF2-40B4-BE49-F238E27FC236}">
                <a16:creationId xmlns:a16="http://schemas.microsoft.com/office/drawing/2014/main" id="{F890E5C4-ABF8-1203-9AD0-65E059E60B4D}"/>
              </a:ext>
            </a:extLst>
          </p:cNvPr>
          <p:cNvGraphicFramePr>
            <a:graphicFrameLocks noGrp="1"/>
          </p:cNvGraphicFramePr>
          <p:nvPr/>
        </p:nvGraphicFramePr>
        <p:xfrm>
          <a:off x="1074343" y="1452093"/>
          <a:ext cx="9720903" cy="1855434"/>
        </p:xfrm>
        <a:graphic>
          <a:graphicData uri="http://schemas.openxmlformats.org/drawingml/2006/table">
            <a:tbl>
              <a:tblPr firstRow="1" bandRow="1">
                <a:tableStyleId>{00A15C55-8517-42AA-B614-E9B94910E393}</a:tableStyleId>
              </a:tblPr>
              <a:tblGrid>
                <a:gridCol w="3240301">
                  <a:extLst>
                    <a:ext uri="{9D8B030D-6E8A-4147-A177-3AD203B41FA5}">
                      <a16:colId xmlns:a16="http://schemas.microsoft.com/office/drawing/2014/main" val="3354855418"/>
                    </a:ext>
                  </a:extLst>
                </a:gridCol>
                <a:gridCol w="3240301">
                  <a:extLst>
                    <a:ext uri="{9D8B030D-6E8A-4147-A177-3AD203B41FA5}">
                      <a16:colId xmlns:a16="http://schemas.microsoft.com/office/drawing/2014/main" val="3824251094"/>
                    </a:ext>
                  </a:extLst>
                </a:gridCol>
                <a:gridCol w="3240301">
                  <a:extLst>
                    <a:ext uri="{9D8B030D-6E8A-4147-A177-3AD203B41FA5}">
                      <a16:colId xmlns:a16="http://schemas.microsoft.com/office/drawing/2014/main" val="3235304117"/>
                    </a:ext>
                  </a:extLst>
                </a:gridCol>
              </a:tblGrid>
              <a:tr h="265062">
                <a:tc>
                  <a:txBody>
                    <a:bodyPr/>
                    <a:lstStyle/>
                    <a:p>
                      <a:pPr lvl="0" algn="ctr" fontAlgn="b"/>
                      <a:r>
                        <a:rPr lang="zh-CN" altLang="en-US" sz="1600" b="1" u="none" strike="noStrike" dirty="0">
                          <a:solidFill>
                            <a:schemeClr val="bg1"/>
                          </a:solidFill>
                          <a:effectLst/>
                        </a:rPr>
                        <a:t>工作产品名称</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责任人</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评审模式</a:t>
                      </a:r>
                      <a:endParaRPr lang="zh-CN" altLang="en-US" sz="1600" b="1" i="0" u="none" strike="noStrike" dirty="0">
                        <a:solidFill>
                          <a:schemeClr val="bg1"/>
                        </a:solidFill>
                        <a:effectLst/>
                        <a:latin typeface="+mn-ea"/>
                        <a:ea typeface="+mn-ea"/>
                      </a:endParaRPr>
                    </a:p>
                  </a:txBody>
                  <a:tcPr marL="0" marR="0" marT="0" marB="0" anchor="ctr"/>
                </a:tc>
                <a:extLst>
                  <a:ext uri="{0D108BD9-81ED-4DB2-BD59-A6C34878D82A}">
                    <a16:rowId xmlns:a16="http://schemas.microsoft.com/office/drawing/2014/main" val="3899121649"/>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SIT</a:t>
                      </a:r>
                      <a:r>
                        <a:rPr lang="zh-CN" altLang="en-US" sz="1400" b="0" u="none" strike="noStrike" kern="1200" dirty="0">
                          <a:solidFill>
                            <a:schemeClr val="dk1"/>
                          </a:solidFill>
                          <a:effectLst/>
                        </a:rPr>
                        <a:t>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TPM(</a:t>
                      </a:r>
                      <a:r>
                        <a:rPr lang="zh-CN" altLang="en-US" sz="1400" b="0" u="none" strike="noStrike" dirty="0">
                          <a:effectLst/>
                        </a:rPr>
                        <a:t>测试代表</a:t>
                      </a:r>
                      <a:r>
                        <a:rPr lang="en-US" altLang="zh-CN" sz="1400" b="0" u="none" strike="noStrike" dirty="0">
                          <a:effectLst/>
                        </a:rPr>
                        <a:t>)</a:t>
                      </a:r>
                      <a:endParaRPr lang="en-US" altLang="zh-CN" sz="1400" b="0" i="0" u="none" strike="noStrike" dirty="0">
                        <a:solidFill>
                          <a:srgbClr val="000000"/>
                        </a:solidFill>
                        <a:effectLst/>
                        <a:latin typeface="+mn-ea"/>
                        <a:ea typeface="+mn-ea"/>
                      </a:endParaRPr>
                    </a:p>
                  </a:txBody>
                  <a:tcPr marL="0" marR="0" marT="0" marB="0" anchor="ctr"/>
                </a:tc>
                <a:tc rowSpan="6">
                  <a:txBody>
                    <a:bodyPr/>
                    <a:lstStyle/>
                    <a:p>
                      <a:pPr algn="ctr" fontAlgn="ctr"/>
                      <a:r>
                        <a:rPr lang="zh-CN" altLang="en-US" sz="1400" b="0" u="none" strike="noStrike" dirty="0">
                          <a:solidFill>
                            <a:srgbClr val="000000"/>
                          </a:solidFill>
                          <a:effectLst/>
                        </a:rPr>
                        <a:t>签审发布</a:t>
                      </a:r>
                      <a:endParaRPr lang="en-US" altLang="zh-CN" sz="14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709297373"/>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SI</a:t>
                      </a:r>
                      <a:r>
                        <a:rPr lang="zh-CN" altLang="en-US" sz="1400" b="0" u="none" strike="noStrike" kern="1200" dirty="0">
                          <a:solidFill>
                            <a:schemeClr val="dk1"/>
                          </a:solidFill>
                          <a:effectLst/>
                        </a:rPr>
                        <a:t>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SI</a:t>
                      </a:r>
                      <a:r>
                        <a:rPr lang="zh-CN" altLang="en-US" sz="1400" b="0" u="none" strike="noStrike" dirty="0">
                          <a:effectLst/>
                        </a:rPr>
                        <a:t>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563241887"/>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散热测试计划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散热测试工程师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3872129424"/>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可靠性测试计划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可靠性测试工程师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081813564"/>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PA</a:t>
                      </a:r>
                      <a:r>
                        <a:rPr lang="zh-CN" altLang="en-US" sz="1400" b="0" u="none" strike="noStrike" kern="1200" dirty="0">
                          <a:solidFill>
                            <a:schemeClr val="dk1"/>
                          </a:solidFill>
                          <a:effectLst/>
                        </a:rPr>
                        <a:t>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可靠性测试工程师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414754053"/>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电源测试计划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电源测试工程师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802200907"/>
                  </a:ext>
                </a:extLst>
              </a:tr>
            </a:tbl>
          </a:graphicData>
        </a:graphic>
      </p:graphicFrame>
      <p:graphicFrame>
        <p:nvGraphicFramePr>
          <p:cNvPr id="9" name="表格 8">
            <a:extLst>
              <a:ext uri="{FF2B5EF4-FFF2-40B4-BE49-F238E27FC236}">
                <a16:creationId xmlns:a16="http://schemas.microsoft.com/office/drawing/2014/main" id="{5DE7553D-F986-A207-0DA3-160AA09DE247}"/>
              </a:ext>
            </a:extLst>
          </p:cNvPr>
          <p:cNvGraphicFramePr>
            <a:graphicFrameLocks noGrp="1"/>
          </p:cNvGraphicFramePr>
          <p:nvPr/>
        </p:nvGraphicFramePr>
        <p:xfrm>
          <a:off x="1074343" y="4788319"/>
          <a:ext cx="9720903" cy="1590372"/>
        </p:xfrm>
        <a:graphic>
          <a:graphicData uri="http://schemas.openxmlformats.org/drawingml/2006/table">
            <a:tbl>
              <a:tblPr firstRow="1" bandRow="1">
                <a:tableStyleId>{00A15C55-8517-42AA-B614-E9B94910E393}</a:tableStyleId>
              </a:tblPr>
              <a:tblGrid>
                <a:gridCol w="3293471">
                  <a:extLst>
                    <a:ext uri="{9D8B030D-6E8A-4147-A177-3AD203B41FA5}">
                      <a16:colId xmlns:a16="http://schemas.microsoft.com/office/drawing/2014/main" val="3354855418"/>
                    </a:ext>
                  </a:extLst>
                </a:gridCol>
                <a:gridCol w="3187131">
                  <a:extLst>
                    <a:ext uri="{9D8B030D-6E8A-4147-A177-3AD203B41FA5}">
                      <a16:colId xmlns:a16="http://schemas.microsoft.com/office/drawing/2014/main" val="3824251094"/>
                    </a:ext>
                  </a:extLst>
                </a:gridCol>
                <a:gridCol w="3240301">
                  <a:extLst>
                    <a:ext uri="{9D8B030D-6E8A-4147-A177-3AD203B41FA5}">
                      <a16:colId xmlns:a16="http://schemas.microsoft.com/office/drawing/2014/main" val="3235304117"/>
                    </a:ext>
                  </a:extLst>
                </a:gridCol>
              </a:tblGrid>
              <a:tr h="265062">
                <a:tc>
                  <a:txBody>
                    <a:bodyPr/>
                    <a:lstStyle/>
                    <a:p>
                      <a:pPr lvl="0" algn="ctr" fontAlgn="b"/>
                      <a:r>
                        <a:rPr lang="zh-CN" altLang="en-US" sz="1600" b="1" u="none" strike="noStrike" dirty="0">
                          <a:solidFill>
                            <a:schemeClr val="bg1"/>
                          </a:solidFill>
                          <a:effectLst/>
                        </a:rPr>
                        <a:t>工作产品名称</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责任人</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评审模式</a:t>
                      </a:r>
                      <a:endParaRPr lang="zh-CN" altLang="en-US" sz="1600" b="1" i="0" u="none" strike="noStrike" dirty="0">
                        <a:solidFill>
                          <a:schemeClr val="bg1"/>
                        </a:solidFill>
                        <a:effectLst/>
                        <a:latin typeface="+mn-ea"/>
                        <a:ea typeface="+mn-ea"/>
                      </a:endParaRPr>
                    </a:p>
                  </a:txBody>
                  <a:tcPr marL="0" marR="0" marT="0" marB="0" anchor="ctr"/>
                </a:tc>
                <a:extLst>
                  <a:ext uri="{0D108BD9-81ED-4DB2-BD59-A6C34878D82A}">
                    <a16:rowId xmlns:a16="http://schemas.microsoft.com/office/drawing/2014/main" val="3899121649"/>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HW Power On </a:t>
                      </a:r>
                      <a:r>
                        <a:rPr lang="zh-CN" altLang="en-US" sz="1400" b="0" u="none" strike="noStrike" kern="1200" dirty="0">
                          <a:solidFill>
                            <a:schemeClr val="dk1"/>
                          </a:solidFill>
                          <a:effectLst/>
                        </a:rPr>
                        <a:t>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a:effectLst/>
                        </a:rPr>
                        <a:t>硬件工程师</a:t>
                      </a:r>
                      <a:endParaRPr lang="zh-CN" altLang="en-US" sz="1400" b="0" i="0" u="none" strike="noStrike">
                        <a:solidFill>
                          <a:srgbClr val="000000"/>
                        </a:solidFill>
                        <a:effectLst/>
                        <a:latin typeface="+mn-ea"/>
                        <a:ea typeface="+mn-ea"/>
                      </a:endParaRPr>
                    </a:p>
                  </a:txBody>
                  <a:tcPr marL="0" marR="0" marT="0" marB="0" anchor="ctr"/>
                </a:tc>
                <a:tc rowSpan="5">
                  <a:txBody>
                    <a:bodyPr/>
                    <a:lstStyle/>
                    <a:p>
                      <a:pPr algn="ctr" fontAlgn="ctr"/>
                      <a:r>
                        <a:rPr lang="zh-CN" altLang="en-US" sz="1400" b="0" u="none" strike="noStrike" dirty="0">
                          <a:solidFill>
                            <a:srgbClr val="000000"/>
                          </a:solidFill>
                          <a:effectLst/>
                        </a:rPr>
                        <a:t>签审发布</a:t>
                      </a:r>
                      <a:endParaRPr lang="zh-CN" altLang="en-US" sz="14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709297373"/>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BIOS Power On </a:t>
                      </a:r>
                      <a:r>
                        <a:rPr lang="zh-CN" altLang="en-US" sz="1400" b="0" u="none" strike="noStrike" kern="1200" dirty="0">
                          <a:solidFill>
                            <a:schemeClr val="dk1"/>
                          </a:solidFill>
                          <a:effectLst/>
                        </a:rPr>
                        <a:t>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BIOS</a:t>
                      </a:r>
                      <a:r>
                        <a:rPr lang="zh-CN" altLang="en-US" sz="1400" b="0" u="none" strike="noStrike" dirty="0">
                          <a:effectLst/>
                        </a:rPr>
                        <a:t>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563241887"/>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BMC Power On </a:t>
                      </a:r>
                      <a:r>
                        <a:rPr lang="zh-CN" altLang="en-US" sz="1400" b="0" u="none" strike="noStrike" kern="1200" dirty="0">
                          <a:solidFill>
                            <a:schemeClr val="dk1"/>
                          </a:solidFill>
                          <a:effectLst/>
                        </a:rPr>
                        <a:t>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BMC </a:t>
                      </a:r>
                      <a:r>
                        <a:rPr lang="zh-CN" altLang="en-US" sz="1400" b="0" u="none" strike="noStrike" dirty="0">
                          <a:effectLst/>
                        </a:rPr>
                        <a:t>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3872129424"/>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CMM Power ON</a:t>
                      </a:r>
                      <a:r>
                        <a:rPr lang="zh-CN" altLang="en-US" sz="1400" b="0" u="none" strike="noStrike" kern="1200" dirty="0">
                          <a:solidFill>
                            <a:schemeClr val="dk1"/>
                          </a:solidFill>
                          <a:effectLst/>
                        </a:rPr>
                        <a:t>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CMM</a:t>
                      </a:r>
                      <a:r>
                        <a:rPr lang="zh-CN" altLang="en-US" sz="1400" b="0" u="none" strike="noStrike" dirty="0">
                          <a:effectLst/>
                        </a:rPr>
                        <a:t>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081813564"/>
                  </a:ext>
                </a:extLst>
              </a:tr>
              <a:tr h="265062">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系统</a:t>
                      </a:r>
                      <a:r>
                        <a:rPr lang="en-US" sz="1400" b="0" u="none" strike="noStrike" kern="1200" dirty="0">
                          <a:solidFill>
                            <a:schemeClr val="dk1"/>
                          </a:solidFill>
                          <a:effectLst/>
                        </a:rPr>
                        <a:t>Power On</a:t>
                      </a:r>
                      <a:r>
                        <a:rPr lang="zh-CN" altLang="en-US" sz="1400" b="0" u="none" strike="noStrike" kern="1200" dirty="0">
                          <a:solidFill>
                            <a:schemeClr val="dk1"/>
                          </a:solidFill>
                          <a:effectLst/>
                        </a:rPr>
                        <a:t>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TPM</a:t>
                      </a:r>
                      <a:endParaRPr 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414754053"/>
                  </a:ext>
                </a:extLst>
              </a:tr>
            </a:tbl>
          </a:graphicData>
        </a:graphic>
      </p:graphicFrame>
    </p:spTree>
    <p:extLst>
      <p:ext uri="{BB962C8B-B14F-4D97-AF65-F5344CB8AC3E}">
        <p14:creationId xmlns:p14="http://schemas.microsoft.com/office/powerpoint/2010/main" val="2747729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L8 EVT</a:t>
            </a:r>
            <a:r>
              <a:rPr lang="zh-CN" altLang="en-US" dirty="0"/>
              <a:t>机构安装评审</a:t>
            </a:r>
          </a:p>
        </p:txBody>
      </p:sp>
      <p:sp>
        <p:nvSpPr>
          <p:cNvPr id="3" name="文本框 2"/>
          <p:cNvSpPr txBox="1"/>
          <p:nvPr/>
        </p:nvSpPr>
        <p:spPr>
          <a:xfrm>
            <a:off x="623392" y="1210979"/>
            <a:ext cx="10945216" cy="4258795"/>
          </a:xfrm>
          <a:prstGeom prst="rect">
            <a:avLst/>
          </a:prstGeom>
          <a:noFill/>
        </p:spPr>
        <p:txBody>
          <a:bodyPr wrap="square" rtlCol="0">
            <a:spAutoFit/>
          </a:bodyPr>
          <a:lstStyle/>
          <a:p>
            <a:pPr>
              <a:lnSpc>
                <a:spcPct val="150000"/>
              </a:lnSpc>
            </a:pPr>
            <a:r>
              <a:rPr lang="zh-CN" altLang="en-US" sz="1867" dirty="0"/>
              <a:t>责任人：项目经理</a:t>
            </a:r>
            <a:endParaRPr lang="en-US" altLang="zh-CN" sz="1867" dirty="0"/>
          </a:p>
          <a:p>
            <a:pPr>
              <a:lnSpc>
                <a:spcPct val="150000"/>
              </a:lnSpc>
            </a:pPr>
            <a:r>
              <a:rPr lang="zh-CN" altLang="en-US" sz="1867" dirty="0"/>
              <a:t>参与人：产线、解决方案、技术支持、品质管理、核心项目成员等工程师；</a:t>
            </a:r>
            <a:endParaRPr lang="en-US" altLang="zh-CN" sz="1867" dirty="0"/>
          </a:p>
          <a:p>
            <a:pPr marL="844179" indent="-457189">
              <a:lnSpc>
                <a:spcPct val="150000"/>
              </a:lnSpc>
              <a:buFont typeface="+mj-ea"/>
              <a:buAutoNum type="circleNumDbPlain"/>
            </a:pPr>
            <a:r>
              <a:rPr lang="zh-CN" altLang="en-US" sz="1867" dirty="0">
                <a:latin typeface="+mn-ea"/>
              </a:rPr>
              <a:t>项目经理：发送机构安装评审邮件并通知到各部门负责人安排人员；</a:t>
            </a:r>
            <a:endParaRPr lang="en-US" altLang="zh-CN" sz="1867" dirty="0">
              <a:latin typeface="+mn-ea"/>
            </a:endParaRPr>
          </a:p>
          <a:p>
            <a:pPr marL="844179" indent="-457189">
              <a:lnSpc>
                <a:spcPct val="150000"/>
              </a:lnSpc>
              <a:buFont typeface="+mj-ea"/>
              <a:buAutoNum type="circleNumDbPlain"/>
            </a:pPr>
            <a:r>
              <a:rPr lang="en-US" altLang="zh-CN" sz="1867" dirty="0">
                <a:latin typeface="+mn-ea"/>
              </a:rPr>
              <a:t>SIT/</a:t>
            </a:r>
            <a:r>
              <a:rPr lang="zh-CN" altLang="en-US" sz="1867" dirty="0">
                <a:latin typeface="+mn-ea"/>
              </a:rPr>
              <a:t>散热工程师：借用组装物料，准备组装环境；</a:t>
            </a:r>
            <a:endParaRPr lang="en-US" altLang="zh-CN" sz="1867" dirty="0">
              <a:latin typeface="+mn-ea"/>
            </a:endParaRPr>
          </a:p>
          <a:p>
            <a:pPr marL="844179" indent="-457189">
              <a:lnSpc>
                <a:spcPct val="150000"/>
              </a:lnSpc>
              <a:buFont typeface="+mj-ea"/>
              <a:buAutoNum type="circleNumDbPlain"/>
            </a:pPr>
            <a:r>
              <a:rPr lang="zh-CN" altLang="en-US" sz="1867" dirty="0">
                <a:latin typeface="+mn-ea"/>
              </a:rPr>
              <a:t>产线工程师：进行机构安装；</a:t>
            </a:r>
            <a:endParaRPr lang="en-US" altLang="zh-CN" sz="1867" dirty="0">
              <a:latin typeface="+mn-ea"/>
            </a:endParaRPr>
          </a:p>
          <a:p>
            <a:pPr marL="844179" indent="-457189">
              <a:lnSpc>
                <a:spcPct val="150000"/>
              </a:lnSpc>
              <a:buFont typeface="+mj-ea"/>
              <a:buAutoNum type="circleNumDbPlain"/>
            </a:pPr>
            <a:r>
              <a:rPr lang="zh-CN" altLang="en-US" sz="1867" dirty="0">
                <a:latin typeface="+mn-ea"/>
              </a:rPr>
              <a:t>各部门负责人：评审过程中发现并记录问题；</a:t>
            </a:r>
            <a:endParaRPr lang="en-US" altLang="zh-CN" sz="1867" dirty="0">
              <a:latin typeface="+mn-ea"/>
            </a:endParaRPr>
          </a:p>
          <a:p>
            <a:pPr marL="844179" indent="-457189">
              <a:lnSpc>
                <a:spcPct val="150000"/>
              </a:lnSpc>
              <a:buFont typeface="+mj-ea"/>
              <a:buAutoNum type="circleNumDbPlain"/>
            </a:pPr>
            <a:r>
              <a:rPr lang="zh-CN" altLang="en-US" sz="1867" dirty="0">
                <a:latin typeface="+mn-ea"/>
              </a:rPr>
              <a:t>项目经理：组织各部门负责人进行问题回顾（避免问题错误、遗漏、重复等）；</a:t>
            </a:r>
            <a:endParaRPr lang="en-US" altLang="zh-CN" sz="1867" dirty="0">
              <a:latin typeface="+mn-ea"/>
            </a:endParaRPr>
          </a:p>
          <a:p>
            <a:pPr marL="844179" indent="-457189">
              <a:lnSpc>
                <a:spcPct val="150000"/>
              </a:lnSpc>
              <a:buFont typeface="+mj-ea"/>
              <a:buAutoNum type="circleNumDbPlain"/>
            </a:pPr>
            <a:r>
              <a:rPr lang="zh-CN" altLang="en-US" sz="1867" dirty="0">
                <a:latin typeface="+mn-ea"/>
              </a:rPr>
              <a:t>各部门负责人：将评审问题上传到</a:t>
            </a:r>
            <a:r>
              <a:rPr lang="en-US" altLang="zh-CN" sz="1867" dirty="0">
                <a:latin typeface="+mn-ea"/>
              </a:rPr>
              <a:t>mantis</a:t>
            </a:r>
            <a:r>
              <a:rPr lang="zh-CN" altLang="en-US" sz="1867" dirty="0">
                <a:latin typeface="+mn-ea"/>
              </a:rPr>
              <a:t>系统，并指派给问题处理人；</a:t>
            </a:r>
            <a:endParaRPr lang="en-US" altLang="zh-CN" sz="1867" dirty="0">
              <a:latin typeface="+mn-ea"/>
            </a:endParaRPr>
          </a:p>
          <a:p>
            <a:pPr marL="844179" indent="-457189">
              <a:lnSpc>
                <a:spcPct val="150000"/>
              </a:lnSpc>
              <a:buFont typeface="+mj-ea"/>
              <a:buAutoNum type="circleNumDbPlain"/>
            </a:pPr>
            <a:r>
              <a:rPr lang="en-US" altLang="zh-CN" sz="1867" dirty="0">
                <a:latin typeface="+mn-ea"/>
              </a:rPr>
              <a:t>TPM</a:t>
            </a:r>
            <a:r>
              <a:rPr lang="zh-CN" altLang="en-US" sz="1867" dirty="0">
                <a:latin typeface="+mn-ea"/>
              </a:rPr>
              <a:t>：进行</a:t>
            </a:r>
            <a:r>
              <a:rPr lang="en-US" altLang="zh-CN" sz="1867" dirty="0">
                <a:latin typeface="+mn-ea"/>
              </a:rPr>
              <a:t>bug</a:t>
            </a:r>
            <a:r>
              <a:rPr lang="zh-CN" altLang="en-US" sz="1867" dirty="0">
                <a:latin typeface="+mn-ea"/>
              </a:rPr>
              <a:t>追踪；</a:t>
            </a:r>
          </a:p>
          <a:p>
            <a:endParaRPr lang="zh-CN" altLang="en-US" sz="1867" dirty="0"/>
          </a:p>
        </p:txBody>
      </p:sp>
      <p:graphicFrame>
        <p:nvGraphicFramePr>
          <p:cNvPr id="7" name="对象 6"/>
          <p:cNvGraphicFramePr>
            <a:graphicFrameLocks noChangeAspect="1"/>
          </p:cNvGraphicFramePr>
          <p:nvPr/>
        </p:nvGraphicFramePr>
        <p:xfrm>
          <a:off x="9936427" y="4817202"/>
          <a:ext cx="1440160" cy="1305145"/>
        </p:xfrm>
        <a:graphic>
          <a:graphicData uri="http://schemas.openxmlformats.org/presentationml/2006/ole">
            <mc:AlternateContent xmlns:mc="http://schemas.openxmlformats.org/markup-compatibility/2006">
              <mc:Choice xmlns:v="urn:schemas-microsoft-com:vml" Requires="v">
                <p:oleObj spid="_x0000_s9400" name="Worksheet" showAsIcon="1" r:id="rId3" imgW="914400" imgH="828720" progId="Excel.Sheet.12">
                  <p:embed/>
                </p:oleObj>
              </mc:Choice>
              <mc:Fallback>
                <p:oleObj name="Worksheet" showAsIcon="1" r:id="rId3" imgW="914400" imgH="828720" progId="Excel.Sheet.12">
                  <p:embed/>
                  <p:pic>
                    <p:nvPicPr>
                      <p:cNvPr id="7" name="对象 6"/>
                      <p:cNvPicPr/>
                      <p:nvPr/>
                    </p:nvPicPr>
                    <p:blipFill>
                      <a:blip r:embed="rId4"/>
                      <a:stretch>
                        <a:fillRect/>
                      </a:stretch>
                    </p:blipFill>
                    <p:spPr>
                      <a:xfrm>
                        <a:off x="9936427" y="4817202"/>
                        <a:ext cx="1440160" cy="1305145"/>
                      </a:xfrm>
                      <a:prstGeom prst="rect">
                        <a:avLst/>
                      </a:prstGeom>
                    </p:spPr>
                  </p:pic>
                </p:oleObj>
              </mc:Fallback>
            </mc:AlternateContent>
          </a:graphicData>
        </a:graphic>
      </p:graphicFrame>
    </p:spTree>
    <p:extLst>
      <p:ext uri="{BB962C8B-B14F-4D97-AF65-F5344CB8AC3E}">
        <p14:creationId xmlns:p14="http://schemas.microsoft.com/office/powerpoint/2010/main" val="1753600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L8 EVT——</a:t>
            </a:r>
            <a:r>
              <a:rPr lang="zh-CN" altLang="en-US" dirty="0"/>
              <a:t>重点岗位主要工作</a:t>
            </a:r>
          </a:p>
        </p:txBody>
      </p:sp>
      <p:graphicFrame>
        <p:nvGraphicFramePr>
          <p:cNvPr id="94" name="表格 93"/>
          <p:cNvGraphicFramePr>
            <a:graphicFrameLocks noGrp="1"/>
          </p:cNvGraphicFramePr>
          <p:nvPr/>
        </p:nvGraphicFramePr>
        <p:xfrm>
          <a:off x="431371" y="1089025"/>
          <a:ext cx="11041227" cy="5468670"/>
        </p:xfrm>
        <a:graphic>
          <a:graphicData uri="http://schemas.openxmlformats.org/drawingml/2006/table">
            <a:tbl>
              <a:tblPr firstRow="1" bandRow="1">
                <a:tableStyleId>{00A15C55-8517-42AA-B614-E9B94910E393}</a:tableStyleId>
              </a:tblPr>
              <a:tblGrid>
                <a:gridCol w="1728192">
                  <a:extLst>
                    <a:ext uri="{9D8B030D-6E8A-4147-A177-3AD203B41FA5}">
                      <a16:colId xmlns:a16="http://schemas.microsoft.com/office/drawing/2014/main" val="1503978168"/>
                    </a:ext>
                  </a:extLst>
                </a:gridCol>
                <a:gridCol w="4128459">
                  <a:extLst>
                    <a:ext uri="{9D8B030D-6E8A-4147-A177-3AD203B41FA5}">
                      <a16:colId xmlns:a16="http://schemas.microsoft.com/office/drawing/2014/main" val="773509366"/>
                    </a:ext>
                  </a:extLst>
                </a:gridCol>
                <a:gridCol w="5184576">
                  <a:extLst>
                    <a:ext uri="{9D8B030D-6E8A-4147-A177-3AD203B41FA5}">
                      <a16:colId xmlns:a16="http://schemas.microsoft.com/office/drawing/2014/main" val="869367937"/>
                    </a:ext>
                  </a:extLst>
                </a:gridCol>
              </a:tblGrid>
              <a:tr h="416346">
                <a:tc>
                  <a:txBody>
                    <a:bodyPr/>
                    <a:lstStyle/>
                    <a:p>
                      <a:pPr algn="ctr"/>
                      <a:r>
                        <a:rPr lang="zh-CN" altLang="en-US" sz="1900" dirty="0"/>
                        <a:t>岗位名称</a:t>
                      </a:r>
                      <a:endParaRPr lang="zh-CN" altLang="en-US" sz="1900" dirty="0">
                        <a:latin typeface="+mn-ea"/>
                        <a:ea typeface="+mn-ea"/>
                      </a:endParaRPr>
                    </a:p>
                  </a:txBody>
                  <a:tcPr marL="121920" marR="121920" marT="60960" marB="60960"/>
                </a:tc>
                <a:tc>
                  <a:txBody>
                    <a:bodyPr/>
                    <a:lstStyle/>
                    <a:p>
                      <a:pPr algn="ctr"/>
                      <a:r>
                        <a:rPr lang="zh-CN" altLang="en-US" sz="1900" dirty="0"/>
                        <a:t>主要职责</a:t>
                      </a:r>
                      <a:endParaRPr lang="zh-CN" altLang="en-US" sz="1900" dirty="0">
                        <a:latin typeface="+mn-ea"/>
                        <a:ea typeface="+mn-ea"/>
                      </a:endParaRPr>
                    </a:p>
                  </a:txBody>
                  <a:tcPr marL="121920" marR="121920" marT="60960" marB="60960"/>
                </a:tc>
                <a:tc>
                  <a:txBody>
                    <a:bodyPr/>
                    <a:lstStyle/>
                    <a:p>
                      <a:pPr algn="ctr"/>
                      <a:r>
                        <a:rPr lang="zh-CN" altLang="en-US" sz="1900" dirty="0"/>
                        <a:t>输出物</a:t>
                      </a:r>
                      <a:endParaRPr lang="zh-CN" altLang="en-US" sz="1900" dirty="0">
                        <a:latin typeface="+mn-ea"/>
                        <a:ea typeface="+mn-ea"/>
                      </a:endParaRPr>
                    </a:p>
                  </a:txBody>
                  <a:tcPr marL="121920" marR="121920" marT="60960" marB="60960"/>
                </a:tc>
                <a:extLst>
                  <a:ext uri="{0D108BD9-81ED-4DB2-BD59-A6C34878D82A}">
                    <a16:rowId xmlns:a16="http://schemas.microsoft.com/office/drawing/2014/main" val="3162067804"/>
                  </a:ext>
                </a:extLst>
              </a:tr>
              <a:tr h="986894">
                <a:tc>
                  <a:txBody>
                    <a:bodyPr/>
                    <a:lstStyle/>
                    <a:p>
                      <a:pPr algn="ctr"/>
                      <a:r>
                        <a:rPr lang="zh-CN" altLang="en-US" sz="1400" dirty="0"/>
                        <a:t>系统架构师</a:t>
                      </a:r>
                      <a:endParaRPr lang="zh-CN" altLang="en-US" sz="1400" dirty="0">
                        <a:latin typeface="+mn-ea"/>
                        <a:ea typeface="+mn-ea"/>
                      </a:endParaRPr>
                    </a:p>
                  </a:txBody>
                  <a:tcPr marL="121920" marR="121920" marT="60960" marB="60960" anchor="ctr"/>
                </a:tc>
                <a:tc>
                  <a:txBody>
                    <a:bodyPr/>
                    <a:lstStyle/>
                    <a:p>
                      <a:pPr marL="171450" indent="-171450">
                        <a:buFont typeface="Arial" panose="020B0604020202020204" pitchFamily="34" charset="0"/>
                        <a:buChar char="•"/>
                      </a:pPr>
                      <a:r>
                        <a:rPr lang="zh-CN" altLang="en-US" sz="1400" dirty="0">
                          <a:solidFill>
                            <a:schemeClr val="tx1"/>
                          </a:solidFill>
                        </a:rPr>
                        <a:t>根据验证结论，评估整体方案；</a:t>
                      </a:r>
                      <a:endParaRPr lang="en-US" altLang="zh-CN" sz="1400" dirty="0">
                        <a:solidFill>
                          <a:schemeClr val="tx1"/>
                        </a:solidFill>
                      </a:endParaRPr>
                    </a:p>
                    <a:p>
                      <a:pPr marL="171450" indent="-171450">
                        <a:buFont typeface="Arial" panose="020B0604020202020204" pitchFamily="34" charset="0"/>
                        <a:buChar char="•"/>
                      </a:pPr>
                      <a:r>
                        <a:rPr lang="zh-CN" altLang="en-US" sz="1400" dirty="0">
                          <a:solidFill>
                            <a:schemeClr val="tx1"/>
                          </a:solidFill>
                        </a:rPr>
                        <a:t>负责同行评审争议决策、参与技术评审和管理评审；</a:t>
                      </a:r>
                      <a:endParaRPr lang="en-US" altLang="zh-CN" sz="1400" dirty="0">
                        <a:solidFill>
                          <a:schemeClr val="tx1"/>
                        </a:solidFill>
                      </a:endParaRPr>
                    </a:p>
                    <a:p>
                      <a:pPr marL="171450" indent="-171450">
                        <a:buFont typeface="Arial" panose="020B0604020202020204" pitchFamily="34" charset="0"/>
                        <a:buChar char="•"/>
                      </a:pPr>
                      <a:r>
                        <a:rPr lang="zh-CN" altLang="en-US" sz="1400" dirty="0">
                          <a:solidFill>
                            <a:schemeClr val="tx1"/>
                          </a:solidFill>
                        </a:rPr>
                        <a:t>组织原型机技术状态评审 ；</a:t>
                      </a:r>
                      <a:endParaRPr lang="zh-CN" altLang="en-US" sz="1400" dirty="0">
                        <a:solidFill>
                          <a:schemeClr val="tx1"/>
                        </a:solidFill>
                        <a:latin typeface="+mn-ea"/>
                        <a:ea typeface="+mn-ea"/>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tx1"/>
                          </a:solidFill>
                          <a:effectLst/>
                        </a:rPr>
                        <a:t>《</a:t>
                      </a:r>
                      <a:r>
                        <a:rPr lang="zh-CN" altLang="en-US" sz="1400" dirty="0">
                          <a:solidFill>
                            <a:schemeClr val="tx1"/>
                          </a:solidFill>
                        </a:rPr>
                        <a:t>原型机技术状态评审报告</a:t>
                      </a:r>
                      <a:r>
                        <a:rPr lang="en-US" altLang="zh-CN" sz="1400" u="none" strike="noStrike" kern="1200" dirty="0">
                          <a:solidFill>
                            <a:schemeClr val="tx1"/>
                          </a:solidFill>
                          <a:effectLst/>
                        </a:rPr>
                        <a:t>》</a:t>
                      </a:r>
                      <a:endParaRPr lang="en-US" altLang="zh-CN" sz="1400" u="none" strike="noStrike" kern="1200" dirty="0">
                        <a:solidFill>
                          <a:schemeClr val="tx1"/>
                        </a:solidFill>
                        <a:effectLst/>
                        <a:latin typeface="+mn-ea"/>
                        <a:ea typeface="+mn-ea"/>
                        <a:cs typeface="+mn-cs"/>
                      </a:endParaRPr>
                    </a:p>
                  </a:txBody>
                  <a:tcPr marL="121920" marR="121920" marT="60960" marB="60960" anchor="ctr"/>
                </a:tc>
                <a:extLst>
                  <a:ext uri="{0D108BD9-81ED-4DB2-BD59-A6C34878D82A}">
                    <a16:rowId xmlns:a16="http://schemas.microsoft.com/office/drawing/2014/main" val="2982289352"/>
                  </a:ext>
                </a:extLst>
              </a:tr>
              <a:tr h="406543">
                <a:tc>
                  <a:txBody>
                    <a:bodyPr/>
                    <a:lstStyle/>
                    <a:p>
                      <a:pPr algn="ctr"/>
                      <a:r>
                        <a:rPr lang="en-US" altLang="zh-CN" sz="1400" dirty="0"/>
                        <a:t>DC</a:t>
                      </a:r>
                      <a:r>
                        <a:rPr lang="zh-CN" altLang="en-US" sz="1400" dirty="0"/>
                        <a:t>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rPr>
                        <a:t>DC</a:t>
                      </a:r>
                      <a:r>
                        <a:rPr lang="zh-CN" altLang="en-US" sz="1400" kern="1200" dirty="0">
                          <a:solidFill>
                            <a:schemeClr val="tx1"/>
                          </a:solidFill>
                        </a:rPr>
                        <a:t>测试及改版意见输出</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《EVT DC</a:t>
                      </a:r>
                      <a:r>
                        <a:rPr lang="zh-CN" altLang="en-US" sz="1400" u="none" strike="noStrike" kern="1200" dirty="0">
                          <a:solidFill>
                            <a:schemeClr val="dk1"/>
                          </a:solidFill>
                          <a:effectLst/>
                        </a:rPr>
                        <a:t>测试报告</a:t>
                      </a:r>
                      <a:r>
                        <a:rPr lang="en-US" altLang="zh-CN" sz="1400" u="none" strike="noStrike" kern="1200" dirty="0">
                          <a:solidFill>
                            <a:schemeClr val="dk1"/>
                          </a:solidFill>
                          <a:effectLst/>
                        </a:rPr>
                        <a:t>》《DVT DC</a:t>
                      </a:r>
                      <a:r>
                        <a:rPr lang="zh-CN" altLang="en-US" sz="1400" u="none" strike="noStrike" kern="1200" dirty="0">
                          <a:solidFill>
                            <a:schemeClr val="dk1"/>
                          </a:solidFill>
                          <a:effectLst/>
                        </a:rPr>
                        <a:t>测试计划</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4082592736"/>
                  </a:ext>
                </a:extLst>
              </a:tr>
              <a:tr h="406543">
                <a:tc>
                  <a:txBody>
                    <a:bodyPr/>
                    <a:lstStyle/>
                    <a:p>
                      <a:pPr algn="ctr"/>
                      <a:r>
                        <a:rPr lang="en-US" altLang="zh-CN" sz="1400" dirty="0"/>
                        <a:t>SI</a:t>
                      </a:r>
                      <a:r>
                        <a:rPr lang="zh-CN" altLang="en-US" sz="1400" dirty="0"/>
                        <a:t>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rPr>
                        <a:t>SI</a:t>
                      </a:r>
                      <a:r>
                        <a:rPr lang="zh-CN" altLang="en-US" sz="1400" kern="1200" dirty="0">
                          <a:solidFill>
                            <a:schemeClr val="tx1"/>
                          </a:solidFill>
                        </a:rPr>
                        <a:t>测试及改版意见输出</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《EVT SI</a:t>
                      </a:r>
                      <a:r>
                        <a:rPr lang="zh-CN" altLang="en-US" sz="1400" u="none" strike="noStrike" kern="1200" dirty="0">
                          <a:solidFill>
                            <a:schemeClr val="dk1"/>
                          </a:solidFill>
                          <a:effectLst/>
                        </a:rPr>
                        <a:t>测试报告</a:t>
                      </a:r>
                      <a:r>
                        <a:rPr lang="en-US" altLang="zh-CN" sz="1400" u="none" strike="noStrike" kern="1200" dirty="0">
                          <a:solidFill>
                            <a:schemeClr val="dk1"/>
                          </a:solidFill>
                          <a:effectLst/>
                        </a:rPr>
                        <a:t>》《DVT SI</a:t>
                      </a:r>
                      <a:r>
                        <a:rPr lang="zh-CN" altLang="en-US" sz="1400" u="none" strike="noStrike" kern="1200" dirty="0">
                          <a:solidFill>
                            <a:schemeClr val="dk1"/>
                          </a:solidFill>
                          <a:effectLst/>
                        </a:rPr>
                        <a:t>测试计划</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821497477"/>
                  </a:ext>
                </a:extLst>
              </a:tr>
              <a:tr h="406543">
                <a:tc>
                  <a:txBody>
                    <a:bodyPr/>
                    <a:lstStyle/>
                    <a:p>
                      <a:pPr algn="ctr"/>
                      <a:r>
                        <a:rPr lang="en-US" altLang="zh-CN" sz="1400" dirty="0"/>
                        <a:t>SIT</a:t>
                      </a:r>
                      <a:r>
                        <a:rPr lang="zh-CN" altLang="en-US" sz="1400" dirty="0"/>
                        <a:t>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rPr>
                        <a:t>SIT</a:t>
                      </a:r>
                      <a:r>
                        <a:rPr lang="zh-CN" altLang="en-US" sz="1400" kern="1200" dirty="0">
                          <a:solidFill>
                            <a:schemeClr val="tx1"/>
                          </a:solidFill>
                        </a:rPr>
                        <a:t>测试，</a:t>
                      </a:r>
                      <a:r>
                        <a:rPr lang="en-US" altLang="zh-CN" sz="1400" kern="1200" dirty="0">
                          <a:solidFill>
                            <a:schemeClr val="tx1"/>
                          </a:solidFill>
                        </a:rPr>
                        <a:t>ug</a:t>
                      </a:r>
                      <a:r>
                        <a:rPr lang="zh-CN" altLang="en-US" sz="1400" kern="1200" dirty="0">
                          <a:solidFill>
                            <a:schemeClr val="tx1"/>
                          </a:solidFill>
                        </a:rPr>
                        <a:t>提交，</a:t>
                      </a:r>
                      <a:r>
                        <a:rPr lang="en-US" altLang="zh-CN" sz="1400" kern="1200" dirty="0">
                          <a:solidFill>
                            <a:schemeClr val="tx1"/>
                          </a:solidFill>
                        </a:rPr>
                        <a:t>bug</a:t>
                      </a:r>
                      <a:r>
                        <a:rPr lang="zh-CN" altLang="en-US" sz="1400" kern="1200" dirty="0">
                          <a:solidFill>
                            <a:schemeClr val="tx1"/>
                          </a:solidFill>
                        </a:rPr>
                        <a:t>验证</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《EVT SIT</a:t>
                      </a:r>
                      <a:r>
                        <a:rPr lang="zh-CN" altLang="en-US" sz="1400" u="none" strike="noStrike" kern="1200" dirty="0">
                          <a:solidFill>
                            <a:schemeClr val="dk1"/>
                          </a:solidFill>
                          <a:effectLst/>
                        </a:rPr>
                        <a:t>测试报告</a:t>
                      </a:r>
                      <a:r>
                        <a:rPr lang="en-US" altLang="zh-CN" sz="1400" u="none" strike="noStrike" kern="1200" dirty="0">
                          <a:solidFill>
                            <a:schemeClr val="dk1"/>
                          </a:solidFill>
                          <a:effectLst/>
                        </a:rPr>
                        <a:t>》《DVT SIT</a:t>
                      </a:r>
                      <a:r>
                        <a:rPr lang="zh-CN" altLang="en-US" sz="1400" u="none" strike="noStrike" kern="1200" dirty="0">
                          <a:solidFill>
                            <a:schemeClr val="dk1"/>
                          </a:solidFill>
                          <a:effectLst/>
                        </a:rPr>
                        <a:t>测试计划</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331731674"/>
                  </a:ext>
                </a:extLst>
              </a:tr>
              <a:tr h="406543">
                <a:tc>
                  <a:txBody>
                    <a:bodyPr/>
                    <a:lstStyle/>
                    <a:p>
                      <a:pPr algn="ctr"/>
                      <a:r>
                        <a:rPr lang="zh-CN" altLang="en-US" sz="1400" dirty="0"/>
                        <a:t>散热工程师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dirty="0"/>
                        <a:t>散热</a:t>
                      </a:r>
                      <a:r>
                        <a:rPr lang="zh-CN" altLang="en-US" sz="1400" kern="1200" dirty="0">
                          <a:solidFill>
                            <a:schemeClr val="tx1"/>
                          </a:solidFill>
                        </a:rPr>
                        <a:t>测试及改版意见输出</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《EVT </a:t>
                      </a:r>
                      <a:r>
                        <a:rPr lang="zh-CN" altLang="en-US" sz="1400" dirty="0"/>
                        <a:t>散热</a:t>
                      </a:r>
                      <a:r>
                        <a:rPr lang="zh-CN" altLang="en-US" sz="1400" u="none" strike="noStrike" kern="1200" dirty="0">
                          <a:solidFill>
                            <a:schemeClr val="dk1"/>
                          </a:solidFill>
                          <a:effectLst/>
                        </a:rPr>
                        <a:t>测试报告</a:t>
                      </a:r>
                      <a:r>
                        <a:rPr lang="en-US" altLang="zh-CN" sz="1400" u="none" strike="noStrike" kern="1200" dirty="0">
                          <a:solidFill>
                            <a:schemeClr val="dk1"/>
                          </a:solidFill>
                          <a:effectLst/>
                        </a:rPr>
                        <a:t>》《DVT </a:t>
                      </a:r>
                      <a:r>
                        <a:rPr lang="zh-CN" altLang="en-US" sz="1400" dirty="0"/>
                        <a:t>散热</a:t>
                      </a:r>
                      <a:r>
                        <a:rPr lang="zh-CN" altLang="en-US" sz="1400" u="none" strike="noStrike" kern="1200" dirty="0">
                          <a:solidFill>
                            <a:schemeClr val="dk1"/>
                          </a:solidFill>
                          <a:effectLst/>
                        </a:rPr>
                        <a:t>测试计划</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757293535"/>
                  </a:ext>
                </a:extLst>
              </a:tr>
              <a:tr h="406543">
                <a:tc>
                  <a:txBody>
                    <a:bodyPr/>
                    <a:lstStyle/>
                    <a:p>
                      <a:pPr algn="ctr"/>
                      <a:r>
                        <a:rPr lang="en-US" altLang="zh-CN" sz="1400" dirty="0"/>
                        <a:t>PA</a:t>
                      </a:r>
                      <a:r>
                        <a:rPr lang="zh-CN" altLang="en-US" sz="1400" dirty="0"/>
                        <a:t>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rPr>
                        <a:t>PA</a:t>
                      </a:r>
                      <a:r>
                        <a:rPr lang="zh-CN" altLang="en-US" sz="1400" kern="1200" dirty="0">
                          <a:solidFill>
                            <a:schemeClr val="tx1"/>
                          </a:solidFill>
                        </a:rPr>
                        <a:t>测试及改版意见输出</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《EVT PA</a:t>
                      </a:r>
                      <a:r>
                        <a:rPr lang="zh-CN" altLang="en-US" sz="1400" u="none" strike="noStrike" kern="1200" dirty="0">
                          <a:solidFill>
                            <a:schemeClr val="dk1"/>
                          </a:solidFill>
                          <a:effectLst/>
                        </a:rPr>
                        <a:t>测试报告</a:t>
                      </a:r>
                      <a:r>
                        <a:rPr lang="en-US" altLang="zh-CN" sz="1400" u="none" strike="noStrike" kern="1200" dirty="0">
                          <a:solidFill>
                            <a:schemeClr val="dk1"/>
                          </a:solidFill>
                          <a:effectLst/>
                        </a:rPr>
                        <a:t>》《DVT PA</a:t>
                      </a:r>
                      <a:r>
                        <a:rPr lang="zh-CN" altLang="en-US" sz="1400" u="none" strike="noStrike" kern="1200" dirty="0">
                          <a:solidFill>
                            <a:schemeClr val="dk1"/>
                          </a:solidFill>
                          <a:effectLst/>
                        </a:rPr>
                        <a:t>测试计划</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133214060"/>
                  </a:ext>
                </a:extLst>
              </a:tr>
              <a:tr h="406543">
                <a:tc>
                  <a:txBody>
                    <a:bodyPr/>
                    <a:lstStyle/>
                    <a:p>
                      <a:pPr algn="ctr"/>
                      <a:r>
                        <a:rPr lang="zh-CN" altLang="en-US" sz="1400" dirty="0"/>
                        <a:t>可靠性工程师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rPr>
                        <a:t>可靠性测试及改版意见输出</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《EVT </a:t>
                      </a:r>
                      <a:r>
                        <a:rPr lang="zh-CN" altLang="en-US" sz="1400" kern="1200" dirty="0">
                          <a:solidFill>
                            <a:schemeClr val="tx1"/>
                          </a:solidFill>
                        </a:rPr>
                        <a:t>可靠性</a:t>
                      </a:r>
                      <a:r>
                        <a:rPr lang="zh-CN" altLang="en-US" sz="1400" u="none" strike="noStrike" kern="1200" dirty="0">
                          <a:solidFill>
                            <a:schemeClr val="dk1"/>
                          </a:solidFill>
                          <a:effectLst/>
                        </a:rPr>
                        <a:t>测试报告</a:t>
                      </a:r>
                      <a:r>
                        <a:rPr lang="en-US" altLang="zh-CN" sz="1400" u="none" strike="noStrike" kern="1200" dirty="0">
                          <a:solidFill>
                            <a:schemeClr val="dk1"/>
                          </a:solidFill>
                          <a:effectLst/>
                        </a:rPr>
                        <a:t>》《DVT </a:t>
                      </a:r>
                      <a:r>
                        <a:rPr lang="zh-CN" altLang="en-US" sz="1400" kern="1200" dirty="0">
                          <a:solidFill>
                            <a:schemeClr val="tx1"/>
                          </a:solidFill>
                        </a:rPr>
                        <a:t>可靠性</a:t>
                      </a:r>
                      <a:r>
                        <a:rPr lang="zh-CN" altLang="en-US" sz="1400" u="none" strike="noStrike" kern="1200" dirty="0">
                          <a:solidFill>
                            <a:schemeClr val="dk1"/>
                          </a:solidFill>
                          <a:effectLst/>
                        </a:rPr>
                        <a:t>测试计划</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524037987"/>
                  </a:ext>
                </a:extLst>
              </a:tr>
              <a:tr h="406543">
                <a:tc>
                  <a:txBody>
                    <a:bodyPr/>
                    <a:lstStyle/>
                    <a:p>
                      <a:pPr algn="ctr"/>
                      <a:r>
                        <a:rPr lang="en-US" altLang="zh-CN" sz="1400" dirty="0"/>
                        <a:t>BMC/BIOS/CMM</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rPr>
                        <a:t>软件版本开发</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rPr>
                        <a:t>软件版本（根据软件版本计划发布）</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1295311231"/>
                  </a:ext>
                </a:extLst>
              </a:tr>
              <a:tr h="406543">
                <a:tc>
                  <a:txBody>
                    <a:bodyPr/>
                    <a:lstStyle/>
                    <a:p>
                      <a:pPr algn="ctr"/>
                      <a:r>
                        <a:rPr lang="zh-CN" altLang="en-US" sz="1400" dirty="0"/>
                        <a:t>硬件工程师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rPr>
                        <a:t>评估</a:t>
                      </a:r>
                      <a:r>
                        <a:rPr lang="en-US" altLang="zh-CN" sz="1400" kern="1200" dirty="0">
                          <a:solidFill>
                            <a:schemeClr val="tx1"/>
                          </a:solidFill>
                        </a:rPr>
                        <a:t>bug</a:t>
                      </a:r>
                      <a:r>
                        <a:rPr lang="zh-CN" altLang="en-US" sz="1400" kern="1200" dirty="0">
                          <a:solidFill>
                            <a:schemeClr val="tx1"/>
                          </a:solidFill>
                        </a:rPr>
                        <a:t>及各组改版意见进行原理图改版</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a:t>
                      </a:r>
                      <a:r>
                        <a:rPr lang="zh-CN" altLang="en-US" sz="1400" u="none" strike="noStrike" kern="1200" dirty="0">
                          <a:solidFill>
                            <a:schemeClr val="dk1"/>
                          </a:solidFill>
                          <a:effectLst/>
                        </a:rPr>
                        <a:t>原理图（含</a:t>
                      </a:r>
                      <a:r>
                        <a:rPr lang="en-US" altLang="zh-CN" sz="1400" u="none" strike="noStrike" kern="1200" dirty="0" err="1">
                          <a:solidFill>
                            <a:schemeClr val="dk1"/>
                          </a:solidFill>
                          <a:effectLst/>
                        </a:rPr>
                        <a:t>changelist</a:t>
                      </a:r>
                      <a:r>
                        <a:rPr lang="zh-CN" altLang="en-US" sz="1400" u="none" strike="noStrike" kern="1200" dirty="0">
                          <a:solidFill>
                            <a:schemeClr val="dk1"/>
                          </a:solidFill>
                          <a:effectLst/>
                        </a:rPr>
                        <a:t>）</a:t>
                      </a:r>
                      <a:r>
                        <a:rPr lang="en-US" altLang="zh-CN" sz="1400" u="none" strike="noStrike" kern="1200" dirty="0">
                          <a:solidFill>
                            <a:schemeClr val="dk1"/>
                          </a:solidFill>
                          <a:effectLst/>
                        </a:rPr>
                        <a:t>》《layout guideline》</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353297114"/>
                  </a:ext>
                </a:extLst>
              </a:tr>
              <a:tr h="406543">
                <a:tc>
                  <a:txBody>
                    <a:bodyPr/>
                    <a:lstStyle/>
                    <a:p>
                      <a:pPr algn="ctr"/>
                      <a:r>
                        <a:rPr lang="en-US" altLang="zh-CN" sz="1400" dirty="0"/>
                        <a:t>Layout</a:t>
                      </a:r>
                      <a:r>
                        <a:rPr lang="zh-CN" altLang="en-US" sz="1400" dirty="0"/>
                        <a:t>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rPr>
                        <a:t>改版布线，</a:t>
                      </a:r>
                      <a:r>
                        <a:rPr lang="en-US" altLang="zh-CN" sz="1400" kern="1200" dirty="0" err="1">
                          <a:solidFill>
                            <a:schemeClr val="tx1"/>
                          </a:solidFill>
                        </a:rPr>
                        <a:t>geber</a:t>
                      </a:r>
                      <a:r>
                        <a:rPr lang="zh-CN" altLang="en-US" sz="1400" kern="1200" dirty="0">
                          <a:solidFill>
                            <a:schemeClr val="tx1"/>
                          </a:solidFill>
                        </a:rPr>
                        <a:t>文档发布</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《BRD》《Gerber</a:t>
                      </a:r>
                      <a:r>
                        <a:rPr lang="zh-CN" altLang="en-US" sz="1400" u="none" strike="noStrike" kern="1200" dirty="0">
                          <a:solidFill>
                            <a:schemeClr val="dk1"/>
                          </a:solidFill>
                          <a:effectLst/>
                        </a:rPr>
                        <a:t>文件</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1940346069"/>
                  </a:ext>
                </a:extLst>
              </a:tr>
              <a:tr h="406543">
                <a:tc>
                  <a:txBody>
                    <a:bodyPr/>
                    <a:lstStyle/>
                    <a:p>
                      <a:pPr algn="ctr"/>
                      <a:r>
                        <a:rPr lang="zh-CN" altLang="en-US" sz="1400" dirty="0"/>
                        <a:t>机构工程师</a:t>
                      </a:r>
                      <a:endParaRPr lang="zh-CN" altLang="en-US" sz="1400" dirty="0">
                        <a:latin typeface="+mn-ea"/>
                        <a:ea typeface="+mn-ea"/>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rPr>
                        <a:t>评估</a:t>
                      </a:r>
                      <a:r>
                        <a:rPr lang="en-US" altLang="zh-CN" sz="1400" kern="1200" dirty="0">
                          <a:solidFill>
                            <a:schemeClr val="tx1"/>
                          </a:solidFill>
                        </a:rPr>
                        <a:t>bug</a:t>
                      </a:r>
                      <a:r>
                        <a:rPr lang="zh-CN" altLang="en-US" sz="1400" kern="1200" dirty="0">
                          <a:solidFill>
                            <a:schemeClr val="tx1"/>
                          </a:solidFill>
                        </a:rPr>
                        <a:t>及各组改版意见进行机构图档改版</a:t>
                      </a:r>
                      <a:endParaRPr lang="zh-CN" altLang="en-US" sz="1400" kern="1200" dirty="0">
                        <a:solidFill>
                          <a:schemeClr val="tx1"/>
                        </a:solidFill>
                        <a:latin typeface="+mn-ea"/>
                        <a:ea typeface="+mn-ea"/>
                        <a:cs typeface="+mn-cs"/>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a:t>
                      </a:r>
                      <a:r>
                        <a:rPr lang="zh-CN" altLang="en-US" sz="1400" u="none" strike="noStrike" kern="1200" dirty="0">
                          <a:solidFill>
                            <a:schemeClr val="dk1"/>
                          </a:solidFill>
                          <a:effectLst/>
                        </a:rPr>
                        <a:t>结构</a:t>
                      </a:r>
                      <a:r>
                        <a:rPr lang="en-US" altLang="zh-CN" sz="1400" u="none" strike="noStrike" kern="1200" dirty="0">
                          <a:solidFill>
                            <a:schemeClr val="dk1"/>
                          </a:solidFill>
                          <a:effectLst/>
                        </a:rPr>
                        <a:t>3D</a:t>
                      </a:r>
                      <a:r>
                        <a:rPr lang="zh-CN" altLang="en-US" sz="1400" u="none" strike="noStrike" kern="1200" dirty="0">
                          <a:solidFill>
                            <a:schemeClr val="dk1"/>
                          </a:solidFill>
                          <a:effectLst/>
                        </a:rPr>
                        <a:t>文件</a:t>
                      </a:r>
                      <a:r>
                        <a:rPr lang="en-US" altLang="zh-CN" sz="1400" u="none" strike="noStrike" kern="1200" dirty="0">
                          <a:solidFill>
                            <a:schemeClr val="dk1"/>
                          </a:solidFill>
                          <a:effectLst/>
                        </a:rPr>
                        <a:t>》《</a:t>
                      </a:r>
                      <a:r>
                        <a:rPr lang="zh-CN" altLang="en-US" sz="1400" u="none" strike="noStrike" kern="1200" dirty="0">
                          <a:solidFill>
                            <a:schemeClr val="dk1"/>
                          </a:solidFill>
                          <a:effectLst/>
                        </a:rPr>
                        <a:t>结构布局图</a:t>
                      </a:r>
                      <a:r>
                        <a:rPr lang="en-US" altLang="zh-CN" sz="1400" u="none" strike="noStrike" kern="1200" dirty="0">
                          <a:solidFill>
                            <a:schemeClr val="dk1"/>
                          </a:solidFill>
                          <a:effectLst/>
                        </a:rPr>
                        <a:t>》《</a:t>
                      </a:r>
                      <a:r>
                        <a:rPr lang="zh-CN" altLang="en-US" sz="1400" u="none" strike="noStrike" kern="1200" dirty="0">
                          <a:solidFill>
                            <a:schemeClr val="dk1"/>
                          </a:solidFill>
                          <a:effectLst/>
                        </a:rPr>
                        <a:t>结构包装设计图</a:t>
                      </a:r>
                      <a:r>
                        <a:rPr lang="en-US" altLang="zh-CN" sz="1400" u="none" strike="noStrike" kern="1200" dirty="0">
                          <a:solidFill>
                            <a:schemeClr val="dk1"/>
                          </a:solidFill>
                          <a:effectLst/>
                        </a:rPr>
                        <a:t>》</a:t>
                      </a:r>
                      <a:endParaRPr lang="en-US" altLang="zh-CN"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3923471605"/>
                  </a:ext>
                </a:extLst>
              </a:tr>
            </a:tbl>
          </a:graphicData>
        </a:graphic>
      </p:graphicFrame>
    </p:spTree>
    <p:extLst>
      <p:ext uri="{BB962C8B-B14F-4D97-AF65-F5344CB8AC3E}">
        <p14:creationId xmlns:p14="http://schemas.microsoft.com/office/powerpoint/2010/main" val="3795190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L8 EVT——</a:t>
            </a:r>
            <a:r>
              <a:rPr lang="zh-CN" altLang="en-US" dirty="0"/>
              <a:t>重点岗位主要工作</a:t>
            </a:r>
          </a:p>
        </p:txBody>
      </p:sp>
      <p:graphicFrame>
        <p:nvGraphicFramePr>
          <p:cNvPr id="94" name="表格 93"/>
          <p:cNvGraphicFramePr>
            <a:graphicFrameLocks noGrp="1"/>
          </p:cNvGraphicFramePr>
          <p:nvPr/>
        </p:nvGraphicFramePr>
        <p:xfrm>
          <a:off x="431371" y="1089025"/>
          <a:ext cx="11352642" cy="5508686"/>
        </p:xfrm>
        <a:graphic>
          <a:graphicData uri="http://schemas.openxmlformats.org/drawingml/2006/table">
            <a:tbl>
              <a:tblPr firstRow="1" bandRow="1">
                <a:tableStyleId>{00A15C55-8517-42AA-B614-E9B94910E393}</a:tableStyleId>
              </a:tblPr>
              <a:tblGrid>
                <a:gridCol w="1444881">
                  <a:extLst>
                    <a:ext uri="{9D8B030D-6E8A-4147-A177-3AD203B41FA5}">
                      <a16:colId xmlns:a16="http://schemas.microsoft.com/office/drawing/2014/main" val="1503978168"/>
                    </a:ext>
                  </a:extLst>
                </a:gridCol>
                <a:gridCol w="2373735">
                  <a:extLst>
                    <a:ext uri="{9D8B030D-6E8A-4147-A177-3AD203B41FA5}">
                      <a16:colId xmlns:a16="http://schemas.microsoft.com/office/drawing/2014/main" val="773509366"/>
                    </a:ext>
                  </a:extLst>
                </a:gridCol>
                <a:gridCol w="2786558">
                  <a:extLst>
                    <a:ext uri="{9D8B030D-6E8A-4147-A177-3AD203B41FA5}">
                      <a16:colId xmlns:a16="http://schemas.microsoft.com/office/drawing/2014/main" val="1193865247"/>
                    </a:ext>
                  </a:extLst>
                </a:gridCol>
                <a:gridCol w="4747468">
                  <a:extLst>
                    <a:ext uri="{9D8B030D-6E8A-4147-A177-3AD203B41FA5}">
                      <a16:colId xmlns:a16="http://schemas.microsoft.com/office/drawing/2014/main" val="869367937"/>
                    </a:ext>
                  </a:extLst>
                </a:gridCol>
              </a:tblGrid>
              <a:tr h="432276">
                <a:tc>
                  <a:txBody>
                    <a:bodyPr/>
                    <a:lstStyle/>
                    <a:p>
                      <a:pPr algn="ctr"/>
                      <a:r>
                        <a:rPr lang="zh-CN" altLang="en-US" sz="1900" dirty="0"/>
                        <a:t>岗位名称</a:t>
                      </a:r>
                      <a:endParaRPr lang="zh-CN" altLang="en-US" sz="1900" dirty="0">
                        <a:latin typeface="+mn-ea"/>
                        <a:ea typeface="+mn-ea"/>
                      </a:endParaRPr>
                    </a:p>
                  </a:txBody>
                  <a:tcPr marL="121920" marR="121920" marT="60960" marB="60960"/>
                </a:tc>
                <a:tc>
                  <a:txBody>
                    <a:bodyPr/>
                    <a:lstStyle/>
                    <a:p>
                      <a:pPr algn="ctr"/>
                      <a:r>
                        <a:rPr lang="zh-CN" altLang="en-US" sz="1900" dirty="0"/>
                        <a:t>工作内容</a:t>
                      </a:r>
                      <a:endParaRPr lang="zh-CN" altLang="en-US" sz="1900" dirty="0">
                        <a:latin typeface="+mn-ea"/>
                        <a:ea typeface="+mn-ea"/>
                      </a:endParaRPr>
                    </a:p>
                  </a:txBody>
                  <a:tcPr marL="121920" marR="121920" marT="60960" marB="60960"/>
                </a:tc>
                <a:tc>
                  <a:txBody>
                    <a:bodyPr/>
                    <a:lstStyle/>
                    <a:p>
                      <a:pPr algn="ctr"/>
                      <a:r>
                        <a:rPr lang="zh-CN" altLang="en-US" sz="1900" dirty="0"/>
                        <a:t>参与人</a:t>
                      </a:r>
                      <a:endParaRPr lang="zh-CN" altLang="en-US" sz="1900" dirty="0">
                        <a:latin typeface="+mn-ea"/>
                        <a:ea typeface="+mn-ea"/>
                      </a:endParaRPr>
                    </a:p>
                  </a:txBody>
                  <a:tcPr marL="121920" marR="121920" marT="60960" marB="60960"/>
                </a:tc>
                <a:tc>
                  <a:txBody>
                    <a:bodyPr/>
                    <a:lstStyle/>
                    <a:p>
                      <a:pPr algn="ctr"/>
                      <a:r>
                        <a:rPr lang="zh-CN" altLang="en-US" sz="1900" dirty="0"/>
                        <a:t>输出物</a:t>
                      </a:r>
                      <a:endParaRPr lang="zh-CN" altLang="en-US" sz="1900" dirty="0">
                        <a:latin typeface="+mn-ea"/>
                        <a:ea typeface="+mn-ea"/>
                      </a:endParaRPr>
                    </a:p>
                  </a:txBody>
                  <a:tcPr marL="121920" marR="121920" marT="60960" marB="60960"/>
                </a:tc>
                <a:extLst>
                  <a:ext uri="{0D108BD9-81ED-4DB2-BD59-A6C34878D82A}">
                    <a16:rowId xmlns:a16="http://schemas.microsoft.com/office/drawing/2014/main" val="3162067804"/>
                  </a:ext>
                </a:extLst>
              </a:tr>
              <a:tr h="734866">
                <a:tc rowSpan="6">
                  <a:txBody>
                    <a:bodyPr/>
                    <a:lstStyle/>
                    <a:p>
                      <a:pPr algn="ctr"/>
                      <a:r>
                        <a:rPr lang="zh-CN" altLang="en-US" sz="1400" dirty="0"/>
                        <a:t>项目经理</a:t>
                      </a:r>
                      <a:endParaRPr lang="zh-CN" altLang="en-US" sz="1400" dirty="0">
                        <a:latin typeface="+mn-ea"/>
                        <a:ea typeface="+mn-ea"/>
                      </a:endParaRPr>
                    </a:p>
                  </a:txBody>
                  <a:tcPr marL="121920" marR="121920" marT="60960" marB="60960" anchor="ctr"/>
                </a:tc>
                <a:tc>
                  <a:txBody>
                    <a:bodyPr/>
                    <a:lstStyle/>
                    <a:p>
                      <a:pPr algn="ctr"/>
                      <a:r>
                        <a:rPr lang="zh-CN" altLang="en-US" sz="1400" dirty="0"/>
                        <a:t>组织机构安装评审</a:t>
                      </a:r>
                      <a:endParaRPr lang="zh-CN" altLang="en-US" sz="1400" dirty="0">
                        <a:latin typeface="+mn-ea"/>
                        <a:ea typeface="+mn-ea"/>
                      </a:endParaRPr>
                    </a:p>
                  </a:txBody>
                  <a:tcPr marL="121920" marR="121920" marT="60960" marB="60960" anchor="ctr"/>
                </a:tc>
                <a:tc>
                  <a:txBody>
                    <a:bodyPr/>
                    <a:lstStyle/>
                    <a:p>
                      <a:pPr algn="ctr"/>
                      <a:r>
                        <a:rPr lang="zh-CN" altLang="en-US" sz="1400" dirty="0"/>
                        <a:t>产线、解决方案、技术支持、品质管理、项目组关键角色</a:t>
                      </a:r>
                      <a:endParaRPr lang="zh-CN" altLang="en-US" sz="1400" dirty="0">
                        <a:solidFill>
                          <a:schemeClr val="tx1"/>
                        </a:solidFill>
                        <a:latin typeface="+mn-ea"/>
                        <a:ea typeface="+mn-ea"/>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a:t>
                      </a:r>
                      <a:r>
                        <a:rPr lang="zh-CN" altLang="en-US" sz="1400" u="none" strike="noStrike" kern="1200" dirty="0">
                          <a:solidFill>
                            <a:schemeClr val="dk1"/>
                          </a:solidFill>
                          <a:effectLst/>
                        </a:rPr>
                        <a:t>机构安装评审签到表</a:t>
                      </a:r>
                      <a:r>
                        <a:rPr lang="en-US" altLang="zh-CN" sz="1400" u="none" strike="noStrike" kern="1200" dirty="0">
                          <a:solidFill>
                            <a:schemeClr val="dk1"/>
                          </a:solidFill>
                          <a:effectLs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   Bug</a:t>
                      </a:r>
                      <a:r>
                        <a:rPr lang="zh-CN" altLang="en-US" sz="1400" u="none" strike="noStrike" kern="1200" dirty="0">
                          <a:solidFill>
                            <a:schemeClr val="dk1"/>
                          </a:solidFill>
                          <a:effectLst/>
                        </a:rPr>
                        <a:t>提交（问题提出人）</a:t>
                      </a:r>
                      <a:endParaRPr lang="zh-CN" altLang="en-US"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982289352"/>
                  </a:ext>
                </a:extLst>
              </a:tr>
              <a:tr h="1402018">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t>项目进展及状态跟踪</a:t>
                      </a:r>
                      <a:endParaRPr lang="zh-CN" altLang="en-US" sz="1400" dirty="0">
                        <a:latin typeface="+mn-ea"/>
                        <a:ea typeface="+mn-ea"/>
                      </a:endParaRPr>
                    </a:p>
                  </a:txBody>
                  <a:tcPr marL="121920" marR="121920" marT="60960" marB="60960" anchor="ctr"/>
                </a:tc>
                <a:tc>
                  <a:txBody>
                    <a:bodyPr/>
                    <a:lstStyle/>
                    <a:p>
                      <a:pPr algn="ctr"/>
                      <a:r>
                        <a:rPr lang="zh-CN" altLang="en-US" sz="1400" dirty="0">
                          <a:solidFill>
                            <a:schemeClr val="tx1"/>
                          </a:solidFill>
                        </a:rPr>
                        <a:t>项目组全体成员</a:t>
                      </a:r>
                      <a:endParaRPr lang="zh-CN" altLang="en-US" sz="1400" dirty="0">
                        <a:solidFill>
                          <a:schemeClr val="tx1"/>
                        </a:solidFill>
                        <a:latin typeface="+mn-ea"/>
                        <a:ea typeface="+mn-ea"/>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《QR-D-PH-003-003</a:t>
                      </a:r>
                      <a:r>
                        <a:rPr lang="zh-CN" altLang="en-US" sz="1400" u="none" strike="noStrike" kern="1200" dirty="0">
                          <a:solidFill>
                            <a:schemeClr val="dk1"/>
                          </a:solidFill>
                          <a:effectLst/>
                        </a:rPr>
                        <a:t>项目会议纪要</a:t>
                      </a:r>
                      <a:r>
                        <a:rPr lang="en-US" altLang="zh-CN" sz="1400" u="none" strike="noStrike" kern="1200" dirty="0">
                          <a:solidFill>
                            <a:schemeClr val="dk1"/>
                          </a:solidFill>
                          <a:effectLs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   BUG</a:t>
                      </a:r>
                      <a:r>
                        <a:rPr lang="zh-CN" altLang="en-US" sz="1400" u="none" strike="noStrike" kern="1200" dirty="0">
                          <a:solidFill>
                            <a:schemeClr val="dk1"/>
                          </a:solidFill>
                          <a:effectLst/>
                        </a:rPr>
                        <a:t>回复时效性及</a:t>
                      </a:r>
                      <a:r>
                        <a:rPr lang="en-US" altLang="zh-CN" sz="1400" u="none" strike="noStrike" kern="1200" dirty="0">
                          <a:solidFill>
                            <a:schemeClr val="dk1"/>
                          </a:solidFill>
                          <a:effectLst/>
                        </a:rPr>
                        <a:t>DI</a:t>
                      </a:r>
                      <a:r>
                        <a:rPr lang="zh-CN" altLang="en-US" sz="1400" u="none" strike="noStrike" kern="1200" dirty="0">
                          <a:solidFill>
                            <a:schemeClr val="dk1"/>
                          </a:solidFill>
                          <a:effectLst/>
                        </a:rPr>
                        <a:t>值统计报告（邮件）</a:t>
                      </a:r>
                      <a:endParaRPr lang="en-US" altLang="zh-CN" sz="1400" u="none" strike="noStrike" kern="1200" dirty="0">
                        <a:solidFill>
                          <a:schemeClr val="dk1"/>
                        </a:solidFill>
                        <a:effectLs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a:t>
                      </a:r>
                      <a:r>
                        <a:rPr lang="zh-CN" altLang="en-US" sz="1400" u="none" strike="noStrike" kern="1200" dirty="0">
                          <a:solidFill>
                            <a:schemeClr val="dk1"/>
                          </a:solidFill>
                          <a:effectLst/>
                        </a:rPr>
                        <a:t>在研项目状态周报</a:t>
                      </a:r>
                      <a:r>
                        <a:rPr lang="en-US" altLang="zh-CN" sz="1400" u="none" strike="noStrike" kern="1200" dirty="0">
                          <a:solidFill>
                            <a:schemeClr val="dk1"/>
                          </a:solidFill>
                          <a:effectLst/>
                        </a:rPr>
                        <a:t>》</a:t>
                      </a:r>
                      <a:r>
                        <a:rPr lang="zh-CN" altLang="en-US" sz="1400" u="none" strike="noStrike" kern="1200" dirty="0">
                          <a:solidFill>
                            <a:schemeClr val="dk1"/>
                          </a:solidFill>
                          <a:effectLst/>
                        </a:rPr>
                        <a:t>（双周）</a:t>
                      </a:r>
                      <a:endParaRPr lang="en-US" altLang="zh-CN" sz="1400" u="none" strike="noStrike" kern="1200" dirty="0">
                        <a:solidFill>
                          <a:schemeClr val="dk1"/>
                        </a:solidFill>
                        <a:effectLs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rPr>
                        <a:t>   项目严重风险</a:t>
                      </a:r>
                      <a:r>
                        <a:rPr lang="en-US" altLang="zh-CN" sz="1400" u="none" strike="noStrike" kern="1200" dirty="0">
                          <a:solidFill>
                            <a:schemeClr val="dk1"/>
                          </a:solidFill>
                          <a:effectLst/>
                        </a:rPr>
                        <a:t>/</a:t>
                      </a:r>
                      <a:r>
                        <a:rPr lang="zh-CN" altLang="en-US" sz="1400" u="none" strike="noStrike" kern="1200" dirty="0">
                          <a:solidFill>
                            <a:schemeClr val="dk1"/>
                          </a:solidFill>
                          <a:effectLst/>
                        </a:rPr>
                        <a:t>问题预警（决策委员会）</a:t>
                      </a:r>
                      <a:endParaRPr lang="en-US" altLang="zh-CN" sz="1400" u="none" strike="noStrike" kern="1200" dirty="0">
                        <a:solidFill>
                          <a:schemeClr val="dk1"/>
                        </a:solidFill>
                        <a:effectLs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《QR-D-PH-002-001 </a:t>
                      </a:r>
                      <a:r>
                        <a:rPr lang="zh-CN" altLang="en-US" sz="1400" u="none" strike="noStrike" kern="1200" dirty="0">
                          <a:solidFill>
                            <a:schemeClr val="dk1"/>
                          </a:solidFill>
                          <a:effectLst/>
                        </a:rPr>
                        <a:t>项目计划书</a:t>
                      </a:r>
                      <a:r>
                        <a:rPr lang="en-US" altLang="zh-CN" sz="1400" u="none" strike="noStrike" kern="1200" dirty="0">
                          <a:solidFill>
                            <a:schemeClr val="dk1"/>
                          </a:solidFill>
                          <a:effectLst/>
                        </a:rPr>
                        <a:t>》</a:t>
                      </a:r>
                      <a:r>
                        <a:rPr lang="zh-CN" altLang="en-US" sz="1400" u="none" strike="noStrike" kern="1200" dirty="0">
                          <a:solidFill>
                            <a:schemeClr val="dk1"/>
                          </a:solidFill>
                          <a:effectLst/>
                        </a:rPr>
                        <a:t>（可选）</a:t>
                      </a:r>
                      <a:endParaRPr lang="zh-CN" altLang="en-US"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4082592736"/>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t>组织原型机技术状态评审问题讨论会</a:t>
                      </a:r>
                      <a:endParaRPr lang="zh-CN" altLang="en-US" sz="1400" dirty="0">
                        <a:latin typeface="+mn-ea"/>
                        <a:ea typeface="+mn-ea"/>
                      </a:endParaRPr>
                    </a:p>
                  </a:txBody>
                  <a:tcPr marL="121920" marR="121920" marT="60960" marB="60960" anchor="ctr"/>
                </a:tc>
                <a:tc>
                  <a:txBody>
                    <a:bodyPr/>
                    <a:lstStyle/>
                    <a:p>
                      <a:pPr algn="ctr"/>
                      <a:r>
                        <a:rPr lang="zh-CN" altLang="en-US" sz="1400" dirty="0">
                          <a:solidFill>
                            <a:schemeClr val="tx1"/>
                          </a:solidFill>
                        </a:rPr>
                        <a:t>系统架构师、开发经理、评审问题提出人</a:t>
                      </a:r>
                      <a:endParaRPr lang="zh-CN" altLang="en-US" sz="1400" dirty="0">
                        <a:solidFill>
                          <a:schemeClr val="tx1"/>
                        </a:solidFill>
                        <a:latin typeface="+mn-ea"/>
                        <a:ea typeface="+mn-ea"/>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a:t>
                      </a:r>
                      <a:r>
                        <a:rPr lang="zh-CN" altLang="en-US" sz="1400" u="none" strike="noStrike" kern="1200" dirty="0">
                          <a:solidFill>
                            <a:schemeClr val="dk1"/>
                          </a:solidFill>
                          <a:effectLst/>
                        </a:rPr>
                        <a:t>原型机技术状态评审报告</a:t>
                      </a:r>
                      <a:r>
                        <a:rPr lang="en-US" altLang="zh-CN" sz="1400" u="none" strike="noStrike" kern="1200" dirty="0">
                          <a:solidFill>
                            <a:schemeClr val="dk1"/>
                          </a:solidFill>
                          <a:effectLst/>
                        </a:rPr>
                        <a:t>》</a:t>
                      </a:r>
                      <a:r>
                        <a:rPr lang="zh-CN" altLang="en-US" sz="1400" u="none" strike="noStrike" kern="1200" dirty="0">
                          <a:solidFill>
                            <a:schemeClr val="dk1"/>
                          </a:solidFill>
                          <a:effectLst/>
                        </a:rPr>
                        <a:t>（系统架构师）</a:t>
                      </a:r>
                      <a:endParaRPr lang="zh-CN" altLang="en-US"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821497477"/>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t>组织各组</a:t>
                      </a:r>
                      <a:r>
                        <a:rPr lang="en-US" altLang="zh-CN" sz="1400" dirty="0"/>
                        <a:t>EVT</a:t>
                      </a:r>
                      <a:r>
                        <a:rPr lang="zh-CN" altLang="en-US" sz="1400" dirty="0"/>
                        <a:t>测试报告评审问题讨论会</a:t>
                      </a:r>
                      <a:endParaRPr lang="zh-CN" altLang="en-US" sz="1400" dirty="0">
                        <a:latin typeface="+mn-ea"/>
                        <a:ea typeface="+mn-ea"/>
                      </a:endParaRPr>
                    </a:p>
                  </a:txBody>
                  <a:tcPr marL="121920" marR="121920" marT="60960" marB="60960" anchor="ctr"/>
                </a:tc>
                <a:tc>
                  <a:txBody>
                    <a:bodyPr/>
                    <a:lstStyle/>
                    <a:p>
                      <a:pPr algn="ctr"/>
                      <a:r>
                        <a:rPr lang="zh-CN" altLang="en-US" sz="1400" dirty="0">
                          <a:solidFill>
                            <a:schemeClr val="tx1"/>
                          </a:solidFill>
                        </a:rPr>
                        <a:t>各工作产品作者、系统架构师、评审问题提出人</a:t>
                      </a:r>
                      <a:endParaRPr lang="zh-CN" altLang="en-US" sz="1400" dirty="0">
                        <a:solidFill>
                          <a:schemeClr val="tx1"/>
                        </a:solidFill>
                        <a:latin typeface="+mn-ea"/>
                        <a:ea typeface="+mn-ea"/>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400" kern="1200" dirty="0">
                        <a:solidFill>
                          <a:srgbClr val="0070C0"/>
                        </a:solidFill>
                        <a:latin typeface="+mn-ea"/>
                        <a:ea typeface="+mn-ea"/>
                        <a:cs typeface="+mn-cs"/>
                      </a:endParaRPr>
                    </a:p>
                  </a:txBody>
                  <a:tcPr marL="121920" marR="121920" marT="60960" marB="60960" anchor="ctr"/>
                </a:tc>
                <a:extLst>
                  <a:ext uri="{0D108BD9-81ED-4DB2-BD59-A6C34878D82A}">
                    <a16:rowId xmlns:a16="http://schemas.microsoft.com/office/drawing/2014/main" val="331731674"/>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t>组织各组</a:t>
                      </a:r>
                      <a:r>
                        <a:rPr lang="en-US" altLang="zh-CN" sz="1400" dirty="0"/>
                        <a:t>DVT</a:t>
                      </a:r>
                      <a:r>
                        <a:rPr lang="zh-CN" altLang="en-US" sz="1400" dirty="0"/>
                        <a:t>测试计划评审问题讨论会</a:t>
                      </a:r>
                      <a:endParaRPr lang="zh-CN" altLang="en-US" sz="1400" dirty="0">
                        <a:latin typeface="+mn-ea"/>
                        <a:ea typeface="+mn-ea"/>
                      </a:endParaRPr>
                    </a:p>
                  </a:txBody>
                  <a:tcPr marL="121920" marR="121920" marT="60960" marB="6096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各工作产品作者、系统架构师、评审问题提出人</a:t>
                      </a:r>
                      <a:endParaRPr lang="zh-CN" altLang="en-US" sz="1400" dirty="0">
                        <a:solidFill>
                          <a:schemeClr val="tx1"/>
                        </a:solidFill>
                        <a:latin typeface="+mn-ea"/>
                        <a:ea typeface="+mn-ea"/>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400" kern="1200" dirty="0">
                        <a:solidFill>
                          <a:srgbClr val="0070C0"/>
                        </a:solidFill>
                        <a:latin typeface="+mn-ea"/>
                        <a:ea typeface="+mn-ea"/>
                        <a:cs typeface="+mn-cs"/>
                      </a:endParaRPr>
                    </a:p>
                  </a:txBody>
                  <a:tcPr marL="121920" marR="121920" marT="60960" marB="60960" anchor="ctr"/>
                </a:tc>
                <a:extLst>
                  <a:ext uri="{0D108BD9-81ED-4DB2-BD59-A6C34878D82A}">
                    <a16:rowId xmlns:a16="http://schemas.microsoft.com/office/drawing/2014/main" val="757293535"/>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t>组织</a:t>
                      </a:r>
                      <a:r>
                        <a:rPr lang="en-US" altLang="zh-CN" sz="1400" dirty="0"/>
                        <a:t>DVT</a:t>
                      </a:r>
                      <a:r>
                        <a:rPr lang="zh-CN" altLang="en-US" sz="1400" dirty="0"/>
                        <a:t>准入评审 </a:t>
                      </a:r>
                      <a:endParaRPr lang="en-US" altLang="zh-CN" sz="1400" dirty="0"/>
                    </a:p>
                    <a:p>
                      <a:pPr algn="ctr"/>
                      <a:r>
                        <a:rPr lang="zh-CN" altLang="en-US" sz="1400" dirty="0"/>
                        <a:t>（管理评审）</a:t>
                      </a:r>
                      <a:endParaRPr lang="zh-CN" altLang="en-US" sz="1400" dirty="0">
                        <a:latin typeface="+mn-ea"/>
                        <a:ea typeface="+mn-ea"/>
                      </a:endParaRPr>
                    </a:p>
                  </a:txBody>
                  <a:tcPr marL="121920" marR="121920" marT="60960" marB="60960" anchor="ctr"/>
                </a:tc>
                <a:tc>
                  <a:txBody>
                    <a:bodyPr/>
                    <a:lstStyle/>
                    <a:p>
                      <a:pPr algn="ctr"/>
                      <a:r>
                        <a:rPr lang="zh-CN" altLang="en-US" sz="1400" dirty="0">
                          <a:solidFill>
                            <a:schemeClr val="tx1"/>
                          </a:solidFill>
                        </a:rPr>
                        <a:t>高层领导、项目核心团队人员</a:t>
                      </a:r>
                      <a:endParaRPr lang="zh-CN" altLang="en-US" sz="1400" dirty="0">
                        <a:solidFill>
                          <a:schemeClr val="tx1"/>
                        </a:solidFill>
                        <a:latin typeface="+mn-ea"/>
                        <a:ea typeface="+mn-ea"/>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rPr>
                        <a:t>《</a:t>
                      </a:r>
                      <a:r>
                        <a:rPr lang="zh-CN" altLang="en-US" sz="1400" u="none" strike="noStrike" kern="1200" dirty="0">
                          <a:solidFill>
                            <a:schemeClr val="dk1"/>
                          </a:solidFill>
                          <a:effectLst/>
                        </a:rPr>
                        <a:t>项目阶段管理评审报告</a:t>
                      </a:r>
                      <a:r>
                        <a:rPr lang="en-US" altLang="zh-CN" sz="1400" u="none" strike="noStrike" kern="1200" dirty="0">
                          <a:solidFill>
                            <a:schemeClr val="dk1"/>
                          </a:solidFill>
                          <a:effectLst/>
                        </a:rPr>
                        <a:t>》</a:t>
                      </a:r>
                      <a:endParaRPr lang="zh-CN" altLang="en-US" sz="1400" u="none" strike="noStrike" kern="1200" dirty="0">
                        <a:solidFill>
                          <a:schemeClr val="dk1"/>
                        </a:solidFill>
                        <a:effectLst/>
                        <a:latin typeface="+mn-ea"/>
                        <a:ea typeface="+mn-ea"/>
                        <a:cs typeface="+mn-cs"/>
                      </a:endParaRPr>
                    </a:p>
                  </a:txBody>
                  <a:tcPr marL="121920" marR="121920" marT="60960" marB="60960" anchor="ctr"/>
                </a:tc>
                <a:extLst>
                  <a:ext uri="{0D108BD9-81ED-4DB2-BD59-A6C34878D82A}">
                    <a16:rowId xmlns:a16="http://schemas.microsoft.com/office/drawing/2014/main" val="2133214060"/>
                  </a:ext>
                </a:extLst>
              </a:tr>
            </a:tbl>
          </a:graphicData>
        </a:graphic>
      </p:graphicFrame>
    </p:spTree>
    <p:extLst>
      <p:ext uri="{BB962C8B-B14F-4D97-AF65-F5344CB8AC3E}">
        <p14:creationId xmlns:p14="http://schemas.microsoft.com/office/powerpoint/2010/main" val="2655248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右箭头 80"/>
          <p:cNvSpPr/>
          <p:nvPr/>
        </p:nvSpPr>
        <p:spPr>
          <a:xfrm>
            <a:off x="406886" y="3507620"/>
            <a:ext cx="520419" cy="274925"/>
          </a:xfrm>
          <a:prstGeom prst="rightArrow">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2" name="文本占位符 1"/>
          <p:cNvSpPr>
            <a:spLocks noGrp="1"/>
          </p:cNvSpPr>
          <p:nvPr>
            <p:ph type="body" sz="quarter" idx="13"/>
          </p:nvPr>
        </p:nvSpPr>
        <p:spPr>
          <a:xfrm>
            <a:off x="239349" y="164637"/>
            <a:ext cx="5744201" cy="672075"/>
          </a:xfrm>
        </p:spPr>
        <p:txBody>
          <a:bodyPr/>
          <a:lstStyle/>
          <a:p>
            <a:r>
              <a:rPr lang="en-US" altLang="zh-CN" dirty="0">
                <a:latin typeface="+mn-ea"/>
                <a:ea typeface="+mn-ea"/>
              </a:rPr>
              <a:t>L9 </a:t>
            </a:r>
            <a:r>
              <a:rPr lang="en-US" altLang="zh-CN" dirty="0">
                <a:latin typeface="+mn-ea"/>
                <a:ea typeface="+mn-ea"/>
                <a:cs typeface="+mn-ea"/>
                <a:sym typeface="+mn-lt"/>
              </a:rPr>
              <a:t>DVT</a:t>
            </a:r>
            <a:r>
              <a:rPr lang="zh-CN" altLang="en-US" dirty="0">
                <a:latin typeface="+mn-ea"/>
                <a:ea typeface="+mn-ea"/>
                <a:cs typeface="+mn-ea"/>
                <a:sym typeface="+mn-lt"/>
              </a:rPr>
              <a:t>概念及工期划分</a:t>
            </a:r>
          </a:p>
        </p:txBody>
      </p:sp>
      <p:sp>
        <p:nvSpPr>
          <p:cNvPr id="71" name="文本框 29"/>
          <p:cNvSpPr txBox="1">
            <a:spLocks noChangeArrowheads="1"/>
          </p:cNvSpPr>
          <p:nvPr/>
        </p:nvSpPr>
        <p:spPr bwMode="auto">
          <a:xfrm>
            <a:off x="284606" y="880624"/>
            <a:ext cx="1067718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50000"/>
              </a:lnSpc>
              <a:buFont typeface="Wingdings" panose="05000000000000000000" pitchFamily="2" charset="2"/>
              <a:buChar char="Ø"/>
            </a:pPr>
            <a:r>
              <a:rPr lang="en-US" altLang="zh-CN" sz="1200" b="1" dirty="0">
                <a:solidFill>
                  <a:schemeClr val="tx1">
                    <a:lumMod val="75000"/>
                    <a:lumOff val="25000"/>
                  </a:schemeClr>
                </a:solidFill>
                <a:latin typeface="+mn-ea"/>
                <a:ea typeface="+mn-ea"/>
                <a:cs typeface="+mn-ea"/>
                <a:sym typeface="+mn-lt"/>
              </a:rPr>
              <a:t>DVT(Design Verification Test)</a:t>
            </a:r>
            <a:r>
              <a:rPr lang="zh-CN" altLang="en-US" sz="1200" dirty="0">
                <a:solidFill>
                  <a:schemeClr val="tx1">
                    <a:lumMod val="75000"/>
                    <a:lumOff val="25000"/>
                  </a:schemeClr>
                </a:solidFill>
                <a:latin typeface="+mn-lt"/>
                <a:ea typeface="+mn-ea"/>
                <a:cs typeface="+mn-ea"/>
                <a:sym typeface="+mn-lt"/>
              </a:rPr>
              <a:t>设计验证测试，解决样品在</a:t>
            </a:r>
            <a:r>
              <a:rPr lang="en-US" altLang="zh-CN" sz="1200" dirty="0">
                <a:solidFill>
                  <a:schemeClr val="tx1">
                    <a:lumMod val="75000"/>
                    <a:lumOff val="25000"/>
                  </a:schemeClr>
                </a:solidFill>
                <a:latin typeface="+mn-lt"/>
                <a:ea typeface="+mn-ea"/>
                <a:cs typeface="+mn-ea"/>
                <a:sym typeface="+mn-lt"/>
              </a:rPr>
              <a:t>EVT</a:t>
            </a:r>
            <a:r>
              <a:rPr lang="zh-CN" altLang="en-US" sz="1200" dirty="0">
                <a:solidFill>
                  <a:schemeClr val="tx1">
                    <a:lumMod val="75000"/>
                    <a:lumOff val="25000"/>
                  </a:schemeClr>
                </a:solidFill>
                <a:latin typeface="+mn-lt"/>
                <a:ea typeface="+mn-ea"/>
                <a:cs typeface="+mn-ea"/>
                <a:sym typeface="+mn-lt"/>
              </a:rPr>
              <a:t>阶段的问题后进行，这一阶段主要验证整机功能的完整性和设计的正确性，产品形态基本定型，可以达到送测标准；</a:t>
            </a:r>
            <a:endParaRPr lang="en-US" altLang="zh-CN" sz="1200" dirty="0">
              <a:solidFill>
                <a:schemeClr val="tx1">
                  <a:lumMod val="75000"/>
                  <a:lumOff val="25000"/>
                </a:schemeClr>
              </a:solidFill>
              <a:latin typeface="+mn-lt"/>
              <a:ea typeface="+mn-ea"/>
              <a:cs typeface="+mn-ea"/>
              <a:sym typeface="+mn-lt"/>
            </a:endParaRPr>
          </a:p>
          <a:p>
            <a:pPr>
              <a:lnSpc>
                <a:spcPct val="150000"/>
              </a:lnSpc>
              <a:buFont typeface="Wingdings" panose="05000000000000000000" pitchFamily="2" charset="2"/>
              <a:buChar char="Ø"/>
            </a:pPr>
            <a:r>
              <a:rPr lang="en-US" altLang="zh-CN" sz="1200" dirty="0">
                <a:solidFill>
                  <a:schemeClr val="tx1">
                    <a:lumMod val="75000"/>
                    <a:lumOff val="25000"/>
                  </a:schemeClr>
                </a:solidFill>
                <a:latin typeface="+mn-lt"/>
                <a:ea typeface="+mn-ea"/>
                <a:cs typeface="+mn-ea"/>
                <a:sym typeface="+mn-lt"/>
              </a:rPr>
              <a:t>DVT</a:t>
            </a:r>
            <a:r>
              <a:rPr lang="zh-CN" altLang="en-US" sz="1200" dirty="0">
                <a:solidFill>
                  <a:schemeClr val="tx1">
                    <a:lumMod val="75000"/>
                    <a:lumOff val="25000"/>
                  </a:schemeClr>
                </a:solidFill>
                <a:latin typeface="+mn-lt"/>
                <a:ea typeface="+mn-ea"/>
                <a:cs typeface="+mn-ea"/>
                <a:sym typeface="+mn-lt"/>
              </a:rPr>
              <a:t>周期（标准工期：</a:t>
            </a:r>
            <a:r>
              <a:rPr lang="en-US" altLang="zh-CN" sz="1200" dirty="0">
                <a:solidFill>
                  <a:schemeClr val="tx1">
                    <a:lumMod val="75000"/>
                    <a:lumOff val="25000"/>
                  </a:schemeClr>
                </a:solidFill>
                <a:latin typeface="+mn-lt"/>
                <a:ea typeface="+mn-ea"/>
                <a:cs typeface="+mn-ea"/>
                <a:sym typeface="+mn-lt"/>
              </a:rPr>
              <a:t>12</a:t>
            </a:r>
            <a:r>
              <a:rPr lang="zh-CN" altLang="en-US" sz="1200" dirty="0">
                <a:solidFill>
                  <a:schemeClr val="tx1">
                    <a:lumMod val="75000"/>
                    <a:lumOff val="25000"/>
                  </a:schemeClr>
                </a:solidFill>
                <a:latin typeface="+mn-lt"/>
                <a:ea typeface="+mn-ea"/>
                <a:cs typeface="+mn-ea"/>
                <a:sym typeface="+mn-lt"/>
              </a:rPr>
              <a:t>周）</a:t>
            </a:r>
            <a:endParaRPr lang="en-US" altLang="zh-CN" sz="1200" dirty="0">
              <a:solidFill>
                <a:schemeClr val="tx1">
                  <a:lumMod val="75000"/>
                  <a:lumOff val="25000"/>
                </a:schemeClr>
              </a:solidFill>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623731023"/>
              </p:ext>
            </p:extLst>
          </p:nvPr>
        </p:nvGraphicFramePr>
        <p:xfrm>
          <a:off x="406885" y="1818370"/>
          <a:ext cx="10842812" cy="3861117"/>
        </p:xfrm>
        <a:graphic>
          <a:graphicData uri="http://schemas.openxmlformats.org/drawingml/2006/table">
            <a:tbl>
              <a:tblPr firstRow="1" bandRow="1">
                <a:tableStyleId>{5C22544A-7EE6-4342-B048-85BDC9FD1C3A}</a:tableStyleId>
              </a:tblPr>
              <a:tblGrid>
                <a:gridCol w="503907">
                  <a:extLst>
                    <a:ext uri="{9D8B030D-6E8A-4147-A177-3AD203B41FA5}">
                      <a16:colId xmlns:a16="http://schemas.microsoft.com/office/drawing/2014/main" val="898584963"/>
                    </a:ext>
                  </a:extLst>
                </a:gridCol>
                <a:gridCol w="780509">
                  <a:extLst>
                    <a:ext uri="{9D8B030D-6E8A-4147-A177-3AD203B41FA5}">
                      <a16:colId xmlns:a16="http://schemas.microsoft.com/office/drawing/2014/main" val="3673292109"/>
                    </a:ext>
                  </a:extLst>
                </a:gridCol>
                <a:gridCol w="780509">
                  <a:extLst>
                    <a:ext uri="{9D8B030D-6E8A-4147-A177-3AD203B41FA5}">
                      <a16:colId xmlns:a16="http://schemas.microsoft.com/office/drawing/2014/main" val="1020949310"/>
                    </a:ext>
                  </a:extLst>
                </a:gridCol>
                <a:gridCol w="780509">
                  <a:extLst>
                    <a:ext uri="{9D8B030D-6E8A-4147-A177-3AD203B41FA5}">
                      <a16:colId xmlns:a16="http://schemas.microsoft.com/office/drawing/2014/main" val="3683074341"/>
                    </a:ext>
                  </a:extLst>
                </a:gridCol>
                <a:gridCol w="780509">
                  <a:extLst>
                    <a:ext uri="{9D8B030D-6E8A-4147-A177-3AD203B41FA5}">
                      <a16:colId xmlns:a16="http://schemas.microsoft.com/office/drawing/2014/main" val="1821825963"/>
                    </a:ext>
                  </a:extLst>
                </a:gridCol>
                <a:gridCol w="780509">
                  <a:extLst>
                    <a:ext uri="{9D8B030D-6E8A-4147-A177-3AD203B41FA5}">
                      <a16:colId xmlns:a16="http://schemas.microsoft.com/office/drawing/2014/main" val="2065625844"/>
                    </a:ext>
                  </a:extLst>
                </a:gridCol>
                <a:gridCol w="780509">
                  <a:extLst>
                    <a:ext uri="{9D8B030D-6E8A-4147-A177-3AD203B41FA5}">
                      <a16:colId xmlns:a16="http://schemas.microsoft.com/office/drawing/2014/main" val="3169718729"/>
                    </a:ext>
                  </a:extLst>
                </a:gridCol>
                <a:gridCol w="780509">
                  <a:extLst>
                    <a:ext uri="{9D8B030D-6E8A-4147-A177-3AD203B41FA5}">
                      <a16:colId xmlns:a16="http://schemas.microsoft.com/office/drawing/2014/main" val="3473688751"/>
                    </a:ext>
                  </a:extLst>
                </a:gridCol>
                <a:gridCol w="780509">
                  <a:extLst>
                    <a:ext uri="{9D8B030D-6E8A-4147-A177-3AD203B41FA5}">
                      <a16:colId xmlns:a16="http://schemas.microsoft.com/office/drawing/2014/main" val="3036016720"/>
                    </a:ext>
                  </a:extLst>
                </a:gridCol>
                <a:gridCol w="780509">
                  <a:extLst>
                    <a:ext uri="{9D8B030D-6E8A-4147-A177-3AD203B41FA5}">
                      <a16:colId xmlns:a16="http://schemas.microsoft.com/office/drawing/2014/main" val="3318977312"/>
                    </a:ext>
                  </a:extLst>
                </a:gridCol>
                <a:gridCol w="858083">
                  <a:extLst>
                    <a:ext uri="{9D8B030D-6E8A-4147-A177-3AD203B41FA5}">
                      <a16:colId xmlns:a16="http://schemas.microsoft.com/office/drawing/2014/main" val="20010"/>
                    </a:ext>
                  </a:extLst>
                </a:gridCol>
                <a:gridCol w="858083">
                  <a:extLst>
                    <a:ext uri="{9D8B030D-6E8A-4147-A177-3AD203B41FA5}">
                      <a16:colId xmlns:a16="http://schemas.microsoft.com/office/drawing/2014/main" val="20011"/>
                    </a:ext>
                  </a:extLst>
                </a:gridCol>
                <a:gridCol w="858083">
                  <a:extLst>
                    <a:ext uri="{9D8B030D-6E8A-4147-A177-3AD203B41FA5}">
                      <a16:colId xmlns:a16="http://schemas.microsoft.com/office/drawing/2014/main" val="20012"/>
                    </a:ext>
                  </a:extLst>
                </a:gridCol>
                <a:gridCol w="740075">
                  <a:extLst>
                    <a:ext uri="{9D8B030D-6E8A-4147-A177-3AD203B41FA5}">
                      <a16:colId xmlns:a16="http://schemas.microsoft.com/office/drawing/2014/main" val="3950995722"/>
                    </a:ext>
                  </a:extLst>
                </a:gridCol>
              </a:tblGrid>
              <a:tr h="497117">
                <a:tc>
                  <a:txBody>
                    <a:bodyPr/>
                    <a:lstStyle/>
                    <a:p>
                      <a:pPr algn="ct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W1</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W2</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W3</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W4</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W5</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W6</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W7</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W8</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W9</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W10</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W11</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W12</a:t>
                      </a:r>
                      <a:endParaRPr lang="zh-CN" altLang="en-US" sz="1200" dirty="0">
                        <a:latin typeface="+mn-lt"/>
                        <a:ea typeface="+mn-ea"/>
                        <a:cs typeface="+mn-ea"/>
                        <a:sym typeface="+mn-lt"/>
                      </a:endParaRPr>
                    </a:p>
                  </a:txBody>
                  <a:tcPr marL="121920" marR="121920" marT="60960" marB="60960" anchor="ctr">
                    <a:solidFill>
                      <a:schemeClr val="tx2"/>
                    </a:solidFill>
                  </a:tcPr>
                </a:tc>
                <a:tc>
                  <a:txBody>
                    <a:bodyPr/>
                    <a:lstStyle/>
                    <a:p>
                      <a:pPr algn="ctr"/>
                      <a:r>
                        <a:rPr lang="en-US" altLang="zh-CN" sz="1200" dirty="0">
                          <a:latin typeface="+mn-lt"/>
                          <a:ea typeface="+mn-ea"/>
                          <a:cs typeface="+mn-ea"/>
                          <a:sym typeface="+mn-lt"/>
                        </a:rPr>
                        <a:t>W13</a:t>
                      </a:r>
                      <a:endParaRPr lang="zh-CN" altLang="en-US" sz="1200" dirty="0">
                        <a:latin typeface="+mn-lt"/>
                        <a:ea typeface="+mn-ea"/>
                        <a:cs typeface="+mn-ea"/>
                        <a:sym typeface="+mn-lt"/>
                      </a:endParaRPr>
                    </a:p>
                  </a:txBody>
                  <a:tcPr marL="121920" marR="121920" marT="60960" marB="60960" anchor="ctr">
                    <a:solidFill>
                      <a:schemeClr val="tx2"/>
                    </a:solidFill>
                  </a:tcPr>
                </a:tc>
                <a:extLst>
                  <a:ext uri="{0D108BD9-81ED-4DB2-BD59-A6C34878D82A}">
                    <a16:rowId xmlns:a16="http://schemas.microsoft.com/office/drawing/2014/main" val="3823509739"/>
                  </a:ext>
                </a:extLst>
              </a:tr>
              <a:tr h="3364000">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tc>
                  <a:txBody>
                    <a:bodyPr/>
                    <a:lstStyle/>
                    <a:p>
                      <a:endParaRPr lang="zh-CN" altLang="en-US" sz="1200" dirty="0">
                        <a:latin typeface="+mn-lt"/>
                        <a:ea typeface="+mn-ea"/>
                        <a:cs typeface="+mn-ea"/>
                        <a:sym typeface="+mn-lt"/>
                      </a:endParaRPr>
                    </a:p>
                  </a:txBody>
                  <a:tcPr marL="121920" marR="121920" marT="60960" marB="60960">
                    <a:solidFill>
                      <a:schemeClr val="bg1">
                        <a:lumMod val="95000"/>
                      </a:schemeClr>
                    </a:solidFill>
                  </a:tcPr>
                </a:tc>
                <a:extLst>
                  <a:ext uri="{0D108BD9-81ED-4DB2-BD59-A6C34878D82A}">
                    <a16:rowId xmlns:a16="http://schemas.microsoft.com/office/drawing/2014/main" val="1350951440"/>
                  </a:ext>
                </a:extLst>
              </a:tr>
            </a:tbl>
          </a:graphicData>
        </a:graphic>
      </p:graphicFrame>
      <p:sp>
        <p:nvSpPr>
          <p:cNvPr id="5" name="矩形 4"/>
          <p:cNvSpPr/>
          <p:nvPr/>
        </p:nvSpPr>
        <p:spPr>
          <a:xfrm>
            <a:off x="909317" y="3037153"/>
            <a:ext cx="7888953" cy="24895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a:cs typeface="+mn-ea"/>
                <a:sym typeface="+mn-lt"/>
              </a:rPr>
              <a:t>SIT</a:t>
            </a:r>
            <a:r>
              <a:rPr lang="zh-CN" altLang="en-US" sz="1050" b="1" dirty="0">
                <a:cs typeface="+mn-ea"/>
                <a:sym typeface="+mn-lt"/>
              </a:rPr>
              <a:t>测试</a:t>
            </a:r>
          </a:p>
        </p:txBody>
      </p:sp>
      <p:sp>
        <p:nvSpPr>
          <p:cNvPr id="7" name="矩形 6"/>
          <p:cNvSpPr/>
          <p:nvPr/>
        </p:nvSpPr>
        <p:spPr>
          <a:xfrm>
            <a:off x="3997216" y="5014659"/>
            <a:ext cx="2318089" cy="25043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cs typeface="+mn-ea"/>
                <a:sym typeface="+mn-lt"/>
              </a:rPr>
              <a:t>板卡改版（</a:t>
            </a:r>
            <a:r>
              <a:rPr lang="en-US" altLang="zh-CN" sz="1050" b="1" dirty="0">
                <a:cs typeface="+mn-ea"/>
                <a:sym typeface="+mn-lt"/>
              </a:rPr>
              <a:t>C01</a:t>
            </a:r>
            <a:r>
              <a:rPr lang="zh-CN" altLang="en-US" sz="1050" b="1" dirty="0">
                <a:cs typeface="+mn-ea"/>
                <a:sym typeface="+mn-lt"/>
              </a:rPr>
              <a:t>）</a:t>
            </a:r>
          </a:p>
        </p:txBody>
      </p:sp>
      <p:sp>
        <p:nvSpPr>
          <p:cNvPr id="8" name="矩形 7"/>
          <p:cNvSpPr/>
          <p:nvPr/>
        </p:nvSpPr>
        <p:spPr>
          <a:xfrm>
            <a:off x="6347433" y="5032656"/>
            <a:ext cx="4188267" cy="22361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cs typeface="+mn-ea"/>
                <a:sym typeface="+mn-lt"/>
              </a:rPr>
              <a:t>生产加工（含测试）</a:t>
            </a:r>
          </a:p>
        </p:txBody>
      </p:sp>
      <p:sp>
        <p:nvSpPr>
          <p:cNvPr id="11" name="矩形 10"/>
          <p:cNvSpPr/>
          <p:nvPr/>
        </p:nvSpPr>
        <p:spPr>
          <a:xfrm>
            <a:off x="909318" y="2746887"/>
            <a:ext cx="4633828" cy="24500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a:cs typeface="+mn-ea"/>
                <a:sym typeface="+mn-lt"/>
              </a:rPr>
              <a:t>SI</a:t>
            </a:r>
            <a:r>
              <a:rPr lang="zh-CN" altLang="en-US" sz="1050" b="1" dirty="0">
                <a:cs typeface="+mn-ea"/>
                <a:sym typeface="+mn-lt"/>
              </a:rPr>
              <a:t>测试</a:t>
            </a:r>
          </a:p>
        </p:txBody>
      </p:sp>
      <p:sp>
        <p:nvSpPr>
          <p:cNvPr id="15" name="矩形 14"/>
          <p:cNvSpPr/>
          <p:nvPr/>
        </p:nvSpPr>
        <p:spPr>
          <a:xfrm>
            <a:off x="899965" y="3682546"/>
            <a:ext cx="2309689" cy="25872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a:cs typeface="+mn-ea"/>
                <a:sym typeface="+mn-lt"/>
              </a:rPr>
              <a:t>PA</a:t>
            </a:r>
            <a:r>
              <a:rPr lang="zh-CN" altLang="en-US" sz="1050" b="1" dirty="0">
                <a:cs typeface="+mn-ea"/>
                <a:sym typeface="+mn-lt"/>
              </a:rPr>
              <a:t>测试</a:t>
            </a:r>
          </a:p>
        </p:txBody>
      </p:sp>
      <p:sp>
        <p:nvSpPr>
          <p:cNvPr id="16" name="矩形 15"/>
          <p:cNvSpPr/>
          <p:nvPr/>
        </p:nvSpPr>
        <p:spPr>
          <a:xfrm>
            <a:off x="921838" y="4028181"/>
            <a:ext cx="3072404" cy="24962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cs typeface="+mn-ea"/>
                <a:sym typeface="+mn-lt"/>
              </a:rPr>
              <a:t>可靠性测试</a:t>
            </a:r>
          </a:p>
        </p:txBody>
      </p:sp>
      <p:sp>
        <p:nvSpPr>
          <p:cNvPr id="17" name="矩形 16"/>
          <p:cNvSpPr/>
          <p:nvPr/>
        </p:nvSpPr>
        <p:spPr>
          <a:xfrm>
            <a:off x="3194635" y="5314783"/>
            <a:ext cx="3116796" cy="24800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cs typeface="+mn-ea"/>
                <a:sym typeface="+mn-lt"/>
              </a:rPr>
              <a:t>机构改版</a:t>
            </a:r>
            <a:r>
              <a:rPr lang="en-US" altLang="zh-CN" sz="1050" b="1" dirty="0">
                <a:cs typeface="+mn-ea"/>
                <a:sym typeface="+mn-lt"/>
              </a:rPr>
              <a:t>/</a:t>
            </a:r>
            <a:r>
              <a:rPr lang="zh-CN" altLang="en-US" sz="1050" b="1" dirty="0">
                <a:cs typeface="+mn-ea"/>
                <a:sym typeface="+mn-lt"/>
              </a:rPr>
              <a:t>散热器开模</a:t>
            </a:r>
          </a:p>
        </p:txBody>
      </p:sp>
      <p:sp>
        <p:nvSpPr>
          <p:cNvPr id="18" name="矩形 17"/>
          <p:cNvSpPr/>
          <p:nvPr/>
        </p:nvSpPr>
        <p:spPr>
          <a:xfrm>
            <a:off x="6343683" y="5321559"/>
            <a:ext cx="4192017" cy="2412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cs typeface="+mn-ea"/>
                <a:sym typeface="+mn-lt"/>
              </a:rPr>
              <a:t>生产加工</a:t>
            </a:r>
          </a:p>
        </p:txBody>
      </p:sp>
      <p:sp>
        <p:nvSpPr>
          <p:cNvPr id="19" name="矩形 18"/>
          <p:cNvSpPr/>
          <p:nvPr/>
        </p:nvSpPr>
        <p:spPr>
          <a:xfrm>
            <a:off x="1626831" y="4646450"/>
            <a:ext cx="7171440" cy="26275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err="1">
                <a:cs typeface="+mn-ea"/>
                <a:sym typeface="+mn-lt"/>
              </a:rPr>
              <a:t>Debug+Bug</a:t>
            </a:r>
            <a:r>
              <a:rPr lang="zh-CN" altLang="en-US" sz="1050" b="1" dirty="0">
                <a:cs typeface="+mn-ea"/>
                <a:sym typeface="+mn-lt"/>
              </a:rPr>
              <a:t>验证</a:t>
            </a:r>
          </a:p>
        </p:txBody>
      </p:sp>
      <p:sp>
        <p:nvSpPr>
          <p:cNvPr id="30" name="矩形 29"/>
          <p:cNvSpPr/>
          <p:nvPr/>
        </p:nvSpPr>
        <p:spPr>
          <a:xfrm>
            <a:off x="909320" y="2439461"/>
            <a:ext cx="4633827" cy="2675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a:cs typeface="+mn-ea"/>
                <a:sym typeface="+mn-lt"/>
              </a:rPr>
              <a:t>DC</a:t>
            </a:r>
            <a:r>
              <a:rPr lang="zh-CN" altLang="en-US" sz="1050" b="1" dirty="0">
                <a:cs typeface="+mn-ea"/>
                <a:sym typeface="+mn-lt"/>
              </a:rPr>
              <a:t>测试</a:t>
            </a:r>
          </a:p>
        </p:txBody>
      </p:sp>
      <p:sp>
        <p:nvSpPr>
          <p:cNvPr id="31" name="矩形 30"/>
          <p:cNvSpPr/>
          <p:nvPr/>
        </p:nvSpPr>
        <p:spPr>
          <a:xfrm>
            <a:off x="899965" y="3380713"/>
            <a:ext cx="7898307" cy="24012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cs typeface="+mn-ea"/>
                <a:sym typeface="+mn-lt"/>
              </a:rPr>
              <a:t>散热测试</a:t>
            </a:r>
          </a:p>
        </p:txBody>
      </p:sp>
      <p:sp>
        <p:nvSpPr>
          <p:cNvPr id="41" name="流程图: 接点 40"/>
          <p:cNvSpPr/>
          <p:nvPr/>
        </p:nvSpPr>
        <p:spPr>
          <a:xfrm>
            <a:off x="3146877" y="3749217"/>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22" name="流程图: 接点 21"/>
          <p:cNvSpPr/>
          <p:nvPr/>
        </p:nvSpPr>
        <p:spPr>
          <a:xfrm>
            <a:off x="3948310" y="3151223"/>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40" name="流程图: 接点 39"/>
          <p:cNvSpPr/>
          <p:nvPr/>
        </p:nvSpPr>
        <p:spPr>
          <a:xfrm>
            <a:off x="3954327" y="3463694"/>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61" name="等腰三角形 60"/>
          <p:cNvSpPr/>
          <p:nvPr/>
        </p:nvSpPr>
        <p:spPr>
          <a:xfrm>
            <a:off x="9034083" y="2417550"/>
            <a:ext cx="288032" cy="31141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63" name="等腰三角形 62"/>
          <p:cNvSpPr/>
          <p:nvPr/>
        </p:nvSpPr>
        <p:spPr>
          <a:xfrm>
            <a:off x="9921353" y="2409937"/>
            <a:ext cx="288032" cy="31141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cxnSp>
        <p:nvCxnSpPr>
          <p:cNvPr id="64" name="直接连接符 63"/>
          <p:cNvCxnSpPr/>
          <p:nvPr/>
        </p:nvCxnSpPr>
        <p:spPr>
          <a:xfrm flipH="1">
            <a:off x="9168901" y="2724101"/>
            <a:ext cx="6509" cy="286101"/>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8613291" y="2910101"/>
            <a:ext cx="1093259" cy="480131"/>
          </a:xfrm>
          <a:prstGeom prst="rect">
            <a:avLst/>
          </a:prstGeom>
          <a:noFill/>
        </p:spPr>
        <p:txBody>
          <a:bodyPr wrap="square" rtlCol="0">
            <a:spAutoFit/>
          </a:bodyPr>
          <a:lstStyle/>
          <a:p>
            <a:pPr>
              <a:lnSpc>
                <a:spcPct val="120000"/>
              </a:lnSpc>
            </a:pPr>
            <a:r>
              <a:rPr lang="zh-CN" altLang="en-US" sz="1050" dirty="0">
                <a:solidFill>
                  <a:schemeClr val="tx1">
                    <a:lumMod val="75000"/>
                    <a:lumOff val="25000"/>
                  </a:schemeClr>
                </a:solidFill>
                <a:cs typeface="+mn-ea"/>
                <a:sym typeface="+mn-lt"/>
              </a:rPr>
              <a:t>各组</a:t>
            </a:r>
            <a:r>
              <a:rPr lang="en-US" altLang="zh-CN" sz="1050" dirty="0">
                <a:solidFill>
                  <a:schemeClr val="tx1">
                    <a:lumMod val="75000"/>
                    <a:lumOff val="25000"/>
                  </a:schemeClr>
                </a:solidFill>
                <a:cs typeface="+mn-ea"/>
                <a:sym typeface="+mn-lt"/>
              </a:rPr>
              <a:t>DVT</a:t>
            </a:r>
            <a:r>
              <a:rPr lang="zh-CN" altLang="en-US" sz="1050" dirty="0">
                <a:solidFill>
                  <a:schemeClr val="tx1">
                    <a:lumMod val="75000"/>
                    <a:lumOff val="25000"/>
                  </a:schemeClr>
                </a:solidFill>
                <a:cs typeface="+mn-ea"/>
                <a:sym typeface="+mn-lt"/>
              </a:rPr>
              <a:t>测试报告评审</a:t>
            </a:r>
          </a:p>
        </p:txBody>
      </p:sp>
      <p:cxnSp>
        <p:nvCxnSpPr>
          <p:cNvPr id="67" name="直接连接符 66"/>
          <p:cNvCxnSpPr>
            <a:endCxn id="68" idx="0"/>
          </p:cNvCxnSpPr>
          <p:nvPr/>
        </p:nvCxnSpPr>
        <p:spPr>
          <a:xfrm>
            <a:off x="10065370" y="2706420"/>
            <a:ext cx="1" cy="515931"/>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9466131" y="3222351"/>
            <a:ext cx="1198479" cy="480131"/>
          </a:xfrm>
          <a:prstGeom prst="rect">
            <a:avLst/>
          </a:prstGeom>
          <a:noFill/>
        </p:spPr>
        <p:txBody>
          <a:bodyPr wrap="square" rtlCol="0">
            <a:spAutoFit/>
          </a:bodyPr>
          <a:lstStyle/>
          <a:p>
            <a:pPr>
              <a:lnSpc>
                <a:spcPct val="120000"/>
              </a:lnSpc>
            </a:pPr>
            <a:r>
              <a:rPr lang="zh-CN" altLang="en-US" sz="1050" dirty="0">
                <a:solidFill>
                  <a:schemeClr val="tx1">
                    <a:lumMod val="75000"/>
                    <a:lumOff val="25000"/>
                  </a:schemeClr>
                </a:solidFill>
                <a:cs typeface="+mn-ea"/>
                <a:sym typeface="+mn-lt"/>
              </a:rPr>
              <a:t>各组</a:t>
            </a:r>
            <a:r>
              <a:rPr lang="en-US" altLang="zh-CN" sz="1050" dirty="0">
                <a:solidFill>
                  <a:schemeClr val="tx1">
                    <a:lumMod val="75000"/>
                    <a:lumOff val="25000"/>
                  </a:schemeClr>
                </a:solidFill>
                <a:cs typeface="+mn-ea"/>
                <a:sym typeface="+mn-lt"/>
              </a:rPr>
              <a:t>PVT</a:t>
            </a:r>
            <a:r>
              <a:rPr lang="zh-CN" altLang="en-US" sz="1050" dirty="0">
                <a:solidFill>
                  <a:schemeClr val="tx1">
                    <a:lumMod val="75000"/>
                    <a:lumOff val="25000"/>
                  </a:schemeClr>
                </a:solidFill>
                <a:cs typeface="+mn-ea"/>
                <a:sym typeface="+mn-lt"/>
              </a:rPr>
              <a:t>测试计划评审</a:t>
            </a:r>
          </a:p>
        </p:txBody>
      </p:sp>
      <p:cxnSp>
        <p:nvCxnSpPr>
          <p:cNvPr id="74" name="直接连接符 73"/>
          <p:cNvCxnSpPr>
            <a:cxnSpLocks/>
          </p:cNvCxnSpPr>
          <p:nvPr/>
        </p:nvCxnSpPr>
        <p:spPr>
          <a:xfrm>
            <a:off x="10535700" y="2309113"/>
            <a:ext cx="0" cy="3349683"/>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77" name="五角星 76"/>
          <p:cNvSpPr/>
          <p:nvPr/>
        </p:nvSpPr>
        <p:spPr>
          <a:xfrm>
            <a:off x="624790" y="3598549"/>
            <a:ext cx="192025" cy="167992"/>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78" name="文本框 77"/>
          <p:cNvSpPr txBox="1"/>
          <p:nvPr/>
        </p:nvSpPr>
        <p:spPr>
          <a:xfrm>
            <a:off x="11229822" y="3738584"/>
            <a:ext cx="1001376" cy="519886"/>
          </a:xfrm>
          <a:prstGeom prst="rect">
            <a:avLst/>
          </a:prstGeom>
          <a:noFill/>
        </p:spPr>
        <p:txBody>
          <a:bodyPr wrap="square" rtlCol="0">
            <a:spAutoFit/>
          </a:bodyPr>
          <a:lstStyle/>
          <a:p>
            <a:pPr>
              <a:lnSpc>
                <a:spcPct val="120000"/>
              </a:lnSpc>
            </a:pPr>
            <a:r>
              <a:rPr lang="en-US" altLang="zh-CN" sz="1200" b="1" dirty="0">
                <a:solidFill>
                  <a:srgbClr val="FF0000"/>
                </a:solidFill>
                <a:cs typeface="+mn-ea"/>
                <a:sym typeface="+mn-lt"/>
              </a:rPr>
              <a:t>MR3 PVT</a:t>
            </a:r>
            <a:r>
              <a:rPr lang="zh-CN" altLang="en-US" sz="1200" b="1" dirty="0">
                <a:solidFill>
                  <a:srgbClr val="FF0000"/>
                </a:solidFill>
                <a:cs typeface="+mn-ea"/>
                <a:sym typeface="+mn-lt"/>
              </a:rPr>
              <a:t>准入评审</a:t>
            </a:r>
          </a:p>
        </p:txBody>
      </p:sp>
      <p:cxnSp>
        <p:nvCxnSpPr>
          <p:cNvPr id="80" name="直接连接符 79"/>
          <p:cNvCxnSpPr>
            <a:cxnSpLocks/>
          </p:cNvCxnSpPr>
          <p:nvPr/>
        </p:nvCxnSpPr>
        <p:spPr>
          <a:xfrm>
            <a:off x="910901" y="2309113"/>
            <a:ext cx="0" cy="3382727"/>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910901" y="4343102"/>
            <a:ext cx="7887371" cy="23987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b="1" dirty="0">
                <a:cs typeface="+mn-ea"/>
                <a:sym typeface="+mn-lt"/>
              </a:rPr>
              <a:t>软件版本开发（</a:t>
            </a:r>
            <a:r>
              <a:rPr lang="en-US" altLang="zh-CN" sz="1050" b="1" dirty="0">
                <a:cs typeface="+mn-ea"/>
                <a:sym typeface="+mn-lt"/>
              </a:rPr>
              <a:t>2</a:t>
            </a:r>
            <a:r>
              <a:rPr lang="zh-CN" altLang="en-US" sz="1050" b="1" dirty="0">
                <a:cs typeface="+mn-ea"/>
                <a:sym typeface="+mn-lt"/>
              </a:rPr>
              <a:t>周</a:t>
            </a:r>
            <a:r>
              <a:rPr lang="en-US" altLang="zh-CN" sz="1050" b="1" dirty="0">
                <a:cs typeface="+mn-ea"/>
                <a:sym typeface="+mn-lt"/>
              </a:rPr>
              <a:t>/</a:t>
            </a:r>
            <a:r>
              <a:rPr lang="zh-CN" altLang="en-US" sz="1050" b="1" dirty="0">
                <a:cs typeface="+mn-ea"/>
                <a:sym typeface="+mn-lt"/>
              </a:rPr>
              <a:t>迭代）</a:t>
            </a:r>
          </a:p>
        </p:txBody>
      </p:sp>
      <p:cxnSp>
        <p:nvCxnSpPr>
          <p:cNvPr id="42" name="直接箭头连接符 41"/>
          <p:cNvCxnSpPr/>
          <p:nvPr/>
        </p:nvCxnSpPr>
        <p:spPr>
          <a:xfrm>
            <a:off x="3196217" y="3808573"/>
            <a:ext cx="1108925" cy="1167399"/>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3183252" y="3988125"/>
            <a:ext cx="2729" cy="1210211"/>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3185621" y="3166688"/>
            <a:ext cx="9015" cy="2172581"/>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2" idx="3"/>
          </p:cNvCxnSpPr>
          <p:nvPr/>
        </p:nvCxnSpPr>
        <p:spPr>
          <a:xfrm flipH="1">
            <a:off x="3203319" y="3229087"/>
            <a:ext cx="759052" cy="2085696"/>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流程图: 接点 45"/>
          <p:cNvSpPr/>
          <p:nvPr/>
        </p:nvSpPr>
        <p:spPr>
          <a:xfrm>
            <a:off x="3142879" y="3099205"/>
            <a:ext cx="96011" cy="91224"/>
          </a:xfrm>
          <a:prstGeom prst="flowChartConnector">
            <a:avLst/>
          </a:prstGeom>
          <a:solidFill>
            <a:srgbClr val="C5EEFF"/>
          </a:solidFill>
          <a:ln>
            <a:solidFill>
              <a:srgbClr val="C5EE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13" name="文本框 12"/>
          <p:cNvSpPr txBox="1"/>
          <p:nvPr/>
        </p:nvSpPr>
        <p:spPr>
          <a:xfrm>
            <a:off x="1434713" y="4988551"/>
            <a:ext cx="1765531" cy="286232"/>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cs typeface="+mn-ea"/>
                <a:sym typeface="+mn-lt"/>
              </a:rPr>
              <a:t>输出改版意见</a:t>
            </a:r>
          </a:p>
        </p:txBody>
      </p:sp>
      <p:sp>
        <p:nvSpPr>
          <p:cNvPr id="92" name="等腰三角形 91"/>
          <p:cNvSpPr/>
          <p:nvPr/>
        </p:nvSpPr>
        <p:spPr>
          <a:xfrm>
            <a:off x="1084332" y="3441545"/>
            <a:ext cx="200349" cy="16452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93" name="文本框 92"/>
          <p:cNvSpPr txBox="1"/>
          <p:nvPr/>
        </p:nvSpPr>
        <p:spPr>
          <a:xfrm>
            <a:off x="594484" y="3114993"/>
            <a:ext cx="1572597" cy="272510"/>
          </a:xfrm>
          <a:prstGeom prst="rect">
            <a:avLst/>
          </a:prstGeom>
          <a:noFill/>
        </p:spPr>
        <p:txBody>
          <a:bodyPr wrap="square" rtlCol="0">
            <a:spAutoFit/>
          </a:bodyPr>
          <a:lstStyle/>
          <a:p>
            <a:pPr>
              <a:lnSpc>
                <a:spcPct val="120000"/>
              </a:lnSpc>
            </a:pPr>
            <a:r>
              <a:rPr lang="zh-CN" altLang="en-US" sz="1050" b="1" dirty="0">
                <a:solidFill>
                  <a:schemeClr val="tx1">
                    <a:lumMod val="75000"/>
                    <a:lumOff val="25000"/>
                  </a:schemeClr>
                </a:solidFill>
                <a:cs typeface="+mn-ea"/>
                <a:sym typeface="+mn-lt"/>
              </a:rPr>
              <a:t>机构安装评审</a:t>
            </a:r>
          </a:p>
        </p:txBody>
      </p:sp>
      <p:sp>
        <p:nvSpPr>
          <p:cNvPr id="98" name="文本框 97"/>
          <p:cNvSpPr txBox="1"/>
          <p:nvPr/>
        </p:nvSpPr>
        <p:spPr>
          <a:xfrm>
            <a:off x="5501799" y="5655147"/>
            <a:ext cx="2961481" cy="272510"/>
          </a:xfrm>
          <a:prstGeom prst="rect">
            <a:avLst/>
          </a:prstGeom>
          <a:noFill/>
        </p:spPr>
        <p:txBody>
          <a:bodyPr wrap="square" rtlCol="0">
            <a:spAutoFit/>
          </a:bodyPr>
          <a:lstStyle/>
          <a:p>
            <a:pPr>
              <a:lnSpc>
                <a:spcPct val="120000"/>
              </a:lnSpc>
            </a:pPr>
            <a:r>
              <a:rPr lang="en-US" altLang="zh-CN" sz="1050" dirty="0">
                <a:solidFill>
                  <a:srgbClr val="00B050"/>
                </a:solidFill>
                <a:cs typeface="+mn-ea"/>
                <a:sym typeface="+mn-lt"/>
              </a:rPr>
              <a:t>TR4A </a:t>
            </a:r>
            <a:r>
              <a:rPr lang="zh-CN" altLang="en-US" sz="1050" dirty="0">
                <a:solidFill>
                  <a:srgbClr val="00B050"/>
                </a:solidFill>
                <a:cs typeface="+mn-ea"/>
                <a:sym typeface="+mn-lt"/>
              </a:rPr>
              <a:t>工程样机技术状态评审 </a:t>
            </a:r>
            <a:r>
              <a:rPr lang="en-US" altLang="zh-CN" sz="1050" dirty="0">
                <a:solidFill>
                  <a:srgbClr val="00B050"/>
                </a:solidFill>
                <a:cs typeface="+mn-ea"/>
                <a:sym typeface="+mn-lt"/>
              </a:rPr>
              <a:t>C01 G/O</a:t>
            </a:r>
            <a:endParaRPr lang="zh-CN" altLang="en-US" sz="1050" dirty="0">
              <a:solidFill>
                <a:srgbClr val="00B050"/>
              </a:solidFill>
              <a:cs typeface="+mn-ea"/>
              <a:sym typeface="+mn-lt"/>
            </a:endParaRPr>
          </a:p>
        </p:txBody>
      </p:sp>
      <p:sp>
        <p:nvSpPr>
          <p:cNvPr id="102" name="矩形 101"/>
          <p:cNvSpPr/>
          <p:nvPr/>
        </p:nvSpPr>
        <p:spPr>
          <a:xfrm>
            <a:off x="3946021" y="2464906"/>
            <a:ext cx="1592667" cy="214689"/>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103" name="矩形 102"/>
          <p:cNvSpPr/>
          <p:nvPr/>
        </p:nvSpPr>
        <p:spPr>
          <a:xfrm>
            <a:off x="3972656" y="2734561"/>
            <a:ext cx="1559455" cy="234051"/>
          </a:xfrm>
          <a:prstGeom prst="rect">
            <a:avLst/>
          </a:prstGeom>
          <a:no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95" name="等腰三角形 94"/>
          <p:cNvSpPr/>
          <p:nvPr/>
        </p:nvSpPr>
        <p:spPr>
          <a:xfrm>
            <a:off x="6042953" y="2309113"/>
            <a:ext cx="288032" cy="311413"/>
          </a:xfrm>
          <a:prstGeom prst="triangle">
            <a:avLst/>
          </a:prstGeom>
          <a:solidFill>
            <a:srgbClr val="00B050"/>
          </a:solidFill>
          <a:ln>
            <a:solidFill>
              <a:srgbClr val="0AB1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cxnSp>
        <p:nvCxnSpPr>
          <p:cNvPr id="96" name="直接连接符 95"/>
          <p:cNvCxnSpPr/>
          <p:nvPr/>
        </p:nvCxnSpPr>
        <p:spPr>
          <a:xfrm>
            <a:off x="6196977" y="2641217"/>
            <a:ext cx="0" cy="3050623"/>
          </a:xfrm>
          <a:prstGeom prst="line">
            <a:avLst/>
          </a:prstGeom>
          <a:ln w="22225">
            <a:solidFill>
              <a:srgbClr val="0AB156"/>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a:off x="3286469" y="3491774"/>
            <a:ext cx="715949" cy="1773317"/>
          </a:xfrm>
          <a:prstGeom prst="straightConnector1">
            <a:avLst/>
          </a:prstGeom>
          <a:ln w="25400">
            <a:solidFill>
              <a:schemeClr val="accent5">
                <a:lumMod val="60000"/>
                <a:lumOff val="4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3995858" y="2595750"/>
            <a:ext cx="3249" cy="2535211"/>
          </a:xfrm>
          <a:prstGeom prst="straightConnector1">
            <a:avLst/>
          </a:prstGeom>
          <a:ln w="25400">
            <a:solidFill>
              <a:srgbClr val="FFC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3185621" y="4091657"/>
            <a:ext cx="981879" cy="951301"/>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7" name="流程图: 接点 21"/>
          <p:cNvSpPr/>
          <p:nvPr/>
        </p:nvSpPr>
        <p:spPr>
          <a:xfrm>
            <a:off x="3944883" y="2819817"/>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58" name="流程图: 接点 21"/>
          <p:cNvSpPr/>
          <p:nvPr/>
        </p:nvSpPr>
        <p:spPr>
          <a:xfrm>
            <a:off x="3143907" y="4104006"/>
            <a:ext cx="96011" cy="91224"/>
          </a:xfrm>
          <a:prstGeom prst="flowChartConnector">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69" name="文本框 68"/>
          <p:cNvSpPr txBox="1"/>
          <p:nvPr/>
        </p:nvSpPr>
        <p:spPr>
          <a:xfrm>
            <a:off x="284606" y="3792684"/>
            <a:ext cx="1001376" cy="480131"/>
          </a:xfrm>
          <a:prstGeom prst="rect">
            <a:avLst/>
          </a:prstGeom>
          <a:noFill/>
        </p:spPr>
        <p:txBody>
          <a:bodyPr wrap="square" rtlCol="0">
            <a:spAutoFit/>
          </a:bodyPr>
          <a:lstStyle/>
          <a:p>
            <a:pPr>
              <a:lnSpc>
                <a:spcPct val="120000"/>
              </a:lnSpc>
            </a:pPr>
            <a:r>
              <a:rPr lang="en-US" altLang="zh-CN" sz="1050" b="1" dirty="0">
                <a:solidFill>
                  <a:srgbClr val="FF0000"/>
                </a:solidFill>
                <a:cs typeface="+mn-ea"/>
                <a:sym typeface="+mn-lt"/>
              </a:rPr>
              <a:t>MR2 DVT</a:t>
            </a:r>
            <a:r>
              <a:rPr lang="zh-CN" altLang="en-US" sz="1050" b="1" dirty="0">
                <a:solidFill>
                  <a:srgbClr val="FF0000"/>
                </a:solidFill>
                <a:cs typeface="+mn-ea"/>
                <a:sym typeface="+mn-lt"/>
              </a:rPr>
              <a:t>准入评审</a:t>
            </a:r>
          </a:p>
        </p:txBody>
      </p:sp>
      <p:sp>
        <p:nvSpPr>
          <p:cNvPr id="4" name="文本框 3">
            <a:extLst>
              <a:ext uri="{FF2B5EF4-FFF2-40B4-BE49-F238E27FC236}">
                <a16:creationId xmlns:a16="http://schemas.microsoft.com/office/drawing/2014/main" id="{7D2C04D9-3C4C-4FE1-8904-40AFC2C1F623}"/>
              </a:ext>
            </a:extLst>
          </p:cNvPr>
          <p:cNvSpPr txBox="1"/>
          <p:nvPr/>
        </p:nvSpPr>
        <p:spPr>
          <a:xfrm>
            <a:off x="10461737" y="3258530"/>
            <a:ext cx="864096" cy="480131"/>
          </a:xfrm>
          <a:prstGeom prst="rect">
            <a:avLst/>
          </a:prstGeom>
          <a:noFill/>
        </p:spPr>
        <p:txBody>
          <a:bodyPr wrap="square" rtlCol="0">
            <a:spAutoFit/>
          </a:bodyPr>
          <a:lstStyle/>
          <a:p>
            <a:pPr>
              <a:lnSpc>
                <a:spcPct val="120000"/>
              </a:lnSpc>
            </a:pPr>
            <a:r>
              <a:rPr lang="zh-CN" altLang="en-US" sz="1050" dirty="0">
                <a:solidFill>
                  <a:schemeClr val="tx1">
                    <a:lumMod val="75000"/>
                    <a:lumOff val="25000"/>
                  </a:schemeClr>
                </a:solidFill>
              </a:rPr>
              <a:t>首件</a:t>
            </a:r>
            <a:r>
              <a:rPr lang="en-US" altLang="zh-CN" sz="1050" dirty="0">
                <a:solidFill>
                  <a:schemeClr val="tx1">
                    <a:lumMod val="75000"/>
                    <a:lumOff val="25000"/>
                  </a:schemeClr>
                </a:solidFill>
              </a:rPr>
              <a:t>/</a:t>
            </a:r>
            <a:r>
              <a:rPr lang="zh-CN" altLang="en-US" sz="1050" dirty="0">
                <a:solidFill>
                  <a:schemeClr val="tx1">
                    <a:lumMod val="75000"/>
                    <a:lumOff val="25000"/>
                  </a:schemeClr>
                </a:solidFill>
              </a:rPr>
              <a:t>批量试制</a:t>
            </a:r>
            <a:endParaRPr lang="en-US" altLang="zh-CN" sz="1050" dirty="0">
              <a:solidFill>
                <a:schemeClr val="tx1">
                  <a:lumMod val="75000"/>
                  <a:lumOff val="25000"/>
                </a:schemeClr>
              </a:solidFill>
            </a:endParaRPr>
          </a:p>
        </p:txBody>
      </p:sp>
      <p:cxnSp>
        <p:nvCxnSpPr>
          <p:cNvPr id="53" name="直接连接符 52">
            <a:extLst>
              <a:ext uri="{FF2B5EF4-FFF2-40B4-BE49-F238E27FC236}">
                <a16:creationId xmlns:a16="http://schemas.microsoft.com/office/drawing/2014/main" id="{7809ED6D-A13C-4081-BAB1-90BEEFD2E0B3}"/>
              </a:ext>
            </a:extLst>
          </p:cNvPr>
          <p:cNvCxnSpPr>
            <a:cxnSpLocks/>
          </p:cNvCxnSpPr>
          <p:nvPr/>
        </p:nvCxnSpPr>
        <p:spPr>
          <a:xfrm>
            <a:off x="11251278" y="2309113"/>
            <a:ext cx="0" cy="3349683"/>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4" name="五角星 76">
            <a:extLst>
              <a:ext uri="{FF2B5EF4-FFF2-40B4-BE49-F238E27FC236}">
                <a16:creationId xmlns:a16="http://schemas.microsoft.com/office/drawing/2014/main" id="{A7E42CA2-D7B6-46BC-9A90-7AEB813DA46C}"/>
              </a:ext>
            </a:extLst>
          </p:cNvPr>
          <p:cNvSpPr/>
          <p:nvPr/>
        </p:nvSpPr>
        <p:spPr>
          <a:xfrm>
            <a:off x="11325834" y="3546562"/>
            <a:ext cx="192025" cy="167992"/>
          </a:xfrm>
          <a:prstGeom prst="star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sp>
        <p:nvSpPr>
          <p:cNvPr id="59" name="等腰三角形 58">
            <a:extLst>
              <a:ext uri="{FF2B5EF4-FFF2-40B4-BE49-F238E27FC236}">
                <a16:creationId xmlns:a16="http://schemas.microsoft.com/office/drawing/2014/main" id="{E7809963-291A-44D1-B7E3-888989D54216}"/>
              </a:ext>
            </a:extLst>
          </p:cNvPr>
          <p:cNvSpPr/>
          <p:nvPr/>
        </p:nvSpPr>
        <p:spPr>
          <a:xfrm>
            <a:off x="10749769" y="2394434"/>
            <a:ext cx="288032" cy="311413"/>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cs typeface="+mn-ea"/>
              <a:sym typeface="+mn-lt"/>
            </a:endParaRPr>
          </a:p>
        </p:txBody>
      </p:sp>
      <p:cxnSp>
        <p:nvCxnSpPr>
          <p:cNvPr id="60" name="直接连接符 59">
            <a:extLst>
              <a:ext uri="{FF2B5EF4-FFF2-40B4-BE49-F238E27FC236}">
                <a16:creationId xmlns:a16="http://schemas.microsoft.com/office/drawing/2014/main" id="{52D341CC-285D-458E-AC3D-B7574518D3B3}"/>
              </a:ext>
            </a:extLst>
          </p:cNvPr>
          <p:cNvCxnSpPr/>
          <p:nvPr/>
        </p:nvCxnSpPr>
        <p:spPr>
          <a:xfrm>
            <a:off x="10893786" y="2690917"/>
            <a:ext cx="0" cy="515932"/>
          </a:xfrm>
          <a:prstGeom prst="line">
            <a:avLst/>
          </a:prstGeom>
          <a:ln w="2222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6342348" y="2381654"/>
            <a:ext cx="2477667" cy="1449628"/>
          </a:xfrm>
          <a:prstGeom prst="rect">
            <a:avLst/>
          </a:prstGeom>
          <a:noFill/>
        </p:spPr>
        <p:txBody>
          <a:bodyPr wrap="square" rtlCol="0">
            <a:spAutoFit/>
          </a:bodyPr>
          <a:lstStyle/>
          <a:p>
            <a:pPr>
              <a:lnSpc>
                <a:spcPct val="120000"/>
              </a:lnSpc>
            </a:pPr>
            <a:r>
              <a:rPr lang="zh-CN" altLang="en-US" sz="1050" b="1" dirty="0">
                <a:solidFill>
                  <a:srgbClr val="178AA1"/>
                </a:solidFill>
                <a:latin typeface="+mn-ea"/>
              </a:rPr>
              <a:t>产品</a:t>
            </a:r>
            <a:r>
              <a:rPr lang="zh-CN" altLang="en-US" sz="1050" b="1" dirty="0" smtClean="0">
                <a:solidFill>
                  <a:srgbClr val="178AA1"/>
                </a:solidFill>
                <a:latin typeface="+mn-ea"/>
              </a:rPr>
              <a:t>工程师：</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1</a:t>
            </a:r>
            <a:r>
              <a:rPr lang="zh-CN" altLang="en-US" sz="1050" b="1" dirty="0" smtClean="0">
                <a:solidFill>
                  <a:srgbClr val="178AA1"/>
                </a:solidFill>
                <a:latin typeface="+mn-ea"/>
              </a:rPr>
              <a:t>）评估批量配置：</a:t>
            </a:r>
            <a:r>
              <a:rPr lang="en-US" altLang="zh-CN" sz="1050" b="1" dirty="0" smtClean="0">
                <a:solidFill>
                  <a:srgbClr val="178AA1"/>
                </a:solidFill>
                <a:latin typeface="+mn-ea"/>
              </a:rPr>
              <a:t>SIT</a:t>
            </a:r>
            <a:r>
              <a:rPr lang="zh-CN" altLang="en-US" sz="1050" b="1" dirty="0" smtClean="0">
                <a:solidFill>
                  <a:srgbClr val="178AA1"/>
                </a:solidFill>
                <a:latin typeface="+mn-ea"/>
              </a:rPr>
              <a:t>合作</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2</a:t>
            </a:r>
            <a:r>
              <a:rPr lang="zh-CN" altLang="en-US" sz="1050" b="1" dirty="0" smtClean="0">
                <a:solidFill>
                  <a:srgbClr val="178AA1"/>
                </a:solidFill>
                <a:latin typeface="+mn-ea"/>
              </a:rPr>
              <a:t>）评估准备批量主板测试工装</a:t>
            </a:r>
            <a:endParaRPr lang="en-US" altLang="zh-CN" sz="1050" b="1" dirty="0" smtClean="0">
              <a:solidFill>
                <a:srgbClr val="178AA1"/>
              </a:solidFill>
              <a:latin typeface="+mn-ea"/>
            </a:endParaRPr>
          </a:p>
          <a:p>
            <a:pPr>
              <a:lnSpc>
                <a:spcPct val="120000"/>
              </a:lnSpc>
            </a:pPr>
            <a:r>
              <a:rPr lang="en-US" altLang="zh-CN" sz="1050" b="1" dirty="0">
                <a:solidFill>
                  <a:srgbClr val="178AA1"/>
                </a:solidFill>
                <a:latin typeface="+mn-ea"/>
              </a:rPr>
              <a:t>3</a:t>
            </a:r>
            <a:r>
              <a:rPr lang="zh-CN" altLang="en-US" sz="1050" b="1" dirty="0" smtClean="0">
                <a:solidFill>
                  <a:srgbClr val="178AA1"/>
                </a:solidFill>
                <a:latin typeface="+mn-ea"/>
              </a:rPr>
              <a:t>）编制产品</a:t>
            </a:r>
            <a:r>
              <a:rPr lang="en-US" altLang="zh-CN" sz="1050" b="1" dirty="0" smtClean="0">
                <a:solidFill>
                  <a:srgbClr val="178AA1"/>
                </a:solidFill>
                <a:latin typeface="+mn-ea"/>
              </a:rPr>
              <a:t>BOM</a:t>
            </a:r>
            <a:endParaRPr lang="en-US" altLang="zh-CN" sz="1050" b="1" dirty="0">
              <a:solidFill>
                <a:srgbClr val="178AA1"/>
              </a:solidFill>
              <a:latin typeface="+mn-ea"/>
            </a:endParaRPr>
          </a:p>
          <a:p>
            <a:pPr>
              <a:lnSpc>
                <a:spcPct val="120000"/>
              </a:lnSpc>
            </a:pPr>
            <a:r>
              <a:rPr lang="en-US" altLang="zh-CN" sz="1050" b="1" dirty="0">
                <a:solidFill>
                  <a:srgbClr val="178AA1"/>
                </a:solidFill>
                <a:latin typeface="+mn-ea"/>
              </a:rPr>
              <a:t>4</a:t>
            </a:r>
            <a:r>
              <a:rPr lang="zh-CN" altLang="en-US" sz="1050" b="1" dirty="0" smtClean="0">
                <a:solidFill>
                  <a:srgbClr val="178AA1"/>
                </a:solidFill>
                <a:latin typeface="+mn-ea"/>
              </a:rPr>
              <a:t>）编制生产技术要求</a:t>
            </a:r>
            <a:endParaRPr lang="en-US" altLang="zh-CN" sz="1050" b="1" dirty="0" smtClean="0">
              <a:solidFill>
                <a:srgbClr val="178AA1"/>
              </a:solidFill>
              <a:latin typeface="+mn-ea"/>
            </a:endParaRPr>
          </a:p>
          <a:p>
            <a:pPr>
              <a:lnSpc>
                <a:spcPct val="120000"/>
              </a:lnSpc>
            </a:pPr>
            <a:r>
              <a:rPr lang="en-US" altLang="zh-CN" sz="1050" b="1" dirty="0">
                <a:solidFill>
                  <a:srgbClr val="178AA1"/>
                </a:solidFill>
                <a:latin typeface="+mn-ea"/>
              </a:rPr>
              <a:t>5</a:t>
            </a:r>
            <a:r>
              <a:rPr lang="zh-CN" altLang="en-US" sz="1050" b="1" dirty="0" smtClean="0">
                <a:solidFill>
                  <a:srgbClr val="178AA1"/>
                </a:solidFill>
                <a:latin typeface="+mn-ea"/>
              </a:rPr>
              <a:t>）下发生产订单</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6</a:t>
            </a:r>
            <a:r>
              <a:rPr lang="zh-CN" altLang="en-US" sz="1050" b="1" dirty="0" smtClean="0">
                <a:solidFill>
                  <a:srgbClr val="178AA1"/>
                </a:solidFill>
                <a:latin typeface="+mn-ea"/>
              </a:rPr>
              <a:t>）老化程序确认：</a:t>
            </a:r>
            <a:r>
              <a:rPr lang="en-US" altLang="zh-CN" sz="1050" b="1" dirty="0" smtClean="0">
                <a:solidFill>
                  <a:srgbClr val="178AA1"/>
                </a:solidFill>
                <a:latin typeface="+mn-ea"/>
              </a:rPr>
              <a:t>SIT</a:t>
            </a:r>
            <a:r>
              <a:rPr lang="zh-CN" altLang="en-US" sz="1050" b="1" dirty="0" smtClean="0">
                <a:solidFill>
                  <a:srgbClr val="178AA1"/>
                </a:solidFill>
                <a:latin typeface="+mn-ea"/>
              </a:rPr>
              <a:t>合作</a:t>
            </a:r>
            <a:endParaRPr lang="en-US" altLang="zh-CN" sz="1050" b="1" dirty="0" smtClean="0">
              <a:solidFill>
                <a:srgbClr val="178AA1"/>
              </a:solidFill>
              <a:latin typeface="+mn-ea"/>
            </a:endParaRPr>
          </a:p>
        </p:txBody>
      </p:sp>
      <p:sp>
        <p:nvSpPr>
          <p:cNvPr id="70" name="十字星 69"/>
          <p:cNvSpPr/>
          <p:nvPr/>
        </p:nvSpPr>
        <p:spPr>
          <a:xfrm>
            <a:off x="6270113" y="2283225"/>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2" name="文本框 71"/>
          <p:cNvSpPr txBox="1"/>
          <p:nvPr/>
        </p:nvSpPr>
        <p:spPr>
          <a:xfrm>
            <a:off x="6336690" y="3876590"/>
            <a:ext cx="4319505" cy="1061829"/>
          </a:xfrm>
          <a:prstGeom prst="rect">
            <a:avLst/>
          </a:prstGeom>
          <a:noFill/>
        </p:spPr>
        <p:txBody>
          <a:bodyPr wrap="square" rtlCol="0">
            <a:spAutoFit/>
          </a:bodyPr>
          <a:lstStyle/>
          <a:p>
            <a:pPr>
              <a:lnSpc>
                <a:spcPct val="120000"/>
              </a:lnSpc>
            </a:pPr>
            <a:r>
              <a:rPr lang="zh-CN" altLang="en-US" sz="1050" b="1" dirty="0" smtClean="0">
                <a:solidFill>
                  <a:srgbClr val="178AA1"/>
                </a:solidFill>
                <a:latin typeface="+mn-ea"/>
              </a:rPr>
              <a:t>市场代表：</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1</a:t>
            </a:r>
            <a:r>
              <a:rPr lang="zh-CN" altLang="en-US" sz="1050" b="1" dirty="0" smtClean="0">
                <a:solidFill>
                  <a:srgbClr val="178AA1"/>
                </a:solidFill>
                <a:latin typeface="+mn-ea"/>
              </a:rPr>
              <a:t>）</a:t>
            </a:r>
            <a:r>
              <a:rPr lang="en-US" altLang="zh-CN" sz="1050" b="1" dirty="0" smtClean="0">
                <a:solidFill>
                  <a:srgbClr val="178AA1"/>
                </a:solidFill>
                <a:latin typeface="+mn-ea"/>
              </a:rPr>
              <a:t>《</a:t>
            </a:r>
            <a:r>
              <a:rPr lang="zh-CN" altLang="en-US" sz="1050" b="1" dirty="0" smtClean="0">
                <a:solidFill>
                  <a:srgbClr val="178AA1"/>
                </a:solidFill>
                <a:latin typeface="+mn-ea"/>
              </a:rPr>
              <a:t>首批采购清单</a:t>
            </a:r>
            <a:r>
              <a:rPr lang="en-US" altLang="zh-CN" sz="1050" b="1" dirty="0" smtClean="0">
                <a:solidFill>
                  <a:srgbClr val="178AA1"/>
                </a:solidFill>
                <a:latin typeface="+mn-ea"/>
              </a:rPr>
              <a:t>》</a:t>
            </a:r>
            <a:r>
              <a:rPr lang="zh-CN" altLang="en-US" sz="1050" b="1" dirty="0" smtClean="0">
                <a:solidFill>
                  <a:srgbClr val="178AA1"/>
                </a:solidFill>
                <a:latin typeface="+mn-ea"/>
              </a:rPr>
              <a:t>，备料数量：项目组</a:t>
            </a:r>
            <a:r>
              <a:rPr lang="en-US" altLang="zh-CN" sz="1050" b="1" dirty="0" smtClean="0">
                <a:solidFill>
                  <a:srgbClr val="178AA1"/>
                </a:solidFill>
                <a:latin typeface="+mn-ea"/>
              </a:rPr>
              <a:t>+</a:t>
            </a:r>
            <a:r>
              <a:rPr lang="zh-CN" altLang="en-US" sz="1050" b="1" dirty="0" smtClean="0">
                <a:solidFill>
                  <a:srgbClr val="178AA1"/>
                </a:solidFill>
                <a:latin typeface="+mn-ea"/>
              </a:rPr>
              <a:t>采购</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2</a:t>
            </a:r>
            <a:r>
              <a:rPr lang="zh-CN" altLang="en-US" sz="1050" b="1" dirty="0" smtClean="0">
                <a:solidFill>
                  <a:srgbClr val="178AA1"/>
                </a:solidFill>
                <a:latin typeface="+mn-ea"/>
              </a:rPr>
              <a:t>）开模决议</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3</a:t>
            </a:r>
            <a:r>
              <a:rPr lang="zh-CN" altLang="en-US" sz="1050" b="1" dirty="0" smtClean="0">
                <a:solidFill>
                  <a:srgbClr val="178AA1"/>
                </a:solidFill>
                <a:latin typeface="+mn-ea"/>
              </a:rPr>
              <a:t>）执行首批采购：正品料号申请完成后（含首次量产通用部件）</a:t>
            </a:r>
            <a:endParaRPr lang="en-US" altLang="zh-CN" sz="1050" b="1" dirty="0" smtClean="0">
              <a:solidFill>
                <a:srgbClr val="178AA1"/>
              </a:solidFill>
              <a:latin typeface="+mn-ea"/>
            </a:endParaRPr>
          </a:p>
          <a:p>
            <a:pPr>
              <a:lnSpc>
                <a:spcPct val="120000"/>
              </a:lnSpc>
            </a:pPr>
            <a:r>
              <a:rPr lang="en-US" altLang="zh-CN" sz="1050" b="1" dirty="0" smtClean="0">
                <a:solidFill>
                  <a:srgbClr val="178AA1"/>
                </a:solidFill>
                <a:latin typeface="+mn-ea"/>
              </a:rPr>
              <a:t>4</a:t>
            </a:r>
            <a:r>
              <a:rPr lang="zh-CN" altLang="en-US" sz="1050" b="1" dirty="0" smtClean="0">
                <a:solidFill>
                  <a:srgbClr val="178AA1"/>
                </a:solidFill>
                <a:latin typeface="+mn-ea"/>
              </a:rPr>
              <a:t>）首批采购物料交期追踪</a:t>
            </a:r>
            <a:endParaRPr lang="en-US" altLang="zh-CN" sz="1050" b="1" dirty="0" smtClean="0">
              <a:solidFill>
                <a:srgbClr val="178AA1"/>
              </a:solidFill>
              <a:latin typeface="+mn-ea"/>
            </a:endParaRPr>
          </a:p>
        </p:txBody>
      </p:sp>
      <p:sp>
        <p:nvSpPr>
          <p:cNvPr id="73" name="十字星 72"/>
          <p:cNvSpPr/>
          <p:nvPr/>
        </p:nvSpPr>
        <p:spPr>
          <a:xfrm>
            <a:off x="6266592" y="3798363"/>
            <a:ext cx="224194" cy="229818"/>
          </a:xfrm>
          <a:prstGeom prst="star4">
            <a:avLst/>
          </a:prstGeom>
          <a:solidFill>
            <a:srgbClr val="C00000"/>
          </a:solidFill>
          <a:ln>
            <a:solidFill>
              <a:srgbClr val="C0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9" name="文本框 8"/>
          <p:cNvSpPr txBox="1"/>
          <p:nvPr/>
        </p:nvSpPr>
        <p:spPr>
          <a:xfrm>
            <a:off x="7443443" y="5961664"/>
            <a:ext cx="3968243" cy="281167"/>
          </a:xfrm>
          <a:prstGeom prst="rect">
            <a:avLst/>
          </a:prstGeom>
          <a:noFill/>
        </p:spPr>
        <p:txBody>
          <a:bodyPr wrap="square" rtlCol="0">
            <a:spAutoFit/>
          </a:bodyPr>
          <a:lstStyle/>
          <a:p>
            <a:pPr>
              <a:lnSpc>
                <a:spcPct val="120000"/>
              </a:lnSpc>
            </a:pPr>
            <a:r>
              <a:rPr lang="zh-CN" altLang="en-US" sz="1100" b="1" dirty="0" smtClean="0">
                <a:solidFill>
                  <a:srgbClr val="C00000"/>
                </a:solidFill>
              </a:rPr>
              <a:t>如上工作是后续试制顺利、按期执行的保障之一</a:t>
            </a:r>
          </a:p>
        </p:txBody>
      </p:sp>
      <p:cxnSp>
        <p:nvCxnSpPr>
          <p:cNvPr id="12" name="曲线连接符 11"/>
          <p:cNvCxnSpPr/>
          <p:nvPr/>
        </p:nvCxnSpPr>
        <p:spPr>
          <a:xfrm rot="16200000" flipH="1">
            <a:off x="8102965" y="4916462"/>
            <a:ext cx="1057753" cy="8044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8255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L9 DVT</a:t>
            </a:r>
            <a:r>
              <a:rPr lang="zh-CN" altLang="en-US" dirty="0"/>
              <a:t>（准入）过程控制点</a:t>
            </a:r>
            <a:r>
              <a:rPr lang="en-US" altLang="zh-CN" dirty="0"/>
              <a:t>——</a:t>
            </a:r>
            <a:r>
              <a:rPr lang="zh-CN" altLang="en-US" dirty="0"/>
              <a:t>内部</a:t>
            </a:r>
          </a:p>
        </p:txBody>
      </p:sp>
      <p:sp>
        <p:nvSpPr>
          <p:cNvPr id="3" name="文本框 2">
            <a:extLst>
              <a:ext uri="{FF2B5EF4-FFF2-40B4-BE49-F238E27FC236}">
                <a16:creationId xmlns:a16="http://schemas.microsoft.com/office/drawing/2014/main" id="{EC4838C9-9332-EB5A-376E-DC34A98BABA8}"/>
              </a:ext>
            </a:extLst>
          </p:cNvPr>
          <p:cNvSpPr txBox="1"/>
          <p:nvPr/>
        </p:nvSpPr>
        <p:spPr>
          <a:xfrm>
            <a:off x="239349" y="801786"/>
            <a:ext cx="3249575" cy="39658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latin typeface="+mn-ea"/>
              </a:rPr>
              <a:t>DVT</a:t>
            </a:r>
            <a:r>
              <a:rPr lang="zh-CN" altLang="en-US" b="1" dirty="0">
                <a:solidFill>
                  <a:schemeClr val="tx1">
                    <a:lumMod val="75000"/>
                    <a:lumOff val="25000"/>
                  </a:schemeClr>
                </a:solidFill>
                <a:latin typeface="+mn-ea"/>
              </a:rPr>
              <a:t>测试计划评审通过</a:t>
            </a:r>
            <a:endParaRPr lang="en-US" altLang="zh-CN" b="1" dirty="0">
              <a:solidFill>
                <a:schemeClr val="tx1">
                  <a:lumMod val="75000"/>
                  <a:lumOff val="25000"/>
                </a:schemeClr>
              </a:solidFill>
              <a:latin typeface="+mn-ea"/>
            </a:endParaRPr>
          </a:p>
        </p:txBody>
      </p:sp>
      <p:sp>
        <p:nvSpPr>
          <p:cNvPr id="4" name="文本框 3">
            <a:extLst>
              <a:ext uri="{FF2B5EF4-FFF2-40B4-BE49-F238E27FC236}">
                <a16:creationId xmlns:a16="http://schemas.microsoft.com/office/drawing/2014/main" id="{CA52BFC8-2F03-0704-572C-7A68E65AB246}"/>
              </a:ext>
            </a:extLst>
          </p:cNvPr>
          <p:cNvSpPr txBox="1"/>
          <p:nvPr/>
        </p:nvSpPr>
        <p:spPr>
          <a:xfrm>
            <a:off x="239349" y="2807862"/>
            <a:ext cx="4510204" cy="39658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latin typeface="+mn-ea"/>
              </a:rPr>
              <a:t>DVT</a:t>
            </a:r>
            <a:r>
              <a:rPr lang="zh-CN" altLang="en-US" b="1" dirty="0">
                <a:solidFill>
                  <a:schemeClr val="tx1">
                    <a:lumMod val="75000"/>
                    <a:lumOff val="25000"/>
                  </a:schemeClr>
                </a:solidFill>
                <a:latin typeface="+mn-ea"/>
              </a:rPr>
              <a:t>系统组装关键物料已齐套</a:t>
            </a:r>
            <a:endParaRPr lang="en-US" altLang="zh-CN" b="1" dirty="0">
              <a:solidFill>
                <a:schemeClr val="tx1">
                  <a:lumMod val="75000"/>
                  <a:lumOff val="25000"/>
                </a:schemeClr>
              </a:solidFill>
              <a:latin typeface="+mn-ea"/>
            </a:endParaRPr>
          </a:p>
        </p:txBody>
      </p:sp>
      <p:sp>
        <p:nvSpPr>
          <p:cNvPr id="6" name="文本框 5">
            <a:extLst>
              <a:ext uri="{FF2B5EF4-FFF2-40B4-BE49-F238E27FC236}">
                <a16:creationId xmlns:a16="http://schemas.microsoft.com/office/drawing/2014/main" id="{0104B899-665D-79AC-5DC9-8B85C698A980}"/>
              </a:ext>
            </a:extLst>
          </p:cNvPr>
          <p:cNvSpPr txBox="1"/>
          <p:nvPr/>
        </p:nvSpPr>
        <p:spPr>
          <a:xfrm>
            <a:off x="239349" y="3159118"/>
            <a:ext cx="5939509" cy="401264"/>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latin typeface="+mn-ea"/>
              </a:rPr>
              <a:t>DVT</a:t>
            </a:r>
            <a:r>
              <a:rPr lang="zh-CN" altLang="en-US" b="1" dirty="0">
                <a:solidFill>
                  <a:schemeClr val="tx1">
                    <a:lumMod val="75000"/>
                    <a:lumOff val="25000"/>
                  </a:schemeClr>
                </a:solidFill>
                <a:latin typeface="+mn-ea"/>
              </a:rPr>
              <a:t>固件版本已发布（</a:t>
            </a:r>
            <a:r>
              <a:rPr lang="en-US" altLang="zh-CN" b="1" dirty="0">
                <a:solidFill>
                  <a:schemeClr val="tx1">
                    <a:lumMod val="75000"/>
                    <a:lumOff val="25000"/>
                  </a:schemeClr>
                </a:solidFill>
                <a:latin typeface="+mn-ea"/>
              </a:rPr>
              <a:t>BIOS</a:t>
            </a:r>
            <a:r>
              <a:rPr lang="zh-CN" altLang="en-US" b="1" dirty="0">
                <a:solidFill>
                  <a:schemeClr val="tx1">
                    <a:lumMod val="75000"/>
                    <a:lumOff val="25000"/>
                  </a:schemeClr>
                </a:solidFill>
                <a:latin typeface="+mn-ea"/>
              </a:rPr>
              <a:t>、</a:t>
            </a:r>
            <a:r>
              <a:rPr lang="en-US" altLang="zh-CN" b="1" dirty="0">
                <a:solidFill>
                  <a:schemeClr val="tx1">
                    <a:lumMod val="75000"/>
                    <a:lumOff val="25000"/>
                  </a:schemeClr>
                </a:solidFill>
                <a:latin typeface="+mn-ea"/>
              </a:rPr>
              <a:t>BMC</a:t>
            </a:r>
            <a:r>
              <a:rPr lang="zh-CN" altLang="en-US" b="1" dirty="0">
                <a:solidFill>
                  <a:schemeClr val="tx1">
                    <a:lumMod val="75000"/>
                    <a:lumOff val="25000"/>
                  </a:schemeClr>
                </a:solidFill>
                <a:latin typeface="+mn-ea"/>
              </a:rPr>
              <a:t>、</a:t>
            </a:r>
            <a:r>
              <a:rPr lang="en-US" altLang="zh-CN" b="1" dirty="0">
                <a:solidFill>
                  <a:schemeClr val="tx1">
                    <a:lumMod val="75000"/>
                    <a:lumOff val="25000"/>
                  </a:schemeClr>
                </a:solidFill>
                <a:latin typeface="+mn-ea"/>
              </a:rPr>
              <a:t>CMM</a:t>
            </a:r>
            <a:r>
              <a:rPr lang="zh-CN" altLang="en-US" b="1" dirty="0">
                <a:solidFill>
                  <a:schemeClr val="tx1">
                    <a:lumMod val="75000"/>
                    <a:lumOff val="25000"/>
                  </a:schemeClr>
                </a:solidFill>
                <a:latin typeface="+mn-ea"/>
              </a:rPr>
              <a:t>）</a:t>
            </a:r>
            <a:endParaRPr lang="en-US" altLang="zh-CN" b="1" dirty="0">
              <a:solidFill>
                <a:schemeClr val="tx1">
                  <a:lumMod val="75000"/>
                  <a:lumOff val="25000"/>
                </a:schemeClr>
              </a:solidFill>
              <a:latin typeface="+mn-ea"/>
            </a:endParaRPr>
          </a:p>
        </p:txBody>
      </p:sp>
      <p:sp>
        <p:nvSpPr>
          <p:cNvPr id="7" name="文本框 6">
            <a:extLst>
              <a:ext uri="{FF2B5EF4-FFF2-40B4-BE49-F238E27FC236}">
                <a16:creationId xmlns:a16="http://schemas.microsoft.com/office/drawing/2014/main" id="{2CC7CCEC-C8BF-9815-0502-5EB42A33F658}"/>
              </a:ext>
            </a:extLst>
          </p:cNvPr>
          <p:cNvSpPr txBox="1"/>
          <p:nvPr/>
        </p:nvSpPr>
        <p:spPr>
          <a:xfrm>
            <a:off x="239349" y="3515055"/>
            <a:ext cx="3498149" cy="401264"/>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latin typeface="+mn-ea"/>
              </a:rPr>
              <a:t>EVT</a:t>
            </a:r>
            <a:r>
              <a:rPr lang="zh-CN" altLang="en-US" b="1" dirty="0">
                <a:solidFill>
                  <a:schemeClr val="tx1">
                    <a:lumMod val="75000"/>
                    <a:lumOff val="25000"/>
                  </a:schemeClr>
                </a:solidFill>
                <a:latin typeface="+mn-ea"/>
              </a:rPr>
              <a:t>测试报告评审通过</a:t>
            </a:r>
          </a:p>
        </p:txBody>
      </p:sp>
      <p:graphicFrame>
        <p:nvGraphicFramePr>
          <p:cNvPr id="8" name="表格 8">
            <a:extLst>
              <a:ext uri="{FF2B5EF4-FFF2-40B4-BE49-F238E27FC236}">
                <a16:creationId xmlns:a16="http://schemas.microsoft.com/office/drawing/2014/main" id="{F890E5C4-ABF8-1203-9AD0-65E059E60B4D}"/>
              </a:ext>
            </a:extLst>
          </p:cNvPr>
          <p:cNvGraphicFramePr>
            <a:graphicFrameLocks noGrp="1"/>
          </p:cNvGraphicFramePr>
          <p:nvPr/>
        </p:nvGraphicFramePr>
        <p:xfrm>
          <a:off x="1074343" y="1188563"/>
          <a:ext cx="9720903" cy="1622790"/>
        </p:xfrm>
        <a:graphic>
          <a:graphicData uri="http://schemas.openxmlformats.org/drawingml/2006/table">
            <a:tbl>
              <a:tblPr firstRow="1" bandRow="1">
                <a:tableStyleId>{00A15C55-8517-42AA-B614-E9B94910E393}</a:tableStyleId>
              </a:tblPr>
              <a:tblGrid>
                <a:gridCol w="3240301">
                  <a:extLst>
                    <a:ext uri="{9D8B030D-6E8A-4147-A177-3AD203B41FA5}">
                      <a16:colId xmlns:a16="http://schemas.microsoft.com/office/drawing/2014/main" val="3354855418"/>
                    </a:ext>
                  </a:extLst>
                </a:gridCol>
                <a:gridCol w="3240301">
                  <a:extLst>
                    <a:ext uri="{9D8B030D-6E8A-4147-A177-3AD203B41FA5}">
                      <a16:colId xmlns:a16="http://schemas.microsoft.com/office/drawing/2014/main" val="3824251094"/>
                    </a:ext>
                  </a:extLst>
                </a:gridCol>
                <a:gridCol w="3240301">
                  <a:extLst>
                    <a:ext uri="{9D8B030D-6E8A-4147-A177-3AD203B41FA5}">
                      <a16:colId xmlns:a16="http://schemas.microsoft.com/office/drawing/2014/main" val="3235304117"/>
                    </a:ext>
                  </a:extLst>
                </a:gridCol>
              </a:tblGrid>
              <a:tr h="211424">
                <a:tc>
                  <a:txBody>
                    <a:bodyPr/>
                    <a:lstStyle/>
                    <a:p>
                      <a:pPr lvl="0" algn="ctr" fontAlgn="b"/>
                      <a:r>
                        <a:rPr lang="zh-CN" altLang="en-US" sz="1600" b="1" u="none" strike="noStrike" dirty="0">
                          <a:solidFill>
                            <a:schemeClr val="bg1"/>
                          </a:solidFill>
                          <a:effectLst/>
                        </a:rPr>
                        <a:t>工作产品名称</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责任人</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评审模式</a:t>
                      </a:r>
                      <a:endParaRPr lang="zh-CN" altLang="en-US" sz="1600" b="1" i="0" u="none" strike="noStrike" dirty="0">
                        <a:solidFill>
                          <a:schemeClr val="bg1"/>
                        </a:solidFill>
                        <a:effectLst/>
                        <a:latin typeface="+mn-ea"/>
                        <a:ea typeface="+mn-ea"/>
                      </a:endParaRPr>
                    </a:p>
                  </a:txBody>
                  <a:tcPr marL="0" marR="0" marT="0" marB="0" anchor="ctr"/>
                </a:tc>
                <a:extLst>
                  <a:ext uri="{0D108BD9-81ED-4DB2-BD59-A6C34878D82A}">
                    <a16:rowId xmlns:a16="http://schemas.microsoft.com/office/drawing/2014/main" val="3899121649"/>
                  </a:ext>
                </a:extLst>
              </a:tr>
              <a:tr h="229825">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SIT</a:t>
                      </a:r>
                      <a:r>
                        <a:rPr lang="zh-CN" altLang="en-US" sz="1400" b="0" u="none" strike="noStrike" kern="1200" dirty="0">
                          <a:solidFill>
                            <a:schemeClr val="dk1"/>
                          </a:solidFill>
                          <a:effectLst/>
                        </a:rPr>
                        <a:t>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TPM(</a:t>
                      </a:r>
                      <a:r>
                        <a:rPr lang="zh-CN" altLang="en-US" sz="1400" b="0" u="none" strike="noStrike" dirty="0">
                          <a:effectLst/>
                        </a:rPr>
                        <a:t>测试代表</a:t>
                      </a:r>
                      <a:r>
                        <a:rPr lang="en-US" altLang="zh-CN" sz="1400" b="0" u="none" strike="noStrike" dirty="0">
                          <a:effectLst/>
                        </a:rPr>
                        <a:t>)</a:t>
                      </a:r>
                      <a:endParaRPr lang="en-US" altLang="zh-CN" sz="1400" b="0" i="0" u="none" strike="noStrike" dirty="0">
                        <a:solidFill>
                          <a:srgbClr val="000000"/>
                        </a:solidFill>
                        <a:effectLst/>
                        <a:latin typeface="+mn-ea"/>
                        <a:ea typeface="+mn-ea"/>
                      </a:endParaRPr>
                    </a:p>
                  </a:txBody>
                  <a:tcPr marL="0" marR="0" marT="0" marB="0" anchor="ctr"/>
                </a:tc>
                <a:tc rowSpan="6">
                  <a:txBody>
                    <a:bodyPr/>
                    <a:lstStyle/>
                    <a:p>
                      <a:pPr algn="ctr" fontAlgn="ctr"/>
                      <a:r>
                        <a:rPr lang="zh-CN" altLang="en-US" sz="1400" b="0" u="none" strike="noStrike" dirty="0">
                          <a:solidFill>
                            <a:srgbClr val="000000"/>
                          </a:solidFill>
                          <a:effectLst/>
                        </a:rPr>
                        <a:t>签审发布</a:t>
                      </a:r>
                      <a:endParaRPr lang="en-US" altLang="zh-CN" sz="14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709297373"/>
                  </a:ext>
                </a:extLst>
              </a:tr>
              <a:tr h="229825">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SI</a:t>
                      </a:r>
                      <a:r>
                        <a:rPr lang="zh-CN" altLang="en-US" sz="1400" b="0" u="none" strike="noStrike" kern="1200" dirty="0">
                          <a:solidFill>
                            <a:schemeClr val="dk1"/>
                          </a:solidFill>
                          <a:effectLst/>
                        </a:rPr>
                        <a:t>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en-US" sz="1400" b="0" u="none" strike="noStrike" dirty="0">
                          <a:effectLst/>
                        </a:rPr>
                        <a:t>SI</a:t>
                      </a:r>
                      <a:r>
                        <a:rPr lang="zh-CN" altLang="en-US" sz="1400" b="0" u="none" strike="noStrike" dirty="0">
                          <a:effectLst/>
                        </a:rPr>
                        <a:t>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563241887"/>
                  </a:ext>
                </a:extLst>
              </a:tr>
              <a:tr h="229825">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散热测试计划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散热测试工程师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3872129424"/>
                  </a:ext>
                </a:extLst>
              </a:tr>
              <a:tr h="229825">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可靠性测试计划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可靠性测试工程师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081813564"/>
                  </a:ext>
                </a:extLst>
              </a:tr>
              <a:tr h="229825">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PA</a:t>
                      </a:r>
                      <a:r>
                        <a:rPr lang="zh-CN" altLang="en-US" sz="1400" b="0" u="none" strike="noStrike" kern="1200" dirty="0">
                          <a:solidFill>
                            <a:schemeClr val="dk1"/>
                          </a:solidFill>
                          <a:effectLst/>
                        </a:rPr>
                        <a:t>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可靠性测试工程师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414754053"/>
                  </a:ext>
                </a:extLst>
              </a:tr>
              <a:tr h="229825">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电源测试计划</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algn="ctr" fontAlgn="ctr"/>
                      <a:r>
                        <a:rPr lang="zh-CN" altLang="en-US" sz="1400" b="0" u="none" strike="noStrike" dirty="0">
                          <a:effectLst/>
                        </a:rPr>
                        <a:t>电源测试工程师</a:t>
                      </a:r>
                      <a:endParaRPr lang="zh-CN" altLang="en-US" sz="1400" b="0" i="0" u="none" strike="noStrike" dirty="0">
                        <a:solidFill>
                          <a:srgbClr val="000000"/>
                        </a:solidFill>
                        <a:effectLst/>
                        <a:latin typeface="+mn-ea"/>
                        <a:ea typeface="+mn-ea"/>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802200907"/>
                  </a:ext>
                </a:extLst>
              </a:tr>
            </a:tbl>
          </a:graphicData>
        </a:graphic>
      </p:graphicFrame>
      <p:graphicFrame>
        <p:nvGraphicFramePr>
          <p:cNvPr id="9" name="表格 8">
            <a:extLst>
              <a:ext uri="{FF2B5EF4-FFF2-40B4-BE49-F238E27FC236}">
                <a16:creationId xmlns:a16="http://schemas.microsoft.com/office/drawing/2014/main" id="{5DE7553D-F986-A207-0DA3-160AA09DE247}"/>
              </a:ext>
            </a:extLst>
          </p:cNvPr>
          <p:cNvGraphicFramePr>
            <a:graphicFrameLocks noGrp="1"/>
          </p:cNvGraphicFramePr>
          <p:nvPr/>
        </p:nvGraphicFramePr>
        <p:xfrm>
          <a:off x="1074343" y="3894658"/>
          <a:ext cx="9720903" cy="1393065"/>
        </p:xfrm>
        <a:graphic>
          <a:graphicData uri="http://schemas.openxmlformats.org/drawingml/2006/table">
            <a:tbl>
              <a:tblPr firstRow="1" bandRow="1">
                <a:tableStyleId>{00A15C55-8517-42AA-B614-E9B94910E393}</a:tableStyleId>
              </a:tblPr>
              <a:tblGrid>
                <a:gridCol w="3293471">
                  <a:extLst>
                    <a:ext uri="{9D8B030D-6E8A-4147-A177-3AD203B41FA5}">
                      <a16:colId xmlns:a16="http://schemas.microsoft.com/office/drawing/2014/main" val="3354855418"/>
                    </a:ext>
                  </a:extLst>
                </a:gridCol>
                <a:gridCol w="3187131">
                  <a:extLst>
                    <a:ext uri="{9D8B030D-6E8A-4147-A177-3AD203B41FA5}">
                      <a16:colId xmlns:a16="http://schemas.microsoft.com/office/drawing/2014/main" val="3824251094"/>
                    </a:ext>
                  </a:extLst>
                </a:gridCol>
                <a:gridCol w="3240301">
                  <a:extLst>
                    <a:ext uri="{9D8B030D-6E8A-4147-A177-3AD203B41FA5}">
                      <a16:colId xmlns:a16="http://schemas.microsoft.com/office/drawing/2014/main" val="3235304117"/>
                    </a:ext>
                  </a:extLst>
                </a:gridCol>
              </a:tblGrid>
              <a:tr h="229845">
                <a:tc>
                  <a:txBody>
                    <a:bodyPr/>
                    <a:lstStyle/>
                    <a:p>
                      <a:pPr lvl="0" algn="ctr" fontAlgn="b"/>
                      <a:r>
                        <a:rPr lang="zh-CN" altLang="en-US" sz="1600" b="1" u="none" strike="noStrike" dirty="0">
                          <a:solidFill>
                            <a:schemeClr val="bg1"/>
                          </a:solidFill>
                          <a:effectLst/>
                        </a:rPr>
                        <a:t>工作产品名称</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责任人</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评审模式</a:t>
                      </a:r>
                      <a:endParaRPr lang="zh-CN" altLang="en-US" sz="1600" b="1" i="0" u="none" strike="noStrike" dirty="0">
                        <a:solidFill>
                          <a:schemeClr val="bg1"/>
                        </a:solidFill>
                        <a:effectLst/>
                        <a:latin typeface="+mn-ea"/>
                        <a:ea typeface="+mn-ea"/>
                      </a:endParaRPr>
                    </a:p>
                  </a:txBody>
                  <a:tcPr marL="0" marR="0" marT="0" marB="0" anchor="ctr"/>
                </a:tc>
                <a:extLst>
                  <a:ext uri="{0D108BD9-81ED-4DB2-BD59-A6C34878D82A}">
                    <a16:rowId xmlns:a16="http://schemas.microsoft.com/office/drawing/2014/main" val="3899121649"/>
                  </a:ext>
                </a:extLst>
              </a:tr>
              <a:tr h="229845">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SIT</a:t>
                      </a:r>
                      <a:r>
                        <a:rPr lang="zh-CN" altLang="en-US" sz="1400" b="0" u="none" strike="noStrike" kern="1200" dirty="0">
                          <a:solidFill>
                            <a:schemeClr val="dk1"/>
                          </a:solidFill>
                          <a:effectLst/>
                        </a:rPr>
                        <a:t>测试报告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marL="0" lvl="1" algn="ctr" defTabSz="1219170" rtl="0" eaLnBrk="1" fontAlgn="ctr" latinLnBrk="0" hangingPunct="1"/>
                      <a:r>
                        <a:rPr lang="en-US" sz="1400" b="0" u="none" strike="noStrike" kern="1200" dirty="0">
                          <a:solidFill>
                            <a:schemeClr val="dk1"/>
                          </a:solidFill>
                          <a:effectLst/>
                        </a:rPr>
                        <a:t>TPM(</a:t>
                      </a:r>
                      <a:r>
                        <a:rPr lang="zh-CN" altLang="en-US" sz="1400" b="0" u="none" strike="noStrike" kern="1200" dirty="0">
                          <a:solidFill>
                            <a:schemeClr val="dk1"/>
                          </a:solidFill>
                          <a:effectLst/>
                        </a:rPr>
                        <a:t>测试代表</a:t>
                      </a:r>
                      <a:r>
                        <a:rPr lang="en-US" altLang="zh-CN" sz="1400" b="0" u="none" strike="noStrike" kern="1200" dirty="0">
                          <a:solidFill>
                            <a:schemeClr val="dk1"/>
                          </a:solidFill>
                          <a:effectLst/>
                        </a:rPr>
                        <a:t>)</a:t>
                      </a:r>
                      <a:endParaRPr lang="en-US" altLang="zh-CN" sz="1400" b="0" u="none" strike="noStrike" kern="1200" dirty="0">
                        <a:solidFill>
                          <a:schemeClr val="dk1"/>
                        </a:solidFill>
                        <a:effectLst/>
                        <a:latin typeface="+mn-lt"/>
                        <a:ea typeface="+mn-ea"/>
                        <a:cs typeface="+mn-cs"/>
                      </a:endParaRPr>
                    </a:p>
                  </a:txBody>
                  <a:tcPr marL="0" marR="0" marT="0" marB="0" anchor="ctr"/>
                </a:tc>
                <a:tc rowSpan="5">
                  <a:txBody>
                    <a:bodyPr/>
                    <a:lstStyle/>
                    <a:p>
                      <a:pPr marL="0" lvl="1" algn="ctr" defTabSz="1219170" rtl="0" eaLnBrk="1" fontAlgn="ctr" latinLnBrk="0" hangingPunct="1"/>
                      <a:r>
                        <a:rPr lang="zh-CN" altLang="en-US" sz="1400" b="0" u="none" strike="noStrike" kern="1200" dirty="0">
                          <a:solidFill>
                            <a:schemeClr val="dk1"/>
                          </a:solidFill>
                          <a:effectLst/>
                        </a:rPr>
                        <a:t>签审发布</a:t>
                      </a:r>
                      <a:endParaRPr lang="en-US" altLang="zh-CN" sz="1400" b="0"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1709297373"/>
                  </a:ext>
                </a:extLst>
              </a:tr>
              <a:tr h="229845">
                <a:tc>
                  <a:txBody>
                    <a:bodyPr/>
                    <a:lstStyle/>
                    <a:p>
                      <a:pPr marL="0" marR="0" lvl="1" indent="0" algn="ctr" defTabSz="1219170" rtl="0" eaLnBrk="1" fontAlgn="ctr" latinLnBrk="0" hangingPunct="1">
                        <a:lnSpc>
                          <a:spcPct val="100000"/>
                        </a:lnSpc>
                        <a:spcBef>
                          <a:spcPts val="0"/>
                        </a:spcBef>
                        <a:spcAft>
                          <a:spcPts val="0"/>
                        </a:spcAft>
                        <a:buClrTx/>
                        <a:buSzTx/>
                        <a:buFontTx/>
                        <a:buNone/>
                        <a:tabLst/>
                        <a:defRPr/>
                      </a:pPr>
                      <a:r>
                        <a:rPr lang="en-US" altLang="zh-CN" sz="1400" b="0" u="none" strike="noStrike" kern="1200" dirty="0">
                          <a:solidFill>
                            <a:schemeClr val="dk1"/>
                          </a:solidFill>
                          <a:effectLst/>
                        </a:rPr>
                        <a:t>《</a:t>
                      </a:r>
                      <a:r>
                        <a:rPr lang="en-US" sz="1400" b="0" u="none" strike="noStrike" kern="1200" dirty="0">
                          <a:solidFill>
                            <a:schemeClr val="dk1"/>
                          </a:solidFill>
                          <a:effectLst/>
                        </a:rPr>
                        <a:t>SI</a:t>
                      </a:r>
                      <a:r>
                        <a:rPr lang="zh-CN" altLang="en-US" sz="1400" b="0" u="none" strike="noStrike" kern="1200" dirty="0">
                          <a:solidFill>
                            <a:schemeClr val="dk1"/>
                          </a:solidFill>
                          <a:effectLst/>
                        </a:rPr>
                        <a:t>测试报告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marL="0" lvl="1" algn="ctr" defTabSz="1219170" rtl="0" eaLnBrk="1" fontAlgn="ctr" latinLnBrk="0" hangingPunct="1"/>
                      <a:r>
                        <a:rPr lang="en-US" sz="1400" b="0" u="none" strike="noStrike" kern="1200" dirty="0">
                          <a:solidFill>
                            <a:schemeClr val="dk1"/>
                          </a:solidFill>
                          <a:effectLst/>
                        </a:rPr>
                        <a:t>SI</a:t>
                      </a:r>
                      <a:r>
                        <a:rPr lang="zh-CN" altLang="en-US" sz="1400" b="0" u="none" strike="noStrike" kern="1200" dirty="0">
                          <a:solidFill>
                            <a:schemeClr val="dk1"/>
                          </a:solidFill>
                          <a:effectLst/>
                        </a:rPr>
                        <a:t>测试工程师</a:t>
                      </a:r>
                      <a:endParaRPr lang="zh-CN" altLang="en-US" sz="1400" b="0" u="none" strike="noStrike" kern="1200" dirty="0">
                        <a:solidFill>
                          <a:schemeClr val="dk1"/>
                        </a:solidFill>
                        <a:effectLst/>
                        <a:latin typeface="+mn-lt"/>
                        <a:ea typeface="+mn-ea"/>
                        <a:cs typeface="+mn-cs"/>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563241887"/>
                  </a:ext>
                </a:extLst>
              </a:tr>
              <a:tr h="229845">
                <a:tc>
                  <a:txBody>
                    <a:bodyPr/>
                    <a:lstStyle/>
                    <a:p>
                      <a:pPr marL="0" marR="0" lvl="1" indent="0" algn="ctr" defTabSz="1219170" rtl="0" eaLnBrk="1" fontAlgn="ctr" latinLnBrk="0" hangingPunct="1">
                        <a:lnSpc>
                          <a:spcPct val="100000"/>
                        </a:lnSpc>
                        <a:spcBef>
                          <a:spcPts val="0"/>
                        </a:spcBef>
                        <a:spcAft>
                          <a:spcPts val="0"/>
                        </a:spcAft>
                        <a:buClrTx/>
                        <a:buSzTx/>
                        <a:buFontTx/>
                        <a:buNone/>
                        <a:tabLst/>
                        <a:defRPr/>
                      </a:pPr>
                      <a:r>
                        <a:rPr lang="en-US" altLang="zh-CN" sz="1400" b="0" u="none" strike="noStrike" kern="1200" dirty="0">
                          <a:solidFill>
                            <a:schemeClr val="dk1"/>
                          </a:solidFill>
                          <a:effectLst/>
                        </a:rPr>
                        <a:t>《</a:t>
                      </a:r>
                      <a:r>
                        <a:rPr lang="zh-CN" altLang="en-US" sz="1400" b="0" u="none" strike="noStrike" kern="1200" dirty="0">
                          <a:solidFill>
                            <a:schemeClr val="dk1"/>
                          </a:solidFill>
                          <a:effectLst/>
                        </a:rPr>
                        <a:t>散热测试报告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marL="0" lvl="1" algn="ctr" defTabSz="1219170" rtl="0" eaLnBrk="1" fontAlgn="ctr" latinLnBrk="0" hangingPunct="1"/>
                      <a:r>
                        <a:rPr lang="zh-CN" altLang="en-US" sz="1400" b="0" u="none" strike="noStrike" kern="1200" dirty="0">
                          <a:solidFill>
                            <a:schemeClr val="dk1"/>
                          </a:solidFill>
                          <a:effectLst/>
                        </a:rPr>
                        <a:t>散热测试工程师</a:t>
                      </a:r>
                      <a:endParaRPr lang="zh-CN" altLang="en-US" sz="1400" b="0" u="none" strike="noStrike" kern="1200" dirty="0">
                        <a:solidFill>
                          <a:schemeClr val="dk1"/>
                        </a:solidFill>
                        <a:effectLst/>
                        <a:latin typeface="+mn-lt"/>
                        <a:ea typeface="+mn-ea"/>
                        <a:cs typeface="+mn-cs"/>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3872129424"/>
                  </a:ext>
                </a:extLst>
              </a:tr>
              <a:tr h="229845">
                <a:tc>
                  <a:txBody>
                    <a:bodyPr/>
                    <a:lstStyle/>
                    <a:p>
                      <a:pPr marL="0" lvl="1" algn="ctr" defTabSz="1219170" rtl="0" eaLnBrk="1" fontAlgn="ctr" latinLnBrk="0" hangingPunct="1"/>
                      <a:r>
                        <a:rPr lang="en-US" altLang="zh-CN" sz="1400" b="0" u="none" strike="noStrike" kern="1200" dirty="0">
                          <a:solidFill>
                            <a:schemeClr val="dk1"/>
                          </a:solidFill>
                          <a:effectLst/>
                        </a:rPr>
                        <a:t>《</a:t>
                      </a:r>
                      <a:r>
                        <a:rPr lang="zh-CN" altLang="en-US" sz="1400" b="0" u="none" strike="noStrike" kern="1200" dirty="0">
                          <a:solidFill>
                            <a:schemeClr val="dk1"/>
                          </a:solidFill>
                          <a:effectLst/>
                        </a:rPr>
                        <a:t>可靠性测试报告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marL="0" lvl="1" algn="ctr" defTabSz="1219170" rtl="0" eaLnBrk="1" fontAlgn="ctr" latinLnBrk="0" hangingPunct="1"/>
                      <a:r>
                        <a:rPr lang="zh-CN" altLang="en-US" sz="1400" b="0" u="none" strike="noStrike" kern="1200" dirty="0">
                          <a:solidFill>
                            <a:schemeClr val="dk1"/>
                          </a:solidFill>
                          <a:effectLst/>
                        </a:rPr>
                        <a:t>可靠性测试工程师</a:t>
                      </a:r>
                      <a:endParaRPr lang="zh-CN" altLang="en-US" sz="1400" b="0" u="none" strike="noStrike" kern="1200" dirty="0">
                        <a:solidFill>
                          <a:schemeClr val="dk1"/>
                        </a:solidFill>
                        <a:effectLst/>
                        <a:latin typeface="+mn-lt"/>
                        <a:ea typeface="+mn-ea"/>
                        <a:cs typeface="+mn-cs"/>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081813564"/>
                  </a:ext>
                </a:extLst>
              </a:tr>
              <a:tr h="229845">
                <a:tc>
                  <a:txBody>
                    <a:bodyPr/>
                    <a:lstStyle/>
                    <a:p>
                      <a:pPr marL="0" lvl="1" algn="ctr" defTabSz="1219170" rtl="0" eaLnBrk="1" fontAlgn="ctr" latinLnBrk="0" hangingPunct="1"/>
                      <a:r>
                        <a:rPr lang="en-US" altLang="zh-CN" sz="1400" b="0" u="none" strike="noStrike" kern="1200" dirty="0">
                          <a:solidFill>
                            <a:schemeClr val="dk1"/>
                          </a:solidFill>
                          <a:effectLst/>
                        </a:rPr>
                        <a:t>《</a:t>
                      </a:r>
                      <a:r>
                        <a:rPr lang="en-US" sz="1400" b="0" u="none" strike="noStrike" kern="1200" dirty="0">
                          <a:solidFill>
                            <a:schemeClr val="dk1"/>
                          </a:solidFill>
                          <a:effectLst/>
                        </a:rPr>
                        <a:t>PA</a:t>
                      </a:r>
                      <a:r>
                        <a:rPr lang="zh-CN" altLang="en-US" sz="1400" b="0" u="none" strike="noStrike" kern="1200" dirty="0">
                          <a:solidFill>
                            <a:schemeClr val="dk1"/>
                          </a:solidFill>
                          <a:effectLst/>
                        </a:rPr>
                        <a:t>测试报告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marL="0" lvl="1" algn="ctr" defTabSz="1219170" rtl="0" eaLnBrk="1" fontAlgn="ctr" latinLnBrk="0" hangingPunct="1"/>
                      <a:r>
                        <a:rPr lang="zh-CN" altLang="en-US" sz="1400" b="0" u="none" strike="noStrike" kern="1200" dirty="0">
                          <a:solidFill>
                            <a:schemeClr val="dk1"/>
                          </a:solidFill>
                          <a:effectLst/>
                        </a:rPr>
                        <a:t>可靠性测试工程师</a:t>
                      </a:r>
                      <a:endParaRPr lang="zh-CN" altLang="en-US" sz="1400" b="0" u="none" strike="noStrike" kern="1200" dirty="0">
                        <a:solidFill>
                          <a:schemeClr val="dk1"/>
                        </a:solidFill>
                        <a:effectLst/>
                        <a:latin typeface="+mn-lt"/>
                        <a:ea typeface="+mn-ea"/>
                        <a:cs typeface="+mn-cs"/>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1414754053"/>
                  </a:ext>
                </a:extLst>
              </a:tr>
            </a:tbl>
          </a:graphicData>
        </a:graphic>
      </p:graphicFrame>
      <p:sp>
        <p:nvSpPr>
          <p:cNvPr id="5" name="文本框 4">
            <a:extLst>
              <a:ext uri="{FF2B5EF4-FFF2-40B4-BE49-F238E27FC236}">
                <a16:creationId xmlns:a16="http://schemas.microsoft.com/office/drawing/2014/main" id="{C92B7563-B3FF-80D6-7D16-B96426945B8C}"/>
              </a:ext>
            </a:extLst>
          </p:cNvPr>
          <p:cNvSpPr txBox="1"/>
          <p:nvPr/>
        </p:nvSpPr>
        <p:spPr>
          <a:xfrm>
            <a:off x="239348" y="5229728"/>
            <a:ext cx="3498149" cy="402546"/>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b="1" dirty="0">
                <a:solidFill>
                  <a:schemeClr val="tx1">
                    <a:lumMod val="75000"/>
                    <a:lumOff val="25000"/>
                  </a:schemeClr>
                </a:solidFill>
                <a:latin typeface="+mn-ea"/>
              </a:rPr>
              <a:t>项目计划书已更新（可选）</a:t>
            </a:r>
          </a:p>
        </p:txBody>
      </p:sp>
      <p:sp>
        <p:nvSpPr>
          <p:cNvPr id="10" name="文本框 9">
            <a:extLst>
              <a:ext uri="{FF2B5EF4-FFF2-40B4-BE49-F238E27FC236}">
                <a16:creationId xmlns:a16="http://schemas.microsoft.com/office/drawing/2014/main" id="{522C4754-14D2-59CD-CB41-0E67F7E577C0}"/>
              </a:ext>
            </a:extLst>
          </p:cNvPr>
          <p:cNvSpPr txBox="1"/>
          <p:nvPr/>
        </p:nvSpPr>
        <p:spPr>
          <a:xfrm>
            <a:off x="239348" y="5534980"/>
            <a:ext cx="3498149" cy="402546"/>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b="1" dirty="0">
                <a:solidFill>
                  <a:schemeClr val="tx1">
                    <a:lumMod val="75000"/>
                    <a:lumOff val="25000"/>
                  </a:schemeClr>
                </a:solidFill>
                <a:latin typeface="+mn-ea"/>
              </a:rPr>
              <a:t>MR2 DVT</a:t>
            </a:r>
            <a:r>
              <a:rPr lang="zh-CN" altLang="en-US" b="1" dirty="0">
                <a:solidFill>
                  <a:schemeClr val="tx1">
                    <a:lumMod val="75000"/>
                    <a:lumOff val="25000"/>
                  </a:schemeClr>
                </a:solidFill>
                <a:latin typeface="+mn-ea"/>
              </a:rPr>
              <a:t>准入评审通过</a:t>
            </a:r>
          </a:p>
        </p:txBody>
      </p:sp>
      <p:graphicFrame>
        <p:nvGraphicFramePr>
          <p:cNvPr id="11" name="表格 10">
            <a:extLst>
              <a:ext uri="{FF2B5EF4-FFF2-40B4-BE49-F238E27FC236}">
                <a16:creationId xmlns:a16="http://schemas.microsoft.com/office/drawing/2014/main" id="{F7D5CE25-C988-AA4B-DB99-2BBCBFEA5622}"/>
              </a:ext>
            </a:extLst>
          </p:cNvPr>
          <p:cNvGraphicFramePr>
            <a:graphicFrameLocks noGrp="1"/>
          </p:cNvGraphicFramePr>
          <p:nvPr/>
        </p:nvGraphicFramePr>
        <p:xfrm>
          <a:off x="1074343" y="5937526"/>
          <a:ext cx="9720903" cy="532722"/>
        </p:xfrm>
        <a:graphic>
          <a:graphicData uri="http://schemas.openxmlformats.org/drawingml/2006/table">
            <a:tbl>
              <a:tblPr firstRow="1" bandRow="1">
                <a:tableStyleId>{00A15C55-8517-42AA-B614-E9B94910E393}</a:tableStyleId>
              </a:tblPr>
              <a:tblGrid>
                <a:gridCol w="3293471">
                  <a:extLst>
                    <a:ext uri="{9D8B030D-6E8A-4147-A177-3AD203B41FA5}">
                      <a16:colId xmlns:a16="http://schemas.microsoft.com/office/drawing/2014/main" val="1803916354"/>
                    </a:ext>
                  </a:extLst>
                </a:gridCol>
                <a:gridCol w="3187131">
                  <a:extLst>
                    <a:ext uri="{9D8B030D-6E8A-4147-A177-3AD203B41FA5}">
                      <a16:colId xmlns:a16="http://schemas.microsoft.com/office/drawing/2014/main" val="214479662"/>
                    </a:ext>
                  </a:extLst>
                </a:gridCol>
                <a:gridCol w="3240301">
                  <a:extLst>
                    <a:ext uri="{9D8B030D-6E8A-4147-A177-3AD203B41FA5}">
                      <a16:colId xmlns:a16="http://schemas.microsoft.com/office/drawing/2014/main" val="2988282684"/>
                    </a:ext>
                  </a:extLst>
                </a:gridCol>
              </a:tblGrid>
              <a:tr h="236536">
                <a:tc>
                  <a:txBody>
                    <a:bodyPr/>
                    <a:lstStyle/>
                    <a:p>
                      <a:pPr lvl="0" algn="ctr" fontAlgn="b"/>
                      <a:r>
                        <a:rPr lang="zh-CN" altLang="en-US" sz="1600" b="1" u="none" strike="noStrike" dirty="0">
                          <a:solidFill>
                            <a:schemeClr val="bg1"/>
                          </a:solidFill>
                          <a:effectLst/>
                        </a:rPr>
                        <a:t>工作产品名称</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责任人</a:t>
                      </a:r>
                      <a:endParaRPr lang="zh-CN" altLang="en-US" sz="1600" b="1" i="0" u="none" strike="noStrike" dirty="0">
                        <a:solidFill>
                          <a:schemeClr val="bg1"/>
                        </a:solidFill>
                        <a:effectLst/>
                        <a:latin typeface="+mn-ea"/>
                        <a:ea typeface="+mn-ea"/>
                      </a:endParaRPr>
                    </a:p>
                  </a:txBody>
                  <a:tcPr marL="0" marR="0" marT="0" marB="0" anchor="ctr"/>
                </a:tc>
                <a:tc>
                  <a:txBody>
                    <a:bodyPr/>
                    <a:lstStyle/>
                    <a:p>
                      <a:pPr algn="ctr" fontAlgn="b"/>
                      <a:r>
                        <a:rPr lang="zh-CN" altLang="en-US" sz="1600" b="1" u="none" strike="noStrike" dirty="0">
                          <a:solidFill>
                            <a:schemeClr val="bg1"/>
                          </a:solidFill>
                          <a:effectLst/>
                        </a:rPr>
                        <a:t>评审模式</a:t>
                      </a:r>
                      <a:endParaRPr lang="zh-CN" altLang="en-US" sz="1600" b="1" i="0" u="none" strike="noStrike" dirty="0">
                        <a:solidFill>
                          <a:schemeClr val="bg1"/>
                        </a:solidFill>
                        <a:effectLst/>
                        <a:latin typeface="+mn-ea"/>
                        <a:ea typeface="+mn-ea"/>
                      </a:endParaRPr>
                    </a:p>
                  </a:txBody>
                  <a:tcPr marL="0" marR="0" marT="0" marB="0" anchor="ctr"/>
                </a:tc>
                <a:extLst>
                  <a:ext uri="{0D108BD9-81ED-4DB2-BD59-A6C34878D82A}">
                    <a16:rowId xmlns:a16="http://schemas.microsoft.com/office/drawing/2014/main" val="1865594223"/>
                  </a:ext>
                </a:extLst>
              </a:tr>
              <a:tr h="288882">
                <a:tc>
                  <a:txBody>
                    <a:bodyPr/>
                    <a:lstStyle/>
                    <a:p>
                      <a:pPr marL="0" marR="0" lvl="1" indent="0" algn="ctr" defTabSz="1219170" rtl="0" eaLnBrk="1" fontAlgn="ctr" latinLnBrk="0" hangingPunct="1">
                        <a:lnSpc>
                          <a:spcPct val="100000"/>
                        </a:lnSpc>
                        <a:spcBef>
                          <a:spcPts val="0"/>
                        </a:spcBef>
                        <a:spcAft>
                          <a:spcPts val="0"/>
                        </a:spcAft>
                        <a:buClrTx/>
                        <a:buSzTx/>
                        <a:buFontTx/>
                        <a:buNone/>
                        <a:tabLst/>
                        <a:defRPr/>
                      </a:pPr>
                      <a:r>
                        <a:rPr lang="en-US" altLang="zh-CN" sz="1400" b="0" u="none" strike="noStrike" kern="1200" dirty="0">
                          <a:solidFill>
                            <a:schemeClr val="dk1"/>
                          </a:solidFill>
                          <a:effectLst/>
                        </a:rPr>
                        <a:t>《</a:t>
                      </a:r>
                      <a:r>
                        <a:rPr lang="zh-CN" altLang="en-US" sz="1400" b="0" u="none" strike="noStrike" kern="1200" dirty="0">
                          <a:solidFill>
                            <a:schemeClr val="dk1"/>
                          </a:solidFill>
                          <a:effectLst/>
                        </a:rPr>
                        <a:t>项目阶段管理评审报告</a:t>
                      </a:r>
                      <a:r>
                        <a:rPr lang="en-US" altLang="zh-CN" sz="1400" b="0" u="none" strike="noStrike" kern="1200" dirty="0">
                          <a:solidFill>
                            <a:schemeClr val="dk1"/>
                          </a:solidFill>
                          <a:effectLst/>
                        </a:rPr>
                        <a:t>》</a:t>
                      </a:r>
                      <a:endParaRPr lang="zh-CN" altLang="en-US" sz="1400" b="0" u="none" strike="noStrike" kern="1200" dirty="0">
                        <a:solidFill>
                          <a:schemeClr val="dk1"/>
                        </a:solidFill>
                        <a:effectLst/>
                        <a:latin typeface="+mn-lt"/>
                        <a:ea typeface="+mn-ea"/>
                        <a:cs typeface="+mn-cs"/>
                      </a:endParaRPr>
                    </a:p>
                  </a:txBody>
                  <a:tcPr marL="0" marR="0" marT="0" marB="0" anchor="ctr"/>
                </a:tc>
                <a:tc>
                  <a:txBody>
                    <a:bodyPr/>
                    <a:lstStyle/>
                    <a:p>
                      <a:pPr marL="0" marR="0" lvl="1" indent="0" algn="ctr" defTabSz="1219170" rtl="0" eaLnBrk="1" fontAlgn="ctr" latinLnBrk="0" hangingPunct="1">
                        <a:lnSpc>
                          <a:spcPct val="100000"/>
                        </a:lnSpc>
                        <a:spcBef>
                          <a:spcPts val="0"/>
                        </a:spcBef>
                        <a:spcAft>
                          <a:spcPts val="0"/>
                        </a:spcAft>
                        <a:buClrTx/>
                        <a:buSzTx/>
                        <a:buFontTx/>
                        <a:buNone/>
                        <a:tabLst/>
                        <a:defRPr/>
                      </a:pPr>
                      <a:r>
                        <a:rPr lang="zh-CN" altLang="en-US" sz="1400" b="0" u="none" strike="noStrike" kern="1200" dirty="0">
                          <a:solidFill>
                            <a:schemeClr val="dk1"/>
                          </a:solidFill>
                          <a:effectLst/>
                        </a:rPr>
                        <a:t>项目经理</a:t>
                      </a:r>
                      <a:endParaRPr lang="en-US" altLang="zh-CN" sz="1400" b="0" u="none" strike="noStrike" kern="1200" dirty="0">
                        <a:solidFill>
                          <a:schemeClr val="dk1"/>
                        </a:solidFill>
                        <a:effectLst/>
                        <a:latin typeface="+mn-lt"/>
                        <a:ea typeface="+mn-ea"/>
                        <a:cs typeface="+mn-cs"/>
                      </a:endParaRPr>
                    </a:p>
                  </a:txBody>
                  <a:tcPr marL="0" marR="0" marT="0" marB="0" anchor="ctr"/>
                </a:tc>
                <a:tc>
                  <a:txBody>
                    <a:bodyPr/>
                    <a:lstStyle/>
                    <a:p>
                      <a:pPr marL="0" marR="0" lvl="1" indent="0" algn="ctr" defTabSz="1219170" rtl="0" eaLnBrk="1" fontAlgn="ctr" latinLnBrk="0" hangingPunct="1">
                        <a:lnSpc>
                          <a:spcPct val="100000"/>
                        </a:lnSpc>
                        <a:spcBef>
                          <a:spcPts val="0"/>
                        </a:spcBef>
                        <a:spcAft>
                          <a:spcPts val="0"/>
                        </a:spcAft>
                        <a:buClrTx/>
                        <a:buSzTx/>
                        <a:buFontTx/>
                        <a:buNone/>
                        <a:tabLst/>
                        <a:defRPr/>
                      </a:pPr>
                      <a:r>
                        <a:rPr lang="zh-CN" altLang="en-US" sz="1400" b="0" u="none" strike="noStrike" kern="1200" dirty="0">
                          <a:solidFill>
                            <a:schemeClr val="dk1"/>
                          </a:solidFill>
                          <a:effectLst/>
                        </a:rPr>
                        <a:t>组织正式会议</a:t>
                      </a:r>
                      <a:r>
                        <a:rPr lang="en-US" altLang="zh-CN" sz="1400" b="0" u="none" strike="noStrike" kern="1200" dirty="0">
                          <a:solidFill>
                            <a:schemeClr val="dk1"/>
                          </a:solidFill>
                          <a:effectLst/>
                        </a:rPr>
                        <a:t>/</a:t>
                      </a:r>
                      <a:r>
                        <a:rPr lang="zh-CN" altLang="en-US" sz="1400" b="0" u="none" strike="noStrike" kern="1200" dirty="0">
                          <a:solidFill>
                            <a:schemeClr val="dk1"/>
                          </a:solidFill>
                          <a:effectLst/>
                        </a:rPr>
                        <a:t>手工发布</a:t>
                      </a:r>
                      <a:endParaRPr lang="zh-CN" altLang="en-US" sz="1400" b="0" u="none" strike="noStrike" kern="1200" dirty="0">
                        <a:solidFill>
                          <a:schemeClr val="dk1"/>
                        </a:solidFill>
                        <a:effectLst/>
                        <a:latin typeface="+mn-lt"/>
                        <a:ea typeface="+mn-ea"/>
                        <a:cs typeface="+mn-cs"/>
                      </a:endParaRPr>
                    </a:p>
                  </a:txBody>
                  <a:tcPr marL="0" marR="0" marT="0" marB="0" anchor="ctr"/>
                </a:tc>
                <a:extLst>
                  <a:ext uri="{0D108BD9-81ED-4DB2-BD59-A6C34878D82A}">
                    <a16:rowId xmlns:a16="http://schemas.microsoft.com/office/drawing/2014/main" val="2190801497"/>
                  </a:ext>
                </a:extLst>
              </a:tr>
            </a:tbl>
          </a:graphicData>
        </a:graphic>
      </p:graphicFrame>
    </p:spTree>
    <p:extLst>
      <p:ext uri="{BB962C8B-B14F-4D97-AF65-F5344CB8AC3E}">
        <p14:creationId xmlns:p14="http://schemas.microsoft.com/office/powerpoint/2010/main" val="2659156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机构安装评审</a:t>
            </a:r>
          </a:p>
        </p:txBody>
      </p:sp>
      <p:sp>
        <p:nvSpPr>
          <p:cNvPr id="3" name="文本框 2"/>
          <p:cNvSpPr txBox="1"/>
          <p:nvPr/>
        </p:nvSpPr>
        <p:spPr>
          <a:xfrm>
            <a:off x="527381" y="836713"/>
            <a:ext cx="10945216" cy="3827010"/>
          </a:xfrm>
          <a:prstGeom prst="rect">
            <a:avLst/>
          </a:prstGeom>
          <a:noFill/>
        </p:spPr>
        <p:txBody>
          <a:bodyPr wrap="square" rtlCol="0">
            <a:spAutoFit/>
          </a:bodyPr>
          <a:lstStyle/>
          <a:p>
            <a:pPr marL="380990" indent="-380990">
              <a:lnSpc>
                <a:spcPct val="150000"/>
              </a:lnSpc>
              <a:buFont typeface="Wingdings" panose="05000000000000000000" pitchFamily="2" charset="2"/>
              <a:buChar char="l"/>
            </a:pPr>
            <a:r>
              <a:rPr lang="zh-CN" altLang="en-US" sz="1867" b="1" dirty="0">
                <a:solidFill>
                  <a:schemeClr val="tx1">
                    <a:lumMod val="75000"/>
                    <a:lumOff val="25000"/>
                  </a:schemeClr>
                </a:solidFill>
                <a:cs typeface="+mn-ea"/>
                <a:sym typeface="+mn-lt"/>
              </a:rPr>
              <a:t>召集责任人：项目经理</a:t>
            </a:r>
            <a:endParaRPr lang="en-US" altLang="zh-CN" sz="1867" b="1" dirty="0">
              <a:solidFill>
                <a:schemeClr val="tx1">
                  <a:lumMod val="75000"/>
                  <a:lumOff val="25000"/>
                </a:schemeClr>
              </a:solidFill>
              <a:cs typeface="+mn-ea"/>
              <a:sym typeface="+mn-lt"/>
            </a:endParaRPr>
          </a:p>
          <a:p>
            <a:pPr marL="380990" indent="-380990">
              <a:lnSpc>
                <a:spcPct val="150000"/>
              </a:lnSpc>
              <a:buFont typeface="Wingdings" panose="05000000000000000000" pitchFamily="2" charset="2"/>
              <a:buChar char="l"/>
            </a:pPr>
            <a:r>
              <a:rPr lang="zh-CN" altLang="en-US" sz="1867" b="1" dirty="0">
                <a:solidFill>
                  <a:schemeClr val="tx1">
                    <a:lumMod val="75000"/>
                    <a:lumOff val="25000"/>
                  </a:schemeClr>
                </a:solidFill>
                <a:cs typeface="+mn-ea"/>
                <a:sym typeface="+mn-lt"/>
              </a:rPr>
              <a:t>参与干系人：制造部、解决方案、技术支持（售前，售后）、品质管理、核心项目成员等工程师；</a:t>
            </a:r>
            <a:endParaRPr lang="en-US" altLang="zh-CN" sz="1867" b="1"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zh-CN" altLang="en-US" sz="1600" dirty="0">
                <a:solidFill>
                  <a:schemeClr val="tx1">
                    <a:lumMod val="75000"/>
                    <a:lumOff val="25000"/>
                  </a:schemeClr>
                </a:solidFill>
                <a:cs typeface="+mn-ea"/>
                <a:sym typeface="+mn-lt"/>
              </a:rPr>
              <a:t>项目经理：确认机构安装物料状况，时间，地点；邮件通知各部门主管安排人员参加；</a:t>
            </a:r>
            <a:endParaRPr lang="en-US" altLang="zh-CN" sz="1600"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en-US" altLang="zh-CN" sz="1600" dirty="0">
                <a:solidFill>
                  <a:schemeClr val="tx1">
                    <a:lumMod val="75000"/>
                    <a:lumOff val="25000"/>
                  </a:schemeClr>
                </a:solidFill>
                <a:cs typeface="+mn-ea"/>
                <a:sym typeface="+mn-lt"/>
              </a:rPr>
              <a:t>SIT/</a:t>
            </a:r>
            <a:r>
              <a:rPr lang="zh-CN" altLang="en-US" sz="1600" dirty="0">
                <a:solidFill>
                  <a:schemeClr val="tx1">
                    <a:lumMod val="75000"/>
                    <a:lumOff val="25000"/>
                  </a:schemeClr>
                </a:solidFill>
                <a:cs typeface="+mn-ea"/>
                <a:sym typeface="+mn-lt"/>
              </a:rPr>
              <a:t>散热</a:t>
            </a:r>
            <a:r>
              <a:rPr lang="en-US" altLang="zh-CN" sz="1600" dirty="0">
                <a:solidFill>
                  <a:schemeClr val="tx1">
                    <a:lumMod val="75000"/>
                    <a:lumOff val="25000"/>
                  </a:schemeClr>
                </a:solidFill>
                <a:cs typeface="+mn-ea"/>
                <a:sym typeface="+mn-lt"/>
              </a:rPr>
              <a:t>/</a:t>
            </a:r>
            <a:r>
              <a:rPr lang="zh-CN" altLang="en-US" sz="1600" dirty="0">
                <a:solidFill>
                  <a:schemeClr val="tx1">
                    <a:lumMod val="75000"/>
                    <a:lumOff val="25000"/>
                  </a:schemeClr>
                </a:solidFill>
                <a:cs typeface="+mn-ea"/>
                <a:sym typeface="+mn-lt"/>
              </a:rPr>
              <a:t>可靠性工程师：根据实际安排借用组装物料，准备组装环境；</a:t>
            </a:r>
            <a:endParaRPr lang="en-US" altLang="zh-CN" sz="1600"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zh-CN" altLang="en-US" sz="1600" dirty="0">
                <a:solidFill>
                  <a:schemeClr val="tx1">
                    <a:lumMod val="75000"/>
                    <a:lumOff val="25000"/>
                  </a:schemeClr>
                </a:solidFill>
                <a:cs typeface="+mn-ea"/>
                <a:sym typeface="+mn-lt"/>
              </a:rPr>
              <a:t>制造工程师：进行整机组装，发现并记录组装问题；</a:t>
            </a:r>
            <a:endParaRPr lang="en-US" altLang="zh-CN" sz="1600"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zh-CN" altLang="en-US" sz="1600" dirty="0">
                <a:solidFill>
                  <a:schemeClr val="tx1">
                    <a:lumMod val="75000"/>
                    <a:lumOff val="25000"/>
                  </a:schemeClr>
                </a:solidFill>
                <a:cs typeface="+mn-ea"/>
                <a:sym typeface="+mn-lt"/>
              </a:rPr>
              <a:t>组装参与人员：记录组装过程中发现的问题；</a:t>
            </a:r>
            <a:endParaRPr lang="en-US" altLang="zh-CN" sz="1600"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zh-CN" altLang="en-US" sz="1600" dirty="0">
                <a:solidFill>
                  <a:schemeClr val="tx1">
                    <a:lumMod val="75000"/>
                    <a:lumOff val="25000"/>
                  </a:schemeClr>
                </a:solidFill>
                <a:cs typeface="+mn-ea"/>
                <a:sym typeface="+mn-lt"/>
              </a:rPr>
              <a:t>项目经理：搜集问题清单，组织各部门人员进行问题初步评审；</a:t>
            </a:r>
            <a:endParaRPr lang="en-US" altLang="zh-CN" sz="1600"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zh-CN" altLang="en-US" sz="1600" dirty="0">
                <a:solidFill>
                  <a:schemeClr val="tx1">
                    <a:lumMod val="75000"/>
                    <a:lumOff val="25000"/>
                  </a:schemeClr>
                </a:solidFill>
                <a:cs typeface="+mn-ea"/>
                <a:sym typeface="+mn-lt"/>
              </a:rPr>
              <a:t>制造工程师：将评审确认后问题上传到</a:t>
            </a:r>
            <a:r>
              <a:rPr lang="en-US" altLang="zh-CN" sz="1600" dirty="0">
                <a:solidFill>
                  <a:schemeClr val="tx1">
                    <a:lumMod val="75000"/>
                    <a:lumOff val="25000"/>
                  </a:schemeClr>
                </a:solidFill>
                <a:cs typeface="+mn-ea"/>
                <a:sym typeface="+mn-lt"/>
              </a:rPr>
              <a:t>Mantis</a:t>
            </a:r>
            <a:r>
              <a:rPr lang="zh-CN" altLang="en-US" sz="1600" dirty="0">
                <a:solidFill>
                  <a:schemeClr val="tx1">
                    <a:lumMod val="75000"/>
                    <a:lumOff val="25000"/>
                  </a:schemeClr>
                </a:solidFill>
                <a:cs typeface="+mn-ea"/>
                <a:sym typeface="+mn-lt"/>
              </a:rPr>
              <a:t>系统；</a:t>
            </a:r>
            <a:endParaRPr lang="en-US" altLang="zh-CN" sz="1600" dirty="0">
              <a:solidFill>
                <a:schemeClr val="tx1">
                  <a:lumMod val="75000"/>
                  <a:lumOff val="25000"/>
                </a:schemeClr>
              </a:solidFill>
              <a:cs typeface="+mn-ea"/>
              <a:sym typeface="+mn-lt"/>
            </a:endParaRPr>
          </a:p>
          <a:p>
            <a:pPr marL="844179" indent="-457189">
              <a:lnSpc>
                <a:spcPct val="150000"/>
              </a:lnSpc>
              <a:buFont typeface="Arial" panose="020B0604020202020204" pitchFamily="34" charset="0"/>
              <a:buChar char="•"/>
            </a:pPr>
            <a:r>
              <a:rPr lang="en-US" altLang="zh-CN" sz="1600" dirty="0">
                <a:solidFill>
                  <a:schemeClr val="tx1">
                    <a:lumMod val="75000"/>
                    <a:lumOff val="25000"/>
                  </a:schemeClr>
                </a:solidFill>
                <a:cs typeface="+mn-ea"/>
                <a:sym typeface="+mn-lt"/>
              </a:rPr>
              <a:t>TPM</a:t>
            </a:r>
            <a:r>
              <a:rPr lang="zh-CN" altLang="en-US" sz="1600" dirty="0">
                <a:solidFill>
                  <a:schemeClr val="tx1">
                    <a:lumMod val="75000"/>
                    <a:lumOff val="25000"/>
                  </a:schemeClr>
                </a:solidFill>
                <a:cs typeface="+mn-ea"/>
                <a:sym typeface="+mn-lt"/>
              </a:rPr>
              <a:t>： 安排问题讨论、指派问题责任人，对</a:t>
            </a:r>
            <a:r>
              <a:rPr lang="en-US" altLang="zh-CN" sz="1600" dirty="0">
                <a:solidFill>
                  <a:schemeClr val="tx1">
                    <a:lumMod val="75000"/>
                    <a:lumOff val="25000"/>
                  </a:schemeClr>
                </a:solidFill>
                <a:cs typeface="+mn-ea"/>
                <a:sym typeface="+mn-lt"/>
              </a:rPr>
              <a:t>Bug</a:t>
            </a:r>
            <a:r>
              <a:rPr lang="zh-CN" altLang="en-US" sz="1600" dirty="0">
                <a:solidFill>
                  <a:schemeClr val="tx1">
                    <a:lumMod val="75000"/>
                    <a:lumOff val="25000"/>
                  </a:schemeClr>
                </a:solidFill>
                <a:cs typeface="+mn-ea"/>
                <a:sym typeface="+mn-lt"/>
              </a:rPr>
              <a:t>进行追踪；</a:t>
            </a:r>
          </a:p>
          <a:p>
            <a:endParaRPr lang="zh-CN" altLang="en-US" sz="1867" dirty="0">
              <a:solidFill>
                <a:schemeClr val="tx1">
                  <a:lumMod val="75000"/>
                  <a:lumOff val="25000"/>
                </a:schemeClr>
              </a:solidFill>
              <a:cs typeface="+mn-ea"/>
              <a:sym typeface="+mn-lt"/>
            </a:endParaRPr>
          </a:p>
        </p:txBody>
      </p:sp>
      <p:graphicFrame>
        <p:nvGraphicFramePr>
          <p:cNvPr id="7" name="对象 6"/>
          <p:cNvGraphicFramePr>
            <a:graphicFrameLocks noChangeAspect="1"/>
          </p:cNvGraphicFramePr>
          <p:nvPr/>
        </p:nvGraphicFramePr>
        <p:xfrm>
          <a:off x="9840416" y="5157193"/>
          <a:ext cx="1440160" cy="1305145"/>
        </p:xfrm>
        <a:graphic>
          <a:graphicData uri="http://schemas.openxmlformats.org/presentationml/2006/ole">
            <mc:AlternateContent xmlns:mc="http://schemas.openxmlformats.org/markup-compatibility/2006">
              <mc:Choice xmlns:v="urn:schemas-microsoft-com:vml" Requires="v">
                <p:oleObj spid="_x0000_s10424" name="工作表" showAsIcon="1" r:id="rId3" imgW="914400" imgH="828720" progId="Excel.Sheet.12">
                  <p:embed/>
                </p:oleObj>
              </mc:Choice>
              <mc:Fallback>
                <p:oleObj name="工作表" showAsIcon="1" r:id="rId3" imgW="914400" imgH="828720" progId="Excel.Sheet.12">
                  <p:embed/>
                  <p:pic>
                    <p:nvPicPr>
                      <p:cNvPr id="7" name="对象 6"/>
                      <p:cNvPicPr/>
                      <p:nvPr/>
                    </p:nvPicPr>
                    <p:blipFill>
                      <a:blip r:embed="rId4"/>
                      <a:stretch>
                        <a:fillRect/>
                      </a:stretch>
                    </p:blipFill>
                    <p:spPr>
                      <a:xfrm>
                        <a:off x="9840416" y="5157193"/>
                        <a:ext cx="1440160" cy="1305145"/>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BD9ED218-1F0C-423A-B101-A0E4D7EB04BF}"/>
              </a:ext>
            </a:extLst>
          </p:cNvPr>
          <p:cNvSpPr txBox="1"/>
          <p:nvPr/>
        </p:nvSpPr>
        <p:spPr>
          <a:xfrm>
            <a:off x="239349" y="4735696"/>
            <a:ext cx="8448939" cy="477503"/>
          </a:xfrm>
          <a:prstGeom prst="rect">
            <a:avLst/>
          </a:prstGeom>
          <a:noFill/>
        </p:spPr>
        <p:txBody>
          <a:bodyPr wrap="square">
            <a:spAutoFit/>
          </a:bodyPr>
          <a:lstStyle/>
          <a:p>
            <a:pPr marL="386990">
              <a:lnSpc>
                <a:spcPct val="150000"/>
              </a:lnSpc>
            </a:pPr>
            <a:r>
              <a:rPr lang="zh-CN" altLang="en-US" sz="1867" b="1" dirty="0">
                <a:solidFill>
                  <a:schemeClr val="tx1">
                    <a:lumMod val="75000"/>
                    <a:lumOff val="25000"/>
                  </a:schemeClr>
                </a:solidFill>
                <a:cs typeface="+mn-ea"/>
                <a:sym typeface="+mn-lt"/>
              </a:rPr>
              <a:t>注意：项目经理提前一周邮件通知组装时间，地点，参与人员；</a:t>
            </a:r>
          </a:p>
        </p:txBody>
      </p:sp>
      <p:sp>
        <p:nvSpPr>
          <p:cNvPr id="4" name="矩形 3"/>
          <p:cNvSpPr/>
          <p:nvPr/>
        </p:nvSpPr>
        <p:spPr>
          <a:xfrm>
            <a:off x="624418" y="6374877"/>
            <a:ext cx="4623382" cy="458459"/>
          </a:xfrm>
          <a:prstGeom prst="rect">
            <a:avLst/>
          </a:prstGeom>
        </p:spPr>
        <p:txBody>
          <a:bodyPr wrap="none">
            <a:spAutoFit/>
          </a:bodyPr>
          <a:lstStyle/>
          <a:p>
            <a:pPr>
              <a:lnSpc>
                <a:spcPct val="120000"/>
              </a:lnSpc>
            </a:pPr>
            <a:r>
              <a:rPr lang="zh-CN" altLang="en-US" sz="2133" dirty="0">
                <a:solidFill>
                  <a:srgbClr val="3333CC"/>
                </a:solidFill>
                <a:cs typeface="+mn-ea"/>
                <a:sym typeface="+mn-lt"/>
              </a:rPr>
              <a:t>备注：</a:t>
            </a:r>
            <a:r>
              <a:rPr lang="en-US" altLang="zh-CN" sz="2133" dirty="0">
                <a:solidFill>
                  <a:srgbClr val="3333CC"/>
                </a:solidFill>
                <a:cs typeface="+mn-ea"/>
                <a:sym typeface="+mn-lt"/>
              </a:rPr>
              <a:t>DVT</a:t>
            </a:r>
            <a:r>
              <a:rPr lang="zh-CN" altLang="en-US" sz="2133" dirty="0">
                <a:solidFill>
                  <a:srgbClr val="3333CC"/>
                </a:solidFill>
                <a:cs typeface="+mn-ea"/>
                <a:sym typeface="+mn-lt"/>
              </a:rPr>
              <a:t>机构安装评审工作参考</a:t>
            </a:r>
            <a:r>
              <a:rPr lang="en-US" altLang="zh-CN" sz="2133" dirty="0">
                <a:solidFill>
                  <a:srgbClr val="3333CC"/>
                </a:solidFill>
                <a:cs typeface="+mn-ea"/>
                <a:sym typeface="+mn-lt"/>
              </a:rPr>
              <a:t>EVT</a:t>
            </a:r>
          </a:p>
        </p:txBody>
      </p:sp>
      <p:cxnSp>
        <p:nvCxnSpPr>
          <p:cNvPr id="8" name="直接箭头连接符 7">
            <a:extLst>
              <a:ext uri="{FF2B5EF4-FFF2-40B4-BE49-F238E27FC236}">
                <a16:creationId xmlns:a16="http://schemas.microsoft.com/office/drawing/2014/main" id="{86F2328A-86E7-42A7-9EFD-69515877E8B6}"/>
              </a:ext>
            </a:extLst>
          </p:cNvPr>
          <p:cNvCxnSpPr/>
          <p:nvPr/>
        </p:nvCxnSpPr>
        <p:spPr>
          <a:xfrm>
            <a:off x="911424" y="1892829"/>
            <a:ext cx="0" cy="23042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15982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lt"/>
                <a:ea typeface="+mn-ea"/>
                <a:cs typeface="+mn-ea"/>
                <a:sym typeface="+mn-lt"/>
              </a:rPr>
              <a:t>DVT</a:t>
            </a:r>
            <a:r>
              <a:rPr lang="zh-CN" altLang="en-US" dirty="0">
                <a:latin typeface="+mn-lt"/>
                <a:ea typeface="+mn-ea"/>
                <a:cs typeface="+mn-ea"/>
                <a:sym typeface="+mn-lt"/>
              </a:rPr>
              <a:t>启测准备事项</a:t>
            </a:r>
          </a:p>
        </p:txBody>
      </p:sp>
      <p:sp>
        <p:nvSpPr>
          <p:cNvPr id="4" name="文本框 3">
            <a:extLst>
              <a:ext uri="{FF2B5EF4-FFF2-40B4-BE49-F238E27FC236}">
                <a16:creationId xmlns:a16="http://schemas.microsoft.com/office/drawing/2014/main" id="{A133DD80-D36B-B447-62C7-9F70C0524457}"/>
              </a:ext>
            </a:extLst>
          </p:cNvPr>
          <p:cNvSpPr txBox="1"/>
          <p:nvPr/>
        </p:nvSpPr>
        <p:spPr>
          <a:xfrm>
            <a:off x="347610" y="1098388"/>
            <a:ext cx="3541222" cy="368049"/>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sz="1600" b="1" dirty="0">
                <a:solidFill>
                  <a:schemeClr val="tx1">
                    <a:lumMod val="75000"/>
                    <a:lumOff val="25000"/>
                  </a:schemeClr>
                </a:solidFill>
                <a:latin typeface="+mn-ea"/>
              </a:rPr>
              <a:t>DVT</a:t>
            </a:r>
            <a:r>
              <a:rPr lang="zh-CN" altLang="en-US" sz="1600" b="1" dirty="0">
                <a:solidFill>
                  <a:schemeClr val="tx1">
                    <a:lumMod val="75000"/>
                    <a:lumOff val="25000"/>
                  </a:schemeClr>
                </a:solidFill>
                <a:latin typeface="+mn-ea"/>
              </a:rPr>
              <a:t>测试计划评审通过</a:t>
            </a:r>
          </a:p>
        </p:txBody>
      </p:sp>
      <p:sp>
        <p:nvSpPr>
          <p:cNvPr id="6" name="文本框 5">
            <a:extLst>
              <a:ext uri="{FF2B5EF4-FFF2-40B4-BE49-F238E27FC236}">
                <a16:creationId xmlns:a16="http://schemas.microsoft.com/office/drawing/2014/main" id="{D4530B9A-6538-CFAF-5BAE-19EA643BEAC0}"/>
              </a:ext>
            </a:extLst>
          </p:cNvPr>
          <p:cNvSpPr txBox="1"/>
          <p:nvPr/>
        </p:nvSpPr>
        <p:spPr>
          <a:xfrm>
            <a:off x="347609" y="5036742"/>
            <a:ext cx="4821381" cy="368049"/>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sz="1600" b="1" dirty="0">
                <a:solidFill>
                  <a:schemeClr val="tx1">
                    <a:lumMod val="75000"/>
                    <a:lumOff val="25000"/>
                  </a:schemeClr>
                </a:solidFill>
                <a:latin typeface="+mn-ea"/>
              </a:rPr>
              <a:t>DVT</a:t>
            </a:r>
            <a:r>
              <a:rPr lang="zh-CN" altLang="en-US" sz="1600" b="1" dirty="0">
                <a:solidFill>
                  <a:schemeClr val="tx1">
                    <a:lumMod val="75000"/>
                    <a:lumOff val="25000"/>
                  </a:schemeClr>
                </a:solidFill>
                <a:latin typeface="+mn-ea"/>
              </a:rPr>
              <a:t>系统组装关键物料已齐备</a:t>
            </a:r>
          </a:p>
        </p:txBody>
      </p:sp>
      <p:sp>
        <p:nvSpPr>
          <p:cNvPr id="7" name="文本框 6">
            <a:extLst>
              <a:ext uri="{FF2B5EF4-FFF2-40B4-BE49-F238E27FC236}">
                <a16:creationId xmlns:a16="http://schemas.microsoft.com/office/drawing/2014/main" id="{9C9AA4FA-7198-12A8-4254-D95C95147AA4}"/>
              </a:ext>
            </a:extLst>
          </p:cNvPr>
          <p:cNvSpPr txBox="1"/>
          <p:nvPr/>
        </p:nvSpPr>
        <p:spPr>
          <a:xfrm>
            <a:off x="347609" y="5406063"/>
            <a:ext cx="6217920" cy="362792"/>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en-US" altLang="zh-CN" sz="1600" b="1" dirty="0">
                <a:solidFill>
                  <a:schemeClr val="tx1">
                    <a:lumMod val="75000"/>
                    <a:lumOff val="25000"/>
                  </a:schemeClr>
                </a:solidFill>
                <a:latin typeface="+mn-ea"/>
              </a:rPr>
              <a:t>DVT</a:t>
            </a:r>
            <a:r>
              <a:rPr lang="zh-CN" altLang="en-US" sz="1600" b="1" dirty="0">
                <a:solidFill>
                  <a:schemeClr val="tx1">
                    <a:lumMod val="75000"/>
                    <a:lumOff val="25000"/>
                  </a:schemeClr>
                </a:solidFill>
                <a:latin typeface="+mn-ea"/>
              </a:rPr>
              <a:t>软件版本根据迭代计划发布（</a:t>
            </a:r>
            <a:r>
              <a:rPr lang="en-US" altLang="zh-CN" sz="1600" b="1" dirty="0">
                <a:solidFill>
                  <a:schemeClr val="tx1">
                    <a:lumMod val="75000"/>
                    <a:lumOff val="25000"/>
                  </a:schemeClr>
                </a:solidFill>
                <a:latin typeface="+mn-ea"/>
              </a:rPr>
              <a:t>BIOS</a:t>
            </a:r>
            <a:r>
              <a:rPr lang="zh-CN" altLang="en-US" sz="1600" b="1" dirty="0">
                <a:solidFill>
                  <a:schemeClr val="tx1">
                    <a:lumMod val="75000"/>
                    <a:lumOff val="25000"/>
                  </a:schemeClr>
                </a:solidFill>
                <a:latin typeface="+mn-ea"/>
              </a:rPr>
              <a:t>、</a:t>
            </a:r>
            <a:r>
              <a:rPr lang="en-US" altLang="zh-CN" sz="1600" b="1" dirty="0">
                <a:solidFill>
                  <a:schemeClr val="tx1">
                    <a:lumMod val="75000"/>
                    <a:lumOff val="25000"/>
                  </a:schemeClr>
                </a:solidFill>
                <a:latin typeface="+mn-ea"/>
              </a:rPr>
              <a:t>BMC</a:t>
            </a:r>
            <a:r>
              <a:rPr lang="zh-CN" altLang="en-US" sz="1600" b="1" dirty="0">
                <a:solidFill>
                  <a:schemeClr val="tx1">
                    <a:lumMod val="75000"/>
                    <a:lumOff val="25000"/>
                  </a:schemeClr>
                </a:solidFill>
                <a:latin typeface="+mn-ea"/>
              </a:rPr>
              <a:t>、</a:t>
            </a:r>
            <a:r>
              <a:rPr lang="en-US" altLang="zh-CN" sz="1600" b="1" dirty="0">
                <a:solidFill>
                  <a:schemeClr val="tx1">
                    <a:lumMod val="75000"/>
                    <a:lumOff val="25000"/>
                  </a:schemeClr>
                </a:solidFill>
                <a:latin typeface="+mn-ea"/>
              </a:rPr>
              <a:t>CMM</a:t>
            </a:r>
            <a:r>
              <a:rPr lang="zh-CN" altLang="en-US" sz="1600" b="1" dirty="0">
                <a:solidFill>
                  <a:schemeClr val="tx1">
                    <a:lumMod val="75000"/>
                    <a:lumOff val="25000"/>
                  </a:schemeClr>
                </a:solidFill>
                <a:latin typeface="+mn-ea"/>
              </a:rPr>
              <a:t>）</a:t>
            </a:r>
          </a:p>
        </p:txBody>
      </p:sp>
      <p:graphicFrame>
        <p:nvGraphicFramePr>
          <p:cNvPr id="8" name="表格 7">
            <a:extLst>
              <a:ext uri="{FF2B5EF4-FFF2-40B4-BE49-F238E27FC236}">
                <a16:creationId xmlns:a16="http://schemas.microsoft.com/office/drawing/2014/main" id="{0E154C71-B6B9-1750-B575-4BBB7E901329}"/>
              </a:ext>
            </a:extLst>
          </p:cNvPr>
          <p:cNvGraphicFramePr>
            <a:graphicFrameLocks noGrp="1"/>
          </p:cNvGraphicFramePr>
          <p:nvPr/>
        </p:nvGraphicFramePr>
        <p:xfrm>
          <a:off x="731839" y="1453209"/>
          <a:ext cx="10728324" cy="3437155"/>
        </p:xfrm>
        <a:graphic>
          <a:graphicData uri="http://schemas.openxmlformats.org/drawingml/2006/table">
            <a:tbl>
              <a:tblPr firstRow="1" bandRow="1">
                <a:tableStyleId>{00A15C55-8517-42AA-B614-E9B94910E393}</a:tableStyleId>
              </a:tblPr>
              <a:tblGrid>
                <a:gridCol w="2209626">
                  <a:extLst>
                    <a:ext uri="{9D8B030D-6E8A-4147-A177-3AD203B41FA5}">
                      <a16:colId xmlns:a16="http://schemas.microsoft.com/office/drawing/2014/main" val="1503978168"/>
                    </a:ext>
                  </a:extLst>
                </a:gridCol>
                <a:gridCol w="3481051">
                  <a:extLst>
                    <a:ext uri="{9D8B030D-6E8A-4147-A177-3AD203B41FA5}">
                      <a16:colId xmlns:a16="http://schemas.microsoft.com/office/drawing/2014/main" val="773509366"/>
                    </a:ext>
                  </a:extLst>
                </a:gridCol>
                <a:gridCol w="5037647">
                  <a:extLst>
                    <a:ext uri="{9D8B030D-6E8A-4147-A177-3AD203B41FA5}">
                      <a16:colId xmlns:a16="http://schemas.microsoft.com/office/drawing/2014/main" val="869367937"/>
                    </a:ext>
                  </a:extLst>
                </a:gridCol>
              </a:tblGrid>
              <a:tr h="406400">
                <a:tc>
                  <a:txBody>
                    <a:bodyPr/>
                    <a:lstStyle/>
                    <a:p>
                      <a:pPr lvl="0" algn="ctr" fontAlgn="b"/>
                      <a:r>
                        <a:rPr lang="zh-CN" altLang="en-US" sz="1800" b="1" u="none" strike="noStrike" dirty="0">
                          <a:solidFill>
                            <a:schemeClr val="bg1"/>
                          </a:solidFill>
                          <a:effectLst/>
                          <a:sym typeface="+mn-lt"/>
                        </a:rPr>
                        <a:t>工作产品名称</a:t>
                      </a:r>
                      <a:endParaRPr lang="zh-CN" altLang="en-US" sz="1800" b="1" i="0" u="none" strike="noStrike" dirty="0">
                        <a:solidFill>
                          <a:schemeClr val="bg1"/>
                        </a:solidFill>
                        <a:effectLst/>
                        <a:latin typeface="+mn-lt"/>
                        <a:ea typeface="+mn-ea"/>
                        <a:cs typeface="+mn-ea"/>
                        <a:sym typeface="+mn-lt"/>
                      </a:endParaRPr>
                    </a:p>
                  </a:txBody>
                  <a:tcPr marL="0" marR="0" marT="0" marB="0" anchor="ctr"/>
                </a:tc>
                <a:tc>
                  <a:txBody>
                    <a:bodyPr/>
                    <a:lstStyle/>
                    <a:p>
                      <a:pPr algn="ctr" fontAlgn="b"/>
                      <a:r>
                        <a:rPr lang="zh-CN" altLang="en-US" sz="1800" b="1" u="none" strike="noStrike" dirty="0">
                          <a:solidFill>
                            <a:schemeClr val="bg1"/>
                          </a:solidFill>
                          <a:effectLst/>
                          <a:sym typeface="+mn-lt"/>
                        </a:rPr>
                        <a:t>责任人</a:t>
                      </a:r>
                      <a:endParaRPr lang="zh-CN" altLang="en-US" sz="1800" b="1" i="0" u="none" strike="noStrike" dirty="0">
                        <a:solidFill>
                          <a:schemeClr val="bg1"/>
                        </a:solidFill>
                        <a:effectLst/>
                        <a:latin typeface="+mn-lt"/>
                        <a:ea typeface="+mn-ea"/>
                        <a:cs typeface="+mn-ea"/>
                        <a:sym typeface="+mn-lt"/>
                      </a:endParaRPr>
                    </a:p>
                  </a:txBody>
                  <a:tcPr marL="0" marR="0" marT="0" marB="0" anchor="ctr"/>
                </a:tc>
                <a:tc>
                  <a:txBody>
                    <a:bodyPr/>
                    <a:lstStyle/>
                    <a:p>
                      <a:pPr algn="ctr" fontAlgn="b"/>
                      <a:r>
                        <a:rPr lang="zh-CN" altLang="en-US" sz="1800" b="1" u="none" strike="noStrike" dirty="0">
                          <a:solidFill>
                            <a:schemeClr val="bg1"/>
                          </a:solidFill>
                          <a:effectLst/>
                          <a:sym typeface="+mn-lt"/>
                        </a:rPr>
                        <a:t>评审模式</a:t>
                      </a:r>
                      <a:endParaRPr lang="zh-CN" altLang="en-US" sz="1800" b="1" i="0" u="none" strike="noStrike" dirty="0">
                        <a:solidFill>
                          <a:schemeClr val="bg1"/>
                        </a:solidFill>
                        <a:effectLst/>
                        <a:latin typeface="+mn-lt"/>
                        <a:ea typeface="+mn-ea"/>
                        <a:cs typeface="+mn-ea"/>
                        <a:sym typeface="+mn-lt"/>
                      </a:endParaRPr>
                    </a:p>
                  </a:txBody>
                  <a:tcPr marL="0" marR="0" marT="0" marB="0" anchor="ctr"/>
                </a:tc>
                <a:extLst>
                  <a:ext uri="{0D108BD9-81ED-4DB2-BD59-A6C34878D82A}">
                    <a16:rowId xmlns:a16="http://schemas.microsoft.com/office/drawing/2014/main" val="3162067804"/>
                  </a:ext>
                </a:extLst>
              </a:tr>
              <a:tr h="975360">
                <a:tc>
                  <a:txBody>
                    <a:bodyPr/>
                    <a:lstStyle/>
                    <a:p>
                      <a:pPr marL="0" lvl="1" algn="ctr" defTabSz="1219170" rtl="0" eaLnBrk="1" fontAlgn="ctr" latinLnBrk="0" hangingPunct="1"/>
                      <a:r>
                        <a:rPr lang="en-US" altLang="zh-CN" sz="1600" u="none" strike="noStrike" kern="1200" dirty="0">
                          <a:solidFill>
                            <a:schemeClr val="dk1"/>
                          </a:solidFill>
                          <a:effectLst/>
                          <a:sym typeface="+mn-lt"/>
                        </a:rPr>
                        <a:t>《</a:t>
                      </a:r>
                      <a:r>
                        <a:rPr lang="en-US" sz="1600" u="none" strike="noStrike" kern="1200" dirty="0">
                          <a:solidFill>
                            <a:schemeClr val="dk1"/>
                          </a:solidFill>
                          <a:effectLst/>
                          <a:sym typeface="+mn-lt"/>
                        </a:rPr>
                        <a:t>SIT</a:t>
                      </a:r>
                      <a:r>
                        <a:rPr lang="zh-CN" altLang="en-US" sz="1600" u="none" strike="noStrike" kern="1200" dirty="0">
                          <a:solidFill>
                            <a:schemeClr val="dk1"/>
                          </a:solidFill>
                          <a:effectLst/>
                          <a:sym typeface="+mn-lt"/>
                        </a:rPr>
                        <a:t>测试计划</a:t>
                      </a:r>
                      <a:r>
                        <a:rPr lang="en-US" altLang="zh-CN" sz="1600" u="none" strike="noStrike" kern="1200" dirty="0">
                          <a:solidFill>
                            <a:schemeClr val="dk1"/>
                          </a:solidFill>
                          <a:effectLst/>
                          <a:sym typeface="+mn-lt"/>
                        </a:rPr>
                        <a:t>》</a:t>
                      </a:r>
                      <a:endParaRPr lang="zh-CN" altLang="en-US" sz="1600" u="none" strike="noStrike" kern="1200" dirty="0">
                        <a:solidFill>
                          <a:schemeClr val="dk1"/>
                        </a:solidFill>
                        <a:effectLst/>
                        <a:latin typeface="+mn-lt"/>
                        <a:ea typeface="+mn-ea"/>
                        <a:cs typeface="+mn-ea"/>
                        <a:sym typeface="+mn-lt"/>
                      </a:endParaRPr>
                    </a:p>
                  </a:txBody>
                  <a:tcPr marL="0" marR="0" marT="0" marB="0" anchor="ctr"/>
                </a:tc>
                <a:tc>
                  <a:txBody>
                    <a:bodyPr/>
                    <a:lstStyle/>
                    <a:p>
                      <a:pPr algn="ctr" fontAlgn="ctr"/>
                      <a:r>
                        <a:rPr lang="en-US" sz="1600" u="none" strike="noStrike" dirty="0">
                          <a:effectLst/>
                          <a:sym typeface="+mn-lt"/>
                        </a:rPr>
                        <a:t>TPM(</a:t>
                      </a:r>
                      <a:r>
                        <a:rPr lang="zh-CN" altLang="en-US" sz="1600" u="none" strike="noStrike" dirty="0">
                          <a:effectLst/>
                          <a:sym typeface="+mn-lt"/>
                        </a:rPr>
                        <a:t>测试代表</a:t>
                      </a:r>
                      <a:r>
                        <a:rPr lang="en-US" altLang="zh-CN" sz="1600" u="none" strike="noStrike" dirty="0">
                          <a:effectLst/>
                          <a:sym typeface="+mn-lt"/>
                        </a:rPr>
                        <a:t>)</a:t>
                      </a:r>
                      <a:endParaRPr lang="en-US" altLang="zh-CN" sz="1600" b="0" i="0" u="none" strike="noStrike" dirty="0">
                        <a:solidFill>
                          <a:srgbClr val="000000"/>
                        </a:solidFill>
                        <a:effectLst/>
                        <a:latin typeface="+mn-lt"/>
                        <a:ea typeface="+mn-ea"/>
                        <a:cs typeface="+mn-ea"/>
                        <a:sym typeface="+mn-lt"/>
                      </a:endParaRPr>
                    </a:p>
                  </a:txBody>
                  <a:tcPr marL="0" marR="0" marT="0" marB="0" anchor="ctr"/>
                </a:tc>
                <a:tc rowSpan="6">
                  <a:txBody>
                    <a:bodyPr/>
                    <a:lstStyle/>
                    <a:p>
                      <a:pPr algn="ctr" fontAlgn="ctr"/>
                      <a:r>
                        <a:rPr lang="en-US" altLang="zh-CN" sz="1600" b="0" u="none" strike="noStrike" dirty="0">
                          <a:solidFill>
                            <a:srgbClr val="000000"/>
                          </a:solidFill>
                          <a:effectLst/>
                          <a:sym typeface="+mn-lt"/>
                        </a:rPr>
                        <a:t>PLM</a:t>
                      </a:r>
                      <a:r>
                        <a:rPr lang="zh-CN" altLang="en-US" sz="1600" b="0" u="none" strike="noStrike" dirty="0">
                          <a:solidFill>
                            <a:srgbClr val="000000"/>
                          </a:solidFill>
                          <a:effectLst/>
                          <a:sym typeface="+mn-lt"/>
                        </a:rPr>
                        <a:t>线上审核发布</a:t>
                      </a:r>
                      <a:endParaRPr lang="en-US" altLang="zh-CN" sz="1600" b="0" i="0" u="none" strike="noStrike" dirty="0">
                        <a:solidFill>
                          <a:srgbClr val="000000"/>
                        </a:solidFill>
                        <a:effectLst/>
                        <a:latin typeface="+mn-lt"/>
                        <a:ea typeface="+mn-ea"/>
                        <a:cs typeface="+mn-ea"/>
                        <a:sym typeface="+mn-lt"/>
                      </a:endParaRPr>
                    </a:p>
                  </a:txBody>
                  <a:tcPr marL="0" marR="0" marT="0" marB="0" anchor="ctr"/>
                </a:tc>
                <a:extLst>
                  <a:ext uri="{0D108BD9-81ED-4DB2-BD59-A6C34878D82A}">
                    <a16:rowId xmlns:a16="http://schemas.microsoft.com/office/drawing/2014/main" val="2982289352"/>
                  </a:ext>
                </a:extLst>
              </a:tr>
              <a:tr h="411079">
                <a:tc>
                  <a:txBody>
                    <a:bodyPr/>
                    <a:lstStyle/>
                    <a:p>
                      <a:pPr marL="0" lvl="1" algn="ctr" defTabSz="1219170" rtl="0" eaLnBrk="1" fontAlgn="ctr" latinLnBrk="0" hangingPunct="1"/>
                      <a:r>
                        <a:rPr lang="en-US" altLang="zh-CN" sz="1600" u="none" strike="noStrike" kern="1200" dirty="0">
                          <a:solidFill>
                            <a:schemeClr val="dk1"/>
                          </a:solidFill>
                          <a:effectLst/>
                          <a:sym typeface="+mn-lt"/>
                        </a:rPr>
                        <a:t>《</a:t>
                      </a:r>
                      <a:r>
                        <a:rPr lang="en-US" sz="1600" u="none" strike="noStrike" kern="1200" dirty="0">
                          <a:solidFill>
                            <a:schemeClr val="dk1"/>
                          </a:solidFill>
                          <a:effectLst/>
                          <a:sym typeface="+mn-lt"/>
                        </a:rPr>
                        <a:t>SI</a:t>
                      </a:r>
                      <a:r>
                        <a:rPr lang="zh-CN" altLang="en-US" sz="1600" u="none" strike="noStrike" kern="1200" dirty="0">
                          <a:solidFill>
                            <a:schemeClr val="dk1"/>
                          </a:solidFill>
                          <a:effectLst/>
                          <a:sym typeface="+mn-lt"/>
                        </a:rPr>
                        <a:t>测试计划</a:t>
                      </a:r>
                      <a:r>
                        <a:rPr lang="en-US" altLang="zh-CN" sz="1600" u="none" strike="noStrike" kern="1200" dirty="0">
                          <a:solidFill>
                            <a:schemeClr val="dk1"/>
                          </a:solidFill>
                          <a:effectLst/>
                          <a:sym typeface="+mn-lt"/>
                        </a:rPr>
                        <a:t>》</a:t>
                      </a:r>
                      <a:endParaRPr lang="zh-CN" altLang="en-US" sz="1600" u="none" strike="noStrike" kern="1200" dirty="0">
                        <a:solidFill>
                          <a:schemeClr val="dk1"/>
                        </a:solidFill>
                        <a:effectLst/>
                        <a:latin typeface="+mn-lt"/>
                        <a:ea typeface="+mn-ea"/>
                        <a:cs typeface="+mn-ea"/>
                        <a:sym typeface="+mn-lt"/>
                      </a:endParaRPr>
                    </a:p>
                  </a:txBody>
                  <a:tcPr marL="0" marR="0" marT="0" marB="0" anchor="ctr"/>
                </a:tc>
                <a:tc>
                  <a:txBody>
                    <a:bodyPr/>
                    <a:lstStyle/>
                    <a:p>
                      <a:pPr algn="ctr" fontAlgn="ctr"/>
                      <a:r>
                        <a:rPr lang="en-US" sz="1600" u="none" strike="noStrike" dirty="0">
                          <a:effectLst/>
                          <a:sym typeface="+mn-lt"/>
                        </a:rPr>
                        <a:t>SI</a:t>
                      </a:r>
                      <a:r>
                        <a:rPr lang="zh-CN" altLang="en-US" sz="1600" u="none" strike="noStrike" dirty="0">
                          <a:effectLst/>
                          <a:sym typeface="+mn-lt"/>
                        </a:rPr>
                        <a:t>测试工程师</a:t>
                      </a:r>
                      <a:endParaRPr lang="zh-CN" altLang="en-US" sz="1600" b="0" i="0" u="none" strike="noStrike" dirty="0">
                        <a:solidFill>
                          <a:srgbClr val="000000"/>
                        </a:solidFill>
                        <a:effectLst/>
                        <a:latin typeface="+mn-lt"/>
                        <a:ea typeface="+mn-ea"/>
                        <a:cs typeface="+mn-ea"/>
                        <a:sym typeface="+mn-lt"/>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4082592736"/>
                  </a:ext>
                </a:extLst>
              </a:tr>
              <a:tr h="411079">
                <a:tc>
                  <a:txBody>
                    <a:bodyPr/>
                    <a:lstStyle/>
                    <a:p>
                      <a:pPr marL="0" lvl="1" algn="ctr" defTabSz="1219170" rtl="0" eaLnBrk="1" fontAlgn="ctr" latinLnBrk="0" hangingPunct="1"/>
                      <a:r>
                        <a:rPr lang="en-US" altLang="zh-CN" sz="1600" u="none" strike="noStrike" kern="1200" dirty="0">
                          <a:solidFill>
                            <a:schemeClr val="dk1"/>
                          </a:solidFill>
                          <a:effectLst/>
                          <a:sym typeface="+mn-lt"/>
                        </a:rPr>
                        <a:t>《</a:t>
                      </a:r>
                      <a:r>
                        <a:rPr lang="zh-CN" altLang="en-US" sz="1600" u="none" strike="noStrike" kern="1200" dirty="0">
                          <a:solidFill>
                            <a:schemeClr val="dk1"/>
                          </a:solidFill>
                          <a:effectLst/>
                          <a:sym typeface="+mn-lt"/>
                        </a:rPr>
                        <a:t>散热测试计划</a:t>
                      </a:r>
                      <a:r>
                        <a:rPr lang="en-US" altLang="zh-CN" sz="1600" u="none" strike="noStrike" kern="1200" dirty="0">
                          <a:solidFill>
                            <a:schemeClr val="dk1"/>
                          </a:solidFill>
                          <a:effectLst/>
                          <a:sym typeface="+mn-lt"/>
                        </a:rPr>
                        <a:t>》</a:t>
                      </a:r>
                      <a:endParaRPr lang="zh-CN" altLang="en-US" sz="1600" u="none" strike="noStrike" kern="1200" dirty="0">
                        <a:solidFill>
                          <a:schemeClr val="dk1"/>
                        </a:solidFill>
                        <a:effectLst/>
                        <a:latin typeface="+mn-lt"/>
                        <a:ea typeface="+mn-ea"/>
                        <a:cs typeface="+mn-ea"/>
                        <a:sym typeface="+mn-lt"/>
                      </a:endParaRPr>
                    </a:p>
                  </a:txBody>
                  <a:tcPr marL="0" marR="0" marT="0" marB="0" anchor="ctr"/>
                </a:tc>
                <a:tc>
                  <a:txBody>
                    <a:bodyPr/>
                    <a:lstStyle/>
                    <a:p>
                      <a:pPr algn="ctr" fontAlgn="ctr"/>
                      <a:r>
                        <a:rPr lang="zh-CN" altLang="en-US" sz="1600" u="none" strike="noStrike" dirty="0">
                          <a:effectLst/>
                          <a:sym typeface="+mn-lt"/>
                        </a:rPr>
                        <a:t>散热测试工程师</a:t>
                      </a:r>
                      <a:endParaRPr lang="zh-CN" altLang="en-US" sz="1600" b="0" i="0" u="none" strike="noStrike" dirty="0">
                        <a:solidFill>
                          <a:srgbClr val="000000"/>
                        </a:solidFill>
                        <a:effectLst/>
                        <a:latin typeface="+mn-lt"/>
                        <a:ea typeface="+mn-ea"/>
                        <a:cs typeface="+mn-ea"/>
                        <a:sym typeface="+mn-lt"/>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821497477"/>
                  </a:ext>
                </a:extLst>
              </a:tr>
              <a:tr h="411079">
                <a:tc>
                  <a:txBody>
                    <a:bodyPr/>
                    <a:lstStyle/>
                    <a:p>
                      <a:pPr marL="0" lvl="1" algn="ctr" defTabSz="1219170" rtl="0" eaLnBrk="1" fontAlgn="ctr" latinLnBrk="0" hangingPunct="1"/>
                      <a:r>
                        <a:rPr lang="en-US" altLang="zh-CN" sz="1600" u="none" strike="noStrike" kern="1200" dirty="0">
                          <a:solidFill>
                            <a:schemeClr val="dk1"/>
                          </a:solidFill>
                          <a:effectLst/>
                          <a:sym typeface="+mn-lt"/>
                        </a:rPr>
                        <a:t>《</a:t>
                      </a:r>
                      <a:r>
                        <a:rPr lang="zh-CN" altLang="en-US" sz="1600" u="none" strike="noStrike" kern="1200" dirty="0">
                          <a:solidFill>
                            <a:schemeClr val="dk1"/>
                          </a:solidFill>
                          <a:effectLst/>
                          <a:sym typeface="+mn-lt"/>
                        </a:rPr>
                        <a:t>可靠性测试计划</a:t>
                      </a:r>
                      <a:r>
                        <a:rPr lang="en-US" altLang="zh-CN" sz="1600" u="none" strike="noStrike" kern="1200" dirty="0">
                          <a:solidFill>
                            <a:schemeClr val="dk1"/>
                          </a:solidFill>
                          <a:effectLst/>
                          <a:sym typeface="+mn-lt"/>
                        </a:rPr>
                        <a:t>》</a:t>
                      </a:r>
                      <a:endParaRPr lang="zh-CN" altLang="en-US" sz="1600" u="none" strike="noStrike" kern="1200" dirty="0">
                        <a:solidFill>
                          <a:schemeClr val="dk1"/>
                        </a:solidFill>
                        <a:effectLst/>
                        <a:latin typeface="+mn-lt"/>
                        <a:ea typeface="+mn-ea"/>
                        <a:cs typeface="+mn-ea"/>
                        <a:sym typeface="+mn-lt"/>
                      </a:endParaRPr>
                    </a:p>
                  </a:txBody>
                  <a:tcPr marL="0" marR="0" marT="0" marB="0" anchor="ctr"/>
                </a:tc>
                <a:tc>
                  <a:txBody>
                    <a:bodyPr/>
                    <a:lstStyle/>
                    <a:p>
                      <a:pPr algn="ctr" fontAlgn="ctr"/>
                      <a:r>
                        <a:rPr lang="zh-CN" altLang="en-US" sz="1600" u="none" strike="noStrike" dirty="0">
                          <a:effectLst/>
                          <a:sym typeface="+mn-lt"/>
                        </a:rPr>
                        <a:t>可靠性测试工程师</a:t>
                      </a:r>
                      <a:endParaRPr lang="zh-CN" altLang="en-US" sz="1600" b="0" i="0" u="none" strike="noStrike" dirty="0">
                        <a:solidFill>
                          <a:srgbClr val="000000"/>
                        </a:solidFill>
                        <a:effectLst/>
                        <a:latin typeface="+mn-lt"/>
                        <a:ea typeface="+mn-ea"/>
                        <a:cs typeface="+mn-ea"/>
                        <a:sym typeface="+mn-lt"/>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331731674"/>
                  </a:ext>
                </a:extLst>
              </a:tr>
              <a:tr h="411079">
                <a:tc>
                  <a:txBody>
                    <a:bodyPr/>
                    <a:lstStyle/>
                    <a:p>
                      <a:pPr marL="0" lvl="1" algn="ctr" defTabSz="1219170" rtl="0" eaLnBrk="1" fontAlgn="ctr" latinLnBrk="0" hangingPunct="1"/>
                      <a:r>
                        <a:rPr lang="en-US" altLang="zh-CN" sz="1600" u="none" strike="noStrike" kern="1200" dirty="0">
                          <a:solidFill>
                            <a:schemeClr val="dk1"/>
                          </a:solidFill>
                          <a:effectLst/>
                          <a:sym typeface="+mn-lt"/>
                        </a:rPr>
                        <a:t>《</a:t>
                      </a:r>
                      <a:r>
                        <a:rPr lang="en-US" sz="1600" u="none" strike="noStrike" kern="1200" dirty="0">
                          <a:solidFill>
                            <a:schemeClr val="dk1"/>
                          </a:solidFill>
                          <a:effectLst/>
                          <a:sym typeface="+mn-lt"/>
                        </a:rPr>
                        <a:t>PA</a:t>
                      </a:r>
                      <a:r>
                        <a:rPr lang="zh-CN" altLang="en-US" sz="1600" u="none" strike="noStrike" kern="1200" dirty="0">
                          <a:solidFill>
                            <a:schemeClr val="dk1"/>
                          </a:solidFill>
                          <a:effectLst/>
                          <a:sym typeface="+mn-lt"/>
                        </a:rPr>
                        <a:t>测试计划</a:t>
                      </a:r>
                      <a:r>
                        <a:rPr lang="en-US" altLang="zh-CN" sz="1600" u="none" strike="noStrike" kern="1200" dirty="0">
                          <a:solidFill>
                            <a:schemeClr val="dk1"/>
                          </a:solidFill>
                          <a:effectLst/>
                          <a:sym typeface="+mn-lt"/>
                        </a:rPr>
                        <a:t>》</a:t>
                      </a:r>
                      <a:endParaRPr lang="zh-CN" altLang="en-US" sz="1600" u="none" strike="noStrike" kern="1200" dirty="0">
                        <a:solidFill>
                          <a:schemeClr val="dk1"/>
                        </a:solidFill>
                        <a:effectLst/>
                        <a:latin typeface="+mn-lt"/>
                        <a:ea typeface="+mn-ea"/>
                        <a:cs typeface="+mn-ea"/>
                        <a:sym typeface="+mn-lt"/>
                      </a:endParaRPr>
                    </a:p>
                  </a:txBody>
                  <a:tcPr marL="0" marR="0" marT="0" marB="0" anchor="ctr"/>
                </a:tc>
                <a:tc>
                  <a:txBody>
                    <a:bodyPr/>
                    <a:lstStyle/>
                    <a:p>
                      <a:pPr algn="ctr" fontAlgn="ctr"/>
                      <a:r>
                        <a:rPr lang="zh-CN" altLang="en-US" sz="1600" u="none" strike="noStrike" dirty="0">
                          <a:effectLst/>
                          <a:sym typeface="+mn-lt"/>
                        </a:rPr>
                        <a:t>可靠性测试工程师</a:t>
                      </a:r>
                      <a:endParaRPr lang="zh-CN" altLang="en-US" sz="1600" b="0" i="0" u="none" strike="noStrike" dirty="0">
                        <a:solidFill>
                          <a:srgbClr val="000000"/>
                        </a:solidFill>
                        <a:effectLst/>
                        <a:latin typeface="+mn-lt"/>
                        <a:ea typeface="+mn-ea"/>
                        <a:cs typeface="+mn-ea"/>
                        <a:sym typeface="+mn-lt"/>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757293535"/>
                  </a:ext>
                </a:extLst>
              </a:tr>
              <a:tr h="411079">
                <a:tc>
                  <a:txBody>
                    <a:bodyPr/>
                    <a:lstStyle/>
                    <a:p>
                      <a:pPr marL="0" lvl="1" algn="ctr" defTabSz="1219170" rtl="0" eaLnBrk="1" fontAlgn="ctr" latinLnBrk="0" hangingPunct="1"/>
                      <a:r>
                        <a:rPr lang="en-US" altLang="zh-CN" sz="1600" u="none" strike="noStrike" kern="1200" dirty="0">
                          <a:solidFill>
                            <a:schemeClr val="dk1"/>
                          </a:solidFill>
                          <a:effectLst/>
                          <a:sym typeface="+mn-lt"/>
                        </a:rPr>
                        <a:t>《</a:t>
                      </a:r>
                      <a:r>
                        <a:rPr lang="zh-CN" altLang="en-US" sz="1600" u="none" strike="noStrike" kern="1200" dirty="0">
                          <a:solidFill>
                            <a:schemeClr val="dk1"/>
                          </a:solidFill>
                          <a:effectLst/>
                          <a:sym typeface="+mn-lt"/>
                        </a:rPr>
                        <a:t>电源测试计划</a:t>
                      </a:r>
                      <a:r>
                        <a:rPr lang="en-US" altLang="zh-CN" sz="1600" u="none" strike="noStrike" kern="1200" dirty="0">
                          <a:solidFill>
                            <a:schemeClr val="dk1"/>
                          </a:solidFill>
                          <a:effectLst/>
                          <a:sym typeface="+mn-lt"/>
                        </a:rPr>
                        <a:t>》</a:t>
                      </a:r>
                      <a:endParaRPr lang="zh-CN" altLang="en-US" sz="1600" u="none" strike="noStrike" kern="1200" dirty="0">
                        <a:solidFill>
                          <a:schemeClr val="dk1"/>
                        </a:solidFill>
                        <a:effectLst/>
                        <a:latin typeface="+mn-lt"/>
                        <a:ea typeface="+mn-ea"/>
                        <a:cs typeface="+mn-ea"/>
                        <a:sym typeface="+mn-lt"/>
                      </a:endParaRPr>
                    </a:p>
                  </a:txBody>
                  <a:tcPr marL="0" marR="0" marT="0" marB="0" anchor="ctr"/>
                </a:tc>
                <a:tc>
                  <a:txBody>
                    <a:bodyPr/>
                    <a:lstStyle/>
                    <a:p>
                      <a:pPr algn="ctr" fontAlgn="ctr"/>
                      <a:r>
                        <a:rPr lang="zh-CN" altLang="en-US" sz="1600" u="none" strike="noStrike" dirty="0">
                          <a:effectLst/>
                          <a:sym typeface="+mn-lt"/>
                        </a:rPr>
                        <a:t>电源测试工程师</a:t>
                      </a:r>
                      <a:endParaRPr lang="zh-CN" altLang="en-US" sz="1600" b="0" i="0" u="none" strike="noStrike" dirty="0">
                        <a:solidFill>
                          <a:srgbClr val="000000"/>
                        </a:solidFill>
                        <a:effectLst/>
                        <a:latin typeface="+mn-lt"/>
                        <a:ea typeface="+mn-ea"/>
                        <a:cs typeface="+mn-ea"/>
                        <a:sym typeface="+mn-lt"/>
                      </a:endParaRPr>
                    </a:p>
                  </a:txBody>
                  <a:tcPr marL="0" marR="0" marT="0" marB="0" anchor="ctr"/>
                </a:tc>
                <a:tc vMerge="1">
                  <a:txBody>
                    <a:bodyPr/>
                    <a:lstStyle/>
                    <a:p>
                      <a:pPr algn="ctr" fontAlgn="ctr"/>
                      <a:endParaRPr lang="zh-CN" altLang="en-US" sz="1200" b="0" i="0" u="none" strike="noStrike" dirty="0">
                        <a:solidFill>
                          <a:srgbClr val="000000"/>
                        </a:solidFill>
                        <a:effectLst/>
                        <a:latin typeface="+mn-ea"/>
                        <a:ea typeface="+mn-ea"/>
                      </a:endParaRPr>
                    </a:p>
                  </a:txBody>
                  <a:tcPr marL="0" marR="0" marT="0" marB="0" anchor="ctr"/>
                </a:tc>
                <a:extLst>
                  <a:ext uri="{0D108BD9-81ED-4DB2-BD59-A6C34878D82A}">
                    <a16:rowId xmlns:a16="http://schemas.microsoft.com/office/drawing/2014/main" val="2133214060"/>
                  </a:ext>
                </a:extLst>
              </a:tr>
            </a:tbl>
          </a:graphicData>
        </a:graphic>
      </p:graphicFrame>
    </p:spTree>
    <p:extLst>
      <p:ext uri="{BB962C8B-B14F-4D97-AF65-F5344CB8AC3E}">
        <p14:creationId xmlns:p14="http://schemas.microsoft.com/office/powerpoint/2010/main" val="41525862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39349" y="164637"/>
            <a:ext cx="9889099" cy="672075"/>
          </a:xfrm>
        </p:spPr>
        <p:txBody>
          <a:bodyPr/>
          <a:lstStyle/>
          <a:p>
            <a:r>
              <a:rPr lang="en-US" altLang="zh-CN" dirty="0">
                <a:latin typeface="+mn-ea"/>
                <a:ea typeface="+mn-ea"/>
                <a:cs typeface="+mn-ea"/>
                <a:sym typeface="+mn-lt"/>
              </a:rPr>
              <a:t>L9 DVT——</a:t>
            </a:r>
            <a:r>
              <a:rPr lang="zh-CN" altLang="en-US" dirty="0">
                <a:latin typeface="+mn-ea"/>
                <a:ea typeface="+mn-ea"/>
                <a:cs typeface="+mn-ea"/>
                <a:sym typeface="+mn-lt"/>
              </a:rPr>
              <a:t>机构设计（开模）</a:t>
            </a:r>
          </a:p>
        </p:txBody>
      </p:sp>
      <p:grpSp>
        <p:nvGrpSpPr>
          <p:cNvPr id="93" name="30743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29475" y="1220755"/>
            <a:ext cx="11419187" cy="4883255"/>
            <a:chOff x="638065" y="1231846"/>
            <a:chExt cx="11419185" cy="4883254"/>
          </a:xfrm>
        </p:grpSpPr>
        <p:cxnSp>
          <p:nvCxnSpPr>
            <p:cNvPr id="94" name="直接连接符 93">
              <a:extLst>
                <a:ext uri="{FF2B5EF4-FFF2-40B4-BE49-F238E27FC236}">
                  <a16:creationId xmlns:a16="http://schemas.microsoft.com/office/drawing/2014/main" id="{22FE1577-7018-43E5-B9BD-A2FBAA13CFAD}"/>
                </a:ext>
              </a:extLst>
            </p:cNvPr>
            <p:cNvCxnSpPr/>
            <p:nvPr/>
          </p:nvCxnSpPr>
          <p:spPr>
            <a:xfrm>
              <a:off x="3146367" y="1848495"/>
              <a:ext cx="0" cy="877330"/>
            </a:xfrm>
            <a:prstGeom prst="line">
              <a:avLst/>
            </a:prstGeom>
            <a:ln w="28575">
              <a:solidFill>
                <a:srgbClr val="A31B2B"/>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810CA727-4BF1-408F-8580-5B734E746E93}"/>
                </a:ext>
              </a:extLst>
            </p:cNvPr>
            <p:cNvCxnSpPr/>
            <p:nvPr/>
          </p:nvCxnSpPr>
          <p:spPr>
            <a:xfrm>
              <a:off x="9089429" y="1848495"/>
              <a:ext cx="0" cy="877330"/>
            </a:xfrm>
            <a:prstGeom prst="line">
              <a:avLst/>
            </a:prstGeom>
            <a:ln w="28575">
              <a:solidFill>
                <a:srgbClr val="A31B2B"/>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FC9C5E3-1258-46B0-8664-59ADADEDC71E}"/>
                </a:ext>
              </a:extLst>
            </p:cNvPr>
            <p:cNvCxnSpPr>
              <a:cxnSpLocks/>
            </p:cNvCxnSpPr>
            <p:nvPr/>
          </p:nvCxnSpPr>
          <p:spPr>
            <a:xfrm flipV="1">
              <a:off x="4596633" y="4501285"/>
              <a:ext cx="0" cy="90513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E97F20F3-4391-411C-9CA2-F3B91B45A4BE}"/>
                </a:ext>
              </a:extLst>
            </p:cNvPr>
            <p:cNvCxnSpPr>
              <a:cxnSpLocks/>
            </p:cNvCxnSpPr>
            <p:nvPr/>
          </p:nvCxnSpPr>
          <p:spPr>
            <a:xfrm flipV="1">
              <a:off x="7577299" y="4472759"/>
              <a:ext cx="0" cy="905133"/>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5B1CD007-77FA-45D2-BF94-72EF011E0832}"/>
                </a:ext>
              </a:extLst>
            </p:cNvPr>
            <p:cNvCxnSpPr>
              <a:cxnSpLocks/>
            </p:cNvCxnSpPr>
            <p:nvPr/>
          </p:nvCxnSpPr>
          <p:spPr>
            <a:xfrm>
              <a:off x="673100" y="3638578"/>
              <a:ext cx="10845800" cy="0"/>
            </a:xfrm>
            <a:prstGeom prst="line">
              <a:avLst/>
            </a:prstGeom>
            <a:ln w="34925">
              <a:solidFill>
                <a:schemeClr val="bg1">
                  <a:lumMod val="8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99" name="is1îḋé">
              <a:extLst>
                <a:ext uri="{FF2B5EF4-FFF2-40B4-BE49-F238E27FC236}">
                  <a16:creationId xmlns:a16="http://schemas.microsoft.com/office/drawing/2014/main" id="{5C8A6E2C-B0C1-4AFB-9454-26F5D4B1CDE3}"/>
                </a:ext>
              </a:extLst>
            </p:cNvPr>
            <p:cNvSpPr/>
            <p:nvPr/>
          </p:nvSpPr>
          <p:spPr>
            <a:xfrm>
              <a:off x="2639740" y="2268625"/>
              <a:ext cx="1013254" cy="1013254"/>
            </a:xfrm>
            <a:prstGeom prst="ellipse">
              <a:avLst/>
            </a:prstGeom>
            <a:noFill/>
            <a:ln w="28575">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00" name="iš1iďe">
              <a:extLst>
                <a:ext uri="{FF2B5EF4-FFF2-40B4-BE49-F238E27FC236}">
                  <a16:creationId xmlns:a16="http://schemas.microsoft.com/office/drawing/2014/main" id="{AA5F6217-3429-4966-ACCA-1753C07D3611}"/>
                </a:ext>
              </a:extLst>
            </p:cNvPr>
            <p:cNvSpPr/>
            <p:nvPr/>
          </p:nvSpPr>
          <p:spPr>
            <a:xfrm>
              <a:off x="2778910" y="2397685"/>
              <a:ext cx="734912" cy="755134"/>
            </a:xfrm>
            <a:prstGeom prst="ellipse">
              <a:avLst/>
            </a:prstGeom>
            <a:solidFill>
              <a:srgbClr val="A31B2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600" dirty="0"/>
                <a:t>开发</a:t>
              </a:r>
              <a:endParaRPr lang="en-US" altLang="zh-CN" sz="1600" dirty="0"/>
            </a:p>
          </p:txBody>
        </p:sp>
        <p:sp>
          <p:nvSpPr>
            <p:cNvPr id="101" name="íşlíḍe">
              <a:extLst>
                <a:ext uri="{FF2B5EF4-FFF2-40B4-BE49-F238E27FC236}">
                  <a16:creationId xmlns:a16="http://schemas.microsoft.com/office/drawing/2014/main" id="{65FEC655-0D60-44AA-B473-518346969FEC}"/>
                </a:ext>
              </a:extLst>
            </p:cNvPr>
            <p:cNvSpPr/>
            <p:nvPr/>
          </p:nvSpPr>
          <p:spPr>
            <a:xfrm>
              <a:off x="5611270" y="2268625"/>
              <a:ext cx="1013254" cy="1013254"/>
            </a:xfrm>
            <a:prstGeom prst="ellipse">
              <a:avLst/>
            </a:prstGeom>
            <a:noFill/>
            <a:ln w="28575">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02" name="îşlíḑe">
              <a:extLst>
                <a:ext uri="{FF2B5EF4-FFF2-40B4-BE49-F238E27FC236}">
                  <a16:creationId xmlns:a16="http://schemas.microsoft.com/office/drawing/2014/main" id="{7F388690-9346-4B57-A6A5-F2C098FC55D2}"/>
                </a:ext>
              </a:extLst>
            </p:cNvPr>
            <p:cNvSpPr/>
            <p:nvPr/>
          </p:nvSpPr>
          <p:spPr>
            <a:xfrm>
              <a:off x="5740331" y="2397685"/>
              <a:ext cx="755134" cy="755134"/>
            </a:xfrm>
            <a:prstGeom prst="ellipse">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600" dirty="0"/>
                <a:t>采购</a:t>
              </a:r>
              <a:endParaRPr lang="en-US" altLang="zh-CN" sz="1600" dirty="0"/>
            </a:p>
          </p:txBody>
        </p:sp>
        <p:cxnSp>
          <p:nvCxnSpPr>
            <p:cNvPr id="103" name="直接连接符 102">
              <a:extLst>
                <a:ext uri="{FF2B5EF4-FFF2-40B4-BE49-F238E27FC236}">
                  <a16:creationId xmlns:a16="http://schemas.microsoft.com/office/drawing/2014/main" id="{0E41B450-63D2-4B8C-8DF1-CAA95A48F007}"/>
                </a:ext>
              </a:extLst>
            </p:cNvPr>
            <p:cNvCxnSpPr>
              <a:endCxn id="102" idx="0"/>
            </p:cNvCxnSpPr>
            <p:nvPr/>
          </p:nvCxnSpPr>
          <p:spPr>
            <a:xfrm>
              <a:off x="6111889" y="1863120"/>
              <a:ext cx="6011" cy="534565"/>
            </a:xfrm>
            <a:prstGeom prst="line">
              <a:avLst/>
            </a:prstGeom>
            <a:ln w="28575">
              <a:solidFill>
                <a:srgbClr val="A6A6A6"/>
              </a:solidFill>
            </a:ln>
          </p:spPr>
          <p:style>
            <a:lnRef idx="1">
              <a:schemeClr val="accent1"/>
            </a:lnRef>
            <a:fillRef idx="0">
              <a:schemeClr val="accent1"/>
            </a:fillRef>
            <a:effectRef idx="0">
              <a:schemeClr val="accent1"/>
            </a:effectRef>
            <a:fontRef idx="minor">
              <a:schemeClr val="tx1"/>
            </a:fontRef>
          </p:style>
        </p:cxnSp>
        <p:sp>
          <p:nvSpPr>
            <p:cNvPr id="104" name="îślïḍé">
              <a:extLst>
                <a:ext uri="{FF2B5EF4-FFF2-40B4-BE49-F238E27FC236}">
                  <a16:creationId xmlns:a16="http://schemas.microsoft.com/office/drawing/2014/main" id="{E12C0D5D-9E53-4F12-A361-FF78968B0052}"/>
                </a:ext>
              </a:extLst>
            </p:cNvPr>
            <p:cNvSpPr/>
            <p:nvPr/>
          </p:nvSpPr>
          <p:spPr>
            <a:xfrm>
              <a:off x="8582802" y="2268625"/>
              <a:ext cx="1013254" cy="1013254"/>
            </a:xfrm>
            <a:prstGeom prst="ellipse">
              <a:avLst/>
            </a:prstGeom>
            <a:noFill/>
            <a:ln w="28575">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05" name="iŝḷîdé">
              <a:extLst>
                <a:ext uri="{FF2B5EF4-FFF2-40B4-BE49-F238E27FC236}">
                  <a16:creationId xmlns:a16="http://schemas.microsoft.com/office/drawing/2014/main" id="{247BA67B-7CB3-4EE0-A133-DCFE4C60765D}"/>
                </a:ext>
              </a:extLst>
            </p:cNvPr>
            <p:cNvSpPr/>
            <p:nvPr/>
          </p:nvSpPr>
          <p:spPr>
            <a:xfrm>
              <a:off x="8711862" y="2397685"/>
              <a:ext cx="755134" cy="755134"/>
            </a:xfrm>
            <a:prstGeom prst="ellipse">
              <a:avLst/>
            </a:prstGeom>
            <a:solidFill>
              <a:srgbClr val="A31B2B"/>
            </a:solidFill>
            <a:ln>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600" dirty="0"/>
                <a:t>采购</a:t>
              </a:r>
              <a:endParaRPr lang="en-US" altLang="zh-CN" sz="1600" dirty="0"/>
            </a:p>
          </p:txBody>
        </p:sp>
        <p:sp>
          <p:nvSpPr>
            <p:cNvPr id="106" name="îṥḷîḍé">
              <a:extLst>
                <a:ext uri="{FF2B5EF4-FFF2-40B4-BE49-F238E27FC236}">
                  <a16:creationId xmlns:a16="http://schemas.microsoft.com/office/drawing/2014/main" id="{67E3DD95-1267-4D72-9E93-4CC2B309AD22}"/>
                </a:ext>
              </a:extLst>
            </p:cNvPr>
            <p:cNvSpPr/>
            <p:nvPr/>
          </p:nvSpPr>
          <p:spPr>
            <a:xfrm>
              <a:off x="4090005" y="4044086"/>
              <a:ext cx="1013255" cy="101325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07" name="íśḻidè">
              <a:extLst>
                <a:ext uri="{FF2B5EF4-FFF2-40B4-BE49-F238E27FC236}">
                  <a16:creationId xmlns:a16="http://schemas.microsoft.com/office/drawing/2014/main" id="{056D41D7-9001-4299-9949-D2929BE8031A}"/>
                </a:ext>
              </a:extLst>
            </p:cNvPr>
            <p:cNvSpPr/>
            <p:nvPr/>
          </p:nvSpPr>
          <p:spPr>
            <a:xfrm>
              <a:off x="4219065" y="4173145"/>
              <a:ext cx="755134" cy="75513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algn="ctr"/>
              <a:r>
                <a:rPr lang="zh-CN" altLang="en-US" sz="1600" dirty="0"/>
                <a:t>项目经理</a:t>
              </a:r>
              <a:endParaRPr lang="en-US" altLang="zh-CN" sz="1600" dirty="0"/>
            </a:p>
          </p:txBody>
        </p:sp>
        <p:sp>
          <p:nvSpPr>
            <p:cNvPr id="108" name="ï$1íḍè">
              <a:extLst>
                <a:ext uri="{FF2B5EF4-FFF2-40B4-BE49-F238E27FC236}">
                  <a16:creationId xmlns:a16="http://schemas.microsoft.com/office/drawing/2014/main" id="{F3B72399-2C40-4B88-8631-7A9DA9A8F1F2}"/>
                </a:ext>
              </a:extLst>
            </p:cNvPr>
            <p:cNvSpPr/>
            <p:nvPr/>
          </p:nvSpPr>
          <p:spPr>
            <a:xfrm>
              <a:off x="7070673" y="4015559"/>
              <a:ext cx="1013255" cy="1013255"/>
            </a:xfrm>
            <a:prstGeom prst="ellipse">
              <a:avLst/>
            </a:prstGeom>
            <a:noFill/>
            <a:ln w="28575">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09" name="íṧļïďê">
              <a:extLst>
                <a:ext uri="{FF2B5EF4-FFF2-40B4-BE49-F238E27FC236}">
                  <a16:creationId xmlns:a16="http://schemas.microsoft.com/office/drawing/2014/main" id="{E7F9E64D-DCF6-48D6-8FB0-BEBECAAF303A}"/>
                </a:ext>
              </a:extLst>
            </p:cNvPr>
            <p:cNvSpPr/>
            <p:nvPr/>
          </p:nvSpPr>
          <p:spPr>
            <a:xfrm>
              <a:off x="7199733" y="4144619"/>
              <a:ext cx="755135" cy="755135"/>
            </a:xfrm>
            <a:prstGeom prst="ellipse">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77500" lnSpcReduction="20000"/>
            </a:bodyPr>
            <a:lstStyle/>
            <a:p>
              <a:pPr algn="ctr"/>
              <a:r>
                <a:rPr lang="zh-CN" altLang="en-US" sz="1600" dirty="0"/>
                <a:t>项目经理</a:t>
              </a:r>
              <a:endParaRPr lang="en-US" altLang="zh-CN" sz="1600" dirty="0"/>
            </a:p>
          </p:txBody>
        </p:sp>
        <p:grpSp>
          <p:nvGrpSpPr>
            <p:cNvPr id="110" name="îsliḍe">
              <a:extLst>
                <a:ext uri="{FF2B5EF4-FFF2-40B4-BE49-F238E27FC236}">
                  <a16:creationId xmlns:a16="http://schemas.microsoft.com/office/drawing/2014/main" id="{5673AA77-C258-4ADB-98FD-0129AFA72D90}"/>
                </a:ext>
              </a:extLst>
            </p:cNvPr>
            <p:cNvGrpSpPr/>
            <p:nvPr/>
          </p:nvGrpSpPr>
          <p:grpSpPr>
            <a:xfrm>
              <a:off x="673100" y="3778597"/>
              <a:ext cx="2263139" cy="1529505"/>
              <a:chOff x="1003765" y="4612245"/>
              <a:chExt cx="2263139" cy="1529505"/>
            </a:xfrm>
          </p:grpSpPr>
          <p:sp>
            <p:nvSpPr>
              <p:cNvPr id="140" name="í$ľíďe">
                <a:extLst>
                  <a:ext uri="{FF2B5EF4-FFF2-40B4-BE49-F238E27FC236}">
                    <a16:creationId xmlns:a16="http://schemas.microsoft.com/office/drawing/2014/main" id="{0B9AA541-C534-43F2-9653-0796C83C06D6}"/>
                  </a:ext>
                </a:extLst>
              </p:cNvPr>
              <p:cNvSpPr txBox="1"/>
              <p:nvPr/>
            </p:nvSpPr>
            <p:spPr bwMode="auto">
              <a:xfrm>
                <a:off x="1003765" y="4612245"/>
                <a:ext cx="1905548"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20000" tIns="62400" rIns="120000" bIns="62400" anchor="b">
                <a:normAutofit/>
              </a:bodyPr>
              <a:lstStyle/>
              <a:p>
                <a:pPr eaLnBrk="1" hangingPunct="1">
                  <a:spcBef>
                    <a:spcPct val="0"/>
                  </a:spcBef>
                </a:pPr>
                <a:r>
                  <a:rPr lang="zh-CN" altLang="en-US" sz="1867" b="1" dirty="0"/>
                  <a:t>开模条件</a:t>
                </a:r>
                <a:endParaRPr lang="en-US" altLang="zh-CN" sz="1867" b="1" dirty="0"/>
              </a:p>
            </p:txBody>
          </p:sp>
          <p:sp>
            <p:nvSpPr>
              <p:cNvPr id="141" name="íṧḻíḑê">
                <a:extLst>
                  <a:ext uri="{FF2B5EF4-FFF2-40B4-BE49-F238E27FC236}">
                    <a16:creationId xmlns:a16="http://schemas.microsoft.com/office/drawing/2014/main" id="{BB40DAC3-05EE-4211-933B-B3E83624EBAC}"/>
                  </a:ext>
                </a:extLst>
              </p:cNvPr>
              <p:cNvSpPr/>
              <p:nvPr/>
            </p:nvSpPr>
            <p:spPr bwMode="auto">
              <a:xfrm>
                <a:off x="1003765" y="5054050"/>
                <a:ext cx="2263139" cy="10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Autofit/>
              </a:bodyPr>
              <a:lstStyle/>
              <a:p>
                <a:pPr>
                  <a:lnSpc>
                    <a:spcPct val="120000"/>
                  </a:lnSpc>
                </a:pPr>
                <a:r>
                  <a:rPr lang="en-US" altLang="zh-CN" sz="1333" dirty="0">
                    <a:solidFill>
                      <a:schemeClr val="tx1">
                        <a:lumMod val="95000"/>
                        <a:lumOff val="5000"/>
                      </a:schemeClr>
                    </a:solidFill>
                    <a:cs typeface="+mn-ea"/>
                    <a:sym typeface="+mn-lt"/>
                  </a:rPr>
                  <a:t>NCT</a:t>
                </a:r>
                <a:r>
                  <a:rPr lang="zh-CN" altLang="en-US" sz="1333" dirty="0">
                    <a:solidFill>
                      <a:schemeClr val="tx1">
                        <a:lumMod val="95000"/>
                        <a:lumOff val="5000"/>
                      </a:schemeClr>
                    </a:solidFill>
                    <a:cs typeface="+mn-ea"/>
                    <a:sym typeface="+mn-lt"/>
                  </a:rPr>
                  <a:t>样品完成相关（可靠性，散热）测试，且完成机构问题澄清（含</a:t>
                </a:r>
                <a:r>
                  <a:rPr lang="en-US" altLang="zh-CN" sz="1333" dirty="0">
                    <a:solidFill>
                      <a:schemeClr val="tx1">
                        <a:lumMod val="95000"/>
                        <a:lumOff val="5000"/>
                      </a:schemeClr>
                    </a:solidFill>
                    <a:cs typeface="+mn-ea"/>
                    <a:sym typeface="+mn-lt"/>
                  </a:rPr>
                  <a:t>SIT</a:t>
                </a:r>
                <a:r>
                  <a:rPr lang="zh-CN" altLang="en-US" sz="1333" dirty="0">
                    <a:solidFill>
                      <a:schemeClr val="tx1">
                        <a:lumMod val="95000"/>
                        <a:lumOff val="5000"/>
                      </a:schemeClr>
                    </a:solidFill>
                    <a:cs typeface="+mn-ea"/>
                    <a:sym typeface="+mn-lt"/>
                  </a:rPr>
                  <a:t>，组装评审问题）</a:t>
                </a:r>
                <a:endParaRPr lang="en-US" altLang="zh-CN" sz="1333" dirty="0">
                  <a:solidFill>
                    <a:schemeClr val="tx1">
                      <a:lumMod val="95000"/>
                      <a:lumOff val="5000"/>
                    </a:schemeClr>
                  </a:solidFill>
                  <a:cs typeface="+mn-ea"/>
                  <a:sym typeface="+mn-lt"/>
                </a:endParaRPr>
              </a:p>
            </p:txBody>
          </p:sp>
        </p:grpSp>
        <p:grpSp>
          <p:nvGrpSpPr>
            <p:cNvPr id="111" name="ïš1îďe">
              <a:extLst>
                <a:ext uri="{FF2B5EF4-FFF2-40B4-BE49-F238E27FC236}">
                  <a16:creationId xmlns:a16="http://schemas.microsoft.com/office/drawing/2014/main" id="{4F8D3607-3AE4-4494-8563-7F0C30765661}"/>
                </a:ext>
              </a:extLst>
            </p:cNvPr>
            <p:cNvGrpSpPr/>
            <p:nvPr/>
          </p:nvGrpSpPr>
          <p:grpSpPr>
            <a:xfrm>
              <a:off x="9614940" y="3922476"/>
              <a:ext cx="2442310" cy="960866"/>
              <a:chOff x="1003765" y="4756124"/>
              <a:chExt cx="2442310" cy="960866"/>
            </a:xfrm>
          </p:grpSpPr>
          <p:sp>
            <p:nvSpPr>
              <p:cNvPr id="138" name="ísļîde">
                <a:extLst>
                  <a:ext uri="{FF2B5EF4-FFF2-40B4-BE49-F238E27FC236}">
                    <a16:creationId xmlns:a16="http://schemas.microsoft.com/office/drawing/2014/main" id="{5B21BB8A-5B78-4708-8D7C-F9F48B1AF36F}"/>
                  </a:ext>
                </a:extLst>
              </p:cNvPr>
              <p:cNvSpPr txBox="1"/>
              <p:nvPr/>
            </p:nvSpPr>
            <p:spPr bwMode="auto">
              <a:xfrm>
                <a:off x="1237830" y="4756124"/>
                <a:ext cx="2208245" cy="6314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20000" tIns="62400" rIns="120000" bIns="62400" anchor="b">
                <a:noAutofit/>
              </a:bodyPr>
              <a:lstStyle/>
              <a:p>
                <a:pPr eaLnBrk="1" hangingPunct="1">
                  <a:spcBef>
                    <a:spcPct val="0"/>
                  </a:spcBef>
                </a:pPr>
                <a:r>
                  <a:rPr lang="zh-CN" altLang="en-US" sz="1867" b="1" dirty="0"/>
                  <a:t>开模完成</a:t>
                </a:r>
                <a:endParaRPr lang="en-US" altLang="zh-CN" sz="1867" b="1" dirty="0"/>
              </a:p>
              <a:p>
                <a:pPr eaLnBrk="1" hangingPunct="1">
                  <a:spcBef>
                    <a:spcPct val="0"/>
                  </a:spcBef>
                </a:pPr>
                <a:r>
                  <a:rPr lang="zh-CN" altLang="en-US" sz="1867" b="1" dirty="0"/>
                  <a:t>模具品满足</a:t>
                </a:r>
                <a:r>
                  <a:rPr lang="en-US" altLang="zh-CN" sz="1867" b="1" dirty="0"/>
                  <a:t>PVT</a:t>
                </a:r>
                <a:r>
                  <a:rPr lang="zh-CN" altLang="en-US" sz="1867" b="1" dirty="0"/>
                  <a:t>组装</a:t>
                </a:r>
                <a:endParaRPr lang="en-US" altLang="zh-CN" sz="1867" b="1" dirty="0"/>
              </a:p>
            </p:txBody>
          </p:sp>
          <p:sp>
            <p:nvSpPr>
              <p:cNvPr id="139" name="íṥlïde">
                <a:extLst>
                  <a:ext uri="{FF2B5EF4-FFF2-40B4-BE49-F238E27FC236}">
                    <a16:creationId xmlns:a16="http://schemas.microsoft.com/office/drawing/2014/main" id="{A78EF0FA-67E1-47FF-A139-815A68617F5D}"/>
                  </a:ext>
                </a:extLst>
              </p:cNvPr>
              <p:cNvSpPr/>
              <p:nvPr/>
            </p:nvSpPr>
            <p:spPr bwMode="auto">
              <a:xfrm>
                <a:off x="1003765" y="5054052"/>
                <a:ext cx="1905548" cy="66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rmAutofit/>
              </a:bodyPr>
              <a:lstStyle/>
              <a:p>
                <a:pPr algn="r"/>
                <a:endParaRPr lang="en-US" altLang="zh-CN" sz="1467" dirty="0"/>
              </a:p>
            </p:txBody>
          </p:sp>
        </p:grpSp>
        <p:grpSp>
          <p:nvGrpSpPr>
            <p:cNvPr id="112" name="íŝḻíḓé">
              <a:extLst>
                <a:ext uri="{FF2B5EF4-FFF2-40B4-BE49-F238E27FC236}">
                  <a16:creationId xmlns:a16="http://schemas.microsoft.com/office/drawing/2014/main" id="{E78D318C-A5D3-4B08-8FAF-F80BA3E8F8DE}"/>
                </a:ext>
              </a:extLst>
            </p:cNvPr>
            <p:cNvGrpSpPr/>
            <p:nvPr/>
          </p:nvGrpSpPr>
          <p:grpSpPr>
            <a:xfrm>
              <a:off x="638065" y="3521265"/>
              <a:ext cx="234570" cy="234570"/>
              <a:chOff x="1100454" y="3164594"/>
              <a:chExt cx="234570" cy="234570"/>
            </a:xfrm>
          </p:grpSpPr>
          <p:sp>
            <p:nvSpPr>
              <p:cNvPr id="136" name="îṧľíḋè">
                <a:extLst>
                  <a:ext uri="{FF2B5EF4-FFF2-40B4-BE49-F238E27FC236}">
                    <a16:creationId xmlns:a16="http://schemas.microsoft.com/office/drawing/2014/main" id="{9C848C37-2B82-49F8-B5E1-4F4D67FF80FE}"/>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37" name="iŝļïde">
                <a:extLst>
                  <a:ext uri="{FF2B5EF4-FFF2-40B4-BE49-F238E27FC236}">
                    <a16:creationId xmlns:a16="http://schemas.microsoft.com/office/drawing/2014/main" id="{0E32B465-ABC7-455C-9FA4-30CDC4D0C5B7}"/>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grpSp>
          <p:nvGrpSpPr>
            <p:cNvPr id="113" name="îşḻiďê">
              <a:extLst>
                <a:ext uri="{FF2B5EF4-FFF2-40B4-BE49-F238E27FC236}">
                  <a16:creationId xmlns:a16="http://schemas.microsoft.com/office/drawing/2014/main" id="{87FF3777-A83D-41FB-B34A-6FBCD80A9A90}"/>
                </a:ext>
              </a:extLst>
            </p:cNvPr>
            <p:cNvGrpSpPr/>
            <p:nvPr/>
          </p:nvGrpSpPr>
          <p:grpSpPr>
            <a:xfrm>
              <a:off x="11336545" y="3521265"/>
              <a:ext cx="234570" cy="234570"/>
              <a:chOff x="1100454" y="3164594"/>
              <a:chExt cx="234570" cy="234570"/>
            </a:xfrm>
          </p:grpSpPr>
          <p:sp>
            <p:nvSpPr>
              <p:cNvPr id="134" name="iSľîďè">
                <a:extLst>
                  <a:ext uri="{FF2B5EF4-FFF2-40B4-BE49-F238E27FC236}">
                    <a16:creationId xmlns:a16="http://schemas.microsoft.com/office/drawing/2014/main" id="{0C88CD85-90FE-40F8-BBCE-CCB97349134B}"/>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35" name="íśļiďe">
                <a:extLst>
                  <a:ext uri="{FF2B5EF4-FFF2-40B4-BE49-F238E27FC236}">
                    <a16:creationId xmlns:a16="http://schemas.microsoft.com/office/drawing/2014/main" id="{181F645B-D9E9-49C8-B027-CCF088840418}"/>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grpSp>
          <p:nvGrpSpPr>
            <p:cNvPr id="114" name="işḻiḍé">
              <a:extLst>
                <a:ext uri="{FF2B5EF4-FFF2-40B4-BE49-F238E27FC236}">
                  <a16:creationId xmlns:a16="http://schemas.microsoft.com/office/drawing/2014/main" id="{BDEE21FA-69FF-487B-8637-D8A068564C3C}"/>
                </a:ext>
              </a:extLst>
            </p:cNvPr>
            <p:cNvGrpSpPr/>
            <p:nvPr/>
          </p:nvGrpSpPr>
          <p:grpSpPr>
            <a:xfrm>
              <a:off x="9023643" y="3575304"/>
              <a:ext cx="126492" cy="126492"/>
              <a:chOff x="1100454" y="3164594"/>
              <a:chExt cx="234570" cy="234570"/>
            </a:xfrm>
          </p:grpSpPr>
          <p:sp>
            <p:nvSpPr>
              <p:cNvPr id="132" name="îṣļíḑè">
                <a:extLst>
                  <a:ext uri="{FF2B5EF4-FFF2-40B4-BE49-F238E27FC236}">
                    <a16:creationId xmlns:a16="http://schemas.microsoft.com/office/drawing/2014/main" id="{A5490DF8-3C15-4084-AADA-F0A262B22588}"/>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33" name="ïṩ1íḑe">
                <a:extLst>
                  <a:ext uri="{FF2B5EF4-FFF2-40B4-BE49-F238E27FC236}">
                    <a16:creationId xmlns:a16="http://schemas.microsoft.com/office/drawing/2014/main" id="{7AA8A558-7B59-4785-B0BE-9752E9DD4373}"/>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grpSp>
          <p:nvGrpSpPr>
            <p:cNvPr id="115" name="iŝḻiḑê">
              <a:extLst>
                <a:ext uri="{FF2B5EF4-FFF2-40B4-BE49-F238E27FC236}">
                  <a16:creationId xmlns:a16="http://schemas.microsoft.com/office/drawing/2014/main" id="{8E570B53-1A1D-4CA2-952E-F0A50C6E1FCC}"/>
                </a:ext>
              </a:extLst>
            </p:cNvPr>
            <p:cNvGrpSpPr/>
            <p:nvPr/>
          </p:nvGrpSpPr>
          <p:grpSpPr>
            <a:xfrm>
              <a:off x="7539148" y="3575304"/>
              <a:ext cx="126492" cy="126492"/>
              <a:chOff x="1100454" y="3164594"/>
              <a:chExt cx="234570" cy="234570"/>
            </a:xfrm>
          </p:grpSpPr>
          <p:sp>
            <p:nvSpPr>
              <p:cNvPr id="130" name="ïSļîḋê">
                <a:extLst>
                  <a:ext uri="{FF2B5EF4-FFF2-40B4-BE49-F238E27FC236}">
                    <a16:creationId xmlns:a16="http://schemas.microsoft.com/office/drawing/2014/main" id="{DB056EB8-F5E1-4193-964D-0351BF076E1E}"/>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31" name="íṣḻíḑe">
                <a:extLst>
                  <a:ext uri="{FF2B5EF4-FFF2-40B4-BE49-F238E27FC236}">
                    <a16:creationId xmlns:a16="http://schemas.microsoft.com/office/drawing/2014/main" id="{194ADA56-6007-4F86-BB74-5A8BAFB57D9E}"/>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grpSp>
          <p:nvGrpSpPr>
            <p:cNvPr id="116" name="íŝḷîḍé">
              <a:extLst>
                <a:ext uri="{FF2B5EF4-FFF2-40B4-BE49-F238E27FC236}">
                  <a16:creationId xmlns:a16="http://schemas.microsoft.com/office/drawing/2014/main" id="{F393D9C4-FD10-41A7-9596-79F0FD06C726}"/>
                </a:ext>
              </a:extLst>
            </p:cNvPr>
            <p:cNvGrpSpPr/>
            <p:nvPr/>
          </p:nvGrpSpPr>
          <p:grpSpPr>
            <a:xfrm>
              <a:off x="6037109" y="3575304"/>
              <a:ext cx="126492" cy="126492"/>
              <a:chOff x="1100454" y="3164594"/>
              <a:chExt cx="234570" cy="234570"/>
            </a:xfrm>
          </p:grpSpPr>
          <p:sp>
            <p:nvSpPr>
              <p:cNvPr id="128" name="ïṣļïḑê">
                <a:extLst>
                  <a:ext uri="{FF2B5EF4-FFF2-40B4-BE49-F238E27FC236}">
                    <a16:creationId xmlns:a16="http://schemas.microsoft.com/office/drawing/2014/main" id="{7CB35A45-CCD5-4404-836A-3464C5205407}"/>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29" name="îṣḻiḑé">
                <a:extLst>
                  <a:ext uri="{FF2B5EF4-FFF2-40B4-BE49-F238E27FC236}">
                    <a16:creationId xmlns:a16="http://schemas.microsoft.com/office/drawing/2014/main" id="{D9B825A5-3BF1-44A4-AA9D-E006EA66796E}"/>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grpSp>
          <p:nvGrpSpPr>
            <p:cNvPr id="117" name="ïSḷîḍè">
              <a:extLst>
                <a:ext uri="{FF2B5EF4-FFF2-40B4-BE49-F238E27FC236}">
                  <a16:creationId xmlns:a16="http://schemas.microsoft.com/office/drawing/2014/main" id="{DEF262F5-66BA-4F55-935F-5403E8FA9E67}"/>
                </a:ext>
              </a:extLst>
            </p:cNvPr>
            <p:cNvGrpSpPr/>
            <p:nvPr/>
          </p:nvGrpSpPr>
          <p:grpSpPr>
            <a:xfrm>
              <a:off x="4536916" y="3575304"/>
              <a:ext cx="126492" cy="126492"/>
              <a:chOff x="1100454" y="3164594"/>
              <a:chExt cx="234570" cy="234570"/>
            </a:xfrm>
          </p:grpSpPr>
          <p:sp>
            <p:nvSpPr>
              <p:cNvPr id="126" name="îṧ1idé">
                <a:extLst>
                  <a:ext uri="{FF2B5EF4-FFF2-40B4-BE49-F238E27FC236}">
                    <a16:creationId xmlns:a16="http://schemas.microsoft.com/office/drawing/2014/main" id="{D779B9FE-09CE-4501-94E2-40C86C5A1CB8}"/>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27" name="iŝļiďê">
                <a:extLst>
                  <a:ext uri="{FF2B5EF4-FFF2-40B4-BE49-F238E27FC236}">
                    <a16:creationId xmlns:a16="http://schemas.microsoft.com/office/drawing/2014/main" id="{B5D76399-2C12-438A-BE6E-BA7635906DA9}"/>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grpSp>
          <p:nvGrpSpPr>
            <p:cNvPr id="118" name="ïśľiďê">
              <a:extLst>
                <a:ext uri="{FF2B5EF4-FFF2-40B4-BE49-F238E27FC236}">
                  <a16:creationId xmlns:a16="http://schemas.microsoft.com/office/drawing/2014/main" id="{86BAF251-5AEC-41ED-9F54-5891D071C90E}"/>
                </a:ext>
              </a:extLst>
            </p:cNvPr>
            <p:cNvGrpSpPr/>
            <p:nvPr/>
          </p:nvGrpSpPr>
          <p:grpSpPr>
            <a:xfrm>
              <a:off x="3102348" y="3575304"/>
              <a:ext cx="126492" cy="126492"/>
              <a:chOff x="1100454" y="3164594"/>
              <a:chExt cx="234570" cy="234570"/>
            </a:xfrm>
          </p:grpSpPr>
          <p:sp>
            <p:nvSpPr>
              <p:cNvPr id="124" name="ïṧ1îḓè">
                <a:extLst>
                  <a:ext uri="{FF2B5EF4-FFF2-40B4-BE49-F238E27FC236}">
                    <a16:creationId xmlns:a16="http://schemas.microsoft.com/office/drawing/2014/main" id="{67D26781-B4FB-4CB8-B2B6-F1EE090CEE41}"/>
                  </a:ext>
                </a:extLst>
              </p:cNvPr>
              <p:cNvSpPr/>
              <p:nvPr/>
            </p:nvSpPr>
            <p:spPr>
              <a:xfrm>
                <a:off x="1100454" y="3164594"/>
                <a:ext cx="234570" cy="234570"/>
              </a:xfrm>
              <a:prstGeom prst="ellipse">
                <a:avLst/>
              </a:prstGeom>
              <a:solidFill>
                <a:schemeClr val="bg1">
                  <a:lumMod val="9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25" name="íśḻîḑê">
                <a:extLst>
                  <a:ext uri="{FF2B5EF4-FFF2-40B4-BE49-F238E27FC236}">
                    <a16:creationId xmlns:a16="http://schemas.microsoft.com/office/drawing/2014/main" id="{89AA189C-CCC9-4BED-948E-1E755C40D173}"/>
                  </a:ext>
                </a:extLst>
              </p:cNvPr>
              <p:cNvSpPr/>
              <p:nvPr/>
            </p:nvSpPr>
            <p:spPr>
              <a:xfrm>
                <a:off x="1137030" y="3201170"/>
                <a:ext cx="161418" cy="161418"/>
              </a:xfrm>
              <a:prstGeom prst="ellipse">
                <a:avLst/>
              </a:prstGeom>
              <a:solidFill>
                <a:srgbClr val="A31B2B"/>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grpSp>
        <p:sp>
          <p:nvSpPr>
            <p:cNvPr id="119" name="ïşḻíḓê">
              <a:extLst>
                <a:ext uri="{FF2B5EF4-FFF2-40B4-BE49-F238E27FC236}">
                  <a16:creationId xmlns:a16="http://schemas.microsoft.com/office/drawing/2014/main" id="{4991D567-A1EF-49D0-AF90-9851ABDEE372}"/>
                </a:ext>
              </a:extLst>
            </p:cNvPr>
            <p:cNvSpPr/>
            <p:nvPr/>
          </p:nvSpPr>
          <p:spPr bwMode="auto">
            <a:xfrm>
              <a:off x="3608313" y="5360304"/>
              <a:ext cx="2027993" cy="422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Autofit/>
            </a:bodyPr>
            <a:lstStyle/>
            <a:p>
              <a:r>
                <a:rPr lang="zh-CN" altLang="en-US" sz="1333" dirty="0">
                  <a:latin typeface="+mj-ea"/>
                  <a:ea typeface="+mj-ea"/>
                </a:rPr>
                <a:t>项目经理提供开模需求给采购；</a:t>
              </a:r>
              <a:endParaRPr lang="en-US" altLang="zh-CN" sz="1333" dirty="0">
                <a:latin typeface="+mj-ea"/>
                <a:ea typeface="+mj-ea"/>
              </a:endParaRPr>
            </a:p>
          </p:txBody>
        </p:sp>
        <p:sp>
          <p:nvSpPr>
            <p:cNvPr id="120" name="íŝľiďé">
              <a:extLst>
                <a:ext uri="{FF2B5EF4-FFF2-40B4-BE49-F238E27FC236}">
                  <a16:creationId xmlns:a16="http://schemas.microsoft.com/office/drawing/2014/main" id="{43246A69-C3D4-44C4-B4D4-C7ECD62279E1}"/>
                </a:ext>
              </a:extLst>
            </p:cNvPr>
            <p:cNvSpPr/>
            <p:nvPr/>
          </p:nvSpPr>
          <p:spPr bwMode="auto">
            <a:xfrm>
              <a:off x="6783441" y="5377893"/>
              <a:ext cx="2009448"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rmAutofit/>
            </a:bodyPr>
            <a:lstStyle/>
            <a:p>
              <a:r>
                <a:rPr lang="en-US" altLang="zh-CN" sz="1333" dirty="0">
                  <a:latin typeface="微软雅黑" panose="020B0503020204020204" pitchFamily="34" charset="-122"/>
                  <a:ea typeface="微软雅黑" panose="020B0503020204020204" pitchFamily="34" charset="-122"/>
                </a:rPr>
                <a:t>OA</a:t>
              </a:r>
              <a:r>
                <a:rPr lang="zh-CN" altLang="en-US" sz="1333" dirty="0">
                  <a:latin typeface="微软雅黑" panose="020B0503020204020204" pitchFamily="34" charset="-122"/>
                  <a:ea typeface="微软雅黑" panose="020B0503020204020204" pitchFamily="34" charset="-122"/>
                </a:rPr>
                <a:t>提交项目费用类采购申请，推动流程签署；</a:t>
              </a:r>
              <a:endParaRPr lang="en-US" altLang="zh-CN" sz="1333" dirty="0">
                <a:latin typeface="微软雅黑" panose="020B0503020204020204" pitchFamily="34" charset="-122"/>
                <a:ea typeface="微软雅黑" panose="020B0503020204020204" pitchFamily="34" charset="-122"/>
              </a:endParaRPr>
            </a:p>
          </p:txBody>
        </p:sp>
        <p:sp>
          <p:nvSpPr>
            <p:cNvPr id="121" name="ïsļíḍê">
              <a:extLst>
                <a:ext uri="{FF2B5EF4-FFF2-40B4-BE49-F238E27FC236}">
                  <a16:creationId xmlns:a16="http://schemas.microsoft.com/office/drawing/2014/main" id="{F96683AF-7FF1-4AC1-A584-06A484AAE3C9}"/>
                </a:ext>
              </a:extLst>
            </p:cNvPr>
            <p:cNvSpPr/>
            <p:nvPr/>
          </p:nvSpPr>
          <p:spPr bwMode="auto">
            <a:xfrm>
              <a:off x="5048474" y="1231846"/>
              <a:ext cx="2304256"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rmAutofit/>
            </a:bodyPr>
            <a:lstStyle/>
            <a:p>
              <a:r>
                <a:rPr lang="zh-CN" altLang="en-US" sz="1333" dirty="0">
                  <a:latin typeface="微软雅黑" panose="020B0503020204020204" pitchFamily="34" charset="-122"/>
                  <a:ea typeface="微软雅黑" panose="020B0503020204020204" pitchFamily="34" charset="-122"/>
                </a:rPr>
                <a:t>采购进行开模招标，确定开模厂家；（</a:t>
              </a:r>
              <a:r>
                <a:rPr lang="en-US" altLang="zh-CN" sz="1333" dirty="0">
                  <a:latin typeface="微软雅黑" panose="020B0503020204020204" pitchFamily="34" charset="-122"/>
                  <a:ea typeface="微软雅黑" panose="020B0503020204020204" pitchFamily="34" charset="-122"/>
                </a:rPr>
                <a:t>2~3</a:t>
              </a:r>
              <a:r>
                <a:rPr lang="zh-CN" altLang="en-US" sz="1333" dirty="0">
                  <a:latin typeface="微软雅黑" panose="020B0503020204020204" pitchFamily="34" charset="-122"/>
                  <a:ea typeface="微软雅黑" panose="020B0503020204020204" pitchFamily="34" charset="-122"/>
                </a:rPr>
                <a:t>周）</a:t>
              </a:r>
              <a:endParaRPr lang="en-US" altLang="zh-CN" sz="1333" dirty="0">
                <a:latin typeface="微软雅黑" panose="020B0503020204020204" pitchFamily="34" charset="-122"/>
                <a:ea typeface="微软雅黑" panose="020B0503020204020204" pitchFamily="34" charset="-122"/>
              </a:endParaRPr>
            </a:p>
          </p:txBody>
        </p:sp>
        <p:sp>
          <p:nvSpPr>
            <p:cNvPr id="122" name="îṣḷïdê">
              <a:extLst>
                <a:ext uri="{FF2B5EF4-FFF2-40B4-BE49-F238E27FC236}">
                  <a16:creationId xmlns:a16="http://schemas.microsoft.com/office/drawing/2014/main" id="{CC941FCC-8A01-4CFE-826D-41D17017F9B7}"/>
                </a:ext>
              </a:extLst>
            </p:cNvPr>
            <p:cNvSpPr/>
            <p:nvPr/>
          </p:nvSpPr>
          <p:spPr bwMode="auto">
            <a:xfrm>
              <a:off x="2193594" y="1231846"/>
              <a:ext cx="1905548" cy="4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Autofit/>
            </a:bodyPr>
            <a:lstStyle/>
            <a:p>
              <a:r>
                <a:rPr lang="zh-CN" altLang="en-US" sz="1333" dirty="0">
                  <a:latin typeface="微软雅黑" panose="020B0503020204020204" pitchFamily="34" charset="-122"/>
                  <a:ea typeface="微软雅黑" panose="020B0503020204020204" pitchFamily="34" charset="-122"/>
                </a:rPr>
                <a:t>研发完成机构图纸修改，并经过同行技术评审；</a:t>
              </a:r>
              <a:endParaRPr lang="en-US" altLang="zh-CN" sz="1333" dirty="0">
                <a:latin typeface="微软雅黑" panose="020B0503020204020204" pitchFamily="34" charset="-122"/>
                <a:ea typeface="微软雅黑" panose="020B0503020204020204" pitchFamily="34" charset="-122"/>
              </a:endParaRPr>
            </a:p>
          </p:txBody>
        </p:sp>
        <p:sp>
          <p:nvSpPr>
            <p:cNvPr id="123" name="ïSḷîďè">
              <a:extLst>
                <a:ext uri="{FF2B5EF4-FFF2-40B4-BE49-F238E27FC236}">
                  <a16:creationId xmlns:a16="http://schemas.microsoft.com/office/drawing/2014/main" id="{EA860292-25B8-4BCB-8620-DB2AFB24EBB1}"/>
                </a:ext>
              </a:extLst>
            </p:cNvPr>
            <p:cNvSpPr/>
            <p:nvPr/>
          </p:nvSpPr>
          <p:spPr bwMode="auto">
            <a:xfrm>
              <a:off x="7832782" y="1231846"/>
              <a:ext cx="2496277"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rmAutofit/>
            </a:bodyPr>
            <a:lstStyle/>
            <a:p>
              <a:r>
                <a:rPr lang="zh-CN" altLang="en-US" sz="1333" dirty="0">
                  <a:latin typeface="微软雅黑" panose="020B0503020204020204" pitchFamily="34" charset="-122"/>
                  <a:ea typeface="微软雅黑" panose="020B0503020204020204" pitchFamily="34" charset="-122"/>
                </a:rPr>
                <a:t>流程最后流转到采购，采购下单，通知厂商开模、试模、生产；</a:t>
              </a:r>
              <a:endParaRPr lang="en-US" altLang="zh-CN" sz="1333" dirty="0">
                <a:latin typeface="微软雅黑" panose="020B0503020204020204" pitchFamily="34" charset="-122"/>
                <a:ea typeface="微软雅黑" panose="020B0503020204020204" pitchFamily="34" charset="-122"/>
              </a:endParaRPr>
            </a:p>
          </p:txBody>
        </p:sp>
      </p:grpSp>
      <p:cxnSp>
        <p:nvCxnSpPr>
          <p:cNvPr id="142" name="直接连接符 141">
            <a:extLst>
              <a:ext uri="{FF2B5EF4-FFF2-40B4-BE49-F238E27FC236}">
                <a16:creationId xmlns:a16="http://schemas.microsoft.com/office/drawing/2014/main" id="{E97F20F3-4391-411C-9CA2-F3B91B45A4BE}"/>
              </a:ext>
            </a:extLst>
          </p:cNvPr>
          <p:cNvCxnSpPr>
            <a:cxnSpLocks/>
          </p:cNvCxnSpPr>
          <p:nvPr/>
        </p:nvCxnSpPr>
        <p:spPr>
          <a:xfrm flipV="1">
            <a:off x="6103624" y="4890291"/>
            <a:ext cx="0" cy="905133"/>
          </a:xfrm>
          <a:prstGeom prst="line">
            <a:avLst/>
          </a:prstGeom>
          <a:ln w="28575">
            <a:solidFill>
              <a:srgbClr val="A31B2B"/>
            </a:solidFill>
          </a:ln>
        </p:spPr>
        <p:style>
          <a:lnRef idx="1">
            <a:schemeClr val="accent1"/>
          </a:lnRef>
          <a:fillRef idx="0">
            <a:schemeClr val="accent1"/>
          </a:fillRef>
          <a:effectRef idx="0">
            <a:schemeClr val="accent1"/>
          </a:effectRef>
          <a:fontRef idx="minor">
            <a:schemeClr val="tx1"/>
          </a:fontRef>
        </p:style>
      </p:cxnSp>
      <p:sp>
        <p:nvSpPr>
          <p:cNvPr id="143" name="ï$1íḍè">
            <a:extLst>
              <a:ext uri="{FF2B5EF4-FFF2-40B4-BE49-F238E27FC236}">
                <a16:creationId xmlns:a16="http://schemas.microsoft.com/office/drawing/2014/main" id="{F3B72399-2C40-4B88-8631-7A9DA9A8F1F2}"/>
              </a:ext>
            </a:extLst>
          </p:cNvPr>
          <p:cNvSpPr/>
          <p:nvPr/>
        </p:nvSpPr>
        <p:spPr>
          <a:xfrm>
            <a:off x="5595101" y="4049190"/>
            <a:ext cx="1013255" cy="1013255"/>
          </a:xfrm>
          <a:prstGeom prst="ellipse">
            <a:avLst/>
          </a:prstGeom>
          <a:noFill/>
          <a:ln w="28575">
            <a:solidFill>
              <a:srgbClr val="A31B2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44" name="íṧļïďê">
            <a:extLst>
              <a:ext uri="{FF2B5EF4-FFF2-40B4-BE49-F238E27FC236}">
                <a16:creationId xmlns:a16="http://schemas.microsoft.com/office/drawing/2014/main" id="{E7F9E64D-DCF6-48D6-8FB0-BEBECAAF303A}"/>
              </a:ext>
            </a:extLst>
          </p:cNvPr>
          <p:cNvSpPr/>
          <p:nvPr/>
        </p:nvSpPr>
        <p:spPr>
          <a:xfrm>
            <a:off x="5724161" y="4178250"/>
            <a:ext cx="755135" cy="755135"/>
          </a:xfrm>
          <a:prstGeom prst="ellipse">
            <a:avLst/>
          </a:prstGeom>
          <a:solidFill>
            <a:srgbClr val="A31B2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600" dirty="0"/>
              <a:t>开发</a:t>
            </a:r>
            <a:endParaRPr lang="en-US" altLang="zh-CN" sz="1600" dirty="0"/>
          </a:p>
        </p:txBody>
      </p:sp>
      <p:sp>
        <p:nvSpPr>
          <p:cNvPr id="145" name="íŝľiďé">
            <a:extLst>
              <a:ext uri="{FF2B5EF4-FFF2-40B4-BE49-F238E27FC236}">
                <a16:creationId xmlns:a16="http://schemas.microsoft.com/office/drawing/2014/main" id="{43246A69-C3D4-44C4-B4D4-C7ECD62279E1}"/>
              </a:ext>
            </a:extLst>
          </p:cNvPr>
          <p:cNvSpPr/>
          <p:nvPr/>
        </p:nvSpPr>
        <p:spPr bwMode="auto">
          <a:xfrm>
            <a:off x="5135894" y="6120794"/>
            <a:ext cx="2420156"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rmAutofit/>
          </a:bodyPr>
          <a:lstStyle/>
          <a:p>
            <a:r>
              <a:rPr lang="zh-CN" altLang="en-US" sz="1333" dirty="0">
                <a:latin typeface="微软雅黑" panose="020B0503020204020204" pitchFamily="34" charset="-122"/>
                <a:ea typeface="微软雅黑" panose="020B0503020204020204" pitchFamily="34" charset="-122"/>
              </a:rPr>
              <a:t>研发协助机构模具费用确认；</a:t>
            </a:r>
            <a:endParaRPr lang="en-US" altLang="zh-CN" sz="1333" dirty="0">
              <a:latin typeface="微软雅黑" panose="020B0503020204020204" pitchFamily="34" charset="-122"/>
              <a:ea typeface="微软雅黑" panose="020B0503020204020204" pitchFamily="34" charset="-122"/>
            </a:endParaRPr>
          </a:p>
        </p:txBody>
      </p:sp>
      <p:cxnSp>
        <p:nvCxnSpPr>
          <p:cNvPr id="146" name="直接连接符 145">
            <a:extLst>
              <a:ext uri="{FF2B5EF4-FFF2-40B4-BE49-F238E27FC236}">
                <a16:creationId xmlns:a16="http://schemas.microsoft.com/office/drawing/2014/main" id="{E97F20F3-4391-411C-9CA2-F3B91B45A4BE}"/>
              </a:ext>
            </a:extLst>
          </p:cNvPr>
          <p:cNvCxnSpPr>
            <a:cxnSpLocks/>
          </p:cNvCxnSpPr>
          <p:nvPr/>
        </p:nvCxnSpPr>
        <p:spPr>
          <a:xfrm flipV="1">
            <a:off x="9121823" y="4890291"/>
            <a:ext cx="0" cy="90513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47" name="ï$1íḍè">
            <a:extLst>
              <a:ext uri="{FF2B5EF4-FFF2-40B4-BE49-F238E27FC236}">
                <a16:creationId xmlns:a16="http://schemas.microsoft.com/office/drawing/2014/main" id="{F3B72399-2C40-4B88-8631-7A9DA9A8F1F2}"/>
              </a:ext>
            </a:extLst>
          </p:cNvPr>
          <p:cNvSpPr/>
          <p:nvPr/>
        </p:nvSpPr>
        <p:spPr>
          <a:xfrm>
            <a:off x="8603629" y="4006097"/>
            <a:ext cx="1013255" cy="101325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p>
        </p:txBody>
      </p:sp>
      <p:sp>
        <p:nvSpPr>
          <p:cNvPr id="148" name="íṧļïďê">
            <a:extLst>
              <a:ext uri="{FF2B5EF4-FFF2-40B4-BE49-F238E27FC236}">
                <a16:creationId xmlns:a16="http://schemas.microsoft.com/office/drawing/2014/main" id="{E7F9E64D-DCF6-48D6-8FB0-BEBECAAF303A}"/>
              </a:ext>
            </a:extLst>
          </p:cNvPr>
          <p:cNvSpPr/>
          <p:nvPr/>
        </p:nvSpPr>
        <p:spPr>
          <a:xfrm>
            <a:off x="8732689" y="4135157"/>
            <a:ext cx="755135" cy="75513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500" lnSpcReduction="10000"/>
          </a:bodyPr>
          <a:lstStyle/>
          <a:p>
            <a:pPr algn="ctr"/>
            <a:r>
              <a:rPr lang="zh-CN" altLang="en-US" sz="1600" dirty="0"/>
              <a:t>开发</a:t>
            </a:r>
            <a:endParaRPr lang="en-US" altLang="zh-CN" sz="1600" dirty="0"/>
          </a:p>
        </p:txBody>
      </p:sp>
      <p:sp>
        <p:nvSpPr>
          <p:cNvPr id="149" name="íŝľiďé">
            <a:extLst>
              <a:ext uri="{FF2B5EF4-FFF2-40B4-BE49-F238E27FC236}">
                <a16:creationId xmlns:a16="http://schemas.microsoft.com/office/drawing/2014/main" id="{43246A69-C3D4-44C4-B4D4-C7ECD62279E1}"/>
              </a:ext>
            </a:extLst>
          </p:cNvPr>
          <p:cNvSpPr/>
          <p:nvPr/>
        </p:nvSpPr>
        <p:spPr bwMode="auto">
          <a:xfrm>
            <a:off x="8016213" y="6135390"/>
            <a:ext cx="2592288" cy="73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0000" tIns="62400" rIns="120000" bIns="62400" anchor="t" anchorCtr="0">
            <a:noAutofit/>
          </a:bodyPr>
          <a:lstStyle/>
          <a:p>
            <a:r>
              <a:rPr lang="zh-CN" altLang="en-US" sz="1333" dirty="0">
                <a:latin typeface="微软雅黑" panose="020B0503020204020204" pitchFamily="34" charset="-122"/>
                <a:ea typeface="微软雅黑" panose="020B0503020204020204" pitchFamily="34" charset="-122"/>
              </a:rPr>
              <a:t>研发协助试模，确认生产技术指标符合设计规范；产品问题解决，符合曙光品质规范</a:t>
            </a:r>
            <a:endParaRPr lang="en-US" altLang="zh-CN" sz="1333"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22709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ea"/>
                <a:ea typeface="+mn-ea"/>
                <a:cs typeface="+mn-ea"/>
                <a:sym typeface="+mn-lt"/>
              </a:rPr>
              <a:t>L9 DVT——</a:t>
            </a:r>
            <a:r>
              <a:rPr lang="zh-CN" altLang="en-US" dirty="0">
                <a:latin typeface="+mn-ea"/>
                <a:ea typeface="+mn-ea"/>
                <a:cs typeface="+mn-ea"/>
                <a:sym typeface="+mn-lt"/>
              </a:rPr>
              <a:t>重点岗位主要工作</a:t>
            </a:r>
          </a:p>
        </p:txBody>
      </p:sp>
      <p:graphicFrame>
        <p:nvGraphicFramePr>
          <p:cNvPr id="94" name="表格 93"/>
          <p:cNvGraphicFramePr>
            <a:graphicFrameLocks noGrp="1"/>
          </p:cNvGraphicFramePr>
          <p:nvPr/>
        </p:nvGraphicFramePr>
        <p:xfrm>
          <a:off x="442913" y="1089025"/>
          <a:ext cx="11341099" cy="5508623"/>
        </p:xfrm>
        <a:graphic>
          <a:graphicData uri="http://schemas.openxmlformats.org/drawingml/2006/table">
            <a:tbl>
              <a:tblPr firstRow="1" bandRow="1">
                <a:tableStyleId>{00A15C55-8517-42AA-B614-E9B94910E393}</a:tableStyleId>
              </a:tblPr>
              <a:tblGrid>
                <a:gridCol w="1775128">
                  <a:extLst>
                    <a:ext uri="{9D8B030D-6E8A-4147-A177-3AD203B41FA5}">
                      <a16:colId xmlns:a16="http://schemas.microsoft.com/office/drawing/2014/main" val="1503978168"/>
                    </a:ext>
                  </a:extLst>
                </a:gridCol>
                <a:gridCol w="4240585">
                  <a:extLst>
                    <a:ext uri="{9D8B030D-6E8A-4147-A177-3AD203B41FA5}">
                      <a16:colId xmlns:a16="http://schemas.microsoft.com/office/drawing/2014/main" val="773509366"/>
                    </a:ext>
                  </a:extLst>
                </a:gridCol>
                <a:gridCol w="5325386">
                  <a:extLst>
                    <a:ext uri="{9D8B030D-6E8A-4147-A177-3AD203B41FA5}">
                      <a16:colId xmlns:a16="http://schemas.microsoft.com/office/drawing/2014/main" val="869367937"/>
                    </a:ext>
                  </a:extLst>
                </a:gridCol>
              </a:tblGrid>
              <a:tr h="407589">
                <a:tc>
                  <a:txBody>
                    <a:bodyPr/>
                    <a:lstStyle/>
                    <a:p>
                      <a:pPr algn="ctr"/>
                      <a:r>
                        <a:rPr lang="zh-CN" altLang="en-US" sz="1800" dirty="0">
                          <a:sym typeface="+mn-lt"/>
                        </a:rPr>
                        <a:t>岗位名称</a:t>
                      </a:r>
                      <a:endParaRPr lang="zh-CN" altLang="en-US" sz="1800" dirty="0">
                        <a:latin typeface="+mn-lt"/>
                        <a:ea typeface="+mn-ea"/>
                        <a:cs typeface="+mn-ea"/>
                        <a:sym typeface="+mn-lt"/>
                      </a:endParaRPr>
                    </a:p>
                  </a:txBody>
                  <a:tcPr marL="121920" marR="121920" marT="60960" marB="60960"/>
                </a:tc>
                <a:tc>
                  <a:txBody>
                    <a:bodyPr/>
                    <a:lstStyle/>
                    <a:p>
                      <a:pPr algn="ctr"/>
                      <a:r>
                        <a:rPr lang="zh-CN" altLang="en-US" sz="1800" dirty="0">
                          <a:sym typeface="+mn-lt"/>
                        </a:rPr>
                        <a:t>主要职责</a:t>
                      </a:r>
                      <a:endParaRPr lang="zh-CN" altLang="en-US" sz="1800" dirty="0">
                        <a:latin typeface="+mn-lt"/>
                        <a:ea typeface="+mn-ea"/>
                        <a:cs typeface="+mn-ea"/>
                        <a:sym typeface="+mn-lt"/>
                      </a:endParaRPr>
                    </a:p>
                  </a:txBody>
                  <a:tcPr marL="121920" marR="121920" marT="60960" marB="60960"/>
                </a:tc>
                <a:tc>
                  <a:txBody>
                    <a:bodyPr/>
                    <a:lstStyle/>
                    <a:p>
                      <a:pPr algn="ctr"/>
                      <a:r>
                        <a:rPr lang="zh-CN" altLang="en-US" sz="1800" dirty="0">
                          <a:sym typeface="+mn-lt"/>
                        </a:rPr>
                        <a:t>输出物</a:t>
                      </a:r>
                      <a:endParaRPr lang="zh-CN" altLang="en-US" sz="1800" dirty="0">
                        <a:latin typeface="+mn-lt"/>
                        <a:ea typeface="+mn-ea"/>
                        <a:cs typeface="+mn-ea"/>
                        <a:sym typeface="+mn-lt"/>
                      </a:endParaRPr>
                    </a:p>
                  </a:txBody>
                  <a:tcPr marL="121920" marR="121920" marT="60960" marB="60960"/>
                </a:tc>
                <a:extLst>
                  <a:ext uri="{0D108BD9-81ED-4DB2-BD59-A6C34878D82A}">
                    <a16:rowId xmlns:a16="http://schemas.microsoft.com/office/drawing/2014/main" val="3162067804"/>
                  </a:ext>
                </a:extLst>
              </a:tr>
              <a:tr h="978214">
                <a:tc>
                  <a:txBody>
                    <a:bodyPr/>
                    <a:lstStyle/>
                    <a:p>
                      <a:pPr algn="ctr"/>
                      <a:r>
                        <a:rPr lang="zh-CN" altLang="en-US" sz="1400" dirty="0">
                          <a:sym typeface="+mn-lt"/>
                        </a:rPr>
                        <a:t>系统架构师</a:t>
                      </a:r>
                      <a:endParaRPr lang="zh-CN" altLang="en-US" sz="1400" dirty="0">
                        <a:latin typeface="+mn-lt"/>
                        <a:ea typeface="+mn-ea"/>
                        <a:cs typeface="+mn-ea"/>
                        <a:sym typeface="+mn-lt"/>
                      </a:endParaRPr>
                    </a:p>
                  </a:txBody>
                  <a:tcPr marL="121920" marR="121920" marT="60960" marB="60960" anchor="ctr"/>
                </a:tc>
                <a:tc>
                  <a:txBody>
                    <a:bodyPr/>
                    <a:lstStyle/>
                    <a:p>
                      <a:pPr marL="171450" indent="-171450">
                        <a:buFont typeface="Arial" panose="020B0604020202020204" pitchFamily="34" charset="0"/>
                        <a:buChar char="•"/>
                      </a:pPr>
                      <a:r>
                        <a:rPr lang="zh-CN" altLang="en-US" sz="1400" dirty="0">
                          <a:solidFill>
                            <a:schemeClr val="tx1"/>
                          </a:solidFill>
                          <a:sym typeface="+mn-lt"/>
                        </a:rPr>
                        <a:t>根据验证结论，评估整体方案；</a:t>
                      </a:r>
                      <a:endParaRPr lang="en-US" altLang="zh-CN" sz="1400" dirty="0">
                        <a:solidFill>
                          <a:schemeClr val="tx1"/>
                        </a:solidFill>
                        <a:sym typeface="+mn-lt"/>
                      </a:endParaRPr>
                    </a:p>
                    <a:p>
                      <a:pPr marL="171450" indent="-171450">
                        <a:buFont typeface="Arial" panose="020B0604020202020204" pitchFamily="34" charset="0"/>
                        <a:buChar char="•"/>
                      </a:pPr>
                      <a:r>
                        <a:rPr lang="zh-CN" altLang="en-US" sz="1400" dirty="0">
                          <a:solidFill>
                            <a:schemeClr val="tx1"/>
                          </a:solidFill>
                          <a:sym typeface="+mn-lt"/>
                        </a:rPr>
                        <a:t>负责同行评审争议决策、参与技术评审和管理评审；</a:t>
                      </a:r>
                      <a:endParaRPr lang="en-US" altLang="zh-CN" sz="1400" dirty="0">
                        <a:solidFill>
                          <a:schemeClr val="tx1"/>
                        </a:solidFill>
                        <a:sym typeface="+mn-lt"/>
                      </a:endParaRPr>
                    </a:p>
                    <a:p>
                      <a:pPr marL="171450" indent="-171450">
                        <a:buFont typeface="Arial" panose="020B0604020202020204" pitchFamily="34" charset="0"/>
                        <a:buChar char="•"/>
                      </a:pPr>
                      <a:r>
                        <a:rPr lang="zh-CN" altLang="en-US" sz="1400" dirty="0">
                          <a:solidFill>
                            <a:schemeClr val="tx1"/>
                          </a:solidFill>
                          <a:sym typeface="+mn-lt"/>
                        </a:rPr>
                        <a:t>组织原型机技术状态评审 ；</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tx1"/>
                          </a:solidFill>
                          <a:effectLst/>
                          <a:sym typeface="+mn-lt"/>
                        </a:rPr>
                        <a:t>《</a:t>
                      </a:r>
                      <a:r>
                        <a:rPr lang="zh-CN" altLang="en-US" sz="1400" u="none" strike="noStrike" kern="1200" dirty="0">
                          <a:solidFill>
                            <a:schemeClr val="tx1"/>
                          </a:solidFill>
                          <a:effectLst/>
                          <a:sym typeface="+mn-lt"/>
                        </a:rPr>
                        <a:t>工程样</a:t>
                      </a:r>
                      <a:r>
                        <a:rPr lang="zh-CN" altLang="en-US" sz="1400" dirty="0">
                          <a:solidFill>
                            <a:schemeClr val="tx1"/>
                          </a:solidFill>
                          <a:sym typeface="+mn-lt"/>
                        </a:rPr>
                        <a:t>机技术状态评审报告</a:t>
                      </a:r>
                      <a:r>
                        <a:rPr lang="en-US" altLang="zh-CN" sz="1400" u="none" strike="noStrike" kern="1200" dirty="0">
                          <a:solidFill>
                            <a:schemeClr val="tx1"/>
                          </a:solidFill>
                          <a:effectLst/>
                          <a:sym typeface="+mn-lt"/>
                        </a:rPr>
                        <a:t>》</a:t>
                      </a:r>
                      <a:endParaRPr lang="en-US" altLang="zh-CN" sz="1400" u="none" strike="noStrike" kern="1200" dirty="0">
                        <a:solidFill>
                          <a:schemeClr val="tx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982289352"/>
                  </a:ext>
                </a:extLst>
              </a:tr>
              <a:tr h="412282">
                <a:tc>
                  <a:txBody>
                    <a:bodyPr/>
                    <a:lstStyle/>
                    <a:p>
                      <a:pPr algn="ctr"/>
                      <a:r>
                        <a:rPr lang="en-US" altLang="zh-CN" sz="1400" dirty="0">
                          <a:sym typeface="+mn-lt"/>
                        </a:rPr>
                        <a:t>DC</a:t>
                      </a:r>
                      <a:r>
                        <a:rPr lang="zh-CN" altLang="en-US" sz="1400" dirty="0">
                          <a:sym typeface="+mn-lt"/>
                        </a:rPr>
                        <a:t>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sym typeface="+mn-lt"/>
                        </a:rPr>
                        <a:t>DC</a:t>
                      </a:r>
                      <a:r>
                        <a:rPr lang="zh-CN" altLang="en-US" sz="1400" kern="1200" dirty="0">
                          <a:solidFill>
                            <a:schemeClr val="tx1"/>
                          </a:solidFill>
                          <a:sym typeface="+mn-lt"/>
                        </a:rPr>
                        <a:t>测试及改版意见输出</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《DVT DC</a:t>
                      </a:r>
                      <a:r>
                        <a:rPr lang="zh-CN" altLang="en-US" sz="1400" u="none" strike="noStrike" kern="1200" dirty="0">
                          <a:solidFill>
                            <a:schemeClr val="dk1"/>
                          </a:solidFill>
                          <a:effectLst/>
                          <a:sym typeface="+mn-lt"/>
                        </a:rPr>
                        <a:t>测试报告</a:t>
                      </a:r>
                      <a:r>
                        <a:rPr lang="en-US" altLang="zh-CN" sz="1400" u="none" strike="noStrike" kern="1200" dirty="0">
                          <a:solidFill>
                            <a:schemeClr val="dk1"/>
                          </a:solidFill>
                          <a:effectLst/>
                          <a:sym typeface="+mn-lt"/>
                        </a:rPr>
                        <a:t>》《PVT</a:t>
                      </a:r>
                      <a:r>
                        <a:rPr lang="en-US" altLang="zh-CN" sz="1400" u="none" strike="noStrike" kern="1200" baseline="0" dirty="0">
                          <a:solidFill>
                            <a:schemeClr val="dk1"/>
                          </a:solidFill>
                          <a:effectLst/>
                          <a:sym typeface="+mn-lt"/>
                        </a:rPr>
                        <a:t> </a:t>
                      </a:r>
                      <a:r>
                        <a:rPr lang="en-US" altLang="zh-CN" sz="1400" u="none" strike="noStrike" kern="1200" dirty="0">
                          <a:solidFill>
                            <a:schemeClr val="dk1"/>
                          </a:solidFill>
                          <a:effectLst/>
                          <a:sym typeface="+mn-lt"/>
                        </a:rPr>
                        <a:t>DC</a:t>
                      </a:r>
                      <a:r>
                        <a:rPr lang="zh-CN" altLang="en-US" sz="1400" u="none" strike="noStrike" kern="1200" dirty="0">
                          <a:solidFill>
                            <a:schemeClr val="dk1"/>
                          </a:solidFill>
                          <a:effectLst/>
                          <a:sym typeface="+mn-lt"/>
                        </a:rPr>
                        <a:t>测试计划</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4082592736"/>
                  </a:ext>
                </a:extLst>
              </a:tr>
              <a:tr h="412282">
                <a:tc>
                  <a:txBody>
                    <a:bodyPr/>
                    <a:lstStyle/>
                    <a:p>
                      <a:pPr algn="ctr"/>
                      <a:r>
                        <a:rPr lang="en-US" altLang="zh-CN" sz="1400" dirty="0">
                          <a:sym typeface="+mn-lt"/>
                        </a:rPr>
                        <a:t>SI</a:t>
                      </a:r>
                      <a:r>
                        <a:rPr lang="zh-CN" altLang="en-US" sz="1400" dirty="0">
                          <a:sym typeface="+mn-lt"/>
                        </a:rPr>
                        <a:t>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sym typeface="+mn-lt"/>
                        </a:rPr>
                        <a:t>SI</a:t>
                      </a:r>
                      <a:r>
                        <a:rPr lang="zh-CN" altLang="en-US" sz="1400" kern="1200" dirty="0">
                          <a:solidFill>
                            <a:schemeClr val="tx1"/>
                          </a:solidFill>
                          <a:sym typeface="+mn-lt"/>
                        </a:rPr>
                        <a:t>测试及改版意见输出</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《DVT SI</a:t>
                      </a:r>
                      <a:r>
                        <a:rPr lang="zh-CN" altLang="en-US" sz="1400" u="none" strike="noStrike" kern="1200" dirty="0">
                          <a:solidFill>
                            <a:schemeClr val="dk1"/>
                          </a:solidFill>
                          <a:effectLst/>
                          <a:sym typeface="+mn-lt"/>
                        </a:rPr>
                        <a:t>测试报告</a:t>
                      </a:r>
                      <a:r>
                        <a:rPr lang="en-US" altLang="zh-CN" sz="1400" u="none" strike="noStrike" kern="1200" dirty="0">
                          <a:solidFill>
                            <a:schemeClr val="dk1"/>
                          </a:solidFill>
                          <a:effectLst/>
                          <a:sym typeface="+mn-lt"/>
                        </a:rPr>
                        <a:t>》《PVT</a:t>
                      </a:r>
                      <a:r>
                        <a:rPr lang="en-US" altLang="zh-CN" sz="1400" u="none" strike="noStrike" kern="1200" baseline="0" dirty="0">
                          <a:solidFill>
                            <a:schemeClr val="dk1"/>
                          </a:solidFill>
                          <a:effectLst/>
                          <a:sym typeface="+mn-lt"/>
                        </a:rPr>
                        <a:t> </a:t>
                      </a:r>
                      <a:r>
                        <a:rPr lang="en-US" altLang="zh-CN" sz="1400" u="none" strike="noStrike" kern="1200" dirty="0">
                          <a:solidFill>
                            <a:schemeClr val="dk1"/>
                          </a:solidFill>
                          <a:effectLst/>
                          <a:sym typeface="+mn-lt"/>
                        </a:rPr>
                        <a:t>SI</a:t>
                      </a:r>
                      <a:r>
                        <a:rPr lang="zh-CN" altLang="en-US" sz="1400" u="none" strike="noStrike" kern="1200" dirty="0">
                          <a:solidFill>
                            <a:schemeClr val="dk1"/>
                          </a:solidFill>
                          <a:effectLst/>
                          <a:sym typeface="+mn-lt"/>
                        </a:rPr>
                        <a:t>测试计划</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821497477"/>
                  </a:ext>
                </a:extLst>
              </a:tr>
              <a:tr h="412282">
                <a:tc>
                  <a:txBody>
                    <a:bodyPr/>
                    <a:lstStyle/>
                    <a:p>
                      <a:pPr algn="ctr"/>
                      <a:r>
                        <a:rPr lang="en-US" altLang="zh-CN" sz="1400" dirty="0">
                          <a:sym typeface="+mn-lt"/>
                        </a:rPr>
                        <a:t>SIT</a:t>
                      </a:r>
                      <a:r>
                        <a:rPr lang="zh-CN" altLang="en-US" sz="1400" dirty="0">
                          <a:sym typeface="+mn-lt"/>
                        </a:rPr>
                        <a:t>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sym typeface="+mn-lt"/>
                        </a:rPr>
                        <a:t>SIT</a:t>
                      </a:r>
                      <a:r>
                        <a:rPr lang="zh-CN" altLang="en-US" sz="1400" kern="1200" dirty="0">
                          <a:solidFill>
                            <a:schemeClr val="tx1"/>
                          </a:solidFill>
                          <a:sym typeface="+mn-lt"/>
                        </a:rPr>
                        <a:t>测试，</a:t>
                      </a:r>
                      <a:r>
                        <a:rPr lang="en-US" altLang="zh-CN" sz="1400" kern="1200" dirty="0">
                          <a:solidFill>
                            <a:schemeClr val="tx1"/>
                          </a:solidFill>
                          <a:sym typeface="+mn-lt"/>
                        </a:rPr>
                        <a:t>bug</a:t>
                      </a:r>
                      <a:r>
                        <a:rPr lang="zh-CN" altLang="en-US" sz="1400" kern="1200" dirty="0">
                          <a:solidFill>
                            <a:schemeClr val="tx1"/>
                          </a:solidFill>
                          <a:sym typeface="+mn-lt"/>
                        </a:rPr>
                        <a:t>提交，</a:t>
                      </a:r>
                      <a:r>
                        <a:rPr lang="en-US" altLang="zh-CN" sz="1400" kern="1200" dirty="0">
                          <a:solidFill>
                            <a:schemeClr val="tx1"/>
                          </a:solidFill>
                          <a:sym typeface="+mn-lt"/>
                        </a:rPr>
                        <a:t>bug</a:t>
                      </a:r>
                      <a:r>
                        <a:rPr lang="zh-CN" altLang="en-US" sz="1400" kern="1200" dirty="0">
                          <a:solidFill>
                            <a:schemeClr val="tx1"/>
                          </a:solidFill>
                          <a:sym typeface="+mn-lt"/>
                        </a:rPr>
                        <a:t>验证</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《DVT SIT</a:t>
                      </a:r>
                      <a:r>
                        <a:rPr lang="zh-CN" altLang="en-US" sz="1400" u="none" strike="noStrike" kern="1200" dirty="0">
                          <a:solidFill>
                            <a:schemeClr val="dk1"/>
                          </a:solidFill>
                          <a:effectLst/>
                          <a:sym typeface="+mn-lt"/>
                        </a:rPr>
                        <a:t>测试报告</a:t>
                      </a:r>
                      <a:r>
                        <a:rPr lang="en-US" altLang="zh-CN" sz="1400" u="none" strike="noStrike" kern="1200" dirty="0">
                          <a:solidFill>
                            <a:schemeClr val="dk1"/>
                          </a:solidFill>
                          <a:effectLst/>
                          <a:sym typeface="+mn-lt"/>
                        </a:rPr>
                        <a:t>》《PVT SIT</a:t>
                      </a:r>
                      <a:r>
                        <a:rPr lang="zh-CN" altLang="en-US" sz="1400" u="none" strike="noStrike" kern="1200" dirty="0">
                          <a:solidFill>
                            <a:schemeClr val="dk1"/>
                          </a:solidFill>
                          <a:effectLst/>
                          <a:sym typeface="+mn-lt"/>
                        </a:rPr>
                        <a:t>测试计划</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331731674"/>
                  </a:ext>
                </a:extLst>
              </a:tr>
              <a:tr h="412282">
                <a:tc>
                  <a:txBody>
                    <a:bodyPr/>
                    <a:lstStyle/>
                    <a:p>
                      <a:pPr algn="ctr"/>
                      <a:r>
                        <a:rPr lang="zh-CN" altLang="en-US" sz="1400" dirty="0">
                          <a:sym typeface="+mn-lt"/>
                        </a:rPr>
                        <a:t>散热工程师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dirty="0">
                          <a:sym typeface="+mn-lt"/>
                        </a:rPr>
                        <a:t>散热</a:t>
                      </a:r>
                      <a:r>
                        <a:rPr lang="zh-CN" altLang="en-US" sz="1400" kern="1200" dirty="0">
                          <a:solidFill>
                            <a:schemeClr val="tx1"/>
                          </a:solidFill>
                          <a:sym typeface="+mn-lt"/>
                        </a:rPr>
                        <a:t>测试及改版意见输出</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《DVT </a:t>
                      </a:r>
                      <a:r>
                        <a:rPr lang="zh-CN" altLang="en-US" sz="1400" dirty="0">
                          <a:sym typeface="+mn-lt"/>
                        </a:rPr>
                        <a:t>散热</a:t>
                      </a:r>
                      <a:r>
                        <a:rPr lang="zh-CN" altLang="en-US" sz="1400" u="none" strike="noStrike" kern="1200" dirty="0">
                          <a:solidFill>
                            <a:schemeClr val="dk1"/>
                          </a:solidFill>
                          <a:effectLst/>
                          <a:sym typeface="+mn-lt"/>
                        </a:rPr>
                        <a:t>测试报告</a:t>
                      </a:r>
                      <a:r>
                        <a:rPr lang="en-US" altLang="zh-CN" sz="1400" u="none" strike="noStrike" kern="1200" dirty="0">
                          <a:solidFill>
                            <a:schemeClr val="dk1"/>
                          </a:solidFill>
                          <a:effectLst/>
                          <a:sym typeface="+mn-lt"/>
                        </a:rPr>
                        <a:t>》《PVT </a:t>
                      </a:r>
                      <a:r>
                        <a:rPr lang="zh-CN" altLang="en-US" sz="1400" dirty="0">
                          <a:sym typeface="+mn-lt"/>
                        </a:rPr>
                        <a:t>散热</a:t>
                      </a:r>
                      <a:r>
                        <a:rPr lang="zh-CN" altLang="en-US" sz="1400" u="none" strike="noStrike" kern="1200" dirty="0">
                          <a:solidFill>
                            <a:schemeClr val="dk1"/>
                          </a:solidFill>
                          <a:effectLst/>
                          <a:sym typeface="+mn-lt"/>
                        </a:rPr>
                        <a:t>测试计划</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757293535"/>
                  </a:ext>
                </a:extLst>
              </a:tr>
              <a:tr h="412282">
                <a:tc>
                  <a:txBody>
                    <a:bodyPr/>
                    <a:lstStyle/>
                    <a:p>
                      <a:pPr algn="ctr"/>
                      <a:r>
                        <a:rPr lang="en-US" altLang="zh-CN" sz="1400" dirty="0">
                          <a:sym typeface="+mn-lt"/>
                        </a:rPr>
                        <a:t>PA</a:t>
                      </a:r>
                      <a:r>
                        <a:rPr lang="zh-CN" altLang="en-US" sz="1400" dirty="0">
                          <a:sym typeface="+mn-lt"/>
                        </a:rPr>
                        <a:t>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en-US" altLang="zh-CN" sz="1400" kern="1200" dirty="0">
                          <a:solidFill>
                            <a:schemeClr val="tx1"/>
                          </a:solidFill>
                          <a:sym typeface="+mn-lt"/>
                        </a:rPr>
                        <a:t>PA</a:t>
                      </a:r>
                      <a:r>
                        <a:rPr lang="zh-CN" altLang="en-US" sz="1400" kern="1200" dirty="0">
                          <a:solidFill>
                            <a:schemeClr val="tx1"/>
                          </a:solidFill>
                          <a:sym typeface="+mn-lt"/>
                        </a:rPr>
                        <a:t>测试及改版意见输出</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《DVT PA</a:t>
                      </a:r>
                      <a:r>
                        <a:rPr lang="zh-CN" altLang="en-US" sz="1400" u="none" strike="noStrike" kern="1200" dirty="0">
                          <a:solidFill>
                            <a:schemeClr val="dk1"/>
                          </a:solidFill>
                          <a:effectLst/>
                          <a:sym typeface="+mn-lt"/>
                        </a:rPr>
                        <a:t>测试报告</a:t>
                      </a:r>
                      <a:r>
                        <a:rPr lang="en-US" altLang="zh-CN" sz="1400" u="none" strike="noStrike" kern="1200" dirty="0">
                          <a:solidFill>
                            <a:schemeClr val="dk1"/>
                          </a:solidFill>
                          <a:effectLst/>
                          <a:sym typeface="+mn-lt"/>
                        </a:rPr>
                        <a:t>》《PVT PA</a:t>
                      </a:r>
                      <a:r>
                        <a:rPr lang="zh-CN" altLang="en-US" sz="1400" u="none" strike="noStrike" kern="1200" dirty="0">
                          <a:solidFill>
                            <a:schemeClr val="dk1"/>
                          </a:solidFill>
                          <a:effectLst/>
                          <a:sym typeface="+mn-lt"/>
                        </a:rPr>
                        <a:t>测试计划</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133214060"/>
                  </a:ext>
                </a:extLst>
              </a:tr>
              <a:tr h="412282">
                <a:tc>
                  <a:txBody>
                    <a:bodyPr/>
                    <a:lstStyle/>
                    <a:p>
                      <a:pPr algn="ctr"/>
                      <a:r>
                        <a:rPr lang="zh-CN" altLang="en-US" sz="1400" dirty="0">
                          <a:sym typeface="+mn-lt"/>
                        </a:rPr>
                        <a:t>可靠性工程师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sym typeface="+mn-lt"/>
                        </a:rPr>
                        <a:t>可靠性测试及改版意见输出</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《DVT </a:t>
                      </a:r>
                      <a:r>
                        <a:rPr lang="zh-CN" altLang="en-US" sz="1400" kern="1200" dirty="0">
                          <a:solidFill>
                            <a:schemeClr val="tx1"/>
                          </a:solidFill>
                          <a:sym typeface="+mn-lt"/>
                        </a:rPr>
                        <a:t>可靠性</a:t>
                      </a:r>
                      <a:r>
                        <a:rPr lang="zh-CN" altLang="en-US" sz="1400" u="none" strike="noStrike" kern="1200" dirty="0">
                          <a:solidFill>
                            <a:schemeClr val="dk1"/>
                          </a:solidFill>
                          <a:effectLst/>
                          <a:sym typeface="+mn-lt"/>
                        </a:rPr>
                        <a:t>测试报告</a:t>
                      </a:r>
                      <a:r>
                        <a:rPr lang="en-US" altLang="zh-CN" sz="1400" u="none" strike="noStrike" kern="1200" dirty="0">
                          <a:solidFill>
                            <a:schemeClr val="dk1"/>
                          </a:solidFill>
                          <a:effectLst/>
                          <a:sym typeface="+mn-lt"/>
                        </a:rPr>
                        <a:t>》《PVT </a:t>
                      </a:r>
                      <a:r>
                        <a:rPr lang="zh-CN" altLang="en-US" sz="1400" kern="1200" dirty="0">
                          <a:solidFill>
                            <a:schemeClr val="tx1"/>
                          </a:solidFill>
                          <a:sym typeface="+mn-lt"/>
                        </a:rPr>
                        <a:t>可靠性</a:t>
                      </a:r>
                      <a:r>
                        <a:rPr lang="zh-CN" altLang="en-US" sz="1400" u="none" strike="noStrike" kern="1200" dirty="0">
                          <a:solidFill>
                            <a:schemeClr val="dk1"/>
                          </a:solidFill>
                          <a:effectLst/>
                          <a:sym typeface="+mn-lt"/>
                        </a:rPr>
                        <a:t>测试计划</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524037987"/>
                  </a:ext>
                </a:extLst>
              </a:tr>
              <a:tr h="412282">
                <a:tc>
                  <a:txBody>
                    <a:bodyPr/>
                    <a:lstStyle/>
                    <a:p>
                      <a:pPr algn="ctr"/>
                      <a:r>
                        <a:rPr lang="en-US" altLang="zh-CN" sz="1400" dirty="0">
                          <a:sym typeface="+mn-lt"/>
                        </a:rPr>
                        <a:t>BMC/BIOS/CMM</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sym typeface="+mn-lt"/>
                        </a:rPr>
                        <a:t>软件版本开发</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sym typeface="+mn-lt"/>
                        </a:rPr>
                        <a:t>软件版本（根据软件版本计划发布）</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1295311231"/>
                  </a:ext>
                </a:extLst>
              </a:tr>
              <a:tr h="412282">
                <a:tc>
                  <a:txBody>
                    <a:bodyPr/>
                    <a:lstStyle/>
                    <a:p>
                      <a:pPr algn="ctr"/>
                      <a:r>
                        <a:rPr lang="zh-CN" altLang="en-US" sz="1400" dirty="0">
                          <a:sym typeface="+mn-lt"/>
                        </a:rPr>
                        <a:t>硬件工程师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sym typeface="+mn-lt"/>
                        </a:rPr>
                        <a:t>评估</a:t>
                      </a:r>
                      <a:r>
                        <a:rPr lang="en-US" altLang="zh-CN" sz="1400" kern="1200" dirty="0">
                          <a:solidFill>
                            <a:schemeClr val="tx1"/>
                          </a:solidFill>
                          <a:sym typeface="+mn-lt"/>
                        </a:rPr>
                        <a:t>bug</a:t>
                      </a:r>
                      <a:r>
                        <a:rPr lang="zh-CN" altLang="en-US" sz="1400" kern="1200" dirty="0">
                          <a:solidFill>
                            <a:schemeClr val="tx1"/>
                          </a:solidFill>
                          <a:sym typeface="+mn-lt"/>
                        </a:rPr>
                        <a:t>及各组改版意见进行原理图改版</a:t>
                      </a:r>
                      <a:endParaRPr lang="en-US" altLang="zh-CN" sz="1400" kern="1200" dirty="0">
                        <a:solidFill>
                          <a:schemeClr val="tx1"/>
                        </a:solidFill>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原理图（含</a:t>
                      </a:r>
                      <a:r>
                        <a:rPr lang="en-US" altLang="zh-CN" sz="1400" u="none" strike="noStrike" kern="1200" dirty="0" err="1">
                          <a:solidFill>
                            <a:schemeClr val="dk1"/>
                          </a:solidFill>
                          <a:effectLst/>
                          <a:sym typeface="+mn-lt"/>
                        </a:rPr>
                        <a:t>Changelist</a:t>
                      </a:r>
                      <a:r>
                        <a:rPr lang="zh-CN" altLang="en-US" sz="1400" u="none" strike="noStrike" kern="1200" dirty="0">
                          <a:solidFill>
                            <a:schemeClr val="dk1"/>
                          </a:solidFill>
                          <a:effectLst/>
                          <a:sym typeface="+mn-lt"/>
                        </a:rPr>
                        <a:t>）</a:t>
                      </a:r>
                      <a:r>
                        <a:rPr lang="en-US" altLang="zh-CN" sz="1400" u="none" strike="noStrike" kern="1200" dirty="0">
                          <a:solidFill>
                            <a:schemeClr val="dk1"/>
                          </a:solidFill>
                          <a:effectLst/>
                          <a:sym typeface="+mn-lt"/>
                        </a:rPr>
                        <a:t>》《Layout guideline》</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353297114"/>
                  </a:ext>
                </a:extLst>
              </a:tr>
              <a:tr h="412282">
                <a:tc>
                  <a:txBody>
                    <a:bodyPr/>
                    <a:lstStyle/>
                    <a:p>
                      <a:pPr algn="ctr"/>
                      <a:r>
                        <a:rPr lang="en-US" altLang="zh-CN" sz="1400" dirty="0">
                          <a:sym typeface="+mn-lt"/>
                        </a:rPr>
                        <a:t>Layout</a:t>
                      </a:r>
                      <a:r>
                        <a:rPr lang="zh-CN" altLang="en-US" sz="1400" dirty="0">
                          <a:sym typeface="+mn-lt"/>
                        </a:rPr>
                        <a:t>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sym typeface="+mn-lt"/>
                        </a:rPr>
                        <a:t>改版布线，</a:t>
                      </a:r>
                      <a:r>
                        <a:rPr lang="en-US" altLang="zh-CN" sz="1400" kern="1200" dirty="0">
                          <a:solidFill>
                            <a:schemeClr val="tx1"/>
                          </a:solidFill>
                          <a:sym typeface="+mn-lt"/>
                        </a:rPr>
                        <a:t>Gerber</a:t>
                      </a:r>
                      <a:r>
                        <a:rPr lang="zh-CN" altLang="en-US" sz="1400" kern="1200" dirty="0">
                          <a:solidFill>
                            <a:schemeClr val="tx1"/>
                          </a:solidFill>
                          <a:sym typeface="+mn-lt"/>
                        </a:rPr>
                        <a:t>文档发布</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《BRD》《Gerber</a:t>
                      </a:r>
                      <a:r>
                        <a:rPr lang="zh-CN" altLang="en-US" sz="1400" u="none" strike="noStrike" kern="1200" dirty="0">
                          <a:solidFill>
                            <a:schemeClr val="dk1"/>
                          </a:solidFill>
                          <a:effectLst/>
                          <a:sym typeface="+mn-lt"/>
                        </a:rPr>
                        <a:t>文件</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1940346069"/>
                  </a:ext>
                </a:extLst>
              </a:tr>
              <a:tr h="412282">
                <a:tc>
                  <a:txBody>
                    <a:bodyPr/>
                    <a:lstStyle/>
                    <a:p>
                      <a:pPr algn="ctr"/>
                      <a:r>
                        <a:rPr lang="zh-CN" altLang="en-US" sz="1400" dirty="0">
                          <a:sym typeface="+mn-lt"/>
                        </a:rPr>
                        <a:t>机构工程师</a:t>
                      </a:r>
                      <a:endParaRPr lang="zh-CN" altLang="en-US" sz="1400" dirty="0">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buFont typeface="Arial" panose="020B0604020202020204" pitchFamily="34" charset="0"/>
                        <a:buChar char="•"/>
                      </a:pPr>
                      <a:r>
                        <a:rPr lang="zh-CN" altLang="en-US" sz="1400" kern="1200" dirty="0">
                          <a:solidFill>
                            <a:schemeClr val="tx1"/>
                          </a:solidFill>
                          <a:sym typeface="+mn-lt"/>
                        </a:rPr>
                        <a:t>评估</a:t>
                      </a:r>
                      <a:r>
                        <a:rPr lang="en-US" altLang="zh-CN" sz="1400" kern="1200" dirty="0">
                          <a:solidFill>
                            <a:schemeClr val="tx1"/>
                          </a:solidFill>
                          <a:sym typeface="+mn-lt"/>
                        </a:rPr>
                        <a:t>bug</a:t>
                      </a:r>
                      <a:r>
                        <a:rPr lang="zh-CN" altLang="en-US" sz="1400" kern="1200" dirty="0">
                          <a:solidFill>
                            <a:schemeClr val="tx1"/>
                          </a:solidFill>
                          <a:sym typeface="+mn-lt"/>
                        </a:rPr>
                        <a:t>及各组改版意见进行机构图档改版</a:t>
                      </a:r>
                      <a:endParaRPr lang="zh-CN" altLang="en-US" sz="1400" kern="12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结构</a:t>
                      </a:r>
                      <a:r>
                        <a:rPr lang="en-US" altLang="zh-CN" sz="1400" u="none" strike="noStrike" kern="1200" dirty="0">
                          <a:solidFill>
                            <a:schemeClr val="dk1"/>
                          </a:solidFill>
                          <a:effectLst/>
                          <a:sym typeface="+mn-lt"/>
                        </a:rPr>
                        <a:t>3D</a:t>
                      </a:r>
                      <a:r>
                        <a:rPr lang="zh-CN" altLang="en-US" sz="1400" u="none" strike="noStrike" kern="1200" dirty="0">
                          <a:solidFill>
                            <a:schemeClr val="dk1"/>
                          </a:solidFill>
                          <a:effectLst/>
                          <a:sym typeface="+mn-lt"/>
                        </a:rPr>
                        <a:t>文件</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结构布局图</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结构包装设计图</a:t>
                      </a:r>
                      <a:r>
                        <a:rPr lang="en-US" altLang="zh-CN" sz="1400" u="none" strike="noStrike" kern="1200" dirty="0">
                          <a:solidFill>
                            <a:schemeClr val="dk1"/>
                          </a:solidFill>
                          <a:effectLst/>
                          <a:sym typeface="+mn-lt"/>
                        </a:rPr>
                        <a:t>》</a:t>
                      </a:r>
                      <a:endParaRPr lang="en-US" altLang="zh-CN"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3923471605"/>
                  </a:ext>
                </a:extLst>
              </a:tr>
            </a:tbl>
          </a:graphicData>
        </a:graphic>
      </p:graphicFrame>
    </p:spTree>
    <p:extLst>
      <p:ext uri="{BB962C8B-B14F-4D97-AF65-F5344CB8AC3E}">
        <p14:creationId xmlns:p14="http://schemas.microsoft.com/office/powerpoint/2010/main" val="16187890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mn-ea"/>
                <a:ea typeface="+mn-ea"/>
                <a:cs typeface="+mn-ea"/>
                <a:sym typeface="+mn-lt"/>
              </a:rPr>
              <a:t>L9 DVT——</a:t>
            </a:r>
            <a:r>
              <a:rPr lang="zh-CN" altLang="en-US" dirty="0">
                <a:latin typeface="+mn-ea"/>
                <a:ea typeface="+mn-ea"/>
                <a:cs typeface="+mn-ea"/>
                <a:sym typeface="+mn-lt"/>
              </a:rPr>
              <a:t>重点岗位主要工作</a:t>
            </a:r>
          </a:p>
        </p:txBody>
      </p:sp>
      <p:graphicFrame>
        <p:nvGraphicFramePr>
          <p:cNvPr id="94" name="表格 93"/>
          <p:cNvGraphicFramePr>
            <a:graphicFrameLocks noGrp="1"/>
          </p:cNvGraphicFramePr>
          <p:nvPr/>
        </p:nvGraphicFramePr>
        <p:xfrm>
          <a:off x="442913" y="1089025"/>
          <a:ext cx="11341099" cy="5508686"/>
        </p:xfrm>
        <a:graphic>
          <a:graphicData uri="http://schemas.openxmlformats.org/drawingml/2006/table">
            <a:tbl>
              <a:tblPr firstRow="1" bandRow="1">
                <a:tableStyleId>{00A15C55-8517-42AA-B614-E9B94910E393}</a:tableStyleId>
              </a:tblPr>
              <a:tblGrid>
                <a:gridCol w="1443411">
                  <a:extLst>
                    <a:ext uri="{9D8B030D-6E8A-4147-A177-3AD203B41FA5}">
                      <a16:colId xmlns:a16="http://schemas.microsoft.com/office/drawing/2014/main" val="1503978168"/>
                    </a:ext>
                  </a:extLst>
                </a:gridCol>
                <a:gridCol w="2371321">
                  <a:extLst>
                    <a:ext uri="{9D8B030D-6E8A-4147-A177-3AD203B41FA5}">
                      <a16:colId xmlns:a16="http://schemas.microsoft.com/office/drawing/2014/main" val="773509366"/>
                    </a:ext>
                  </a:extLst>
                </a:gridCol>
                <a:gridCol w="2783725">
                  <a:extLst>
                    <a:ext uri="{9D8B030D-6E8A-4147-A177-3AD203B41FA5}">
                      <a16:colId xmlns:a16="http://schemas.microsoft.com/office/drawing/2014/main" val="1193865247"/>
                    </a:ext>
                  </a:extLst>
                </a:gridCol>
                <a:gridCol w="4742642">
                  <a:extLst>
                    <a:ext uri="{9D8B030D-6E8A-4147-A177-3AD203B41FA5}">
                      <a16:colId xmlns:a16="http://schemas.microsoft.com/office/drawing/2014/main" val="869367937"/>
                    </a:ext>
                  </a:extLst>
                </a:gridCol>
              </a:tblGrid>
              <a:tr h="432276">
                <a:tc>
                  <a:txBody>
                    <a:bodyPr/>
                    <a:lstStyle/>
                    <a:p>
                      <a:pPr algn="ctr"/>
                      <a:r>
                        <a:rPr lang="zh-CN" altLang="en-US" sz="1800" dirty="0">
                          <a:sym typeface="+mn-lt"/>
                        </a:rPr>
                        <a:t>岗位名称</a:t>
                      </a:r>
                      <a:endParaRPr lang="zh-CN" altLang="en-US" sz="1800" dirty="0">
                        <a:latin typeface="+mn-lt"/>
                        <a:ea typeface="+mn-ea"/>
                        <a:cs typeface="+mn-ea"/>
                        <a:sym typeface="+mn-lt"/>
                      </a:endParaRPr>
                    </a:p>
                  </a:txBody>
                  <a:tcPr marL="121920" marR="121920" marT="60960" marB="60960"/>
                </a:tc>
                <a:tc>
                  <a:txBody>
                    <a:bodyPr/>
                    <a:lstStyle/>
                    <a:p>
                      <a:pPr algn="ctr"/>
                      <a:r>
                        <a:rPr lang="zh-CN" altLang="en-US" sz="1800" dirty="0">
                          <a:sym typeface="+mn-lt"/>
                        </a:rPr>
                        <a:t>工作内容</a:t>
                      </a:r>
                      <a:endParaRPr lang="zh-CN" altLang="en-US" sz="1800" dirty="0">
                        <a:latin typeface="+mn-lt"/>
                        <a:ea typeface="+mn-ea"/>
                        <a:cs typeface="+mn-ea"/>
                        <a:sym typeface="+mn-lt"/>
                      </a:endParaRPr>
                    </a:p>
                  </a:txBody>
                  <a:tcPr marL="121920" marR="121920" marT="60960" marB="60960"/>
                </a:tc>
                <a:tc>
                  <a:txBody>
                    <a:bodyPr/>
                    <a:lstStyle/>
                    <a:p>
                      <a:pPr algn="ctr"/>
                      <a:r>
                        <a:rPr lang="zh-CN" altLang="en-US" sz="1800" dirty="0">
                          <a:sym typeface="+mn-lt"/>
                        </a:rPr>
                        <a:t>参与人</a:t>
                      </a:r>
                      <a:endParaRPr lang="zh-CN" altLang="en-US" sz="1800" dirty="0">
                        <a:latin typeface="+mn-lt"/>
                        <a:ea typeface="+mn-ea"/>
                        <a:cs typeface="+mn-ea"/>
                        <a:sym typeface="+mn-lt"/>
                      </a:endParaRPr>
                    </a:p>
                  </a:txBody>
                  <a:tcPr marL="121920" marR="121920" marT="60960" marB="60960"/>
                </a:tc>
                <a:tc>
                  <a:txBody>
                    <a:bodyPr/>
                    <a:lstStyle/>
                    <a:p>
                      <a:pPr algn="ctr"/>
                      <a:r>
                        <a:rPr lang="zh-CN" altLang="en-US" sz="1800" dirty="0">
                          <a:sym typeface="+mn-lt"/>
                        </a:rPr>
                        <a:t>输出物</a:t>
                      </a:r>
                      <a:endParaRPr lang="zh-CN" altLang="en-US" sz="1800" dirty="0">
                        <a:latin typeface="+mn-lt"/>
                        <a:ea typeface="+mn-ea"/>
                        <a:cs typeface="+mn-ea"/>
                        <a:sym typeface="+mn-lt"/>
                      </a:endParaRPr>
                    </a:p>
                  </a:txBody>
                  <a:tcPr marL="121920" marR="121920" marT="60960" marB="60960"/>
                </a:tc>
                <a:extLst>
                  <a:ext uri="{0D108BD9-81ED-4DB2-BD59-A6C34878D82A}">
                    <a16:rowId xmlns:a16="http://schemas.microsoft.com/office/drawing/2014/main" val="3162067804"/>
                  </a:ext>
                </a:extLst>
              </a:tr>
              <a:tr h="734866">
                <a:tc rowSpan="6">
                  <a:txBody>
                    <a:bodyPr/>
                    <a:lstStyle/>
                    <a:p>
                      <a:pPr algn="ctr"/>
                      <a:r>
                        <a:rPr lang="zh-CN" altLang="en-US" sz="1400" dirty="0">
                          <a:sym typeface="+mn-lt"/>
                        </a:rPr>
                        <a:t>项目经理</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ym typeface="+mn-lt"/>
                        </a:rPr>
                        <a:t>组织机构安装评审</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ym typeface="+mn-lt"/>
                        </a:rPr>
                        <a:t>产线、解决方案、技术支持、品质管理、项目组关键角色</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机构安装评审签到表</a:t>
                      </a:r>
                      <a:r>
                        <a:rPr lang="en-US" altLang="zh-CN" sz="1400" u="none" strike="noStrike" kern="1200" dirty="0">
                          <a:solidFill>
                            <a:schemeClr val="dk1"/>
                          </a:solidFill>
                          <a:effectLst/>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   Bug</a:t>
                      </a:r>
                      <a:r>
                        <a:rPr lang="zh-CN" altLang="en-US" sz="1400" u="none" strike="noStrike" kern="1200" dirty="0">
                          <a:solidFill>
                            <a:schemeClr val="dk1"/>
                          </a:solidFill>
                          <a:effectLst/>
                          <a:sym typeface="+mn-lt"/>
                        </a:rPr>
                        <a:t>提交（问题提出人）</a:t>
                      </a: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982289352"/>
                  </a:ext>
                </a:extLst>
              </a:tr>
              <a:tr h="1402018">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项目进展及状态跟踪</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olidFill>
                            <a:schemeClr val="tx1"/>
                          </a:solidFill>
                          <a:sym typeface="+mn-lt"/>
                        </a:rPr>
                        <a:t>项目组全体成员</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《QR-D-PH-003-003</a:t>
                      </a:r>
                      <a:r>
                        <a:rPr lang="zh-CN" altLang="en-US" sz="1400" u="none" strike="noStrike" kern="1200" dirty="0">
                          <a:solidFill>
                            <a:schemeClr val="dk1"/>
                          </a:solidFill>
                          <a:effectLst/>
                          <a:sym typeface="+mn-lt"/>
                        </a:rPr>
                        <a:t>项目会议纪要</a:t>
                      </a:r>
                      <a:r>
                        <a:rPr lang="en-US" altLang="zh-CN" sz="1400" u="none" strike="noStrike" kern="1200" dirty="0">
                          <a:solidFill>
                            <a:schemeClr val="dk1"/>
                          </a:solidFill>
                          <a:effectLst/>
                          <a:sym typeface="+mn-lt"/>
                        </a:rPr>
                        <a:t>》</a:t>
                      </a: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   BUG</a:t>
                      </a:r>
                      <a:r>
                        <a:rPr lang="zh-CN" altLang="en-US" sz="1400" u="none" strike="noStrike" kern="1200" dirty="0">
                          <a:solidFill>
                            <a:schemeClr val="dk1"/>
                          </a:solidFill>
                          <a:effectLst/>
                          <a:sym typeface="+mn-lt"/>
                        </a:rPr>
                        <a:t>回复时效性及</a:t>
                      </a:r>
                      <a:r>
                        <a:rPr lang="en-US" altLang="zh-CN" sz="1400" u="none" strike="noStrike" kern="1200" dirty="0">
                          <a:solidFill>
                            <a:schemeClr val="dk1"/>
                          </a:solidFill>
                          <a:effectLst/>
                          <a:sym typeface="+mn-lt"/>
                        </a:rPr>
                        <a:t>DI</a:t>
                      </a:r>
                      <a:r>
                        <a:rPr lang="zh-CN" altLang="en-US" sz="1400" u="none" strike="noStrike" kern="1200" dirty="0">
                          <a:solidFill>
                            <a:schemeClr val="dk1"/>
                          </a:solidFill>
                          <a:effectLst/>
                          <a:sym typeface="+mn-lt"/>
                        </a:rPr>
                        <a:t>值统计报告（邮件）</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在研项目状态周报</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（双周）</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u="none" strike="noStrike" kern="1200" dirty="0">
                          <a:solidFill>
                            <a:schemeClr val="dk1"/>
                          </a:solidFill>
                          <a:effectLst/>
                          <a:sym typeface="+mn-lt"/>
                        </a:rPr>
                        <a:t>   项目严重风险</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问题预警（决策委员会）</a:t>
                      </a:r>
                      <a:endParaRPr lang="en-US" altLang="zh-CN" sz="1400" u="none" strike="noStrike" kern="1200" dirty="0">
                        <a:solidFill>
                          <a:schemeClr val="dk1"/>
                        </a:solidFill>
                        <a:effectLst/>
                        <a:sym typeface="+mn-lt"/>
                      </a:endParaRPr>
                    </a:p>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《QR-D-PH-002-001 </a:t>
                      </a:r>
                      <a:r>
                        <a:rPr lang="zh-CN" altLang="en-US" sz="1400" u="none" strike="noStrike" kern="1200" dirty="0">
                          <a:solidFill>
                            <a:schemeClr val="dk1"/>
                          </a:solidFill>
                          <a:effectLst/>
                          <a:sym typeface="+mn-lt"/>
                        </a:rPr>
                        <a:t>项目计划书</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（可选）</a:t>
                      </a: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4082592736"/>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组织工程样机技术状态评审问题讨论会</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olidFill>
                            <a:schemeClr val="tx1"/>
                          </a:solidFill>
                          <a:sym typeface="+mn-lt"/>
                        </a:rPr>
                        <a:t>系统架构师、开发经理、评审问题提出人</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工程样机技术状态评审报告</a:t>
                      </a: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（系统架构师）</a:t>
                      </a: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821497477"/>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组织各组</a:t>
                      </a:r>
                      <a:r>
                        <a:rPr lang="en-US" altLang="zh-CN" sz="1400" dirty="0">
                          <a:sym typeface="+mn-lt"/>
                        </a:rPr>
                        <a:t>DVT</a:t>
                      </a:r>
                      <a:r>
                        <a:rPr lang="zh-CN" altLang="en-US" sz="1400" dirty="0">
                          <a:sym typeface="+mn-lt"/>
                        </a:rPr>
                        <a:t>测试报告评审问题讨论会</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olidFill>
                            <a:schemeClr val="tx1"/>
                          </a:solidFill>
                          <a:sym typeface="+mn-lt"/>
                        </a:rPr>
                        <a:t>各工作产品作者、系统架构师、评审问题提出人</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400" kern="1200" dirty="0">
                        <a:solidFill>
                          <a:srgbClr val="0070C0"/>
                        </a:solidFill>
                        <a:latin typeface="+mn-lt"/>
                        <a:ea typeface="+mn-ea"/>
                        <a:cs typeface="+mn-ea"/>
                        <a:sym typeface="+mn-lt"/>
                      </a:endParaRPr>
                    </a:p>
                  </a:txBody>
                  <a:tcPr marL="121920" marR="121920" marT="60960" marB="60960" anchor="ctr"/>
                </a:tc>
                <a:extLst>
                  <a:ext uri="{0D108BD9-81ED-4DB2-BD59-A6C34878D82A}">
                    <a16:rowId xmlns:a16="http://schemas.microsoft.com/office/drawing/2014/main" val="331731674"/>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组织各组</a:t>
                      </a:r>
                      <a:r>
                        <a:rPr lang="en-US" altLang="zh-CN" sz="1400" dirty="0">
                          <a:sym typeface="+mn-lt"/>
                        </a:rPr>
                        <a:t>PVT</a:t>
                      </a:r>
                      <a:r>
                        <a:rPr lang="zh-CN" altLang="en-US" sz="1400" dirty="0">
                          <a:sym typeface="+mn-lt"/>
                        </a:rPr>
                        <a:t>测试计划评审问题讨论会</a:t>
                      </a:r>
                      <a:endParaRPr lang="zh-CN" altLang="en-US" sz="1400" dirty="0">
                        <a:latin typeface="+mn-lt"/>
                        <a:ea typeface="+mn-ea"/>
                        <a:cs typeface="+mn-ea"/>
                        <a:sym typeface="+mn-lt"/>
                      </a:endParaRPr>
                    </a:p>
                  </a:txBody>
                  <a:tcPr marL="121920" marR="121920" marT="60960" marB="6096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sym typeface="+mn-lt"/>
                        </a:rPr>
                        <a:t>各工作产品作者、系统架构师、评审问题提出人</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indent="-171450" algn="l" defTabSz="914400" rtl="0" eaLnBrk="1" latinLnBrk="0" hangingPunct="1">
                        <a:lnSpc>
                          <a:spcPct val="120000"/>
                        </a:lnSpc>
                        <a:buFont typeface="Arial" panose="020B0604020202020204" pitchFamily="34" charset="0"/>
                        <a:buChar char="•"/>
                      </a:pPr>
                      <a:endParaRPr lang="zh-CN" altLang="en-US" sz="1400" kern="1200" dirty="0">
                        <a:solidFill>
                          <a:srgbClr val="0070C0"/>
                        </a:solidFill>
                        <a:latin typeface="+mn-lt"/>
                        <a:ea typeface="+mn-ea"/>
                        <a:cs typeface="+mn-ea"/>
                        <a:sym typeface="+mn-lt"/>
                      </a:endParaRPr>
                    </a:p>
                  </a:txBody>
                  <a:tcPr marL="121920" marR="121920" marT="60960" marB="60960" anchor="ctr"/>
                </a:tc>
                <a:extLst>
                  <a:ext uri="{0D108BD9-81ED-4DB2-BD59-A6C34878D82A}">
                    <a16:rowId xmlns:a16="http://schemas.microsoft.com/office/drawing/2014/main" val="757293535"/>
                  </a:ext>
                </a:extLst>
              </a:tr>
              <a:tr h="734866">
                <a:tc vMerge="1">
                  <a:txBody>
                    <a:bodyPr/>
                    <a:lstStyle/>
                    <a:p>
                      <a:pPr algn="ctr"/>
                      <a:endParaRPr lang="zh-CN" altLang="en-US" sz="1100" dirty="0">
                        <a:latin typeface="+mn-ea"/>
                        <a:ea typeface="+mn-ea"/>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zh-CN" altLang="en-US" sz="1400" dirty="0">
                          <a:sym typeface="+mn-lt"/>
                        </a:rPr>
                        <a:t>组织</a:t>
                      </a:r>
                      <a:r>
                        <a:rPr lang="en-US" altLang="zh-CN" sz="1400" dirty="0">
                          <a:sym typeface="+mn-lt"/>
                        </a:rPr>
                        <a:t>PVT</a:t>
                      </a:r>
                      <a:r>
                        <a:rPr lang="zh-CN" altLang="en-US" sz="1400" dirty="0">
                          <a:sym typeface="+mn-lt"/>
                        </a:rPr>
                        <a:t>准入评审 </a:t>
                      </a:r>
                      <a:endParaRPr lang="en-US" altLang="zh-CN" sz="1400" dirty="0">
                        <a:sym typeface="+mn-lt"/>
                      </a:endParaRPr>
                    </a:p>
                    <a:p>
                      <a:pPr algn="ctr"/>
                      <a:r>
                        <a:rPr lang="zh-CN" altLang="en-US" sz="1400" dirty="0">
                          <a:sym typeface="+mn-lt"/>
                        </a:rPr>
                        <a:t>（管理评审）</a:t>
                      </a:r>
                      <a:endParaRPr lang="zh-CN" altLang="en-US" sz="1400" dirty="0">
                        <a:latin typeface="+mn-lt"/>
                        <a:ea typeface="+mn-ea"/>
                        <a:cs typeface="+mn-ea"/>
                        <a:sym typeface="+mn-lt"/>
                      </a:endParaRPr>
                    </a:p>
                  </a:txBody>
                  <a:tcPr marL="121920" marR="121920" marT="60960" marB="60960" anchor="ctr"/>
                </a:tc>
                <a:tc>
                  <a:txBody>
                    <a:bodyPr/>
                    <a:lstStyle/>
                    <a:p>
                      <a:pPr algn="ctr"/>
                      <a:r>
                        <a:rPr lang="zh-CN" altLang="en-US" sz="1400" dirty="0">
                          <a:solidFill>
                            <a:schemeClr val="tx1"/>
                          </a:solidFill>
                          <a:sym typeface="+mn-lt"/>
                        </a:rPr>
                        <a:t>高层领导、项目核心团队人员</a:t>
                      </a:r>
                      <a:endParaRPr lang="zh-CN" altLang="en-US" sz="1400" dirty="0">
                        <a:solidFill>
                          <a:schemeClr val="tx1"/>
                        </a:solidFill>
                        <a:latin typeface="+mn-lt"/>
                        <a:ea typeface="+mn-ea"/>
                        <a:cs typeface="+mn-ea"/>
                        <a:sym typeface="+mn-lt"/>
                      </a:endParaRPr>
                    </a:p>
                  </a:txBody>
                  <a:tcPr marL="121920" marR="121920" marT="60960" marB="60960" anchor="ctr"/>
                </a:tc>
                <a:tc>
                  <a:txBody>
                    <a:bodyPr/>
                    <a:lstStyle/>
                    <a:p>
                      <a:pPr marL="171450" marR="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u="none" strike="noStrike" kern="1200" dirty="0">
                          <a:solidFill>
                            <a:schemeClr val="dk1"/>
                          </a:solidFill>
                          <a:effectLst/>
                          <a:sym typeface="+mn-lt"/>
                        </a:rPr>
                        <a:t>《</a:t>
                      </a:r>
                      <a:r>
                        <a:rPr lang="zh-CN" altLang="en-US" sz="1400" u="none" strike="noStrike" kern="1200" dirty="0">
                          <a:solidFill>
                            <a:schemeClr val="dk1"/>
                          </a:solidFill>
                          <a:effectLst/>
                          <a:sym typeface="+mn-lt"/>
                        </a:rPr>
                        <a:t>项目阶段管理评审报告</a:t>
                      </a:r>
                      <a:r>
                        <a:rPr lang="en-US" altLang="zh-CN" sz="1400" u="none" strike="noStrike" kern="1200" dirty="0">
                          <a:solidFill>
                            <a:schemeClr val="dk1"/>
                          </a:solidFill>
                          <a:effectLst/>
                          <a:sym typeface="+mn-lt"/>
                        </a:rPr>
                        <a:t>》</a:t>
                      </a:r>
                      <a:endParaRPr lang="zh-CN" altLang="en-US" sz="1400" u="none" strike="noStrike" kern="1200" dirty="0">
                        <a:solidFill>
                          <a:schemeClr val="dk1"/>
                        </a:solidFill>
                        <a:effectLst/>
                        <a:latin typeface="+mn-lt"/>
                        <a:ea typeface="+mn-ea"/>
                        <a:cs typeface="+mn-ea"/>
                        <a:sym typeface="+mn-lt"/>
                      </a:endParaRPr>
                    </a:p>
                  </a:txBody>
                  <a:tcPr marL="121920" marR="121920" marT="60960" marB="60960" anchor="ctr"/>
                </a:tc>
                <a:extLst>
                  <a:ext uri="{0D108BD9-81ED-4DB2-BD59-A6C34878D82A}">
                    <a16:rowId xmlns:a16="http://schemas.microsoft.com/office/drawing/2014/main" val="2133214060"/>
                  </a:ext>
                </a:extLst>
              </a:tr>
            </a:tbl>
          </a:graphicData>
        </a:graphic>
      </p:graphicFrame>
    </p:spTree>
    <p:extLst>
      <p:ext uri="{BB962C8B-B14F-4D97-AF65-F5344CB8AC3E}">
        <p14:creationId xmlns:p14="http://schemas.microsoft.com/office/powerpoint/2010/main" val="39956484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a:extLst>
              <a:ext uri="{FF2B5EF4-FFF2-40B4-BE49-F238E27FC236}">
                <a16:creationId xmlns:a16="http://schemas.microsoft.com/office/drawing/2014/main" id="{2B587CB1-41A9-48EF-9229-101563C80EFD}"/>
              </a:ext>
            </a:extLst>
          </p:cNvPr>
          <p:cNvSpPr txBox="1">
            <a:spLocks/>
          </p:cNvSpPr>
          <p:nvPr/>
        </p:nvSpPr>
        <p:spPr>
          <a:xfrm>
            <a:off x="223789" y="149560"/>
            <a:ext cx="5725552" cy="832388"/>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algn="l" defTabSz="1219170"/>
            <a:r>
              <a:rPr lang="en-US" altLang="zh-CN" sz="3200" dirty="0">
                <a:solidFill>
                  <a:prstClr val="black">
                    <a:lumMod val="65000"/>
                    <a:lumOff val="35000"/>
                  </a:prstClr>
                </a:solidFill>
              </a:rPr>
              <a:t>L10 </a:t>
            </a:r>
            <a:r>
              <a:rPr lang="zh-CN" altLang="en-US" sz="3200" dirty="0">
                <a:solidFill>
                  <a:prstClr val="black">
                    <a:lumMod val="65000"/>
                    <a:lumOff val="35000"/>
                  </a:prstClr>
                </a:solidFill>
              </a:rPr>
              <a:t>首件试制</a:t>
            </a:r>
            <a:r>
              <a:rPr lang="en-US" altLang="zh-CN" sz="3200" dirty="0">
                <a:solidFill>
                  <a:prstClr val="black">
                    <a:lumMod val="65000"/>
                    <a:lumOff val="35000"/>
                  </a:prstClr>
                </a:solidFill>
              </a:rPr>
              <a:t>/</a:t>
            </a:r>
            <a:r>
              <a:rPr lang="zh-CN" altLang="en-US" sz="3200" dirty="0">
                <a:solidFill>
                  <a:prstClr val="black">
                    <a:lumMod val="65000"/>
                    <a:lumOff val="35000"/>
                  </a:prstClr>
                </a:solidFill>
              </a:rPr>
              <a:t>批量试制</a:t>
            </a:r>
          </a:p>
        </p:txBody>
      </p:sp>
      <p:sp>
        <p:nvSpPr>
          <p:cNvPr id="4" name="Rectangle 3">
            <a:extLst>
              <a:ext uri="{FF2B5EF4-FFF2-40B4-BE49-F238E27FC236}">
                <a16:creationId xmlns:a16="http://schemas.microsoft.com/office/drawing/2014/main" id="{FA07C651-B856-4405-9E2A-D4B3064DAEAF}"/>
              </a:ext>
            </a:extLst>
          </p:cNvPr>
          <p:cNvSpPr txBox="1">
            <a:spLocks noChangeArrowheads="1"/>
          </p:cNvSpPr>
          <p:nvPr/>
        </p:nvSpPr>
        <p:spPr bwMode="auto">
          <a:xfrm>
            <a:off x="780969" y="849542"/>
            <a:ext cx="10907601" cy="832388"/>
          </a:xfrm>
          <a:prstGeom prst="rect">
            <a:avLst/>
          </a:prstGeom>
          <a:solidFill>
            <a:schemeClr val="bg1">
              <a:lumMod val="85000"/>
            </a:schemeClr>
          </a:solidFill>
          <a:scene3d>
            <a:camera prst="orthographicFront"/>
            <a:lightRig rig="threePt" dir="t"/>
          </a:scene3d>
          <a:sp3d>
            <a:bevelT/>
          </a:sp3d>
        </p:spPr>
        <p:txBody>
          <a:bodyPr vert="horz" wrap="square" lIns="121920" tIns="60960" rIns="121920" bIns="60960" numCol="1" anchor="t" anchorCtr="0" compatLnSpc="1">
            <a:prstTxWarp prst="textNoShape">
              <a:avLst/>
            </a:prstTxWarp>
          </a:bodyPr>
          <a:lstStyle>
            <a:lvl1pPr marL="342900" indent="-342900" algn="l" defTabSz="912813" rtl="0" eaLnBrk="0" fontAlgn="base" hangingPunct="0">
              <a:spcBef>
                <a:spcPct val="20000"/>
              </a:spcBef>
              <a:spcAft>
                <a:spcPct val="0"/>
              </a:spcAft>
              <a:buChar char="•"/>
              <a:defRPr sz="3000">
                <a:solidFill>
                  <a:schemeClr val="tx1"/>
                </a:solidFill>
                <a:latin typeface="+mn-lt"/>
                <a:ea typeface="+mn-ea"/>
                <a:cs typeface="+mn-cs"/>
              </a:defRPr>
            </a:lvl1pPr>
            <a:lvl2pPr marL="741363" indent="-285750" algn="l" defTabSz="912813" rtl="0" eaLnBrk="0" fontAlgn="base" hangingPunct="0">
              <a:spcBef>
                <a:spcPct val="20000"/>
              </a:spcBef>
              <a:spcAft>
                <a:spcPct val="0"/>
              </a:spcAft>
              <a:buChar char="–"/>
              <a:defRPr sz="2800">
                <a:solidFill>
                  <a:schemeClr val="tx1"/>
                </a:solidFill>
                <a:latin typeface="+mj-lt"/>
                <a:ea typeface="+mj-ea"/>
              </a:defRPr>
            </a:lvl2pPr>
            <a:lvl3pPr marL="1139825" indent="-227013" algn="l" defTabSz="912813" rtl="0" eaLnBrk="0" fontAlgn="base" hangingPunct="0">
              <a:spcBef>
                <a:spcPct val="20000"/>
              </a:spcBef>
              <a:spcAft>
                <a:spcPct val="0"/>
              </a:spcAft>
              <a:buChar char="•"/>
              <a:defRPr sz="2400">
                <a:solidFill>
                  <a:schemeClr val="tx1"/>
                </a:solidFill>
                <a:latin typeface="+mj-lt"/>
                <a:ea typeface="+mj-ea"/>
              </a:defRPr>
            </a:lvl3pPr>
            <a:lvl4pPr marL="1595438" indent="-227013" algn="l" defTabSz="912813" rtl="0" eaLnBrk="0" fontAlgn="base" hangingPunct="0">
              <a:spcBef>
                <a:spcPct val="20000"/>
              </a:spcBef>
              <a:spcAft>
                <a:spcPct val="0"/>
              </a:spcAft>
              <a:buChar char="–"/>
              <a:defRPr sz="2000">
                <a:solidFill>
                  <a:schemeClr val="tx1"/>
                </a:solidFill>
                <a:latin typeface="+mj-lt"/>
                <a:ea typeface="+mj-ea"/>
              </a:defRPr>
            </a:lvl4pPr>
            <a:lvl5pPr marL="2052638" indent="-227013" algn="l" defTabSz="912813" rtl="0" eaLnBrk="0" fontAlgn="base" hangingPunct="0">
              <a:spcBef>
                <a:spcPct val="20000"/>
              </a:spcBef>
              <a:spcAft>
                <a:spcPct val="0"/>
              </a:spcAft>
              <a:buChar char="»"/>
              <a:defRPr sz="2000">
                <a:solidFill>
                  <a:schemeClr val="tx1"/>
                </a:solidFill>
                <a:latin typeface="+mj-lt"/>
                <a:ea typeface="+mj-ea"/>
              </a:defRPr>
            </a:lvl5pPr>
            <a:lvl6pPr marL="2509838" indent="-227013" algn="l" defTabSz="912813" rtl="0" fontAlgn="base">
              <a:spcBef>
                <a:spcPct val="20000"/>
              </a:spcBef>
              <a:spcAft>
                <a:spcPct val="0"/>
              </a:spcAft>
              <a:buChar char="»"/>
              <a:defRPr sz="2000">
                <a:solidFill>
                  <a:schemeClr val="tx1"/>
                </a:solidFill>
                <a:latin typeface="+mj-lt"/>
                <a:ea typeface="+mj-ea"/>
              </a:defRPr>
            </a:lvl6pPr>
            <a:lvl7pPr marL="2967038" indent="-227013" algn="l" defTabSz="912813" rtl="0" fontAlgn="base">
              <a:spcBef>
                <a:spcPct val="20000"/>
              </a:spcBef>
              <a:spcAft>
                <a:spcPct val="0"/>
              </a:spcAft>
              <a:buChar char="»"/>
              <a:defRPr sz="2000">
                <a:solidFill>
                  <a:schemeClr val="tx1"/>
                </a:solidFill>
                <a:latin typeface="+mj-lt"/>
                <a:ea typeface="+mj-ea"/>
              </a:defRPr>
            </a:lvl7pPr>
            <a:lvl8pPr marL="3424238" indent="-227013" algn="l" defTabSz="912813" rtl="0" fontAlgn="base">
              <a:spcBef>
                <a:spcPct val="20000"/>
              </a:spcBef>
              <a:spcAft>
                <a:spcPct val="0"/>
              </a:spcAft>
              <a:buChar char="»"/>
              <a:defRPr sz="2000">
                <a:solidFill>
                  <a:schemeClr val="tx1"/>
                </a:solidFill>
                <a:latin typeface="+mj-lt"/>
                <a:ea typeface="+mj-ea"/>
              </a:defRPr>
            </a:lvl8pPr>
            <a:lvl9pPr marL="3881438" indent="-227013" algn="l" defTabSz="912813" rtl="0" fontAlgn="base">
              <a:spcBef>
                <a:spcPct val="20000"/>
              </a:spcBef>
              <a:spcAft>
                <a:spcPct val="0"/>
              </a:spcAft>
              <a:buChar char="»"/>
              <a:defRPr sz="2000">
                <a:solidFill>
                  <a:schemeClr val="tx1"/>
                </a:solidFill>
                <a:latin typeface="+mj-lt"/>
                <a:ea typeface="+mj-ea"/>
              </a:defRPr>
            </a:lvl9pPr>
          </a:lstStyle>
          <a:p>
            <a:pPr marL="844529" lvl="1" indent="0" defTabSz="1217054">
              <a:lnSpc>
                <a:spcPct val="120000"/>
              </a:lnSpc>
              <a:spcBef>
                <a:spcPct val="50000"/>
              </a:spcBef>
              <a:buNone/>
            </a:pPr>
            <a:r>
              <a:rPr lang="zh-CN" altLang="en-US" sz="1400" b="1" kern="0" dirty="0">
                <a:solidFill>
                  <a:prstClr val="black"/>
                </a:solidFill>
                <a:latin typeface="微软雅黑" panose="020B0503020204020204" pitchFamily="34" charset="-122"/>
                <a:ea typeface="微软雅黑" panose="020B0503020204020204" pitchFamily="34" charset="-122"/>
              </a:rPr>
              <a:t>试制的准入条件</a:t>
            </a:r>
            <a:r>
              <a:rPr lang="zh-CN" altLang="en-US" sz="1400" kern="0" dirty="0">
                <a:solidFill>
                  <a:prstClr val="black"/>
                </a:solidFill>
                <a:latin typeface="微软雅黑" panose="020B0503020204020204" pitchFamily="34" charset="-122"/>
                <a:ea typeface="微软雅黑" panose="020B0503020204020204" pitchFamily="34" charset="-122"/>
              </a:rPr>
              <a:t>：硬件研发项目在研发测试阶段完成后，根据项目计划可进行新产品试制工作。</a:t>
            </a:r>
            <a:r>
              <a:rPr lang="en-US" altLang="zh-CN" sz="1400" kern="0" dirty="0">
                <a:solidFill>
                  <a:prstClr val="black"/>
                </a:solidFill>
                <a:latin typeface="微软雅黑" panose="020B0503020204020204" pitchFamily="34" charset="-122"/>
                <a:ea typeface="微软雅黑" panose="020B0503020204020204" pitchFamily="34" charset="-122"/>
              </a:rPr>
              <a:t>DVT</a:t>
            </a:r>
            <a:r>
              <a:rPr lang="zh-CN" altLang="en-US" sz="1400" kern="0" dirty="0">
                <a:solidFill>
                  <a:prstClr val="black"/>
                </a:solidFill>
                <a:latin typeface="微软雅黑" panose="020B0503020204020204" pitchFamily="34" charset="-122"/>
                <a:ea typeface="微软雅黑" panose="020B0503020204020204" pitchFamily="34" charset="-122"/>
              </a:rPr>
              <a:t>测试报告评审通过后，才具备试制准入的基本条件，试制准备工作可提前展开。</a:t>
            </a:r>
          </a:p>
        </p:txBody>
      </p:sp>
      <p:sp>
        <p:nvSpPr>
          <p:cNvPr id="7" name="Freeform: Shape 15"/>
          <p:cNvSpPr>
            <a:spLocks/>
          </p:cNvSpPr>
          <p:nvPr/>
        </p:nvSpPr>
        <p:spPr bwMode="auto">
          <a:xfrm>
            <a:off x="954516" y="997121"/>
            <a:ext cx="562707" cy="537229"/>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3">
              <a:lumMod val="75000"/>
            </a:schemeClr>
          </a:solidFill>
          <a:ln w="9525">
            <a:noFill/>
            <a:round/>
            <a:headEnd/>
            <a:tailEnd/>
          </a:ln>
        </p:spPr>
        <p:txBody>
          <a:bodyPr anchor="ctr"/>
          <a:lstStyle/>
          <a:p>
            <a:pPr algn="ctr"/>
            <a:endParaRPr/>
          </a:p>
        </p:txBody>
      </p:sp>
      <p:sp>
        <p:nvSpPr>
          <p:cNvPr id="9" name="Oval 105"/>
          <p:cNvSpPr/>
          <p:nvPr/>
        </p:nvSpPr>
        <p:spPr>
          <a:xfrm>
            <a:off x="964310" y="4627168"/>
            <a:ext cx="467663" cy="467665"/>
          </a:xfrm>
          <a:prstGeom prst="ellipse">
            <a:avLst/>
          </a:prstGeom>
          <a:solidFill>
            <a:schemeClr val="accent4">
              <a:lumMod val="20000"/>
              <a:lumOff val="80000"/>
            </a:schemeClr>
          </a:solidFill>
          <a:ln/>
        </p:spPr>
        <p:style>
          <a:lnRef idx="2">
            <a:schemeClr val="accent5"/>
          </a:lnRef>
          <a:fillRef idx="1">
            <a:schemeClr val="lt1"/>
          </a:fillRef>
          <a:effectRef idx="0">
            <a:schemeClr val="accent5"/>
          </a:effectRef>
          <a:fontRef idx="minor">
            <a:schemeClr val="dk1"/>
          </a:fontRef>
        </p:style>
        <p:txBody>
          <a:bodyPr wrap="none" anchor="ctr">
            <a:normAutofit fontScale="92500" lnSpcReduction="10000"/>
          </a:bodyPr>
          <a:lstStyle/>
          <a:p>
            <a:pPr algn="ctr"/>
            <a:r>
              <a:rPr lang="en-US" b="1" dirty="0"/>
              <a:t>01</a:t>
            </a:r>
          </a:p>
        </p:txBody>
      </p:sp>
      <p:sp>
        <p:nvSpPr>
          <p:cNvPr id="10" name="Arc 114"/>
          <p:cNvSpPr/>
          <p:nvPr/>
        </p:nvSpPr>
        <p:spPr>
          <a:xfrm rot="5400000" flipV="1">
            <a:off x="778976" y="4629162"/>
            <a:ext cx="616481" cy="612495"/>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1" name="Straight Connector 115"/>
          <p:cNvCxnSpPr/>
          <p:nvPr/>
        </p:nvCxnSpPr>
        <p:spPr>
          <a:xfrm>
            <a:off x="154375" y="4950523"/>
            <a:ext cx="630937" cy="877"/>
          </a:xfrm>
          <a:prstGeom prst="line">
            <a:avLst/>
          </a:prstGeom>
          <a:ln w="38100">
            <a:headEnd type="oval"/>
          </a:ln>
        </p:spPr>
        <p:style>
          <a:lnRef idx="1">
            <a:schemeClr val="accent5"/>
          </a:lnRef>
          <a:fillRef idx="0">
            <a:schemeClr val="accent5"/>
          </a:fillRef>
          <a:effectRef idx="0">
            <a:schemeClr val="accent5"/>
          </a:effectRef>
          <a:fontRef idx="minor">
            <a:schemeClr val="tx1"/>
          </a:fontRef>
        </p:style>
      </p:cxnSp>
      <p:sp>
        <p:nvSpPr>
          <p:cNvPr id="12" name="Arc 119"/>
          <p:cNvSpPr/>
          <p:nvPr/>
        </p:nvSpPr>
        <p:spPr>
          <a:xfrm rot="5400000" flipV="1">
            <a:off x="1223018" y="4321924"/>
            <a:ext cx="1892126" cy="902918"/>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sp>
        <p:nvSpPr>
          <p:cNvPr id="13" name="Arc 121"/>
          <p:cNvSpPr/>
          <p:nvPr/>
        </p:nvSpPr>
        <p:spPr>
          <a:xfrm rot="5400000" flipH="1">
            <a:off x="923906" y="4477143"/>
            <a:ext cx="623928" cy="623927"/>
          </a:xfrm>
          <a:prstGeom prst="arc">
            <a:avLst/>
          </a:prstGeom>
          <a:ln w="38100">
            <a:headEnd type="none"/>
            <a:tailEnd type="none"/>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4" name="Straight Connector 118"/>
          <p:cNvCxnSpPr>
            <a:stCxn id="15" idx="4"/>
          </p:cNvCxnSpPr>
          <p:nvPr/>
        </p:nvCxnSpPr>
        <p:spPr>
          <a:xfrm>
            <a:off x="1222385" y="2680867"/>
            <a:ext cx="29451" cy="1797486"/>
          </a:xfrm>
          <a:prstGeom prst="line">
            <a:avLst/>
          </a:prstGeom>
          <a:ln w="38100">
            <a:headEnd type="none"/>
          </a:ln>
        </p:spPr>
        <p:style>
          <a:lnRef idx="1">
            <a:schemeClr val="accent5"/>
          </a:lnRef>
          <a:fillRef idx="0">
            <a:schemeClr val="accent5"/>
          </a:fillRef>
          <a:effectRef idx="0">
            <a:schemeClr val="accent5"/>
          </a:effectRef>
          <a:fontRef idx="minor">
            <a:schemeClr val="tx1"/>
          </a:fontRef>
        </p:style>
      </p:cxnSp>
      <p:sp>
        <p:nvSpPr>
          <p:cNvPr id="15" name="Oval 156"/>
          <p:cNvSpPr/>
          <p:nvPr/>
        </p:nvSpPr>
        <p:spPr>
          <a:xfrm>
            <a:off x="988553" y="2213202"/>
            <a:ext cx="467663" cy="467665"/>
          </a:xfrm>
          <a:prstGeom prst="ellipse">
            <a:avLst/>
          </a:prstGeom>
          <a:ln w="38100"/>
        </p:spPr>
        <p:style>
          <a:lnRef idx="2">
            <a:schemeClr val="accent5"/>
          </a:lnRef>
          <a:fillRef idx="1">
            <a:schemeClr val="lt1"/>
          </a:fillRef>
          <a:effectRef idx="0">
            <a:schemeClr val="accent5"/>
          </a:effectRef>
          <a:fontRef idx="minor">
            <a:schemeClr val="dk1"/>
          </a:fontRef>
        </p:style>
        <p:txBody>
          <a:bodyPr anchor="ctr"/>
          <a:lstStyle/>
          <a:p>
            <a:pPr algn="ctr"/>
            <a:endParaRPr/>
          </a:p>
        </p:txBody>
      </p:sp>
      <p:sp>
        <p:nvSpPr>
          <p:cNvPr id="16" name="TextBox 60"/>
          <p:cNvSpPr txBox="1">
            <a:spLocks/>
          </p:cNvSpPr>
          <p:nvPr/>
        </p:nvSpPr>
        <p:spPr bwMode="auto">
          <a:xfrm>
            <a:off x="527562" y="5401729"/>
            <a:ext cx="1294599" cy="427844"/>
          </a:xfrm>
          <a:prstGeom prst="rect">
            <a:avLst/>
          </a:prstGeom>
          <a:noFill/>
        </p:spPr>
        <p:txBody>
          <a:bodyPr wrap="none" lIns="90000" tIns="46800" rIns="90000" bIns="46800" anchor="b" anchorCtr="1">
            <a:normAutofit/>
          </a:bodyPr>
          <a:lstStyle/>
          <a:p>
            <a:pPr latinLnBrk="0"/>
            <a:r>
              <a:rPr lang="zh-CN" altLang="en-US" sz="1400" b="1" dirty="0">
                <a:effectLst/>
                <a:ea typeface="微软雅黑" panose="020B0503020204020204" pitchFamily="34" charset="-122"/>
              </a:rPr>
              <a:t>试制准备相关工作</a:t>
            </a:r>
          </a:p>
        </p:txBody>
      </p:sp>
      <p:cxnSp>
        <p:nvCxnSpPr>
          <p:cNvPr id="17" name="Straight Connector 120"/>
          <p:cNvCxnSpPr/>
          <p:nvPr/>
        </p:nvCxnSpPr>
        <p:spPr>
          <a:xfrm>
            <a:off x="1547834" y="4787352"/>
            <a:ext cx="318691" cy="877"/>
          </a:xfrm>
          <a:prstGeom prst="line">
            <a:avLst/>
          </a:prstGeom>
          <a:ln w="38100"/>
        </p:spPr>
        <p:style>
          <a:lnRef idx="1">
            <a:schemeClr val="accent5"/>
          </a:lnRef>
          <a:fillRef idx="0">
            <a:schemeClr val="accent5"/>
          </a:fillRef>
          <a:effectRef idx="0">
            <a:schemeClr val="accent5"/>
          </a:effectRef>
          <a:fontRef idx="minor">
            <a:schemeClr val="tx1"/>
          </a:fontRef>
        </p:style>
      </p:cxnSp>
      <p:graphicFrame>
        <p:nvGraphicFramePr>
          <p:cNvPr id="18" name="表格 17"/>
          <p:cNvGraphicFramePr>
            <a:graphicFrameLocks noGrp="1"/>
          </p:cNvGraphicFramePr>
          <p:nvPr/>
        </p:nvGraphicFramePr>
        <p:xfrm>
          <a:off x="1897758" y="1743281"/>
          <a:ext cx="9802949" cy="3566726"/>
        </p:xfrm>
        <a:graphic>
          <a:graphicData uri="http://schemas.openxmlformats.org/drawingml/2006/table">
            <a:tbl>
              <a:tblPr firstRow="1">
                <a:tableStyleId>{00A15C55-8517-42AA-B614-E9B94910E393}</a:tableStyleId>
              </a:tblPr>
              <a:tblGrid>
                <a:gridCol w="565628">
                  <a:extLst>
                    <a:ext uri="{9D8B030D-6E8A-4147-A177-3AD203B41FA5}">
                      <a16:colId xmlns:a16="http://schemas.microsoft.com/office/drawing/2014/main" val="2940851073"/>
                    </a:ext>
                  </a:extLst>
                </a:gridCol>
                <a:gridCol w="1445486">
                  <a:extLst>
                    <a:ext uri="{9D8B030D-6E8A-4147-A177-3AD203B41FA5}">
                      <a16:colId xmlns:a16="http://schemas.microsoft.com/office/drawing/2014/main" val="3516952899"/>
                    </a:ext>
                  </a:extLst>
                </a:gridCol>
                <a:gridCol w="1682371">
                  <a:extLst>
                    <a:ext uri="{9D8B030D-6E8A-4147-A177-3AD203B41FA5}">
                      <a16:colId xmlns:a16="http://schemas.microsoft.com/office/drawing/2014/main" val="2755818900"/>
                    </a:ext>
                  </a:extLst>
                </a:gridCol>
                <a:gridCol w="6109464">
                  <a:extLst>
                    <a:ext uri="{9D8B030D-6E8A-4147-A177-3AD203B41FA5}">
                      <a16:colId xmlns:a16="http://schemas.microsoft.com/office/drawing/2014/main" val="302838818"/>
                    </a:ext>
                  </a:extLst>
                </a:gridCol>
              </a:tblGrid>
              <a:tr h="237836">
                <a:tc>
                  <a:txBody>
                    <a:bodyPr/>
                    <a:lstStyle/>
                    <a:p>
                      <a:pPr algn="ctr"/>
                      <a:r>
                        <a:rPr lang="zh-CN" altLang="en-US" sz="1050" dirty="0"/>
                        <a:t>序号</a:t>
                      </a:r>
                      <a:endParaRPr lang="zh-CN" altLang="en-US" sz="1050" b="1" dirty="0">
                        <a:latin typeface="+mn-ea"/>
                        <a:ea typeface="+mn-ea"/>
                      </a:endParaRPr>
                    </a:p>
                  </a:txBody>
                  <a:tcPr/>
                </a:tc>
                <a:tc>
                  <a:txBody>
                    <a:bodyPr/>
                    <a:lstStyle/>
                    <a:p>
                      <a:pPr algn="ctr"/>
                      <a:r>
                        <a:rPr lang="zh-CN" altLang="en-US" sz="1050" dirty="0"/>
                        <a:t>工作名称</a:t>
                      </a:r>
                      <a:endParaRPr lang="zh-CN" altLang="en-US" sz="1050" b="1" dirty="0">
                        <a:latin typeface="+mn-ea"/>
                        <a:ea typeface="+mn-ea"/>
                      </a:endParaRPr>
                    </a:p>
                  </a:txBody>
                  <a:tcPr/>
                </a:tc>
                <a:tc>
                  <a:txBody>
                    <a:bodyPr/>
                    <a:lstStyle/>
                    <a:p>
                      <a:pPr algn="ctr"/>
                      <a:r>
                        <a:rPr lang="zh-CN" altLang="en-US" sz="1050" dirty="0"/>
                        <a:t>责任人</a:t>
                      </a:r>
                      <a:endParaRPr lang="zh-CN" altLang="en-US" sz="1050" b="1" dirty="0">
                        <a:latin typeface="+mn-ea"/>
                        <a:ea typeface="+mn-ea"/>
                      </a:endParaRPr>
                    </a:p>
                  </a:txBody>
                  <a:tcPr/>
                </a:tc>
                <a:tc>
                  <a:txBody>
                    <a:bodyPr/>
                    <a:lstStyle/>
                    <a:p>
                      <a:pPr algn="ctr"/>
                      <a:r>
                        <a:rPr lang="zh-CN" altLang="en-US" sz="1050" dirty="0"/>
                        <a:t>工作内容</a:t>
                      </a:r>
                      <a:endParaRPr lang="zh-CN" altLang="en-US" sz="1050" b="1" dirty="0">
                        <a:latin typeface="+mn-ea"/>
                        <a:ea typeface="+mn-ea"/>
                      </a:endParaRPr>
                    </a:p>
                  </a:txBody>
                  <a:tcPr/>
                </a:tc>
                <a:extLst>
                  <a:ext uri="{0D108BD9-81ED-4DB2-BD59-A6C34878D82A}">
                    <a16:rowId xmlns:a16="http://schemas.microsoft.com/office/drawing/2014/main" val="2032103293"/>
                  </a:ext>
                </a:extLst>
              </a:tr>
              <a:tr h="237836">
                <a:tc>
                  <a:txBody>
                    <a:bodyPr/>
                    <a:lstStyle/>
                    <a:p>
                      <a:pPr algn="ctr"/>
                      <a:r>
                        <a:rPr lang="en-US" altLang="zh-CN" sz="1050" dirty="0"/>
                        <a:t>1</a:t>
                      </a:r>
                      <a:endParaRPr lang="zh-CN" altLang="en-US" sz="1050" dirty="0">
                        <a:latin typeface="+mn-ea"/>
                        <a:ea typeface="+mn-ea"/>
                      </a:endParaRPr>
                    </a:p>
                  </a:txBody>
                  <a:tcPr anchor="ctr"/>
                </a:tc>
                <a:tc>
                  <a:txBody>
                    <a:bodyPr/>
                    <a:lstStyle/>
                    <a:p>
                      <a:pPr algn="ctr"/>
                      <a:r>
                        <a:rPr lang="zh-CN" altLang="en-US" sz="1050" dirty="0"/>
                        <a:t>编写部件规格书</a:t>
                      </a:r>
                      <a:endParaRPr lang="zh-CN" altLang="en-US" sz="1050" dirty="0">
                        <a:latin typeface="+mn-ea"/>
                        <a:ea typeface="+mn-ea"/>
                      </a:endParaRPr>
                    </a:p>
                  </a:txBody>
                  <a:tcPr anchor="ctr"/>
                </a:tc>
                <a:tc>
                  <a:txBody>
                    <a:bodyPr/>
                    <a:lstStyle/>
                    <a:p>
                      <a:pPr algn="ctr"/>
                      <a:r>
                        <a:rPr lang="zh-CN" altLang="en-US" sz="1050" dirty="0"/>
                        <a:t>研发工程师</a:t>
                      </a:r>
                      <a:r>
                        <a:rPr lang="en-US" altLang="zh-CN" sz="1050" dirty="0"/>
                        <a:t>/</a:t>
                      </a:r>
                      <a:r>
                        <a:rPr lang="zh-CN" altLang="en-US" sz="1050" dirty="0"/>
                        <a:t>部件负责人</a:t>
                      </a:r>
                      <a:endParaRPr lang="zh-CN" altLang="en-US" sz="1050" dirty="0">
                        <a:latin typeface="+mn-ea"/>
                        <a:ea typeface="+mn-ea"/>
                      </a:endParaRPr>
                    </a:p>
                  </a:txBody>
                  <a:tcPr anchor="ctr"/>
                </a:tc>
                <a:tc>
                  <a:txBody>
                    <a:bodyPr/>
                    <a:lstStyle/>
                    <a:p>
                      <a:r>
                        <a:rPr lang="zh-CN" altLang="en-US" sz="1050" dirty="0"/>
                        <a:t>根据量产版本的设计编制、更新</a:t>
                      </a:r>
                      <a:r>
                        <a:rPr lang="en-US" altLang="zh-CN" sz="1050" dirty="0"/>
                        <a:t>《</a:t>
                      </a:r>
                      <a:r>
                        <a:rPr lang="zh-CN" altLang="en-US" sz="1050" dirty="0"/>
                        <a:t>部件规格书</a:t>
                      </a:r>
                      <a:r>
                        <a:rPr lang="en-US" altLang="zh-CN" sz="1050" dirty="0"/>
                        <a:t>》</a:t>
                      </a:r>
                      <a:r>
                        <a:rPr lang="zh-CN" altLang="en-US" sz="1050" dirty="0"/>
                        <a:t>，包括板卡、机构、线缆、等涉及设计更改的物料。</a:t>
                      </a:r>
                      <a:endParaRPr lang="zh-CN" altLang="en-US" sz="1050" dirty="0">
                        <a:latin typeface="+mn-ea"/>
                        <a:ea typeface="+mn-ea"/>
                      </a:endParaRPr>
                    </a:p>
                  </a:txBody>
                  <a:tcPr/>
                </a:tc>
                <a:extLst>
                  <a:ext uri="{0D108BD9-81ED-4DB2-BD59-A6C34878D82A}">
                    <a16:rowId xmlns:a16="http://schemas.microsoft.com/office/drawing/2014/main" val="1313637397"/>
                  </a:ext>
                </a:extLst>
              </a:tr>
              <a:tr h="237836">
                <a:tc>
                  <a:txBody>
                    <a:bodyPr/>
                    <a:lstStyle/>
                    <a:p>
                      <a:pPr algn="ctr"/>
                      <a:r>
                        <a:rPr lang="en-US" altLang="zh-CN" sz="1050" dirty="0"/>
                        <a:t>2</a:t>
                      </a:r>
                      <a:endParaRPr lang="zh-CN" altLang="en-US" sz="1050" dirty="0">
                        <a:latin typeface="+mn-ea"/>
                        <a:ea typeface="+mn-ea"/>
                      </a:endParaRPr>
                    </a:p>
                  </a:txBody>
                  <a:tcPr anchor="ctr"/>
                </a:tc>
                <a:tc>
                  <a:txBody>
                    <a:bodyPr/>
                    <a:lstStyle/>
                    <a:p>
                      <a:pPr algn="ctr"/>
                      <a:r>
                        <a:rPr lang="zh-CN" altLang="en-US" sz="1050" dirty="0"/>
                        <a:t>部件物料号申请</a:t>
                      </a:r>
                      <a:endParaRPr lang="zh-CN" altLang="en-US" sz="1050" dirty="0">
                        <a:latin typeface="+mn-ea"/>
                        <a:ea typeface="+mn-ea"/>
                      </a:endParaRP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050" dirty="0"/>
                        <a:t>研发工程师</a:t>
                      </a:r>
                      <a:r>
                        <a:rPr lang="en-US" altLang="zh-CN" sz="1050" dirty="0"/>
                        <a:t>/</a:t>
                      </a:r>
                      <a:r>
                        <a:rPr lang="zh-CN" altLang="en-US" sz="1050" dirty="0"/>
                        <a:t>部件负责人</a:t>
                      </a:r>
                      <a:endParaRPr lang="zh-CN" altLang="en-US" sz="1050" dirty="0">
                        <a:latin typeface="+mn-ea"/>
                        <a:ea typeface="+mn-ea"/>
                      </a:endParaRPr>
                    </a:p>
                  </a:txBody>
                  <a:tcPr anchor="ctr"/>
                </a:tc>
                <a:tc>
                  <a:txBody>
                    <a:bodyPr/>
                    <a:lstStyle/>
                    <a:p>
                      <a:r>
                        <a:rPr lang="zh-CN" altLang="en-US" sz="1050" dirty="0"/>
                        <a:t>申请工作内容</a:t>
                      </a:r>
                      <a:r>
                        <a:rPr lang="en-US" altLang="zh-CN" sz="1050" dirty="0"/>
                        <a:t>1</a:t>
                      </a:r>
                      <a:r>
                        <a:rPr lang="zh-CN" altLang="en-US" sz="1050" dirty="0"/>
                        <a:t>中提及的部件的料号。</a:t>
                      </a:r>
                      <a:endParaRPr lang="zh-CN" altLang="en-US" sz="1050" dirty="0">
                        <a:latin typeface="+mn-ea"/>
                        <a:ea typeface="+mn-ea"/>
                      </a:endParaRPr>
                    </a:p>
                  </a:txBody>
                  <a:tcPr/>
                </a:tc>
                <a:extLst>
                  <a:ext uri="{0D108BD9-81ED-4DB2-BD59-A6C34878D82A}">
                    <a16:rowId xmlns:a16="http://schemas.microsoft.com/office/drawing/2014/main" val="2774203038"/>
                  </a:ext>
                </a:extLst>
              </a:tr>
              <a:tr h="237836">
                <a:tc>
                  <a:txBody>
                    <a:bodyPr/>
                    <a:lstStyle/>
                    <a:p>
                      <a:pPr algn="ctr"/>
                      <a:r>
                        <a:rPr lang="en-US" altLang="zh-CN" sz="1050" dirty="0"/>
                        <a:t>3</a:t>
                      </a:r>
                      <a:endParaRPr lang="zh-CN" altLang="en-US" sz="1050" dirty="0">
                        <a:latin typeface="+mn-ea"/>
                        <a:ea typeface="+mn-ea"/>
                      </a:endParaRPr>
                    </a:p>
                  </a:txBody>
                  <a:tcPr anchor="ctr"/>
                </a:tc>
                <a:tc>
                  <a:txBody>
                    <a:bodyPr/>
                    <a:lstStyle/>
                    <a:p>
                      <a:pPr algn="ctr"/>
                      <a:r>
                        <a:rPr lang="zh-CN" altLang="en-US" sz="1050" dirty="0"/>
                        <a:t>编制产品</a:t>
                      </a:r>
                      <a:r>
                        <a:rPr lang="en-US" altLang="zh-CN" sz="1050" dirty="0"/>
                        <a:t>BOM</a:t>
                      </a:r>
                      <a:endParaRPr lang="zh-CN" altLang="en-US" sz="1050" dirty="0">
                        <a:latin typeface="+mn-ea"/>
                        <a:ea typeface="+mn-ea"/>
                      </a:endParaRPr>
                    </a:p>
                  </a:txBody>
                  <a:tcPr anchor="ctr"/>
                </a:tc>
                <a:tc>
                  <a:txBody>
                    <a:bodyPr/>
                    <a:lstStyle/>
                    <a:p>
                      <a:pPr algn="ctr"/>
                      <a:r>
                        <a:rPr lang="zh-CN" altLang="en-US" sz="1050" dirty="0"/>
                        <a:t>产品工程师</a:t>
                      </a:r>
                      <a:endParaRPr lang="zh-CN" altLang="en-US" sz="1050" dirty="0">
                        <a:latin typeface="+mn-ea"/>
                        <a:ea typeface="+mn-ea"/>
                      </a:endParaRPr>
                    </a:p>
                  </a:txBody>
                  <a:tcPr anchor="ctr"/>
                </a:tc>
                <a:tc>
                  <a:txBody>
                    <a:bodyPr/>
                    <a:lstStyle/>
                    <a:p>
                      <a:r>
                        <a:rPr lang="zh-CN" altLang="en-US" sz="1050" dirty="0"/>
                        <a:t>根据产品的应用需求，选择产品中涉及的物料及物料数量，形成</a:t>
                      </a:r>
                      <a:r>
                        <a:rPr lang="en-US" altLang="zh-CN" sz="1050" dirty="0"/>
                        <a:t>《</a:t>
                      </a:r>
                      <a:r>
                        <a:rPr lang="zh-CN" altLang="en-US" sz="1050" dirty="0"/>
                        <a:t>产品</a:t>
                      </a:r>
                      <a:r>
                        <a:rPr lang="en-US" altLang="zh-CN" sz="1050" dirty="0"/>
                        <a:t>BOM</a:t>
                      </a:r>
                      <a:r>
                        <a:rPr lang="zh-CN" altLang="en-US" sz="1050" dirty="0"/>
                        <a:t>清单</a:t>
                      </a:r>
                      <a:r>
                        <a:rPr lang="en-US" altLang="zh-CN" sz="1050" dirty="0"/>
                        <a:t>》</a:t>
                      </a:r>
                      <a:r>
                        <a:rPr lang="zh-CN" altLang="en-US" sz="1050" dirty="0"/>
                        <a:t>并申请产品物料号。</a:t>
                      </a:r>
                      <a:endParaRPr lang="zh-CN" altLang="en-US" sz="1050" dirty="0">
                        <a:latin typeface="+mn-ea"/>
                        <a:ea typeface="+mn-ea"/>
                      </a:endParaRPr>
                    </a:p>
                  </a:txBody>
                  <a:tcPr/>
                </a:tc>
                <a:extLst>
                  <a:ext uri="{0D108BD9-81ED-4DB2-BD59-A6C34878D82A}">
                    <a16:rowId xmlns:a16="http://schemas.microsoft.com/office/drawing/2014/main" val="2202008534"/>
                  </a:ext>
                </a:extLst>
              </a:tr>
              <a:tr h="237836">
                <a:tc>
                  <a:txBody>
                    <a:bodyPr/>
                    <a:lstStyle/>
                    <a:p>
                      <a:pPr algn="ctr"/>
                      <a:r>
                        <a:rPr lang="en-US" altLang="zh-CN" sz="1050" dirty="0"/>
                        <a:t>4</a:t>
                      </a:r>
                      <a:endParaRPr lang="zh-CN" altLang="en-US" sz="1050" dirty="0">
                        <a:latin typeface="+mn-ea"/>
                        <a:ea typeface="+mn-ea"/>
                      </a:endParaRPr>
                    </a:p>
                  </a:txBody>
                  <a:tcPr anchor="ctr"/>
                </a:tc>
                <a:tc>
                  <a:txBody>
                    <a:bodyPr/>
                    <a:lstStyle/>
                    <a:p>
                      <a:pPr algn="ctr"/>
                      <a:r>
                        <a:rPr lang="zh-CN" altLang="en-US" sz="1050" dirty="0"/>
                        <a:t>首批采购订单申请</a:t>
                      </a:r>
                      <a:endParaRPr lang="zh-CN" altLang="en-US" sz="1050" dirty="0">
                        <a:latin typeface="+mn-ea"/>
                        <a:ea typeface="+mn-ea"/>
                      </a:endParaRP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050" dirty="0"/>
                        <a:t>市场代表</a:t>
                      </a:r>
                      <a:endParaRPr lang="zh-CN" altLang="en-US" sz="1050" dirty="0">
                        <a:latin typeface="+mn-ea"/>
                        <a:ea typeface="+mn-ea"/>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a:t>市场代表提交首批采购订单</a:t>
                      </a:r>
                      <a:endParaRPr lang="zh-CN" altLang="en-US" sz="1050" dirty="0">
                        <a:latin typeface="+mn-ea"/>
                        <a:ea typeface="+mn-ea"/>
                      </a:endParaRPr>
                    </a:p>
                  </a:txBody>
                  <a:tcPr/>
                </a:tc>
                <a:extLst>
                  <a:ext uri="{0D108BD9-81ED-4DB2-BD59-A6C34878D82A}">
                    <a16:rowId xmlns:a16="http://schemas.microsoft.com/office/drawing/2014/main" val="1446853953"/>
                  </a:ext>
                </a:extLst>
              </a:tr>
              <a:tr h="237836">
                <a:tc>
                  <a:txBody>
                    <a:bodyPr/>
                    <a:lstStyle/>
                    <a:p>
                      <a:pPr algn="ctr"/>
                      <a:r>
                        <a:rPr lang="en-US" altLang="zh-CN" sz="1050" dirty="0"/>
                        <a:t>5</a:t>
                      </a:r>
                      <a:endParaRPr lang="zh-CN" altLang="en-US" sz="1050" dirty="0">
                        <a:latin typeface="+mn-ea"/>
                        <a:ea typeface="+mn-ea"/>
                      </a:endParaRPr>
                    </a:p>
                  </a:txBody>
                  <a:tcPr anchor="ctr"/>
                </a:tc>
                <a:tc>
                  <a:txBody>
                    <a:bodyPr/>
                    <a:lstStyle/>
                    <a:p>
                      <a:pPr algn="ctr"/>
                      <a:r>
                        <a:rPr lang="zh-CN" altLang="en-US" sz="1050" dirty="0"/>
                        <a:t>编制生产技术要求</a:t>
                      </a:r>
                      <a:endParaRPr lang="zh-CN" altLang="en-US" sz="1050" dirty="0">
                        <a:latin typeface="+mn-ea"/>
                        <a:ea typeface="+mn-ea"/>
                      </a:endParaRPr>
                    </a:p>
                  </a:txBody>
                  <a:tcPr anchor="ctr"/>
                </a:tc>
                <a:tc>
                  <a:txBody>
                    <a:bodyPr/>
                    <a:lstStyle/>
                    <a:p>
                      <a:pPr algn="ctr"/>
                      <a:r>
                        <a:rPr lang="zh-CN" altLang="en-US" sz="1050" dirty="0"/>
                        <a:t>产品工程师</a:t>
                      </a:r>
                      <a:endParaRPr lang="zh-CN" altLang="en-US" sz="1050" dirty="0">
                        <a:latin typeface="+mn-ea"/>
                        <a:ea typeface="+mn-ea"/>
                      </a:endParaRPr>
                    </a:p>
                  </a:txBody>
                  <a:tcPr anchor="ctr"/>
                </a:tc>
                <a:tc>
                  <a:txBody>
                    <a:bodyPr/>
                    <a:lstStyle/>
                    <a:p>
                      <a:r>
                        <a:rPr lang="zh-CN" altLang="en-US" sz="1050" dirty="0"/>
                        <a:t>根据产品组装和安装顺序，形成</a:t>
                      </a:r>
                      <a:r>
                        <a:rPr lang="en-US" altLang="zh-CN" sz="1050" dirty="0"/>
                        <a:t>《</a:t>
                      </a:r>
                      <a:r>
                        <a:rPr lang="zh-CN" altLang="en-US" sz="1050" dirty="0"/>
                        <a:t>产品生产技术要求</a:t>
                      </a:r>
                      <a:r>
                        <a:rPr lang="en-US" altLang="zh-CN" sz="1050" dirty="0"/>
                        <a:t>》</a:t>
                      </a:r>
                      <a:r>
                        <a:rPr lang="zh-CN" altLang="en-US" sz="1050" dirty="0"/>
                        <a:t>用于指导产品上线</a:t>
                      </a:r>
                      <a:endParaRPr lang="zh-CN" altLang="en-US" sz="1050" dirty="0">
                        <a:latin typeface="+mn-ea"/>
                        <a:ea typeface="+mn-ea"/>
                      </a:endParaRPr>
                    </a:p>
                  </a:txBody>
                  <a:tcPr/>
                </a:tc>
                <a:extLst>
                  <a:ext uri="{0D108BD9-81ED-4DB2-BD59-A6C34878D82A}">
                    <a16:rowId xmlns:a16="http://schemas.microsoft.com/office/drawing/2014/main" val="3241236086"/>
                  </a:ext>
                </a:extLst>
              </a:tr>
              <a:tr h="237836">
                <a:tc>
                  <a:txBody>
                    <a:bodyPr/>
                    <a:lstStyle/>
                    <a:p>
                      <a:pPr algn="ctr"/>
                      <a:r>
                        <a:rPr lang="en-US" altLang="zh-CN" sz="1050" dirty="0"/>
                        <a:t>6</a:t>
                      </a:r>
                      <a:endParaRPr lang="zh-CN" altLang="en-US" sz="1050" dirty="0">
                        <a:latin typeface="+mn-ea"/>
                        <a:ea typeface="+mn-ea"/>
                      </a:endParaRPr>
                    </a:p>
                  </a:txBody>
                  <a:tcPr anchor="ctr"/>
                </a:tc>
                <a:tc>
                  <a:txBody>
                    <a:bodyPr/>
                    <a:lstStyle/>
                    <a:p>
                      <a:pPr algn="ctr"/>
                      <a:r>
                        <a:rPr lang="zh-CN" altLang="en-US" sz="1050" dirty="0"/>
                        <a:t>批量测试配置确认</a:t>
                      </a:r>
                      <a:endParaRPr lang="zh-CN" altLang="en-US" sz="1050" dirty="0">
                        <a:latin typeface="+mn-ea"/>
                        <a:ea typeface="+mn-ea"/>
                      </a:endParaRP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050" dirty="0"/>
                        <a:t>产品工程师</a:t>
                      </a:r>
                      <a:r>
                        <a:rPr lang="en-US" altLang="zh-CN" sz="1050" dirty="0"/>
                        <a:t>/TPM</a:t>
                      </a:r>
                      <a:endParaRPr lang="zh-CN" altLang="en-US" sz="1050" dirty="0">
                        <a:latin typeface="+mn-ea"/>
                        <a:ea typeface="+mn-ea"/>
                      </a:endParaRPr>
                    </a:p>
                  </a:txBody>
                  <a:tcPr anchor="ctr"/>
                </a:tc>
                <a:tc>
                  <a:txBody>
                    <a:bodyPr/>
                    <a:lstStyle/>
                    <a:p>
                      <a:r>
                        <a:rPr lang="zh-CN" altLang="en-US" sz="1050" dirty="0"/>
                        <a:t>产品工程师与</a:t>
                      </a:r>
                      <a:r>
                        <a:rPr lang="en-US" altLang="zh-CN" sz="1050" dirty="0"/>
                        <a:t>TPM</a:t>
                      </a:r>
                      <a:r>
                        <a:rPr lang="zh-CN" altLang="en-US" sz="1050" dirty="0"/>
                        <a:t>共同确认批量测试配置。</a:t>
                      </a:r>
                      <a:endParaRPr lang="zh-CN" altLang="en-US" sz="1050" dirty="0">
                        <a:latin typeface="+mn-ea"/>
                        <a:ea typeface="+mn-ea"/>
                      </a:endParaRPr>
                    </a:p>
                  </a:txBody>
                  <a:tcPr/>
                </a:tc>
                <a:extLst>
                  <a:ext uri="{0D108BD9-81ED-4DB2-BD59-A6C34878D82A}">
                    <a16:rowId xmlns:a16="http://schemas.microsoft.com/office/drawing/2014/main" val="3104681602"/>
                  </a:ext>
                </a:extLst>
              </a:tr>
              <a:tr h="237836">
                <a:tc>
                  <a:txBody>
                    <a:bodyPr/>
                    <a:lstStyle/>
                    <a:p>
                      <a:pPr algn="ctr"/>
                      <a:r>
                        <a:rPr lang="en-US" altLang="zh-CN" sz="1050" dirty="0"/>
                        <a:t>7</a:t>
                      </a:r>
                      <a:endParaRPr lang="zh-CN" altLang="en-US" sz="1050" dirty="0">
                        <a:latin typeface="+mn-ea"/>
                        <a:ea typeface="+mn-ea"/>
                      </a:endParaRPr>
                    </a:p>
                  </a:txBody>
                  <a:tcPr anchor="ctr"/>
                </a:tc>
                <a:tc>
                  <a:txBody>
                    <a:bodyPr/>
                    <a:lstStyle/>
                    <a:p>
                      <a:pPr algn="ctr"/>
                      <a:r>
                        <a:rPr lang="zh-CN" altLang="en-US" sz="1050" dirty="0"/>
                        <a:t>下单排产</a:t>
                      </a:r>
                      <a:endParaRPr lang="zh-CN" altLang="en-US" sz="1050" dirty="0">
                        <a:latin typeface="+mn-ea"/>
                        <a:ea typeface="+mn-ea"/>
                      </a:endParaRPr>
                    </a:p>
                  </a:txBody>
                  <a:tcPr anchor="ctr"/>
                </a:tc>
                <a:tc>
                  <a:txBody>
                    <a:bodyPr/>
                    <a:lstStyle/>
                    <a:p>
                      <a:pPr algn="ctr"/>
                      <a:r>
                        <a:rPr lang="zh-CN" altLang="en-US" sz="1050" dirty="0"/>
                        <a:t>商务部</a:t>
                      </a:r>
                      <a:endParaRPr lang="zh-CN" altLang="en-US" sz="1050" dirty="0">
                        <a:latin typeface="+mn-ea"/>
                        <a:ea typeface="+mn-ea"/>
                      </a:endParaRPr>
                    </a:p>
                  </a:txBody>
                  <a:tcPr anchor="ctr"/>
                </a:tc>
                <a:tc>
                  <a:txBody>
                    <a:bodyPr/>
                    <a:lstStyle/>
                    <a:p>
                      <a:r>
                        <a:rPr lang="zh-CN" altLang="en-US" sz="1050" dirty="0"/>
                        <a:t>商务部根据生产计划，确定首批试制的机器上线的时间</a:t>
                      </a:r>
                      <a:endParaRPr lang="zh-CN" altLang="en-US" sz="1050" dirty="0">
                        <a:latin typeface="+mn-ea"/>
                        <a:ea typeface="+mn-ea"/>
                      </a:endParaRPr>
                    </a:p>
                  </a:txBody>
                  <a:tcPr/>
                </a:tc>
                <a:extLst>
                  <a:ext uri="{0D108BD9-81ED-4DB2-BD59-A6C34878D82A}">
                    <a16:rowId xmlns:a16="http://schemas.microsoft.com/office/drawing/2014/main" val="2956290243"/>
                  </a:ext>
                </a:extLst>
              </a:tr>
              <a:tr h="237836">
                <a:tc>
                  <a:txBody>
                    <a:bodyPr/>
                    <a:lstStyle/>
                    <a:p>
                      <a:pPr algn="ctr"/>
                      <a:r>
                        <a:rPr lang="en-US" altLang="zh-CN" sz="1050" dirty="0"/>
                        <a:t>8</a:t>
                      </a:r>
                      <a:endParaRPr lang="zh-CN" altLang="en-US" sz="1050" dirty="0">
                        <a:latin typeface="+mn-ea"/>
                        <a:ea typeface="+mn-ea"/>
                      </a:endParaRPr>
                    </a:p>
                  </a:txBody>
                  <a:tcPr anchor="ctr"/>
                </a:tc>
                <a:tc>
                  <a:txBody>
                    <a:bodyPr/>
                    <a:lstStyle/>
                    <a:p>
                      <a:pPr algn="ctr"/>
                      <a:r>
                        <a:rPr lang="zh-CN" altLang="en-US" sz="1050" dirty="0"/>
                        <a:t>首批物料采购</a:t>
                      </a:r>
                      <a:endParaRPr lang="zh-CN" altLang="en-US" sz="1050" dirty="0">
                        <a:latin typeface="+mn-ea"/>
                        <a:ea typeface="+mn-ea"/>
                      </a:endParaRPr>
                    </a:p>
                  </a:txBody>
                  <a:tcPr anchor="ctr"/>
                </a:tc>
                <a:tc>
                  <a:txBody>
                    <a:bodyPr/>
                    <a:lstStyle/>
                    <a:p>
                      <a:pPr algn="ctr"/>
                      <a:r>
                        <a:rPr lang="zh-CN" altLang="en-US" sz="1050" dirty="0"/>
                        <a:t>采购部</a:t>
                      </a:r>
                      <a:endParaRPr lang="zh-CN" altLang="en-US" sz="1050" dirty="0">
                        <a:latin typeface="+mn-ea"/>
                        <a:ea typeface="+mn-ea"/>
                      </a:endParaRPr>
                    </a:p>
                  </a:txBody>
                  <a:tcPr anchor="ctr"/>
                </a:tc>
                <a:tc>
                  <a:txBody>
                    <a:bodyPr/>
                    <a:lstStyle/>
                    <a:p>
                      <a:r>
                        <a:rPr lang="zh-CN" altLang="en-US" sz="1050" dirty="0"/>
                        <a:t>采购部根据首批订单申请表采购首批物料，并反馈物料的交期</a:t>
                      </a:r>
                      <a:endParaRPr lang="zh-CN" altLang="en-US" sz="1050" dirty="0">
                        <a:latin typeface="+mn-ea"/>
                        <a:ea typeface="+mn-ea"/>
                      </a:endParaRPr>
                    </a:p>
                  </a:txBody>
                  <a:tcPr/>
                </a:tc>
                <a:extLst>
                  <a:ext uri="{0D108BD9-81ED-4DB2-BD59-A6C34878D82A}">
                    <a16:rowId xmlns:a16="http://schemas.microsoft.com/office/drawing/2014/main" val="215260808"/>
                  </a:ext>
                </a:extLst>
              </a:tr>
              <a:tr h="237836">
                <a:tc>
                  <a:txBody>
                    <a:bodyPr/>
                    <a:lstStyle/>
                    <a:p>
                      <a:pPr algn="ctr"/>
                      <a:r>
                        <a:rPr lang="en-US" altLang="zh-CN" sz="1050" dirty="0"/>
                        <a:t>9</a:t>
                      </a:r>
                      <a:endParaRPr lang="zh-CN" altLang="en-US" sz="1050" dirty="0">
                        <a:latin typeface="+mn-ea"/>
                        <a:ea typeface="+mn-ea"/>
                      </a:endParaRPr>
                    </a:p>
                  </a:txBody>
                  <a:tcPr anchor="ctr"/>
                </a:tc>
                <a:tc>
                  <a:txBody>
                    <a:bodyPr/>
                    <a:lstStyle/>
                    <a:p>
                      <a:pPr algn="ctr"/>
                      <a:r>
                        <a:rPr lang="zh-CN" altLang="en-US" sz="1050" dirty="0"/>
                        <a:t>入库物料检验</a:t>
                      </a:r>
                      <a:endParaRPr lang="zh-CN" altLang="en-US" sz="1050" dirty="0">
                        <a:latin typeface="+mn-ea"/>
                        <a:ea typeface="+mn-ea"/>
                      </a:endParaRPr>
                    </a:p>
                  </a:txBody>
                  <a:tcPr anchor="ctr"/>
                </a:tc>
                <a:tc>
                  <a:txBody>
                    <a:bodyPr/>
                    <a:lstStyle/>
                    <a:p>
                      <a:pPr algn="ctr"/>
                      <a:r>
                        <a:rPr lang="zh-CN" altLang="en-US" sz="1050" dirty="0"/>
                        <a:t>品质管理部</a:t>
                      </a:r>
                      <a:endParaRPr lang="zh-CN" altLang="en-US" sz="1050" dirty="0">
                        <a:latin typeface="+mn-ea"/>
                        <a:ea typeface="+mn-ea"/>
                      </a:endParaRPr>
                    </a:p>
                  </a:txBody>
                  <a:tcPr anchor="ctr"/>
                </a:tc>
                <a:tc>
                  <a:txBody>
                    <a:bodyPr/>
                    <a:lstStyle/>
                    <a:p>
                      <a:r>
                        <a:rPr lang="zh-CN" altLang="en-US" sz="1050" dirty="0"/>
                        <a:t>对试制物料进行入库检验</a:t>
                      </a:r>
                      <a:endParaRPr lang="zh-CN" altLang="en-US" sz="1050" dirty="0">
                        <a:latin typeface="+mn-ea"/>
                        <a:ea typeface="+mn-ea"/>
                      </a:endParaRPr>
                    </a:p>
                  </a:txBody>
                  <a:tcPr/>
                </a:tc>
                <a:extLst>
                  <a:ext uri="{0D108BD9-81ED-4DB2-BD59-A6C34878D82A}">
                    <a16:rowId xmlns:a16="http://schemas.microsoft.com/office/drawing/2014/main" val="1602968991"/>
                  </a:ext>
                </a:extLst>
              </a:tr>
              <a:tr h="237836">
                <a:tc>
                  <a:txBody>
                    <a:bodyPr/>
                    <a:lstStyle/>
                    <a:p>
                      <a:pPr algn="ctr"/>
                      <a:r>
                        <a:rPr lang="en-US" altLang="zh-CN" sz="1050" dirty="0"/>
                        <a:t>10</a:t>
                      </a:r>
                      <a:endParaRPr lang="zh-CN" altLang="en-US" sz="1050" dirty="0">
                        <a:latin typeface="+mn-ea"/>
                        <a:ea typeface="+mn-ea"/>
                      </a:endParaRPr>
                    </a:p>
                  </a:txBody>
                  <a:tcPr anchor="ctr"/>
                </a:tc>
                <a:tc>
                  <a:txBody>
                    <a:bodyPr/>
                    <a:lstStyle/>
                    <a:p>
                      <a:pPr algn="ctr"/>
                      <a:r>
                        <a:rPr lang="zh-CN" altLang="en-US" sz="1050" dirty="0"/>
                        <a:t>首批物料齐备跟踪</a:t>
                      </a:r>
                      <a:endParaRPr lang="zh-CN" altLang="en-US" sz="1050" dirty="0">
                        <a:latin typeface="+mn-ea"/>
                        <a:ea typeface="+mn-ea"/>
                      </a:endParaRP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050" dirty="0"/>
                        <a:t>产品工程师</a:t>
                      </a:r>
                      <a:endParaRPr lang="zh-CN" altLang="en-US" sz="1050" dirty="0">
                        <a:latin typeface="+mn-ea"/>
                        <a:ea typeface="+mn-ea"/>
                      </a:endParaRPr>
                    </a:p>
                  </a:txBody>
                  <a:tcPr anchor="ctr"/>
                </a:tc>
                <a:tc>
                  <a:txBody>
                    <a:bodyPr/>
                    <a:lstStyle/>
                    <a:p>
                      <a:r>
                        <a:rPr lang="zh-CN" altLang="en-US" sz="1050" dirty="0"/>
                        <a:t>根据首批订单中的物料申请明细跟踪物料到位情况</a:t>
                      </a:r>
                      <a:endParaRPr lang="zh-CN" altLang="en-US" sz="1050" dirty="0">
                        <a:latin typeface="+mn-ea"/>
                        <a:ea typeface="+mn-ea"/>
                      </a:endParaRPr>
                    </a:p>
                  </a:txBody>
                  <a:tcPr/>
                </a:tc>
                <a:extLst>
                  <a:ext uri="{0D108BD9-81ED-4DB2-BD59-A6C34878D82A}">
                    <a16:rowId xmlns:a16="http://schemas.microsoft.com/office/drawing/2014/main" val="3356232832"/>
                  </a:ext>
                </a:extLst>
              </a:tr>
              <a:tr h="389186">
                <a:tc>
                  <a:txBody>
                    <a:bodyPr/>
                    <a:lstStyle/>
                    <a:p>
                      <a:pPr algn="ctr"/>
                      <a:r>
                        <a:rPr lang="en-US" altLang="zh-CN" sz="1050" kern="1200" dirty="0">
                          <a:solidFill>
                            <a:schemeClr val="dk1"/>
                          </a:solidFill>
                        </a:rPr>
                        <a:t>11</a:t>
                      </a:r>
                      <a:endParaRPr lang="zh-CN" altLang="en-US" sz="1050" kern="1200" dirty="0">
                        <a:solidFill>
                          <a:schemeClr val="dk1"/>
                        </a:solidFill>
                        <a:latin typeface="+mn-ea"/>
                        <a:ea typeface="+mn-ea"/>
                        <a:cs typeface="+mn-cs"/>
                      </a:endParaRPr>
                    </a:p>
                  </a:txBody>
                  <a:tcPr anchor="ctr"/>
                </a:tc>
                <a:tc>
                  <a:txBody>
                    <a:bodyPr/>
                    <a:lstStyle/>
                    <a:p>
                      <a:pPr algn="ctr"/>
                      <a:r>
                        <a:rPr lang="zh-CN" altLang="en-US" sz="1050" dirty="0"/>
                        <a:t>工艺评审</a:t>
                      </a:r>
                      <a:endParaRPr lang="zh-CN" altLang="en-US" sz="1050" dirty="0">
                        <a:latin typeface="+mn-ea"/>
                        <a:ea typeface="+mn-ea"/>
                      </a:endParaRP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zh-CN" altLang="en-US" sz="1050" dirty="0"/>
                        <a:t>产品工程师</a:t>
                      </a:r>
                      <a:endParaRPr lang="zh-CN" altLang="en-US" sz="1050" dirty="0">
                        <a:latin typeface="+mn-ea"/>
                        <a:ea typeface="+mn-ea"/>
                      </a:endParaRPr>
                    </a:p>
                  </a:txBody>
                  <a:tcPr anchor="ctr"/>
                </a:tc>
                <a:tc>
                  <a:txBody>
                    <a:bodyPr/>
                    <a:lstStyle/>
                    <a:p>
                      <a:r>
                        <a:rPr lang="zh-CN" altLang="en-US" sz="1050" dirty="0"/>
                        <a:t>产品经理基于</a:t>
                      </a:r>
                      <a:r>
                        <a:rPr lang="en-US" altLang="zh-CN" sz="1050" dirty="0"/>
                        <a:t>《</a:t>
                      </a:r>
                      <a:r>
                        <a:rPr lang="zh-CN" altLang="en-US" sz="1050" dirty="0"/>
                        <a:t>产品生产技术要求</a:t>
                      </a:r>
                      <a:r>
                        <a:rPr lang="en-US" altLang="zh-CN" sz="1050" dirty="0"/>
                        <a:t>》,</a:t>
                      </a:r>
                      <a:r>
                        <a:rPr lang="zh-CN" altLang="en-US" sz="1050" dirty="0"/>
                        <a:t>以及真实样机对制造部和品管同事介绍新品（包括装配、拆卸、基础安装及基础验证等），便于制造部转化成生产作业指导书</a:t>
                      </a:r>
                      <a:endParaRPr lang="zh-CN" altLang="en-US" sz="1050" dirty="0">
                        <a:latin typeface="+mn-ea"/>
                        <a:ea typeface="+mn-ea"/>
                      </a:endParaRPr>
                    </a:p>
                  </a:txBody>
                  <a:tcPr/>
                </a:tc>
                <a:extLst>
                  <a:ext uri="{0D108BD9-81ED-4DB2-BD59-A6C34878D82A}">
                    <a16:rowId xmlns:a16="http://schemas.microsoft.com/office/drawing/2014/main" val="4005644857"/>
                  </a:ext>
                </a:extLst>
              </a:tr>
              <a:tr h="38918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050" kern="1200" dirty="0">
                          <a:solidFill>
                            <a:schemeClr val="dk1"/>
                          </a:solidFill>
                        </a:rPr>
                        <a:t>12</a:t>
                      </a:r>
                      <a:endParaRPr lang="zh-CN" altLang="en-US" sz="1050" kern="1200" dirty="0">
                        <a:solidFill>
                          <a:schemeClr val="dk1"/>
                        </a:solidFill>
                        <a:latin typeface="+mn-ea"/>
                        <a:ea typeface="+mn-ea"/>
                        <a:cs typeface="+mn-cs"/>
                      </a:endParaRPr>
                    </a:p>
                  </a:txBody>
                  <a:tcPr anchor="ctr"/>
                </a:tc>
                <a:tc>
                  <a:txBody>
                    <a:bodyPr/>
                    <a:lstStyle/>
                    <a:p>
                      <a:pPr algn="ctr"/>
                      <a:r>
                        <a:rPr lang="zh-CN" altLang="en-US" sz="1050" dirty="0"/>
                        <a:t>试制准备状态检查</a:t>
                      </a:r>
                      <a:endParaRPr lang="zh-CN" altLang="en-US" sz="1050" dirty="0">
                        <a:latin typeface="+mn-ea"/>
                        <a:ea typeface="+mn-ea"/>
                      </a:endParaRPr>
                    </a:p>
                  </a:txBody>
                  <a:tcPr anchor="ctr"/>
                </a:tc>
                <a:tc>
                  <a:txBody>
                    <a:bodyPr/>
                    <a:lstStyle/>
                    <a:p>
                      <a:pPr algn="ctr"/>
                      <a:r>
                        <a:rPr lang="zh-CN" altLang="en-US" sz="1050" dirty="0"/>
                        <a:t>品质管理部</a:t>
                      </a:r>
                      <a:endParaRPr lang="zh-CN" altLang="en-US" sz="1050" dirty="0">
                        <a:latin typeface="+mn-ea"/>
                        <a:ea typeface="+mn-ea"/>
                      </a:endParaRPr>
                    </a:p>
                  </a:txBody>
                  <a:tcPr anchor="ctr"/>
                </a:tc>
                <a:tc>
                  <a:txBody>
                    <a:bodyPr/>
                    <a:lstStyle/>
                    <a:p>
                      <a:r>
                        <a:rPr lang="zh-CN" altLang="en-US" sz="1050" dirty="0"/>
                        <a:t>基于</a:t>
                      </a:r>
                      <a:r>
                        <a:rPr lang="en-US" altLang="zh-CN" sz="1050" dirty="0"/>
                        <a:t>《</a:t>
                      </a:r>
                      <a:r>
                        <a:rPr lang="zh-CN" altLang="en-US" sz="1050" dirty="0"/>
                        <a:t>新产品试制准备状态检查表</a:t>
                      </a:r>
                      <a:r>
                        <a:rPr lang="en-US" altLang="zh-CN" sz="1050" dirty="0"/>
                        <a:t>》</a:t>
                      </a:r>
                      <a:r>
                        <a:rPr lang="zh-CN" altLang="en-US" sz="1050" dirty="0"/>
                        <a:t>完成试制准备状态检查</a:t>
                      </a:r>
                      <a:endParaRPr lang="zh-CN" altLang="en-US" sz="1050" dirty="0">
                        <a:latin typeface="+mn-ea"/>
                        <a:ea typeface="+mn-ea"/>
                      </a:endParaRPr>
                    </a:p>
                  </a:txBody>
                  <a:tcPr/>
                </a:tc>
                <a:extLst>
                  <a:ext uri="{0D108BD9-81ED-4DB2-BD59-A6C34878D82A}">
                    <a16:rowId xmlns:a16="http://schemas.microsoft.com/office/drawing/2014/main" val="1307103954"/>
                  </a:ext>
                </a:extLst>
              </a:tr>
            </a:tbl>
          </a:graphicData>
        </a:graphic>
      </p:graphicFrame>
      <p:sp>
        <p:nvSpPr>
          <p:cNvPr id="20" name="Freeform: Shape 157"/>
          <p:cNvSpPr>
            <a:spLocks/>
          </p:cNvSpPr>
          <p:nvPr/>
        </p:nvSpPr>
        <p:spPr bwMode="auto">
          <a:xfrm>
            <a:off x="1113035" y="2282756"/>
            <a:ext cx="218697" cy="322039"/>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ln>
            <a:headEnd/>
            <a:tailEnd/>
          </a:ln>
        </p:spPr>
        <p:style>
          <a:lnRef idx="2">
            <a:schemeClr val="accent5"/>
          </a:lnRef>
          <a:fillRef idx="1">
            <a:schemeClr val="lt1"/>
          </a:fillRef>
          <a:effectRef idx="0">
            <a:schemeClr val="accent5"/>
          </a:effectRef>
          <a:fontRef idx="minor">
            <a:schemeClr val="dk1"/>
          </a:fontRef>
        </p:style>
        <p:txBody>
          <a:bodyPr anchor="ctr"/>
          <a:lstStyle/>
          <a:p>
            <a:pPr algn="ctr"/>
            <a:endParaRPr/>
          </a:p>
        </p:txBody>
      </p:sp>
      <p:grpSp>
        <p:nvGrpSpPr>
          <p:cNvPr id="21" name="Group 29"/>
          <p:cNvGrpSpPr/>
          <p:nvPr/>
        </p:nvGrpSpPr>
        <p:grpSpPr>
          <a:xfrm>
            <a:off x="3405070" y="5705217"/>
            <a:ext cx="8022030" cy="722185"/>
            <a:chOff x="648100" y="3562350"/>
            <a:chExt cx="3771500" cy="914400"/>
          </a:xfrm>
          <a:solidFill>
            <a:srgbClr val="CCDAE0"/>
          </a:solidFill>
        </p:grpSpPr>
        <p:sp>
          <p:nvSpPr>
            <p:cNvPr id="22" name="Rectangle 28"/>
            <p:cNvSpPr/>
            <p:nvPr/>
          </p:nvSpPr>
          <p:spPr>
            <a:xfrm>
              <a:off x="800500" y="3562350"/>
              <a:ext cx="3619100" cy="914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a:latin typeface="+mn-ea"/>
                <a:cs typeface="+mn-ea"/>
                <a:sym typeface="Arial" panose="020B0604020202020204" pitchFamily="34" charset="0"/>
              </a:endParaRPr>
            </a:p>
          </p:txBody>
        </p:sp>
        <p:sp>
          <p:nvSpPr>
            <p:cNvPr id="23" name="Rectangle 29"/>
            <p:cNvSpPr/>
            <p:nvPr/>
          </p:nvSpPr>
          <p:spPr>
            <a:xfrm>
              <a:off x="648100" y="3562350"/>
              <a:ext cx="152400" cy="914400"/>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a:latin typeface="+mn-ea"/>
                <a:cs typeface="+mn-ea"/>
                <a:sym typeface="Arial" panose="020B0604020202020204" pitchFamily="34" charset="0"/>
              </a:endParaRPr>
            </a:p>
          </p:txBody>
        </p:sp>
      </p:grpSp>
      <p:sp>
        <p:nvSpPr>
          <p:cNvPr id="24" name="文本框 23"/>
          <p:cNvSpPr txBox="1"/>
          <p:nvPr/>
        </p:nvSpPr>
        <p:spPr>
          <a:xfrm>
            <a:off x="3729227" y="5806028"/>
            <a:ext cx="7610279" cy="609398"/>
          </a:xfrm>
          <a:prstGeom prst="rect">
            <a:avLst/>
          </a:prstGeom>
          <a:noFill/>
        </p:spPr>
        <p:txBody>
          <a:bodyPr wrap="square" rtlCol="0">
            <a:spAutoFit/>
          </a:bodyPr>
          <a:lstStyle/>
          <a:p>
            <a:pPr>
              <a:lnSpc>
                <a:spcPct val="120000"/>
              </a:lnSpc>
            </a:pPr>
            <a:r>
              <a:rPr lang="zh-CN" altLang="en-US" sz="1600" b="1" dirty="0">
                <a:solidFill>
                  <a:srgbClr val="0070C0"/>
                </a:solidFill>
                <a:latin typeface="+mn-ea"/>
              </a:rPr>
              <a:t>提示：</a:t>
            </a:r>
            <a:r>
              <a:rPr lang="en-US" altLang="zh-CN" sz="1200" dirty="0">
                <a:latin typeface="+mn-ea"/>
              </a:rPr>
              <a:t>DVT</a:t>
            </a:r>
            <a:r>
              <a:rPr lang="zh-CN" altLang="en-US" sz="1200" dirty="0">
                <a:latin typeface="+mn-ea"/>
              </a:rPr>
              <a:t>阶段可根据技术状态 提前开展试制准备工作，项目经理可根据以上工作内容及责任人，监控与了解项目试制准备状态。</a:t>
            </a:r>
          </a:p>
        </p:txBody>
      </p:sp>
      <p:grpSp>
        <p:nvGrpSpPr>
          <p:cNvPr id="2" name="组合 1">
            <a:extLst>
              <a:ext uri="{FF2B5EF4-FFF2-40B4-BE49-F238E27FC236}">
                <a16:creationId xmlns:a16="http://schemas.microsoft.com/office/drawing/2014/main" id="{C8041853-998E-84E3-3CE3-29A8F88CD56E}"/>
              </a:ext>
            </a:extLst>
          </p:cNvPr>
          <p:cNvGrpSpPr/>
          <p:nvPr/>
        </p:nvGrpSpPr>
        <p:grpSpPr>
          <a:xfrm rot="2959657">
            <a:off x="2220825" y="5504418"/>
            <a:ext cx="799430" cy="1361274"/>
            <a:chOff x="4953300" y="1698889"/>
            <a:chExt cx="2209500" cy="3866623"/>
          </a:xfrm>
        </p:grpSpPr>
        <p:sp>
          <p:nvSpPr>
            <p:cNvPr id="3" name="任意多边形: 形状 2">
              <a:extLst>
                <a:ext uri="{FF2B5EF4-FFF2-40B4-BE49-F238E27FC236}">
                  <a16:creationId xmlns:a16="http://schemas.microsoft.com/office/drawing/2014/main" id="{D0EC4F51-0D4B-8782-B811-8333FF5F067B}"/>
                </a:ext>
              </a:extLst>
            </p:cNvPr>
            <p:cNvSpPr/>
            <p:nvPr/>
          </p:nvSpPr>
          <p:spPr>
            <a:xfrm>
              <a:off x="5781862" y="4232448"/>
              <a:ext cx="551202" cy="1333064"/>
            </a:xfrm>
            <a:custGeom>
              <a:avLst/>
              <a:gdLst>
                <a:gd name="connsiteX0" fmla="*/ 0 w 430091"/>
                <a:gd name="connsiteY0" fmla="*/ 0 h 1040161"/>
                <a:gd name="connsiteX1" fmla="*/ 430048 w 430091"/>
                <a:gd name="connsiteY1" fmla="*/ 0 h 1040161"/>
                <a:gd name="connsiteX2" fmla="*/ 430048 w 430091"/>
                <a:gd name="connsiteY2" fmla="*/ 0 h 1040161"/>
                <a:gd name="connsiteX3" fmla="*/ 430048 w 430091"/>
                <a:gd name="connsiteY3" fmla="*/ 862012 h 1040161"/>
                <a:gd name="connsiteX4" fmla="*/ 259604 w 430091"/>
                <a:gd name="connsiteY4" fmla="*/ 1040123 h 1040161"/>
                <a:gd name="connsiteX5" fmla="*/ 255730 w 430091"/>
                <a:gd name="connsiteY5" fmla="*/ 1040162 h 1040161"/>
                <a:gd name="connsiteX6" fmla="*/ 174318 w 430091"/>
                <a:gd name="connsiteY6" fmla="*/ 1040162 h 1040161"/>
                <a:gd name="connsiteX7" fmla="*/ 0 w 430091"/>
                <a:gd name="connsiteY7" fmla="*/ 865844 h 1040161"/>
                <a:gd name="connsiteX8" fmla="*/ 0 w 430091"/>
                <a:gd name="connsiteY8" fmla="*/ 3831 h 1040161"/>
                <a:gd name="connsiteX9" fmla="*/ 0 w 430091"/>
                <a:gd name="connsiteY9" fmla="*/ 0 h 1040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0091" h="1040161">
                  <a:moveTo>
                    <a:pt x="0" y="0"/>
                  </a:moveTo>
                  <a:lnTo>
                    <a:pt x="430048" y="0"/>
                  </a:lnTo>
                  <a:lnTo>
                    <a:pt x="430048" y="0"/>
                  </a:lnTo>
                  <a:lnTo>
                    <a:pt x="430048" y="862012"/>
                  </a:lnTo>
                  <a:cubicBezTo>
                    <a:pt x="432165" y="958261"/>
                    <a:pt x="355858" y="1038007"/>
                    <a:pt x="259604" y="1040123"/>
                  </a:cubicBezTo>
                  <a:cubicBezTo>
                    <a:pt x="258313" y="1040152"/>
                    <a:pt x="257021" y="1040162"/>
                    <a:pt x="255730" y="1040162"/>
                  </a:cubicBezTo>
                  <a:lnTo>
                    <a:pt x="174318" y="1040162"/>
                  </a:lnTo>
                  <a:cubicBezTo>
                    <a:pt x="78045" y="1040162"/>
                    <a:pt x="0" y="962121"/>
                    <a:pt x="0" y="865844"/>
                  </a:cubicBezTo>
                  <a:lnTo>
                    <a:pt x="0" y="3831"/>
                  </a:lnTo>
                  <a:lnTo>
                    <a:pt x="0" y="0"/>
                  </a:lnTo>
                  <a:close/>
                </a:path>
              </a:pathLst>
            </a:custGeom>
            <a:solidFill>
              <a:srgbClr val="5082F8"/>
            </a:solidFill>
            <a:ln w="95779" cap="flat">
              <a:noFill/>
              <a:prstDash val="solid"/>
              <a:miter/>
            </a:ln>
          </p:spPr>
          <p:txBody>
            <a:bodyPr rtlCol="0" anchor="ctr"/>
            <a:lstStyle/>
            <a:p>
              <a:endParaRPr lang="zh-CN" altLang="en-US"/>
            </a:p>
          </p:txBody>
        </p:sp>
        <p:sp>
          <p:nvSpPr>
            <p:cNvPr id="5" name="任意多边形: 形状 4">
              <a:extLst>
                <a:ext uri="{FF2B5EF4-FFF2-40B4-BE49-F238E27FC236}">
                  <a16:creationId xmlns:a16="http://schemas.microsoft.com/office/drawing/2014/main" id="{05338429-246A-36A8-785B-AA5521543D82}"/>
                </a:ext>
              </a:extLst>
            </p:cNvPr>
            <p:cNvSpPr/>
            <p:nvPr/>
          </p:nvSpPr>
          <p:spPr>
            <a:xfrm>
              <a:off x="5905840" y="3858061"/>
              <a:ext cx="303192" cy="375615"/>
            </a:xfrm>
            <a:custGeom>
              <a:avLst/>
              <a:gdLst>
                <a:gd name="connsiteX0" fmla="*/ 0 w 236574"/>
                <a:gd name="connsiteY0" fmla="*/ 0 h 293084"/>
                <a:gd name="connsiteX1" fmla="*/ 236575 w 236574"/>
                <a:gd name="connsiteY1" fmla="*/ 0 h 293084"/>
                <a:gd name="connsiteX2" fmla="*/ 236575 w 236574"/>
                <a:gd name="connsiteY2" fmla="*/ 293084 h 293084"/>
                <a:gd name="connsiteX3" fmla="*/ 0 w 236574"/>
                <a:gd name="connsiteY3" fmla="*/ 293084 h 293084"/>
              </a:gdLst>
              <a:ahLst/>
              <a:cxnLst>
                <a:cxn ang="0">
                  <a:pos x="connsiteX0" y="connsiteY0"/>
                </a:cxn>
                <a:cxn ang="0">
                  <a:pos x="connsiteX1" y="connsiteY1"/>
                </a:cxn>
                <a:cxn ang="0">
                  <a:pos x="connsiteX2" y="connsiteY2"/>
                </a:cxn>
                <a:cxn ang="0">
                  <a:pos x="connsiteX3" y="connsiteY3"/>
                </a:cxn>
              </a:cxnLst>
              <a:rect l="l" t="t" r="r" b="b"/>
              <a:pathLst>
                <a:path w="236574" h="293084">
                  <a:moveTo>
                    <a:pt x="0" y="0"/>
                  </a:moveTo>
                  <a:lnTo>
                    <a:pt x="236575" y="0"/>
                  </a:lnTo>
                  <a:lnTo>
                    <a:pt x="236575" y="293084"/>
                  </a:lnTo>
                  <a:lnTo>
                    <a:pt x="0" y="293084"/>
                  </a:lnTo>
                  <a:close/>
                </a:path>
              </a:pathLst>
            </a:custGeom>
            <a:solidFill>
              <a:srgbClr val="7FB8FF"/>
            </a:solidFill>
            <a:ln w="95779" cap="flat">
              <a:noFill/>
              <a:prstDash val="solid"/>
              <a:miter/>
            </a:ln>
          </p:spPr>
          <p:txBody>
            <a:bodyPr rtlCol="0" anchor="ctr"/>
            <a:lstStyle/>
            <a:p>
              <a:endParaRPr lang="zh-CN" altLang="en-US"/>
            </a:p>
          </p:txBody>
        </p:sp>
        <p:sp>
          <p:nvSpPr>
            <p:cNvPr id="8" name="任意多边形: 形状 7">
              <a:extLst>
                <a:ext uri="{FF2B5EF4-FFF2-40B4-BE49-F238E27FC236}">
                  <a16:creationId xmlns:a16="http://schemas.microsoft.com/office/drawing/2014/main" id="{0A978763-161F-7A66-17B3-1C173DE084E8}"/>
                </a:ext>
              </a:extLst>
            </p:cNvPr>
            <p:cNvSpPr/>
            <p:nvPr/>
          </p:nvSpPr>
          <p:spPr>
            <a:xfrm>
              <a:off x="4953300" y="1698889"/>
              <a:ext cx="2209500" cy="2209499"/>
            </a:xfrm>
            <a:custGeom>
              <a:avLst/>
              <a:gdLst>
                <a:gd name="connsiteX0" fmla="*/ 861922 w 1724025"/>
                <a:gd name="connsiteY0" fmla="*/ -139 h 1724024"/>
                <a:gd name="connsiteX1" fmla="*/ -91 w 1724025"/>
                <a:gd name="connsiteY1" fmla="*/ 861873 h 1724024"/>
                <a:gd name="connsiteX2" fmla="*/ 861922 w 1724025"/>
                <a:gd name="connsiteY2" fmla="*/ 1723886 h 1724024"/>
                <a:gd name="connsiteX3" fmla="*/ 1723934 w 1724025"/>
                <a:gd name="connsiteY3" fmla="*/ 861873 h 1724024"/>
                <a:gd name="connsiteX4" fmla="*/ 861922 w 1724025"/>
                <a:gd name="connsiteY4" fmla="*/ -139 h 1724024"/>
                <a:gd name="connsiteX5" fmla="*/ 861922 w 1724025"/>
                <a:gd name="connsiteY5" fmla="*/ 1477732 h 1724024"/>
                <a:gd name="connsiteX6" fmla="*/ 241272 w 1724025"/>
                <a:gd name="connsiteY6" fmla="*/ 859000 h 1724024"/>
                <a:gd name="connsiteX7" fmla="*/ 860006 w 1724025"/>
                <a:gd name="connsiteY7" fmla="*/ 238351 h 1724024"/>
                <a:gd name="connsiteX8" fmla="*/ 1480655 w 1724025"/>
                <a:gd name="connsiteY8" fmla="*/ 857084 h 1724024"/>
                <a:gd name="connsiteX9" fmla="*/ 1480655 w 1724025"/>
                <a:gd name="connsiteY9" fmla="*/ 859000 h 1724024"/>
                <a:gd name="connsiteX10" fmla="*/ 861922 w 1724025"/>
                <a:gd name="connsiteY10" fmla="*/ 1477732 h 172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4025" h="1724024">
                  <a:moveTo>
                    <a:pt x="861922" y="-139"/>
                  </a:moveTo>
                  <a:cubicBezTo>
                    <a:pt x="385842" y="-139"/>
                    <a:pt x="-91" y="385756"/>
                    <a:pt x="-91" y="861873"/>
                  </a:cubicBezTo>
                  <a:cubicBezTo>
                    <a:pt x="-91" y="1337991"/>
                    <a:pt x="385842" y="1723886"/>
                    <a:pt x="861922" y="1723886"/>
                  </a:cubicBezTo>
                  <a:cubicBezTo>
                    <a:pt x="1338040" y="1723886"/>
                    <a:pt x="1723934" y="1337991"/>
                    <a:pt x="1723934" y="861873"/>
                  </a:cubicBezTo>
                  <a:cubicBezTo>
                    <a:pt x="1723934" y="385756"/>
                    <a:pt x="1338040" y="-139"/>
                    <a:pt x="861922" y="-139"/>
                  </a:cubicBezTo>
                  <a:close/>
                  <a:moveTo>
                    <a:pt x="861922" y="1477732"/>
                  </a:moveTo>
                  <a:cubicBezTo>
                    <a:pt x="519673" y="1478308"/>
                    <a:pt x="241799" y="1201219"/>
                    <a:pt x="241272" y="859000"/>
                  </a:cubicBezTo>
                  <a:cubicBezTo>
                    <a:pt x="240746" y="516781"/>
                    <a:pt x="517758" y="238926"/>
                    <a:pt x="860006" y="238351"/>
                  </a:cubicBezTo>
                  <a:cubicBezTo>
                    <a:pt x="1202225" y="237776"/>
                    <a:pt x="1480081" y="514865"/>
                    <a:pt x="1480655" y="857084"/>
                  </a:cubicBezTo>
                  <a:cubicBezTo>
                    <a:pt x="1480655" y="857755"/>
                    <a:pt x="1480655" y="858329"/>
                    <a:pt x="1480655" y="859000"/>
                  </a:cubicBezTo>
                  <a:cubicBezTo>
                    <a:pt x="1480655" y="1200739"/>
                    <a:pt x="1203662" y="1477732"/>
                    <a:pt x="861922" y="1477732"/>
                  </a:cubicBezTo>
                  <a:close/>
                </a:path>
              </a:pathLst>
            </a:custGeom>
            <a:solidFill>
              <a:srgbClr val="5082F8"/>
            </a:solidFill>
            <a:ln w="95779"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8DD15F7C-D670-05EE-C3D6-B63B1EB78FBF}"/>
                </a:ext>
              </a:extLst>
            </p:cNvPr>
            <p:cNvSpPr/>
            <p:nvPr/>
          </p:nvSpPr>
          <p:spPr>
            <a:xfrm>
              <a:off x="5265085" y="2006991"/>
              <a:ext cx="1585929" cy="1585929"/>
            </a:xfrm>
            <a:custGeom>
              <a:avLst/>
              <a:gdLst>
                <a:gd name="connsiteX0" fmla="*/ 1237467 w 1237466"/>
                <a:gd name="connsiteY0" fmla="*/ 618733 h 1237466"/>
                <a:gd name="connsiteX1" fmla="*/ 618733 w 1237466"/>
                <a:gd name="connsiteY1" fmla="*/ 1237467 h 1237466"/>
                <a:gd name="connsiteX2" fmla="*/ 0 w 1237466"/>
                <a:gd name="connsiteY2" fmla="*/ 618733 h 1237466"/>
                <a:gd name="connsiteX3" fmla="*/ 618733 w 1237466"/>
                <a:gd name="connsiteY3" fmla="*/ 0 h 1237466"/>
                <a:gd name="connsiteX4" fmla="*/ 1237467 w 1237466"/>
                <a:gd name="connsiteY4" fmla="*/ 618733 h 1237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466" h="1237466">
                  <a:moveTo>
                    <a:pt x="1237467" y="618733"/>
                  </a:moveTo>
                  <a:cubicBezTo>
                    <a:pt x="1237467" y="960450"/>
                    <a:pt x="960451" y="1237467"/>
                    <a:pt x="618733" y="1237467"/>
                  </a:cubicBezTo>
                  <a:cubicBezTo>
                    <a:pt x="277016" y="1237467"/>
                    <a:pt x="0" y="960450"/>
                    <a:pt x="0" y="618733"/>
                  </a:cubicBezTo>
                  <a:cubicBezTo>
                    <a:pt x="0" y="277016"/>
                    <a:pt x="277016" y="0"/>
                    <a:pt x="618733" y="0"/>
                  </a:cubicBezTo>
                  <a:cubicBezTo>
                    <a:pt x="960451" y="0"/>
                    <a:pt x="1237467" y="277016"/>
                    <a:pt x="1237467" y="618733"/>
                  </a:cubicBezTo>
                  <a:close/>
                </a:path>
              </a:pathLst>
            </a:custGeom>
            <a:solidFill>
              <a:srgbClr val="7FB8FF"/>
            </a:solidFill>
            <a:ln w="95779"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EC92C2A7-5569-A4B2-0B75-E1540A06DF9D}"/>
                </a:ext>
              </a:extLst>
            </p:cNvPr>
            <p:cNvSpPr/>
            <p:nvPr/>
          </p:nvSpPr>
          <p:spPr>
            <a:xfrm>
              <a:off x="5573188" y="2315094"/>
              <a:ext cx="969724" cy="969725"/>
            </a:xfrm>
            <a:custGeom>
              <a:avLst/>
              <a:gdLst>
                <a:gd name="connsiteX0" fmla="*/ 756655 w 756655"/>
                <a:gd name="connsiteY0" fmla="*/ 378328 h 756655"/>
                <a:gd name="connsiteX1" fmla="*/ 378328 w 756655"/>
                <a:gd name="connsiteY1" fmla="*/ 756655 h 756655"/>
                <a:gd name="connsiteX2" fmla="*/ 0 w 756655"/>
                <a:gd name="connsiteY2" fmla="*/ 378328 h 756655"/>
                <a:gd name="connsiteX3" fmla="*/ 378328 w 756655"/>
                <a:gd name="connsiteY3" fmla="*/ 0 h 756655"/>
                <a:gd name="connsiteX4" fmla="*/ 756655 w 756655"/>
                <a:gd name="connsiteY4" fmla="*/ 378328 h 756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655" h="756655">
                  <a:moveTo>
                    <a:pt x="756655" y="378328"/>
                  </a:moveTo>
                  <a:cubicBezTo>
                    <a:pt x="756655" y="587272"/>
                    <a:pt x="587272" y="756655"/>
                    <a:pt x="378328" y="756655"/>
                  </a:cubicBezTo>
                  <a:cubicBezTo>
                    <a:pt x="169383" y="756655"/>
                    <a:pt x="0" y="587272"/>
                    <a:pt x="0" y="378328"/>
                  </a:cubicBezTo>
                  <a:cubicBezTo>
                    <a:pt x="0" y="169383"/>
                    <a:pt x="169383" y="0"/>
                    <a:pt x="378328" y="0"/>
                  </a:cubicBezTo>
                  <a:cubicBezTo>
                    <a:pt x="587272" y="0"/>
                    <a:pt x="756655" y="169383"/>
                    <a:pt x="756655" y="378328"/>
                  </a:cubicBezTo>
                  <a:close/>
                </a:path>
              </a:pathLst>
            </a:custGeom>
            <a:solidFill>
              <a:srgbClr val="F9FAFF"/>
            </a:solidFill>
            <a:ln w="95779"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DEBB850C-F159-32C7-E74F-EAEE153D1DD4}"/>
                </a:ext>
              </a:extLst>
            </p:cNvPr>
            <p:cNvSpPr/>
            <p:nvPr/>
          </p:nvSpPr>
          <p:spPr>
            <a:xfrm>
              <a:off x="5880063" y="2621964"/>
              <a:ext cx="355973" cy="355978"/>
            </a:xfrm>
            <a:custGeom>
              <a:avLst/>
              <a:gdLst>
                <a:gd name="connsiteX0" fmla="*/ 277668 w 277758"/>
                <a:gd name="connsiteY0" fmla="*/ 138744 h 277762"/>
                <a:gd name="connsiteX1" fmla="*/ 138788 w 277758"/>
                <a:gd name="connsiteY1" fmla="*/ 277624 h 277762"/>
                <a:gd name="connsiteX2" fmla="*/ -91 w 277758"/>
                <a:gd name="connsiteY2" fmla="*/ 138744 h 277762"/>
                <a:gd name="connsiteX3" fmla="*/ 138788 w 277758"/>
                <a:gd name="connsiteY3" fmla="*/ -135 h 277762"/>
                <a:gd name="connsiteX4" fmla="*/ 277668 w 277758"/>
                <a:gd name="connsiteY4" fmla="*/ 136828 h 277762"/>
                <a:gd name="connsiteX5" fmla="*/ 277668 w 277758"/>
                <a:gd name="connsiteY5" fmla="*/ 138744 h 27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758" h="277762">
                  <a:moveTo>
                    <a:pt x="277668" y="138744"/>
                  </a:moveTo>
                  <a:cubicBezTo>
                    <a:pt x="277668" y="215463"/>
                    <a:pt x="215508" y="277624"/>
                    <a:pt x="138788" y="277624"/>
                  </a:cubicBezTo>
                  <a:cubicBezTo>
                    <a:pt x="62089" y="277624"/>
                    <a:pt x="-91" y="215463"/>
                    <a:pt x="-91" y="138744"/>
                  </a:cubicBezTo>
                  <a:cubicBezTo>
                    <a:pt x="-91" y="62026"/>
                    <a:pt x="62089" y="-135"/>
                    <a:pt x="138788" y="-135"/>
                  </a:cubicBezTo>
                  <a:cubicBezTo>
                    <a:pt x="214933" y="-710"/>
                    <a:pt x="277094" y="60684"/>
                    <a:pt x="277668" y="136828"/>
                  </a:cubicBezTo>
                  <a:cubicBezTo>
                    <a:pt x="277668" y="137499"/>
                    <a:pt x="277668" y="138073"/>
                    <a:pt x="277668" y="138744"/>
                  </a:cubicBezTo>
                  <a:close/>
                </a:path>
              </a:pathLst>
            </a:custGeom>
            <a:solidFill>
              <a:srgbClr val="5082F8"/>
            </a:solidFill>
            <a:ln w="95779"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609D2993-72F3-7129-1DA4-04BD2AC6EC89}"/>
                </a:ext>
              </a:extLst>
            </p:cNvPr>
            <p:cNvSpPr/>
            <p:nvPr/>
          </p:nvSpPr>
          <p:spPr>
            <a:xfrm>
              <a:off x="6051913" y="2615831"/>
              <a:ext cx="184124" cy="184124"/>
            </a:xfrm>
            <a:custGeom>
              <a:avLst/>
              <a:gdLst>
                <a:gd name="connsiteX0" fmla="*/ 143669 w 143668"/>
                <a:gd name="connsiteY0" fmla="*/ 71834 h 143668"/>
                <a:gd name="connsiteX1" fmla="*/ 71834 w 143668"/>
                <a:gd name="connsiteY1" fmla="*/ 143669 h 143668"/>
                <a:gd name="connsiteX2" fmla="*/ 0 w 143668"/>
                <a:gd name="connsiteY2" fmla="*/ 71834 h 143668"/>
                <a:gd name="connsiteX3" fmla="*/ 71834 w 143668"/>
                <a:gd name="connsiteY3" fmla="*/ 0 h 143668"/>
                <a:gd name="connsiteX4" fmla="*/ 143669 w 143668"/>
                <a:gd name="connsiteY4" fmla="*/ 71834 h 143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668" h="143668">
                  <a:moveTo>
                    <a:pt x="143669" y="71834"/>
                  </a:moveTo>
                  <a:cubicBezTo>
                    <a:pt x="143669" y="111507"/>
                    <a:pt x="111507" y="143669"/>
                    <a:pt x="71834" y="143669"/>
                  </a:cubicBezTo>
                  <a:cubicBezTo>
                    <a:pt x="32161" y="143669"/>
                    <a:pt x="0" y="111507"/>
                    <a:pt x="0" y="71834"/>
                  </a:cubicBezTo>
                  <a:cubicBezTo>
                    <a:pt x="0" y="32161"/>
                    <a:pt x="32161" y="0"/>
                    <a:pt x="71834" y="0"/>
                  </a:cubicBezTo>
                  <a:cubicBezTo>
                    <a:pt x="111507" y="0"/>
                    <a:pt x="143669" y="32161"/>
                    <a:pt x="143669" y="71834"/>
                  </a:cubicBezTo>
                  <a:close/>
                </a:path>
              </a:pathLst>
            </a:custGeom>
            <a:solidFill>
              <a:srgbClr val="FFFFFF"/>
            </a:solidFill>
            <a:ln w="95779" cap="flat">
              <a:noFill/>
              <a:prstDash val="solid"/>
              <a:miter/>
            </a:ln>
          </p:spPr>
          <p:txBody>
            <a:bodyPr rtlCol="0" anchor="ctr"/>
            <a:lstStyle/>
            <a:p>
              <a:endParaRPr lang="zh-CN" altLang="en-US"/>
            </a:p>
          </p:txBody>
        </p:sp>
      </p:grpSp>
    </p:spTree>
    <p:custDataLst>
      <p:tags r:id="rId1"/>
    </p:custDataLst>
    <p:extLst>
      <p:ext uri="{BB962C8B-B14F-4D97-AF65-F5344CB8AC3E}">
        <p14:creationId xmlns:p14="http://schemas.microsoft.com/office/powerpoint/2010/main" val="39002400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a:latin typeface="+mn-ea"/>
              </a:rPr>
              <a:t>1.1</a:t>
            </a:r>
            <a:r>
              <a:rPr lang="zh-CN" altLang="en-US" sz="1800" b="1" dirty="0">
                <a:latin typeface="+mn-ea"/>
              </a:rPr>
              <a:t>工艺评审</a:t>
            </a:r>
            <a:endParaRPr lang="en-US" altLang="zh-CN" sz="1800" b="1" dirty="0">
              <a:latin typeface="+mn-ea"/>
            </a:endParaRPr>
          </a:p>
          <a:p>
            <a:endParaRPr lang="en-US" altLang="zh-CN" dirty="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223252" y="14407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algn="l" defTabSz="1219170"/>
            <a:r>
              <a:rPr lang="en-US" altLang="zh-CN" sz="3200" dirty="0">
                <a:solidFill>
                  <a:prstClr val="black">
                    <a:lumMod val="65000"/>
                    <a:lumOff val="35000"/>
                  </a:prstClr>
                </a:solidFill>
              </a:rPr>
              <a:t>L10 </a:t>
            </a:r>
            <a:r>
              <a:rPr lang="zh-CN" altLang="en-US" sz="3200" dirty="0">
                <a:solidFill>
                  <a:prstClr val="black">
                    <a:lumMod val="65000"/>
                    <a:lumOff val="35000"/>
                  </a:prstClr>
                </a:solidFill>
              </a:rPr>
              <a:t>首件试制</a:t>
            </a:r>
            <a:r>
              <a:rPr lang="en-US" altLang="zh-CN" sz="3200" dirty="0">
                <a:solidFill>
                  <a:prstClr val="black">
                    <a:lumMod val="65000"/>
                    <a:lumOff val="35000"/>
                  </a:prstClr>
                </a:solidFill>
              </a:rPr>
              <a:t>/</a:t>
            </a:r>
            <a:r>
              <a:rPr lang="zh-CN" altLang="en-US" sz="3200" dirty="0">
                <a:solidFill>
                  <a:prstClr val="black">
                    <a:lumMod val="65000"/>
                    <a:lumOff val="35000"/>
                  </a:prstClr>
                </a:solidFill>
              </a:rPr>
              <a:t>批量试制</a:t>
            </a:r>
          </a:p>
        </p:txBody>
      </p:sp>
      <p:graphicFrame>
        <p:nvGraphicFramePr>
          <p:cNvPr id="5" name="表格 4"/>
          <p:cNvGraphicFramePr>
            <a:graphicFrameLocks noGrp="1"/>
          </p:cNvGraphicFramePr>
          <p:nvPr/>
        </p:nvGraphicFramePr>
        <p:xfrm>
          <a:off x="1344513" y="1412735"/>
          <a:ext cx="10320266" cy="889000"/>
        </p:xfrm>
        <a:graphic>
          <a:graphicData uri="http://schemas.openxmlformats.org/drawingml/2006/table">
            <a:tbl>
              <a:tblPr firstRow="1" bandRow="1">
                <a:tableStyleId>{00A15C55-8517-42AA-B614-E9B94910E393}</a:tableStyleId>
              </a:tblPr>
              <a:tblGrid>
                <a:gridCol w="1118240">
                  <a:extLst>
                    <a:ext uri="{9D8B030D-6E8A-4147-A177-3AD203B41FA5}">
                      <a16:colId xmlns:a16="http://schemas.microsoft.com/office/drawing/2014/main" val="773509366"/>
                    </a:ext>
                  </a:extLst>
                </a:gridCol>
                <a:gridCol w="2553925">
                  <a:extLst>
                    <a:ext uri="{9D8B030D-6E8A-4147-A177-3AD203B41FA5}">
                      <a16:colId xmlns:a16="http://schemas.microsoft.com/office/drawing/2014/main" val="1193865247"/>
                    </a:ext>
                  </a:extLst>
                </a:gridCol>
                <a:gridCol w="1229458">
                  <a:extLst>
                    <a:ext uri="{9D8B030D-6E8A-4147-A177-3AD203B41FA5}">
                      <a16:colId xmlns:a16="http://schemas.microsoft.com/office/drawing/2014/main" val="869367937"/>
                    </a:ext>
                  </a:extLst>
                </a:gridCol>
                <a:gridCol w="3680922">
                  <a:extLst>
                    <a:ext uri="{9D8B030D-6E8A-4147-A177-3AD203B41FA5}">
                      <a16:colId xmlns:a16="http://schemas.microsoft.com/office/drawing/2014/main" val="99857605"/>
                    </a:ext>
                  </a:extLst>
                </a:gridCol>
                <a:gridCol w="1737721">
                  <a:extLst>
                    <a:ext uri="{9D8B030D-6E8A-4147-A177-3AD203B41FA5}">
                      <a16:colId xmlns:a16="http://schemas.microsoft.com/office/drawing/2014/main" val="1047766596"/>
                    </a:ext>
                  </a:extLst>
                </a:gridCol>
              </a:tblGrid>
              <a:tr h="370840">
                <a:tc>
                  <a:txBody>
                    <a:bodyPr/>
                    <a:lstStyle/>
                    <a:p>
                      <a:r>
                        <a:rPr lang="zh-CN" altLang="en-US" sz="1400" dirty="0"/>
                        <a:t>任务名称</a:t>
                      </a:r>
                      <a:endParaRPr lang="zh-CN" altLang="en-US" sz="1400" dirty="0">
                        <a:latin typeface="+mn-ea"/>
                        <a:ea typeface="+mn-ea"/>
                      </a:endParaRPr>
                    </a:p>
                  </a:txBody>
                  <a:tcPr/>
                </a:tc>
                <a:tc>
                  <a:txBody>
                    <a:bodyPr/>
                    <a:lstStyle/>
                    <a:p>
                      <a:r>
                        <a:rPr lang="zh-CN" altLang="en-US" sz="1400" dirty="0"/>
                        <a:t>启动条件</a:t>
                      </a:r>
                      <a:endParaRPr lang="zh-CN" altLang="en-US" sz="1400" dirty="0">
                        <a:latin typeface="+mn-ea"/>
                        <a:ea typeface="+mn-ea"/>
                      </a:endParaRPr>
                    </a:p>
                  </a:txBody>
                  <a:tcPr/>
                </a:tc>
                <a:tc>
                  <a:txBody>
                    <a:bodyPr/>
                    <a:lstStyle/>
                    <a:p>
                      <a:r>
                        <a:rPr lang="zh-CN" altLang="en-US" sz="1400" dirty="0"/>
                        <a:t>责任人</a:t>
                      </a:r>
                      <a:endParaRPr lang="zh-CN" altLang="en-US" sz="1400" dirty="0">
                        <a:latin typeface="+mn-ea"/>
                        <a:ea typeface="+mn-ea"/>
                      </a:endParaRPr>
                    </a:p>
                  </a:txBody>
                  <a:tcPr/>
                </a:tc>
                <a:tc>
                  <a:txBody>
                    <a:bodyPr/>
                    <a:lstStyle/>
                    <a:p>
                      <a:r>
                        <a:rPr lang="zh-CN" altLang="en-US" sz="1400" dirty="0"/>
                        <a:t>参与人</a:t>
                      </a:r>
                      <a:endParaRPr lang="zh-CN" altLang="en-US" sz="1400" dirty="0">
                        <a:latin typeface="+mn-ea"/>
                        <a:ea typeface="+mn-ea"/>
                      </a:endParaRPr>
                    </a:p>
                  </a:txBody>
                  <a:tcPr/>
                </a:tc>
                <a:tc>
                  <a:txBody>
                    <a:bodyPr/>
                    <a:lstStyle/>
                    <a:p>
                      <a:r>
                        <a:rPr lang="zh-CN" altLang="en-US" sz="1400" dirty="0"/>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a:t>工艺评审</a:t>
                      </a:r>
                      <a:endParaRPr lang="zh-CN" altLang="en-US" sz="1400" dirty="0">
                        <a:latin typeface="+mn-ea"/>
                        <a:ea typeface="+mn-ea"/>
                      </a:endParaRPr>
                    </a:p>
                  </a:txBody>
                  <a:tcPr/>
                </a:tc>
                <a:tc>
                  <a:txBody>
                    <a:bodyPr/>
                    <a:lstStyle/>
                    <a:p>
                      <a:r>
                        <a:rPr lang="zh-CN" altLang="en-US" sz="1400" dirty="0"/>
                        <a:t>首批采购物料需齐备，首批排产上线之前</a:t>
                      </a:r>
                      <a:endParaRPr lang="zh-CN" altLang="en-US" sz="1400" dirty="0">
                        <a:latin typeface="+mn-ea"/>
                        <a:ea typeface="+mn-ea"/>
                      </a:endParaRPr>
                    </a:p>
                  </a:txBody>
                  <a:tcPr/>
                </a:tc>
                <a:tc>
                  <a:txBody>
                    <a:bodyPr/>
                    <a:lstStyle/>
                    <a:p>
                      <a:r>
                        <a:rPr lang="zh-CN" altLang="en-US" sz="1400" dirty="0">
                          <a:solidFill>
                            <a:srgbClr val="0070C0"/>
                          </a:solidFill>
                        </a:rPr>
                        <a:t>产品工程师</a:t>
                      </a:r>
                      <a:endParaRPr lang="zh-CN" altLang="en-US" sz="1400" dirty="0">
                        <a:solidFill>
                          <a:srgbClr val="0070C0"/>
                        </a:solidFill>
                        <a:latin typeface="+mn-ea"/>
                        <a:ea typeface="+mn-ea"/>
                      </a:endParaRPr>
                    </a:p>
                  </a:txBody>
                  <a:tcPr/>
                </a:tc>
                <a:tc>
                  <a:txBody>
                    <a:bodyPr/>
                    <a:lstStyle/>
                    <a:p>
                      <a:r>
                        <a:rPr lang="zh-CN" altLang="en-US" sz="1400" dirty="0"/>
                        <a:t>制造部、品质管理部相关人员（必要时邀请顾客参加）</a:t>
                      </a:r>
                      <a:endParaRPr lang="zh-CN" altLang="en-US" sz="1400" dirty="0">
                        <a:latin typeface="+mn-ea"/>
                        <a:ea typeface="+mn-ea"/>
                      </a:endParaRPr>
                    </a:p>
                  </a:txBody>
                  <a:tcPr/>
                </a:tc>
                <a:tc>
                  <a:txBody>
                    <a:bodyPr/>
                    <a:lstStyle/>
                    <a:p>
                      <a:pPr algn="l" fontAlgn="ctr"/>
                      <a:r>
                        <a:rPr lang="en-US" altLang="zh-CN" sz="1400" u="none" strike="noStrike" dirty="0">
                          <a:solidFill>
                            <a:srgbClr val="0070C0"/>
                          </a:solidFill>
                          <a:effectLst/>
                        </a:rPr>
                        <a:t>《QR-D-H-005-004</a:t>
                      </a:r>
                      <a:r>
                        <a:rPr lang="zh-CN" altLang="en-US" sz="1400" u="none" strike="noStrike" dirty="0">
                          <a:solidFill>
                            <a:srgbClr val="0070C0"/>
                          </a:solidFill>
                          <a:effectLst/>
                        </a:rPr>
                        <a:t>工艺评审报告</a:t>
                      </a:r>
                      <a:r>
                        <a:rPr lang="en-US" altLang="zh-CN" sz="1400" u="none" strike="noStrike" dirty="0">
                          <a:solidFill>
                            <a:srgbClr val="0070C0"/>
                          </a:solidFill>
                          <a:effectLst/>
                        </a:rPr>
                        <a:t>》</a:t>
                      </a:r>
                      <a:endParaRPr lang="en-US" altLang="zh-CN" sz="1400" b="0" i="0" u="none" strike="noStrike" dirty="0">
                        <a:solidFill>
                          <a:srgbClr val="0070C0"/>
                        </a:solidFill>
                        <a:effectLst/>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655854" y="4940068"/>
            <a:ext cx="467663" cy="467665"/>
          </a:xfrm>
          <a:prstGeom prst="ellipse">
            <a:avLst/>
          </a:prstGeom>
          <a:solidFill>
            <a:schemeClr val="accent4">
              <a:lumMod val="20000"/>
              <a:lumOff val="80000"/>
            </a:schemeClr>
          </a:solidFill>
          <a:ln/>
        </p:spPr>
        <p:style>
          <a:lnRef idx="2">
            <a:schemeClr val="accent5"/>
          </a:lnRef>
          <a:fillRef idx="1">
            <a:schemeClr val="lt1"/>
          </a:fillRef>
          <a:effectRef idx="0">
            <a:schemeClr val="accent5"/>
          </a:effectRef>
          <a:fontRef idx="minor">
            <a:schemeClr val="dk1"/>
          </a:fontRef>
        </p:style>
        <p:txBody>
          <a:bodyPr wrap="none" anchor="ctr">
            <a:normAutofit fontScale="92500" lnSpcReduction="10000"/>
          </a:bodyPr>
          <a:lstStyle/>
          <a:p>
            <a:pPr algn="ctr"/>
            <a:r>
              <a:rPr lang="en-US" b="1" dirty="0"/>
              <a:t>02</a:t>
            </a:r>
          </a:p>
        </p:txBody>
      </p:sp>
      <p:sp>
        <p:nvSpPr>
          <p:cNvPr id="11" name="Arc 125"/>
          <p:cNvSpPr/>
          <p:nvPr/>
        </p:nvSpPr>
        <p:spPr>
          <a:xfrm rot="5400000" flipV="1">
            <a:off x="1283134" y="4724886"/>
            <a:ext cx="1215698" cy="814616"/>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2" name="Straight Connector 126"/>
          <p:cNvCxnSpPr/>
          <p:nvPr/>
        </p:nvCxnSpPr>
        <p:spPr>
          <a:xfrm>
            <a:off x="1135741" y="5132194"/>
            <a:ext cx="347934" cy="8217"/>
          </a:xfrm>
          <a:prstGeom prst="line">
            <a:avLst/>
          </a:prstGeom>
          <a:ln w="38100"/>
        </p:spPr>
        <p:style>
          <a:lnRef idx="1">
            <a:schemeClr val="accent5"/>
          </a:lnRef>
          <a:fillRef idx="0">
            <a:schemeClr val="accent5"/>
          </a:fillRef>
          <a:effectRef idx="0">
            <a:schemeClr val="accent5"/>
          </a:effectRef>
          <a:fontRef idx="minor">
            <a:schemeClr val="tx1"/>
          </a:fontRef>
        </p:style>
      </p:cxnSp>
      <p:cxnSp>
        <p:nvCxnSpPr>
          <p:cNvPr id="13" name="Straight Connector 124"/>
          <p:cNvCxnSpPr/>
          <p:nvPr/>
        </p:nvCxnSpPr>
        <p:spPr>
          <a:xfrm flipH="1">
            <a:off x="889686" y="2030434"/>
            <a:ext cx="2807" cy="2899912"/>
          </a:xfrm>
          <a:prstGeom prst="line">
            <a:avLst/>
          </a:prstGeom>
          <a:ln w="38100">
            <a:headEnd type="none"/>
          </a:ln>
        </p:spPr>
        <p:style>
          <a:lnRef idx="1">
            <a:schemeClr val="accent5"/>
          </a:lnRef>
          <a:fillRef idx="0">
            <a:schemeClr val="accent5"/>
          </a:fillRef>
          <a:effectRef idx="0">
            <a:schemeClr val="accent5"/>
          </a:effectRef>
          <a:fontRef idx="minor">
            <a:schemeClr val="tx1"/>
          </a:fontRef>
        </p:style>
      </p:cxnSp>
      <p:sp>
        <p:nvSpPr>
          <p:cNvPr id="14" name="Oval 147"/>
          <p:cNvSpPr/>
          <p:nvPr/>
        </p:nvSpPr>
        <p:spPr>
          <a:xfrm>
            <a:off x="680914" y="1562770"/>
            <a:ext cx="454827" cy="468782"/>
          </a:xfrm>
          <a:prstGeom prst="ellipse">
            <a:avLst/>
          </a:prstGeom>
          <a:ln w="38100"/>
        </p:spPr>
        <p:style>
          <a:lnRef idx="2">
            <a:schemeClr val="accent5"/>
          </a:lnRef>
          <a:fillRef idx="1">
            <a:schemeClr val="lt1"/>
          </a:fillRef>
          <a:effectRef idx="0">
            <a:schemeClr val="accent5"/>
          </a:effectRef>
          <a:fontRef idx="minor">
            <a:schemeClr val="dk1"/>
          </a:fontRef>
        </p:style>
        <p:txBody>
          <a:bodyPr anchor="ctr"/>
          <a:lstStyle/>
          <a:p>
            <a:pPr algn="ctr"/>
            <a:endParaRPr/>
          </a:p>
        </p:txBody>
      </p:sp>
      <p:sp>
        <p:nvSpPr>
          <p:cNvPr id="17" name="Arc 114"/>
          <p:cNvSpPr/>
          <p:nvPr/>
        </p:nvSpPr>
        <p:spPr>
          <a:xfrm rot="5400000" flipV="1">
            <a:off x="472038" y="4911685"/>
            <a:ext cx="616481" cy="612495"/>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8" name="Straight Connector 115"/>
          <p:cNvCxnSpPr/>
          <p:nvPr/>
        </p:nvCxnSpPr>
        <p:spPr>
          <a:xfrm flipV="1">
            <a:off x="76882" y="5233924"/>
            <a:ext cx="401492" cy="1821"/>
          </a:xfrm>
          <a:prstGeom prst="line">
            <a:avLst/>
          </a:prstGeom>
          <a:ln w="38100">
            <a:headEnd type="oval"/>
          </a:ln>
        </p:spPr>
        <p:style>
          <a:lnRef idx="1">
            <a:schemeClr val="accent5"/>
          </a:lnRef>
          <a:fillRef idx="0">
            <a:schemeClr val="accent5"/>
          </a:fillRef>
          <a:effectRef idx="0">
            <a:schemeClr val="accent5"/>
          </a:effectRef>
          <a:fontRef idx="minor">
            <a:schemeClr val="tx1"/>
          </a:fontRef>
        </p:style>
      </p:cxnSp>
      <p:sp>
        <p:nvSpPr>
          <p:cNvPr id="26" name="文本框 25"/>
          <p:cNvSpPr txBox="1"/>
          <p:nvPr/>
        </p:nvSpPr>
        <p:spPr>
          <a:xfrm>
            <a:off x="1677708" y="2485365"/>
            <a:ext cx="7351019" cy="3194721"/>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a:solidFill>
                  <a:schemeClr val="accent1">
                    <a:lumMod val="75000"/>
                  </a:schemeClr>
                </a:solidFill>
                <a:latin typeface="+mn-ea"/>
              </a:rPr>
              <a:t>工艺评审过程：</a:t>
            </a:r>
            <a:r>
              <a:rPr lang="zh-CN" altLang="en-US" sz="1200" dirty="0">
                <a:solidFill>
                  <a:schemeClr val="tx1">
                    <a:lumMod val="75000"/>
                    <a:lumOff val="25000"/>
                  </a:schemeClr>
                </a:solidFill>
                <a:latin typeface="+mn-ea"/>
              </a:rPr>
              <a:t>产品工程师基于</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和组装样机向评审组成员介绍新产品的组装、拆卸、检验的过程，</a:t>
            </a:r>
            <a:r>
              <a:rPr lang="zh-CN" altLang="en-US" sz="1200" dirty="0">
                <a:latin typeface="+mn-ea"/>
              </a:rPr>
              <a:t>便于制造部转化成生产作业指导书，</a:t>
            </a:r>
            <a:endParaRPr lang="en-US" altLang="zh-CN" sz="1200" dirty="0">
              <a:latin typeface="+mn-ea"/>
            </a:endParaRPr>
          </a:p>
          <a:p>
            <a:pPr marL="171450" indent="-171450">
              <a:lnSpc>
                <a:spcPct val="120000"/>
              </a:lnSpc>
              <a:buFont typeface="Wingdings" panose="05000000000000000000" pitchFamily="2" charset="2"/>
              <a:buChar char="u"/>
            </a:pPr>
            <a:r>
              <a:rPr lang="zh-CN" altLang="en-US" sz="1200" b="1" dirty="0">
                <a:solidFill>
                  <a:schemeClr val="accent1">
                    <a:lumMod val="75000"/>
                  </a:schemeClr>
                </a:solidFill>
                <a:latin typeface="+mn-ea"/>
              </a:rPr>
              <a:t>评审内容：</a:t>
            </a:r>
            <a:endParaRPr lang="en-US" altLang="zh-CN" sz="1200" b="1" dirty="0">
              <a:solidFill>
                <a:schemeClr val="accent1">
                  <a:lumMod val="75000"/>
                </a:schemeClr>
              </a:solidFill>
              <a:latin typeface="+mn-ea"/>
            </a:endParaRPr>
          </a:p>
          <a:p>
            <a:pPr marL="171450" indent="-171450">
              <a:lnSpc>
                <a:spcPct val="120000"/>
              </a:lnSpc>
              <a:buFont typeface="Wingdings" panose="05000000000000000000" pitchFamily="2" charset="2"/>
              <a:buChar char="ü"/>
            </a:pP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的指导说明是否准确，是否可正确转化为生产工艺文件；</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ü"/>
            </a:pPr>
            <a:r>
              <a:rPr lang="zh-CN" altLang="en-US" sz="1200" dirty="0">
                <a:solidFill>
                  <a:schemeClr val="tx1">
                    <a:lumMod val="75000"/>
                    <a:lumOff val="25000"/>
                  </a:schemeClr>
                </a:solidFill>
                <a:latin typeface="+mn-ea"/>
              </a:rPr>
              <a:t>是否识别了关键件、重要件、并填写在</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清单</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中，</a:t>
            </a:r>
            <a:r>
              <a:rPr lang="zh-CN" altLang="en-US" sz="1200" dirty="0">
                <a:solidFill>
                  <a:srgbClr val="0070C0"/>
                </a:solidFill>
                <a:latin typeface="+mn-ea"/>
              </a:rPr>
              <a:t>关键件</a:t>
            </a:r>
            <a:r>
              <a:rPr lang="zh-CN" altLang="en-US" sz="1200" dirty="0">
                <a:solidFill>
                  <a:schemeClr val="tx1">
                    <a:lumMod val="75000"/>
                    <a:lumOff val="25000"/>
                  </a:schemeClr>
                </a:solidFill>
                <a:latin typeface="+mn-ea"/>
              </a:rPr>
              <a:t>和</a:t>
            </a:r>
            <a:r>
              <a:rPr lang="zh-CN" altLang="en-US" sz="1200" dirty="0">
                <a:solidFill>
                  <a:srgbClr val="0070C0"/>
                </a:solidFill>
                <a:latin typeface="+mn-ea"/>
              </a:rPr>
              <a:t>重要件</a:t>
            </a:r>
            <a:r>
              <a:rPr lang="zh-CN" altLang="en-US" sz="1200" dirty="0">
                <a:solidFill>
                  <a:schemeClr val="tx1">
                    <a:lumMod val="75000"/>
                    <a:lumOff val="25000"/>
                  </a:schemeClr>
                </a:solidFill>
                <a:latin typeface="+mn-ea"/>
              </a:rPr>
              <a:t>的识别是否适宜、充分；</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ü"/>
            </a:pPr>
            <a:r>
              <a:rPr lang="zh-CN" altLang="en-US" sz="1200" dirty="0">
                <a:solidFill>
                  <a:schemeClr val="tx1">
                    <a:lumMod val="75000"/>
                    <a:lumOff val="25000"/>
                  </a:schemeClr>
                </a:solidFill>
                <a:latin typeface="+mn-ea"/>
              </a:rPr>
              <a:t>是否识别了</a:t>
            </a:r>
            <a:r>
              <a:rPr lang="zh-CN" altLang="en-US" sz="1200" dirty="0">
                <a:solidFill>
                  <a:srgbClr val="0070C0"/>
                </a:solidFill>
                <a:latin typeface="+mn-ea"/>
              </a:rPr>
              <a:t>关键工序</a:t>
            </a:r>
            <a:r>
              <a:rPr lang="zh-CN" altLang="en-US" sz="1200" dirty="0">
                <a:solidFill>
                  <a:schemeClr val="tx1">
                    <a:lumMod val="75000"/>
                    <a:lumOff val="25000"/>
                  </a:schemeClr>
                </a:solidFill>
                <a:latin typeface="+mn-ea"/>
              </a:rPr>
              <a:t>和</a:t>
            </a:r>
            <a:r>
              <a:rPr lang="zh-CN" altLang="en-US" sz="1200" dirty="0">
                <a:solidFill>
                  <a:srgbClr val="0070C0"/>
                </a:solidFill>
                <a:latin typeface="+mn-ea"/>
              </a:rPr>
              <a:t>特殊工序</a:t>
            </a:r>
            <a:r>
              <a:rPr lang="zh-CN" altLang="en-US" sz="1200" dirty="0">
                <a:solidFill>
                  <a:schemeClr val="tx1">
                    <a:lumMod val="75000"/>
                    <a:lumOff val="25000"/>
                  </a:schemeClr>
                </a:solidFill>
                <a:latin typeface="+mn-ea"/>
              </a:rPr>
              <a:t>，并在</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中标识；</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ü"/>
            </a:pPr>
            <a:r>
              <a:rPr lang="zh-CN" altLang="en-US" sz="1200" dirty="0">
                <a:solidFill>
                  <a:schemeClr val="tx1">
                    <a:lumMod val="75000"/>
                    <a:lumOff val="25000"/>
                  </a:schemeClr>
                </a:solidFill>
                <a:latin typeface="+mn-ea"/>
              </a:rPr>
              <a:t>根据</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和</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清单</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由评审组对产品的关键工序和特殊工序评审确认，制造部需根据评审结果在生产工艺文件中标识产品的关键工序和特殊工序。</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a:solidFill>
                  <a:schemeClr val="accent1">
                    <a:lumMod val="75000"/>
                  </a:schemeClr>
                </a:solidFill>
                <a:latin typeface="+mn-ea"/>
              </a:rPr>
              <a:t>问题处理</a:t>
            </a:r>
            <a:endParaRPr lang="en-US" altLang="zh-CN" sz="1200" b="1" dirty="0">
              <a:solidFill>
                <a:schemeClr val="accent1">
                  <a:lumMod val="75000"/>
                </a:schemeClr>
              </a:solidFill>
              <a:latin typeface="+mn-ea"/>
            </a:endParaRPr>
          </a:p>
          <a:p>
            <a:pPr marL="171450" indent="-171450">
              <a:lnSpc>
                <a:spcPct val="120000"/>
              </a:lnSpc>
              <a:buFont typeface="Wingdings" panose="05000000000000000000" pitchFamily="2" charset="2"/>
              <a:buChar char="ü"/>
            </a:pPr>
            <a:r>
              <a:rPr lang="zh-CN" altLang="en-US" sz="1200" dirty="0">
                <a:solidFill>
                  <a:schemeClr val="tx1">
                    <a:lumMod val="75000"/>
                    <a:lumOff val="25000"/>
                  </a:schemeClr>
                </a:solidFill>
                <a:latin typeface="+mn-ea"/>
              </a:rPr>
              <a:t>如工艺评审通过，则进行下一阶段的工作；如工艺评审过程中发现问题，由</a:t>
            </a:r>
            <a:r>
              <a:rPr lang="zh-CN" altLang="en-US" sz="1200" dirty="0">
                <a:solidFill>
                  <a:srgbClr val="0070C0"/>
                </a:solidFill>
                <a:latin typeface="+mn-ea"/>
              </a:rPr>
              <a:t>产品工程师推动</a:t>
            </a:r>
            <a:r>
              <a:rPr lang="zh-CN" altLang="en-US" sz="1200" dirty="0">
                <a:solidFill>
                  <a:schemeClr val="tx1">
                    <a:lumMod val="75000"/>
                    <a:lumOff val="25000"/>
                  </a:schemeClr>
                </a:solidFill>
                <a:latin typeface="+mn-ea"/>
              </a:rPr>
              <a:t>完成相关问题的改进工作，并重新进行工艺评审。</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a:solidFill>
                  <a:schemeClr val="accent1">
                    <a:lumMod val="75000"/>
                  </a:schemeClr>
                </a:solidFill>
                <a:latin typeface="+mn-ea"/>
              </a:rPr>
              <a:t>报告输出</a:t>
            </a:r>
            <a:endParaRPr lang="en-US" altLang="zh-CN" sz="1200" b="1" dirty="0">
              <a:solidFill>
                <a:schemeClr val="accent1">
                  <a:lumMod val="75000"/>
                </a:schemeClr>
              </a:solidFill>
              <a:latin typeface="+mn-ea"/>
            </a:endParaRPr>
          </a:p>
          <a:p>
            <a:pPr marL="171450" indent="-171450">
              <a:lnSpc>
                <a:spcPct val="120000"/>
              </a:lnSpc>
              <a:buFont typeface="Wingdings" panose="05000000000000000000" pitchFamily="2" charset="2"/>
              <a:buChar char="ü"/>
            </a:pPr>
            <a:r>
              <a:rPr lang="zh-CN" altLang="en-US" sz="1200" dirty="0">
                <a:solidFill>
                  <a:schemeClr val="tx1">
                    <a:lumMod val="75000"/>
                    <a:lumOff val="25000"/>
                  </a:schemeClr>
                </a:solidFill>
                <a:latin typeface="+mn-ea"/>
              </a:rPr>
              <a:t>工艺评审结束后，由产品工程师推动评审组签发</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工艺评审报告</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，对于出现的问题以及相应的解决过程也应保留相应的记录。</a:t>
            </a:r>
            <a:endParaRPr lang="en-US" altLang="zh-CN" sz="1200" dirty="0">
              <a:solidFill>
                <a:schemeClr val="tx1">
                  <a:lumMod val="75000"/>
                  <a:lumOff val="25000"/>
                </a:schemeClr>
              </a:solidFill>
              <a:latin typeface="+mn-ea"/>
            </a:endParaRPr>
          </a:p>
        </p:txBody>
      </p:sp>
      <p:graphicFrame>
        <p:nvGraphicFramePr>
          <p:cNvPr id="27" name="对象 26"/>
          <p:cNvGraphicFramePr>
            <a:graphicFrameLocks noChangeAspect="1"/>
          </p:cNvGraphicFramePr>
          <p:nvPr/>
        </p:nvGraphicFramePr>
        <p:xfrm>
          <a:off x="5301480" y="5525865"/>
          <a:ext cx="914400" cy="828675"/>
        </p:xfrm>
        <a:graphic>
          <a:graphicData uri="http://schemas.openxmlformats.org/presentationml/2006/ole">
            <mc:AlternateContent xmlns:mc="http://schemas.openxmlformats.org/markup-compatibility/2006">
              <mc:Choice xmlns:v="urn:schemas-microsoft-com:vml" Requires="v">
                <p:oleObj spid="_x0000_s15726" name="Document" showAsIcon="1" r:id="rId4" imgW="914400" imgH="828720" progId="Word.Document.12">
                  <p:embed/>
                </p:oleObj>
              </mc:Choice>
              <mc:Fallback>
                <p:oleObj name="Document" showAsIcon="1" r:id="rId4" imgW="914400" imgH="828720" progId="Word.Document.12">
                  <p:embed/>
                  <p:pic>
                    <p:nvPicPr>
                      <p:cNvPr id="27" name="对象 26"/>
                      <p:cNvPicPr/>
                      <p:nvPr/>
                    </p:nvPicPr>
                    <p:blipFill>
                      <a:blip r:embed="rId5"/>
                      <a:stretch>
                        <a:fillRect/>
                      </a:stretch>
                    </p:blipFill>
                    <p:spPr>
                      <a:xfrm>
                        <a:off x="5301480" y="5525865"/>
                        <a:ext cx="914400" cy="828675"/>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6572529" y="5525866"/>
          <a:ext cx="914400" cy="828675"/>
        </p:xfrm>
        <a:graphic>
          <a:graphicData uri="http://schemas.openxmlformats.org/presentationml/2006/ole">
            <mc:AlternateContent xmlns:mc="http://schemas.openxmlformats.org/markup-compatibility/2006">
              <mc:Choice xmlns:v="urn:schemas-microsoft-com:vml" Requires="v">
                <p:oleObj spid="_x0000_s15727" name="文档" showAsIcon="1" r:id="rId6" imgW="914400" imgH="828720" progId="Word.Document.12">
                  <p:embed/>
                </p:oleObj>
              </mc:Choice>
              <mc:Fallback>
                <p:oleObj name="文档" showAsIcon="1" r:id="rId6" imgW="914400" imgH="828720" progId="Word.Document.12">
                  <p:embed/>
                  <p:pic>
                    <p:nvPicPr>
                      <p:cNvPr id="28" name="对象 27"/>
                      <p:cNvPicPr/>
                      <p:nvPr/>
                    </p:nvPicPr>
                    <p:blipFill>
                      <a:blip r:embed="rId7"/>
                      <a:stretch>
                        <a:fillRect/>
                      </a:stretch>
                    </p:blipFill>
                    <p:spPr>
                      <a:xfrm>
                        <a:off x="6572529" y="5525866"/>
                        <a:ext cx="914400" cy="828675"/>
                      </a:xfrm>
                      <a:prstGeom prst="rect">
                        <a:avLst/>
                      </a:prstGeom>
                    </p:spPr>
                  </p:pic>
                </p:oleObj>
              </mc:Fallback>
            </mc:AlternateContent>
          </a:graphicData>
        </a:graphic>
      </p:graphicFrame>
      <p:grpSp>
        <p:nvGrpSpPr>
          <p:cNvPr id="21" name="组合 20"/>
          <p:cNvGrpSpPr/>
          <p:nvPr/>
        </p:nvGrpSpPr>
        <p:grpSpPr>
          <a:xfrm>
            <a:off x="9059299" y="2431629"/>
            <a:ext cx="2605480" cy="3922912"/>
            <a:chOff x="7746268" y="2316744"/>
            <a:chExt cx="3756077" cy="4052805"/>
          </a:xfrm>
        </p:grpSpPr>
        <p:grpSp>
          <p:nvGrpSpPr>
            <p:cNvPr id="30" name="Group 38"/>
            <p:cNvGrpSpPr/>
            <p:nvPr/>
          </p:nvGrpSpPr>
          <p:grpSpPr>
            <a:xfrm>
              <a:off x="7782430" y="4730279"/>
              <a:ext cx="1756845" cy="1639269"/>
              <a:chOff x="7346434" y="4909620"/>
              <a:chExt cx="1918320" cy="1948378"/>
            </a:xfrm>
          </p:grpSpPr>
          <p:sp>
            <p:nvSpPr>
              <p:cNvPr id="31" name="Freeform 3"/>
              <p:cNvSpPr/>
              <p:nvPr/>
            </p:nvSpPr>
            <p:spPr>
              <a:xfrm rot="16200000">
                <a:off x="7331405" y="4924649"/>
                <a:ext cx="1948378" cy="1918320"/>
              </a:xfrm>
              <a:custGeom>
                <a:avLst/>
                <a:gdLst>
                  <a:gd name="connsiteX0" fmla="*/ 2143216 w 2143216"/>
                  <a:gd name="connsiteY0" fmla="*/ 562708 h 2110152"/>
                  <a:gd name="connsiteX1" fmla="*/ 2018715 w 2143216"/>
                  <a:gd name="connsiteY1" fmla="*/ 562708 h 2110152"/>
                  <a:gd name="connsiteX2" fmla="*/ 2018715 w 2143216"/>
                  <a:gd name="connsiteY2" fmla="*/ 1547444 h 2110152"/>
                  <a:gd name="connsiteX3" fmla="*/ 1456007 w 2143216"/>
                  <a:gd name="connsiteY3" fmla="*/ 2110152 h 2110152"/>
                  <a:gd name="connsiteX4" fmla="*/ 1456007 w 2143216"/>
                  <a:gd name="connsiteY4" fmla="*/ 2110151 h 2110152"/>
                  <a:gd name="connsiteX5" fmla="*/ 0 w 2143216"/>
                  <a:gd name="connsiteY5" fmla="*/ 2110151 h 2110152"/>
                  <a:gd name="connsiteX6" fmla="*/ 0 w 2143216"/>
                  <a:gd name="connsiteY6" fmla="*/ 1547443 h 2110152"/>
                  <a:gd name="connsiteX7" fmla="*/ 1456007 w 2143216"/>
                  <a:gd name="connsiteY7" fmla="*/ 1547443 h 2110152"/>
                  <a:gd name="connsiteX8" fmla="*/ 1456007 w 2143216"/>
                  <a:gd name="connsiteY8" fmla="*/ 562708 h 2110152"/>
                  <a:gd name="connsiteX9" fmla="*/ 1331509 w 2143216"/>
                  <a:gd name="connsiteY9" fmla="*/ 562708 h 2110152"/>
                  <a:gd name="connsiteX10" fmla="*/ 1737363 w 2143216"/>
                  <a:gd name="connsiteY10" fmla="*/ 0 h 211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3216" h="2110152">
                    <a:moveTo>
                      <a:pt x="2143216" y="562708"/>
                    </a:moveTo>
                    <a:lnTo>
                      <a:pt x="2018715" y="562708"/>
                    </a:lnTo>
                    <a:lnTo>
                      <a:pt x="2018715" y="1547444"/>
                    </a:lnTo>
                    <a:lnTo>
                      <a:pt x="1456007" y="2110152"/>
                    </a:lnTo>
                    <a:lnTo>
                      <a:pt x="1456007" y="2110151"/>
                    </a:lnTo>
                    <a:lnTo>
                      <a:pt x="0" y="2110151"/>
                    </a:lnTo>
                    <a:lnTo>
                      <a:pt x="0" y="1547443"/>
                    </a:lnTo>
                    <a:lnTo>
                      <a:pt x="1456007" y="1547443"/>
                    </a:lnTo>
                    <a:lnTo>
                      <a:pt x="1456007" y="562708"/>
                    </a:lnTo>
                    <a:lnTo>
                      <a:pt x="1331509" y="562708"/>
                    </a:lnTo>
                    <a:lnTo>
                      <a:pt x="173736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sp>
            <p:nvSpPr>
              <p:cNvPr id="32" name="Freeform 18"/>
              <p:cNvSpPr>
                <a:spLocks noEditPoints="1"/>
              </p:cNvSpPr>
              <p:nvPr/>
            </p:nvSpPr>
            <p:spPr bwMode="auto">
              <a:xfrm>
                <a:off x="8091344" y="5076469"/>
                <a:ext cx="399007" cy="404213"/>
              </a:xfrm>
              <a:custGeom>
                <a:avLst/>
                <a:gdLst>
                  <a:gd name="T0" fmla="*/ 94 w 107"/>
                  <a:gd name="T1" fmla="*/ 30 h 108"/>
                  <a:gd name="T2" fmla="*/ 77 w 107"/>
                  <a:gd name="T3" fmla="*/ 95 h 108"/>
                  <a:gd name="T4" fmla="*/ 13 w 107"/>
                  <a:gd name="T5" fmla="*/ 77 h 108"/>
                  <a:gd name="T6" fmla="*/ 30 w 107"/>
                  <a:gd name="T7" fmla="*/ 13 h 108"/>
                  <a:gd name="T8" fmla="*/ 94 w 107"/>
                  <a:gd name="T9" fmla="*/ 30 h 108"/>
                  <a:gd name="T10" fmla="*/ 68 w 107"/>
                  <a:gd name="T11" fmla="*/ 46 h 108"/>
                  <a:gd name="T12" fmla="*/ 68 w 107"/>
                  <a:gd name="T13" fmla="*/ 46 h 108"/>
                  <a:gd name="T14" fmla="*/ 58 w 107"/>
                  <a:gd name="T15" fmla="*/ 38 h 108"/>
                  <a:gd name="T16" fmla="*/ 45 w 107"/>
                  <a:gd name="T17" fmla="*/ 40 h 108"/>
                  <a:gd name="T18" fmla="*/ 45 w 107"/>
                  <a:gd name="T19" fmla="*/ 40 h 108"/>
                  <a:gd name="T20" fmla="*/ 38 w 107"/>
                  <a:gd name="T21" fmla="*/ 50 h 108"/>
                  <a:gd name="T22" fmla="*/ 39 w 107"/>
                  <a:gd name="T23" fmla="*/ 62 h 108"/>
                  <a:gd name="T24" fmla="*/ 39 w 107"/>
                  <a:gd name="T25" fmla="*/ 62 h 108"/>
                  <a:gd name="T26" fmla="*/ 49 w 107"/>
                  <a:gd name="T27" fmla="*/ 69 h 108"/>
                  <a:gd name="T28" fmla="*/ 62 w 107"/>
                  <a:gd name="T29" fmla="*/ 68 h 108"/>
                  <a:gd name="T30" fmla="*/ 62 w 107"/>
                  <a:gd name="T31" fmla="*/ 68 h 108"/>
                  <a:gd name="T32" fmla="*/ 69 w 107"/>
                  <a:gd name="T33" fmla="*/ 58 h 108"/>
                  <a:gd name="T34" fmla="*/ 68 w 107"/>
                  <a:gd name="T35" fmla="*/ 46 h 108"/>
                  <a:gd name="T36" fmla="*/ 63 w 107"/>
                  <a:gd name="T37" fmla="*/ 56 h 108"/>
                  <a:gd name="T38" fmla="*/ 62 w 107"/>
                  <a:gd name="T39" fmla="*/ 49 h 108"/>
                  <a:gd name="T40" fmla="*/ 62 w 107"/>
                  <a:gd name="T41" fmla="*/ 49 h 108"/>
                  <a:gd name="T42" fmla="*/ 56 w 107"/>
                  <a:gd name="T43" fmla="*/ 44 h 108"/>
                  <a:gd name="T44" fmla="*/ 48 w 107"/>
                  <a:gd name="T45" fmla="*/ 45 h 108"/>
                  <a:gd name="T46" fmla="*/ 48 w 107"/>
                  <a:gd name="T47" fmla="*/ 45 h 108"/>
                  <a:gd name="T48" fmla="*/ 44 w 107"/>
                  <a:gd name="T49" fmla="*/ 51 h 108"/>
                  <a:gd name="T50" fmla="*/ 45 w 107"/>
                  <a:gd name="T51" fmla="*/ 59 h 108"/>
                  <a:gd name="T52" fmla="*/ 45 w 107"/>
                  <a:gd name="T53" fmla="*/ 59 h 108"/>
                  <a:gd name="T54" fmla="*/ 51 w 107"/>
                  <a:gd name="T55" fmla="*/ 64 h 108"/>
                  <a:gd name="T56" fmla="*/ 59 w 107"/>
                  <a:gd name="T57" fmla="*/ 63 h 108"/>
                  <a:gd name="T58" fmla="*/ 59 w 107"/>
                  <a:gd name="T59" fmla="*/ 63 h 108"/>
                  <a:gd name="T60" fmla="*/ 63 w 107"/>
                  <a:gd name="T61" fmla="*/ 56 h 108"/>
                  <a:gd name="T62" fmla="*/ 29 w 107"/>
                  <a:gd name="T63" fmla="*/ 24 h 108"/>
                  <a:gd name="T64" fmla="*/ 17 w 107"/>
                  <a:gd name="T65" fmla="*/ 65 h 108"/>
                  <a:gd name="T66" fmla="*/ 25 w 107"/>
                  <a:gd name="T67" fmla="*/ 63 h 108"/>
                  <a:gd name="T68" fmla="*/ 29 w 107"/>
                  <a:gd name="T69" fmla="*/ 24 h 108"/>
                  <a:gd name="T70" fmla="*/ 69 w 107"/>
                  <a:gd name="T71" fmla="*/ 37 h 108"/>
                  <a:gd name="T72" fmla="*/ 73 w 107"/>
                  <a:gd name="T73" fmla="*/ 42 h 108"/>
                  <a:gd name="T74" fmla="*/ 74 w 107"/>
                  <a:gd name="T75" fmla="*/ 45 h 108"/>
                  <a:gd name="T76" fmla="*/ 91 w 107"/>
                  <a:gd name="T77" fmla="*/ 38 h 108"/>
                  <a:gd name="T78" fmla="*/ 89 w 107"/>
                  <a:gd name="T79" fmla="*/ 33 h 108"/>
                  <a:gd name="T80" fmla="*/ 82 w 107"/>
                  <a:gd name="T81" fmla="*/ 25 h 108"/>
                  <a:gd name="T82" fmla="*/ 69 w 107"/>
                  <a:gd name="T83" fmla="*/ 37 h 108"/>
                  <a:gd name="T84" fmla="*/ 92 w 107"/>
                  <a:gd name="T85" fmla="*/ 43 h 108"/>
                  <a:gd name="T86" fmla="*/ 75 w 107"/>
                  <a:gd name="T87" fmla="*/ 47 h 108"/>
                  <a:gd name="T88" fmla="*/ 76 w 107"/>
                  <a:gd name="T89" fmla="*/ 53 h 108"/>
                  <a:gd name="T90" fmla="*/ 93 w 107"/>
                  <a:gd name="T91" fmla="*/ 54 h 108"/>
                  <a:gd name="T92" fmla="*/ 92 w 107"/>
                  <a:gd name="T93" fmla="*/ 43 h 108"/>
                  <a:gd name="T94" fmla="*/ 70 w 107"/>
                  <a:gd name="T95" fmla="*/ 44 h 108"/>
                  <a:gd name="T96" fmla="*/ 44 w 107"/>
                  <a:gd name="T97" fmla="*/ 37 h 108"/>
                  <a:gd name="T98" fmla="*/ 37 w 107"/>
                  <a:gd name="T99" fmla="*/ 63 h 108"/>
                  <a:gd name="T100" fmla="*/ 63 w 107"/>
                  <a:gd name="T101" fmla="*/ 70 h 108"/>
                  <a:gd name="T102" fmla="*/ 70 w 107"/>
                  <a:gd name="T103" fmla="*/ 4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7" h="108">
                    <a:moveTo>
                      <a:pt x="94" y="30"/>
                    </a:moveTo>
                    <a:cubicBezTo>
                      <a:pt x="107" y="53"/>
                      <a:pt x="100" y="82"/>
                      <a:pt x="77" y="95"/>
                    </a:cubicBezTo>
                    <a:cubicBezTo>
                      <a:pt x="54" y="108"/>
                      <a:pt x="26" y="100"/>
                      <a:pt x="13" y="77"/>
                    </a:cubicBezTo>
                    <a:cubicBezTo>
                      <a:pt x="0" y="55"/>
                      <a:pt x="7" y="26"/>
                      <a:pt x="30" y="13"/>
                    </a:cubicBezTo>
                    <a:cubicBezTo>
                      <a:pt x="52" y="0"/>
                      <a:pt x="81" y="8"/>
                      <a:pt x="94" y="30"/>
                    </a:cubicBezTo>
                    <a:close/>
                    <a:moveTo>
                      <a:pt x="68" y="46"/>
                    </a:moveTo>
                    <a:cubicBezTo>
                      <a:pt x="68" y="46"/>
                      <a:pt x="68" y="46"/>
                      <a:pt x="68" y="46"/>
                    </a:cubicBezTo>
                    <a:cubicBezTo>
                      <a:pt x="65" y="42"/>
                      <a:pt x="62" y="39"/>
                      <a:pt x="58" y="38"/>
                    </a:cubicBezTo>
                    <a:cubicBezTo>
                      <a:pt x="54" y="37"/>
                      <a:pt x="49" y="37"/>
                      <a:pt x="45" y="40"/>
                    </a:cubicBezTo>
                    <a:cubicBezTo>
                      <a:pt x="45" y="40"/>
                      <a:pt x="45" y="40"/>
                      <a:pt x="45" y="40"/>
                    </a:cubicBezTo>
                    <a:cubicBezTo>
                      <a:pt x="41" y="42"/>
                      <a:pt x="39" y="46"/>
                      <a:pt x="38" y="50"/>
                    </a:cubicBezTo>
                    <a:cubicBezTo>
                      <a:pt x="37" y="54"/>
                      <a:pt x="37" y="58"/>
                      <a:pt x="39" y="62"/>
                    </a:cubicBezTo>
                    <a:cubicBezTo>
                      <a:pt x="39" y="62"/>
                      <a:pt x="39" y="62"/>
                      <a:pt x="39" y="62"/>
                    </a:cubicBezTo>
                    <a:cubicBezTo>
                      <a:pt x="42" y="66"/>
                      <a:pt x="45" y="68"/>
                      <a:pt x="49" y="69"/>
                    </a:cubicBezTo>
                    <a:cubicBezTo>
                      <a:pt x="53" y="71"/>
                      <a:pt x="58" y="70"/>
                      <a:pt x="62" y="68"/>
                    </a:cubicBezTo>
                    <a:cubicBezTo>
                      <a:pt x="62" y="68"/>
                      <a:pt x="62" y="68"/>
                      <a:pt x="62" y="68"/>
                    </a:cubicBezTo>
                    <a:cubicBezTo>
                      <a:pt x="65" y="66"/>
                      <a:pt x="68" y="62"/>
                      <a:pt x="69" y="58"/>
                    </a:cubicBezTo>
                    <a:cubicBezTo>
                      <a:pt x="70" y="54"/>
                      <a:pt x="70" y="50"/>
                      <a:pt x="68" y="46"/>
                    </a:cubicBezTo>
                    <a:close/>
                    <a:moveTo>
                      <a:pt x="63" y="56"/>
                    </a:moveTo>
                    <a:cubicBezTo>
                      <a:pt x="64" y="54"/>
                      <a:pt x="64" y="51"/>
                      <a:pt x="62" y="49"/>
                    </a:cubicBezTo>
                    <a:cubicBezTo>
                      <a:pt x="62" y="49"/>
                      <a:pt x="62" y="49"/>
                      <a:pt x="62" y="49"/>
                    </a:cubicBezTo>
                    <a:cubicBezTo>
                      <a:pt x="61" y="46"/>
                      <a:pt x="59" y="45"/>
                      <a:pt x="56" y="44"/>
                    </a:cubicBezTo>
                    <a:cubicBezTo>
                      <a:pt x="54" y="43"/>
                      <a:pt x="51" y="44"/>
                      <a:pt x="48" y="45"/>
                    </a:cubicBezTo>
                    <a:cubicBezTo>
                      <a:pt x="48" y="45"/>
                      <a:pt x="48" y="45"/>
                      <a:pt x="48" y="45"/>
                    </a:cubicBezTo>
                    <a:cubicBezTo>
                      <a:pt x="46" y="46"/>
                      <a:pt x="44" y="49"/>
                      <a:pt x="44" y="51"/>
                    </a:cubicBezTo>
                    <a:cubicBezTo>
                      <a:pt x="43" y="54"/>
                      <a:pt x="43" y="56"/>
                      <a:pt x="45" y="59"/>
                    </a:cubicBezTo>
                    <a:cubicBezTo>
                      <a:pt x="45" y="59"/>
                      <a:pt x="45" y="59"/>
                      <a:pt x="45" y="59"/>
                    </a:cubicBezTo>
                    <a:cubicBezTo>
                      <a:pt x="46" y="61"/>
                      <a:pt x="48" y="63"/>
                      <a:pt x="51" y="64"/>
                    </a:cubicBezTo>
                    <a:cubicBezTo>
                      <a:pt x="53" y="64"/>
                      <a:pt x="56" y="64"/>
                      <a:pt x="59" y="63"/>
                    </a:cubicBezTo>
                    <a:cubicBezTo>
                      <a:pt x="59" y="63"/>
                      <a:pt x="59" y="63"/>
                      <a:pt x="59" y="63"/>
                    </a:cubicBezTo>
                    <a:cubicBezTo>
                      <a:pt x="61" y="61"/>
                      <a:pt x="63" y="59"/>
                      <a:pt x="63" y="56"/>
                    </a:cubicBezTo>
                    <a:close/>
                    <a:moveTo>
                      <a:pt x="29" y="24"/>
                    </a:moveTo>
                    <a:cubicBezTo>
                      <a:pt x="16" y="36"/>
                      <a:pt x="14" y="50"/>
                      <a:pt x="17" y="65"/>
                    </a:cubicBezTo>
                    <a:cubicBezTo>
                      <a:pt x="20" y="64"/>
                      <a:pt x="23" y="64"/>
                      <a:pt x="25" y="63"/>
                    </a:cubicBezTo>
                    <a:cubicBezTo>
                      <a:pt x="21" y="49"/>
                      <a:pt x="22" y="36"/>
                      <a:pt x="29" y="24"/>
                    </a:cubicBezTo>
                    <a:close/>
                    <a:moveTo>
                      <a:pt x="69" y="37"/>
                    </a:moveTo>
                    <a:cubicBezTo>
                      <a:pt x="70" y="38"/>
                      <a:pt x="72" y="40"/>
                      <a:pt x="73" y="42"/>
                    </a:cubicBezTo>
                    <a:cubicBezTo>
                      <a:pt x="74" y="43"/>
                      <a:pt x="74" y="44"/>
                      <a:pt x="74" y="45"/>
                    </a:cubicBezTo>
                    <a:cubicBezTo>
                      <a:pt x="91" y="38"/>
                      <a:pt x="91" y="38"/>
                      <a:pt x="91" y="38"/>
                    </a:cubicBezTo>
                    <a:cubicBezTo>
                      <a:pt x="90" y="36"/>
                      <a:pt x="89" y="35"/>
                      <a:pt x="89" y="33"/>
                    </a:cubicBezTo>
                    <a:cubicBezTo>
                      <a:pt x="87" y="30"/>
                      <a:pt x="85" y="28"/>
                      <a:pt x="82" y="25"/>
                    </a:cubicBezTo>
                    <a:cubicBezTo>
                      <a:pt x="69" y="37"/>
                      <a:pt x="69" y="37"/>
                      <a:pt x="69" y="37"/>
                    </a:cubicBezTo>
                    <a:close/>
                    <a:moveTo>
                      <a:pt x="92" y="43"/>
                    </a:moveTo>
                    <a:cubicBezTo>
                      <a:pt x="75" y="47"/>
                      <a:pt x="75" y="47"/>
                      <a:pt x="75" y="47"/>
                    </a:cubicBezTo>
                    <a:cubicBezTo>
                      <a:pt x="76" y="49"/>
                      <a:pt x="76" y="51"/>
                      <a:pt x="76" y="53"/>
                    </a:cubicBezTo>
                    <a:cubicBezTo>
                      <a:pt x="93" y="54"/>
                      <a:pt x="93" y="54"/>
                      <a:pt x="93" y="54"/>
                    </a:cubicBezTo>
                    <a:cubicBezTo>
                      <a:pt x="94" y="50"/>
                      <a:pt x="93" y="46"/>
                      <a:pt x="92" y="43"/>
                    </a:cubicBezTo>
                    <a:close/>
                    <a:moveTo>
                      <a:pt x="70" y="44"/>
                    </a:moveTo>
                    <a:cubicBezTo>
                      <a:pt x="65" y="35"/>
                      <a:pt x="53" y="32"/>
                      <a:pt x="44" y="37"/>
                    </a:cubicBezTo>
                    <a:cubicBezTo>
                      <a:pt x="35" y="42"/>
                      <a:pt x="32" y="54"/>
                      <a:pt x="37" y="63"/>
                    </a:cubicBezTo>
                    <a:cubicBezTo>
                      <a:pt x="42" y="72"/>
                      <a:pt x="54" y="76"/>
                      <a:pt x="63" y="70"/>
                    </a:cubicBezTo>
                    <a:cubicBezTo>
                      <a:pt x="72" y="65"/>
                      <a:pt x="75" y="53"/>
                      <a:pt x="70" y="44"/>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mn-ea"/>
                  <a:cs typeface="+mn-ea"/>
                  <a:sym typeface="Arial" panose="020B0604020202020204" pitchFamily="34" charset="0"/>
                </a:endParaRPr>
              </a:p>
            </p:txBody>
          </p:sp>
        </p:grpSp>
        <p:sp>
          <p:nvSpPr>
            <p:cNvPr id="34" name="Freeform 4"/>
            <p:cNvSpPr/>
            <p:nvPr/>
          </p:nvSpPr>
          <p:spPr>
            <a:xfrm rot="16200000">
              <a:off x="7684960" y="3907218"/>
              <a:ext cx="2523640" cy="2401022"/>
            </a:xfrm>
            <a:custGeom>
              <a:avLst/>
              <a:gdLst>
                <a:gd name="connsiteX0" fmla="*/ 2496508 w 3190111"/>
                <a:gd name="connsiteY0" fmla="*/ 2321164 h 2883873"/>
                <a:gd name="connsiteX1" fmla="*/ 2496508 w 3190111"/>
                <a:gd name="connsiteY1" fmla="*/ 2883872 h 2883873"/>
                <a:gd name="connsiteX2" fmla="*/ 0 w 3190111"/>
                <a:gd name="connsiteY2" fmla="*/ 2883872 h 2883873"/>
                <a:gd name="connsiteX3" fmla="*/ 0 w 3190111"/>
                <a:gd name="connsiteY3" fmla="*/ 2321164 h 2883873"/>
                <a:gd name="connsiteX4" fmla="*/ 3190111 w 3190111"/>
                <a:gd name="connsiteY4" fmla="*/ 562708 h 2883873"/>
                <a:gd name="connsiteX5" fmla="*/ 3062414 w 3190111"/>
                <a:gd name="connsiteY5" fmla="*/ 562708 h 2883873"/>
                <a:gd name="connsiteX6" fmla="*/ 3062414 w 3190111"/>
                <a:gd name="connsiteY6" fmla="*/ 2321165 h 2883873"/>
                <a:gd name="connsiteX7" fmla="*/ 3065612 w 3190111"/>
                <a:gd name="connsiteY7" fmla="*/ 2321165 h 2883873"/>
                <a:gd name="connsiteX8" fmla="*/ 2499706 w 3190111"/>
                <a:gd name="connsiteY8" fmla="*/ 2883873 h 2883873"/>
                <a:gd name="connsiteX9" fmla="*/ 2499706 w 3190111"/>
                <a:gd name="connsiteY9" fmla="*/ 2321165 h 2883873"/>
                <a:gd name="connsiteX10" fmla="*/ 2499706 w 3190111"/>
                <a:gd name="connsiteY10" fmla="*/ 562708 h 2883873"/>
                <a:gd name="connsiteX11" fmla="*/ 2378404 w 3190111"/>
                <a:gd name="connsiteY11" fmla="*/ 562708 h 2883873"/>
                <a:gd name="connsiteX12" fmla="*/ 2784258 w 3190111"/>
                <a:gd name="connsiteY12" fmla="*/ 0 h 288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0111" h="2883873">
                  <a:moveTo>
                    <a:pt x="2496508" y="2321164"/>
                  </a:moveTo>
                  <a:lnTo>
                    <a:pt x="2496508" y="2883872"/>
                  </a:lnTo>
                  <a:lnTo>
                    <a:pt x="0" y="2883872"/>
                  </a:lnTo>
                  <a:lnTo>
                    <a:pt x="0" y="2321164"/>
                  </a:lnTo>
                  <a:close/>
                  <a:moveTo>
                    <a:pt x="3190111" y="562708"/>
                  </a:moveTo>
                  <a:lnTo>
                    <a:pt x="3062414" y="562708"/>
                  </a:lnTo>
                  <a:lnTo>
                    <a:pt x="3062414" y="2321165"/>
                  </a:lnTo>
                  <a:lnTo>
                    <a:pt x="3065612" y="2321165"/>
                  </a:lnTo>
                  <a:lnTo>
                    <a:pt x="2499706" y="2883873"/>
                  </a:lnTo>
                  <a:lnTo>
                    <a:pt x="2499706" y="2321165"/>
                  </a:lnTo>
                  <a:lnTo>
                    <a:pt x="2499706" y="562708"/>
                  </a:lnTo>
                  <a:lnTo>
                    <a:pt x="2378404" y="562708"/>
                  </a:lnTo>
                  <a:lnTo>
                    <a:pt x="2784258"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sp>
          <p:nvSpPr>
            <p:cNvPr id="36" name="Freeform 5"/>
            <p:cNvSpPr/>
            <p:nvPr/>
          </p:nvSpPr>
          <p:spPr>
            <a:xfrm rot="16200000">
              <a:off x="7600885" y="3162196"/>
              <a:ext cx="3339494" cy="3045194"/>
            </a:xfrm>
            <a:custGeom>
              <a:avLst/>
              <a:gdLst>
                <a:gd name="connsiteX0" fmla="*/ 4242316 w 4242316"/>
                <a:gd name="connsiteY0" fmla="*/ 562708 h 3657591"/>
                <a:gd name="connsiteX1" fmla="*/ 4117817 w 4242316"/>
                <a:gd name="connsiteY1" fmla="*/ 562708 h 3657591"/>
                <a:gd name="connsiteX2" fmla="*/ 4117817 w 4242316"/>
                <a:gd name="connsiteY2" fmla="*/ 3094883 h 3657591"/>
                <a:gd name="connsiteX3" fmla="*/ 3555109 w 4242316"/>
                <a:gd name="connsiteY3" fmla="*/ 3657591 h 3657591"/>
                <a:gd name="connsiteX4" fmla="*/ 0 w 4242316"/>
                <a:gd name="connsiteY4" fmla="*/ 3657591 h 3657591"/>
                <a:gd name="connsiteX5" fmla="*/ 0 w 4242316"/>
                <a:gd name="connsiteY5" fmla="*/ 3094883 h 3657591"/>
                <a:gd name="connsiteX6" fmla="*/ 3555109 w 4242316"/>
                <a:gd name="connsiteY6" fmla="*/ 3094883 h 3657591"/>
                <a:gd name="connsiteX7" fmla="*/ 3555109 w 4242316"/>
                <a:gd name="connsiteY7" fmla="*/ 562708 h 3657591"/>
                <a:gd name="connsiteX8" fmla="*/ 3430609 w 4242316"/>
                <a:gd name="connsiteY8" fmla="*/ 562708 h 3657591"/>
                <a:gd name="connsiteX9" fmla="*/ 3836463 w 4242316"/>
                <a:gd name="connsiteY9" fmla="*/ 0 h 365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316" h="3657591">
                  <a:moveTo>
                    <a:pt x="4242316" y="562708"/>
                  </a:moveTo>
                  <a:lnTo>
                    <a:pt x="4117817" y="562708"/>
                  </a:lnTo>
                  <a:lnTo>
                    <a:pt x="4117817" y="3094883"/>
                  </a:lnTo>
                  <a:lnTo>
                    <a:pt x="3555109" y="3657591"/>
                  </a:lnTo>
                  <a:lnTo>
                    <a:pt x="0" y="3657591"/>
                  </a:lnTo>
                  <a:lnTo>
                    <a:pt x="0" y="3094883"/>
                  </a:lnTo>
                  <a:lnTo>
                    <a:pt x="3555109" y="3094883"/>
                  </a:lnTo>
                  <a:lnTo>
                    <a:pt x="3555109" y="562708"/>
                  </a:lnTo>
                  <a:lnTo>
                    <a:pt x="3430609" y="562708"/>
                  </a:lnTo>
                  <a:lnTo>
                    <a:pt x="3836463"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sp>
          <p:nvSpPr>
            <p:cNvPr id="37" name="Freeform 6"/>
            <p:cNvSpPr/>
            <p:nvPr/>
          </p:nvSpPr>
          <p:spPr>
            <a:xfrm rot="16200000">
              <a:off x="7605409" y="2457603"/>
              <a:ext cx="4037796" cy="3756077"/>
            </a:xfrm>
            <a:custGeom>
              <a:avLst/>
              <a:gdLst>
                <a:gd name="connsiteX0" fmla="*/ 5289608 w 5289608"/>
                <a:gd name="connsiteY0" fmla="*/ 562708 h 4431309"/>
                <a:gd name="connsiteX1" fmla="*/ 5165108 w 5289608"/>
                <a:gd name="connsiteY1" fmla="*/ 562708 h 4431309"/>
                <a:gd name="connsiteX2" fmla="*/ 5165108 w 5289608"/>
                <a:gd name="connsiteY2" fmla="*/ 3868601 h 4431309"/>
                <a:gd name="connsiteX3" fmla="*/ 4602401 w 5289608"/>
                <a:gd name="connsiteY3" fmla="*/ 4431309 h 4431309"/>
                <a:gd name="connsiteX4" fmla="*/ 0 w 5289608"/>
                <a:gd name="connsiteY4" fmla="*/ 4431309 h 4431309"/>
                <a:gd name="connsiteX5" fmla="*/ 0 w 5289608"/>
                <a:gd name="connsiteY5" fmla="*/ 3868601 h 4431309"/>
                <a:gd name="connsiteX6" fmla="*/ 4602401 w 5289608"/>
                <a:gd name="connsiteY6" fmla="*/ 3868601 h 4431309"/>
                <a:gd name="connsiteX7" fmla="*/ 4602401 w 5289608"/>
                <a:gd name="connsiteY7" fmla="*/ 562708 h 4431309"/>
                <a:gd name="connsiteX8" fmla="*/ 4477901 w 5289608"/>
                <a:gd name="connsiteY8" fmla="*/ 562708 h 4431309"/>
                <a:gd name="connsiteX9" fmla="*/ 4883755 w 5289608"/>
                <a:gd name="connsiteY9" fmla="*/ 0 h 443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9608" h="4431309">
                  <a:moveTo>
                    <a:pt x="5289608" y="562708"/>
                  </a:moveTo>
                  <a:lnTo>
                    <a:pt x="5165108" y="562708"/>
                  </a:lnTo>
                  <a:lnTo>
                    <a:pt x="5165108" y="3868601"/>
                  </a:lnTo>
                  <a:lnTo>
                    <a:pt x="4602401" y="4431309"/>
                  </a:lnTo>
                  <a:lnTo>
                    <a:pt x="0" y="4431309"/>
                  </a:lnTo>
                  <a:lnTo>
                    <a:pt x="0" y="3868601"/>
                  </a:lnTo>
                  <a:lnTo>
                    <a:pt x="4602401" y="3868601"/>
                  </a:lnTo>
                  <a:lnTo>
                    <a:pt x="4602401" y="562708"/>
                  </a:lnTo>
                  <a:lnTo>
                    <a:pt x="4477901" y="562708"/>
                  </a:lnTo>
                  <a:lnTo>
                    <a:pt x="4883755"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grpSp>
      <p:sp>
        <p:nvSpPr>
          <p:cNvPr id="22" name="文本框 21"/>
          <p:cNvSpPr txBox="1"/>
          <p:nvPr/>
        </p:nvSpPr>
        <p:spPr>
          <a:xfrm>
            <a:off x="9532561" y="2575690"/>
            <a:ext cx="1439903" cy="246799"/>
          </a:xfrm>
          <a:prstGeom prst="rect">
            <a:avLst/>
          </a:prstGeom>
          <a:noFill/>
        </p:spPr>
        <p:txBody>
          <a:bodyPr wrap="square" rtlCol="0">
            <a:spAutoFit/>
          </a:bodyPr>
          <a:lstStyle/>
          <a:p>
            <a:pPr>
              <a:lnSpc>
                <a:spcPct val="120000"/>
              </a:lnSpc>
            </a:pPr>
            <a:r>
              <a:rPr lang="zh-CN" altLang="en-US" sz="900" b="1" dirty="0">
                <a:solidFill>
                  <a:schemeClr val="bg1"/>
                </a:solidFill>
              </a:rPr>
              <a:t>工艺评审过程</a:t>
            </a:r>
          </a:p>
        </p:txBody>
      </p:sp>
      <p:sp>
        <p:nvSpPr>
          <p:cNvPr id="38" name="文本框 37"/>
          <p:cNvSpPr txBox="1"/>
          <p:nvPr/>
        </p:nvSpPr>
        <p:spPr>
          <a:xfrm>
            <a:off x="9476893" y="3219141"/>
            <a:ext cx="1439903" cy="246799"/>
          </a:xfrm>
          <a:prstGeom prst="rect">
            <a:avLst/>
          </a:prstGeom>
          <a:noFill/>
        </p:spPr>
        <p:txBody>
          <a:bodyPr wrap="square" rtlCol="0">
            <a:spAutoFit/>
          </a:bodyPr>
          <a:lstStyle/>
          <a:p>
            <a:pPr>
              <a:lnSpc>
                <a:spcPct val="120000"/>
              </a:lnSpc>
            </a:pPr>
            <a:r>
              <a:rPr lang="zh-CN" altLang="en-US" sz="900" b="1" dirty="0">
                <a:solidFill>
                  <a:schemeClr val="bg1"/>
                </a:solidFill>
              </a:rPr>
              <a:t>工艺评审内容</a:t>
            </a:r>
          </a:p>
        </p:txBody>
      </p:sp>
      <p:sp>
        <p:nvSpPr>
          <p:cNvPr id="39" name="文本框 38"/>
          <p:cNvSpPr txBox="1"/>
          <p:nvPr/>
        </p:nvSpPr>
        <p:spPr>
          <a:xfrm>
            <a:off x="9467094" y="4082726"/>
            <a:ext cx="1439903" cy="258532"/>
          </a:xfrm>
          <a:prstGeom prst="rect">
            <a:avLst/>
          </a:prstGeom>
          <a:noFill/>
        </p:spPr>
        <p:txBody>
          <a:bodyPr wrap="square" rtlCol="0">
            <a:spAutoFit/>
          </a:bodyPr>
          <a:lstStyle/>
          <a:p>
            <a:pPr>
              <a:lnSpc>
                <a:spcPct val="120000"/>
              </a:lnSpc>
            </a:pPr>
            <a:r>
              <a:rPr lang="zh-CN" altLang="en-US" sz="900" b="1" dirty="0">
                <a:solidFill>
                  <a:schemeClr val="bg1"/>
                </a:solidFill>
              </a:rPr>
              <a:t>问题闭环</a:t>
            </a:r>
          </a:p>
        </p:txBody>
      </p:sp>
      <p:sp>
        <p:nvSpPr>
          <p:cNvPr id="23" name="动作按钮: 结束 22">
            <a:hlinkClick r:id="" action="ppaction://hlinkshowjump?jump=lastslide" highlightClick="1"/>
          </p:cNvPr>
          <p:cNvSpPr/>
          <p:nvPr/>
        </p:nvSpPr>
        <p:spPr>
          <a:xfrm>
            <a:off x="762522" y="1654880"/>
            <a:ext cx="322695" cy="272765"/>
          </a:xfrm>
          <a:prstGeom prst="actionButtonEn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066193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a:latin typeface="+mn-ea"/>
              </a:rPr>
              <a:t>1.2</a:t>
            </a:r>
            <a:r>
              <a:rPr lang="zh-CN" altLang="en-US" sz="1800" b="1" dirty="0">
                <a:latin typeface="+mn-ea"/>
              </a:rPr>
              <a:t>试制准备状态检查</a:t>
            </a:r>
          </a:p>
          <a:p>
            <a:pPr>
              <a:buFont typeface="Wingdings" panose="05000000000000000000" pitchFamily="2" charset="2"/>
              <a:buChar char="n"/>
            </a:pPr>
            <a:endParaRPr lang="en-US" altLang="zh-CN" sz="1800" b="1" dirty="0">
              <a:latin typeface="+mn-ea"/>
            </a:endParaRPr>
          </a:p>
          <a:p>
            <a:endParaRPr lang="en-US" altLang="zh-CN" dirty="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168678" y="15412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algn="l" defTabSz="1219170"/>
            <a:r>
              <a:rPr lang="en-US" altLang="zh-CN" sz="3200" dirty="0">
                <a:solidFill>
                  <a:prstClr val="black">
                    <a:lumMod val="65000"/>
                    <a:lumOff val="35000"/>
                  </a:prstClr>
                </a:solidFill>
              </a:rPr>
              <a:t>L10 </a:t>
            </a:r>
            <a:r>
              <a:rPr lang="zh-CN" altLang="en-US" sz="3200" dirty="0">
                <a:solidFill>
                  <a:prstClr val="black">
                    <a:lumMod val="65000"/>
                    <a:lumOff val="35000"/>
                  </a:prstClr>
                </a:solidFill>
              </a:rPr>
              <a:t>首件试制</a:t>
            </a:r>
            <a:r>
              <a:rPr lang="en-US" altLang="zh-CN" sz="3200" dirty="0">
                <a:solidFill>
                  <a:prstClr val="black">
                    <a:lumMod val="65000"/>
                    <a:lumOff val="35000"/>
                  </a:prstClr>
                </a:solidFill>
              </a:rPr>
              <a:t>/</a:t>
            </a:r>
            <a:r>
              <a:rPr lang="zh-CN" altLang="en-US" sz="3200" dirty="0">
                <a:solidFill>
                  <a:prstClr val="black">
                    <a:lumMod val="65000"/>
                    <a:lumOff val="35000"/>
                  </a:prstClr>
                </a:solidFill>
              </a:rPr>
              <a:t>批量试制</a:t>
            </a:r>
          </a:p>
        </p:txBody>
      </p:sp>
      <p:graphicFrame>
        <p:nvGraphicFramePr>
          <p:cNvPr id="5" name="表格 4"/>
          <p:cNvGraphicFramePr>
            <a:graphicFrameLocks noGrp="1"/>
          </p:cNvGraphicFramePr>
          <p:nvPr/>
        </p:nvGraphicFramePr>
        <p:xfrm>
          <a:off x="1359280" y="1550644"/>
          <a:ext cx="10240537" cy="889000"/>
        </p:xfrm>
        <a:graphic>
          <a:graphicData uri="http://schemas.openxmlformats.org/drawingml/2006/table">
            <a:tbl>
              <a:tblPr firstRow="1" bandRow="1">
                <a:tableStyleId>{00A15C55-8517-42AA-B614-E9B94910E393}</a:tableStyleId>
              </a:tblPr>
              <a:tblGrid>
                <a:gridCol w="1031223">
                  <a:extLst>
                    <a:ext uri="{9D8B030D-6E8A-4147-A177-3AD203B41FA5}">
                      <a16:colId xmlns:a16="http://schemas.microsoft.com/office/drawing/2014/main" val="773509366"/>
                    </a:ext>
                  </a:extLst>
                </a:gridCol>
                <a:gridCol w="1449977">
                  <a:extLst>
                    <a:ext uri="{9D8B030D-6E8A-4147-A177-3AD203B41FA5}">
                      <a16:colId xmlns:a16="http://schemas.microsoft.com/office/drawing/2014/main" val="1193865247"/>
                    </a:ext>
                  </a:extLst>
                </a:gridCol>
                <a:gridCol w="1136469">
                  <a:extLst>
                    <a:ext uri="{9D8B030D-6E8A-4147-A177-3AD203B41FA5}">
                      <a16:colId xmlns:a16="http://schemas.microsoft.com/office/drawing/2014/main" val="869367937"/>
                    </a:ext>
                  </a:extLst>
                </a:gridCol>
                <a:gridCol w="4297680">
                  <a:extLst>
                    <a:ext uri="{9D8B030D-6E8A-4147-A177-3AD203B41FA5}">
                      <a16:colId xmlns:a16="http://schemas.microsoft.com/office/drawing/2014/main" val="99857605"/>
                    </a:ext>
                  </a:extLst>
                </a:gridCol>
                <a:gridCol w="2325188">
                  <a:extLst>
                    <a:ext uri="{9D8B030D-6E8A-4147-A177-3AD203B41FA5}">
                      <a16:colId xmlns:a16="http://schemas.microsoft.com/office/drawing/2014/main" val="1047766596"/>
                    </a:ext>
                  </a:extLst>
                </a:gridCol>
              </a:tblGrid>
              <a:tr h="370840">
                <a:tc>
                  <a:txBody>
                    <a:bodyPr/>
                    <a:lstStyle/>
                    <a:p>
                      <a:pPr algn="ctr"/>
                      <a:r>
                        <a:rPr lang="zh-CN" altLang="en-US" sz="1400" dirty="0"/>
                        <a:t>任务名称</a:t>
                      </a:r>
                      <a:endParaRPr lang="zh-CN" altLang="en-US" sz="1400" dirty="0">
                        <a:latin typeface="+mn-ea"/>
                        <a:ea typeface="+mn-ea"/>
                      </a:endParaRPr>
                    </a:p>
                  </a:txBody>
                  <a:tcPr/>
                </a:tc>
                <a:tc>
                  <a:txBody>
                    <a:bodyPr/>
                    <a:lstStyle/>
                    <a:p>
                      <a:pPr algn="ctr"/>
                      <a:r>
                        <a:rPr lang="zh-CN" altLang="en-US" sz="1400" dirty="0"/>
                        <a:t>启动条件</a:t>
                      </a:r>
                      <a:endParaRPr lang="zh-CN" altLang="en-US" sz="1400" dirty="0">
                        <a:latin typeface="+mn-ea"/>
                        <a:ea typeface="+mn-ea"/>
                      </a:endParaRPr>
                    </a:p>
                  </a:txBody>
                  <a:tcPr/>
                </a:tc>
                <a:tc>
                  <a:txBody>
                    <a:bodyPr/>
                    <a:lstStyle/>
                    <a:p>
                      <a:pPr algn="ctr"/>
                      <a:r>
                        <a:rPr lang="zh-CN" altLang="en-US" sz="1400" dirty="0"/>
                        <a:t>责任人</a:t>
                      </a:r>
                      <a:endParaRPr lang="zh-CN" altLang="en-US" sz="1400" dirty="0">
                        <a:latin typeface="+mn-ea"/>
                        <a:ea typeface="+mn-ea"/>
                      </a:endParaRPr>
                    </a:p>
                  </a:txBody>
                  <a:tcPr/>
                </a:tc>
                <a:tc>
                  <a:txBody>
                    <a:bodyPr/>
                    <a:lstStyle/>
                    <a:p>
                      <a:pPr algn="ctr"/>
                      <a:r>
                        <a:rPr lang="zh-CN" altLang="en-US" sz="1400" dirty="0"/>
                        <a:t>参与人</a:t>
                      </a:r>
                      <a:endParaRPr lang="zh-CN" altLang="en-US" sz="1400" dirty="0">
                        <a:latin typeface="+mn-ea"/>
                        <a:ea typeface="+mn-ea"/>
                      </a:endParaRPr>
                    </a:p>
                  </a:txBody>
                  <a:tcPr/>
                </a:tc>
                <a:tc>
                  <a:txBody>
                    <a:bodyPr/>
                    <a:lstStyle/>
                    <a:p>
                      <a:pPr algn="ctr"/>
                      <a:r>
                        <a:rPr lang="zh-CN" altLang="en-US" sz="1400" dirty="0"/>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a:t>试制准备状态检查</a:t>
                      </a:r>
                      <a:endParaRPr lang="zh-CN" altLang="en-US" sz="1400" dirty="0">
                        <a:latin typeface="+mn-ea"/>
                        <a:ea typeface="+mn-ea"/>
                      </a:endParaRPr>
                    </a:p>
                  </a:txBody>
                  <a:tcPr/>
                </a:tc>
                <a:tc>
                  <a:txBody>
                    <a:bodyPr/>
                    <a:lstStyle/>
                    <a:p>
                      <a:r>
                        <a:rPr lang="zh-CN" altLang="en-US" sz="1400" dirty="0"/>
                        <a:t>试制准备就绪</a:t>
                      </a:r>
                      <a:endParaRPr lang="zh-CN" altLang="en-US" sz="1400" dirty="0">
                        <a:latin typeface="+mn-ea"/>
                        <a:ea typeface="+mn-ea"/>
                      </a:endParaRPr>
                    </a:p>
                  </a:txBody>
                  <a:tcPr/>
                </a:tc>
                <a:tc>
                  <a:txBody>
                    <a:bodyPr/>
                    <a:lstStyle/>
                    <a:p>
                      <a:r>
                        <a:rPr lang="zh-CN" altLang="en-US" sz="1400" dirty="0">
                          <a:solidFill>
                            <a:srgbClr val="0070C0"/>
                          </a:solidFill>
                        </a:rPr>
                        <a:t>品质管理部</a:t>
                      </a:r>
                      <a:endParaRPr lang="zh-CN" altLang="en-US" sz="1400" dirty="0">
                        <a:solidFill>
                          <a:srgbClr val="0070C0"/>
                        </a:solidFill>
                        <a:latin typeface="+mn-ea"/>
                        <a:ea typeface="+mn-ea"/>
                      </a:endParaRPr>
                    </a:p>
                  </a:txBody>
                  <a:tcPr/>
                </a:tc>
                <a:tc>
                  <a:txBody>
                    <a:bodyPr/>
                    <a:lstStyle/>
                    <a:p>
                      <a:r>
                        <a:rPr lang="zh-CN" altLang="en-US" sz="1400" dirty="0"/>
                        <a:t>制造部、商务部（必要时邀请顾客参加）、产品工程师</a:t>
                      </a:r>
                      <a:endParaRPr lang="zh-CN" altLang="en-US" sz="1400" dirty="0">
                        <a:latin typeface="+mn-ea"/>
                        <a:ea typeface="+mn-ea"/>
                      </a:endParaRPr>
                    </a:p>
                  </a:txBody>
                  <a:tcPr/>
                </a:tc>
                <a:tc>
                  <a:txBody>
                    <a:bodyPr/>
                    <a:lstStyle/>
                    <a:p>
                      <a:r>
                        <a:rPr lang="en-US" altLang="zh-CN" sz="1400" dirty="0">
                          <a:solidFill>
                            <a:srgbClr val="0070C0"/>
                          </a:solidFill>
                        </a:rPr>
                        <a:t>《</a:t>
                      </a:r>
                      <a:r>
                        <a:rPr lang="en-US" altLang="zh-CN" sz="1400" u="none" strike="noStrike" dirty="0">
                          <a:solidFill>
                            <a:srgbClr val="0070C0"/>
                          </a:solidFill>
                          <a:effectLst/>
                        </a:rPr>
                        <a:t>QR-D-H-005-005</a:t>
                      </a:r>
                      <a:r>
                        <a:rPr lang="zh-CN" altLang="en-US" sz="1400" dirty="0">
                          <a:solidFill>
                            <a:srgbClr val="0070C0"/>
                          </a:solidFill>
                        </a:rPr>
                        <a:t>试制准备状态检查表</a:t>
                      </a:r>
                      <a:r>
                        <a:rPr lang="en-US" altLang="zh-CN" sz="1400" dirty="0">
                          <a:solidFill>
                            <a:srgbClr val="0070C0"/>
                          </a:solidFill>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596339" y="5205636"/>
            <a:ext cx="467663" cy="467665"/>
          </a:xfrm>
          <a:prstGeom prst="ellipse">
            <a:avLst/>
          </a:prstGeom>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wrap="none" anchor="ctr">
            <a:normAutofit fontScale="92500" lnSpcReduction="10000"/>
          </a:bodyPr>
          <a:lstStyle/>
          <a:p>
            <a:pPr algn="ctr"/>
            <a:r>
              <a:rPr lang="en-US" b="1" dirty="0"/>
              <a:t>03</a:t>
            </a:r>
          </a:p>
        </p:txBody>
      </p:sp>
      <p:sp>
        <p:nvSpPr>
          <p:cNvPr id="11" name="Arc 125"/>
          <p:cNvSpPr/>
          <p:nvPr/>
        </p:nvSpPr>
        <p:spPr>
          <a:xfrm rot="5400000" flipV="1">
            <a:off x="1374989" y="5103572"/>
            <a:ext cx="1083950" cy="526607"/>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2" name="Straight Connector 126"/>
          <p:cNvCxnSpPr/>
          <p:nvPr/>
        </p:nvCxnSpPr>
        <p:spPr>
          <a:xfrm>
            <a:off x="1076364" y="5367686"/>
            <a:ext cx="584174" cy="65"/>
          </a:xfrm>
          <a:prstGeom prst="line">
            <a:avLst/>
          </a:prstGeom>
          <a:ln w="38100"/>
        </p:spPr>
        <p:style>
          <a:lnRef idx="1">
            <a:schemeClr val="accent5"/>
          </a:lnRef>
          <a:fillRef idx="0">
            <a:schemeClr val="accent5"/>
          </a:fillRef>
          <a:effectRef idx="0">
            <a:schemeClr val="accent5"/>
          </a:effectRef>
          <a:fontRef idx="minor">
            <a:schemeClr val="tx1"/>
          </a:fontRef>
        </p:style>
      </p:cxnSp>
      <p:cxnSp>
        <p:nvCxnSpPr>
          <p:cNvPr id="13" name="Straight Connector 124"/>
          <p:cNvCxnSpPr>
            <a:endCxn id="10" idx="0"/>
          </p:cNvCxnSpPr>
          <p:nvPr/>
        </p:nvCxnSpPr>
        <p:spPr>
          <a:xfrm flipH="1">
            <a:off x="830171" y="2014571"/>
            <a:ext cx="12415" cy="3191065"/>
          </a:xfrm>
          <a:prstGeom prst="line">
            <a:avLst/>
          </a:prstGeom>
          <a:ln w="38100">
            <a:headEnd type="none"/>
          </a:ln>
        </p:spPr>
        <p:style>
          <a:lnRef idx="1">
            <a:schemeClr val="accent5"/>
          </a:lnRef>
          <a:fillRef idx="0">
            <a:schemeClr val="accent5"/>
          </a:fillRef>
          <a:effectRef idx="0">
            <a:schemeClr val="accent5"/>
          </a:effectRef>
          <a:fontRef idx="minor">
            <a:schemeClr val="tx1"/>
          </a:fontRef>
        </p:style>
      </p:cxnSp>
      <p:sp>
        <p:nvSpPr>
          <p:cNvPr id="14" name="Oval 147"/>
          <p:cNvSpPr/>
          <p:nvPr/>
        </p:nvSpPr>
        <p:spPr>
          <a:xfrm>
            <a:off x="615578" y="1552339"/>
            <a:ext cx="467663" cy="467665"/>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a:endParaRPr>
              <a:solidFill>
                <a:srgbClr val="3333CC"/>
              </a:solidFill>
            </a:endParaRPr>
          </a:p>
        </p:txBody>
      </p:sp>
      <p:sp>
        <p:nvSpPr>
          <p:cNvPr id="16" name="Freeform: Shape 148"/>
          <p:cNvSpPr>
            <a:spLocks/>
          </p:cNvSpPr>
          <p:nvPr/>
        </p:nvSpPr>
        <p:spPr bwMode="auto">
          <a:xfrm>
            <a:off x="701355" y="1646569"/>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ln>
            <a:headEnd/>
            <a:tailEnd/>
          </a:ln>
        </p:spPr>
        <p:style>
          <a:lnRef idx="2">
            <a:schemeClr val="accent5"/>
          </a:lnRef>
          <a:fillRef idx="1">
            <a:schemeClr val="lt1"/>
          </a:fillRef>
          <a:effectRef idx="0">
            <a:schemeClr val="accent5"/>
          </a:effectRef>
          <a:fontRef idx="minor">
            <a:schemeClr val="dk1"/>
          </a:fontRef>
        </p:style>
        <p:txBody>
          <a:bodyPr anchor="ctr"/>
          <a:lstStyle/>
          <a:p>
            <a:pPr algn="ctr"/>
            <a:endParaRPr>
              <a:solidFill>
                <a:srgbClr val="3333CC"/>
              </a:solidFill>
            </a:endParaRPr>
          </a:p>
        </p:txBody>
      </p:sp>
      <p:sp>
        <p:nvSpPr>
          <p:cNvPr id="17" name="Arc 114"/>
          <p:cNvSpPr/>
          <p:nvPr/>
        </p:nvSpPr>
        <p:spPr>
          <a:xfrm rot="5400000" flipV="1">
            <a:off x="534345" y="5207629"/>
            <a:ext cx="616481" cy="612495"/>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8" name="Straight Connector 115"/>
          <p:cNvCxnSpPr/>
          <p:nvPr/>
        </p:nvCxnSpPr>
        <p:spPr>
          <a:xfrm flipV="1">
            <a:off x="163653" y="5532378"/>
            <a:ext cx="401492" cy="1821"/>
          </a:xfrm>
          <a:prstGeom prst="line">
            <a:avLst/>
          </a:prstGeom>
          <a:ln w="38100">
            <a:headEnd type="oval"/>
          </a:ln>
        </p:spPr>
        <p:style>
          <a:lnRef idx="1">
            <a:schemeClr val="accent5"/>
          </a:lnRef>
          <a:fillRef idx="0">
            <a:schemeClr val="accent5"/>
          </a:fillRef>
          <a:effectRef idx="0">
            <a:schemeClr val="accent5"/>
          </a:effectRef>
          <a:fontRef idx="minor">
            <a:schemeClr val="tx1"/>
          </a:fontRef>
        </p:style>
      </p:cxnSp>
      <p:sp>
        <p:nvSpPr>
          <p:cNvPr id="26" name="文本框 25"/>
          <p:cNvSpPr txBox="1"/>
          <p:nvPr/>
        </p:nvSpPr>
        <p:spPr>
          <a:xfrm>
            <a:off x="1738490" y="2592563"/>
            <a:ext cx="9691509" cy="3711785"/>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a:solidFill>
                  <a:srgbClr val="0070C0"/>
                </a:solidFill>
                <a:latin typeface="+mn-ea"/>
              </a:rPr>
              <a:t>试制准备状态检查过程：</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为确保试制工作顺利开展，在试制前，试制准备完成后由产品工程师组织品质管理部、制造部、商务部进行试制状态检查（必要时邀请顾客），对检查结果形成的结论，由检查组长（品管）签字确认并归档保存。技术文件的完整性：</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、生产工艺文件、</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部件规格书</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、兼容性列表、</a:t>
            </a:r>
            <a:r>
              <a:rPr lang="en-US" altLang="zh-CN" sz="1200" dirty="0">
                <a:solidFill>
                  <a:schemeClr val="tx1">
                    <a:lumMod val="75000"/>
                    <a:lumOff val="25000"/>
                  </a:schemeClr>
                </a:solidFill>
                <a:latin typeface="+mn-ea"/>
              </a:rPr>
              <a:t>BIOS</a:t>
            </a:r>
            <a:r>
              <a:rPr lang="zh-CN" altLang="en-US" sz="1200" dirty="0">
                <a:solidFill>
                  <a:schemeClr val="tx1">
                    <a:lumMod val="75000"/>
                    <a:lumOff val="25000"/>
                  </a:schemeClr>
                </a:solidFill>
                <a:latin typeface="+mn-ea"/>
              </a:rPr>
              <a:t>及驱动程序、随机资料配置原则等文件是否齐备；</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a:solidFill>
                  <a:srgbClr val="0070C0"/>
                </a:solidFill>
                <a:latin typeface="+mn-ea"/>
              </a:rPr>
              <a:t>检查内容：</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工艺文件的完整性：由产品工程师对</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的符合性进行审核；由制造部技术组对各项工艺指导文件是否到位进行落实；</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新产品物料齐备情况：由产品工程师提供新产品部件清单，商务不负责跟踪物料到货情况，确定物料齐备性；</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生产</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完成情况：由</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工程师在</a:t>
            </a:r>
            <a:r>
              <a:rPr lang="en-US" altLang="zh-CN" sz="1200" dirty="0">
                <a:solidFill>
                  <a:schemeClr val="tx1">
                    <a:lumMod val="75000"/>
                    <a:lumOff val="25000"/>
                  </a:schemeClr>
                </a:solidFill>
                <a:latin typeface="+mn-ea"/>
              </a:rPr>
              <a:t>ERP</a:t>
            </a:r>
            <a:r>
              <a:rPr lang="zh-CN" altLang="en-US" sz="1200" dirty="0">
                <a:solidFill>
                  <a:schemeClr val="tx1">
                    <a:lumMod val="75000"/>
                    <a:lumOff val="25000"/>
                  </a:schemeClr>
                </a:solidFill>
                <a:latin typeface="+mn-ea"/>
              </a:rPr>
              <a:t>系统中完后才能所需物料编码及响应机型</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的维护工作；</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工装、设备等状态；</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关键岗位人员的培训情况；</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首件鉴定标准确认</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a:solidFill>
                  <a:srgbClr val="0070C0"/>
                </a:solidFill>
                <a:latin typeface="+mn-ea"/>
              </a:rPr>
              <a:t>问题处理：</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对于检查中出现的未就绪项，由产品工程师主导推动完成；试制准备状态检查通过后，才能进入试制阶段。对于检查中提出的问题，由检查组长组织协调，限期整改并负责跟踪措施整改结果。</a:t>
            </a:r>
            <a:endParaRPr lang="en-US" altLang="zh-CN" sz="1200" dirty="0">
              <a:solidFill>
                <a:schemeClr val="tx1">
                  <a:lumMod val="75000"/>
                  <a:lumOff val="25000"/>
                </a:schemeClr>
              </a:solidFill>
              <a:latin typeface="+mn-ea"/>
            </a:endParaRPr>
          </a:p>
          <a:p>
            <a:pPr>
              <a:lnSpc>
                <a:spcPct val="120000"/>
              </a:lnSpc>
            </a:pPr>
            <a:endParaRPr lang="en-US" altLang="zh-CN" sz="1200" dirty="0">
              <a:solidFill>
                <a:schemeClr val="tx1">
                  <a:lumMod val="75000"/>
                  <a:lumOff val="25000"/>
                </a:schemeClr>
              </a:solidFill>
              <a:latin typeface="+mn-ea"/>
            </a:endParaRPr>
          </a:p>
          <a:p>
            <a:pPr>
              <a:lnSpc>
                <a:spcPct val="120000"/>
              </a:lnSpc>
            </a:pPr>
            <a:endParaRPr lang="zh-CN" altLang="en-US" sz="1600" dirty="0">
              <a:solidFill>
                <a:schemeClr val="tx1">
                  <a:lumMod val="75000"/>
                  <a:lumOff val="25000"/>
                </a:schemeClr>
              </a:solidFill>
            </a:endParaRPr>
          </a:p>
        </p:txBody>
      </p:sp>
      <p:graphicFrame>
        <p:nvGraphicFramePr>
          <p:cNvPr id="2" name="对象 1"/>
          <p:cNvGraphicFramePr>
            <a:graphicFrameLocks noChangeAspect="1"/>
          </p:cNvGraphicFramePr>
          <p:nvPr/>
        </p:nvGraphicFramePr>
        <p:xfrm>
          <a:off x="11058478" y="5407779"/>
          <a:ext cx="914400" cy="828675"/>
        </p:xfrm>
        <a:graphic>
          <a:graphicData uri="http://schemas.openxmlformats.org/presentationml/2006/ole">
            <mc:AlternateContent xmlns:mc="http://schemas.openxmlformats.org/markup-compatibility/2006">
              <mc:Choice xmlns:v="urn:schemas-microsoft-com:vml" Requires="v">
                <p:oleObj spid="_x0000_s11448" name="Worksheet" showAsIcon="1" r:id="rId4" imgW="914400" imgH="828720" progId="Excel.Sheet.8">
                  <p:embed/>
                </p:oleObj>
              </mc:Choice>
              <mc:Fallback>
                <p:oleObj name="Worksheet" showAsIcon="1" r:id="rId4" imgW="914400" imgH="828720" progId="Excel.Sheet.8">
                  <p:embed/>
                  <p:pic>
                    <p:nvPicPr>
                      <p:cNvPr id="2" name="对象 1"/>
                      <p:cNvPicPr/>
                      <p:nvPr/>
                    </p:nvPicPr>
                    <p:blipFill>
                      <a:blip r:embed="rId5"/>
                      <a:stretch>
                        <a:fillRect/>
                      </a:stretch>
                    </p:blipFill>
                    <p:spPr>
                      <a:xfrm>
                        <a:off x="11058478" y="5407779"/>
                        <a:ext cx="914400" cy="828675"/>
                      </a:xfrm>
                      <a:prstGeom prst="rect">
                        <a:avLst/>
                      </a:prstGeom>
                    </p:spPr>
                  </p:pic>
                </p:oleObj>
              </mc:Fallback>
            </mc:AlternateContent>
          </a:graphicData>
        </a:graphic>
      </p:graphicFrame>
    </p:spTree>
    <p:extLst>
      <p:ext uri="{BB962C8B-B14F-4D97-AF65-F5344CB8AC3E}">
        <p14:creationId xmlns:p14="http://schemas.microsoft.com/office/powerpoint/2010/main" val="141835952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124">
            <a:extLst>
              <a:ext uri="{FF2B5EF4-FFF2-40B4-BE49-F238E27FC236}">
                <a16:creationId xmlns:a16="http://schemas.microsoft.com/office/drawing/2014/main" id="{5A51CC1F-515E-8722-87EB-A6783CD207B5}"/>
              </a:ext>
            </a:extLst>
          </p:cNvPr>
          <p:cNvCxnSpPr>
            <a:endCxn id="2" idx="0"/>
          </p:cNvCxnSpPr>
          <p:nvPr/>
        </p:nvCxnSpPr>
        <p:spPr>
          <a:xfrm flipH="1">
            <a:off x="830171" y="2014571"/>
            <a:ext cx="12415" cy="3191065"/>
          </a:xfrm>
          <a:prstGeom prst="line">
            <a:avLst/>
          </a:prstGeom>
          <a:ln w="38100">
            <a:headEnd type="none"/>
          </a:ln>
        </p:spPr>
        <p:style>
          <a:lnRef idx="1">
            <a:schemeClr val="accent5"/>
          </a:lnRef>
          <a:fillRef idx="0">
            <a:schemeClr val="accent5"/>
          </a:fillRef>
          <a:effectRef idx="0">
            <a:schemeClr val="accent5"/>
          </a:effectRef>
          <a:fontRef idx="minor">
            <a:schemeClr val="tx1"/>
          </a:fontRef>
        </p:style>
      </p:cxnSp>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a:latin typeface="+mn-ea"/>
              </a:rPr>
              <a:t>1.3</a:t>
            </a:r>
            <a:r>
              <a:rPr lang="zh-CN" altLang="en-US" sz="1800" b="1" dirty="0">
                <a:latin typeface="+mn-ea"/>
              </a:rPr>
              <a:t>首件检验</a:t>
            </a:r>
            <a:endParaRPr lang="en-US" altLang="zh-CN" sz="1800" b="1" dirty="0">
              <a:latin typeface="+mn-ea"/>
            </a:endParaRPr>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239697" y="165673"/>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en-US" altLang="zh-CN" sz="3200" dirty="0">
                <a:solidFill>
                  <a:prstClr val="black">
                    <a:lumMod val="65000"/>
                    <a:lumOff val="35000"/>
                  </a:prstClr>
                </a:solidFill>
              </a:rPr>
              <a:t>L10 </a:t>
            </a:r>
            <a:r>
              <a:rPr lang="zh-CN" altLang="en-US" sz="3200" dirty="0">
                <a:solidFill>
                  <a:prstClr val="black">
                    <a:lumMod val="65000"/>
                    <a:lumOff val="35000"/>
                  </a:prstClr>
                </a:solidFill>
              </a:rPr>
              <a:t>首件试制</a:t>
            </a:r>
            <a:r>
              <a:rPr lang="en-US" altLang="zh-CN" sz="3200" dirty="0">
                <a:solidFill>
                  <a:prstClr val="black">
                    <a:lumMod val="65000"/>
                    <a:lumOff val="35000"/>
                  </a:prstClr>
                </a:solidFill>
              </a:rPr>
              <a:t>/</a:t>
            </a:r>
            <a:r>
              <a:rPr lang="zh-CN" altLang="en-US" sz="3200" dirty="0">
                <a:solidFill>
                  <a:prstClr val="black">
                    <a:lumMod val="65000"/>
                    <a:lumOff val="35000"/>
                  </a:prstClr>
                </a:solidFill>
              </a:rPr>
              <a:t>批量试制</a:t>
            </a:r>
          </a:p>
        </p:txBody>
      </p:sp>
      <p:graphicFrame>
        <p:nvGraphicFramePr>
          <p:cNvPr id="5" name="表格 4"/>
          <p:cNvGraphicFramePr>
            <a:graphicFrameLocks noGrp="1"/>
          </p:cNvGraphicFramePr>
          <p:nvPr/>
        </p:nvGraphicFramePr>
        <p:xfrm>
          <a:off x="1359280" y="1550644"/>
          <a:ext cx="10240537" cy="741680"/>
        </p:xfrm>
        <a:graphic>
          <a:graphicData uri="http://schemas.openxmlformats.org/drawingml/2006/table">
            <a:tbl>
              <a:tblPr firstRow="1" bandRow="1">
                <a:tableStyleId>{00A15C55-8517-42AA-B614-E9B94910E393}</a:tableStyleId>
              </a:tblPr>
              <a:tblGrid>
                <a:gridCol w="1031223">
                  <a:extLst>
                    <a:ext uri="{9D8B030D-6E8A-4147-A177-3AD203B41FA5}">
                      <a16:colId xmlns:a16="http://schemas.microsoft.com/office/drawing/2014/main" val="773509366"/>
                    </a:ext>
                  </a:extLst>
                </a:gridCol>
                <a:gridCol w="2612571">
                  <a:extLst>
                    <a:ext uri="{9D8B030D-6E8A-4147-A177-3AD203B41FA5}">
                      <a16:colId xmlns:a16="http://schemas.microsoft.com/office/drawing/2014/main" val="1193865247"/>
                    </a:ext>
                  </a:extLst>
                </a:gridCol>
                <a:gridCol w="1219960">
                  <a:extLst>
                    <a:ext uri="{9D8B030D-6E8A-4147-A177-3AD203B41FA5}">
                      <a16:colId xmlns:a16="http://schemas.microsoft.com/office/drawing/2014/main" val="869367937"/>
                    </a:ext>
                  </a:extLst>
                </a:gridCol>
                <a:gridCol w="3051595">
                  <a:extLst>
                    <a:ext uri="{9D8B030D-6E8A-4147-A177-3AD203B41FA5}">
                      <a16:colId xmlns:a16="http://schemas.microsoft.com/office/drawing/2014/main" val="99857605"/>
                    </a:ext>
                  </a:extLst>
                </a:gridCol>
                <a:gridCol w="2325188">
                  <a:extLst>
                    <a:ext uri="{9D8B030D-6E8A-4147-A177-3AD203B41FA5}">
                      <a16:colId xmlns:a16="http://schemas.microsoft.com/office/drawing/2014/main" val="1047766596"/>
                    </a:ext>
                  </a:extLst>
                </a:gridCol>
              </a:tblGrid>
              <a:tr h="370840">
                <a:tc>
                  <a:txBody>
                    <a:bodyPr/>
                    <a:lstStyle/>
                    <a:p>
                      <a:r>
                        <a:rPr lang="zh-CN" altLang="en-US" sz="1400" dirty="0"/>
                        <a:t>任务名称</a:t>
                      </a:r>
                      <a:endParaRPr lang="zh-CN" altLang="en-US" sz="1400" dirty="0">
                        <a:latin typeface="+mn-ea"/>
                        <a:ea typeface="+mn-ea"/>
                      </a:endParaRPr>
                    </a:p>
                  </a:txBody>
                  <a:tcPr/>
                </a:tc>
                <a:tc>
                  <a:txBody>
                    <a:bodyPr/>
                    <a:lstStyle/>
                    <a:p>
                      <a:r>
                        <a:rPr lang="zh-CN" altLang="en-US" sz="1400" dirty="0"/>
                        <a:t>启动条件</a:t>
                      </a:r>
                      <a:endParaRPr lang="zh-CN" altLang="en-US" sz="1400" dirty="0">
                        <a:latin typeface="+mn-ea"/>
                        <a:ea typeface="+mn-ea"/>
                      </a:endParaRPr>
                    </a:p>
                  </a:txBody>
                  <a:tcPr/>
                </a:tc>
                <a:tc>
                  <a:txBody>
                    <a:bodyPr/>
                    <a:lstStyle/>
                    <a:p>
                      <a:r>
                        <a:rPr lang="zh-CN" altLang="en-US" sz="1400" dirty="0"/>
                        <a:t>责任人</a:t>
                      </a:r>
                      <a:endParaRPr lang="zh-CN" altLang="en-US" sz="1400" dirty="0">
                        <a:latin typeface="+mn-ea"/>
                        <a:ea typeface="+mn-ea"/>
                      </a:endParaRPr>
                    </a:p>
                  </a:txBody>
                  <a:tcPr/>
                </a:tc>
                <a:tc>
                  <a:txBody>
                    <a:bodyPr/>
                    <a:lstStyle/>
                    <a:p>
                      <a:r>
                        <a:rPr lang="zh-CN" altLang="en-US" sz="1400" dirty="0"/>
                        <a:t>参与人</a:t>
                      </a:r>
                      <a:endParaRPr lang="zh-CN" altLang="en-US" sz="1400" dirty="0">
                        <a:latin typeface="+mn-ea"/>
                        <a:ea typeface="+mn-ea"/>
                      </a:endParaRPr>
                    </a:p>
                  </a:txBody>
                  <a:tcPr/>
                </a:tc>
                <a:tc>
                  <a:txBody>
                    <a:bodyPr/>
                    <a:lstStyle/>
                    <a:p>
                      <a:r>
                        <a:rPr lang="zh-CN" altLang="en-US" sz="1400" dirty="0"/>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a:t>首件检验</a:t>
                      </a:r>
                      <a:endParaRPr lang="zh-CN" altLang="en-US" sz="1400" dirty="0">
                        <a:latin typeface="+mn-ea"/>
                        <a:ea typeface="+mn-ea"/>
                      </a:endParaRPr>
                    </a:p>
                  </a:txBody>
                  <a:tcPr/>
                </a:tc>
                <a:tc>
                  <a:txBody>
                    <a:bodyPr/>
                    <a:lstStyle/>
                    <a:p>
                      <a:r>
                        <a:rPr lang="zh-CN" altLang="en-US" sz="1400" dirty="0"/>
                        <a:t>工艺评审及试制状态检查通过</a:t>
                      </a:r>
                      <a:endParaRPr lang="zh-CN" altLang="en-US" sz="1400" dirty="0">
                        <a:latin typeface="+mn-ea"/>
                        <a:ea typeface="+mn-ea"/>
                      </a:endParaRPr>
                    </a:p>
                  </a:txBody>
                  <a:tcPr/>
                </a:tc>
                <a:tc>
                  <a:txBody>
                    <a:bodyPr/>
                    <a:lstStyle/>
                    <a:p>
                      <a:r>
                        <a:rPr lang="zh-CN" altLang="en-US" sz="1400" dirty="0">
                          <a:solidFill>
                            <a:srgbClr val="0070C0"/>
                          </a:solidFill>
                        </a:rPr>
                        <a:t>制造部</a:t>
                      </a:r>
                      <a:endParaRPr lang="zh-CN" altLang="en-US" sz="1400" dirty="0">
                        <a:solidFill>
                          <a:srgbClr val="0070C0"/>
                        </a:solidFill>
                        <a:latin typeface="+mn-ea"/>
                        <a:ea typeface="+mn-ea"/>
                      </a:endParaRPr>
                    </a:p>
                  </a:txBody>
                  <a:tcPr/>
                </a:tc>
                <a:tc>
                  <a:txBody>
                    <a:bodyPr/>
                    <a:lstStyle/>
                    <a:p>
                      <a:r>
                        <a:rPr lang="zh-CN" altLang="en-US" sz="1400" dirty="0"/>
                        <a:t>产品工程师</a:t>
                      </a:r>
                      <a:endParaRPr lang="zh-CN" altLang="en-US" sz="1400" dirty="0">
                        <a:latin typeface="+mn-ea"/>
                        <a:ea typeface="+mn-ea"/>
                      </a:endParaRPr>
                    </a:p>
                  </a:txBody>
                  <a:tcPr/>
                </a:tc>
                <a:tc>
                  <a:txBody>
                    <a:bodyPr/>
                    <a:lstStyle/>
                    <a:p>
                      <a:r>
                        <a:rPr lang="en-US" altLang="zh-CN" sz="1400" dirty="0">
                          <a:solidFill>
                            <a:srgbClr val="0070C0"/>
                          </a:solidFill>
                        </a:rPr>
                        <a:t>《</a:t>
                      </a:r>
                      <a:r>
                        <a:rPr lang="zh-CN" altLang="en-US" sz="1400" dirty="0">
                          <a:solidFill>
                            <a:srgbClr val="0070C0"/>
                          </a:solidFill>
                        </a:rPr>
                        <a:t>首件检验报告</a:t>
                      </a:r>
                      <a:r>
                        <a:rPr lang="en-US" altLang="zh-CN" sz="1400" dirty="0">
                          <a:solidFill>
                            <a:srgbClr val="0070C0"/>
                          </a:solidFill>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26" name="文本框 25"/>
          <p:cNvSpPr txBox="1"/>
          <p:nvPr/>
        </p:nvSpPr>
        <p:spPr>
          <a:xfrm>
            <a:off x="1359279" y="2529744"/>
            <a:ext cx="10240537" cy="1865126"/>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a:solidFill>
                  <a:srgbClr val="0070C0"/>
                </a:solidFill>
                <a:latin typeface="+mn-ea"/>
              </a:rPr>
              <a:t>首件检验过程：</a:t>
            </a:r>
            <a:endParaRPr lang="en-US" altLang="zh-CN" sz="1200" b="1" dirty="0">
              <a:solidFill>
                <a:srgbClr val="0070C0"/>
              </a:solidFill>
              <a:latin typeface="+mn-ea"/>
            </a:endParaRPr>
          </a:p>
          <a:p>
            <a:pPr marL="171450" indent="-171450">
              <a:lnSpc>
                <a:spcPct val="120000"/>
              </a:lnSpc>
              <a:buFont typeface="Wingdings" panose="05000000000000000000" pitchFamily="2" charset="2"/>
              <a:buChar char="ü"/>
            </a:pPr>
            <a:r>
              <a:rPr lang="zh-CN" altLang="en-US" sz="1200" dirty="0">
                <a:solidFill>
                  <a:schemeClr val="tx1">
                    <a:lumMod val="75000"/>
                    <a:lumOff val="25000"/>
                  </a:schemeClr>
                </a:solidFill>
                <a:latin typeface="+mn-ea"/>
              </a:rPr>
              <a:t>在新品试制前，产品工程师应提供完成的产品</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由制造部产线人员按生产工艺文件和正常产品生产流程进行操作，首先进行首批机器的投产，制造部技术组确认产线操作与生产指导文件的符合性和合理性。完成首台机器装配后，首先由制造部进行检验，检验通过则输出</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首件检验报告</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a:t>
            </a:r>
            <a:endParaRPr lang="en-US" altLang="zh-CN" sz="1200" dirty="0">
              <a:solidFill>
                <a:schemeClr val="tx1">
                  <a:lumMod val="75000"/>
                  <a:lumOff val="25000"/>
                </a:schemeClr>
              </a:solidFill>
              <a:latin typeface="+mn-ea"/>
            </a:endParaRPr>
          </a:p>
          <a:p>
            <a:pPr marL="285750" indent="-285750">
              <a:lnSpc>
                <a:spcPct val="120000"/>
              </a:lnSpc>
              <a:buFont typeface="Wingdings" panose="05000000000000000000" pitchFamily="2" charset="2"/>
              <a:buChar char="u"/>
            </a:pPr>
            <a:r>
              <a:rPr lang="zh-CN" altLang="en-US" sz="1200" b="1" dirty="0">
                <a:solidFill>
                  <a:srgbClr val="0070C0"/>
                </a:solidFill>
                <a:latin typeface="+mn-ea"/>
              </a:rPr>
              <a:t>问题处理：</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若产线操作生产与指导不符，应责令整改或重新培训；</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若发现生产指导不合理，需要启动更改，更改结果需经产品经理确认；</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如问题只需生产指导更改解决，不影响产品试制过程的继续进行及试生产通过与否的结论。</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如有严重问题需研发端解决及解决周期较长，则无法继续进行试制。</a:t>
            </a:r>
            <a:endParaRPr lang="en-US" altLang="zh-CN" sz="1200" dirty="0">
              <a:solidFill>
                <a:schemeClr val="tx1">
                  <a:lumMod val="75000"/>
                  <a:lumOff val="25000"/>
                </a:schemeClr>
              </a:solidFill>
              <a:latin typeface="+mn-ea"/>
            </a:endParaRPr>
          </a:p>
        </p:txBody>
      </p:sp>
      <p:graphicFrame>
        <p:nvGraphicFramePr>
          <p:cNvPr id="7" name="对象 6"/>
          <p:cNvGraphicFramePr>
            <a:graphicFrameLocks noChangeAspect="1"/>
          </p:cNvGraphicFramePr>
          <p:nvPr/>
        </p:nvGraphicFramePr>
        <p:xfrm>
          <a:off x="1929215" y="4726554"/>
          <a:ext cx="914400" cy="828675"/>
        </p:xfrm>
        <a:graphic>
          <a:graphicData uri="http://schemas.openxmlformats.org/presentationml/2006/ole">
            <mc:AlternateContent xmlns:mc="http://schemas.openxmlformats.org/markup-compatibility/2006">
              <mc:Choice xmlns:v="urn:schemas-microsoft-com:vml" Requires="v">
                <p:oleObj spid="_x0000_s12472" name="Document" showAsIcon="1" r:id="rId4" imgW="914400" imgH="828720" progId="Word.Document.8">
                  <p:embed/>
                </p:oleObj>
              </mc:Choice>
              <mc:Fallback>
                <p:oleObj name="Document" showAsIcon="1" r:id="rId4" imgW="914400" imgH="828720" progId="Word.Document.8">
                  <p:embed/>
                  <p:pic>
                    <p:nvPicPr>
                      <p:cNvPr id="7" name="对象 6"/>
                      <p:cNvPicPr/>
                      <p:nvPr/>
                    </p:nvPicPr>
                    <p:blipFill>
                      <a:blip r:embed="rId5"/>
                      <a:stretch>
                        <a:fillRect/>
                      </a:stretch>
                    </p:blipFill>
                    <p:spPr>
                      <a:xfrm>
                        <a:off x="1929215" y="4726554"/>
                        <a:ext cx="914400" cy="828675"/>
                      </a:xfrm>
                      <a:prstGeom prst="rect">
                        <a:avLst/>
                      </a:prstGeom>
                    </p:spPr>
                  </p:pic>
                </p:oleObj>
              </mc:Fallback>
            </mc:AlternateContent>
          </a:graphicData>
        </a:graphic>
      </p:graphicFrame>
      <p:grpSp>
        <p:nvGrpSpPr>
          <p:cNvPr id="18" name="组合 17">
            <a:extLst>
              <a:ext uri="{FF2B5EF4-FFF2-40B4-BE49-F238E27FC236}">
                <a16:creationId xmlns:a16="http://schemas.microsoft.com/office/drawing/2014/main" id="{71B3BFB3-34A6-AACE-0C81-DC4DFF1ECE87}"/>
              </a:ext>
            </a:extLst>
          </p:cNvPr>
          <p:cNvGrpSpPr/>
          <p:nvPr/>
        </p:nvGrpSpPr>
        <p:grpSpPr>
          <a:xfrm>
            <a:off x="163653" y="1552339"/>
            <a:ext cx="2016614" cy="4356512"/>
            <a:chOff x="163653" y="1552339"/>
            <a:chExt cx="2016614" cy="4356512"/>
          </a:xfrm>
        </p:grpSpPr>
        <p:sp>
          <p:nvSpPr>
            <p:cNvPr id="11" name="Oval 147">
              <a:extLst>
                <a:ext uri="{FF2B5EF4-FFF2-40B4-BE49-F238E27FC236}">
                  <a16:creationId xmlns:a16="http://schemas.microsoft.com/office/drawing/2014/main" id="{2BE4F84A-4B82-6659-E135-2AEA707A757A}"/>
                </a:ext>
              </a:extLst>
            </p:cNvPr>
            <p:cNvSpPr/>
            <p:nvPr/>
          </p:nvSpPr>
          <p:spPr>
            <a:xfrm>
              <a:off x="615578" y="1552339"/>
              <a:ext cx="467663" cy="467665"/>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a:endParaRPr dirty="0">
                <a:solidFill>
                  <a:srgbClr val="3333CC"/>
                </a:solidFill>
              </a:endParaRPr>
            </a:p>
          </p:txBody>
        </p:sp>
        <p:sp>
          <p:nvSpPr>
            <p:cNvPr id="2" name="Oval 104">
              <a:extLst>
                <a:ext uri="{FF2B5EF4-FFF2-40B4-BE49-F238E27FC236}">
                  <a16:creationId xmlns:a16="http://schemas.microsoft.com/office/drawing/2014/main" id="{9C8F898E-358D-6BC4-2F1B-23ADF159A0CD}"/>
                </a:ext>
              </a:extLst>
            </p:cNvPr>
            <p:cNvSpPr/>
            <p:nvPr/>
          </p:nvSpPr>
          <p:spPr>
            <a:xfrm>
              <a:off x="596339" y="5205636"/>
              <a:ext cx="467663" cy="467665"/>
            </a:xfrm>
            <a:prstGeom prst="ellipse">
              <a:avLst/>
            </a:prstGeom>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wrap="none" anchor="ctr">
              <a:normAutofit fontScale="92500" lnSpcReduction="10000"/>
            </a:bodyPr>
            <a:lstStyle/>
            <a:p>
              <a:pPr algn="ctr"/>
              <a:r>
                <a:rPr lang="en-US" b="1" dirty="0"/>
                <a:t>0</a:t>
              </a:r>
              <a:r>
                <a:rPr lang="en-US" altLang="zh-CN" b="1" dirty="0"/>
                <a:t>4</a:t>
              </a:r>
              <a:endParaRPr lang="en-US" b="1" dirty="0"/>
            </a:p>
          </p:txBody>
        </p:sp>
        <p:sp>
          <p:nvSpPr>
            <p:cNvPr id="6" name="Arc 125">
              <a:extLst>
                <a:ext uri="{FF2B5EF4-FFF2-40B4-BE49-F238E27FC236}">
                  <a16:creationId xmlns:a16="http://schemas.microsoft.com/office/drawing/2014/main" id="{4B98A5D9-5761-B513-BA96-0D97408151A1}"/>
                </a:ext>
              </a:extLst>
            </p:cNvPr>
            <p:cNvSpPr/>
            <p:nvPr/>
          </p:nvSpPr>
          <p:spPr>
            <a:xfrm rot="5400000" flipV="1">
              <a:off x="1374989" y="5103572"/>
              <a:ext cx="1083950" cy="526607"/>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8" name="Straight Connector 126">
              <a:extLst>
                <a:ext uri="{FF2B5EF4-FFF2-40B4-BE49-F238E27FC236}">
                  <a16:creationId xmlns:a16="http://schemas.microsoft.com/office/drawing/2014/main" id="{B1412CA1-4FAF-2CEC-3BAE-581C65C16C2E}"/>
                </a:ext>
              </a:extLst>
            </p:cNvPr>
            <p:cNvCxnSpPr/>
            <p:nvPr/>
          </p:nvCxnSpPr>
          <p:spPr>
            <a:xfrm>
              <a:off x="1076364" y="5367686"/>
              <a:ext cx="584174" cy="65"/>
            </a:xfrm>
            <a:prstGeom prst="line">
              <a:avLst/>
            </a:prstGeom>
            <a:ln w="38100"/>
          </p:spPr>
          <p:style>
            <a:lnRef idx="1">
              <a:schemeClr val="accent5"/>
            </a:lnRef>
            <a:fillRef idx="0">
              <a:schemeClr val="accent5"/>
            </a:fillRef>
            <a:effectRef idx="0">
              <a:schemeClr val="accent5"/>
            </a:effectRef>
            <a:fontRef idx="minor">
              <a:schemeClr val="tx1"/>
            </a:fontRef>
          </p:style>
        </p:cxnSp>
        <p:sp>
          <p:nvSpPr>
            <p:cNvPr id="12" name="Arc 114">
              <a:extLst>
                <a:ext uri="{FF2B5EF4-FFF2-40B4-BE49-F238E27FC236}">
                  <a16:creationId xmlns:a16="http://schemas.microsoft.com/office/drawing/2014/main" id="{4EE4784E-B145-E128-5F41-EA0FBF2ECD88}"/>
                </a:ext>
              </a:extLst>
            </p:cNvPr>
            <p:cNvSpPr/>
            <p:nvPr/>
          </p:nvSpPr>
          <p:spPr>
            <a:xfrm rot="5400000" flipV="1">
              <a:off x="534345" y="5207629"/>
              <a:ext cx="616481" cy="612495"/>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13" name="Straight Connector 115">
              <a:extLst>
                <a:ext uri="{FF2B5EF4-FFF2-40B4-BE49-F238E27FC236}">
                  <a16:creationId xmlns:a16="http://schemas.microsoft.com/office/drawing/2014/main" id="{1EC1D8AC-629B-0011-7BF5-9E58A6DC09CB}"/>
                </a:ext>
              </a:extLst>
            </p:cNvPr>
            <p:cNvCxnSpPr/>
            <p:nvPr/>
          </p:nvCxnSpPr>
          <p:spPr>
            <a:xfrm flipV="1">
              <a:off x="163653" y="5532378"/>
              <a:ext cx="401492" cy="1821"/>
            </a:xfrm>
            <a:prstGeom prst="line">
              <a:avLst/>
            </a:prstGeom>
            <a:ln w="38100">
              <a:headEnd type="oval"/>
            </a:ln>
          </p:spPr>
          <p:style>
            <a:lnRef idx="1">
              <a:schemeClr val="accent5"/>
            </a:lnRef>
            <a:fillRef idx="0">
              <a:schemeClr val="accent5"/>
            </a:fillRef>
            <a:effectRef idx="0">
              <a:schemeClr val="accent5"/>
            </a:effectRef>
            <a:fontRef idx="minor">
              <a:schemeClr val="tx1"/>
            </a:fontRef>
          </p:style>
        </p:cxnSp>
        <p:sp>
          <p:nvSpPr>
            <p:cNvPr id="17" name="Freeform: Shape 148">
              <a:extLst>
                <a:ext uri="{FF2B5EF4-FFF2-40B4-BE49-F238E27FC236}">
                  <a16:creationId xmlns:a16="http://schemas.microsoft.com/office/drawing/2014/main" id="{BB6F94C2-D311-B611-E142-9E5512103F53}"/>
                </a:ext>
              </a:extLst>
            </p:cNvPr>
            <p:cNvSpPr>
              <a:spLocks/>
            </p:cNvSpPr>
            <p:nvPr/>
          </p:nvSpPr>
          <p:spPr bwMode="auto">
            <a:xfrm>
              <a:off x="701355" y="1646569"/>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ln>
              <a:headEnd/>
              <a:tailEnd/>
            </a:ln>
          </p:spPr>
          <p:style>
            <a:lnRef idx="2">
              <a:schemeClr val="accent5"/>
            </a:lnRef>
            <a:fillRef idx="1">
              <a:schemeClr val="lt1"/>
            </a:fillRef>
            <a:effectRef idx="0">
              <a:schemeClr val="accent5"/>
            </a:effectRef>
            <a:fontRef idx="minor">
              <a:schemeClr val="dk1"/>
            </a:fontRef>
          </p:style>
          <p:txBody>
            <a:bodyPr anchor="ctr"/>
            <a:lstStyle/>
            <a:p>
              <a:pPr algn="ctr"/>
              <a:endParaRPr>
                <a:solidFill>
                  <a:srgbClr val="3333CC"/>
                </a:solidFill>
              </a:endParaRPr>
            </a:p>
          </p:txBody>
        </p:sp>
      </p:grpSp>
    </p:spTree>
    <p:extLst>
      <p:ext uri="{BB962C8B-B14F-4D97-AF65-F5344CB8AC3E}">
        <p14:creationId xmlns:p14="http://schemas.microsoft.com/office/powerpoint/2010/main" val="49391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a:latin typeface="+mn-ea"/>
              </a:rPr>
              <a:t>1.4</a:t>
            </a:r>
            <a:r>
              <a:rPr lang="zh-CN" altLang="en-US" sz="1800" b="1" dirty="0">
                <a:latin typeface="+mn-ea"/>
              </a:rPr>
              <a:t>首件鉴定</a:t>
            </a:r>
            <a:endParaRPr lang="en-US" altLang="zh-CN" sz="1800" b="1" dirty="0">
              <a:latin typeface="+mn-ea"/>
            </a:endParaRPr>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247650" y="165673"/>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en-US" altLang="zh-CN" sz="3200" dirty="0">
                <a:solidFill>
                  <a:prstClr val="black">
                    <a:lumMod val="65000"/>
                    <a:lumOff val="35000"/>
                  </a:prstClr>
                </a:solidFill>
              </a:rPr>
              <a:t>L10 </a:t>
            </a:r>
            <a:r>
              <a:rPr lang="zh-CN" altLang="en-US" sz="3200" dirty="0">
                <a:solidFill>
                  <a:prstClr val="black">
                    <a:lumMod val="65000"/>
                    <a:lumOff val="35000"/>
                  </a:prstClr>
                </a:solidFill>
              </a:rPr>
              <a:t>首件试制</a:t>
            </a:r>
            <a:r>
              <a:rPr lang="en-US" altLang="zh-CN" sz="3200" dirty="0">
                <a:solidFill>
                  <a:prstClr val="black">
                    <a:lumMod val="65000"/>
                    <a:lumOff val="35000"/>
                  </a:prstClr>
                </a:solidFill>
              </a:rPr>
              <a:t>/</a:t>
            </a:r>
            <a:r>
              <a:rPr lang="zh-CN" altLang="en-US" sz="3200" dirty="0">
                <a:solidFill>
                  <a:prstClr val="black">
                    <a:lumMod val="65000"/>
                    <a:lumOff val="35000"/>
                  </a:prstClr>
                </a:solidFill>
              </a:rPr>
              <a:t>批量试制</a:t>
            </a:r>
          </a:p>
        </p:txBody>
      </p:sp>
      <p:graphicFrame>
        <p:nvGraphicFramePr>
          <p:cNvPr id="5" name="表格 4"/>
          <p:cNvGraphicFramePr>
            <a:graphicFrameLocks noGrp="1"/>
          </p:cNvGraphicFramePr>
          <p:nvPr/>
        </p:nvGraphicFramePr>
        <p:xfrm>
          <a:off x="1364245" y="1451246"/>
          <a:ext cx="10447251" cy="889000"/>
        </p:xfrm>
        <a:graphic>
          <a:graphicData uri="http://schemas.openxmlformats.org/drawingml/2006/table">
            <a:tbl>
              <a:tblPr firstRow="1" bandRow="1">
                <a:tableStyleId>{00A15C55-8517-42AA-B614-E9B94910E393}</a:tableStyleId>
              </a:tblPr>
              <a:tblGrid>
                <a:gridCol w="1052039">
                  <a:extLst>
                    <a:ext uri="{9D8B030D-6E8A-4147-A177-3AD203B41FA5}">
                      <a16:colId xmlns:a16="http://schemas.microsoft.com/office/drawing/2014/main" val="773509366"/>
                    </a:ext>
                  </a:extLst>
                </a:gridCol>
                <a:gridCol w="2665308">
                  <a:extLst>
                    <a:ext uri="{9D8B030D-6E8A-4147-A177-3AD203B41FA5}">
                      <a16:colId xmlns:a16="http://schemas.microsoft.com/office/drawing/2014/main" val="1193865247"/>
                    </a:ext>
                  </a:extLst>
                </a:gridCol>
                <a:gridCol w="1244586">
                  <a:extLst>
                    <a:ext uri="{9D8B030D-6E8A-4147-A177-3AD203B41FA5}">
                      <a16:colId xmlns:a16="http://schemas.microsoft.com/office/drawing/2014/main" val="869367937"/>
                    </a:ext>
                  </a:extLst>
                </a:gridCol>
                <a:gridCol w="3113194">
                  <a:extLst>
                    <a:ext uri="{9D8B030D-6E8A-4147-A177-3AD203B41FA5}">
                      <a16:colId xmlns:a16="http://schemas.microsoft.com/office/drawing/2014/main" val="99857605"/>
                    </a:ext>
                  </a:extLst>
                </a:gridCol>
                <a:gridCol w="2372124">
                  <a:extLst>
                    <a:ext uri="{9D8B030D-6E8A-4147-A177-3AD203B41FA5}">
                      <a16:colId xmlns:a16="http://schemas.microsoft.com/office/drawing/2014/main" val="1047766596"/>
                    </a:ext>
                  </a:extLst>
                </a:gridCol>
              </a:tblGrid>
              <a:tr h="370840">
                <a:tc>
                  <a:txBody>
                    <a:bodyPr/>
                    <a:lstStyle/>
                    <a:p>
                      <a:r>
                        <a:rPr lang="zh-CN" altLang="en-US" sz="1400" dirty="0"/>
                        <a:t>任务名称</a:t>
                      </a:r>
                      <a:endParaRPr lang="zh-CN" altLang="en-US" sz="1400" dirty="0">
                        <a:latin typeface="+mn-ea"/>
                        <a:ea typeface="+mn-ea"/>
                      </a:endParaRPr>
                    </a:p>
                  </a:txBody>
                  <a:tcPr/>
                </a:tc>
                <a:tc>
                  <a:txBody>
                    <a:bodyPr/>
                    <a:lstStyle/>
                    <a:p>
                      <a:r>
                        <a:rPr lang="zh-CN" altLang="en-US" sz="1400" dirty="0"/>
                        <a:t>启动条件</a:t>
                      </a:r>
                      <a:endParaRPr lang="zh-CN" altLang="en-US" sz="1400" dirty="0">
                        <a:latin typeface="+mn-ea"/>
                        <a:ea typeface="+mn-ea"/>
                      </a:endParaRPr>
                    </a:p>
                  </a:txBody>
                  <a:tcPr/>
                </a:tc>
                <a:tc>
                  <a:txBody>
                    <a:bodyPr/>
                    <a:lstStyle/>
                    <a:p>
                      <a:r>
                        <a:rPr lang="zh-CN" altLang="en-US" sz="1400" dirty="0"/>
                        <a:t>责任人</a:t>
                      </a:r>
                      <a:endParaRPr lang="zh-CN" altLang="en-US" sz="1400" dirty="0">
                        <a:latin typeface="+mn-ea"/>
                        <a:ea typeface="+mn-ea"/>
                      </a:endParaRPr>
                    </a:p>
                  </a:txBody>
                  <a:tcPr/>
                </a:tc>
                <a:tc>
                  <a:txBody>
                    <a:bodyPr/>
                    <a:lstStyle/>
                    <a:p>
                      <a:r>
                        <a:rPr lang="zh-CN" altLang="en-US" sz="1400" dirty="0"/>
                        <a:t>参与人</a:t>
                      </a:r>
                      <a:endParaRPr lang="zh-CN" altLang="en-US" sz="1400" dirty="0">
                        <a:latin typeface="+mn-ea"/>
                        <a:ea typeface="+mn-ea"/>
                      </a:endParaRPr>
                    </a:p>
                  </a:txBody>
                  <a:tcPr/>
                </a:tc>
                <a:tc>
                  <a:txBody>
                    <a:bodyPr/>
                    <a:lstStyle/>
                    <a:p>
                      <a:r>
                        <a:rPr lang="zh-CN" altLang="en-US" sz="1400" dirty="0"/>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a:t>首件鉴定</a:t>
                      </a:r>
                      <a:endParaRPr lang="zh-CN" altLang="en-US" sz="1400" dirty="0">
                        <a:latin typeface="+mn-ea"/>
                        <a:ea typeface="+mn-ea"/>
                      </a:endParaRPr>
                    </a:p>
                  </a:txBody>
                  <a:tcPr/>
                </a:tc>
                <a:tc>
                  <a:txBody>
                    <a:bodyPr/>
                    <a:lstStyle/>
                    <a:p>
                      <a:r>
                        <a:rPr lang="en-US" altLang="zh-CN" sz="1400" dirty="0">
                          <a:solidFill>
                            <a:schemeClr val="tx1"/>
                          </a:solidFill>
                        </a:rPr>
                        <a:t>《</a:t>
                      </a:r>
                      <a:r>
                        <a:rPr lang="zh-CN" altLang="en-US" sz="1400" dirty="0">
                          <a:solidFill>
                            <a:schemeClr val="tx1"/>
                          </a:solidFill>
                        </a:rPr>
                        <a:t>首件检验报告</a:t>
                      </a:r>
                      <a:r>
                        <a:rPr lang="en-US" altLang="zh-CN" sz="1400" dirty="0">
                          <a:solidFill>
                            <a:schemeClr val="tx1"/>
                          </a:solidFill>
                        </a:rPr>
                        <a:t>》</a:t>
                      </a:r>
                      <a:r>
                        <a:rPr lang="zh-CN" altLang="en-US" sz="1400" dirty="0">
                          <a:solidFill>
                            <a:schemeClr val="tx1"/>
                          </a:solidFill>
                        </a:rPr>
                        <a:t>输出后</a:t>
                      </a:r>
                      <a:endParaRPr lang="zh-CN" altLang="en-US" sz="1400" dirty="0">
                        <a:solidFill>
                          <a:schemeClr val="tx1"/>
                        </a:solidFill>
                        <a:latin typeface="+mn-ea"/>
                        <a:ea typeface="+mn-ea"/>
                      </a:endParaRPr>
                    </a:p>
                  </a:txBody>
                  <a:tcPr/>
                </a:tc>
                <a:tc>
                  <a:txBody>
                    <a:bodyPr/>
                    <a:lstStyle/>
                    <a:p>
                      <a:r>
                        <a:rPr lang="zh-CN" altLang="en-US" sz="1400" dirty="0">
                          <a:solidFill>
                            <a:srgbClr val="0070C0"/>
                          </a:solidFill>
                        </a:rPr>
                        <a:t>品质管理部</a:t>
                      </a:r>
                      <a:endParaRPr lang="zh-CN" altLang="en-US" sz="1400" dirty="0">
                        <a:solidFill>
                          <a:srgbClr val="0070C0"/>
                        </a:solidFill>
                        <a:latin typeface="+mn-ea"/>
                        <a:ea typeface="+mn-ea"/>
                      </a:endParaRPr>
                    </a:p>
                  </a:txBody>
                  <a:tcPr/>
                </a:tc>
                <a:tc>
                  <a:txBody>
                    <a:bodyPr/>
                    <a:lstStyle/>
                    <a:p>
                      <a:r>
                        <a:rPr lang="zh-CN" altLang="en-US" sz="1400" dirty="0"/>
                        <a:t>制造部 产品工程师 （顾客要求时需邀请顾客）</a:t>
                      </a:r>
                      <a:endParaRPr lang="zh-CN" altLang="en-US" sz="1400" dirty="0">
                        <a:latin typeface="+mn-ea"/>
                        <a:ea typeface="+mn-ea"/>
                      </a:endParaRPr>
                    </a:p>
                  </a:txBody>
                  <a:tcPr/>
                </a:tc>
                <a:tc>
                  <a:txBody>
                    <a:bodyPr/>
                    <a:lstStyle/>
                    <a:p>
                      <a:r>
                        <a:rPr lang="en-US" altLang="zh-CN" sz="1400" dirty="0">
                          <a:solidFill>
                            <a:srgbClr val="0070C0"/>
                          </a:solidFill>
                        </a:rPr>
                        <a:t>《</a:t>
                      </a:r>
                      <a:r>
                        <a:rPr lang="en-US" altLang="zh-CN" sz="1400" u="none" strike="noStrike" dirty="0">
                          <a:solidFill>
                            <a:srgbClr val="0070C0"/>
                          </a:solidFill>
                          <a:effectLst/>
                        </a:rPr>
                        <a:t>QR-D-H-005-007</a:t>
                      </a:r>
                      <a:r>
                        <a:rPr lang="zh-CN" altLang="en-US" sz="1400" dirty="0">
                          <a:solidFill>
                            <a:srgbClr val="0070C0"/>
                          </a:solidFill>
                        </a:rPr>
                        <a:t>首件鉴定报告</a:t>
                      </a:r>
                      <a:r>
                        <a:rPr lang="en-US" altLang="zh-CN" sz="1400" dirty="0">
                          <a:solidFill>
                            <a:srgbClr val="0070C0"/>
                          </a:solidFill>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26" name="文本框 25"/>
          <p:cNvSpPr txBox="1"/>
          <p:nvPr/>
        </p:nvSpPr>
        <p:spPr>
          <a:xfrm>
            <a:off x="1556695" y="2393767"/>
            <a:ext cx="10254800" cy="3416320"/>
          </a:xfrm>
          <a:prstGeom prst="rect">
            <a:avLst/>
          </a:prstGeom>
          <a:noFill/>
        </p:spPr>
        <p:txBody>
          <a:bodyPr wrap="square" rtlCol="0">
            <a:spAutoFit/>
          </a:bodyPr>
          <a:lstStyle/>
          <a:p>
            <a:pPr marL="171450" indent="-171450">
              <a:lnSpc>
                <a:spcPct val="120000"/>
              </a:lnSpc>
              <a:buFont typeface="Wingdings" panose="05000000000000000000" pitchFamily="2" charset="2"/>
              <a:buChar char="l"/>
            </a:pPr>
            <a:r>
              <a:rPr lang="zh-CN" altLang="en-US" sz="1200" b="1" dirty="0">
                <a:solidFill>
                  <a:srgbClr val="0070C0"/>
                </a:solidFill>
                <a:latin typeface="+mn-ea"/>
              </a:rPr>
              <a:t>主要过程</a:t>
            </a:r>
            <a:endParaRPr lang="en-US" altLang="zh-CN" sz="1200" b="1" dirty="0">
              <a:solidFill>
                <a:srgbClr val="0070C0"/>
              </a:solidFill>
              <a:latin typeface="+mn-ea"/>
            </a:endParaRPr>
          </a:p>
          <a:p>
            <a:pPr marL="171450" indent="-171450">
              <a:lnSpc>
                <a:spcPct val="120000"/>
              </a:lnSpc>
              <a:buFont typeface="Wingdings" panose="05000000000000000000" pitchFamily="2" charset="2"/>
              <a:buChar char="Ø"/>
            </a:pPr>
            <a:r>
              <a:rPr lang="zh-CN" altLang="en-US" sz="1200" dirty="0">
                <a:solidFill>
                  <a:schemeClr val="tx1">
                    <a:lumMod val="75000"/>
                    <a:lumOff val="25000"/>
                  </a:schemeClr>
                </a:solidFill>
                <a:latin typeface="+mn-ea"/>
              </a:rPr>
              <a:t>制造部完成首台机器装配后，首先由制造部进行检验，检验通过并且形成</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首件检验报告</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后，应由品质管理部主导进行首件鉴定。</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Ø"/>
            </a:pPr>
            <a:r>
              <a:rPr lang="zh-CN" altLang="en-US" sz="1200" dirty="0">
                <a:solidFill>
                  <a:schemeClr val="tx1">
                    <a:lumMod val="75000"/>
                    <a:lumOff val="25000"/>
                  </a:schemeClr>
                </a:solidFill>
                <a:latin typeface="+mn-ea"/>
              </a:rPr>
              <a:t>首件鉴定工作遵循品质管理部首件鉴定的要求执行。首件鉴定通过并且形成</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首件鉴定报告</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后，如无遗留问题，即认为生产鉴定完成，</a:t>
            </a:r>
            <a:r>
              <a:rPr lang="zh-CN" altLang="en-US" sz="1200" dirty="0">
                <a:solidFill>
                  <a:srgbClr val="FF0000"/>
                </a:solidFill>
                <a:latin typeface="+mn-ea"/>
              </a:rPr>
              <a:t>生产鉴定后的各类工艺、工装一般情况下不应更改</a:t>
            </a:r>
            <a:r>
              <a:rPr lang="zh-CN" altLang="en-US" sz="1200" dirty="0">
                <a:solidFill>
                  <a:schemeClr val="tx1">
                    <a:lumMod val="75000"/>
                    <a:lumOff val="25000"/>
                  </a:schemeClr>
                </a:solidFill>
                <a:latin typeface="+mn-ea"/>
              </a:rPr>
              <a:t>，若确定更改，则应该对更改内容进行验证和评审，并征得顾客的同意。</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l"/>
            </a:pPr>
            <a:r>
              <a:rPr lang="zh-CN" altLang="en-US" sz="1200" b="1" dirty="0">
                <a:solidFill>
                  <a:srgbClr val="0070C0"/>
                </a:solidFill>
                <a:latin typeface="+mn-ea"/>
              </a:rPr>
              <a:t>主要内容：</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首件产品与设计要求的符合性；</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设计文件（生产指导文件、</a:t>
            </a:r>
            <a:r>
              <a:rPr lang="en-US" altLang="zh-CN" sz="1200" dirty="0">
                <a:solidFill>
                  <a:schemeClr val="tx1">
                    <a:lumMod val="75000"/>
                    <a:lumOff val="25000"/>
                  </a:schemeClr>
                </a:solidFill>
                <a:latin typeface="+mn-ea"/>
              </a:rPr>
              <a:t>BOM</a:t>
            </a:r>
            <a:r>
              <a:rPr lang="zh-CN" altLang="en-US" sz="1200" dirty="0">
                <a:solidFill>
                  <a:schemeClr val="tx1">
                    <a:lumMod val="75000"/>
                    <a:lumOff val="25000"/>
                  </a:schemeClr>
                </a:solidFill>
                <a:latin typeface="+mn-ea"/>
              </a:rPr>
              <a:t>等）的有效性；</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加工设备、检验设备具有有效性、准确性；</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操作人员和检验技术水平；</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质量原始记录完整性。</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l"/>
            </a:pPr>
            <a:r>
              <a:rPr lang="zh-CN" altLang="en-US" sz="1200" b="1" dirty="0">
                <a:solidFill>
                  <a:srgbClr val="0070C0"/>
                </a:solidFill>
                <a:latin typeface="+mn-ea"/>
              </a:rPr>
              <a:t>问题处理：</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首件鉴定未通过时，由产品工程师主导与制造部、品管部应对存在的问题进行分析，形成纠正措施，重新指导首件并再次进行首件鉴定。</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试制过程中出现的问题，如由</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引起的，应责事业部产品工程师限期整改，整改完成后方可通过。短时间内无法提供解决方案的，本次试制结论为“不通过”。</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如由生产工艺引起，由制造部进行整改，整改结果需由产品工程师确认。</a:t>
            </a:r>
            <a:endParaRPr lang="en-US" altLang="zh-CN" sz="1200" dirty="0">
              <a:solidFill>
                <a:schemeClr val="tx1">
                  <a:lumMod val="75000"/>
                  <a:lumOff val="25000"/>
                </a:schemeClr>
              </a:solidFill>
              <a:latin typeface="+mn-ea"/>
            </a:endParaRPr>
          </a:p>
        </p:txBody>
      </p:sp>
      <p:graphicFrame>
        <p:nvGraphicFramePr>
          <p:cNvPr id="2" name="对象 1"/>
          <p:cNvGraphicFramePr>
            <a:graphicFrameLocks noChangeAspect="1"/>
          </p:cNvGraphicFramePr>
          <p:nvPr/>
        </p:nvGraphicFramePr>
        <p:xfrm>
          <a:off x="10536543" y="3535903"/>
          <a:ext cx="914400" cy="828675"/>
        </p:xfrm>
        <a:graphic>
          <a:graphicData uri="http://schemas.openxmlformats.org/presentationml/2006/ole">
            <mc:AlternateContent xmlns:mc="http://schemas.openxmlformats.org/markup-compatibility/2006">
              <mc:Choice xmlns:v="urn:schemas-microsoft-com:vml" Requires="v">
                <p:oleObj spid="_x0000_s13496" name="文档" showAsIcon="1" r:id="rId4" imgW="914400" imgH="828720" progId="Word.Document.12">
                  <p:embed/>
                </p:oleObj>
              </mc:Choice>
              <mc:Fallback>
                <p:oleObj name="文档" showAsIcon="1" r:id="rId4" imgW="914400" imgH="828720" progId="Word.Document.12">
                  <p:embed/>
                  <p:pic>
                    <p:nvPicPr>
                      <p:cNvPr id="2" name="对象 1"/>
                      <p:cNvPicPr/>
                      <p:nvPr/>
                    </p:nvPicPr>
                    <p:blipFill>
                      <a:blip r:embed="rId5"/>
                      <a:stretch>
                        <a:fillRect/>
                      </a:stretch>
                    </p:blipFill>
                    <p:spPr>
                      <a:xfrm>
                        <a:off x="10536543" y="3535903"/>
                        <a:ext cx="914400" cy="828675"/>
                      </a:xfrm>
                      <a:prstGeom prst="rect">
                        <a:avLst/>
                      </a:prstGeom>
                    </p:spPr>
                  </p:pic>
                </p:oleObj>
              </mc:Fallback>
            </mc:AlternateContent>
          </a:graphicData>
        </a:graphic>
      </p:graphicFrame>
      <p:sp>
        <p:nvSpPr>
          <p:cNvPr id="6" name="椭圆 5"/>
          <p:cNvSpPr/>
          <p:nvPr/>
        </p:nvSpPr>
        <p:spPr>
          <a:xfrm>
            <a:off x="7148429" y="3402170"/>
            <a:ext cx="2988527" cy="913434"/>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文本框 6"/>
          <p:cNvSpPr txBox="1"/>
          <p:nvPr/>
        </p:nvSpPr>
        <p:spPr>
          <a:xfrm>
            <a:off x="7564740" y="3576942"/>
            <a:ext cx="2155903" cy="535531"/>
          </a:xfrm>
          <a:prstGeom prst="rect">
            <a:avLst/>
          </a:prstGeom>
          <a:noFill/>
        </p:spPr>
        <p:txBody>
          <a:bodyPr wrap="square" rtlCol="0">
            <a:spAutoFit/>
          </a:bodyPr>
          <a:lstStyle/>
          <a:p>
            <a:pPr>
              <a:lnSpc>
                <a:spcPct val="120000"/>
              </a:lnSpc>
            </a:pPr>
            <a:r>
              <a:rPr lang="zh-CN" altLang="en-US" sz="1200" b="1" dirty="0">
                <a:solidFill>
                  <a:schemeClr val="bg1"/>
                </a:solidFill>
              </a:rPr>
              <a:t>首件鉴定是鉴定的整个生产过程，包含老化测试</a:t>
            </a:r>
          </a:p>
        </p:txBody>
      </p:sp>
      <p:sp>
        <p:nvSpPr>
          <p:cNvPr id="8" name="椭圆 7"/>
          <p:cNvSpPr/>
          <p:nvPr/>
        </p:nvSpPr>
        <p:spPr>
          <a:xfrm>
            <a:off x="7348654" y="4315604"/>
            <a:ext cx="780585" cy="16718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椭圆 8"/>
          <p:cNvSpPr/>
          <p:nvPr/>
        </p:nvSpPr>
        <p:spPr>
          <a:xfrm>
            <a:off x="7270595" y="4594302"/>
            <a:ext cx="294145" cy="6690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9" name="Oval 147">
            <a:extLst>
              <a:ext uri="{FF2B5EF4-FFF2-40B4-BE49-F238E27FC236}">
                <a16:creationId xmlns:a16="http://schemas.microsoft.com/office/drawing/2014/main" id="{E9D14FD7-C6D1-F2F7-8D59-3B2E6D269FA5}"/>
              </a:ext>
            </a:extLst>
          </p:cNvPr>
          <p:cNvSpPr/>
          <p:nvPr/>
        </p:nvSpPr>
        <p:spPr>
          <a:xfrm>
            <a:off x="615578" y="1552339"/>
            <a:ext cx="467663" cy="467665"/>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a:endParaRPr dirty="0">
              <a:solidFill>
                <a:srgbClr val="3333CC"/>
              </a:solidFill>
            </a:endParaRPr>
          </a:p>
        </p:txBody>
      </p:sp>
      <p:sp>
        <p:nvSpPr>
          <p:cNvPr id="20" name="Oval 104">
            <a:extLst>
              <a:ext uri="{FF2B5EF4-FFF2-40B4-BE49-F238E27FC236}">
                <a16:creationId xmlns:a16="http://schemas.microsoft.com/office/drawing/2014/main" id="{29BAD2DA-C9B8-A5FA-E01C-1A461AD8F7AE}"/>
              </a:ext>
            </a:extLst>
          </p:cNvPr>
          <p:cNvSpPr/>
          <p:nvPr/>
        </p:nvSpPr>
        <p:spPr>
          <a:xfrm>
            <a:off x="596339" y="5205636"/>
            <a:ext cx="467663" cy="467665"/>
          </a:xfrm>
          <a:prstGeom prst="ellipse">
            <a:avLst/>
          </a:prstGeom>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wrap="none" anchor="ctr">
            <a:normAutofit fontScale="92500" lnSpcReduction="10000"/>
          </a:bodyPr>
          <a:lstStyle/>
          <a:p>
            <a:pPr algn="ctr"/>
            <a:r>
              <a:rPr lang="en-US" b="1" dirty="0"/>
              <a:t>05</a:t>
            </a:r>
          </a:p>
        </p:txBody>
      </p:sp>
      <p:sp>
        <p:nvSpPr>
          <p:cNvPr id="21" name="Arc 125">
            <a:extLst>
              <a:ext uri="{FF2B5EF4-FFF2-40B4-BE49-F238E27FC236}">
                <a16:creationId xmlns:a16="http://schemas.microsoft.com/office/drawing/2014/main" id="{17775BDF-A89F-D921-F079-1E2F3E51363B}"/>
              </a:ext>
            </a:extLst>
          </p:cNvPr>
          <p:cNvSpPr/>
          <p:nvPr/>
        </p:nvSpPr>
        <p:spPr>
          <a:xfrm rot="5400000" flipV="1">
            <a:off x="1374989" y="5103572"/>
            <a:ext cx="1083950" cy="526607"/>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22" name="Straight Connector 126">
            <a:extLst>
              <a:ext uri="{FF2B5EF4-FFF2-40B4-BE49-F238E27FC236}">
                <a16:creationId xmlns:a16="http://schemas.microsoft.com/office/drawing/2014/main" id="{C479A4AE-29AE-F4D2-2948-19526BAF8868}"/>
              </a:ext>
            </a:extLst>
          </p:cNvPr>
          <p:cNvCxnSpPr/>
          <p:nvPr/>
        </p:nvCxnSpPr>
        <p:spPr>
          <a:xfrm>
            <a:off x="1076364" y="5367686"/>
            <a:ext cx="584174" cy="65"/>
          </a:xfrm>
          <a:prstGeom prst="line">
            <a:avLst/>
          </a:prstGeom>
          <a:ln w="38100"/>
        </p:spPr>
        <p:style>
          <a:lnRef idx="1">
            <a:schemeClr val="accent5"/>
          </a:lnRef>
          <a:fillRef idx="0">
            <a:schemeClr val="accent5"/>
          </a:fillRef>
          <a:effectRef idx="0">
            <a:schemeClr val="accent5"/>
          </a:effectRef>
          <a:fontRef idx="minor">
            <a:schemeClr val="tx1"/>
          </a:fontRef>
        </p:style>
      </p:cxnSp>
      <p:sp>
        <p:nvSpPr>
          <p:cNvPr id="23" name="Arc 114">
            <a:extLst>
              <a:ext uri="{FF2B5EF4-FFF2-40B4-BE49-F238E27FC236}">
                <a16:creationId xmlns:a16="http://schemas.microsoft.com/office/drawing/2014/main" id="{0A820045-B115-356B-4476-7A95A0F39023}"/>
              </a:ext>
            </a:extLst>
          </p:cNvPr>
          <p:cNvSpPr/>
          <p:nvPr/>
        </p:nvSpPr>
        <p:spPr>
          <a:xfrm rot="5400000" flipV="1">
            <a:off x="516770" y="5195599"/>
            <a:ext cx="616481" cy="612495"/>
          </a:xfrm>
          <a:prstGeom prst="arc">
            <a:avLst>
              <a:gd name="adj1" fmla="val 16378432"/>
              <a:gd name="adj2" fmla="val 0"/>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24" name="Straight Connector 115">
            <a:extLst>
              <a:ext uri="{FF2B5EF4-FFF2-40B4-BE49-F238E27FC236}">
                <a16:creationId xmlns:a16="http://schemas.microsoft.com/office/drawing/2014/main" id="{5028561A-EAAC-B621-6D0A-540E0A8A1D7D}"/>
              </a:ext>
            </a:extLst>
          </p:cNvPr>
          <p:cNvCxnSpPr>
            <a:cxnSpLocks/>
            <a:endCxn id="23" idx="0"/>
          </p:cNvCxnSpPr>
          <p:nvPr/>
        </p:nvCxnSpPr>
        <p:spPr>
          <a:xfrm flipV="1">
            <a:off x="163653" y="5517735"/>
            <a:ext cx="355517" cy="16464"/>
          </a:xfrm>
          <a:prstGeom prst="line">
            <a:avLst/>
          </a:prstGeom>
          <a:ln w="38100">
            <a:headEnd type="oval"/>
          </a:ln>
        </p:spPr>
        <p:style>
          <a:lnRef idx="1">
            <a:schemeClr val="accent5"/>
          </a:lnRef>
          <a:fillRef idx="0">
            <a:schemeClr val="accent5"/>
          </a:fillRef>
          <a:effectRef idx="0">
            <a:schemeClr val="accent5"/>
          </a:effectRef>
          <a:fontRef idx="minor">
            <a:schemeClr val="tx1"/>
          </a:fontRef>
        </p:style>
      </p:cxnSp>
      <p:sp>
        <p:nvSpPr>
          <p:cNvPr id="25" name="Freeform: Shape 148">
            <a:extLst>
              <a:ext uri="{FF2B5EF4-FFF2-40B4-BE49-F238E27FC236}">
                <a16:creationId xmlns:a16="http://schemas.microsoft.com/office/drawing/2014/main" id="{514B43B1-DD24-5904-5F7A-5CC91716DDEB}"/>
              </a:ext>
            </a:extLst>
          </p:cNvPr>
          <p:cNvSpPr>
            <a:spLocks/>
          </p:cNvSpPr>
          <p:nvPr/>
        </p:nvSpPr>
        <p:spPr bwMode="auto">
          <a:xfrm>
            <a:off x="701355" y="1646569"/>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ln>
            <a:headEnd/>
            <a:tailEnd/>
          </a:ln>
        </p:spPr>
        <p:style>
          <a:lnRef idx="2">
            <a:schemeClr val="accent5"/>
          </a:lnRef>
          <a:fillRef idx="1">
            <a:schemeClr val="lt1"/>
          </a:fillRef>
          <a:effectRef idx="0">
            <a:schemeClr val="accent5"/>
          </a:effectRef>
          <a:fontRef idx="minor">
            <a:schemeClr val="dk1"/>
          </a:fontRef>
        </p:style>
        <p:txBody>
          <a:bodyPr anchor="ctr"/>
          <a:lstStyle/>
          <a:p>
            <a:pPr algn="ctr"/>
            <a:endParaRPr>
              <a:solidFill>
                <a:srgbClr val="3333CC"/>
              </a:solidFill>
            </a:endParaRPr>
          </a:p>
        </p:txBody>
      </p:sp>
      <p:cxnSp>
        <p:nvCxnSpPr>
          <p:cNvPr id="27" name="Straight Connector 124">
            <a:extLst>
              <a:ext uri="{FF2B5EF4-FFF2-40B4-BE49-F238E27FC236}">
                <a16:creationId xmlns:a16="http://schemas.microsoft.com/office/drawing/2014/main" id="{7C4E031E-BBB5-2D6B-54CC-2098B827A4CE}"/>
              </a:ext>
            </a:extLst>
          </p:cNvPr>
          <p:cNvCxnSpPr/>
          <p:nvPr/>
        </p:nvCxnSpPr>
        <p:spPr>
          <a:xfrm flipH="1">
            <a:off x="830171" y="2014571"/>
            <a:ext cx="12415" cy="3191065"/>
          </a:xfrm>
          <a:prstGeom prst="line">
            <a:avLst/>
          </a:prstGeom>
          <a:ln w="38100">
            <a:headEnd type="non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41096934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a:latin typeface="+mn-ea"/>
              </a:rPr>
              <a:t>1.5</a:t>
            </a:r>
            <a:r>
              <a:rPr lang="zh-CN" altLang="en-US" sz="1800" b="1" dirty="0">
                <a:latin typeface="+mn-ea"/>
              </a:rPr>
              <a:t>批量试制</a:t>
            </a:r>
            <a:endParaRPr lang="en-US" altLang="zh-CN" dirty="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277628" y="167719"/>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algn="l" defTabSz="1219170"/>
            <a:r>
              <a:rPr lang="en-US" altLang="zh-CN" sz="3200" dirty="0">
                <a:solidFill>
                  <a:prstClr val="black">
                    <a:lumMod val="65000"/>
                    <a:lumOff val="35000"/>
                  </a:prstClr>
                </a:solidFill>
              </a:rPr>
              <a:t>L10 </a:t>
            </a:r>
            <a:r>
              <a:rPr lang="zh-CN" altLang="en-US" sz="3200" dirty="0">
                <a:solidFill>
                  <a:prstClr val="black">
                    <a:lumMod val="65000"/>
                    <a:lumOff val="35000"/>
                  </a:prstClr>
                </a:solidFill>
              </a:rPr>
              <a:t>首件试制</a:t>
            </a:r>
            <a:r>
              <a:rPr lang="en-US" altLang="zh-CN" sz="3200" dirty="0">
                <a:solidFill>
                  <a:prstClr val="black">
                    <a:lumMod val="65000"/>
                    <a:lumOff val="35000"/>
                  </a:prstClr>
                </a:solidFill>
              </a:rPr>
              <a:t>/</a:t>
            </a:r>
            <a:r>
              <a:rPr lang="zh-CN" altLang="en-US" sz="3200" dirty="0">
                <a:solidFill>
                  <a:prstClr val="black">
                    <a:lumMod val="65000"/>
                    <a:lumOff val="35000"/>
                  </a:prstClr>
                </a:solidFill>
              </a:rPr>
              <a:t>批量试制</a:t>
            </a:r>
          </a:p>
        </p:txBody>
      </p:sp>
      <p:graphicFrame>
        <p:nvGraphicFramePr>
          <p:cNvPr id="5" name="表格 4"/>
          <p:cNvGraphicFramePr>
            <a:graphicFrameLocks noGrp="1"/>
          </p:cNvGraphicFramePr>
          <p:nvPr/>
        </p:nvGraphicFramePr>
        <p:xfrm>
          <a:off x="1359280" y="1550644"/>
          <a:ext cx="10371803" cy="889000"/>
        </p:xfrm>
        <a:graphic>
          <a:graphicData uri="http://schemas.openxmlformats.org/drawingml/2006/table">
            <a:tbl>
              <a:tblPr firstRow="1" bandRow="1">
                <a:tableStyleId>{00A15C55-8517-42AA-B614-E9B94910E393}</a:tableStyleId>
              </a:tblPr>
              <a:tblGrid>
                <a:gridCol w="1044441">
                  <a:extLst>
                    <a:ext uri="{9D8B030D-6E8A-4147-A177-3AD203B41FA5}">
                      <a16:colId xmlns:a16="http://schemas.microsoft.com/office/drawing/2014/main" val="773509366"/>
                    </a:ext>
                  </a:extLst>
                </a:gridCol>
                <a:gridCol w="2646060">
                  <a:extLst>
                    <a:ext uri="{9D8B030D-6E8A-4147-A177-3AD203B41FA5}">
                      <a16:colId xmlns:a16="http://schemas.microsoft.com/office/drawing/2014/main" val="1193865247"/>
                    </a:ext>
                  </a:extLst>
                </a:gridCol>
                <a:gridCol w="1235598">
                  <a:extLst>
                    <a:ext uri="{9D8B030D-6E8A-4147-A177-3AD203B41FA5}">
                      <a16:colId xmlns:a16="http://schemas.microsoft.com/office/drawing/2014/main" val="869367937"/>
                    </a:ext>
                  </a:extLst>
                </a:gridCol>
                <a:gridCol w="3090711">
                  <a:extLst>
                    <a:ext uri="{9D8B030D-6E8A-4147-A177-3AD203B41FA5}">
                      <a16:colId xmlns:a16="http://schemas.microsoft.com/office/drawing/2014/main" val="99857605"/>
                    </a:ext>
                  </a:extLst>
                </a:gridCol>
                <a:gridCol w="2354993">
                  <a:extLst>
                    <a:ext uri="{9D8B030D-6E8A-4147-A177-3AD203B41FA5}">
                      <a16:colId xmlns:a16="http://schemas.microsoft.com/office/drawing/2014/main" val="1047766596"/>
                    </a:ext>
                  </a:extLst>
                </a:gridCol>
              </a:tblGrid>
              <a:tr h="370840">
                <a:tc>
                  <a:txBody>
                    <a:bodyPr/>
                    <a:lstStyle/>
                    <a:p>
                      <a:r>
                        <a:rPr lang="zh-CN" altLang="en-US" sz="1400" dirty="0"/>
                        <a:t>任务名称</a:t>
                      </a:r>
                      <a:endParaRPr lang="zh-CN" altLang="en-US" sz="1400" dirty="0">
                        <a:latin typeface="+mn-ea"/>
                        <a:ea typeface="+mn-ea"/>
                      </a:endParaRPr>
                    </a:p>
                  </a:txBody>
                  <a:tcPr/>
                </a:tc>
                <a:tc>
                  <a:txBody>
                    <a:bodyPr/>
                    <a:lstStyle/>
                    <a:p>
                      <a:r>
                        <a:rPr lang="zh-CN" altLang="en-US" sz="1400" dirty="0"/>
                        <a:t>启动条件</a:t>
                      </a:r>
                      <a:endParaRPr lang="zh-CN" altLang="en-US" sz="1400" dirty="0">
                        <a:latin typeface="+mn-ea"/>
                        <a:ea typeface="+mn-ea"/>
                      </a:endParaRPr>
                    </a:p>
                  </a:txBody>
                  <a:tcPr/>
                </a:tc>
                <a:tc>
                  <a:txBody>
                    <a:bodyPr/>
                    <a:lstStyle/>
                    <a:p>
                      <a:r>
                        <a:rPr lang="zh-CN" altLang="en-US" sz="1400" dirty="0"/>
                        <a:t>责任人</a:t>
                      </a:r>
                      <a:endParaRPr lang="zh-CN" altLang="en-US" sz="1400" dirty="0">
                        <a:latin typeface="+mn-ea"/>
                        <a:ea typeface="+mn-ea"/>
                      </a:endParaRPr>
                    </a:p>
                  </a:txBody>
                  <a:tcPr/>
                </a:tc>
                <a:tc>
                  <a:txBody>
                    <a:bodyPr/>
                    <a:lstStyle/>
                    <a:p>
                      <a:r>
                        <a:rPr lang="zh-CN" altLang="en-US" sz="1400" dirty="0"/>
                        <a:t>参与人</a:t>
                      </a:r>
                      <a:endParaRPr lang="zh-CN" altLang="en-US" sz="1400" dirty="0">
                        <a:latin typeface="+mn-ea"/>
                        <a:ea typeface="+mn-ea"/>
                      </a:endParaRPr>
                    </a:p>
                  </a:txBody>
                  <a:tcPr/>
                </a:tc>
                <a:tc>
                  <a:txBody>
                    <a:bodyPr/>
                    <a:lstStyle/>
                    <a:p>
                      <a:r>
                        <a:rPr lang="zh-CN" altLang="en-US" sz="1400" dirty="0"/>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a:t>批量试制</a:t>
                      </a:r>
                      <a:endParaRPr lang="zh-CN" altLang="en-US" sz="1400" dirty="0">
                        <a:latin typeface="+mn-ea"/>
                        <a:ea typeface="+mn-ea"/>
                      </a:endParaRPr>
                    </a:p>
                  </a:txBody>
                  <a:tcPr/>
                </a:tc>
                <a:tc>
                  <a:txBody>
                    <a:bodyPr/>
                    <a:lstStyle/>
                    <a:p>
                      <a:r>
                        <a:rPr lang="zh-CN" altLang="en-US" sz="1400" dirty="0">
                          <a:solidFill>
                            <a:schemeClr val="tx1"/>
                          </a:solidFill>
                        </a:rPr>
                        <a:t>首件鉴定通过后</a:t>
                      </a:r>
                      <a:endParaRPr lang="zh-CN" altLang="en-US" sz="1400" dirty="0">
                        <a:solidFill>
                          <a:schemeClr val="tx1"/>
                        </a:solidFill>
                        <a:latin typeface="+mn-ea"/>
                        <a:ea typeface="+mn-ea"/>
                      </a:endParaRPr>
                    </a:p>
                  </a:txBody>
                  <a:tcPr/>
                </a:tc>
                <a:tc>
                  <a:txBody>
                    <a:bodyPr/>
                    <a:lstStyle/>
                    <a:p>
                      <a:r>
                        <a:rPr lang="zh-CN" altLang="en-US" sz="1400" dirty="0">
                          <a:solidFill>
                            <a:srgbClr val="0070C0"/>
                          </a:solidFill>
                        </a:rPr>
                        <a:t>品质管理部</a:t>
                      </a:r>
                      <a:endParaRPr lang="zh-CN" altLang="en-US" sz="1400" dirty="0">
                        <a:solidFill>
                          <a:srgbClr val="0070C0"/>
                        </a:solidFill>
                        <a:latin typeface="+mn-ea"/>
                        <a:ea typeface="+mn-ea"/>
                      </a:endParaRPr>
                    </a:p>
                  </a:txBody>
                  <a:tcPr/>
                </a:tc>
                <a:tc>
                  <a:txBody>
                    <a:bodyPr/>
                    <a:lstStyle/>
                    <a:p>
                      <a:r>
                        <a:rPr lang="zh-CN" altLang="en-US" sz="1400" dirty="0"/>
                        <a:t>制造部、产品工程师</a:t>
                      </a:r>
                      <a:endParaRPr lang="zh-CN" altLang="en-US" sz="1400" dirty="0">
                        <a:latin typeface="+mn-ea"/>
                        <a:ea typeface="+mn-ea"/>
                      </a:endParaRPr>
                    </a:p>
                  </a:txBody>
                  <a:tcPr/>
                </a:tc>
                <a:tc>
                  <a:txBody>
                    <a:bodyPr/>
                    <a:lstStyle/>
                    <a:p>
                      <a:r>
                        <a:rPr lang="en-US" altLang="zh-CN" sz="1400" dirty="0">
                          <a:solidFill>
                            <a:srgbClr val="0070C0"/>
                          </a:solidFill>
                        </a:rPr>
                        <a:t>《Q</a:t>
                      </a:r>
                      <a:r>
                        <a:rPr lang="en-US" altLang="zh-CN" sz="1400" u="none" strike="noStrike" dirty="0">
                          <a:solidFill>
                            <a:srgbClr val="0070C0"/>
                          </a:solidFill>
                          <a:effectLst/>
                        </a:rPr>
                        <a:t>R-D-H-005-008</a:t>
                      </a:r>
                      <a:r>
                        <a:rPr lang="zh-CN" altLang="en-US" sz="1400" dirty="0">
                          <a:solidFill>
                            <a:srgbClr val="0070C0"/>
                          </a:solidFill>
                        </a:rPr>
                        <a:t>试生产报告</a:t>
                      </a:r>
                      <a:r>
                        <a:rPr lang="en-US" altLang="zh-CN" sz="1400" dirty="0">
                          <a:solidFill>
                            <a:srgbClr val="0070C0"/>
                          </a:solidFill>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26" name="文本框 25"/>
          <p:cNvSpPr txBox="1"/>
          <p:nvPr/>
        </p:nvSpPr>
        <p:spPr>
          <a:xfrm>
            <a:off x="1867612" y="2619326"/>
            <a:ext cx="9863471" cy="2086725"/>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a:solidFill>
                  <a:srgbClr val="0070C0"/>
                </a:solidFill>
                <a:latin typeface="+mn-ea"/>
              </a:rPr>
              <a:t>过程概述：</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在首件鉴定通过后，制造部按照生产订单数量完成首批采购申请中的其他机器的装配及老化测试流程。批量试制应该按照完善后的</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生产技术要求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或生产工艺文件进行产品小批量试制。</a:t>
            </a:r>
            <a:endParaRPr lang="en-US" altLang="zh-CN" sz="1200" dirty="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a:solidFill>
                  <a:srgbClr val="0070C0"/>
                </a:solidFill>
                <a:latin typeface="+mn-ea"/>
              </a:rPr>
              <a:t>问题处理原则：</a:t>
            </a:r>
            <a:endParaRPr lang="en-US" altLang="zh-CN" sz="1200" b="1" dirty="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批量试制未通过时，由产品经理主导与制造部、品管部应对存在问题进行分析，形成纠正措施。整改方案导入后安排重新试生产；</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问题如由</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产品技术要求</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引起的，应由产品工程师限期整改，整改后方可通过。短时间内无法提供解决方案的，本次试制结论为“不通过”；</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问题如由生产工艺引起的，由制造部进行整改，整改结果需由产品工程师确认。</a:t>
            </a:r>
            <a:endParaRPr lang="en-US" altLang="zh-CN" sz="1200" dirty="0">
              <a:solidFill>
                <a:schemeClr val="tx1">
                  <a:lumMod val="75000"/>
                  <a:lumOff val="25000"/>
                </a:schemeClr>
              </a:solidFill>
              <a:latin typeface="+mn-ea"/>
            </a:endParaRPr>
          </a:p>
          <a:p>
            <a:pPr marL="285750" indent="-285750">
              <a:lnSpc>
                <a:spcPct val="120000"/>
              </a:lnSpc>
              <a:buFont typeface="Wingdings" panose="05000000000000000000" pitchFamily="2" charset="2"/>
              <a:buChar char="u"/>
            </a:pPr>
            <a:r>
              <a:rPr lang="zh-CN" altLang="en-US" sz="1200" b="1" dirty="0">
                <a:solidFill>
                  <a:srgbClr val="0070C0"/>
                </a:solidFill>
                <a:latin typeface="+mn-ea"/>
              </a:rPr>
              <a:t>报告输出</a:t>
            </a:r>
            <a:endParaRPr lang="en-US" altLang="zh-CN" sz="1200" b="1" dirty="0">
              <a:solidFill>
                <a:srgbClr val="0070C0"/>
              </a:solidFill>
              <a:latin typeface="+mn-ea"/>
            </a:endParaRPr>
          </a:p>
          <a:p>
            <a:pPr marL="285750" indent="-285750">
              <a:lnSpc>
                <a:spcPct val="120000"/>
              </a:lnSpc>
              <a:buFont typeface="Arial" panose="020B0604020202020204" pitchFamily="34" charset="0"/>
              <a:buChar char="•"/>
            </a:pPr>
            <a:r>
              <a:rPr lang="zh-CN" altLang="en-US" sz="1200" dirty="0">
                <a:latin typeface="+mn-ea"/>
              </a:rPr>
              <a:t>在批量试制完成后，则由制造部 品质管理部在</a:t>
            </a:r>
            <a:r>
              <a:rPr lang="en-US" altLang="zh-CN" sz="1200" dirty="0">
                <a:latin typeface="+mn-ea"/>
              </a:rPr>
              <a:t>2</a:t>
            </a:r>
            <a:r>
              <a:rPr lang="zh-CN" altLang="en-US" sz="1200" dirty="0">
                <a:latin typeface="+mn-ea"/>
              </a:rPr>
              <a:t>个工作日内将</a:t>
            </a:r>
            <a:r>
              <a:rPr lang="en-US" altLang="zh-CN" sz="1200" dirty="0">
                <a:latin typeface="+mn-ea"/>
              </a:rPr>
              <a:t>《</a:t>
            </a:r>
            <a:r>
              <a:rPr lang="zh-CN" altLang="en-US" sz="1200" dirty="0">
                <a:latin typeface="+mn-ea"/>
              </a:rPr>
              <a:t>试生产报告</a:t>
            </a:r>
            <a:r>
              <a:rPr lang="en-US" altLang="zh-CN" sz="1200" dirty="0">
                <a:latin typeface="+mn-ea"/>
              </a:rPr>
              <a:t>》</a:t>
            </a:r>
            <a:r>
              <a:rPr lang="zh-CN" altLang="en-US" sz="1200" dirty="0">
                <a:latin typeface="+mn-ea"/>
              </a:rPr>
              <a:t>反馈给产品工程师。</a:t>
            </a:r>
            <a:endParaRPr lang="en-US" altLang="zh-CN" sz="1200" dirty="0">
              <a:latin typeface="+mn-ea"/>
            </a:endParaRPr>
          </a:p>
        </p:txBody>
      </p:sp>
      <p:graphicFrame>
        <p:nvGraphicFramePr>
          <p:cNvPr id="6" name="对象 5"/>
          <p:cNvGraphicFramePr>
            <a:graphicFrameLocks noChangeAspect="1"/>
          </p:cNvGraphicFramePr>
          <p:nvPr/>
        </p:nvGraphicFramePr>
        <p:xfrm>
          <a:off x="10188195" y="4704608"/>
          <a:ext cx="1688757" cy="1083943"/>
        </p:xfrm>
        <a:graphic>
          <a:graphicData uri="http://schemas.openxmlformats.org/presentationml/2006/ole">
            <mc:AlternateContent xmlns:mc="http://schemas.openxmlformats.org/markup-compatibility/2006">
              <mc:Choice xmlns:v="urn:schemas-microsoft-com:vml" Requires="v">
                <p:oleObj spid="_x0000_s14520" name="Document" showAsIcon="1" r:id="rId4" imgW="914400" imgH="828720" progId="Word.Document.8">
                  <p:embed/>
                </p:oleObj>
              </mc:Choice>
              <mc:Fallback>
                <p:oleObj name="Document" showAsIcon="1" r:id="rId4" imgW="914400" imgH="828720" progId="Word.Document.8">
                  <p:embed/>
                  <p:pic>
                    <p:nvPicPr>
                      <p:cNvPr id="6" name="对象 5"/>
                      <p:cNvPicPr/>
                      <p:nvPr/>
                    </p:nvPicPr>
                    <p:blipFill>
                      <a:blip r:embed="rId5"/>
                      <a:stretch>
                        <a:fillRect/>
                      </a:stretch>
                    </p:blipFill>
                    <p:spPr>
                      <a:xfrm>
                        <a:off x="10188195" y="4704608"/>
                        <a:ext cx="1688757" cy="1083943"/>
                      </a:xfrm>
                      <a:prstGeom prst="rect">
                        <a:avLst/>
                      </a:prstGeom>
                    </p:spPr>
                  </p:pic>
                </p:oleObj>
              </mc:Fallback>
            </mc:AlternateContent>
          </a:graphicData>
        </a:graphic>
      </p:graphicFrame>
      <p:sp>
        <p:nvSpPr>
          <p:cNvPr id="2" name="圆角矩形 1"/>
          <p:cNvSpPr/>
          <p:nvPr/>
        </p:nvSpPr>
        <p:spPr>
          <a:xfrm>
            <a:off x="2160804" y="4806338"/>
            <a:ext cx="8176376" cy="118555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7" name="文本框 6"/>
          <p:cNvSpPr txBox="1"/>
          <p:nvPr/>
        </p:nvSpPr>
        <p:spPr>
          <a:xfrm>
            <a:off x="2528575" y="5033310"/>
            <a:ext cx="7201476" cy="609398"/>
          </a:xfrm>
          <a:prstGeom prst="rect">
            <a:avLst/>
          </a:prstGeom>
          <a:noFill/>
        </p:spPr>
        <p:txBody>
          <a:bodyPr wrap="square" rtlCol="0">
            <a:spAutoFit/>
          </a:bodyPr>
          <a:lstStyle/>
          <a:p>
            <a:pPr>
              <a:lnSpc>
                <a:spcPct val="120000"/>
              </a:lnSpc>
            </a:pPr>
            <a:r>
              <a:rPr lang="zh-CN" altLang="en-US" sz="1400" b="1" dirty="0"/>
              <a:t>提示：</a:t>
            </a:r>
            <a:r>
              <a:rPr lang="zh-CN" altLang="en-US" sz="1400" dirty="0">
                <a:solidFill>
                  <a:schemeClr val="tx1">
                    <a:lumMod val="75000"/>
                    <a:lumOff val="25000"/>
                  </a:schemeClr>
                </a:solidFill>
              </a:rPr>
              <a:t>批量老化测试中出现问题，一般需项目组研发端分析解决，项目经理应关注试生产中出现的问题，参与相关问题讨论会议，并协助协调项目组内相关资源解决问题，</a:t>
            </a:r>
          </a:p>
        </p:txBody>
      </p:sp>
      <p:cxnSp>
        <p:nvCxnSpPr>
          <p:cNvPr id="8" name="Straight Connector 124">
            <a:extLst>
              <a:ext uri="{FF2B5EF4-FFF2-40B4-BE49-F238E27FC236}">
                <a16:creationId xmlns:a16="http://schemas.microsoft.com/office/drawing/2014/main" id="{E1FEF297-C637-D4D6-2E77-EA83D205450C}"/>
              </a:ext>
            </a:extLst>
          </p:cNvPr>
          <p:cNvCxnSpPr/>
          <p:nvPr/>
        </p:nvCxnSpPr>
        <p:spPr>
          <a:xfrm flipH="1">
            <a:off x="830171" y="2014571"/>
            <a:ext cx="12415" cy="3191065"/>
          </a:xfrm>
          <a:prstGeom prst="line">
            <a:avLst/>
          </a:prstGeom>
          <a:ln w="38100">
            <a:headEnd type="none"/>
          </a:ln>
        </p:spPr>
        <p:style>
          <a:lnRef idx="1">
            <a:schemeClr val="accent5"/>
          </a:lnRef>
          <a:fillRef idx="0">
            <a:schemeClr val="accent5"/>
          </a:fillRef>
          <a:effectRef idx="0">
            <a:schemeClr val="accent5"/>
          </a:effectRef>
          <a:fontRef idx="minor">
            <a:schemeClr val="tx1"/>
          </a:fontRef>
        </p:style>
      </p:cxnSp>
      <p:grpSp>
        <p:nvGrpSpPr>
          <p:cNvPr id="9" name="组合 8">
            <a:extLst>
              <a:ext uri="{FF2B5EF4-FFF2-40B4-BE49-F238E27FC236}">
                <a16:creationId xmlns:a16="http://schemas.microsoft.com/office/drawing/2014/main" id="{966D0379-CD2A-8263-049B-E09308F544B0}"/>
              </a:ext>
            </a:extLst>
          </p:cNvPr>
          <p:cNvGrpSpPr/>
          <p:nvPr/>
        </p:nvGrpSpPr>
        <p:grpSpPr>
          <a:xfrm>
            <a:off x="163653" y="1552339"/>
            <a:ext cx="2016614" cy="4356512"/>
            <a:chOff x="163653" y="1552339"/>
            <a:chExt cx="2016614" cy="4356512"/>
          </a:xfrm>
        </p:grpSpPr>
        <p:sp>
          <p:nvSpPr>
            <p:cNvPr id="15" name="Oval 147">
              <a:extLst>
                <a:ext uri="{FF2B5EF4-FFF2-40B4-BE49-F238E27FC236}">
                  <a16:creationId xmlns:a16="http://schemas.microsoft.com/office/drawing/2014/main" id="{5DC9301F-6984-8296-B021-042C600B41F5}"/>
                </a:ext>
              </a:extLst>
            </p:cNvPr>
            <p:cNvSpPr/>
            <p:nvPr/>
          </p:nvSpPr>
          <p:spPr>
            <a:xfrm>
              <a:off x="615578" y="1552339"/>
              <a:ext cx="467663" cy="467665"/>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a:endParaRPr dirty="0">
                <a:solidFill>
                  <a:srgbClr val="3333CC"/>
                </a:solidFill>
              </a:endParaRPr>
            </a:p>
          </p:txBody>
        </p:sp>
        <p:sp>
          <p:nvSpPr>
            <p:cNvPr id="19" name="Oval 104">
              <a:extLst>
                <a:ext uri="{FF2B5EF4-FFF2-40B4-BE49-F238E27FC236}">
                  <a16:creationId xmlns:a16="http://schemas.microsoft.com/office/drawing/2014/main" id="{481E2237-305E-C91D-641F-CF05547BC67E}"/>
                </a:ext>
              </a:extLst>
            </p:cNvPr>
            <p:cNvSpPr/>
            <p:nvPr/>
          </p:nvSpPr>
          <p:spPr>
            <a:xfrm>
              <a:off x="596339" y="5205636"/>
              <a:ext cx="467663" cy="467665"/>
            </a:xfrm>
            <a:prstGeom prst="ellipse">
              <a:avLst/>
            </a:prstGeom>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wrap="none" anchor="ctr">
              <a:normAutofit fontScale="92500" lnSpcReduction="10000"/>
            </a:bodyPr>
            <a:lstStyle/>
            <a:p>
              <a:pPr algn="ctr"/>
              <a:r>
                <a:rPr lang="en-US" b="1" dirty="0"/>
                <a:t>06</a:t>
              </a:r>
            </a:p>
          </p:txBody>
        </p:sp>
        <p:sp>
          <p:nvSpPr>
            <p:cNvPr id="20" name="Arc 125">
              <a:extLst>
                <a:ext uri="{FF2B5EF4-FFF2-40B4-BE49-F238E27FC236}">
                  <a16:creationId xmlns:a16="http://schemas.microsoft.com/office/drawing/2014/main" id="{79263F42-BD30-E90C-51D6-FFC7C9C0FE11}"/>
                </a:ext>
              </a:extLst>
            </p:cNvPr>
            <p:cNvSpPr/>
            <p:nvPr/>
          </p:nvSpPr>
          <p:spPr>
            <a:xfrm rot="5400000" flipV="1">
              <a:off x="1374989" y="5103572"/>
              <a:ext cx="1083950" cy="526607"/>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21" name="Straight Connector 126">
              <a:extLst>
                <a:ext uri="{FF2B5EF4-FFF2-40B4-BE49-F238E27FC236}">
                  <a16:creationId xmlns:a16="http://schemas.microsoft.com/office/drawing/2014/main" id="{108608D3-0862-40BC-9046-A8DB125A64B3}"/>
                </a:ext>
              </a:extLst>
            </p:cNvPr>
            <p:cNvCxnSpPr/>
            <p:nvPr/>
          </p:nvCxnSpPr>
          <p:spPr>
            <a:xfrm>
              <a:off x="1076364" y="5367686"/>
              <a:ext cx="584174" cy="65"/>
            </a:xfrm>
            <a:prstGeom prst="line">
              <a:avLst/>
            </a:prstGeom>
            <a:ln w="38100"/>
          </p:spPr>
          <p:style>
            <a:lnRef idx="1">
              <a:schemeClr val="accent5"/>
            </a:lnRef>
            <a:fillRef idx="0">
              <a:schemeClr val="accent5"/>
            </a:fillRef>
            <a:effectRef idx="0">
              <a:schemeClr val="accent5"/>
            </a:effectRef>
            <a:fontRef idx="minor">
              <a:schemeClr val="tx1"/>
            </a:fontRef>
          </p:style>
        </p:cxnSp>
        <p:sp>
          <p:nvSpPr>
            <p:cNvPr id="22" name="Arc 114">
              <a:extLst>
                <a:ext uri="{FF2B5EF4-FFF2-40B4-BE49-F238E27FC236}">
                  <a16:creationId xmlns:a16="http://schemas.microsoft.com/office/drawing/2014/main" id="{0D3865AB-3ED8-D359-ED15-48D1812370D4}"/>
                </a:ext>
              </a:extLst>
            </p:cNvPr>
            <p:cNvSpPr/>
            <p:nvPr/>
          </p:nvSpPr>
          <p:spPr>
            <a:xfrm rot="5400000" flipV="1">
              <a:off x="534345" y="5207629"/>
              <a:ext cx="616481" cy="612495"/>
            </a:xfrm>
            <a:prstGeom prst="arc">
              <a:avLst/>
            </a:prstGeom>
            <a:ln w="38100">
              <a:headEnd type="none"/>
              <a:tailEnd type="oval"/>
            </a:ln>
          </p:spPr>
          <p:style>
            <a:lnRef idx="1">
              <a:schemeClr val="accent5"/>
            </a:lnRef>
            <a:fillRef idx="0">
              <a:schemeClr val="accent5"/>
            </a:fillRef>
            <a:effectRef idx="0">
              <a:schemeClr val="accent5"/>
            </a:effectRef>
            <a:fontRef idx="minor">
              <a:schemeClr val="tx1"/>
            </a:fontRef>
          </p:style>
          <p:txBody>
            <a:bodyPr anchor="ctr"/>
            <a:lstStyle/>
            <a:p>
              <a:pPr algn="ctr"/>
              <a:endParaRPr/>
            </a:p>
          </p:txBody>
        </p:sp>
        <p:cxnSp>
          <p:nvCxnSpPr>
            <p:cNvPr id="23" name="Straight Connector 115">
              <a:extLst>
                <a:ext uri="{FF2B5EF4-FFF2-40B4-BE49-F238E27FC236}">
                  <a16:creationId xmlns:a16="http://schemas.microsoft.com/office/drawing/2014/main" id="{BA04F8C3-4202-CE66-5669-365681EBB32B}"/>
                </a:ext>
              </a:extLst>
            </p:cNvPr>
            <p:cNvCxnSpPr/>
            <p:nvPr/>
          </p:nvCxnSpPr>
          <p:spPr>
            <a:xfrm flipV="1">
              <a:off x="163653" y="5532378"/>
              <a:ext cx="401492" cy="1821"/>
            </a:xfrm>
            <a:prstGeom prst="line">
              <a:avLst/>
            </a:prstGeom>
            <a:ln w="38100">
              <a:headEnd type="oval"/>
            </a:ln>
          </p:spPr>
          <p:style>
            <a:lnRef idx="1">
              <a:schemeClr val="accent5"/>
            </a:lnRef>
            <a:fillRef idx="0">
              <a:schemeClr val="accent5"/>
            </a:fillRef>
            <a:effectRef idx="0">
              <a:schemeClr val="accent5"/>
            </a:effectRef>
            <a:fontRef idx="minor">
              <a:schemeClr val="tx1"/>
            </a:fontRef>
          </p:style>
        </p:cxnSp>
        <p:sp>
          <p:nvSpPr>
            <p:cNvPr id="24" name="Freeform: Shape 148">
              <a:extLst>
                <a:ext uri="{FF2B5EF4-FFF2-40B4-BE49-F238E27FC236}">
                  <a16:creationId xmlns:a16="http://schemas.microsoft.com/office/drawing/2014/main" id="{20AFB4F1-03C0-04F4-2534-5B5AAE3BDA24}"/>
                </a:ext>
              </a:extLst>
            </p:cNvPr>
            <p:cNvSpPr>
              <a:spLocks/>
            </p:cNvSpPr>
            <p:nvPr/>
          </p:nvSpPr>
          <p:spPr bwMode="auto">
            <a:xfrm>
              <a:off x="701355" y="1646569"/>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ln>
              <a:headEnd/>
              <a:tailEnd/>
            </a:ln>
          </p:spPr>
          <p:style>
            <a:lnRef idx="2">
              <a:schemeClr val="accent5"/>
            </a:lnRef>
            <a:fillRef idx="1">
              <a:schemeClr val="lt1"/>
            </a:fillRef>
            <a:effectRef idx="0">
              <a:schemeClr val="accent5"/>
            </a:effectRef>
            <a:fontRef idx="minor">
              <a:schemeClr val="dk1"/>
            </a:fontRef>
          </p:style>
          <p:txBody>
            <a:bodyPr anchor="ctr"/>
            <a:lstStyle/>
            <a:p>
              <a:pPr algn="ctr"/>
              <a:endParaRPr>
                <a:solidFill>
                  <a:srgbClr val="3333CC"/>
                </a:solidFill>
              </a:endParaRPr>
            </a:p>
          </p:txBody>
        </p:sp>
      </p:grpSp>
    </p:spTree>
    <p:extLst>
      <p:ext uri="{BB962C8B-B14F-4D97-AF65-F5344CB8AC3E}">
        <p14:creationId xmlns:p14="http://schemas.microsoft.com/office/powerpoint/2010/main" val="27663839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a:extLst>
              <a:ext uri="{FF2B5EF4-FFF2-40B4-BE49-F238E27FC236}">
                <a16:creationId xmlns:a16="http://schemas.microsoft.com/office/drawing/2014/main" id="{2B587CB1-41A9-48EF-9229-101563C80EFD}"/>
              </a:ext>
            </a:extLst>
          </p:cNvPr>
          <p:cNvSpPr txBox="1">
            <a:spLocks/>
          </p:cNvSpPr>
          <p:nvPr/>
        </p:nvSpPr>
        <p:spPr>
          <a:xfrm>
            <a:off x="0" y="177135"/>
            <a:ext cx="3067724" cy="832388"/>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L11 PVT</a:t>
            </a:r>
            <a:endParaRPr kumimoji="0" lang="zh-CN" altLang="en-US"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3" name="Rectangle 3">
            <a:extLst>
              <a:ext uri="{FF2B5EF4-FFF2-40B4-BE49-F238E27FC236}">
                <a16:creationId xmlns:a16="http://schemas.microsoft.com/office/drawing/2014/main" id="{FA07C651-B856-4405-9E2A-D4B3064DAEAF}"/>
              </a:ext>
            </a:extLst>
          </p:cNvPr>
          <p:cNvSpPr txBox="1">
            <a:spLocks noChangeArrowheads="1"/>
          </p:cNvSpPr>
          <p:nvPr/>
        </p:nvSpPr>
        <p:spPr bwMode="auto">
          <a:xfrm>
            <a:off x="682113" y="1009523"/>
            <a:ext cx="10907601" cy="832388"/>
          </a:xfrm>
          <a:prstGeom prst="rect">
            <a:avLst/>
          </a:prstGeom>
          <a:solidFill>
            <a:schemeClr val="bg1">
              <a:lumMod val="85000"/>
            </a:schemeClr>
          </a:solidFill>
          <a:scene3d>
            <a:camera prst="orthographicFront"/>
            <a:lightRig rig="threePt" dir="t"/>
          </a:scene3d>
          <a:sp3d>
            <a:bevelT/>
          </a:sp3d>
        </p:spPr>
        <p:txBody>
          <a:bodyPr vert="horz" wrap="square" lIns="121920" tIns="60960" rIns="121920" bIns="60960" numCol="1" anchor="t" anchorCtr="0" compatLnSpc="1">
            <a:prstTxWarp prst="textNoShape">
              <a:avLst/>
            </a:prstTxWarp>
          </a:bodyPr>
          <a:lstStyle>
            <a:lvl1pPr marL="342900" indent="-342900" algn="l" defTabSz="912813" rtl="0" eaLnBrk="0" fontAlgn="base" hangingPunct="0">
              <a:spcBef>
                <a:spcPct val="20000"/>
              </a:spcBef>
              <a:spcAft>
                <a:spcPct val="0"/>
              </a:spcAft>
              <a:buChar char="•"/>
              <a:defRPr sz="3000">
                <a:solidFill>
                  <a:schemeClr val="tx1"/>
                </a:solidFill>
                <a:latin typeface="+mn-lt"/>
                <a:ea typeface="+mn-ea"/>
                <a:cs typeface="+mn-cs"/>
              </a:defRPr>
            </a:lvl1pPr>
            <a:lvl2pPr marL="741363" indent="-285750" algn="l" defTabSz="912813" rtl="0" eaLnBrk="0" fontAlgn="base" hangingPunct="0">
              <a:spcBef>
                <a:spcPct val="20000"/>
              </a:spcBef>
              <a:spcAft>
                <a:spcPct val="0"/>
              </a:spcAft>
              <a:buChar char="–"/>
              <a:defRPr sz="2800">
                <a:solidFill>
                  <a:schemeClr val="tx1"/>
                </a:solidFill>
                <a:latin typeface="+mj-lt"/>
                <a:ea typeface="+mj-ea"/>
              </a:defRPr>
            </a:lvl2pPr>
            <a:lvl3pPr marL="1139825" indent="-227013" algn="l" defTabSz="912813" rtl="0" eaLnBrk="0" fontAlgn="base" hangingPunct="0">
              <a:spcBef>
                <a:spcPct val="20000"/>
              </a:spcBef>
              <a:spcAft>
                <a:spcPct val="0"/>
              </a:spcAft>
              <a:buChar char="•"/>
              <a:defRPr sz="2400">
                <a:solidFill>
                  <a:schemeClr val="tx1"/>
                </a:solidFill>
                <a:latin typeface="+mj-lt"/>
                <a:ea typeface="+mj-ea"/>
              </a:defRPr>
            </a:lvl3pPr>
            <a:lvl4pPr marL="1595438" indent="-227013" algn="l" defTabSz="912813" rtl="0" eaLnBrk="0" fontAlgn="base" hangingPunct="0">
              <a:spcBef>
                <a:spcPct val="20000"/>
              </a:spcBef>
              <a:spcAft>
                <a:spcPct val="0"/>
              </a:spcAft>
              <a:buChar char="–"/>
              <a:defRPr sz="2000">
                <a:solidFill>
                  <a:schemeClr val="tx1"/>
                </a:solidFill>
                <a:latin typeface="+mj-lt"/>
                <a:ea typeface="+mj-ea"/>
              </a:defRPr>
            </a:lvl4pPr>
            <a:lvl5pPr marL="2052638" indent="-227013" algn="l" defTabSz="912813" rtl="0" eaLnBrk="0" fontAlgn="base" hangingPunct="0">
              <a:spcBef>
                <a:spcPct val="20000"/>
              </a:spcBef>
              <a:spcAft>
                <a:spcPct val="0"/>
              </a:spcAft>
              <a:buChar char="»"/>
              <a:defRPr sz="2000">
                <a:solidFill>
                  <a:schemeClr val="tx1"/>
                </a:solidFill>
                <a:latin typeface="+mj-lt"/>
                <a:ea typeface="+mj-ea"/>
              </a:defRPr>
            </a:lvl5pPr>
            <a:lvl6pPr marL="2509838" indent="-227013" algn="l" defTabSz="912813" rtl="0" fontAlgn="base">
              <a:spcBef>
                <a:spcPct val="20000"/>
              </a:spcBef>
              <a:spcAft>
                <a:spcPct val="0"/>
              </a:spcAft>
              <a:buChar char="»"/>
              <a:defRPr sz="2000">
                <a:solidFill>
                  <a:schemeClr val="tx1"/>
                </a:solidFill>
                <a:latin typeface="+mj-lt"/>
                <a:ea typeface="+mj-ea"/>
              </a:defRPr>
            </a:lvl6pPr>
            <a:lvl7pPr marL="2967038" indent="-227013" algn="l" defTabSz="912813" rtl="0" fontAlgn="base">
              <a:spcBef>
                <a:spcPct val="20000"/>
              </a:spcBef>
              <a:spcAft>
                <a:spcPct val="0"/>
              </a:spcAft>
              <a:buChar char="»"/>
              <a:defRPr sz="2000">
                <a:solidFill>
                  <a:schemeClr val="tx1"/>
                </a:solidFill>
                <a:latin typeface="+mj-lt"/>
                <a:ea typeface="+mj-ea"/>
              </a:defRPr>
            </a:lvl7pPr>
            <a:lvl8pPr marL="3424238" indent="-227013" algn="l" defTabSz="912813" rtl="0" fontAlgn="base">
              <a:spcBef>
                <a:spcPct val="20000"/>
              </a:spcBef>
              <a:spcAft>
                <a:spcPct val="0"/>
              </a:spcAft>
              <a:buChar char="»"/>
              <a:defRPr sz="2000">
                <a:solidFill>
                  <a:schemeClr val="tx1"/>
                </a:solidFill>
                <a:latin typeface="+mj-lt"/>
                <a:ea typeface="+mj-ea"/>
              </a:defRPr>
            </a:lvl8pPr>
            <a:lvl9pPr marL="3881438" indent="-227013" algn="l" defTabSz="912813" rtl="0" fontAlgn="base">
              <a:spcBef>
                <a:spcPct val="20000"/>
              </a:spcBef>
              <a:spcAft>
                <a:spcPct val="0"/>
              </a:spcAft>
              <a:buChar char="»"/>
              <a:defRPr sz="2000">
                <a:solidFill>
                  <a:schemeClr val="tx1"/>
                </a:solidFill>
                <a:latin typeface="+mj-lt"/>
                <a:ea typeface="+mj-ea"/>
              </a:defRPr>
            </a:lvl9pPr>
          </a:lstStyle>
          <a:p>
            <a:pPr marL="844529" marR="0" lvl="1" indent="0" algn="l" defTabSz="1217054" rtl="0" eaLnBrk="0" fontAlgn="base" latinLnBrk="0" hangingPunct="0">
              <a:lnSpc>
                <a:spcPct val="120000"/>
              </a:lnSpc>
              <a:spcBef>
                <a:spcPct val="50000"/>
              </a:spcBef>
              <a:spcAft>
                <a:spcPct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的准入条件</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DVT</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测试完成，并通过</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MR3 PVT</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阶段准入评审</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400" kern="0" dirty="0">
                <a:solidFill>
                  <a:prstClr val="black"/>
                </a:solidFill>
                <a:latin typeface="微软雅黑" panose="020B0503020204020204" pitchFamily="34" charset="-122"/>
                <a:ea typeface="微软雅黑" panose="020B0503020204020204" pitchFamily="34" charset="-122"/>
              </a:rPr>
              <a:t>DI</a:t>
            </a:r>
            <a:r>
              <a:rPr lang="zh-CN" altLang="en-US" sz="1400" kern="0" dirty="0">
                <a:solidFill>
                  <a:prstClr val="black"/>
                </a:solidFill>
                <a:latin typeface="微软雅黑" panose="020B0503020204020204" pitchFamily="34" charset="-122"/>
                <a:ea typeface="微软雅黑" panose="020B0503020204020204" pitchFamily="34" charset="-122"/>
              </a:rPr>
              <a:t>值按照质量策划要求为准</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844529" marR="0" lvl="1" indent="0" algn="l" defTabSz="1217054" rtl="0" eaLnBrk="0" fontAlgn="base" latinLnBrk="0" hangingPunct="0">
              <a:lnSpc>
                <a:spcPct val="120000"/>
              </a:lnSpc>
              <a:spcBef>
                <a:spcPct val="50000"/>
              </a:spcBef>
              <a:spcAft>
                <a:spcPct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阶段测试内容：</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SIT</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、可靠性，测试周期一般为</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6W</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，根据不同项目状态 调整测试周期。</a:t>
            </a:r>
          </a:p>
        </p:txBody>
      </p:sp>
      <p:sp>
        <p:nvSpPr>
          <p:cNvPr id="5" name="矩形 4"/>
          <p:cNvSpPr/>
          <p:nvPr/>
        </p:nvSpPr>
        <p:spPr>
          <a:xfrm>
            <a:off x="794655" y="2674299"/>
            <a:ext cx="3678014" cy="3046988"/>
          </a:xfrm>
          <a:prstGeom prst="rect">
            <a:avLst/>
          </a:prstGeom>
          <a:solidFill>
            <a:schemeClr val="bg1">
              <a:lumMod val="95000"/>
            </a:schemeClr>
          </a:solidFill>
        </p:spPr>
        <p:txBody>
          <a:bodyPr wrap="square">
            <a:spAutoFit/>
          </a:bodyPr>
          <a:lstStyle/>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1.</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前各阶段</a:t>
            </a: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TR</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评审回溯</a:t>
            </a: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(DVT</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报告，只提取遗留问题）</a:t>
            </a: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171450" marR="0" lvl="0" indent="-171450" algn="l" defTabSz="914400" rtl="0" eaLnBrk="0" fontAlgn="ctr" latinLnBrk="0" hangingPunct="0">
              <a:lnSpc>
                <a:spcPct val="100000"/>
              </a:lnSpc>
              <a:spcBef>
                <a:spcPct val="20000"/>
              </a:spcBef>
              <a:spcAft>
                <a:spcPct val="0"/>
              </a:spcAft>
              <a:buSzTx/>
              <a:buFont typeface="Arial" panose="020B0604020202020204" pitchFamily="34" charset="0"/>
              <a:buChar char="•"/>
              <a:tabLst/>
              <a:defRPr/>
            </a:pP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TR</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技术评审无发现关键风险、问题，制定了有效的行动计划；</a:t>
            </a: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2.</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前各阶段计划执行情况与偏差分析；</a:t>
            </a: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3. PVT</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阶段计划，项目计划书更新至最新版</a:t>
            </a: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171450" marR="0" lvl="0" indent="-171450" algn="l" defTabSz="914400" rtl="0" eaLnBrk="0" fontAlgn="ctr" latinLnBrk="0" hangingPunct="0">
              <a:lnSpc>
                <a:spcPct val="100000"/>
              </a:lnSpc>
              <a:spcBef>
                <a:spcPct val="20000"/>
              </a:spcBef>
              <a:spcAft>
                <a:spcPct val="0"/>
              </a:spcAft>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项目变更得到了控制；</a:t>
            </a: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171450" marR="0" lvl="0" indent="-171450" algn="l" defTabSz="914400" rtl="0" eaLnBrk="0" fontAlgn="ctr" latinLnBrk="0" hangingPunct="0">
              <a:lnSpc>
                <a:spcPct val="100000"/>
              </a:lnSpc>
              <a:spcBef>
                <a:spcPct val="20000"/>
              </a:spcBef>
              <a:spcAft>
                <a:spcPct val="0"/>
              </a:spcAft>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详细的项目进度计划可指导后续工作，并建立基准；</a:t>
            </a: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4. </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试制已完成，并输出报告。</a:t>
            </a:r>
            <a:endParaRPr lang="en-US" altLang="zh-CN" sz="1200" dirty="0">
              <a:solidFill>
                <a:prstClr val="black"/>
              </a:solidFill>
              <a:latin typeface="微软雅黑" pitchFamily="34" charset="-122"/>
              <a:ea typeface="微软雅黑" pitchFamily="34" charset="-122"/>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lang="en-US" altLang="zh-CN" sz="1200" dirty="0">
              <a:solidFill>
                <a:prstClr val="black"/>
              </a:solidFill>
              <a:latin typeface="微软雅黑" pitchFamily="34" charset="-122"/>
              <a:ea typeface="微软雅黑" pitchFamily="34" charset="-122"/>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lang="en-US" altLang="zh-CN" sz="1200" dirty="0">
              <a:solidFill>
                <a:prstClr val="black"/>
              </a:solidFill>
              <a:latin typeface="微软雅黑" pitchFamily="34" charset="-122"/>
              <a:ea typeface="微软雅黑" pitchFamily="34" charset="-122"/>
            </a:endParaRPr>
          </a:p>
        </p:txBody>
      </p:sp>
      <p:sp>
        <p:nvSpPr>
          <p:cNvPr id="2" name="圆角矩形 1"/>
          <p:cNvSpPr/>
          <p:nvPr/>
        </p:nvSpPr>
        <p:spPr>
          <a:xfrm>
            <a:off x="682113" y="2053627"/>
            <a:ext cx="3166138" cy="477835"/>
          </a:xfrm>
          <a:prstGeom prst="roundRect">
            <a:avLst/>
          </a:prstGeom>
          <a:solidFill>
            <a:schemeClr val="bg1">
              <a:lumMod val="85000"/>
            </a:schemeClr>
          </a:solidFill>
          <a:ln>
            <a:solidFill>
              <a:schemeClr val="bg1">
                <a:lumMod val="85000"/>
              </a:schemeClr>
            </a:solidFill>
          </a:ln>
          <a:effectLst>
            <a:reflection blurRad="6350" stA="50000" endA="300" endPos="5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0" name="Freeform: Shape 4"/>
          <p:cNvSpPr>
            <a:spLocks/>
          </p:cNvSpPr>
          <p:nvPr/>
        </p:nvSpPr>
        <p:spPr bwMode="auto">
          <a:xfrm>
            <a:off x="904682" y="2122506"/>
            <a:ext cx="342652" cy="340075"/>
          </a:xfrm>
          <a:custGeom>
            <a:avLst/>
            <a:gdLst/>
            <a:ahLst/>
            <a:cxnLst>
              <a:cxn ang="0">
                <a:pos x="33" y="1"/>
              </a:cxn>
              <a:cxn ang="0">
                <a:pos x="22" y="1"/>
              </a:cxn>
              <a:cxn ang="0">
                <a:pos x="0" y="28"/>
              </a:cxn>
              <a:cxn ang="0">
                <a:pos x="22" y="55"/>
              </a:cxn>
              <a:cxn ang="0">
                <a:pos x="33" y="55"/>
              </a:cxn>
              <a:cxn ang="0">
                <a:pos x="56" y="28"/>
              </a:cxn>
              <a:cxn ang="0">
                <a:pos x="20" y="7"/>
              </a:cxn>
              <a:cxn ang="0">
                <a:pos x="10" y="14"/>
              </a:cxn>
              <a:cxn ang="0">
                <a:pos x="7" y="19"/>
              </a:cxn>
              <a:cxn ang="0">
                <a:pos x="11" y="25"/>
              </a:cxn>
              <a:cxn ang="0">
                <a:pos x="7" y="19"/>
              </a:cxn>
              <a:cxn ang="0">
                <a:pos x="5" y="30"/>
              </a:cxn>
              <a:cxn ang="0">
                <a:pos x="12" y="36"/>
              </a:cxn>
              <a:cxn ang="0">
                <a:pos x="9" y="41"/>
              </a:cxn>
              <a:cxn ang="0">
                <a:pos x="20" y="49"/>
              </a:cxn>
              <a:cxn ang="0">
                <a:pos x="25" y="46"/>
              </a:cxn>
              <a:cxn ang="0">
                <a:pos x="25" y="41"/>
              </a:cxn>
              <a:cxn ang="0">
                <a:pos x="25" y="36"/>
              </a:cxn>
              <a:cxn ang="0">
                <a:pos x="16" y="30"/>
              </a:cxn>
              <a:cxn ang="0">
                <a:pos x="25" y="36"/>
              </a:cxn>
              <a:cxn ang="0">
                <a:pos x="16" y="25"/>
              </a:cxn>
              <a:cxn ang="0">
                <a:pos x="25" y="19"/>
              </a:cxn>
              <a:cxn ang="0">
                <a:pos x="25" y="14"/>
              </a:cxn>
              <a:cxn ang="0">
                <a:pos x="25" y="10"/>
              </a:cxn>
              <a:cxn ang="0">
                <a:pos x="48" y="19"/>
              </a:cxn>
              <a:cxn ang="0">
                <a:pos x="45" y="25"/>
              </a:cxn>
              <a:cxn ang="0">
                <a:pos x="48" y="19"/>
              </a:cxn>
              <a:cxn ang="0">
                <a:pos x="41" y="14"/>
              </a:cxn>
              <a:cxn ang="0">
                <a:pos x="45" y="14"/>
              </a:cxn>
              <a:cxn ang="0">
                <a:pos x="34" y="14"/>
              </a:cxn>
              <a:cxn ang="0">
                <a:pos x="30" y="10"/>
              </a:cxn>
              <a:cxn ang="0">
                <a:pos x="38" y="19"/>
              </a:cxn>
              <a:cxn ang="0">
                <a:pos x="30" y="25"/>
              </a:cxn>
              <a:cxn ang="0">
                <a:pos x="30" y="30"/>
              </a:cxn>
              <a:cxn ang="0">
                <a:pos x="38" y="36"/>
              </a:cxn>
              <a:cxn ang="0">
                <a:pos x="30" y="30"/>
              </a:cxn>
              <a:cxn ang="0">
                <a:pos x="30" y="41"/>
              </a:cxn>
              <a:cxn ang="0">
                <a:pos x="30" y="46"/>
              </a:cxn>
              <a:cxn ang="0">
                <a:pos x="41" y="41"/>
              </a:cxn>
              <a:cxn ang="0">
                <a:pos x="35" y="49"/>
              </a:cxn>
              <a:cxn ang="0">
                <a:pos x="45" y="30"/>
              </a:cxn>
              <a:cxn ang="0">
                <a:pos x="49" y="36"/>
              </a:cxn>
            </a:cxnLst>
            <a:rect l="0" t="0" r="r" b="b"/>
            <a:pathLst>
              <a:path w="56" h="56">
                <a:moveTo>
                  <a:pt x="46" y="7"/>
                </a:moveTo>
                <a:cubicBezTo>
                  <a:pt x="42" y="4"/>
                  <a:pt x="38" y="1"/>
                  <a:pt x="33" y="1"/>
                </a:cubicBezTo>
                <a:cubicBezTo>
                  <a:pt x="31" y="0"/>
                  <a:pt x="30" y="0"/>
                  <a:pt x="28" y="0"/>
                </a:cubicBezTo>
                <a:cubicBezTo>
                  <a:pt x="26" y="0"/>
                  <a:pt x="24" y="0"/>
                  <a:pt x="22" y="1"/>
                </a:cubicBezTo>
                <a:cubicBezTo>
                  <a:pt x="17" y="1"/>
                  <a:pt x="13" y="4"/>
                  <a:pt x="10" y="7"/>
                </a:cubicBezTo>
                <a:cubicBezTo>
                  <a:pt x="3" y="12"/>
                  <a:pt x="0" y="19"/>
                  <a:pt x="0" y="28"/>
                </a:cubicBezTo>
                <a:cubicBezTo>
                  <a:pt x="0" y="37"/>
                  <a:pt x="3" y="44"/>
                  <a:pt x="10" y="49"/>
                </a:cubicBezTo>
                <a:cubicBezTo>
                  <a:pt x="13" y="52"/>
                  <a:pt x="17" y="55"/>
                  <a:pt x="22" y="55"/>
                </a:cubicBezTo>
                <a:cubicBezTo>
                  <a:pt x="24" y="56"/>
                  <a:pt x="26" y="56"/>
                  <a:pt x="28" y="56"/>
                </a:cubicBezTo>
                <a:cubicBezTo>
                  <a:pt x="30" y="56"/>
                  <a:pt x="31" y="56"/>
                  <a:pt x="33" y="55"/>
                </a:cubicBezTo>
                <a:cubicBezTo>
                  <a:pt x="38" y="55"/>
                  <a:pt x="42" y="52"/>
                  <a:pt x="46" y="49"/>
                </a:cubicBezTo>
                <a:cubicBezTo>
                  <a:pt x="52" y="44"/>
                  <a:pt x="56" y="37"/>
                  <a:pt x="56" y="28"/>
                </a:cubicBezTo>
                <a:cubicBezTo>
                  <a:pt x="56" y="19"/>
                  <a:pt x="52" y="12"/>
                  <a:pt x="46" y="7"/>
                </a:cubicBezTo>
                <a:close/>
                <a:moveTo>
                  <a:pt x="20" y="7"/>
                </a:moveTo>
                <a:cubicBezTo>
                  <a:pt x="18" y="9"/>
                  <a:pt x="16" y="11"/>
                  <a:pt x="14" y="14"/>
                </a:cubicBezTo>
                <a:cubicBezTo>
                  <a:pt x="10" y="14"/>
                  <a:pt x="10" y="14"/>
                  <a:pt x="10" y="14"/>
                </a:cubicBezTo>
                <a:cubicBezTo>
                  <a:pt x="13" y="11"/>
                  <a:pt x="16" y="8"/>
                  <a:pt x="20" y="7"/>
                </a:cubicBezTo>
                <a:close/>
                <a:moveTo>
                  <a:pt x="7" y="19"/>
                </a:moveTo>
                <a:cubicBezTo>
                  <a:pt x="12" y="19"/>
                  <a:pt x="12" y="19"/>
                  <a:pt x="12" y="19"/>
                </a:cubicBezTo>
                <a:cubicBezTo>
                  <a:pt x="11" y="21"/>
                  <a:pt x="11" y="23"/>
                  <a:pt x="11" y="25"/>
                </a:cubicBezTo>
                <a:cubicBezTo>
                  <a:pt x="5" y="25"/>
                  <a:pt x="5" y="25"/>
                  <a:pt x="5" y="25"/>
                </a:cubicBezTo>
                <a:cubicBezTo>
                  <a:pt x="6" y="23"/>
                  <a:pt x="6" y="21"/>
                  <a:pt x="7" y="19"/>
                </a:cubicBezTo>
                <a:close/>
                <a:moveTo>
                  <a:pt x="6" y="36"/>
                </a:moveTo>
                <a:cubicBezTo>
                  <a:pt x="6" y="34"/>
                  <a:pt x="5" y="32"/>
                  <a:pt x="5" y="30"/>
                </a:cubicBezTo>
                <a:cubicBezTo>
                  <a:pt x="11" y="30"/>
                  <a:pt x="11" y="30"/>
                  <a:pt x="11" y="30"/>
                </a:cubicBezTo>
                <a:cubicBezTo>
                  <a:pt x="11" y="32"/>
                  <a:pt x="11" y="34"/>
                  <a:pt x="12" y="36"/>
                </a:cubicBezTo>
                <a:lnTo>
                  <a:pt x="6" y="36"/>
                </a:lnTo>
                <a:close/>
                <a:moveTo>
                  <a:pt x="9" y="41"/>
                </a:moveTo>
                <a:cubicBezTo>
                  <a:pt x="14" y="41"/>
                  <a:pt x="14" y="41"/>
                  <a:pt x="14" y="41"/>
                </a:cubicBezTo>
                <a:cubicBezTo>
                  <a:pt x="16" y="44"/>
                  <a:pt x="18" y="47"/>
                  <a:pt x="20" y="49"/>
                </a:cubicBezTo>
                <a:cubicBezTo>
                  <a:pt x="16" y="48"/>
                  <a:pt x="12" y="45"/>
                  <a:pt x="9" y="41"/>
                </a:cubicBezTo>
                <a:close/>
                <a:moveTo>
                  <a:pt x="25" y="46"/>
                </a:moveTo>
                <a:cubicBezTo>
                  <a:pt x="23" y="45"/>
                  <a:pt x="22" y="43"/>
                  <a:pt x="20" y="41"/>
                </a:cubicBezTo>
                <a:cubicBezTo>
                  <a:pt x="25" y="41"/>
                  <a:pt x="25" y="41"/>
                  <a:pt x="25" y="41"/>
                </a:cubicBezTo>
                <a:lnTo>
                  <a:pt x="25" y="46"/>
                </a:lnTo>
                <a:close/>
                <a:moveTo>
                  <a:pt x="25" y="36"/>
                </a:moveTo>
                <a:cubicBezTo>
                  <a:pt x="17" y="36"/>
                  <a:pt x="17" y="36"/>
                  <a:pt x="17" y="36"/>
                </a:cubicBezTo>
                <a:cubicBezTo>
                  <a:pt x="17" y="34"/>
                  <a:pt x="16" y="32"/>
                  <a:pt x="16" y="30"/>
                </a:cubicBezTo>
                <a:cubicBezTo>
                  <a:pt x="25" y="30"/>
                  <a:pt x="25" y="30"/>
                  <a:pt x="25" y="30"/>
                </a:cubicBezTo>
                <a:lnTo>
                  <a:pt x="25" y="36"/>
                </a:lnTo>
                <a:close/>
                <a:moveTo>
                  <a:pt x="25" y="25"/>
                </a:moveTo>
                <a:cubicBezTo>
                  <a:pt x="16" y="25"/>
                  <a:pt x="16" y="25"/>
                  <a:pt x="16" y="25"/>
                </a:cubicBezTo>
                <a:cubicBezTo>
                  <a:pt x="17" y="23"/>
                  <a:pt x="17" y="21"/>
                  <a:pt x="18" y="19"/>
                </a:cubicBezTo>
                <a:cubicBezTo>
                  <a:pt x="25" y="19"/>
                  <a:pt x="25" y="19"/>
                  <a:pt x="25" y="19"/>
                </a:cubicBezTo>
                <a:lnTo>
                  <a:pt x="25" y="25"/>
                </a:lnTo>
                <a:close/>
                <a:moveTo>
                  <a:pt x="25" y="14"/>
                </a:moveTo>
                <a:cubicBezTo>
                  <a:pt x="21" y="14"/>
                  <a:pt x="21" y="14"/>
                  <a:pt x="21" y="14"/>
                </a:cubicBezTo>
                <a:cubicBezTo>
                  <a:pt x="22" y="12"/>
                  <a:pt x="23" y="11"/>
                  <a:pt x="25" y="10"/>
                </a:cubicBezTo>
                <a:lnTo>
                  <a:pt x="25" y="14"/>
                </a:lnTo>
                <a:close/>
                <a:moveTo>
                  <a:pt x="48" y="19"/>
                </a:moveTo>
                <a:cubicBezTo>
                  <a:pt x="49" y="21"/>
                  <a:pt x="50" y="23"/>
                  <a:pt x="50" y="25"/>
                </a:cubicBezTo>
                <a:cubicBezTo>
                  <a:pt x="45" y="25"/>
                  <a:pt x="45" y="25"/>
                  <a:pt x="45" y="25"/>
                </a:cubicBezTo>
                <a:cubicBezTo>
                  <a:pt x="44" y="23"/>
                  <a:pt x="44" y="21"/>
                  <a:pt x="43" y="19"/>
                </a:cubicBezTo>
                <a:lnTo>
                  <a:pt x="48" y="19"/>
                </a:lnTo>
                <a:close/>
                <a:moveTo>
                  <a:pt x="45" y="14"/>
                </a:moveTo>
                <a:cubicBezTo>
                  <a:pt x="41" y="14"/>
                  <a:pt x="41" y="14"/>
                  <a:pt x="41" y="14"/>
                </a:cubicBezTo>
                <a:cubicBezTo>
                  <a:pt x="39" y="11"/>
                  <a:pt x="37" y="9"/>
                  <a:pt x="35" y="7"/>
                </a:cubicBezTo>
                <a:cubicBezTo>
                  <a:pt x="39" y="8"/>
                  <a:pt x="42" y="11"/>
                  <a:pt x="45" y="14"/>
                </a:cubicBezTo>
                <a:close/>
                <a:moveTo>
                  <a:pt x="30" y="10"/>
                </a:moveTo>
                <a:cubicBezTo>
                  <a:pt x="32" y="11"/>
                  <a:pt x="33" y="12"/>
                  <a:pt x="34" y="14"/>
                </a:cubicBezTo>
                <a:cubicBezTo>
                  <a:pt x="30" y="14"/>
                  <a:pt x="30" y="14"/>
                  <a:pt x="30" y="14"/>
                </a:cubicBezTo>
                <a:lnTo>
                  <a:pt x="30" y="10"/>
                </a:lnTo>
                <a:close/>
                <a:moveTo>
                  <a:pt x="30" y="19"/>
                </a:moveTo>
                <a:cubicBezTo>
                  <a:pt x="38" y="19"/>
                  <a:pt x="38" y="19"/>
                  <a:pt x="38" y="19"/>
                </a:cubicBezTo>
                <a:cubicBezTo>
                  <a:pt x="38" y="21"/>
                  <a:pt x="39" y="23"/>
                  <a:pt x="39" y="25"/>
                </a:cubicBezTo>
                <a:cubicBezTo>
                  <a:pt x="30" y="25"/>
                  <a:pt x="30" y="25"/>
                  <a:pt x="30" y="25"/>
                </a:cubicBezTo>
                <a:lnTo>
                  <a:pt x="30" y="19"/>
                </a:lnTo>
                <a:close/>
                <a:moveTo>
                  <a:pt x="30" y="30"/>
                </a:moveTo>
                <a:cubicBezTo>
                  <a:pt x="39" y="30"/>
                  <a:pt x="39" y="30"/>
                  <a:pt x="39" y="30"/>
                </a:cubicBezTo>
                <a:cubicBezTo>
                  <a:pt x="39" y="32"/>
                  <a:pt x="39" y="34"/>
                  <a:pt x="38" y="36"/>
                </a:cubicBezTo>
                <a:cubicBezTo>
                  <a:pt x="30" y="36"/>
                  <a:pt x="30" y="36"/>
                  <a:pt x="30" y="36"/>
                </a:cubicBezTo>
                <a:lnTo>
                  <a:pt x="30" y="30"/>
                </a:lnTo>
                <a:close/>
                <a:moveTo>
                  <a:pt x="30" y="46"/>
                </a:moveTo>
                <a:cubicBezTo>
                  <a:pt x="30" y="41"/>
                  <a:pt x="30" y="41"/>
                  <a:pt x="30" y="41"/>
                </a:cubicBezTo>
                <a:cubicBezTo>
                  <a:pt x="35" y="41"/>
                  <a:pt x="35" y="41"/>
                  <a:pt x="35" y="41"/>
                </a:cubicBezTo>
                <a:cubicBezTo>
                  <a:pt x="34" y="43"/>
                  <a:pt x="32" y="45"/>
                  <a:pt x="30" y="46"/>
                </a:cubicBezTo>
                <a:close/>
                <a:moveTo>
                  <a:pt x="35" y="49"/>
                </a:moveTo>
                <a:cubicBezTo>
                  <a:pt x="38" y="47"/>
                  <a:pt x="40" y="44"/>
                  <a:pt x="41" y="41"/>
                </a:cubicBezTo>
                <a:cubicBezTo>
                  <a:pt x="46" y="41"/>
                  <a:pt x="46" y="41"/>
                  <a:pt x="46" y="41"/>
                </a:cubicBezTo>
                <a:cubicBezTo>
                  <a:pt x="43" y="45"/>
                  <a:pt x="39" y="48"/>
                  <a:pt x="35" y="49"/>
                </a:cubicBezTo>
                <a:close/>
                <a:moveTo>
                  <a:pt x="44" y="36"/>
                </a:moveTo>
                <a:cubicBezTo>
                  <a:pt x="44" y="34"/>
                  <a:pt x="44" y="32"/>
                  <a:pt x="45" y="30"/>
                </a:cubicBezTo>
                <a:cubicBezTo>
                  <a:pt x="50" y="30"/>
                  <a:pt x="50" y="30"/>
                  <a:pt x="50" y="30"/>
                </a:cubicBezTo>
                <a:cubicBezTo>
                  <a:pt x="50" y="32"/>
                  <a:pt x="49" y="34"/>
                  <a:pt x="49" y="36"/>
                </a:cubicBezTo>
                <a:lnTo>
                  <a:pt x="44" y="36"/>
                </a:lnTo>
                <a:close/>
              </a:path>
            </a:pathLst>
          </a:custGeom>
          <a:ln>
            <a:headEnd/>
            <a:tailEnd/>
          </a:ln>
        </p:spPr>
        <p:style>
          <a:lnRef idx="2">
            <a:schemeClr val="accent3"/>
          </a:lnRef>
          <a:fillRef idx="1">
            <a:schemeClr val="lt1"/>
          </a:fillRef>
          <a:effectRef idx="0">
            <a:schemeClr val="accent3"/>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11" name="文本框 10"/>
          <p:cNvSpPr txBox="1"/>
          <p:nvPr/>
        </p:nvSpPr>
        <p:spPr>
          <a:xfrm>
            <a:off x="1357362" y="2111023"/>
            <a:ext cx="2044312" cy="35086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MR3 </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管理评审要素</a:t>
            </a:r>
          </a:p>
        </p:txBody>
      </p:sp>
      <p:sp>
        <p:nvSpPr>
          <p:cNvPr id="12" name="圆角矩形 11"/>
          <p:cNvSpPr/>
          <p:nvPr/>
        </p:nvSpPr>
        <p:spPr>
          <a:xfrm>
            <a:off x="6371433" y="2006279"/>
            <a:ext cx="3166138" cy="477835"/>
          </a:xfrm>
          <a:prstGeom prst="roundRect">
            <a:avLst/>
          </a:prstGeom>
          <a:solidFill>
            <a:schemeClr val="bg1">
              <a:lumMod val="85000"/>
            </a:schemeClr>
          </a:solidFill>
          <a:ln>
            <a:solidFill>
              <a:schemeClr val="bg1">
                <a:lumMod val="85000"/>
              </a:schemeClr>
            </a:solidFill>
          </a:ln>
          <a:effectLst>
            <a:reflection blurRad="6350" stA="50000" endA="300" endPos="5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3" name="文本框 12"/>
          <p:cNvSpPr txBox="1"/>
          <p:nvPr/>
        </p:nvSpPr>
        <p:spPr>
          <a:xfrm>
            <a:off x="6876086" y="2060740"/>
            <a:ext cx="2044312" cy="3289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400" dirty="0">
                <a:solidFill>
                  <a:prstClr val="black">
                    <a:lumMod val="75000"/>
                    <a:lumOff val="25000"/>
                  </a:prstClr>
                </a:solidFill>
                <a:latin typeface="微软雅黑"/>
                <a:ea typeface="微软雅黑"/>
              </a:rPr>
              <a:t>裁剪</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原则</a:t>
            </a:r>
          </a:p>
        </p:txBody>
      </p:sp>
      <p:sp>
        <p:nvSpPr>
          <p:cNvPr id="15" name="任意多边形 30" title="HBOw5gySgy"/>
          <p:cNvSpPr>
            <a:spLocks/>
          </p:cNvSpPr>
          <p:nvPr/>
        </p:nvSpPr>
        <p:spPr bwMode="auto">
          <a:xfrm>
            <a:off x="6456081" y="1990603"/>
            <a:ext cx="420005" cy="454984"/>
          </a:xfrm>
          <a:custGeom>
            <a:avLst/>
            <a:gdLst>
              <a:gd name="connsiteX0" fmla="*/ 179388 w 268288"/>
              <a:gd name="connsiteY0" fmla="*/ 166688 h 338138"/>
              <a:gd name="connsiteX1" fmla="*/ 203200 w 268288"/>
              <a:gd name="connsiteY1" fmla="*/ 190443 h 338138"/>
              <a:gd name="connsiteX2" fmla="*/ 203200 w 268288"/>
              <a:gd name="connsiteY2" fmla="*/ 252471 h 338138"/>
              <a:gd name="connsiteX3" fmla="*/ 179388 w 268288"/>
              <a:gd name="connsiteY3" fmla="*/ 276226 h 338138"/>
              <a:gd name="connsiteX4" fmla="*/ 155575 w 268288"/>
              <a:gd name="connsiteY4" fmla="*/ 252471 h 338138"/>
              <a:gd name="connsiteX5" fmla="*/ 155575 w 268288"/>
              <a:gd name="connsiteY5" fmla="*/ 190443 h 338138"/>
              <a:gd name="connsiteX6" fmla="*/ 179388 w 268288"/>
              <a:gd name="connsiteY6" fmla="*/ 166688 h 338138"/>
              <a:gd name="connsiteX7" fmla="*/ 179388 w 268288"/>
              <a:gd name="connsiteY7" fmla="*/ 150813 h 338138"/>
              <a:gd name="connsiteX8" fmla="*/ 139700 w 268288"/>
              <a:gd name="connsiteY8" fmla="*/ 190427 h 338138"/>
              <a:gd name="connsiteX9" fmla="*/ 139700 w 268288"/>
              <a:gd name="connsiteY9" fmla="*/ 252488 h 338138"/>
              <a:gd name="connsiteX10" fmla="*/ 179388 w 268288"/>
              <a:gd name="connsiteY10" fmla="*/ 292101 h 338138"/>
              <a:gd name="connsiteX11" fmla="*/ 219075 w 268288"/>
              <a:gd name="connsiteY11" fmla="*/ 252488 h 338138"/>
              <a:gd name="connsiteX12" fmla="*/ 219075 w 268288"/>
              <a:gd name="connsiteY12" fmla="*/ 190427 h 338138"/>
              <a:gd name="connsiteX13" fmla="*/ 179388 w 268288"/>
              <a:gd name="connsiteY13" fmla="*/ 150813 h 338138"/>
              <a:gd name="connsiteX14" fmla="*/ 57120 w 268288"/>
              <a:gd name="connsiteY14" fmla="*/ 150813 h 338138"/>
              <a:gd name="connsiteX15" fmla="*/ 49212 w 268288"/>
              <a:gd name="connsiteY15" fmla="*/ 158705 h 338138"/>
              <a:gd name="connsiteX16" fmla="*/ 57120 w 268288"/>
              <a:gd name="connsiteY16" fmla="*/ 166597 h 338138"/>
              <a:gd name="connsiteX17" fmla="*/ 80842 w 268288"/>
              <a:gd name="connsiteY17" fmla="*/ 166597 h 338138"/>
              <a:gd name="connsiteX18" fmla="*/ 103247 w 268288"/>
              <a:gd name="connsiteY18" fmla="*/ 188959 h 338138"/>
              <a:gd name="connsiteX19" fmla="*/ 103247 w 268288"/>
              <a:gd name="connsiteY19" fmla="*/ 190274 h 338138"/>
              <a:gd name="connsiteX20" fmla="*/ 80842 w 268288"/>
              <a:gd name="connsiteY20" fmla="*/ 212635 h 338138"/>
              <a:gd name="connsiteX21" fmla="*/ 57120 w 268288"/>
              <a:gd name="connsiteY21" fmla="*/ 212635 h 338138"/>
              <a:gd name="connsiteX22" fmla="*/ 49212 w 268288"/>
              <a:gd name="connsiteY22" fmla="*/ 220527 h 338138"/>
              <a:gd name="connsiteX23" fmla="*/ 57120 w 268288"/>
              <a:gd name="connsiteY23" fmla="*/ 228419 h 338138"/>
              <a:gd name="connsiteX24" fmla="*/ 80842 w 268288"/>
              <a:gd name="connsiteY24" fmla="*/ 228419 h 338138"/>
              <a:gd name="connsiteX25" fmla="*/ 103247 w 268288"/>
              <a:gd name="connsiteY25" fmla="*/ 250781 h 338138"/>
              <a:gd name="connsiteX26" fmla="*/ 80842 w 268288"/>
              <a:gd name="connsiteY26" fmla="*/ 273142 h 338138"/>
              <a:gd name="connsiteX27" fmla="*/ 57120 w 268288"/>
              <a:gd name="connsiteY27" fmla="*/ 273142 h 338138"/>
              <a:gd name="connsiteX28" fmla="*/ 49212 w 268288"/>
              <a:gd name="connsiteY28" fmla="*/ 281034 h 338138"/>
              <a:gd name="connsiteX29" fmla="*/ 57120 w 268288"/>
              <a:gd name="connsiteY29" fmla="*/ 288926 h 338138"/>
              <a:gd name="connsiteX30" fmla="*/ 80842 w 268288"/>
              <a:gd name="connsiteY30" fmla="*/ 288926 h 338138"/>
              <a:gd name="connsiteX31" fmla="*/ 119062 w 268288"/>
              <a:gd name="connsiteY31" fmla="*/ 250781 h 338138"/>
              <a:gd name="connsiteX32" fmla="*/ 103247 w 268288"/>
              <a:gd name="connsiteY32" fmla="*/ 220527 h 338138"/>
              <a:gd name="connsiteX33" fmla="*/ 119062 w 268288"/>
              <a:gd name="connsiteY33" fmla="*/ 190274 h 338138"/>
              <a:gd name="connsiteX34" fmla="*/ 119062 w 268288"/>
              <a:gd name="connsiteY34" fmla="*/ 188959 h 338138"/>
              <a:gd name="connsiteX35" fmla="*/ 80842 w 268288"/>
              <a:gd name="connsiteY35" fmla="*/ 150813 h 338138"/>
              <a:gd name="connsiteX36" fmla="*/ 57120 w 268288"/>
              <a:gd name="connsiteY36" fmla="*/ 150813 h 338138"/>
              <a:gd name="connsiteX37" fmla="*/ 46099 w 268288"/>
              <a:gd name="connsiteY37" fmla="*/ 47625 h 338138"/>
              <a:gd name="connsiteX38" fmla="*/ 15875 w 268288"/>
              <a:gd name="connsiteY38" fmla="*/ 79629 h 338138"/>
              <a:gd name="connsiteX39" fmla="*/ 15875 w 268288"/>
              <a:gd name="connsiteY39" fmla="*/ 114300 h 338138"/>
              <a:gd name="connsiteX40" fmla="*/ 252413 w 268288"/>
              <a:gd name="connsiteY40" fmla="*/ 114300 h 338138"/>
              <a:gd name="connsiteX41" fmla="*/ 252413 w 268288"/>
              <a:gd name="connsiteY41" fmla="*/ 79629 h 338138"/>
              <a:gd name="connsiteX42" fmla="*/ 222189 w 268288"/>
              <a:gd name="connsiteY42" fmla="*/ 47625 h 338138"/>
              <a:gd name="connsiteX43" fmla="*/ 210362 w 268288"/>
              <a:gd name="connsiteY43" fmla="*/ 47625 h 338138"/>
              <a:gd name="connsiteX44" fmla="*/ 210362 w 268288"/>
              <a:gd name="connsiteY44" fmla="*/ 71628 h 338138"/>
              <a:gd name="connsiteX45" fmla="*/ 202477 w 268288"/>
              <a:gd name="connsiteY45" fmla="*/ 79629 h 338138"/>
              <a:gd name="connsiteX46" fmla="*/ 194593 w 268288"/>
              <a:gd name="connsiteY46" fmla="*/ 71628 h 338138"/>
              <a:gd name="connsiteX47" fmla="*/ 194593 w 268288"/>
              <a:gd name="connsiteY47" fmla="*/ 47625 h 338138"/>
              <a:gd name="connsiteX48" fmla="*/ 73696 w 268288"/>
              <a:gd name="connsiteY48" fmla="*/ 47625 h 338138"/>
              <a:gd name="connsiteX49" fmla="*/ 73696 w 268288"/>
              <a:gd name="connsiteY49" fmla="*/ 71628 h 338138"/>
              <a:gd name="connsiteX50" fmla="*/ 65811 w 268288"/>
              <a:gd name="connsiteY50" fmla="*/ 79629 h 338138"/>
              <a:gd name="connsiteX51" fmla="*/ 57926 w 268288"/>
              <a:gd name="connsiteY51" fmla="*/ 71628 h 338138"/>
              <a:gd name="connsiteX52" fmla="*/ 57926 w 268288"/>
              <a:gd name="connsiteY52" fmla="*/ 47625 h 338138"/>
              <a:gd name="connsiteX53" fmla="*/ 46099 w 268288"/>
              <a:gd name="connsiteY53" fmla="*/ 47625 h 338138"/>
              <a:gd name="connsiteX54" fmla="*/ 65757 w 268288"/>
              <a:gd name="connsiteY54" fmla="*/ 0 h 338138"/>
              <a:gd name="connsiteX55" fmla="*/ 73648 w 268288"/>
              <a:gd name="connsiteY55" fmla="*/ 7925 h 338138"/>
              <a:gd name="connsiteX56" fmla="*/ 73648 w 268288"/>
              <a:gd name="connsiteY56" fmla="*/ 31700 h 338138"/>
              <a:gd name="connsiteX57" fmla="*/ 194640 w 268288"/>
              <a:gd name="connsiteY57" fmla="*/ 31700 h 338138"/>
              <a:gd name="connsiteX58" fmla="*/ 194640 w 268288"/>
              <a:gd name="connsiteY58" fmla="*/ 7925 h 338138"/>
              <a:gd name="connsiteX59" fmla="*/ 202531 w 268288"/>
              <a:gd name="connsiteY59" fmla="*/ 0 h 338138"/>
              <a:gd name="connsiteX60" fmla="*/ 210422 w 268288"/>
              <a:gd name="connsiteY60" fmla="*/ 7925 h 338138"/>
              <a:gd name="connsiteX61" fmla="*/ 210422 w 268288"/>
              <a:gd name="connsiteY61" fmla="*/ 31700 h 338138"/>
              <a:gd name="connsiteX62" fmla="*/ 222258 w 268288"/>
              <a:gd name="connsiteY62" fmla="*/ 31700 h 338138"/>
              <a:gd name="connsiteX63" fmla="*/ 268288 w 268288"/>
              <a:gd name="connsiteY63" fmla="*/ 79251 h 338138"/>
              <a:gd name="connsiteX64" fmla="*/ 268288 w 268288"/>
              <a:gd name="connsiteY64" fmla="*/ 290587 h 338138"/>
              <a:gd name="connsiteX65" fmla="*/ 222258 w 268288"/>
              <a:gd name="connsiteY65" fmla="*/ 338138 h 338138"/>
              <a:gd name="connsiteX66" fmla="*/ 46030 w 268288"/>
              <a:gd name="connsiteY66" fmla="*/ 338138 h 338138"/>
              <a:gd name="connsiteX67" fmla="*/ 0 w 268288"/>
              <a:gd name="connsiteY67" fmla="*/ 290587 h 338138"/>
              <a:gd name="connsiteX68" fmla="*/ 0 w 268288"/>
              <a:gd name="connsiteY68" fmla="*/ 79251 h 338138"/>
              <a:gd name="connsiteX69" fmla="*/ 46030 w 268288"/>
              <a:gd name="connsiteY69" fmla="*/ 31700 h 338138"/>
              <a:gd name="connsiteX70" fmla="*/ 57866 w 268288"/>
              <a:gd name="connsiteY70" fmla="*/ 31700 h 338138"/>
              <a:gd name="connsiteX71" fmla="*/ 57866 w 268288"/>
              <a:gd name="connsiteY71" fmla="*/ 7925 h 338138"/>
              <a:gd name="connsiteX72" fmla="*/ 65757 w 268288"/>
              <a:gd name="connsiteY7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8288" h="338138">
                <a:moveTo>
                  <a:pt x="179388" y="166688"/>
                </a:moveTo>
                <a:cubicBezTo>
                  <a:pt x="192617" y="166688"/>
                  <a:pt x="203200" y="177246"/>
                  <a:pt x="203200" y="190443"/>
                </a:cubicBezTo>
                <a:cubicBezTo>
                  <a:pt x="203200" y="252471"/>
                  <a:pt x="203200" y="252471"/>
                  <a:pt x="203200" y="252471"/>
                </a:cubicBezTo>
                <a:cubicBezTo>
                  <a:pt x="203200" y="265668"/>
                  <a:pt x="192617" y="276226"/>
                  <a:pt x="179388" y="276226"/>
                </a:cubicBezTo>
                <a:cubicBezTo>
                  <a:pt x="166158" y="276226"/>
                  <a:pt x="155575" y="265668"/>
                  <a:pt x="155575" y="252471"/>
                </a:cubicBezTo>
                <a:cubicBezTo>
                  <a:pt x="155575" y="190443"/>
                  <a:pt x="155575" y="190443"/>
                  <a:pt x="155575" y="190443"/>
                </a:cubicBezTo>
                <a:cubicBezTo>
                  <a:pt x="155575" y="177246"/>
                  <a:pt x="166158" y="166688"/>
                  <a:pt x="179388" y="166688"/>
                </a:cubicBezTo>
                <a:close/>
                <a:moveTo>
                  <a:pt x="179388" y="150813"/>
                </a:moveTo>
                <a:cubicBezTo>
                  <a:pt x="158221" y="150813"/>
                  <a:pt x="139700" y="169299"/>
                  <a:pt x="139700" y="190427"/>
                </a:cubicBezTo>
                <a:cubicBezTo>
                  <a:pt x="139700" y="252488"/>
                  <a:pt x="139700" y="252488"/>
                  <a:pt x="139700" y="252488"/>
                </a:cubicBezTo>
                <a:cubicBezTo>
                  <a:pt x="139700" y="273615"/>
                  <a:pt x="158221" y="292101"/>
                  <a:pt x="179388" y="292101"/>
                </a:cubicBezTo>
                <a:cubicBezTo>
                  <a:pt x="201877" y="292101"/>
                  <a:pt x="219075" y="273615"/>
                  <a:pt x="219075" y="252488"/>
                </a:cubicBezTo>
                <a:lnTo>
                  <a:pt x="219075" y="190427"/>
                </a:lnTo>
                <a:cubicBezTo>
                  <a:pt x="219075" y="169299"/>
                  <a:pt x="201877" y="150813"/>
                  <a:pt x="179388" y="150813"/>
                </a:cubicBezTo>
                <a:close/>
                <a:moveTo>
                  <a:pt x="57120" y="150813"/>
                </a:moveTo>
                <a:cubicBezTo>
                  <a:pt x="51848" y="150813"/>
                  <a:pt x="49212" y="154759"/>
                  <a:pt x="49212" y="158705"/>
                </a:cubicBezTo>
                <a:cubicBezTo>
                  <a:pt x="49212" y="163967"/>
                  <a:pt x="51848" y="166597"/>
                  <a:pt x="57120" y="166597"/>
                </a:cubicBezTo>
                <a:cubicBezTo>
                  <a:pt x="80842" y="166597"/>
                  <a:pt x="80842" y="166597"/>
                  <a:pt x="80842" y="166597"/>
                </a:cubicBezTo>
                <a:cubicBezTo>
                  <a:pt x="92704" y="166597"/>
                  <a:pt x="103247" y="177120"/>
                  <a:pt x="103247" y="188959"/>
                </a:cubicBezTo>
                <a:cubicBezTo>
                  <a:pt x="103247" y="190274"/>
                  <a:pt x="103247" y="190274"/>
                  <a:pt x="103247" y="190274"/>
                </a:cubicBezTo>
                <a:cubicBezTo>
                  <a:pt x="103247" y="202112"/>
                  <a:pt x="92704" y="212635"/>
                  <a:pt x="80842" y="212635"/>
                </a:cubicBezTo>
                <a:cubicBezTo>
                  <a:pt x="57120" y="212635"/>
                  <a:pt x="57120" y="212635"/>
                  <a:pt x="57120" y="212635"/>
                </a:cubicBezTo>
                <a:cubicBezTo>
                  <a:pt x="51848" y="212635"/>
                  <a:pt x="49212" y="215266"/>
                  <a:pt x="49212" y="220527"/>
                </a:cubicBezTo>
                <a:cubicBezTo>
                  <a:pt x="49212" y="224473"/>
                  <a:pt x="51848" y="228419"/>
                  <a:pt x="57120" y="228419"/>
                </a:cubicBezTo>
                <a:cubicBezTo>
                  <a:pt x="80842" y="228419"/>
                  <a:pt x="80842" y="228419"/>
                  <a:pt x="80842" y="228419"/>
                </a:cubicBezTo>
                <a:cubicBezTo>
                  <a:pt x="92704" y="228419"/>
                  <a:pt x="103247" y="237627"/>
                  <a:pt x="103247" y="250781"/>
                </a:cubicBezTo>
                <a:cubicBezTo>
                  <a:pt x="103247" y="263934"/>
                  <a:pt x="92704" y="273142"/>
                  <a:pt x="80842" y="273142"/>
                </a:cubicBezTo>
                <a:cubicBezTo>
                  <a:pt x="57120" y="273142"/>
                  <a:pt x="57120" y="273142"/>
                  <a:pt x="57120" y="273142"/>
                </a:cubicBezTo>
                <a:cubicBezTo>
                  <a:pt x="51848" y="273142"/>
                  <a:pt x="49212" y="277088"/>
                  <a:pt x="49212" y="281034"/>
                </a:cubicBezTo>
                <a:cubicBezTo>
                  <a:pt x="49212" y="284980"/>
                  <a:pt x="51848" y="288926"/>
                  <a:pt x="57120" y="288926"/>
                </a:cubicBezTo>
                <a:cubicBezTo>
                  <a:pt x="80842" y="288926"/>
                  <a:pt x="80842" y="288926"/>
                  <a:pt x="80842" y="288926"/>
                </a:cubicBezTo>
                <a:cubicBezTo>
                  <a:pt x="101929" y="288926"/>
                  <a:pt x="119062" y="271826"/>
                  <a:pt x="119062" y="250781"/>
                </a:cubicBezTo>
                <a:cubicBezTo>
                  <a:pt x="119062" y="237627"/>
                  <a:pt x="112473" y="227104"/>
                  <a:pt x="103247" y="220527"/>
                </a:cubicBezTo>
                <a:cubicBezTo>
                  <a:pt x="112473" y="212635"/>
                  <a:pt x="119062" y="202112"/>
                  <a:pt x="119062" y="190274"/>
                </a:cubicBezTo>
                <a:lnTo>
                  <a:pt x="119062" y="188959"/>
                </a:lnTo>
                <a:cubicBezTo>
                  <a:pt x="119062" y="167913"/>
                  <a:pt x="101929" y="150813"/>
                  <a:pt x="80842" y="150813"/>
                </a:cubicBezTo>
                <a:cubicBezTo>
                  <a:pt x="57120" y="150813"/>
                  <a:pt x="57120" y="150813"/>
                  <a:pt x="57120" y="150813"/>
                </a:cubicBezTo>
                <a:close/>
                <a:moveTo>
                  <a:pt x="46099" y="47625"/>
                </a:moveTo>
                <a:cubicBezTo>
                  <a:pt x="29016" y="47625"/>
                  <a:pt x="15875" y="62294"/>
                  <a:pt x="15875" y="79629"/>
                </a:cubicBezTo>
                <a:cubicBezTo>
                  <a:pt x="15875" y="114300"/>
                  <a:pt x="15875" y="114300"/>
                  <a:pt x="15875" y="114300"/>
                </a:cubicBezTo>
                <a:cubicBezTo>
                  <a:pt x="252413" y="114300"/>
                  <a:pt x="252413" y="114300"/>
                  <a:pt x="252413" y="114300"/>
                </a:cubicBezTo>
                <a:lnTo>
                  <a:pt x="252413" y="79629"/>
                </a:lnTo>
                <a:cubicBezTo>
                  <a:pt x="252413" y="62294"/>
                  <a:pt x="239272" y="47625"/>
                  <a:pt x="222189" y="47625"/>
                </a:cubicBezTo>
                <a:cubicBezTo>
                  <a:pt x="210362" y="47625"/>
                  <a:pt x="210362" y="47625"/>
                  <a:pt x="210362" y="47625"/>
                </a:cubicBezTo>
                <a:cubicBezTo>
                  <a:pt x="210362" y="71628"/>
                  <a:pt x="210362" y="71628"/>
                  <a:pt x="210362" y="71628"/>
                </a:cubicBezTo>
                <a:cubicBezTo>
                  <a:pt x="210362" y="75629"/>
                  <a:pt x="206420" y="79629"/>
                  <a:pt x="202477" y="79629"/>
                </a:cubicBezTo>
                <a:cubicBezTo>
                  <a:pt x="197221" y="79629"/>
                  <a:pt x="194593" y="75629"/>
                  <a:pt x="194593" y="71628"/>
                </a:cubicBezTo>
                <a:cubicBezTo>
                  <a:pt x="194593" y="47625"/>
                  <a:pt x="194593" y="47625"/>
                  <a:pt x="194593" y="47625"/>
                </a:cubicBezTo>
                <a:cubicBezTo>
                  <a:pt x="73696" y="47625"/>
                  <a:pt x="73696" y="47625"/>
                  <a:pt x="73696" y="47625"/>
                </a:cubicBezTo>
                <a:cubicBezTo>
                  <a:pt x="73696" y="71628"/>
                  <a:pt x="73696" y="71628"/>
                  <a:pt x="73696" y="71628"/>
                </a:cubicBezTo>
                <a:cubicBezTo>
                  <a:pt x="73696" y="75629"/>
                  <a:pt x="71067" y="79629"/>
                  <a:pt x="65811" y="79629"/>
                </a:cubicBezTo>
                <a:cubicBezTo>
                  <a:pt x="61869" y="79629"/>
                  <a:pt x="57926" y="75629"/>
                  <a:pt x="57926" y="71628"/>
                </a:cubicBezTo>
                <a:cubicBezTo>
                  <a:pt x="57926" y="47625"/>
                  <a:pt x="57926" y="47625"/>
                  <a:pt x="57926" y="47625"/>
                </a:cubicBezTo>
                <a:cubicBezTo>
                  <a:pt x="46099" y="47625"/>
                  <a:pt x="46099" y="47625"/>
                  <a:pt x="46099" y="47625"/>
                </a:cubicBezTo>
                <a:close/>
                <a:moveTo>
                  <a:pt x="65757" y="0"/>
                </a:moveTo>
                <a:cubicBezTo>
                  <a:pt x="71018" y="0"/>
                  <a:pt x="73648" y="3962"/>
                  <a:pt x="73648" y="7925"/>
                </a:cubicBezTo>
                <a:cubicBezTo>
                  <a:pt x="73648" y="31700"/>
                  <a:pt x="73648" y="31700"/>
                  <a:pt x="73648" y="31700"/>
                </a:cubicBezTo>
                <a:cubicBezTo>
                  <a:pt x="194640" y="31700"/>
                  <a:pt x="194640" y="31700"/>
                  <a:pt x="194640" y="31700"/>
                </a:cubicBezTo>
                <a:cubicBezTo>
                  <a:pt x="194640" y="7925"/>
                  <a:pt x="194640" y="7925"/>
                  <a:pt x="194640" y="7925"/>
                </a:cubicBezTo>
                <a:cubicBezTo>
                  <a:pt x="194640" y="3962"/>
                  <a:pt x="197271" y="0"/>
                  <a:pt x="202531" y="0"/>
                </a:cubicBezTo>
                <a:cubicBezTo>
                  <a:pt x="206477" y="0"/>
                  <a:pt x="210422" y="3962"/>
                  <a:pt x="210422" y="7925"/>
                </a:cubicBezTo>
                <a:cubicBezTo>
                  <a:pt x="210422" y="31700"/>
                  <a:pt x="210422" y="31700"/>
                  <a:pt x="210422" y="31700"/>
                </a:cubicBezTo>
                <a:cubicBezTo>
                  <a:pt x="222258" y="31700"/>
                  <a:pt x="222258" y="31700"/>
                  <a:pt x="222258" y="31700"/>
                </a:cubicBezTo>
                <a:cubicBezTo>
                  <a:pt x="247246" y="31700"/>
                  <a:pt x="268288" y="52834"/>
                  <a:pt x="268288" y="79251"/>
                </a:cubicBezTo>
                <a:cubicBezTo>
                  <a:pt x="268288" y="290587"/>
                  <a:pt x="268288" y="290587"/>
                  <a:pt x="268288" y="290587"/>
                </a:cubicBezTo>
                <a:cubicBezTo>
                  <a:pt x="268288" y="317005"/>
                  <a:pt x="247246" y="338138"/>
                  <a:pt x="222258" y="338138"/>
                </a:cubicBezTo>
                <a:cubicBezTo>
                  <a:pt x="46030" y="338138"/>
                  <a:pt x="46030" y="338138"/>
                  <a:pt x="46030" y="338138"/>
                </a:cubicBezTo>
                <a:cubicBezTo>
                  <a:pt x="21042" y="338138"/>
                  <a:pt x="0" y="317005"/>
                  <a:pt x="0" y="290587"/>
                </a:cubicBezTo>
                <a:cubicBezTo>
                  <a:pt x="0" y="79251"/>
                  <a:pt x="0" y="79251"/>
                  <a:pt x="0" y="79251"/>
                </a:cubicBezTo>
                <a:cubicBezTo>
                  <a:pt x="0" y="52834"/>
                  <a:pt x="21042" y="31700"/>
                  <a:pt x="46030" y="31700"/>
                </a:cubicBezTo>
                <a:cubicBezTo>
                  <a:pt x="57866" y="31700"/>
                  <a:pt x="57866" y="31700"/>
                  <a:pt x="57866" y="31700"/>
                </a:cubicBezTo>
                <a:cubicBezTo>
                  <a:pt x="57866" y="7925"/>
                  <a:pt x="57866" y="7925"/>
                  <a:pt x="57866" y="7925"/>
                </a:cubicBezTo>
                <a:cubicBezTo>
                  <a:pt x="57866" y="3962"/>
                  <a:pt x="61812" y="0"/>
                  <a:pt x="65757" y="0"/>
                </a:cubicBezTo>
                <a:close/>
              </a:path>
            </a:pathLst>
          </a:custGeom>
          <a:ln/>
        </p:spPr>
        <p:style>
          <a:lnRef idx="2">
            <a:schemeClr val="accent3"/>
          </a:lnRef>
          <a:fillRef idx="1">
            <a:schemeClr val="lt1"/>
          </a:fillRef>
          <a:effectRef idx="0">
            <a:schemeClr val="accent3"/>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19" name="文本框 18"/>
          <p:cNvSpPr txBox="1"/>
          <p:nvPr/>
        </p:nvSpPr>
        <p:spPr>
          <a:xfrm>
            <a:off x="10231111" y="2972344"/>
            <a:ext cx="1701631" cy="2862322"/>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M-</a:t>
            </a:r>
            <a:r>
              <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强制：必须执行</a:t>
            </a:r>
            <a:endPar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R-</a:t>
            </a:r>
            <a:r>
              <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建议：推荐执行，需给出剪裁原因</a:t>
            </a:r>
            <a:endPar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无标识</a:t>
            </a:r>
            <a:r>
              <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a:t>
            </a:r>
            <a:r>
              <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可直接剪裁</a:t>
            </a:r>
            <a:endPar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适用性剪裁：项目范围内不涵盖某类活动，则可以剪裁硬件产品设计开发流程中的相应活动</a:t>
            </a:r>
            <a:endParaRPr kumimoji="0" lang="en-US" altLang="zh-CN"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indent="-285750">
              <a:lnSpc>
                <a:spcPct val="120000"/>
              </a:lnSpc>
              <a:buFont typeface="Arial" panose="020B0604020202020204" pitchFamily="34" charset="0"/>
              <a:buChar char="•"/>
              <a:defRPr/>
            </a:pPr>
            <a:r>
              <a:rPr lang="zh-CN" altLang="en-US" sz="1000" dirty="0">
                <a:cs typeface="+mn-ea"/>
                <a:sym typeface="+mn-lt"/>
              </a:rPr>
              <a:t>适用性裁剪：项目范围内不涵盖某类活动，则可以裁剪硬件产品设计开发流程中的相应活动。</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p:txBody>
      </p:sp>
      <p:graphicFrame>
        <p:nvGraphicFramePr>
          <p:cNvPr id="14" name="表格 13">
            <a:extLst>
              <a:ext uri="{FF2B5EF4-FFF2-40B4-BE49-F238E27FC236}">
                <a16:creationId xmlns:a16="http://schemas.microsoft.com/office/drawing/2014/main" id="{E169FA72-FCA5-43A8-8353-FAB004E1C8F1}"/>
              </a:ext>
            </a:extLst>
          </p:cNvPr>
          <p:cNvGraphicFramePr>
            <a:graphicFrameLocks noGrp="1"/>
          </p:cNvGraphicFramePr>
          <p:nvPr/>
        </p:nvGraphicFramePr>
        <p:xfrm>
          <a:off x="6456081" y="2594279"/>
          <a:ext cx="4034119" cy="3618452"/>
        </p:xfrm>
        <a:graphic>
          <a:graphicData uri="http://schemas.openxmlformats.org/drawingml/2006/table">
            <a:tbl>
              <a:tblPr>
                <a:tableStyleId>{5C22544A-7EE6-4342-B048-85BDC9FD1C3A}</a:tableStyleId>
              </a:tblPr>
              <a:tblGrid>
                <a:gridCol w="1378159">
                  <a:extLst>
                    <a:ext uri="{9D8B030D-6E8A-4147-A177-3AD203B41FA5}">
                      <a16:colId xmlns:a16="http://schemas.microsoft.com/office/drawing/2014/main" val="1596446604"/>
                    </a:ext>
                  </a:extLst>
                </a:gridCol>
                <a:gridCol w="885320">
                  <a:extLst>
                    <a:ext uri="{9D8B030D-6E8A-4147-A177-3AD203B41FA5}">
                      <a16:colId xmlns:a16="http://schemas.microsoft.com/office/drawing/2014/main" val="1703656589"/>
                    </a:ext>
                  </a:extLst>
                </a:gridCol>
                <a:gridCol w="885320">
                  <a:extLst>
                    <a:ext uri="{9D8B030D-6E8A-4147-A177-3AD203B41FA5}">
                      <a16:colId xmlns:a16="http://schemas.microsoft.com/office/drawing/2014/main" val="2930228736"/>
                    </a:ext>
                  </a:extLst>
                </a:gridCol>
                <a:gridCol w="885320">
                  <a:extLst>
                    <a:ext uri="{9D8B030D-6E8A-4147-A177-3AD203B41FA5}">
                      <a16:colId xmlns:a16="http://schemas.microsoft.com/office/drawing/2014/main" val="153241940"/>
                    </a:ext>
                  </a:extLst>
                </a:gridCol>
              </a:tblGrid>
              <a:tr h="0">
                <a:tc rowSpan="3">
                  <a:txBody>
                    <a:bodyPr/>
                    <a:lstStyle/>
                    <a:p>
                      <a:pPr algn="l" fontAlgn="ctr"/>
                      <a:r>
                        <a:rPr lang="zh-CN" altLang="en-US" sz="1100" b="1" u="none" strike="noStrike" dirty="0">
                          <a:effectLst/>
                          <a:latin typeface="+mn-lt"/>
                          <a:ea typeface="+mn-ea"/>
                          <a:cs typeface="+mn-ea"/>
                          <a:sym typeface="+mn-lt"/>
                        </a:rPr>
                        <a:t>         </a:t>
                      </a:r>
                      <a:r>
                        <a:rPr lang="zh-CN" altLang="en-US" sz="1100" b="1" u="none" strike="noStrike" dirty="0">
                          <a:solidFill>
                            <a:schemeClr val="bg1"/>
                          </a:solidFill>
                          <a:effectLst/>
                          <a:latin typeface="+mn-lt"/>
                          <a:ea typeface="+mn-ea"/>
                          <a:cs typeface="+mn-ea"/>
                          <a:sym typeface="+mn-lt"/>
                        </a:rPr>
                        <a:t>开发阶段</a:t>
                      </a:r>
                      <a:r>
                        <a:rPr lang="zh-CN" altLang="en-US" sz="1100" b="1" u="none" strike="noStrike" dirty="0">
                          <a:effectLst/>
                          <a:latin typeface="+mn-lt"/>
                          <a:ea typeface="+mn-ea"/>
                          <a:cs typeface="+mn-ea"/>
                          <a:sym typeface="+mn-lt"/>
                        </a:rPr>
                        <a:t/>
                      </a:r>
                      <a:br>
                        <a:rPr lang="zh-CN" altLang="en-US" sz="1100" b="1" u="none" strike="noStrike" dirty="0">
                          <a:effectLst/>
                          <a:latin typeface="+mn-lt"/>
                          <a:ea typeface="+mn-ea"/>
                          <a:cs typeface="+mn-ea"/>
                          <a:sym typeface="+mn-lt"/>
                        </a:rPr>
                      </a:br>
                      <a:r>
                        <a:rPr lang="zh-CN" altLang="en-US" sz="1100" b="1" u="none" strike="noStrike" dirty="0">
                          <a:effectLst/>
                          <a:latin typeface="+mn-lt"/>
                          <a:ea typeface="+mn-ea"/>
                          <a:cs typeface="+mn-ea"/>
                          <a:sym typeface="+mn-lt"/>
                        </a:rPr>
                        <a:t>   </a:t>
                      </a:r>
                      <a:endParaRPr lang="en-US" altLang="zh-CN" sz="1100" b="1" u="none" strike="noStrike" dirty="0">
                        <a:effectLst/>
                        <a:latin typeface="+mn-lt"/>
                        <a:ea typeface="+mn-ea"/>
                        <a:cs typeface="+mn-ea"/>
                        <a:sym typeface="+mn-lt"/>
                      </a:endParaRPr>
                    </a:p>
                    <a:p>
                      <a:pPr algn="l" fontAlgn="ctr"/>
                      <a:endParaRPr lang="en-US" altLang="zh-CN" sz="1100" b="1" u="none" strike="noStrike" dirty="0">
                        <a:effectLst/>
                        <a:latin typeface="+mn-lt"/>
                        <a:ea typeface="+mn-ea"/>
                        <a:cs typeface="+mn-ea"/>
                        <a:sym typeface="+mn-lt"/>
                      </a:endParaRPr>
                    </a:p>
                    <a:p>
                      <a:pPr algn="l" fontAlgn="ctr"/>
                      <a:r>
                        <a:rPr lang="zh-CN" altLang="en-US" sz="1100" b="1" u="none" strike="noStrike" dirty="0">
                          <a:solidFill>
                            <a:schemeClr val="bg1"/>
                          </a:solidFill>
                          <a:effectLst/>
                          <a:latin typeface="+mn-lt"/>
                          <a:ea typeface="+mn-ea"/>
                          <a:cs typeface="+mn-ea"/>
                          <a:sym typeface="+mn-lt"/>
                        </a:rPr>
                        <a:t>   项目类别</a:t>
                      </a:r>
                      <a:endParaRPr lang="zh-CN" altLang="en-US" sz="1100" b="1" i="0" u="none" strike="noStrike" dirty="0">
                        <a:solidFill>
                          <a:schemeClr val="bg1"/>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8AA1"/>
                    </a:solidFill>
                  </a:tcPr>
                </a:tc>
                <a:tc>
                  <a:txBody>
                    <a:bodyPr/>
                    <a:lstStyle/>
                    <a:p>
                      <a:pPr algn="ctr" fontAlgn="ctr"/>
                      <a:r>
                        <a:rPr lang="en-US" sz="1000" u="none" strike="noStrike" dirty="0">
                          <a:effectLst/>
                          <a:latin typeface="+mn-lt"/>
                          <a:ea typeface="+mn-ea"/>
                          <a:cs typeface="+mn-ea"/>
                          <a:sym typeface="+mn-lt"/>
                        </a:rPr>
                        <a:t>L10</a:t>
                      </a:r>
                      <a:endParaRPr lang="en-US" sz="10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sz="1000" u="none" strike="noStrike" dirty="0">
                          <a:effectLst/>
                          <a:latin typeface="+mn-lt"/>
                          <a:ea typeface="+mn-ea"/>
                          <a:cs typeface="+mn-ea"/>
                          <a:sym typeface="+mn-lt"/>
                        </a:rPr>
                        <a:t>L11</a:t>
                      </a:r>
                      <a:endParaRPr lang="en-US" sz="10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sz="1000" u="none" strike="noStrike" dirty="0">
                          <a:effectLst/>
                          <a:latin typeface="+mn-lt"/>
                          <a:ea typeface="+mn-ea"/>
                          <a:cs typeface="+mn-ea"/>
                          <a:sym typeface="+mn-lt"/>
                        </a:rPr>
                        <a:t>L12</a:t>
                      </a:r>
                      <a:endParaRPr lang="en-US" sz="10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extLst>
                  <a:ext uri="{0D108BD9-81ED-4DB2-BD59-A6C34878D82A}">
                    <a16:rowId xmlns:a16="http://schemas.microsoft.com/office/drawing/2014/main" val="1748448786"/>
                  </a:ext>
                </a:extLst>
              </a:tr>
              <a:tr h="218523">
                <a:tc vMerge="1">
                  <a:txBody>
                    <a:bodyPr/>
                    <a:lstStyle/>
                    <a:p>
                      <a:endParaRPr lang="zh-CN" altLang="en-US"/>
                    </a:p>
                  </a:txBody>
                  <a:tcPr/>
                </a:tc>
                <a:tc gridSpan="3">
                  <a:txBody>
                    <a:bodyPr/>
                    <a:lstStyle/>
                    <a:p>
                      <a:pPr algn="ctr" fontAlgn="ctr"/>
                      <a:r>
                        <a:rPr lang="en-US" sz="1050" b="1" u="none" strike="noStrike" dirty="0">
                          <a:solidFill>
                            <a:schemeClr val="bg1"/>
                          </a:solidFill>
                          <a:effectLst/>
                          <a:latin typeface="+mn-lt"/>
                          <a:ea typeface="+mn-ea"/>
                          <a:cs typeface="+mn-ea"/>
                          <a:sym typeface="+mn-lt"/>
                        </a:rPr>
                        <a:t>M4 </a:t>
                      </a:r>
                      <a:r>
                        <a:rPr lang="zh-CN" altLang="en-US" sz="1050" b="1" u="none" strike="noStrike" dirty="0">
                          <a:solidFill>
                            <a:schemeClr val="bg1"/>
                          </a:solidFill>
                          <a:effectLst/>
                          <a:latin typeface="+mn-lt"/>
                          <a:ea typeface="+mn-ea"/>
                          <a:cs typeface="+mn-ea"/>
                          <a:sym typeface="+mn-lt"/>
                        </a:rPr>
                        <a:t>试制阶段</a:t>
                      </a:r>
                      <a:r>
                        <a:rPr lang="en-US" altLang="zh-CN" sz="1050" b="1" u="none" strike="noStrike" dirty="0">
                          <a:solidFill>
                            <a:schemeClr val="bg1"/>
                          </a:solidFill>
                          <a:effectLst/>
                          <a:latin typeface="+mn-lt"/>
                          <a:ea typeface="+mn-ea"/>
                          <a:cs typeface="+mn-ea"/>
                          <a:sym typeface="+mn-lt"/>
                        </a:rPr>
                        <a:t>(3M)</a:t>
                      </a:r>
                      <a:endParaRPr lang="zh-CN" altLang="en-US" sz="1050" b="1" i="0" u="none" strike="noStrike" dirty="0">
                        <a:solidFill>
                          <a:schemeClr val="bg1"/>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8AA1"/>
                    </a:solidFill>
                  </a:tcPr>
                </a:tc>
                <a:tc hMerge="1">
                  <a:txBody>
                    <a:bodyPr/>
                    <a:lstStyle/>
                    <a:p>
                      <a:endParaRPr lang="zh-CN" altLang="en-US"/>
                    </a:p>
                  </a:txBody>
                  <a:tcPr/>
                </a:tc>
                <a:tc hMerge="1">
                  <a:txBody>
                    <a:bodyPr/>
                    <a:lstStyle/>
                    <a:p>
                      <a:endParaRPr lang="zh-CN"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82629699"/>
                  </a:ext>
                </a:extLst>
              </a:tr>
              <a:tr h="452966">
                <a:tc vMerge="1">
                  <a:txBody>
                    <a:bodyPr/>
                    <a:lstStyle/>
                    <a:p>
                      <a:endParaRPr lang="zh-CN" altLang="en-US"/>
                    </a:p>
                  </a:txBody>
                  <a:tcPr/>
                </a:tc>
                <a:tc>
                  <a:txBody>
                    <a:bodyPr/>
                    <a:lstStyle/>
                    <a:p>
                      <a:pPr algn="ctr" fontAlgn="ctr"/>
                      <a:r>
                        <a:rPr lang="zh-CN" altLang="en-US" sz="1100" u="none" strike="noStrike" dirty="0">
                          <a:effectLst/>
                          <a:latin typeface="+mn-lt"/>
                          <a:ea typeface="+mn-ea"/>
                          <a:cs typeface="+mn-ea"/>
                          <a:sym typeface="+mn-lt"/>
                        </a:rPr>
                        <a:t>首件试制</a:t>
                      </a:r>
                      <a:r>
                        <a:rPr lang="en-US" altLang="zh-CN" sz="1100" u="none" strike="noStrike" dirty="0">
                          <a:effectLst/>
                          <a:latin typeface="+mn-lt"/>
                          <a:ea typeface="+mn-ea"/>
                          <a:cs typeface="+mn-ea"/>
                          <a:sym typeface="+mn-lt"/>
                        </a:rPr>
                        <a:t>/</a:t>
                      </a:r>
                      <a:r>
                        <a:rPr lang="zh-CN" altLang="en-US" sz="1100" u="none" strike="noStrike" dirty="0">
                          <a:effectLst/>
                          <a:latin typeface="+mn-lt"/>
                          <a:ea typeface="+mn-ea"/>
                          <a:cs typeface="+mn-ea"/>
                          <a:sym typeface="+mn-lt"/>
                        </a:rPr>
                        <a:t>批量试制</a:t>
                      </a:r>
                      <a:endParaRPr lang="zh-CN" altLang="en-US" sz="11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sz="1100" u="none" strike="noStrike" dirty="0">
                          <a:effectLst/>
                          <a:latin typeface="+mn-lt"/>
                          <a:ea typeface="+mn-ea"/>
                          <a:cs typeface="+mn-ea"/>
                          <a:sym typeface="+mn-lt"/>
                        </a:rPr>
                        <a:t>PVT</a:t>
                      </a:r>
                      <a:endParaRPr lang="en-US" sz="11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zh-CN" altLang="en-US" sz="1100" u="none" strike="noStrike" dirty="0">
                          <a:effectLst/>
                          <a:latin typeface="+mn-lt"/>
                          <a:ea typeface="+mn-ea"/>
                          <a:cs typeface="+mn-ea"/>
                          <a:sym typeface="+mn-lt"/>
                        </a:rPr>
                        <a:t>批量测试</a:t>
                      </a:r>
                      <a:endParaRPr lang="zh-CN" altLang="en-US" sz="11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extLst>
                  <a:ext uri="{0D108BD9-81ED-4DB2-BD59-A6C34878D82A}">
                    <a16:rowId xmlns:a16="http://schemas.microsoft.com/office/drawing/2014/main" val="1016084425"/>
                  </a:ext>
                </a:extLst>
              </a:tr>
              <a:tr h="218523">
                <a:tc>
                  <a:txBody>
                    <a:bodyPr/>
                    <a:lstStyle/>
                    <a:p>
                      <a:pPr algn="ctr" fontAlgn="ctr"/>
                      <a:r>
                        <a:rPr lang="zh-CN" altLang="en-US" sz="1050" b="0" u="none" strike="noStrike" dirty="0">
                          <a:effectLst/>
                          <a:latin typeface="+mn-lt"/>
                          <a:ea typeface="+mn-ea"/>
                          <a:cs typeface="+mn-ea"/>
                          <a:sym typeface="+mn-lt"/>
                        </a:rPr>
                        <a:t>新品开发类</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M-0.5</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M-6</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M-6</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684363024"/>
                  </a:ext>
                </a:extLst>
              </a:tr>
              <a:tr h="218523">
                <a:tc>
                  <a:txBody>
                    <a:bodyPr/>
                    <a:lstStyle/>
                    <a:p>
                      <a:pPr algn="ctr" fontAlgn="ctr"/>
                      <a:r>
                        <a:rPr lang="en-US" sz="1050" b="0" u="none" strike="noStrike" dirty="0">
                          <a:effectLst/>
                          <a:latin typeface="+mn-lt"/>
                          <a:ea typeface="+mn-ea"/>
                          <a:cs typeface="+mn-ea"/>
                          <a:sym typeface="+mn-lt"/>
                        </a:rPr>
                        <a:t>OEM</a:t>
                      </a:r>
                      <a:r>
                        <a:rPr lang="zh-CN" altLang="en-US" sz="1050" b="0" u="none" strike="noStrike" dirty="0">
                          <a:effectLst/>
                          <a:latin typeface="+mn-lt"/>
                          <a:ea typeface="+mn-ea"/>
                          <a:cs typeface="+mn-ea"/>
                          <a:sym typeface="+mn-lt"/>
                        </a:rPr>
                        <a:t>类（整机）</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3585240392"/>
                  </a:ext>
                </a:extLst>
              </a:tr>
              <a:tr h="218523">
                <a:tc>
                  <a:txBody>
                    <a:bodyPr/>
                    <a:lstStyle/>
                    <a:p>
                      <a:pPr algn="ctr" fontAlgn="ctr"/>
                      <a:r>
                        <a:rPr lang="en-US" altLang="zh-CN" sz="1050" b="0" i="0" u="none" strike="noStrike" dirty="0">
                          <a:solidFill>
                            <a:srgbClr val="000000"/>
                          </a:solidFill>
                          <a:effectLst/>
                          <a:latin typeface="+mn-lt"/>
                          <a:ea typeface="+mn-ea"/>
                          <a:cs typeface="+mn-ea"/>
                          <a:sym typeface="+mn-lt"/>
                        </a:rPr>
                        <a:t>OEM</a:t>
                      </a:r>
                      <a:r>
                        <a:rPr lang="zh-CN" altLang="en-US" sz="1050" b="0" i="0" u="none" strike="noStrike" dirty="0">
                          <a:solidFill>
                            <a:srgbClr val="000000"/>
                          </a:solidFill>
                          <a:effectLst/>
                          <a:latin typeface="+mn-lt"/>
                          <a:ea typeface="+mn-ea"/>
                          <a:cs typeface="+mn-ea"/>
                          <a:sym typeface="+mn-lt"/>
                        </a:rPr>
                        <a:t>类（主板）</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1497037746"/>
                  </a:ext>
                </a:extLst>
              </a:tr>
              <a:tr h="218523">
                <a:tc>
                  <a:txBody>
                    <a:bodyPr/>
                    <a:lstStyle/>
                    <a:p>
                      <a:pPr algn="ctr" fontAlgn="ctr"/>
                      <a:r>
                        <a:rPr lang="zh-CN" altLang="en-US" sz="1050" b="0" i="0" u="none" strike="noStrike" dirty="0">
                          <a:solidFill>
                            <a:srgbClr val="000000"/>
                          </a:solidFill>
                          <a:effectLst/>
                          <a:latin typeface="+mn-lt"/>
                          <a:ea typeface="+mn-ea"/>
                          <a:cs typeface="+mn-ea"/>
                          <a:sym typeface="+mn-lt"/>
                        </a:rPr>
                        <a:t>产品升级类</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1370447076"/>
                  </a:ext>
                </a:extLst>
              </a:tr>
              <a:tr h="218523">
                <a:tc>
                  <a:txBody>
                    <a:bodyPr/>
                    <a:lstStyle/>
                    <a:p>
                      <a:pPr algn="ctr" fontAlgn="ctr"/>
                      <a:r>
                        <a:rPr lang="zh-CN" altLang="en-US" sz="1050" b="0" u="none" strike="noStrike" dirty="0">
                          <a:effectLst/>
                          <a:latin typeface="+mn-lt"/>
                          <a:ea typeface="+mn-ea"/>
                          <a:cs typeface="+mn-ea"/>
                          <a:sym typeface="+mn-lt"/>
                        </a:rPr>
                        <a:t>定制升级类</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66575049"/>
                  </a:ext>
                </a:extLst>
              </a:tr>
              <a:tr h="218523">
                <a:tc>
                  <a:txBody>
                    <a:bodyPr/>
                    <a:lstStyle/>
                    <a:p>
                      <a:pPr algn="ctr" fontAlgn="ctr"/>
                      <a:r>
                        <a:rPr lang="zh-CN" altLang="en-US" sz="1050" b="0" i="0" u="none" strike="noStrike" dirty="0">
                          <a:solidFill>
                            <a:srgbClr val="000000"/>
                          </a:solidFill>
                          <a:effectLst/>
                          <a:latin typeface="+mn-lt"/>
                          <a:ea typeface="+mn-ea"/>
                          <a:cs typeface="+mn-ea"/>
                          <a:sym typeface="+mn-lt"/>
                        </a:rPr>
                        <a:t>定制产品类</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172708084"/>
                  </a:ext>
                </a:extLst>
              </a:tr>
              <a:tr h="432579">
                <a:tc>
                  <a:txBody>
                    <a:bodyPr/>
                    <a:lstStyle/>
                    <a:p>
                      <a:pPr algn="ctr" fontAlgn="ctr"/>
                      <a:r>
                        <a:rPr lang="zh-CN" altLang="en-US" sz="1050" b="0" i="0" u="none" strike="noStrike" dirty="0">
                          <a:solidFill>
                            <a:srgbClr val="000000"/>
                          </a:solidFill>
                          <a:effectLst/>
                          <a:latin typeface="+mn-lt"/>
                          <a:ea typeface="+mn-ea"/>
                          <a:cs typeface="+mn-ea"/>
                          <a:sym typeface="+mn-lt"/>
                        </a:rPr>
                        <a:t>派生产品</a:t>
                      </a:r>
                      <a:r>
                        <a:rPr lang="en-US" altLang="zh-CN" sz="1050" b="0" i="0" u="none" strike="noStrike" dirty="0">
                          <a:solidFill>
                            <a:srgbClr val="000000"/>
                          </a:solidFill>
                          <a:effectLst/>
                          <a:latin typeface="+mn-lt"/>
                          <a:ea typeface="+mn-ea"/>
                          <a:cs typeface="+mn-ea"/>
                          <a:sym typeface="+mn-lt"/>
                        </a:rPr>
                        <a:t>-</a:t>
                      </a:r>
                      <a:r>
                        <a:rPr lang="zh-CN" altLang="en-US" sz="1050" b="0" i="0" u="none" strike="noStrike" dirty="0">
                          <a:solidFill>
                            <a:srgbClr val="000000"/>
                          </a:solidFill>
                          <a:effectLst/>
                          <a:latin typeface="+mn-lt"/>
                          <a:ea typeface="+mn-ea"/>
                          <a:cs typeface="+mn-ea"/>
                          <a:sym typeface="+mn-lt"/>
                        </a:rPr>
                        <a:t>含硬件及结构开发需求</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3423431068"/>
                  </a:ext>
                </a:extLst>
              </a:tr>
              <a:tr h="325551">
                <a:tc>
                  <a:txBody>
                    <a:bodyPr/>
                    <a:lstStyle/>
                    <a:p>
                      <a:pPr algn="ctr" fontAlgn="ctr"/>
                      <a:r>
                        <a:rPr lang="zh-CN" altLang="en-US" sz="1050" b="0" i="0" u="none" strike="noStrike" dirty="0">
                          <a:solidFill>
                            <a:srgbClr val="000000"/>
                          </a:solidFill>
                          <a:effectLst/>
                          <a:latin typeface="+mn-lt"/>
                          <a:ea typeface="+mn-ea"/>
                          <a:cs typeface="+mn-ea"/>
                          <a:sym typeface="+mn-lt"/>
                        </a:rPr>
                        <a:t>派生产品</a:t>
                      </a:r>
                      <a:r>
                        <a:rPr lang="en-US" altLang="zh-CN" sz="1050" b="0" i="0" u="none" strike="noStrike" dirty="0">
                          <a:solidFill>
                            <a:srgbClr val="000000"/>
                          </a:solidFill>
                          <a:effectLst/>
                          <a:latin typeface="+mn-lt"/>
                          <a:ea typeface="+mn-ea"/>
                          <a:cs typeface="+mn-ea"/>
                          <a:sym typeface="+mn-lt"/>
                        </a:rPr>
                        <a:t>-</a:t>
                      </a:r>
                      <a:r>
                        <a:rPr lang="zh-CN" altLang="en-US" sz="1050" b="0" i="0" u="none" strike="noStrike" dirty="0">
                          <a:solidFill>
                            <a:srgbClr val="000000"/>
                          </a:solidFill>
                          <a:effectLst/>
                          <a:latin typeface="+mn-lt"/>
                          <a:ea typeface="+mn-ea"/>
                          <a:cs typeface="+mn-ea"/>
                          <a:sym typeface="+mn-lt"/>
                        </a:rPr>
                        <a:t>仅软件需求</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1811254457"/>
                  </a:ext>
                </a:extLst>
              </a:tr>
              <a:tr h="218523">
                <a:tc>
                  <a:txBody>
                    <a:bodyPr/>
                    <a:lstStyle/>
                    <a:p>
                      <a:pPr algn="ctr" fontAlgn="ctr"/>
                      <a:r>
                        <a:rPr lang="zh-CN" altLang="en-US" sz="1050" b="0" u="none" strike="noStrike" dirty="0">
                          <a:effectLst/>
                          <a:latin typeface="+mn-lt"/>
                          <a:ea typeface="+mn-ea"/>
                          <a:cs typeface="+mn-ea"/>
                          <a:sym typeface="+mn-lt"/>
                        </a:rPr>
                        <a:t>部件引入测试</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2078491735"/>
                  </a:ext>
                </a:extLst>
              </a:tr>
              <a:tr h="111495">
                <a:tc>
                  <a:txBody>
                    <a:bodyPr/>
                    <a:lstStyle/>
                    <a:p>
                      <a:pPr algn="ctr" fontAlgn="ctr"/>
                      <a:r>
                        <a:rPr lang="zh-CN" altLang="en-US" sz="1050" b="0" i="0" u="none" strike="noStrike" dirty="0">
                          <a:solidFill>
                            <a:srgbClr val="000000"/>
                          </a:solidFill>
                          <a:effectLst/>
                          <a:latin typeface="+mn-lt"/>
                          <a:ea typeface="+mn-ea"/>
                          <a:cs typeface="+mn-ea"/>
                          <a:sym typeface="+mn-lt"/>
                        </a:rPr>
                        <a:t>独立板卡</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1262486179"/>
                  </a:ext>
                </a:extLst>
              </a:tr>
              <a:tr h="111495">
                <a:tc>
                  <a:txBody>
                    <a:bodyPr/>
                    <a:lstStyle/>
                    <a:p>
                      <a:pPr algn="ctr" fontAlgn="ctr"/>
                      <a:r>
                        <a:rPr lang="zh-CN" altLang="en-US" sz="1050" b="0" i="0" u="none" strike="noStrike" dirty="0">
                          <a:solidFill>
                            <a:srgbClr val="000000"/>
                          </a:solidFill>
                          <a:effectLst/>
                          <a:latin typeface="+mn-lt"/>
                          <a:ea typeface="+mn-ea"/>
                          <a:cs typeface="+mn-ea"/>
                          <a:sym typeface="+mn-lt"/>
                        </a:rPr>
                        <a:t>机柜机箱</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2354944406"/>
                  </a:ext>
                </a:extLst>
              </a:tr>
              <a:tr h="111495">
                <a:tc>
                  <a:txBody>
                    <a:bodyPr/>
                    <a:lstStyle/>
                    <a:p>
                      <a:pPr algn="ctr" fontAlgn="ctr"/>
                      <a:r>
                        <a:rPr lang="zh-CN" altLang="en-US" sz="1050" b="0" i="0" u="none" strike="noStrike" dirty="0">
                          <a:solidFill>
                            <a:srgbClr val="000000"/>
                          </a:solidFill>
                          <a:effectLst/>
                          <a:latin typeface="+mn-lt"/>
                          <a:ea typeface="+mn-ea"/>
                          <a:cs typeface="+mn-ea"/>
                          <a:sym typeface="+mn-lt"/>
                        </a:rPr>
                        <a:t>产品维护</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DAE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DF0"/>
                    </a:solidFill>
                  </a:tcPr>
                </a:tc>
                <a:extLst>
                  <a:ext uri="{0D108BD9-81ED-4DB2-BD59-A6C34878D82A}">
                    <a16:rowId xmlns:a16="http://schemas.microsoft.com/office/drawing/2014/main" val="2984007844"/>
                  </a:ext>
                </a:extLst>
              </a:tr>
            </a:tbl>
          </a:graphicData>
        </a:graphic>
      </p:graphicFrame>
      <p:sp>
        <p:nvSpPr>
          <p:cNvPr id="8" name="Freeform: Shape 15">
            <a:extLst>
              <a:ext uri="{FF2B5EF4-FFF2-40B4-BE49-F238E27FC236}">
                <a16:creationId xmlns:a16="http://schemas.microsoft.com/office/drawing/2014/main" id="{9BE3854A-840A-5E46-4C0E-92BB434EB191}"/>
              </a:ext>
            </a:extLst>
          </p:cNvPr>
          <p:cNvSpPr>
            <a:spLocks/>
          </p:cNvSpPr>
          <p:nvPr/>
        </p:nvSpPr>
        <p:spPr bwMode="auto">
          <a:xfrm>
            <a:off x="794654" y="1169083"/>
            <a:ext cx="562707" cy="537229"/>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3">
              <a:lumMod val="75000"/>
            </a:schemeClr>
          </a:solidFill>
          <a:ln w="9525">
            <a:noFill/>
            <a:round/>
            <a:headEnd/>
            <a:tailEnd/>
          </a:ln>
        </p:spPr>
        <p:txBody>
          <a:bodyPr anchor="ctr"/>
          <a:lstStyle/>
          <a:p>
            <a:pPr algn="ctr"/>
            <a:endParaRPr/>
          </a:p>
        </p:txBody>
      </p:sp>
    </p:spTree>
    <p:extLst>
      <p:ext uri="{BB962C8B-B14F-4D97-AF65-F5344CB8AC3E}">
        <p14:creationId xmlns:p14="http://schemas.microsoft.com/office/powerpoint/2010/main" val="23696489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a:extLst>
              <a:ext uri="{FF2B5EF4-FFF2-40B4-BE49-F238E27FC236}">
                <a16:creationId xmlns:a16="http://schemas.microsoft.com/office/drawing/2014/main" id="{2B587CB1-41A9-48EF-9229-101563C80EFD}"/>
              </a:ext>
            </a:extLst>
          </p:cNvPr>
          <p:cNvSpPr txBox="1">
            <a:spLocks/>
          </p:cNvSpPr>
          <p:nvPr/>
        </p:nvSpPr>
        <p:spPr>
          <a:xfrm>
            <a:off x="285225" y="168598"/>
            <a:ext cx="4037429" cy="832388"/>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L12</a:t>
            </a:r>
            <a:r>
              <a:rPr kumimoji="0" lang="zh-CN" altLang="en-US"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批量测试</a:t>
            </a:r>
          </a:p>
        </p:txBody>
      </p:sp>
      <p:sp>
        <p:nvSpPr>
          <p:cNvPr id="3" name="Rectangle 3">
            <a:extLst>
              <a:ext uri="{FF2B5EF4-FFF2-40B4-BE49-F238E27FC236}">
                <a16:creationId xmlns:a16="http://schemas.microsoft.com/office/drawing/2014/main" id="{FA07C651-B856-4405-9E2A-D4B3064DAEAF}"/>
              </a:ext>
            </a:extLst>
          </p:cNvPr>
          <p:cNvSpPr txBox="1">
            <a:spLocks noChangeArrowheads="1"/>
          </p:cNvSpPr>
          <p:nvPr/>
        </p:nvSpPr>
        <p:spPr bwMode="auto">
          <a:xfrm>
            <a:off x="682113" y="995566"/>
            <a:ext cx="10907601" cy="804763"/>
          </a:xfrm>
          <a:prstGeom prst="rect">
            <a:avLst/>
          </a:prstGeom>
          <a:solidFill>
            <a:schemeClr val="bg1">
              <a:lumMod val="85000"/>
            </a:schemeClr>
          </a:solidFill>
          <a:scene3d>
            <a:camera prst="orthographicFront"/>
            <a:lightRig rig="threePt" dir="t"/>
          </a:scene3d>
          <a:sp3d>
            <a:bevelT/>
          </a:sp3d>
        </p:spPr>
        <p:txBody>
          <a:bodyPr vert="horz" wrap="square" lIns="121920" tIns="60960" rIns="121920" bIns="60960" numCol="1" anchor="t" anchorCtr="0" compatLnSpc="1">
            <a:prstTxWarp prst="textNoShape">
              <a:avLst/>
            </a:prstTxWarp>
          </a:bodyPr>
          <a:lstStyle>
            <a:lvl1pPr marL="342900" indent="-342900" algn="l" defTabSz="912813" rtl="0" eaLnBrk="0" fontAlgn="base" hangingPunct="0">
              <a:spcBef>
                <a:spcPct val="20000"/>
              </a:spcBef>
              <a:spcAft>
                <a:spcPct val="0"/>
              </a:spcAft>
              <a:buChar char="•"/>
              <a:defRPr sz="3000">
                <a:solidFill>
                  <a:schemeClr val="tx1"/>
                </a:solidFill>
                <a:latin typeface="+mn-lt"/>
                <a:ea typeface="+mn-ea"/>
                <a:cs typeface="+mn-cs"/>
              </a:defRPr>
            </a:lvl1pPr>
            <a:lvl2pPr marL="741363" indent="-285750" algn="l" defTabSz="912813" rtl="0" eaLnBrk="0" fontAlgn="base" hangingPunct="0">
              <a:spcBef>
                <a:spcPct val="20000"/>
              </a:spcBef>
              <a:spcAft>
                <a:spcPct val="0"/>
              </a:spcAft>
              <a:buChar char="–"/>
              <a:defRPr sz="2800">
                <a:solidFill>
                  <a:schemeClr val="tx1"/>
                </a:solidFill>
                <a:latin typeface="+mj-lt"/>
                <a:ea typeface="+mj-ea"/>
              </a:defRPr>
            </a:lvl2pPr>
            <a:lvl3pPr marL="1139825" indent="-227013" algn="l" defTabSz="912813" rtl="0" eaLnBrk="0" fontAlgn="base" hangingPunct="0">
              <a:spcBef>
                <a:spcPct val="20000"/>
              </a:spcBef>
              <a:spcAft>
                <a:spcPct val="0"/>
              </a:spcAft>
              <a:buChar char="•"/>
              <a:defRPr sz="2400">
                <a:solidFill>
                  <a:schemeClr val="tx1"/>
                </a:solidFill>
                <a:latin typeface="+mj-lt"/>
                <a:ea typeface="+mj-ea"/>
              </a:defRPr>
            </a:lvl3pPr>
            <a:lvl4pPr marL="1595438" indent="-227013" algn="l" defTabSz="912813" rtl="0" eaLnBrk="0" fontAlgn="base" hangingPunct="0">
              <a:spcBef>
                <a:spcPct val="20000"/>
              </a:spcBef>
              <a:spcAft>
                <a:spcPct val="0"/>
              </a:spcAft>
              <a:buChar char="–"/>
              <a:defRPr sz="2000">
                <a:solidFill>
                  <a:schemeClr val="tx1"/>
                </a:solidFill>
                <a:latin typeface="+mj-lt"/>
                <a:ea typeface="+mj-ea"/>
              </a:defRPr>
            </a:lvl4pPr>
            <a:lvl5pPr marL="2052638" indent="-227013" algn="l" defTabSz="912813" rtl="0" eaLnBrk="0" fontAlgn="base" hangingPunct="0">
              <a:spcBef>
                <a:spcPct val="20000"/>
              </a:spcBef>
              <a:spcAft>
                <a:spcPct val="0"/>
              </a:spcAft>
              <a:buChar char="»"/>
              <a:defRPr sz="2000">
                <a:solidFill>
                  <a:schemeClr val="tx1"/>
                </a:solidFill>
                <a:latin typeface="+mj-lt"/>
                <a:ea typeface="+mj-ea"/>
              </a:defRPr>
            </a:lvl5pPr>
            <a:lvl6pPr marL="2509838" indent="-227013" algn="l" defTabSz="912813" rtl="0" fontAlgn="base">
              <a:spcBef>
                <a:spcPct val="20000"/>
              </a:spcBef>
              <a:spcAft>
                <a:spcPct val="0"/>
              </a:spcAft>
              <a:buChar char="»"/>
              <a:defRPr sz="2000">
                <a:solidFill>
                  <a:schemeClr val="tx1"/>
                </a:solidFill>
                <a:latin typeface="+mj-lt"/>
                <a:ea typeface="+mj-ea"/>
              </a:defRPr>
            </a:lvl6pPr>
            <a:lvl7pPr marL="2967038" indent="-227013" algn="l" defTabSz="912813" rtl="0" fontAlgn="base">
              <a:spcBef>
                <a:spcPct val="20000"/>
              </a:spcBef>
              <a:spcAft>
                <a:spcPct val="0"/>
              </a:spcAft>
              <a:buChar char="»"/>
              <a:defRPr sz="2000">
                <a:solidFill>
                  <a:schemeClr val="tx1"/>
                </a:solidFill>
                <a:latin typeface="+mj-lt"/>
                <a:ea typeface="+mj-ea"/>
              </a:defRPr>
            </a:lvl7pPr>
            <a:lvl8pPr marL="3424238" indent="-227013" algn="l" defTabSz="912813" rtl="0" fontAlgn="base">
              <a:spcBef>
                <a:spcPct val="20000"/>
              </a:spcBef>
              <a:spcAft>
                <a:spcPct val="0"/>
              </a:spcAft>
              <a:buChar char="»"/>
              <a:defRPr sz="2000">
                <a:solidFill>
                  <a:schemeClr val="tx1"/>
                </a:solidFill>
                <a:latin typeface="+mj-lt"/>
                <a:ea typeface="+mj-ea"/>
              </a:defRPr>
            </a:lvl8pPr>
            <a:lvl9pPr marL="3881438" indent="-227013" algn="l" defTabSz="912813" rtl="0" fontAlgn="base">
              <a:spcBef>
                <a:spcPct val="20000"/>
              </a:spcBef>
              <a:spcAft>
                <a:spcPct val="0"/>
              </a:spcAft>
              <a:buChar char="»"/>
              <a:defRPr sz="2000">
                <a:solidFill>
                  <a:schemeClr val="tx1"/>
                </a:solidFill>
                <a:latin typeface="+mj-lt"/>
                <a:ea typeface="+mj-ea"/>
              </a:defRPr>
            </a:lvl9pPr>
          </a:lstStyle>
          <a:p>
            <a:pPr marL="844529" lvl="1" indent="0" defTabSz="1217054">
              <a:lnSpc>
                <a:spcPct val="120000"/>
              </a:lnSpc>
              <a:spcBef>
                <a:spcPct val="50000"/>
              </a:spcBef>
              <a:buNone/>
              <a:defRPr/>
            </a:pP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批量的准入条件</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测试完成报告通过评审，</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TR5</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初始产品技术状态评审通过；如</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阶段</a:t>
            </a:r>
            <a:r>
              <a:rPr lang="zh-CN" altLang="en-US" sz="1400" kern="0" dirty="0">
                <a:solidFill>
                  <a:prstClr val="black"/>
                </a:solidFill>
                <a:latin typeface="微软雅黑" panose="020B0503020204020204" pitchFamily="34" charset="-122"/>
                <a:ea typeface="微软雅黑" panose="020B0503020204020204" pitchFamily="34" charset="-122"/>
              </a:rPr>
              <a:t>被裁剪，准</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入条件参考</a:t>
            </a:r>
            <a:r>
              <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准入条件</a:t>
            </a:r>
            <a:r>
              <a:rPr lang="zh-CN" altLang="en-US" sz="1400" kern="0" noProof="0" dirty="0">
                <a:solidFill>
                  <a:prstClr val="black"/>
                </a:solidFill>
                <a:latin typeface="微软雅黑" panose="020B0503020204020204" pitchFamily="34" charset="-122"/>
                <a:ea typeface="微软雅黑" panose="020B0503020204020204" pitchFamily="34" charset="-122"/>
              </a:rPr>
              <a:t>，</a:t>
            </a:r>
            <a:r>
              <a:rPr lang="en-US" altLang="zh-CN" sz="1400" kern="0" noProof="0" dirty="0">
                <a:solidFill>
                  <a:prstClr val="black"/>
                </a:solidFill>
                <a:latin typeface="微软雅黑" panose="020B0503020204020204" pitchFamily="34" charset="-122"/>
                <a:ea typeface="微软雅黑" panose="020B0503020204020204" pitchFamily="34" charset="-122"/>
              </a:rPr>
              <a:t>DI</a:t>
            </a:r>
            <a:r>
              <a:rPr lang="zh-CN" altLang="en-US" sz="1400" kern="0" noProof="0" dirty="0">
                <a:solidFill>
                  <a:prstClr val="black"/>
                </a:solidFill>
                <a:latin typeface="微软雅黑" panose="020B0503020204020204" pitchFamily="34" charset="-122"/>
                <a:ea typeface="微软雅黑" panose="020B0503020204020204" pitchFamily="34" charset="-122"/>
              </a:rPr>
              <a:t>值要求按照批量准入要求（按照质量策划</a:t>
            </a:r>
            <a:r>
              <a:rPr lang="en-US" altLang="zh-CN" sz="1400" kern="0" noProof="0" dirty="0">
                <a:solidFill>
                  <a:prstClr val="black"/>
                </a:solidFill>
                <a:latin typeface="微软雅黑" panose="020B0503020204020204" pitchFamily="34" charset="-122"/>
                <a:ea typeface="微软雅黑" panose="020B0503020204020204" pitchFamily="34" charset="-122"/>
              </a:rPr>
              <a:t>DI</a:t>
            </a:r>
            <a:r>
              <a:rPr lang="zh-CN" altLang="en-US" sz="1400" kern="0" noProof="0" dirty="0">
                <a:solidFill>
                  <a:prstClr val="black"/>
                </a:solidFill>
                <a:latin typeface="微软雅黑" panose="020B0503020204020204" pitchFamily="34" charset="-122"/>
                <a:ea typeface="微软雅黑" panose="020B0503020204020204" pitchFamily="34" charset="-122"/>
              </a:rPr>
              <a:t>值要求）。</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1076008" y="1835655"/>
            <a:ext cx="9390743" cy="1938992"/>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为了确保产品的质量状况，及验证遗留概率问题，应在</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mn-ea"/>
              </a:rPr>
              <a:t>PVT </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测试完成后使用批量试制生产机器进行批量测试。</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批量测试使用机器，需为批量试制产线生产机台。</a:t>
            </a:r>
            <a:endParaRPr lang="en-US" altLang="zh-CN" sz="1400" dirty="0">
              <a:solidFill>
                <a:prstClr val="black">
                  <a:lumMod val="75000"/>
                  <a:lumOff val="25000"/>
                </a:prstClr>
              </a:solidFill>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批量测试完成后，测试报告通过评审，</a:t>
            </a:r>
            <a:r>
              <a:rPr lang="zh-CN" altLang="en-US" sz="1400" dirty="0">
                <a:solidFill>
                  <a:prstClr val="black">
                    <a:lumMod val="75000"/>
                    <a:lumOff val="25000"/>
                  </a:prstClr>
                </a:solidFill>
                <a:latin typeface="+mn-ea"/>
              </a:rPr>
              <a:t>根据项目计划</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进行质量评审，评审通过后方可进行</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mn-ea"/>
              </a:rPr>
              <a:t>NPI </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验收。</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mn-ea"/>
            </a:endParaRPr>
          </a:p>
          <a:p>
            <a:pPr marL="285750" lvl="0" indent="-285750">
              <a:lnSpc>
                <a:spcPct val="120000"/>
              </a:lnSpc>
              <a:buFont typeface="Wingdings" panose="05000000000000000000" pitchFamily="2" charset="2"/>
              <a:buChar char="Ø"/>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mn-ea"/>
              </a:rPr>
              <a:t>PVT</a:t>
            </a:r>
            <a:r>
              <a:rPr lang="zh-CN" altLang="en-US" sz="1400" dirty="0">
                <a:solidFill>
                  <a:prstClr val="black">
                    <a:lumMod val="75000"/>
                    <a:lumOff val="25000"/>
                  </a:prstClr>
                </a:solidFill>
                <a:latin typeface="+mn-ea"/>
              </a:rPr>
              <a:t>裁剪的</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mn-ea"/>
              </a:rPr>
              <a:t>情况下，</a:t>
            </a:r>
            <a:r>
              <a:rPr lang="zh-CN" altLang="en-US" sz="1400" dirty="0">
                <a:solidFill>
                  <a:prstClr val="black">
                    <a:lumMod val="75000"/>
                    <a:lumOff val="25000"/>
                  </a:prstClr>
                </a:solidFill>
                <a:latin typeface="+mn-ea"/>
              </a:rPr>
              <a:t>项目需要进行批量可靠性测试。</a:t>
            </a:r>
            <a:endParaRPr lang="en-US" altLang="zh-CN" sz="1400" dirty="0">
              <a:solidFill>
                <a:prstClr val="black">
                  <a:lumMod val="75000"/>
                  <a:lumOff val="25000"/>
                </a:prstClr>
              </a:solidFill>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lang="en-US" altLang="zh-CN" sz="1400" dirty="0">
              <a:solidFill>
                <a:prstClr val="black">
                  <a:lumMod val="75000"/>
                  <a:lumOff val="25000"/>
                </a:prstClr>
              </a:solidFill>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Calibri"/>
              <a:ea typeface="微软雅黑"/>
              <a:cs typeface="+mn-cs"/>
            </a:endParaRPr>
          </a:p>
        </p:txBody>
      </p:sp>
      <p:grpSp>
        <p:nvGrpSpPr>
          <p:cNvPr id="7" name="Group 107"/>
          <p:cNvGrpSpPr/>
          <p:nvPr/>
        </p:nvGrpSpPr>
        <p:grpSpPr>
          <a:xfrm>
            <a:off x="1561513" y="3122056"/>
            <a:ext cx="457201" cy="397734"/>
            <a:chOff x="3698875" y="1574800"/>
            <a:chExt cx="611188" cy="606425"/>
          </a:xfrm>
        </p:grpSpPr>
        <p:sp>
          <p:nvSpPr>
            <p:cNvPr id="8" name="Freeform: Shape 108"/>
            <p:cNvSpPr>
              <a:spLocks/>
            </p:cNvSpPr>
            <p:nvPr/>
          </p:nvSpPr>
          <p:spPr bwMode="auto">
            <a:xfrm>
              <a:off x="4008438" y="1574800"/>
              <a:ext cx="301625" cy="606425"/>
            </a:xfrm>
            <a:custGeom>
              <a:avLst/>
              <a:gdLst/>
              <a:ahLst/>
              <a:cxnLst>
                <a:cxn ang="0">
                  <a:pos x="0" y="382"/>
                </a:cxn>
                <a:cxn ang="0">
                  <a:pos x="190" y="286"/>
                </a:cxn>
                <a:cxn ang="0">
                  <a:pos x="0" y="0"/>
                </a:cxn>
                <a:cxn ang="0">
                  <a:pos x="0" y="0"/>
                </a:cxn>
                <a:cxn ang="0">
                  <a:pos x="0" y="382"/>
                </a:cxn>
              </a:cxnLst>
              <a:rect l="0" t="0" r="r" b="b"/>
              <a:pathLst>
                <a:path w="190" h="382">
                  <a:moveTo>
                    <a:pt x="0" y="382"/>
                  </a:moveTo>
                  <a:lnTo>
                    <a:pt x="190" y="286"/>
                  </a:lnTo>
                  <a:lnTo>
                    <a:pt x="0" y="0"/>
                  </a:lnTo>
                  <a:lnTo>
                    <a:pt x="0" y="0"/>
                  </a:lnTo>
                  <a:lnTo>
                    <a:pt x="0" y="382"/>
                  </a:lnTo>
                  <a:close/>
                </a:path>
              </a:pathLst>
            </a:custGeom>
            <a:solidFill>
              <a:schemeClr val="accent3">
                <a:lumMod val="75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9" name="Freeform: Shape 109"/>
            <p:cNvSpPr>
              <a:spLocks/>
            </p:cNvSpPr>
            <p:nvPr/>
          </p:nvSpPr>
          <p:spPr bwMode="auto">
            <a:xfrm>
              <a:off x="3698875" y="1574800"/>
              <a:ext cx="309563" cy="606425"/>
            </a:xfrm>
            <a:custGeom>
              <a:avLst/>
              <a:gdLst/>
              <a:ahLst/>
              <a:cxnLst>
                <a:cxn ang="0">
                  <a:pos x="195" y="0"/>
                </a:cxn>
                <a:cxn ang="0">
                  <a:pos x="195" y="0"/>
                </a:cxn>
                <a:cxn ang="0">
                  <a:pos x="0" y="286"/>
                </a:cxn>
                <a:cxn ang="0">
                  <a:pos x="195" y="382"/>
                </a:cxn>
                <a:cxn ang="0">
                  <a:pos x="195" y="0"/>
                </a:cxn>
              </a:cxnLst>
              <a:rect l="0" t="0" r="r" b="b"/>
              <a:pathLst>
                <a:path w="195" h="382">
                  <a:moveTo>
                    <a:pt x="195" y="0"/>
                  </a:moveTo>
                  <a:lnTo>
                    <a:pt x="195" y="0"/>
                  </a:lnTo>
                  <a:lnTo>
                    <a:pt x="0" y="286"/>
                  </a:lnTo>
                  <a:lnTo>
                    <a:pt x="195" y="382"/>
                  </a:lnTo>
                  <a:lnTo>
                    <a:pt x="195" y="0"/>
                  </a:lnTo>
                  <a:close/>
                </a:path>
              </a:pathLst>
            </a:custGeom>
            <a:solidFill>
              <a:schemeClr val="accent3"/>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grpSp>
      <p:sp>
        <p:nvSpPr>
          <p:cNvPr id="5" name="文本框 4"/>
          <p:cNvSpPr txBox="1"/>
          <p:nvPr/>
        </p:nvSpPr>
        <p:spPr>
          <a:xfrm>
            <a:off x="1641101" y="3157382"/>
            <a:ext cx="10109260" cy="190205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     </a:t>
            </a:r>
            <a:r>
              <a:rPr kumimoji="0" lang="zh-CN" altLang="en-US" sz="1400" b="1" i="0" u="none" strike="noStrike" kern="1200" cap="none" spc="0" normalizeH="0" noProof="0" dirty="0">
                <a:ln>
                  <a:noFill/>
                </a:ln>
                <a:solidFill>
                  <a:prstClr val="black">
                    <a:lumMod val="75000"/>
                    <a:lumOff val="25000"/>
                  </a:prstClr>
                </a:solidFill>
                <a:effectLst/>
                <a:uLnTx/>
                <a:uFillTx/>
                <a:latin typeface="微软雅黑"/>
                <a:ea typeface="微软雅黑"/>
                <a:cs typeface="+mn-cs"/>
              </a:rPr>
              <a:t> </a:t>
            </a:r>
            <a:r>
              <a:rPr kumimoji="0" lang="zh-CN" altLang="en-US" sz="1400" b="1"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产品质量评审：</a:t>
            </a:r>
            <a:endParaRPr kumimoji="0" lang="en-US" altLang="zh-CN" sz="1400" b="1"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i="0" u="none" strike="noStrike" kern="1200" cap="none" spc="0" normalizeH="0" baseline="0" noProof="0" dirty="0">
                <a:ln>
                  <a:noFill/>
                </a:ln>
                <a:solidFill>
                  <a:srgbClr val="0070C0"/>
                </a:solidFill>
                <a:effectLst/>
                <a:uLnTx/>
                <a:uFillTx/>
                <a:latin typeface="微软雅黑"/>
                <a:ea typeface="微软雅黑"/>
                <a:cs typeface="+mn-cs"/>
              </a:rPr>
              <a:t>DI</a:t>
            </a:r>
            <a:r>
              <a:rPr kumimoji="0" lang="zh-CN" altLang="en-US" sz="1200" i="0" u="none" strike="noStrike" kern="1200" cap="none" spc="0" normalizeH="0" baseline="0" noProof="0" dirty="0">
                <a:ln>
                  <a:noFill/>
                </a:ln>
                <a:solidFill>
                  <a:srgbClr val="0070C0"/>
                </a:solidFill>
                <a:effectLst/>
                <a:uLnTx/>
                <a:uFillTx/>
                <a:latin typeface="微软雅黑"/>
                <a:ea typeface="微软雅黑"/>
                <a:cs typeface="+mn-cs"/>
              </a:rPr>
              <a:t>值要求</a:t>
            </a:r>
            <a:r>
              <a:rPr kumimoji="0" lang="zh-CN" altLang="en-US" sz="120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一般为</a:t>
            </a:r>
            <a:r>
              <a:rPr kumimoji="0" lang="en-US" altLang="zh-CN" sz="120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1</a:t>
            </a:r>
            <a:r>
              <a:rPr kumimoji="0" lang="zh-CN" altLang="en-US" sz="120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或</a:t>
            </a:r>
            <a:r>
              <a:rPr kumimoji="0" lang="en-US" altLang="zh-CN" sz="120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0</a:t>
            </a:r>
            <a:r>
              <a:rPr kumimoji="0" lang="zh-CN" altLang="en-US" sz="120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a:t>
            </a:r>
            <a:endParaRPr kumimoji="0" lang="en-US" altLang="zh-CN" sz="120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a:ln>
                  <a:noFill/>
                </a:ln>
                <a:solidFill>
                  <a:srgbClr val="0070C0"/>
                </a:solidFill>
                <a:effectLst/>
                <a:uLnTx/>
                <a:uFillTx/>
                <a:latin typeface="微软雅黑"/>
                <a:ea typeface="微软雅黑"/>
                <a:cs typeface="+mn-cs"/>
              </a:rPr>
              <a:t>DQA</a:t>
            </a:r>
            <a:r>
              <a:rPr kumimoji="0" lang="zh-CN" altLang="en-US" sz="1200" b="0" i="0" u="none" strike="noStrike" kern="1200" cap="none" spc="0" normalizeH="0" baseline="0" noProof="0" dirty="0">
                <a:ln>
                  <a:noFill/>
                </a:ln>
                <a:solidFill>
                  <a:srgbClr val="0070C0"/>
                </a:solidFill>
                <a:effectLst/>
                <a:uLnTx/>
                <a:uFillTx/>
                <a:latin typeface="微软雅黑"/>
                <a:ea typeface="微软雅黑"/>
                <a:cs typeface="+mn-cs"/>
              </a:rPr>
              <a:t>主导</a:t>
            </a: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组织产品质量评审会议；</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需完成质量测试回溯；</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确认试制各环节工作是否已经完成，并满足相关规定，同时完成输出文档检查；</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试制过程遗留问题，是否已经明确提供解决方案，并已经落实。如有遗留问题不影响后续批量生产，是否保证量产直通率在可接受范围内；</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批量测试报告评审 通过，如有遗留问题已有规避方案或短期解决方案，从测试角度已经具备验收条件。</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a:p>
            <a:pPr marL="285750" indent="-285750">
              <a:lnSpc>
                <a:spcPct val="120000"/>
              </a:lnSpc>
              <a:buFont typeface="Arial" panose="020B0604020202020204" pitchFamily="34" charset="0"/>
              <a:buChar char="•"/>
              <a:defRPr/>
            </a:pPr>
            <a:r>
              <a:rPr lang="zh-CN" altLang="en-US" sz="1200" dirty="0">
                <a:solidFill>
                  <a:prstClr val="black">
                    <a:lumMod val="75000"/>
                    <a:lumOff val="25000"/>
                  </a:prstClr>
                </a:solidFill>
                <a:latin typeface="微软雅黑"/>
              </a:rPr>
              <a:t>质量评审通过后进入</a:t>
            </a:r>
            <a:r>
              <a:rPr lang="en-US" altLang="zh-CN" sz="1200" dirty="0">
                <a:solidFill>
                  <a:prstClr val="black">
                    <a:lumMod val="75000"/>
                    <a:lumOff val="25000"/>
                  </a:prstClr>
                </a:solidFill>
                <a:latin typeface="微软雅黑"/>
              </a:rPr>
              <a:t>NPI</a:t>
            </a:r>
            <a:r>
              <a:rPr lang="zh-CN" altLang="en-US" sz="1200" dirty="0">
                <a:solidFill>
                  <a:prstClr val="black">
                    <a:lumMod val="75000"/>
                    <a:lumOff val="25000"/>
                  </a:prstClr>
                </a:solidFill>
                <a:latin typeface="微软雅黑"/>
              </a:rPr>
              <a:t>验收阶段；</a:t>
            </a:r>
            <a:endParaRPr lang="en-US" altLang="zh-CN" sz="1200" dirty="0">
              <a:solidFill>
                <a:prstClr val="black">
                  <a:lumMod val="75000"/>
                  <a:lumOff val="25000"/>
                </a:prstClr>
              </a:solidFill>
              <a:latin typeface="微软雅黑"/>
            </a:endParaRPr>
          </a:p>
        </p:txBody>
      </p:sp>
      <p:sp>
        <p:nvSpPr>
          <p:cNvPr id="12" name="十字星 11"/>
          <p:cNvSpPr/>
          <p:nvPr/>
        </p:nvSpPr>
        <p:spPr>
          <a:xfrm>
            <a:off x="1561513" y="5094767"/>
            <a:ext cx="412012" cy="304591"/>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1905898" y="5138569"/>
            <a:ext cx="9446948" cy="1134639"/>
          </a:xfrm>
          <a:prstGeom prst="roundRect">
            <a:avLst/>
          </a:prstGeom>
          <a:solidFill>
            <a:schemeClr val="bg1">
              <a:lumMod val="85000"/>
            </a:schemeClr>
          </a:solidFill>
          <a:ln>
            <a:noFill/>
          </a:ln>
          <a:effectLst>
            <a:reflection blurRad="6350" stA="50000" endA="300" endPos="90000" dir="5400000" sy="-100000" algn="bl" rotWithShape="0"/>
          </a:effectLst>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文本框 13"/>
          <p:cNvSpPr txBox="1"/>
          <p:nvPr/>
        </p:nvSpPr>
        <p:spPr>
          <a:xfrm>
            <a:off x="2511767" y="5296824"/>
            <a:ext cx="7248292" cy="683264"/>
          </a:xfrm>
          <a:prstGeom prst="rect">
            <a:avLst/>
          </a:prstGeom>
          <a:noFill/>
        </p:spPr>
        <p:txBody>
          <a:bodyPr wrap="square" rtlCol="0">
            <a:spAutoFit/>
          </a:bodyPr>
          <a:lstStyle/>
          <a:p>
            <a:pPr>
              <a:lnSpc>
                <a:spcPct val="120000"/>
              </a:lnSpc>
            </a:pPr>
            <a:r>
              <a:rPr lang="zh-CN" altLang="en-US" sz="1600" dirty="0">
                <a:solidFill>
                  <a:srgbClr val="0070C0"/>
                </a:solidFill>
                <a:latin typeface="+mn-ea"/>
              </a:rPr>
              <a:t>批量测试阶段 软件版本不可升版为定版状态，如出现</a:t>
            </a:r>
            <a:r>
              <a:rPr lang="en-US" altLang="zh-CN" sz="1600" dirty="0">
                <a:solidFill>
                  <a:srgbClr val="0070C0"/>
                </a:solidFill>
                <a:latin typeface="+mn-ea"/>
              </a:rPr>
              <a:t>BUG</a:t>
            </a:r>
            <a:r>
              <a:rPr lang="zh-CN" altLang="en-US" sz="1600" dirty="0">
                <a:solidFill>
                  <a:srgbClr val="0070C0"/>
                </a:solidFill>
                <a:latin typeface="+mn-ea"/>
              </a:rPr>
              <a:t>须通过软件版本升级解决，也需要进行一轮软件版本稳定度测试。</a:t>
            </a:r>
          </a:p>
        </p:txBody>
      </p:sp>
      <p:sp>
        <p:nvSpPr>
          <p:cNvPr id="10" name="Freeform: Shape 15">
            <a:extLst>
              <a:ext uri="{FF2B5EF4-FFF2-40B4-BE49-F238E27FC236}">
                <a16:creationId xmlns:a16="http://schemas.microsoft.com/office/drawing/2014/main" id="{DCB08734-0D78-212B-09FC-832D5E6F9B41}"/>
              </a:ext>
            </a:extLst>
          </p:cNvPr>
          <p:cNvSpPr>
            <a:spLocks/>
          </p:cNvSpPr>
          <p:nvPr/>
        </p:nvSpPr>
        <p:spPr bwMode="auto">
          <a:xfrm>
            <a:off x="794654" y="1142283"/>
            <a:ext cx="562707" cy="537229"/>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3">
              <a:lumMod val="75000"/>
            </a:schemeClr>
          </a:solidFill>
          <a:ln w="9525">
            <a:noFill/>
            <a:round/>
            <a:headEnd/>
            <a:tailEnd/>
          </a:ln>
        </p:spPr>
        <p:txBody>
          <a:bodyPr anchor="ctr"/>
          <a:lstStyle/>
          <a:p>
            <a:pPr algn="ctr"/>
            <a:endParaRPr/>
          </a:p>
        </p:txBody>
      </p:sp>
    </p:spTree>
    <p:extLst>
      <p:ext uri="{BB962C8B-B14F-4D97-AF65-F5344CB8AC3E}">
        <p14:creationId xmlns:p14="http://schemas.microsoft.com/office/powerpoint/2010/main" val="249667189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307432"/>
</p:tagLst>
</file>

<file path=ppt/tags/tag2.xml><?xml version="1.0" encoding="utf-8"?>
<p:tagLst xmlns:a="http://schemas.openxmlformats.org/drawingml/2006/main" xmlns:r="http://schemas.openxmlformats.org/officeDocument/2006/relationships" xmlns:p="http://schemas.openxmlformats.org/presentationml/2006/main">
  <p:tag name="ISLIDE.VECTOR" val="#1019498;"/>
</p:tagLst>
</file>

<file path=ppt/theme/theme1.xml><?xml version="1.0" encoding="utf-8"?>
<a:theme xmlns:a="http://schemas.openxmlformats.org/drawingml/2006/main" name="演示文稿2">
  <a:themeElements>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nSpc>
            <a:spcPct val="120000"/>
          </a:lnSpc>
          <a:defRPr sz="1600" dirty="0" smtClean="0">
            <a:solidFill>
              <a:schemeClr val="tx1">
                <a:lumMod val="75000"/>
                <a:lumOff val="25000"/>
              </a:schemeClr>
            </a:solidFill>
          </a:defRPr>
        </a:defPPr>
      </a:lstStyle>
    </a:txDef>
  </a:objectDefaults>
  <a:extraClrSchemeLst/>
</a:theme>
</file>

<file path=ppt/theme/theme2.xml><?xml version="1.0" encoding="utf-8"?>
<a:theme xmlns:a="http://schemas.openxmlformats.org/drawingml/2006/main" name="2_演示文稿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nSpc>
            <a:spcPct val="120000"/>
          </a:lnSpc>
          <a:defRPr sz="1600" dirty="0" smtClean="0">
            <a:solidFill>
              <a:schemeClr val="tx1">
                <a:lumMod val="75000"/>
                <a:lumOff val="25000"/>
              </a:schemeClr>
            </a:solidFill>
          </a:defRPr>
        </a:defPPr>
      </a:lst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8.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9.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0.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1.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
  <TotalTime>12843</TotalTime>
  <Words>10135</Words>
  <Application>Microsoft Office PowerPoint</Application>
  <PresentationFormat>宽屏</PresentationFormat>
  <Paragraphs>1575</Paragraphs>
  <Slides>53</Slides>
  <Notes>41</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4</vt:i4>
      </vt:variant>
      <vt:variant>
        <vt:lpstr>幻灯片标题</vt:lpstr>
      </vt:variant>
      <vt:variant>
        <vt:i4>53</vt:i4>
      </vt:variant>
    </vt:vector>
  </HeadingPairs>
  <TitlesOfParts>
    <vt:vector size="67" baseType="lpstr">
      <vt:lpstr>等线</vt:lpstr>
      <vt:lpstr>宋体</vt:lpstr>
      <vt:lpstr>微软雅黑</vt:lpstr>
      <vt:lpstr>Arial</vt:lpstr>
      <vt:lpstr>Arial</vt:lpstr>
      <vt:lpstr>Calibri</vt:lpstr>
      <vt:lpstr>Times New Roman</vt:lpstr>
      <vt:lpstr>Wingdings</vt:lpstr>
      <vt:lpstr>演示文稿2</vt:lpstr>
      <vt:lpstr>2_演示文稿2</vt:lpstr>
      <vt:lpstr>Worksheet</vt:lpstr>
      <vt:lpstr>工作表</vt:lpstr>
      <vt:lpstr>Document</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于 佳</dc:creator>
  <cp:lastModifiedBy>吕丹阳</cp:lastModifiedBy>
  <cp:revision>235</cp:revision>
  <dcterms:created xsi:type="dcterms:W3CDTF">2023-06-01T01:19:46Z</dcterms:created>
  <dcterms:modified xsi:type="dcterms:W3CDTF">2023-09-21T06:54:23Z</dcterms:modified>
</cp:coreProperties>
</file>