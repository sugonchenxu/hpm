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6" r:id="rId2"/>
    <p:sldId id="279" r:id="rId3"/>
    <p:sldId id="450" r:id="rId4"/>
    <p:sldId id="443" r:id="rId5"/>
    <p:sldId id="451" r:id="rId6"/>
    <p:sldId id="437" r:id="rId7"/>
    <p:sldId id="448" r:id="rId8"/>
    <p:sldId id="442" r:id="rId9"/>
    <p:sldId id="441" r:id="rId10"/>
    <p:sldId id="444" r:id="rId11"/>
    <p:sldId id="445" r:id="rId12"/>
    <p:sldId id="440" r:id="rId13"/>
    <p:sldId id="446" r:id="rId14"/>
    <p:sldId id="453" r:id="rId15"/>
    <p:sldId id="449" r:id="rId16"/>
    <p:sldId id="452" r:id="rId17"/>
    <p:sldId id="447" r:id="rId18"/>
    <p:sldId id="258" r:id="rId19"/>
  </p:sldIdLst>
  <p:sldSz cx="9144000" cy="5143500" type="screen16x9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AB156"/>
    <a:srgbClr val="AD2830"/>
    <a:srgbClr val="3333CC"/>
    <a:srgbClr val="C5EEFF"/>
    <a:srgbClr val="FFC000"/>
    <a:srgbClr val="CC00CC"/>
    <a:srgbClr val="AB2630"/>
    <a:srgbClr val="E8D0D0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293" autoAdjust="0"/>
  </p:normalViewPr>
  <p:slideViewPr>
    <p:cSldViewPr>
      <p:cViewPr varScale="1">
        <p:scale>
          <a:sx n="87" d="100"/>
          <a:sy n="87" d="100"/>
        </p:scale>
        <p:origin x="906" y="78"/>
      </p:cViewPr>
      <p:guideLst>
        <p:guide orient="horz" pos="157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0" d="100"/>
          <a:sy n="90" d="100"/>
        </p:scale>
        <p:origin x="-33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78497-196B-415E-957E-0F415BE43247}" type="datetimeFigureOut">
              <a:rPr lang="zh-CN" altLang="en-US" smtClean="0"/>
              <a:t>2020/5/9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853C6-0FAD-4C80-9812-1751C55792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27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497A3-A6E9-460C-B8AE-AE67AD1E0A38}" type="datetimeFigureOut">
              <a:rPr lang="zh-CN" altLang="en-US" smtClean="0"/>
              <a:t>2020/5/9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C96D9-4D4F-4265-8F02-21631B019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20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161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>
                <a:latin typeface="+mn-ea"/>
                <a:ea typeface="+mn-ea"/>
              </a:rPr>
              <a:t>此阶段也可以认为是进行设计可行性的验证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939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DVT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：</a:t>
            </a:r>
            <a:r>
              <a:rPr lang="en-US" altLang="zh-CN" dirty="0" smtClean="0"/>
              <a:t>BMC</a:t>
            </a:r>
            <a:r>
              <a:rPr lang="zh-CN" altLang="en-US" dirty="0" smtClean="0"/>
              <a:t>写入初版调速框架，散热测试</a:t>
            </a:r>
            <a:r>
              <a:rPr lang="en-US" altLang="zh-CN" dirty="0" smtClean="0"/>
              <a:t>BMC</a:t>
            </a:r>
            <a:r>
              <a:rPr lang="zh-CN" altLang="en-US" dirty="0" smtClean="0"/>
              <a:t>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537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Power on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版本，正常开机，完成基本的串口功能。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89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383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951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71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548689" y="1318702"/>
            <a:ext cx="7344171" cy="6232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4000" b="1" kern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6841832" y="3867895"/>
            <a:ext cx="2016448" cy="7920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318702"/>
            <a:ext cx="107504" cy="623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560840" cy="470804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2608363" y="1079959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2608363" y="1748495"/>
            <a:ext cx="4343399" cy="39869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2608363" y="2417033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2608362" y="3085570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2608362" y="3754106"/>
            <a:ext cx="4343399" cy="408461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1601" y="2067694"/>
            <a:ext cx="7272807" cy="62324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2800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059832" y="3147814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3059831" y="3513751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059830" y="3873791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059830" y="4233831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560840" cy="470804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611560" y="1059582"/>
            <a:ext cx="7886700" cy="350043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416824" cy="504056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611560" y="1059582"/>
            <a:ext cx="7886700" cy="350043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" Target="slide2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879089" y="1292768"/>
            <a:ext cx="7695719" cy="623248"/>
          </a:xfrm>
        </p:spPr>
        <p:txBody>
          <a:bodyPr/>
          <a:lstStyle/>
          <a:p>
            <a:pPr algn="ctr"/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基础能力培训</a:t>
            </a:r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—EVT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流程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6588224" y="3651870"/>
            <a:ext cx="2016448" cy="288032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日期：</a:t>
            </a:r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2020/5/8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7504" y="57734"/>
            <a:ext cx="7344816" cy="7069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H_Others_1"/>
          <p:cNvSpPr/>
          <p:nvPr>
            <p:custDataLst>
              <p:tags r:id="rId1"/>
            </p:custDataLst>
          </p:nvPr>
        </p:nvSpPr>
        <p:spPr>
          <a:xfrm>
            <a:off x="1769020" y="1674712"/>
            <a:ext cx="238125" cy="369396"/>
          </a:xfrm>
          <a:custGeom>
            <a:avLst/>
            <a:gdLst>
              <a:gd name="connsiteX0" fmla="*/ 203199 w 203199"/>
              <a:gd name="connsiteY0" fmla="*/ 0 h 210018"/>
              <a:gd name="connsiteX1" fmla="*/ 203199 w 203199"/>
              <a:gd name="connsiteY1" fmla="*/ 210018 h 210018"/>
              <a:gd name="connsiteX2" fmla="*/ 0 w 203199"/>
              <a:gd name="connsiteY2" fmla="*/ 210018 h 210018"/>
              <a:gd name="connsiteX3" fmla="*/ 0 w 203199"/>
              <a:gd name="connsiteY3" fmla="*/ 209707 h 2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9" h="210018">
                <a:moveTo>
                  <a:pt x="203199" y="0"/>
                </a:moveTo>
                <a:lnTo>
                  <a:pt x="203199" y="210018"/>
                </a:lnTo>
                <a:lnTo>
                  <a:pt x="0" y="210018"/>
                </a:lnTo>
                <a:lnTo>
                  <a:pt x="0" y="209707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9" name="MH_Others_2"/>
          <p:cNvSpPr/>
          <p:nvPr>
            <p:custDataLst>
              <p:tags r:id="rId2"/>
            </p:custDataLst>
          </p:nvPr>
        </p:nvSpPr>
        <p:spPr>
          <a:xfrm>
            <a:off x="1769019" y="2343246"/>
            <a:ext cx="238125" cy="369396"/>
          </a:xfrm>
          <a:custGeom>
            <a:avLst/>
            <a:gdLst>
              <a:gd name="connsiteX0" fmla="*/ 203199 w 203199"/>
              <a:gd name="connsiteY0" fmla="*/ 0 h 210018"/>
              <a:gd name="connsiteX1" fmla="*/ 203199 w 203199"/>
              <a:gd name="connsiteY1" fmla="*/ 210018 h 210018"/>
              <a:gd name="connsiteX2" fmla="*/ 0 w 203199"/>
              <a:gd name="connsiteY2" fmla="*/ 210018 h 210018"/>
              <a:gd name="connsiteX3" fmla="*/ 0 w 203199"/>
              <a:gd name="connsiteY3" fmla="*/ 209707 h 2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9" h="210018">
                <a:moveTo>
                  <a:pt x="203199" y="0"/>
                </a:moveTo>
                <a:lnTo>
                  <a:pt x="203199" y="210018"/>
                </a:lnTo>
                <a:lnTo>
                  <a:pt x="0" y="210018"/>
                </a:lnTo>
                <a:lnTo>
                  <a:pt x="0" y="209707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0" name="MH_Entry_1">
            <a:hlinkClick r:id="rId11" action="ppaction://hlinksldjump"/>
          </p:cNvPr>
          <p:cNvSpPr/>
          <p:nvPr>
            <p:custDataLst>
              <p:tags r:id="rId3"/>
            </p:custDataLst>
          </p:nvPr>
        </p:nvSpPr>
        <p:spPr>
          <a:xfrm>
            <a:off x="1835696" y="1635646"/>
            <a:ext cx="4972050" cy="408460"/>
          </a:xfrm>
          <a:custGeom>
            <a:avLst/>
            <a:gdLst>
              <a:gd name="connsiteX0" fmla="*/ 228599 w 6629400"/>
              <a:gd name="connsiteY0" fmla="*/ 126626 h 362857"/>
              <a:gd name="connsiteX1" fmla="*/ 228599 w 6629400"/>
              <a:gd name="connsiteY1" fmla="*/ 362857 h 362857"/>
              <a:gd name="connsiteX2" fmla="*/ 0 w 6629400"/>
              <a:gd name="connsiteY2" fmla="*/ 362857 h 362857"/>
              <a:gd name="connsiteX3" fmla="*/ 0 w 6629400"/>
              <a:gd name="connsiteY3" fmla="*/ 362546 h 362857"/>
              <a:gd name="connsiteX4" fmla="*/ 838200 w 6629400"/>
              <a:gd name="connsiteY4" fmla="*/ 0 h 362857"/>
              <a:gd name="connsiteX5" fmla="*/ 5791200 w 6629400"/>
              <a:gd name="connsiteY5" fmla="*/ 0 h 362857"/>
              <a:gd name="connsiteX6" fmla="*/ 6629400 w 6629400"/>
              <a:gd name="connsiteY6" fmla="*/ 0 h 362857"/>
              <a:gd name="connsiteX7" fmla="*/ 6629400 w 6629400"/>
              <a:gd name="connsiteY7" fmla="*/ 362857 h 362857"/>
              <a:gd name="connsiteX8" fmla="*/ 5791200 w 6629400"/>
              <a:gd name="connsiteY8" fmla="*/ 362857 h 362857"/>
              <a:gd name="connsiteX9" fmla="*/ 838200 w 6629400"/>
              <a:gd name="connsiteY9" fmla="*/ 362857 h 36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29400" h="362857">
                <a:moveTo>
                  <a:pt x="228599" y="126626"/>
                </a:moveTo>
                <a:lnTo>
                  <a:pt x="228599" y="362857"/>
                </a:lnTo>
                <a:lnTo>
                  <a:pt x="0" y="362857"/>
                </a:lnTo>
                <a:lnTo>
                  <a:pt x="0" y="362546"/>
                </a:lnTo>
                <a:close/>
                <a:moveTo>
                  <a:pt x="838200" y="0"/>
                </a:moveTo>
                <a:lnTo>
                  <a:pt x="5791200" y="0"/>
                </a:lnTo>
                <a:lnTo>
                  <a:pt x="6629400" y="0"/>
                </a:lnTo>
                <a:lnTo>
                  <a:pt x="6629400" y="362857"/>
                </a:lnTo>
                <a:lnTo>
                  <a:pt x="5791200" y="362857"/>
                </a:lnTo>
                <a:lnTo>
                  <a:pt x="838200" y="362857"/>
                </a:lnTo>
                <a:close/>
              </a:path>
            </a:pathLst>
          </a:cu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<a:normAutofit/>
          </a:bodyPr>
          <a:lstStyle/>
          <a:p>
            <a:endParaRPr lang="zh-CN" altLang="en-US" sz="1600" spc="15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MH_Number_1">
            <a:hlinkClick r:id="rId11" action="ppaction://hlinksldjump"/>
          </p:cNvPr>
          <p:cNvSpPr/>
          <p:nvPr>
            <p:custDataLst>
              <p:tags r:id="rId4"/>
            </p:custDataLst>
          </p:nvPr>
        </p:nvSpPr>
        <p:spPr>
          <a:xfrm>
            <a:off x="2007146" y="1635646"/>
            <a:ext cx="457201" cy="408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2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MH_Entry_2">
            <a:hlinkClick r:id="rId11" action="ppaction://hlinksldjump"/>
          </p:cNvPr>
          <p:cNvSpPr/>
          <p:nvPr>
            <p:custDataLst>
              <p:tags r:id="rId5"/>
            </p:custDataLst>
          </p:nvPr>
        </p:nvSpPr>
        <p:spPr>
          <a:xfrm>
            <a:off x="1835696" y="2304182"/>
            <a:ext cx="4972050" cy="408460"/>
          </a:xfrm>
          <a:custGeom>
            <a:avLst/>
            <a:gdLst>
              <a:gd name="connsiteX0" fmla="*/ 228599 w 6629400"/>
              <a:gd name="connsiteY0" fmla="*/ 126626 h 362857"/>
              <a:gd name="connsiteX1" fmla="*/ 228599 w 6629400"/>
              <a:gd name="connsiteY1" fmla="*/ 362857 h 362857"/>
              <a:gd name="connsiteX2" fmla="*/ 0 w 6629400"/>
              <a:gd name="connsiteY2" fmla="*/ 362857 h 362857"/>
              <a:gd name="connsiteX3" fmla="*/ 0 w 6629400"/>
              <a:gd name="connsiteY3" fmla="*/ 362546 h 362857"/>
              <a:gd name="connsiteX4" fmla="*/ 838200 w 6629400"/>
              <a:gd name="connsiteY4" fmla="*/ 0 h 362857"/>
              <a:gd name="connsiteX5" fmla="*/ 5791200 w 6629400"/>
              <a:gd name="connsiteY5" fmla="*/ 0 h 362857"/>
              <a:gd name="connsiteX6" fmla="*/ 6629400 w 6629400"/>
              <a:gd name="connsiteY6" fmla="*/ 0 h 362857"/>
              <a:gd name="connsiteX7" fmla="*/ 6629400 w 6629400"/>
              <a:gd name="connsiteY7" fmla="*/ 362857 h 362857"/>
              <a:gd name="connsiteX8" fmla="*/ 5791200 w 6629400"/>
              <a:gd name="connsiteY8" fmla="*/ 362857 h 362857"/>
              <a:gd name="connsiteX9" fmla="*/ 838200 w 6629400"/>
              <a:gd name="connsiteY9" fmla="*/ 362857 h 36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29400" h="362857">
                <a:moveTo>
                  <a:pt x="228599" y="126626"/>
                </a:moveTo>
                <a:lnTo>
                  <a:pt x="228599" y="362857"/>
                </a:lnTo>
                <a:lnTo>
                  <a:pt x="0" y="362857"/>
                </a:lnTo>
                <a:lnTo>
                  <a:pt x="0" y="362546"/>
                </a:lnTo>
                <a:close/>
                <a:moveTo>
                  <a:pt x="838200" y="0"/>
                </a:moveTo>
                <a:lnTo>
                  <a:pt x="5791200" y="0"/>
                </a:lnTo>
                <a:lnTo>
                  <a:pt x="6629400" y="0"/>
                </a:lnTo>
                <a:lnTo>
                  <a:pt x="6629400" y="362857"/>
                </a:lnTo>
                <a:lnTo>
                  <a:pt x="5791200" y="362857"/>
                </a:lnTo>
                <a:lnTo>
                  <a:pt x="838200" y="362857"/>
                </a:lnTo>
                <a:close/>
              </a:path>
            </a:pathLst>
          </a:cu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<a:normAutofit/>
          </a:bodyPr>
          <a:lstStyle/>
          <a:p>
            <a:endParaRPr lang="zh-CN" altLang="en-US" sz="1600" spc="15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MH_Number_2">
            <a:hlinkClick r:id="rId11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2007146" y="2274886"/>
            <a:ext cx="457201" cy="408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2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MH_Others_2"/>
          <p:cNvSpPr/>
          <p:nvPr>
            <p:custDataLst>
              <p:tags r:id="rId7"/>
            </p:custDataLst>
          </p:nvPr>
        </p:nvSpPr>
        <p:spPr>
          <a:xfrm>
            <a:off x="1769019" y="3011926"/>
            <a:ext cx="238125" cy="369396"/>
          </a:xfrm>
          <a:custGeom>
            <a:avLst/>
            <a:gdLst>
              <a:gd name="connsiteX0" fmla="*/ 203199 w 203199"/>
              <a:gd name="connsiteY0" fmla="*/ 0 h 210018"/>
              <a:gd name="connsiteX1" fmla="*/ 203199 w 203199"/>
              <a:gd name="connsiteY1" fmla="*/ 210018 h 210018"/>
              <a:gd name="connsiteX2" fmla="*/ 0 w 203199"/>
              <a:gd name="connsiteY2" fmla="*/ 210018 h 210018"/>
              <a:gd name="connsiteX3" fmla="*/ 0 w 203199"/>
              <a:gd name="connsiteY3" fmla="*/ 209707 h 2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9" h="210018">
                <a:moveTo>
                  <a:pt x="203199" y="0"/>
                </a:moveTo>
                <a:lnTo>
                  <a:pt x="203199" y="210018"/>
                </a:lnTo>
                <a:lnTo>
                  <a:pt x="0" y="210018"/>
                </a:lnTo>
                <a:lnTo>
                  <a:pt x="0" y="209707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5" name="MH_Entry_2">
            <a:hlinkClick r:id="rId11" action="ppaction://hlinksldjump"/>
          </p:cNvPr>
          <p:cNvSpPr/>
          <p:nvPr>
            <p:custDataLst>
              <p:tags r:id="rId8"/>
            </p:custDataLst>
          </p:nvPr>
        </p:nvSpPr>
        <p:spPr>
          <a:xfrm>
            <a:off x="1835696" y="2972720"/>
            <a:ext cx="4972050" cy="408460"/>
          </a:xfrm>
          <a:custGeom>
            <a:avLst/>
            <a:gdLst>
              <a:gd name="connsiteX0" fmla="*/ 228599 w 6629400"/>
              <a:gd name="connsiteY0" fmla="*/ 126626 h 362857"/>
              <a:gd name="connsiteX1" fmla="*/ 228599 w 6629400"/>
              <a:gd name="connsiteY1" fmla="*/ 362857 h 362857"/>
              <a:gd name="connsiteX2" fmla="*/ 0 w 6629400"/>
              <a:gd name="connsiteY2" fmla="*/ 362857 h 362857"/>
              <a:gd name="connsiteX3" fmla="*/ 0 w 6629400"/>
              <a:gd name="connsiteY3" fmla="*/ 362546 h 362857"/>
              <a:gd name="connsiteX4" fmla="*/ 838200 w 6629400"/>
              <a:gd name="connsiteY4" fmla="*/ 0 h 362857"/>
              <a:gd name="connsiteX5" fmla="*/ 5791200 w 6629400"/>
              <a:gd name="connsiteY5" fmla="*/ 0 h 362857"/>
              <a:gd name="connsiteX6" fmla="*/ 6629400 w 6629400"/>
              <a:gd name="connsiteY6" fmla="*/ 0 h 362857"/>
              <a:gd name="connsiteX7" fmla="*/ 6629400 w 6629400"/>
              <a:gd name="connsiteY7" fmla="*/ 362857 h 362857"/>
              <a:gd name="connsiteX8" fmla="*/ 5791200 w 6629400"/>
              <a:gd name="connsiteY8" fmla="*/ 362857 h 362857"/>
              <a:gd name="connsiteX9" fmla="*/ 838200 w 6629400"/>
              <a:gd name="connsiteY9" fmla="*/ 362857 h 36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29400" h="362857">
                <a:moveTo>
                  <a:pt x="228599" y="126626"/>
                </a:moveTo>
                <a:lnTo>
                  <a:pt x="228599" y="362857"/>
                </a:lnTo>
                <a:lnTo>
                  <a:pt x="0" y="362857"/>
                </a:lnTo>
                <a:lnTo>
                  <a:pt x="0" y="362546"/>
                </a:lnTo>
                <a:close/>
                <a:moveTo>
                  <a:pt x="838200" y="0"/>
                </a:moveTo>
                <a:lnTo>
                  <a:pt x="5791200" y="0"/>
                </a:lnTo>
                <a:lnTo>
                  <a:pt x="6629400" y="0"/>
                </a:lnTo>
                <a:lnTo>
                  <a:pt x="6629400" y="362857"/>
                </a:lnTo>
                <a:lnTo>
                  <a:pt x="5791200" y="362857"/>
                </a:lnTo>
                <a:lnTo>
                  <a:pt x="838200" y="362857"/>
                </a:lnTo>
                <a:close/>
              </a:path>
            </a:pathLst>
          </a:cu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<a:normAutofit/>
          </a:bodyPr>
          <a:lstStyle/>
          <a:p>
            <a:endParaRPr lang="zh-CN" altLang="en-US" sz="1600" spc="15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MH_Number_2">
            <a:hlinkClick r:id="rId11" action="ppaction://hlinksldjump"/>
          </p:cNvPr>
          <p:cNvSpPr/>
          <p:nvPr>
            <p:custDataLst>
              <p:tags r:id="rId9"/>
            </p:custDataLst>
          </p:nvPr>
        </p:nvSpPr>
        <p:spPr>
          <a:xfrm>
            <a:off x="2007146" y="2953189"/>
            <a:ext cx="457201" cy="408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2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560840" cy="470804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464347" y="1635644"/>
            <a:ext cx="4343399" cy="408462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概念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及工期划分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2464347" y="2304180"/>
            <a:ext cx="4343399" cy="398697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主要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工作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2464347" y="2972718"/>
            <a:ext cx="4343399" cy="408462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DVT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准入条件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35596" y="2068032"/>
            <a:ext cx="7272807" cy="623248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概念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及工期划分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639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概念及</a:t>
            </a:r>
            <a:r>
              <a:rPr lang="zh-CN" altLang="en-US" dirty="0" smtClean="0"/>
              <a:t>工期划分</a:t>
            </a:r>
            <a:endParaRPr lang="zh-CN" altLang="en-US" dirty="0"/>
          </a:p>
        </p:txBody>
      </p:sp>
      <p:sp>
        <p:nvSpPr>
          <p:cNvPr id="71" name="文本框 29"/>
          <p:cNvSpPr txBox="1">
            <a:spLocks noChangeArrowheads="1"/>
          </p:cNvSpPr>
          <p:nvPr/>
        </p:nvSpPr>
        <p:spPr bwMode="auto">
          <a:xfrm>
            <a:off x="395536" y="627534"/>
            <a:ext cx="8007888" cy="117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+mn-ea"/>
                <a:ea typeface="+mn-ea"/>
              </a:rPr>
              <a:t>EVT(Engineering Verification Test)</a:t>
            </a:r>
            <a:r>
              <a:rPr lang="zh-CN" altLang="en-US" sz="1400" dirty="0">
                <a:latin typeface="+mn-ea"/>
                <a:ea typeface="+mn-ea"/>
              </a:rPr>
              <a:t>指工程验证，此阶段是针对工程原型机做</a:t>
            </a:r>
            <a:r>
              <a:rPr lang="zh-CN" altLang="en-US" sz="1400" dirty="0" smtClean="0">
                <a:latin typeface="+mn-ea"/>
                <a:ea typeface="+mn-ea"/>
              </a:rPr>
              <a:t>验证。这</a:t>
            </a:r>
            <a:r>
              <a:rPr lang="zh-CN" altLang="en-US" sz="1400" dirty="0">
                <a:latin typeface="+mn-ea"/>
                <a:ea typeface="+mn-ea"/>
              </a:rPr>
              <a:t>一阶段的重点是尽可能多的发现设计问题，以便及早</a:t>
            </a:r>
            <a:r>
              <a:rPr lang="zh-CN" altLang="en-US" sz="1400" dirty="0" smtClean="0">
                <a:latin typeface="+mn-ea"/>
                <a:ea typeface="+mn-ea"/>
              </a:rPr>
              <a:t>修正。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400" b="1" dirty="0">
              <a:solidFill>
                <a:srgbClr val="404040"/>
              </a:solidFill>
              <a:latin typeface="+mn-ea"/>
              <a:ea typeface="+mn-ea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 smtClean="0">
                <a:solidFill>
                  <a:srgbClr val="404040"/>
                </a:solidFill>
                <a:latin typeface="+mn-ea"/>
                <a:ea typeface="+mn-ea"/>
                <a:sym typeface="等线" panose="02010600030101010101" pitchFamily="2" charset="-122"/>
              </a:rPr>
              <a:t>EVT</a:t>
            </a:r>
            <a:r>
              <a:rPr lang="zh-CN" altLang="en-US" sz="1400" b="1" dirty="0" smtClean="0">
                <a:solidFill>
                  <a:srgbClr val="404040"/>
                </a:solidFill>
                <a:latin typeface="+mn-ea"/>
                <a:ea typeface="+mn-ea"/>
                <a:sym typeface="等线" panose="02010600030101010101" pitchFamily="2" charset="-122"/>
              </a:rPr>
              <a:t>周期（标准工期：</a:t>
            </a:r>
            <a:r>
              <a:rPr lang="en-US" altLang="zh-CN" sz="1400" b="1" dirty="0" smtClean="0">
                <a:solidFill>
                  <a:srgbClr val="404040"/>
                </a:solidFill>
                <a:latin typeface="+mn-ea"/>
                <a:ea typeface="+mn-ea"/>
                <a:sym typeface="等线" panose="02010600030101010101" pitchFamily="2" charset="-122"/>
              </a:rPr>
              <a:t>9</a:t>
            </a:r>
            <a:r>
              <a:rPr lang="zh-CN" altLang="en-US" sz="1400" b="1" dirty="0" smtClean="0">
                <a:solidFill>
                  <a:srgbClr val="404040"/>
                </a:solidFill>
                <a:latin typeface="+mn-ea"/>
                <a:ea typeface="+mn-ea"/>
                <a:sym typeface="等线" panose="02010600030101010101" pitchFamily="2" charset="-122"/>
              </a:rPr>
              <a:t>周）</a:t>
            </a:r>
            <a:endParaRPr lang="en-US" altLang="zh-CN" sz="1400" b="1" dirty="0" smtClean="0">
              <a:solidFill>
                <a:srgbClr val="404040"/>
              </a:solidFill>
              <a:latin typeface="+mn-ea"/>
              <a:ea typeface="+mn-ea"/>
              <a:sym typeface="等线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87525"/>
              </p:ext>
            </p:extLst>
          </p:nvPr>
        </p:nvGraphicFramePr>
        <p:xfrm>
          <a:off x="683564" y="1915703"/>
          <a:ext cx="7848879" cy="28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662">
                  <a:extLst>
                    <a:ext uri="{9D8B030D-6E8A-4147-A177-3AD203B41FA5}">
                      <a16:colId xmlns:a16="http://schemas.microsoft.com/office/drawing/2014/main" val="898584963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3673292109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1020949310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3683074341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1821825963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2065625844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3169718729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3473688751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3036016720"/>
                    </a:ext>
                  </a:extLst>
                </a:gridCol>
                <a:gridCol w="758445">
                  <a:extLst>
                    <a:ext uri="{9D8B030D-6E8A-4147-A177-3AD203B41FA5}">
                      <a16:colId xmlns:a16="http://schemas.microsoft.com/office/drawing/2014/main" val="3318977312"/>
                    </a:ext>
                  </a:extLst>
                </a:gridCol>
                <a:gridCol w="533212">
                  <a:extLst>
                    <a:ext uri="{9D8B030D-6E8A-4147-A177-3AD203B41FA5}">
                      <a16:colId xmlns:a16="http://schemas.microsoft.com/office/drawing/2014/main" val="3950995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PO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W1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W2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W3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W4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W5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W6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W7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W8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+mn-ea"/>
                          <a:ea typeface="+mn-ea"/>
                        </a:rPr>
                        <a:t>W9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DVT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AD2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509739"/>
                  </a:ext>
                </a:extLst>
              </a:tr>
              <a:tr h="250948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5144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183970" y="2832737"/>
            <a:ext cx="4536504" cy="1835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latin typeface="+mn-ea"/>
              </a:rPr>
              <a:t>SIT</a:t>
            </a:r>
            <a:r>
              <a:rPr lang="zh-CN" altLang="en-US" sz="1200" b="1" dirty="0" smtClean="0">
                <a:latin typeface="+mn-ea"/>
              </a:rPr>
              <a:t>测试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51920" y="4321460"/>
            <a:ext cx="1080120" cy="17200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latin typeface="+mn-ea"/>
              </a:rPr>
              <a:t>板卡改版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04048" y="4315501"/>
            <a:ext cx="2952327" cy="172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latin typeface="+mn-ea"/>
              </a:rPr>
              <a:t>生产加工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83970" y="2580356"/>
            <a:ext cx="4536504" cy="1787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latin typeface="+mn-ea"/>
              </a:rPr>
              <a:t>SI</a:t>
            </a:r>
            <a:r>
              <a:rPr lang="zh-CN" altLang="en-US" sz="1200" b="1" dirty="0" smtClean="0">
                <a:latin typeface="+mn-ea"/>
              </a:rPr>
              <a:t>测试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83970" y="3329509"/>
            <a:ext cx="2232248" cy="1835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latin typeface="+mn-ea"/>
              </a:rPr>
              <a:t>PA</a:t>
            </a:r>
            <a:r>
              <a:rPr lang="zh-CN" altLang="en-US" sz="1200" b="1" dirty="0" smtClean="0">
                <a:latin typeface="+mn-ea"/>
              </a:rPr>
              <a:t>测试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83969" y="3570113"/>
            <a:ext cx="2987893" cy="17434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latin typeface="+mn-ea"/>
              </a:rPr>
              <a:t>可靠性测试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27784" y="4543095"/>
            <a:ext cx="2304256" cy="1809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latin typeface="+mn-ea"/>
              </a:rPr>
              <a:t>机构改版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04047" y="4540941"/>
            <a:ext cx="2952327" cy="18307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latin typeface="+mn-ea"/>
              </a:rPr>
              <a:t>生产加工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40054" y="4045889"/>
            <a:ext cx="6016320" cy="1751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 smtClean="0">
                <a:latin typeface="+mn-ea"/>
              </a:rPr>
              <a:t>Debug+Bug</a:t>
            </a:r>
            <a:r>
              <a:rPr lang="zh-CN" altLang="en-US" sz="1200" b="1" dirty="0" smtClean="0">
                <a:latin typeface="+mn-ea"/>
              </a:rPr>
              <a:t>验证</a:t>
            </a:r>
            <a:endParaRPr lang="zh-CN" altLang="en-US" sz="1200" b="1" dirty="0">
              <a:latin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83970" y="2444941"/>
            <a:ext cx="4540158" cy="0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183970" y="2346796"/>
            <a:ext cx="4536504" cy="16472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latin typeface="+mn-ea"/>
              </a:rPr>
              <a:t>DC</a:t>
            </a:r>
            <a:r>
              <a:rPr lang="zh-CN" altLang="en-US" sz="1200" b="1" dirty="0" smtClean="0">
                <a:latin typeface="+mn-ea"/>
              </a:rPr>
              <a:t>测试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83970" y="3084726"/>
            <a:ext cx="4536504" cy="1835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latin typeface="+mn-ea"/>
              </a:rPr>
              <a:t>散热测试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41" name="流程图: 接点 40"/>
          <p:cNvSpPr/>
          <p:nvPr/>
        </p:nvSpPr>
        <p:spPr>
          <a:xfrm>
            <a:off x="3360165" y="3382705"/>
            <a:ext cx="72008" cy="68418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流程图: 接点 42"/>
          <p:cNvSpPr/>
          <p:nvPr/>
        </p:nvSpPr>
        <p:spPr>
          <a:xfrm>
            <a:off x="3360165" y="3624746"/>
            <a:ext cx="72008" cy="68418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接点 21"/>
          <p:cNvSpPr/>
          <p:nvPr/>
        </p:nvSpPr>
        <p:spPr>
          <a:xfrm>
            <a:off x="4175956" y="2886477"/>
            <a:ext cx="72008" cy="68418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流程图: 接点 39"/>
          <p:cNvSpPr/>
          <p:nvPr/>
        </p:nvSpPr>
        <p:spPr>
          <a:xfrm>
            <a:off x="4171863" y="3142302"/>
            <a:ext cx="72008" cy="68418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>
            <a:off x="6708055" y="2282745"/>
            <a:ext cx="216024" cy="23356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等腰三角形 62"/>
          <p:cNvSpPr/>
          <p:nvPr/>
        </p:nvSpPr>
        <p:spPr>
          <a:xfrm>
            <a:off x="7500141" y="2279941"/>
            <a:ext cx="216024" cy="23356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连接符 63"/>
          <p:cNvCxnSpPr>
            <a:endCxn id="65" idx="0"/>
          </p:cNvCxnSpPr>
          <p:nvPr/>
        </p:nvCxnSpPr>
        <p:spPr>
          <a:xfrm flipH="1">
            <a:off x="6811185" y="2441068"/>
            <a:ext cx="4882" cy="214576"/>
          </a:xfrm>
          <a:prstGeom prst="line">
            <a:avLst/>
          </a:prstGeom>
          <a:ln w="2222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6401213" y="2655644"/>
            <a:ext cx="819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各组</a:t>
            </a:r>
            <a:r>
              <a:rPr lang="en-US" altLang="zh-CN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EVT</a:t>
            </a:r>
            <a:r>
              <a:rPr lang="zh-CN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测试报告评审</a:t>
            </a:r>
          </a:p>
        </p:txBody>
      </p:sp>
      <p:cxnSp>
        <p:nvCxnSpPr>
          <p:cNvPr id="67" name="直接连接符 66"/>
          <p:cNvCxnSpPr>
            <a:endCxn id="68" idx="0"/>
          </p:cNvCxnSpPr>
          <p:nvPr/>
        </p:nvCxnSpPr>
        <p:spPr>
          <a:xfrm>
            <a:off x="7631129" y="2511522"/>
            <a:ext cx="0" cy="386949"/>
          </a:xfrm>
          <a:prstGeom prst="line">
            <a:avLst/>
          </a:prstGeom>
          <a:ln w="2222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7181699" y="2898471"/>
            <a:ext cx="898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各组</a:t>
            </a:r>
            <a:r>
              <a:rPr lang="en-US" altLang="zh-CN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DVT</a:t>
            </a:r>
            <a:r>
              <a:rPr lang="zh-CN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测试计划评审</a:t>
            </a:r>
          </a:p>
        </p:txBody>
      </p:sp>
      <p:cxnSp>
        <p:nvCxnSpPr>
          <p:cNvPr id="74" name="直接连接符 73"/>
          <p:cNvCxnSpPr/>
          <p:nvPr/>
        </p:nvCxnSpPr>
        <p:spPr>
          <a:xfrm>
            <a:off x="7962831" y="2294638"/>
            <a:ext cx="41362" cy="2501385"/>
          </a:xfrm>
          <a:prstGeom prst="line">
            <a:avLst/>
          </a:prstGeom>
          <a:ln w="2222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右箭头 74"/>
          <p:cNvSpPr/>
          <p:nvPr/>
        </p:nvSpPr>
        <p:spPr>
          <a:xfrm>
            <a:off x="8028381" y="3176511"/>
            <a:ext cx="390314" cy="20619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五角星 76"/>
          <p:cNvSpPr/>
          <p:nvPr/>
        </p:nvSpPr>
        <p:spPr>
          <a:xfrm>
            <a:off x="7914633" y="3197123"/>
            <a:ext cx="144019" cy="125994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7932558" y="3365249"/>
            <a:ext cx="75103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b="1" dirty="0" smtClean="0">
                <a:solidFill>
                  <a:srgbClr val="FF0000"/>
                </a:solidFill>
                <a:latin typeface="+mn-ea"/>
              </a:rPr>
              <a:t>MR2 DVT</a:t>
            </a:r>
            <a:r>
              <a:rPr lang="zh-CN" altLang="en-US" sz="900" b="1" dirty="0" smtClean="0">
                <a:solidFill>
                  <a:srgbClr val="FF0000"/>
                </a:solidFill>
                <a:latin typeface="+mn-ea"/>
              </a:rPr>
              <a:t>准入评审</a:t>
            </a:r>
          </a:p>
        </p:txBody>
      </p:sp>
      <p:cxnSp>
        <p:nvCxnSpPr>
          <p:cNvPr id="80" name="直接连接符 79"/>
          <p:cNvCxnSpPr/>
          <p:nvPr/>
        </p:nvCxnSpPr>
        <p:spPr>
          <a:xfrm>
            <a:off x="1142029" y="2319420"/>
            <a:ext cx="41362" cy="2501385"/>
          </a:xfrm>
          <a:prstGeom prst="line">
            <a:avLst/>
          </a:prstGeom>
          <a:ln w="2222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右箭头 80"/>
          <p:cNvSpPr/>
          <p:nvPr/>
        </p:nvSpPr>
        <p:spPr>
          <a:xfrm>
            <a:off x="719805" y="3182640"/>
            <a:ext cx="390314" cy="20619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1183391" y="3810427"/>
            <a:ext cx="6749167" cy="17872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 smtClean="0">
                <a:latin typeface="+mn-ea"/>
              </a:rPr>
              <a:t>软件版本开发（</a:t>
            </a:r>
            <a:r>
              <a:rPr lang="en-US" altLang="zh-CN" sz="1200" b="1" dirty="0" smtClean="0">
                <a:latin typeface="+mn-ea"/>
              </a:rPr>
              <a:t>2</a:t>
            </a:r>
            <a:r>
              <a:rPr lang="zh-CN" altLang="en-US" sz="1200" b="1" dirty="0" smtClean="0">
                <a:latin typeface="+mn-ea"/>
              </a:rPr>
              <a:t>周</a:t>
            </a:r>
            <a:r>
              <a:rPr lang="en-US" altLang="zh-CN" sz="1200" b="1" dirty="0" smtClean="0">
                <a:latin typeface="+mn-ea"/>
              </a:rPr>
              <a:t>/</a:t>
            </a:r>
            <a:r>
              <a:rPr lang="zh-CN" altLang="en-US" sz="1200" b="1" dirty="0" smtClean="0">
                <a:latin typeface="+mn-ea"/>
              </a:rPr>
              <a:t>迭代）</a:t>
            </a:r>
            <a:endParaRPr lang="zh-CN" altLang="en-US" sz="1200" b="1" dirty="0">
              <a:latin typeface="+mn-ea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3396169" y="3416914"/>
            <a:ext cx="831694" cy="875549"/>
          </a:xfrm>
          <a:prstGeom prst="straightConnector1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3389215" y="3664139"/>
            <a:ext cx="2047" cy="907658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2664248" y="2935510"/>
            <a:ext cx="6672" cy="1586955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22" idx="3"/>
          </p:cNvCxnSpPr>
          <p:nvPr/>
        </p:nvCxnSpPr>
        <p:spPr>
          <a:xfrm flipH="1">
            <a:off x="3381785" y="2944875"/>
            <a:ext cx="804716" cy="1626922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等腰三角形 84"/>
          <p:cNvSpPr/>
          <p:nvPr/>
        </p:nvSpPr>
        <p:spPr>
          <a:xfrm>
            <a:off x="7692740" y="3832701"/>
            <a:ext cx="150262" cy="123392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6799663" y="3754384"/>
            <a:ext cx="98174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 smtClean="0">
                <a:solidFill>
                  <a:schemeClr val="bg1"/>
                </a:solidFill>
              </a:rPr>
              <a:t>全功能版本</a:t>
            </a:r>
          </a:p>
        </p:txBody>
      </p:sp>
      <p:sp>
        <p:nvSpPr>
          <p:cNvPr id="46" name="流程图: 接点 45"/>
          <p:cNvSpPr/>
          <p:nvPr/>
        </p:nvSpPr>
        <p:spPr>
          <a:xfrm>
            <a:off x="2629038" y="2876329"/>
            <a:ext cx="72008" cy="68418"/>
          </a:xfrm>
          <a:prstGeom prst="flowChartConnector">
            <a:avLst/>
          </a:prstGeom>
          <a:solidFill>
            <a:srgbClr val="C5EEFF"/>
          </a:solidFill>
          <a:ln>
            <a:solidFill>
              <a:srgbClr val="C5E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731642" y="4283397"/>
            <a:ext cx="132414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输出改版意见</a:t>
            </a:r>
          </a:p>
        </p:txBody>
      </p:sp>
      <p:sp>
        <p:nvSpPr>
          <p:cNvPr id="92" name="等腰三角形 91"/>
          <p:cNvSpPr/>
          <p:nvPr/>
        </p:nvSpPr>
        <p:spPr>
          <a:xfrm>
            <a:off x="1183391" y="3081248"/>
            <a:ext cx="150262" cy="1233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794372" y="2874630"/>
            <a:ext cx="1179448" cy="269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b="1" dirty="0" smtClean="0">
                <a:solidFill>
                  <a:schemeClr val="accent6">
                    <a:lumMod val="75000"/>
                  </a:schemeClr>
                </a:solidFill>
              </a:rPr>
              <a:t>机构安装评审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3851920" y="4758668"/>
            <a:ext cx="2261191" cy="261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000" dirty="0" smtClean="0">
                <a:solidFill>
                  <a:srgbClr val="0AB156"/>
                </a:solidFill>
                <a:latin typeface="+mn-ea"/>
              </a:rPr>
              <a:t>TR4 </a:t>
            </a:r>
            <a:r>
              <a:rPr lang="zh-CN" altLang="en-US" sz="1000" dirty="0" smtClean="0">
                <a:solidFill>
                  <a:srgbClr val="0AB156"/>
                </a:solidFill>
                <a:latin typeface="+mn-ea"/>
              </a:rPr>
              <a:t>原型机技术状态评审 </a:t>
            </a:r>
            <a:r>
              <a:rPr lang="en-US" altLang="zh-CN" sz="1000" dirty="0" smtClean="0">
                <a:solidFill>
                  <a:srgbClr val="0AB156"/>
                </a:solidFill>
                <a:latin typeface="+mn-ea"/>
              </a:rPr>
              <a:t>B01 G/O</a:t>
            </a:r>
            <a:endParaRPr lang="zh-CN" altLang="en-US" sz="1000" dirty="0" smtClean="0">
              <a:solidFill>
                <a:srgbClr val="0AB156"/>
              </a:solidFill>
              <a:latin typeface="+mn-ea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4216494" y="2355999"/>
            <a:ext cx="1503980" cy="134779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4215365" y="2618597"/>
            <a:ext cx="1503980" cy="134779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3371980" y="3587502"/>
            <a:ext cx="816827" cy="136326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等腰三角形 94"/>
          <p:cNvSpPr/>
          <p:nvPr/>
        </p:nvSpPr>
        <p:spPr>
          <a:xfrm>
            <a:off x="4664997" y="2292473"/>
            <a:ext cx="216024" cy="233560"/>
          </a:xfrm>
          <a:prstGeom prst="triangle">
            <a:avLst/>
          </a:prstGeom>
          <a:solidFill>
            <a:srgbClr val="00B050"/>
          </a:solidFill>
          <a:ln>
            <a:solidFill>
              <a:srgbClr val="0AB1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连接符 95"/>
          <p:cNvCxnSpPr/>
          <p:nvPr/>
        </p:nvCxnSpPr>
        <p:spPr>
          <a:xfrm>
            <a:off x="4766148" y="2548356"/>
            <a:ext cx="6861" cy="2175659"/>
          </a:xfrm>
          <a:prstGeom prst="line">
            <a:avLst/>
          </a:prstGeom>
          <a:ln w="22225">
            <a:solidFill>
              <a:srgbClr val="0AB15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3405170" y="3157904"/>
            <a:ext cx="796760" cy="1364561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流程图: 接点 38"/>
          <p:cNvSpPr/>
          <p:nvPr/>
        </p:nvSpPr>
        <p:spPr>
          <a:xfrm>
            <a:off x="4175956" y="2636441"/>
            <a:ext cx="72008" cy="68418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211960" y="2442000"/>
            <a:ext cx="31911" cy="1873501"/>
          </a:xfrm>
          <a:prstGeom prst="straightConnector1">
            <a:avLst/>
          </a:prstGeom>
          <a:ln w="25400">
            <a:solidFill>
              <a:srgbClr val="FFC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3382261" y="3634197"/>
            <a:ext cx="861610" cy="684542"/>
          </a:xfrm>
          <a:prstGeom prst="straightConnector1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54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35596" y="2068032"/>
            <a:ext cx="7272807" cy="623248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主要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工作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718437" y="3170861"/>
            <a:ext cx="4069655" cy="360040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EVT(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准入</a:t>
            </a:r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过程控制点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3718437" y="3637451"/>
            <a:ext cx="4069655" cy="360040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机构安装评审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347864" y="3291524"/>
            <a:ext cx="182434" cy="187187"/>
            <a:chOff x="6135110" y="3435846"/>
            <a:chExt cx="182434" cy="187187"/>
          </a:xfrm>
        </p:grpSpPr>
        <p:sp>
          <p:nvSpPr>
            <p:cNvPr id="12" name="等腰三角形 11"/>
            <p:cNvSpPr/>
            <p:nvPr/>
          </p:nvSpPr>
          <p:spPr>
            <a:xfrm rot="5400000">
              <a:off x="6122200" y="3448756"/>
              <a:ext cx="187187" cy="161367"/>
            </a:xfrm>
            <a:prstGeom prst="triangle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等腰三角形 12"/>
            <p:cNvSpPr/>
            <p:nvPr/>
          </p:nvSpPr>
          <p:spPr>
            <a:xfrm rot="5400000">
              <a:off x="6143267" y="3448756"/>
              <a:ext cx="187187" cy="161367"/>
            </a:xfrm>
            <a:prstGeom prst="triangle">
              <a:avLst/>
            </a:prstGeom>
            <a:solidFill>
              <a:srgbClr val="AD28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358398" y="3723878"/>
            <a:ext cx="182434" cy="187187"/>
            <a:chOff x="6135110" y="3435846"/>
            <a:chExt cx="182434" cy="187187"/>
          </a:xfrm>
        </p:grpSpPr>
        <p:sp>
          <p:nvSpPr>
            <p:cNvPr id="18" name="等腰三角形 17"/>
            <p:cNvSpPr/>
            <p:nvPr/>
          </p:nvSpPr>
          <p:spPr>
            <a:xfrm rot="5400000">
              <a:off x="6122200" y="3448756"/>
              <a:ext cx="187187" cy="161367"/>
            </a:xfrm>
            <a:prstGeom prst="triangle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 rot="5400000">
              <a:off x="6143267" y="3448756"/>
              <a:ext cx="187187" cy="161367"/>
            </a:xfrm>
            <a:prstGeom prst="triangle">
              <a:avLst/>
            </a:prstGeom>
            <a:solidFill>
              <a:srgbClr val="AD28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4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3743811" y="4107376"/>
            <a:ext cx="4069655" cy="360040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测试</a:t>
            </a:r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开发主要工作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83772" y="4193803"/>
            <a:ext cx="182434" cy="187187"/>
            <a:chOff x="6135110" y="3435846"/>
            <a:chExt cx="182434" cy="187187"/>
          </a:xfrm>
        </p:grpSpPr>
        <p:sp>
          <p:nvSpPr>
            <p:cNvPr id="16" name="等腰三角形 15"/>
            <p:cNvSpPr/>
            <p:nvPr/>
          </p:nvSpPr>
          <p:spPr>
            <a:xfrm rot="5400000">
              <a:off x="6122200" y="3448756"/>
              <a:ext cx="187187" cy="161367"/>
            </a:xfrm>
            <a:prstGeom prst="triangle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5400000">
              <a:off x="6143267" y="3448756"/>
              <a:ext cx="187187" cy="161367"/>
            </a:xfrm>
            <a:prstGeom prst="triangle">
              <a:avLst/>
            </a:prstGeom>
            <a:solidFill>
              <a:srgbClr val="AD28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21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3743811" y="4534767"/>
            <a:ext cx="4069655" cy="360040"/>
          </a:xfrm>
        </p:spPr>
        <p:txBody>
          <a:bodyPr/>
          <a:lstStyle/>
          <a:p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重点岗位主要工作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383772" y="4621194"/>
            <a:ext cx="182434" cy="187187"/>
            <a:chOff x="6135110" y="3435846"/>
            <a:chExt cx="182434" cy="187187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6122200" y="3448756"/>
              <a:ext cx="187187" cy="161367"/>
            </a:xfrm>
            <a:prstGeom prst="triangle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 rot="5400000">
              <a:off x="6143267" y="3448756"/>
              <a:ext cx="187187" cy="161367"/>
            </a:xfrm>
            <a:prstGeom prst="triangle">
              <a:avLst/>
            </a:prstGeom>
            <a:solidFill>
              <a:srgbClr val="AD28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Calibri" panose="020F0502020204030204" pitchFamily="34" charset="0"/>
                <a:buChar char="∆"/>
              </a:pPr>
              <a:endParaRPr lang="zh-CN" altLang="en-US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373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（准入）过程控制点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内部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20379"/>
              </p:ext>
            </p:extLst>
          </p:nvPr>
        </p:nvGraphicFramePr>
        <p:xfrm>
          <a:off x="1115616" y="915566"/>
          <a:ext cx="6768752" cy="3888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5104">
                  <a:extLst>
                    <a:ext uri="{9D8B030D-6E8A-4147-A177-3AD203B41FA5}">
                      <a16:colId xmlns:a16="http://schemas.microsoft.com/office/drawing/2014/main" val="3450258799"/>
                    </a:ext>
                  </a:extLst>
                </a:gridCol>
                <a:gridCol w="1801824">
                  <a:extLst>
                    <a:ext uri="{9D8B030D-6E8A-4147-A177-3AD203B41FA5}">
                      <a16:colId xmlns:a16="http://schemas.microsoft.com/office/drawing/2014/main" val="2089343860"/>
                    </a:ext>
                  </a:extLst>
                </a:gridCol>
                <a:gridCol w="1801824">
                  <a:extLst>
                    <a:ext uri="{9D8B030D-6E8A-4147-A177-3AD203B41FA5}">
                      <a16:colId xmlns:a16="http://schemas.microsoft.com/office/drawing/2014/main" val="1480761418"/>
                    </a:ext>
                  </a:extLst>
                </a:gridCol>
              </a:tblGrid>
              <a:tr h="2460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altLang="zh-CN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EVT</a:t>
                      </a: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测试计划评审已通过；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955695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0"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工作产品名称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责任人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评审模式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576110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SIT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测试计划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TPM(</a:t>
                      </a: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测试代表</a:t>
                      </a: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签审发布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78937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测试计划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测试工程师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699841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散热测试计划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散热测试工程师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543548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可靠性测试计划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可靠性测试工程师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528634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PA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测试计划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可靠性测试工程师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15836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电源测试计划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电源测试工程师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060831"/>
                  </a:ext>
                </a:extLst>
              </a:tr>
              <a:tr h="277758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EVT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系统组装关键物料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已齐备；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195501"/>
                  </a:ext>
                </a:extLst>
              </a:tr>
              <a:tr h="332096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EVT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软件版本已发布（</a:t>
                      </a:r>
                      <a:r>
                        <a:rPr lang="en-US" altLang="zh-C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BIOS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BMC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CMM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940925"/>
                  </a:ext>
                </a:extLst>
              </a:tr>
              <a:tr h="246000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Power </a:t>
                      </a:r>
                      <a:r>
                        <a:rPr lang="en-US" altLang="zh-C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测试报告评审已通过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endParaRPr lang="zh-CN" altLang="en-US" sz="120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055736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工作产品名称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责任人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评审模式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202100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HW </a:t>
                      </a:r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Power On 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报告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+mn-ea"/>
                          <a:ea typeface="+mn-ea"/>
                        </a:rPr>
                        <a:t>硬件工程师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签审发布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89511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BIOS </a:t>
                      </a:r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Power On 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报告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ea"/>
                          <a:ea typeface="+mn-ea"/>
                        </a:rPr>
                        <a:t>BIOS</a:t>
                      </a:r>
                      <a:r>
                        <a:rPr lang="zh-CN" altLang="en-US" sz="1200" u="none" strike="noStrike">
                          <a:effectLst/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97665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BMC </a:t>
                      </a:r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Power On 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报告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ea"/>
                          <a:ea typeface="+mn-ea"/>
                        </a:rPr>
                        <a:t>BMC </a:t>
                      </a:r>
                      <a:r>
                        <a:rPr lang="zh-CN" altLang="en-US" sz="1200" u="none" strike="noStrike">
                          <a:effectLst/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587547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CMM </a:t>
                      </a:r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Power ON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报告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ea"/>
                          <a:ea typeface="+mn-ea"/>
                        </a:rPr>
                        <a:t>CMM</a:t>
                      </a:r>
                      <a:r>
                        <a:rPr lang="zh-CN" altLang="en-US" sz="1200" u="none" strike="noStrike">
                          <a:effectLst/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246507"/>
                  </a:ext>
                </a:extLst>
              </a:tr>
              <a:tr h="214352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系统</a:t>
                      </a:r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Power On</a:t>
                      </a:r>
                      <a:r>
                        <a:rPr lang="zh-CN" altLang="en-US" sz="1200" u="none" strike="noStrike" dirty="0" smtClean="0">
                          <a:effectLst/>
                          <a:latin typeface="+mn-ea"/>
                          <a:ea typeface="+mn-ea"/>
                        </a:rPr>
                        <a:t>报告</a:t>
                      </a:r>
                      <a:r>
                        <a:rPr lang="en-US" altLang="zh-CN" sz="12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TPM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79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12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机构安装评审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39552" y="627534"/>
            <a:ext cx="8208912" cy="347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/>
              <a:t>责任人：项目经理</a:t>
            </a:r>
            <a:endParaRPr lang="en-US" altLang="zh-CN" sz="1400" dirty="0" smtClean="0"/>
          </a:p>
          <a:p>
            <a:pPr>
              <a:lnSpc>
                <a:spcPct val="150000"/>
              </a:lnSpc>
            </a:pPr>
            <a:r>
              <a:rPr lang="zh-CN" altLang="en-US" sz="1400" dirty="0" smtClean="0"/>
              <a:t>参与人：产</a:t>
            </a:r>
            <a:r>
              <a:rPr lang="zh-CN" altLang="en-US" sz="1400" dirty="0"/>
              <a:t>线、解决方案、技术支持、</a:t>
            </a:r>
            <a:r>
              <a:rPr lang="zh-CN" altLang="en-US" sz="1400" dirty="0" smtClean="0"/>
              <a:t>品质管理、核心项目成员等工程师；</a:t>
            </a:r>
            <a:endParaRPr lang="en-US" altLang="zh-CN" sz="1400" dirty="0"/>
          </a:p>
          <a:p>
            <a:pPr marL="63315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 smtClean="0">
                <a:latin typeface="+mn-ea"/>
              </a:rPr>
              <a:t>项目经理</a:t>
            </a:r>
            <a:r>
              <a:rPr lang="zh-CN" altLang="en-US" sz="1400" dirty="0">
                <a:latin typeface="+mn-ea"/>
              </a:rPr>
              <a:t>：</a:t>
            </a:r>
            <a:r>
              <a:rPr lang="zh-CN" altLang="en-US" sz="1400" dirty="0" smtClean="0">
                <a:latin typeface="+mn-ea"/>
              </a:rPr>
              <a:t>发送机构安装评审邮件并通知到各部门负责人安排人员；</a:t>
            </a:r>
            <a:endParaRPr lang="en-US" altLang="zh-CN" sz="1400" dirty="0" smtClean="0">
              <a:latin typeface="+mn-ea"/>
            </a:endParaRPr>
          </a:p>
          <a:p>
            <a:pPr marL="63315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 smtClean="0">
                <a:latin typeface="+mn-ea"/>
              </a:rPr>
              <a:t>SIT/</a:t>
            </a:r>
            <a:r>
              <a:rPr lang="zh-CN" altLang="en-US" sz="1400" dirty="0" smtClean="0">
                <a:latin typeface="+mn-ea"/>
              </a:rPr>
              <a:t>散热工程师：借用组装物料，准备组装环境；</a:t>
            </a:r>
            <a:endParaRPr lang="en-US" altLang="zh-CN" sz="1400" dirty="0" smtClean="0">
              <a:latin typeface="+mn-ea"/>
            </a:endParaRPr>
          </a:p>
          <a:p>
            <a:pPr marL="63315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 smtClean="0">
                <a:latin typeface="+mn-ea"/>
              </a:rPr>
              <a:t>产线工程师：进行机构安装；</a:t>
            </a:r>
            <a:endParaRPr lang="en-US" altLang="zh-CN" sz="1400" dirty="0" smtClean="0">
              <a:latin typeface="+mn-ea"/>
            </a:endParaRPr>
          </a:p>
          <a:p>
            <a:pPr marL="63315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 smtClean="0">
                <a:latin typeface="+mn-ea"/>
              </a:rPr>
              <a:t>各部门负责人：评审过程中发现并记录问题；</a:t>
            </a:r>
            <a:endParaRPr lang="en-US" altLang="zh-CN" sz="1400" dirty="0" smtClean="0">
              <a:latin typeface="+mn-ea"/>
            </a:endParaRPr>
          </a:p>
          <a:p>
            <a:pPr marL="63315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 smtClean="0">
                <a:latin typeface="+mn-ea"/>
              </a:rPr>
              <a:t>项目经理：组织各部门负责人进行问题回顾（避免问题错误、遗漏、重复等）；</a:t>
            </a:r>
            <a:endParaRPr lang="en-US" altLang="zh-CN" sz="1400" dirty="0">
              <a:latin typeface="+mn-ea"/>
            </a:endParaRPr>
          </a:p>
          <a:p>
            <a:pPr marL="63315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 smtClean="0">
                <a:latin typeface="+mn-ea"/>
              </a:rPr>
              <a:t>各部门负责人：将评审问题上传到</a:t>
            </a:r>
            <a:r>
              <a:rPr lang="en-US" altLang="zh-CN" sz="1400" dirty="0" smtClean="0">
                <a:latin typeface="+mn-ea"/>
              </a:rPr>
              <a:t>mantis</a:t>
            </a:r>
            <a:r>
              <a:rPr lang="zh-CN" altLang="en-US" sz="1400" dirty="0" smtClean="0">
                <a:latin typeface="+mn-ea"/>
              </a:rPr>
              <a:t>系统，并指派给问题处理人；</a:t>
            </a:r>
            <a:endParaRPr lang="en-US" altLang="zh-CN" sz="1400" dirty="0" smtClean="0">
              <a:latin typeface="+mn-ea"/>
            </a:endParaRPr>
          </a:p>
          <a:p>
            <a:pPr marL="63315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 smtClean="0">
                <a:latin typeface="+mn-ea"/>
              </a:rPr>
              <a:t>TPM</a:t>
            </a:r>
            <a:r>
              <a:rPr lang="zh-CN" altLang="en-US" sz="1400" dirty="0" smtClean="0">
                <a:latin typeface="+mn-ea"/>
              </a:rPr>
              <a:t>：进行</a:t>
            </a:r>
            <a:r>
              <a:rPr lang="en-US" altLang="zh-CN" sz="1400" dirty="0" smtClean="0">
                <a:latin typeface="+mn-ea"/>
              </a:rPr>
              <a:t>bug</a:t>
            </a:r>
            <a:r>
              <a:rPr lang="zh-CN" altLang="en-US" sz="1400" dirty="0" smtClean="0">
                <a:latin typeface="+mn-ea"/>
              </a:rPr>
              <a:t>追踪；</a:t>
            </a:r>
            <a:endParaRPr lang="zh-CN" altLang="en-US" sz="1400" dirty="0">
              <a:latin typeface="+mn-ea"/>
            </a:endParaRPr>
          </a:p>
          <a:p>
            <a:endParaRPr lang="zh-CN" altLang="en-US" sz="14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564868"/>
              </p:ext>
            </p:extLst>
          </p:nvPr>
        </p:nvGraphicFramePr>
        <p:xfrm>
          <a:off x="7452320" y="3612901"/>
          <a:ext cx="1080120" cy="97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工作表" showAsIcon="1" r:id="rId3" imgW="914400" imgH="828720" progId="Excel.Sheet.12">
                  <p:embed/>
                </p:oleObj>
              </mc:Choice>
              <mc:Fallback>
                <p:oleObj name="工作表" showAsIcon="1" r:id="rId3" imgW="914400" imgH="82872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52320" y="3612901"/>
                        <a:ext cx="1080120" cy="9788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91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测试</a:t>
            </a:r>
            <a:r>
              <a:rPr lang="en-US" altLang="zh-CN" dirty="0" smtClean="0"/>
              <a:t>——DC</a:t>
            </a: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67544" y="843558"/>
            <a:ext cx="8064896" cy="382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目的：验证板端电源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的稳定性是否满足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设计需求；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测试时间：根据主板</a:t>
            </a:r>
            <a:r>
              <a:rPr lang="en-US" altLang="zh-CN" sz="1400" dirty="0" smtClean="0">
                <a:latin typeface="+mn-ea"/>
              </a:rPr>
              <a:t>VR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POL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LDO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hotswap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power switch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数量决定测试时间；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900000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VR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测试时间：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天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900000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LDO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、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hotswap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power 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switch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测试时间：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0.5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天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EVT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进测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4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周，输出改版意见（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VR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必须测完，其他选测）</a:t>
            </a:r>
            <a:endParaRPr lang="en-US" altLang="zh-CN" sz="1400" dirty="0" smtClean="0">
              <a:solidFill>
                <a:srgbClr val="3333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注：</a:t>
            </a:r>
            <a:endParaRPr lang="en-US" altLang="zh-CN" sz="1200" i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VR</a:t>
            </a:r>
            <a:r>
              <a:rPr lang="zh-CN" alt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voltage 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regulation 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电压转换器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POL</a:t>
            </a:r>
            <a:r>
              <a:rPr lang="zh-CN" alt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point 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 load  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负载点电源 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LDO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Low-Dropout Linear Regulator 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低压差线性稳压器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Hotswap</a:t>
            </a:r>
            <a:r>
              <a:rPr lang="zh-CN" alt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热插拔电路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PowerSwitch</a:t>
            </a:r>
            <a:r>
              <a:rPr lang="zh-CN" alt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电源切换</a:t>
            </a:r>
            <a:r>
              <a:rPr lang="zh-CN" alt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线路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563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测试</a:t>
            </a:r>
            <a:r>
              <a:rPr lang="en-US" altLang="zh-CN" dirty="0" smtClean="0"/>
              <a:t>——SI</a:t>
            </a: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54608" y="915566"/>
            <a:ext cx="7689800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、无源测试：验证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PCB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的阻抗、插损、回损、串扰等；（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1w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3750" indent="-180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要求板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厂寄送裸板，验证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PCB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链路是否符合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设计标准；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573750" indent="-180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若客户有明确需求，需根据需求评估测试周期；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9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、有源测试：验证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PCBA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板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端所有高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低速信号（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4~6w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），进测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周后给出改版意见；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355726"/>
            <a:ext cx="6558998" cy="253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4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测试</a:t>
            </a:r>
            <a:r>
              <a:rPr lang="en-US" altLang="zh-CN" dirty="0" smtClean="0"/>
              <a:t>——SIT</a:t>
            </a: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23528" y="732173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1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、功能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(Function)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测试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:</a:t>
            </a:r>
          </a:p>
          <a:p>
            <a:pPr marL="573750" indent="-180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测试主板各个接口（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CPU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、内存、</a:t>
            </a:r>
            <a:r>
              <a:rPr lang="en-US" altLang="zh-CN" sz="1400" dirty="0" err="1" smtClean="0">
                <a:solidFill>
                  <a:srgbClr val="3333CC"/>
                </a:solidFill>
                <a:latin typeface="+mn-ea"/>
              </a:rPr>
              <a:t>PCIe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卡、硬盘等）</a:t>
            </a:r>
            <a:endParaRPr lang="en-US" altLang="zh-CN" sz="1400" dirty="0">
              <a:solidFill>
                <a:srgbClr val="3333CC"/>
              </a:solidFill>
              <a:latin typeface="+mn-ea"/>
            </a:endParaRPr>
          </a:p>
          <a:p>
            <a:pPr marL="573750" indent="-180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测试自研板卡（硬盘背板、</a:t>
            </a:r>
            <a:r>
              <a:rPr lang="en-US" altLang="zh-CN" sz="1400" dirty="0" err="1" smtClean="0">
                <a:solidFill>
                  <a:srgbClr val="3333CC"/>
                </a:solidFill>
                <a:latin typeface="+mn-ea"/>
              </a:rPr>
              <a:t>PCIe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 riser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卡、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MEZZ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卡等）</a:t>
            </a:r>
            <a:endParaRPr lang="en-US" altLang="zh-CN" sz="1400" dirty="0" smtClean="0">
              <a:solidFill>
                <a:srgbClr val="3333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600" dirty="0" smtClean="0">
              <a:solidFill>
                <a:srgbClr val="3333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rgbClr val="3333CC"/>
                </a:solidFill>
                <a:latin typeface="+mn-ea"/>
              </a:rPr>
              <a:t>、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压力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(Stress)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测试：验证系统</a:t>
            </a:r>
            <a:r>
              <a:rPr lang="zh-CN" altLang="en-US" sz="1400" dirty="0">
                <a:solidFill>
                  <a:srgbClr val="3333CC"/>
                </a:solidFill>
                <a:latin typeface="+mn-ea"/>
              </a:rPr>
              <a:t>稳定性 </a:t>
            </a:r>
            <a:endParaRPr lang="en-US" altLang="zh-CN" sz="1400" dirty="0" smtClean="0">
              <a:solidFill>
                <a:srgbClr val="3333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600" dirty="0" smtClean="0">
              <a:solidFill>
                <a:srgbClr val="3333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3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、性能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(Performance)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测试：主要验证</a:t>
            </a:r>
            <a:r>
              <a:rPr lang="en-US" altLang="zh-CN" sz="1400" dirty="0" smtClean="0">
                <a:solidFill>
                  <a:srgbClr val="3333CC"/>
                </a:solidFill>
                <a:latin typeface="+mn-ea"/>
              </a:rPr>
              <a:t>USB2.0</a:t>
            </a:r>
            <a:r>
              <a:rPr lang="zh-CN" altLang="en-US" sz="1400" dirty="0">
                <a:solidFill>
                  <a:srgbClr val="3333CC"/>
                </a:solidFill>
                <a:latin typeface="+mn-ea"/>
              </a:rPr>
              <a:t>，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板载接口，</a:t>
            </a:r>
            <a:r>
              <a:rPr lang="en-US" altLang="zh-CN" sz="1400" dirty="0" err="1" smtClean="0">
                <a:solidFill>
                  <a:srgbClr val="3333CC"/>
                </a:solidFill>
                <a:latin typeface="+mn-ea"/>
              </a:rPr>
              <a:t>PCIe</a:t>
            </a:r>
            <a:r>
              <a:rPr lang="zh-CN" altLang="en-US" sz="1400" dirty="0" smtClean="0">
                <a:solidFill>
                  <a:srgbClr val="3333CC"/>
                </a:solidFill>
                <a:latin typeface="+mn-ea"/>
              </a:rPr>
              <a:t>接口等，是否影响整机性能</a:t>
            </a:r>
            <a:endParaRPr lang="en-US" altLang="zh-CN" sz="1400" dirty="0" smtClean="0">
              <a:solidFill>
                <a:srgbClr val="3333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、软件测试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优先级低）：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573750" indent="-180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根据迭代功能，与硬件相关的功能优先测试，例如热插拔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573750" indent="-180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进行单元测试（根据开发功能项，一般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3~4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天）；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573750" indent="-180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全功能测试（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DVT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阶段，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3,2,3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200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OS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兼容性测试（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优先级低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根据产品经理提供的操作系统兼容性及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raid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卡种类决定测试周期（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DVT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PVT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 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3528" y="972018"/>
            <a:ext cx="7560840" cy="16717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7740352" y="1620090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36396" y="972018"/>
            <a:ext cx="720080" cy="16717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前四周重点测试</a:t>
            </a:r>
          </a:p>
        </p:txBody>
      </p:sp>
    </p:spTree>
    <p:extLst>
      <p:ext uri="{BB962C8B-B14F-4D97-AF65-F5344CB8AC3E}">
        <p14:creationId xmlns:p14="http://schemas.microsoft.com/office/powerpoint/2010/main" val="92020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测试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散热测试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67544" y="843558"/>
            <a:ext cx="8064896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目的：评估整机系统的散热是否达到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PRD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规定的环境温度（高温）标准；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评估整机系统不同配置的最大解热能力；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测试内容：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、验证不同厂商的风扇、散热器性能，选取最优风扇、散热器方案；（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1w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、验证导风罩设计方案，是否满足散热要求；（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1w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、手动调整风扇转速（满转），在规定的最高环境温度下观察不同配置、不同部件是否达到散热要求；（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3~4w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、高低温下拉载不同风扇转速，压力状态下收集调试测试数据；（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1w)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83968" y="3478706"/>
            <a:ext cx="27363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一台温箱容量：</a:t>
            </a:r>
            <a:endParaRPr lang="en-US" altLang="zh-CN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6800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刀片服务器：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台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6800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机架服务器：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台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6800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存储服务器：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台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6800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工作站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/PC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机：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台</a:t>
            </a:r>
          </a:p>
        </p:txBody>
      </p:sp>
      <p:sp>
        <p:nvSpPr>
          <p:cNvPr id="5" name="矩形 4"/>
          <p:cNvSpPr/>
          <p:nvPr/>
        </p:nvSpPr>
        <p:spPr>
          <a:xfrm>
            <a:off x="962836" y="3478706"/>
            <a:ext cx="295232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温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箱数量：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6800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天津：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台（与可靠性共用）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6800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北京：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台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6800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昆山：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台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3363838"/>
            <a:ext cx="7056784" cy="15528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3915164" y="3363838"/>
            <a:ext cx="0" cy="1552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53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</a:t>
            </a:r>
            <a:r>
              <a:rPr lang="zh-CN" altLang="en-US" dirty="0" smtClean="0"/>
              <a:t>测试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可靠性</a:t>
            </a:r>
            <a:r>
              <a:rPr lang="en-US" altLang="zh-CN" dirty="0" smtClean="0"/>
              <a:t>/PA</a:t>
            </a: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07025" y="1131171"/>
            <a:ext cx="80452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、包装测试（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2days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）：包括振动、碰撞、跌落，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开机验证功能与结构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、力学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2days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 ：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包括裸机振动、裸机扫描、裸机冲击，开机验证功能与结构；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、环境测试（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2w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）：包括高温存储、低温存储、高温工作、低温工作、高温高湿存储、高温高湿工作，验证环境适应性，</a:t>
            </a:r>
            <a:r>
              <a:rPr lang="en-US" altLang="zh-CN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prd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高低温规定），验证环境温度对测试机的影响；</a:t>
            </a:r>
            <a:endParaRPr lang="en-US" altLang="zh-CN" sz="1400" dirty="0" smtClean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2188" y="3081088"/>
            <a:ext cx="8208912" cy="157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、开关机稳定性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2w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 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573750" indent="-180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AC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——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高温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低温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AC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测试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500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圈；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573750" indent="-180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DC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——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高温、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低温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测试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500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圈；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、运行稳定性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2.5days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 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：测试高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底温满负载时的稳定性；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、四角拉偏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3days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测试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高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低温环境下，部件电压和温度误差内变化时的稳定性；</a:t>
            </a:r>
            <a:endParaRPr lang="en-US" altLang="zh-CN" sz="1400" dirty="0" smtClean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323528" y="2721048"/>
            <a:ext cx="7416824" cy="5040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smtClean="0">
                <a:solidFill>
                  <a:srgbClr val="3333CC"/>
                </a:solidFill>
              </a:rPr>
              <a:t>PA</a:t>
            </a:r>
            <a:r>
              <a:rPr lang="zh-CN" altLang="en-US" sz="1600" dirty="0" smtClean="0">
                <a:solidFill>
                  <a:srgbClr val="3333CC"/>
                </a:solidFill>
              </a:rPr>
              <a:t>测试：</a:t>
            </a:r>
            <a:endParaRPr lang="zh-CN" altLang="en-US" sz="1600" dirty="0">
              <a:solidFill>
                <a:srgbClr val="3333CC"/>
              </a:solidFill>
            </a:endParaRPr>
          </a:p>
        </p:txBody>
      </p:sp>
      <p:sp>
        <p:nvSpPr>
          <p:cNvPr id="6" name="文本占位符 1"/>
          <p:cNvSpPr txBox="1">
            <a:spLocks/>
          </p:cNvSpPr>
          <p:nvPr/>
        </p:nvSpPr>
        <p:spPr>
          <a:xfrm>
            <a:off x="323528" y="812836"/>
            <a:ext cx="7416824" cy="5040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rgbClr val="3333CC"/>
                </a:solidFill>
              </a:rPr>
              <a:t>可靠性测试：</a:t>
            </a:r>
            <a:endParaRPr lang="zh-CN" altLang="en-US" sz="16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EVT——</a:t>
            </a:r>
            <a:r>
              <a:rPr lang="zh-CN" altLang="en-US" dirty="0" smtClean="0"/>
              <a:t>软件开发</a:t>
            </a:r>
            <a:r>
              <a:rPr lang="en-US" altLang="zh-CN" dirty="0" smtClean="0"/>
              <a:t>(BMC/BIOS/CMM)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5576" y="1131590"/>
            <a:ext cx="80648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重点进行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BMC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功能开发，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DVT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前输出全功能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版本；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、输出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EVT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进测版本；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、输出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BMC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迭代版本（两周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迭代）；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861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EVT——</a:t>
            </a:r>
            <a:r>
              <a:rPr lang="zh-CN" altLang="en-US" dirty="0" smtClean="0"/>
              <a:t>重点岗位主要工作</a:t>
            </a:r>
            <a:endParaRPr lang="zh-CN" altLang="en-US" dirty="0"/>
          </a:p>
        </p:txBody>
      </p:sp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994112"/>
              </p:ext>
            </p:extLst>
          </p:nvPr>
        </p:nvGraphicFramePr>
        <p:xfrm>
          <a:off x="323528" y="771550"/>
          <a:ext cx="8280920" cy="41194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1503978168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</a:tblGrid>
              <a:tr h="279223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+mn-ea"/>
                          <a:ea typeface="+mn-ea"/>
                        </a:rPr>
                        <a:t>岗位名称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+mn-ea"/>
                          <a:ea typeface="+mn-ea"/>
                        </a:rPr>
                        <a:t>主要职责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+mn-ea"/>
                          <a:ea typeface="+mn-ea"/>
                        </a:rPr>
                        <a:t>输出物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670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系统架构师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根据验证结论，评估整体方案；</a:t>
                      </a:r>
                      <a:endParaRPr lang="en-US" altLang="zh-CN" sz="105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负责同行评审争议决策、参与技术评审和管理评审；</a:t>
                      </a:r>
                      <a:endParaRPr lang="en-US" altLang="zh-CN" sz="105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组织</a:t>
                      </a:r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</a:rPr>
                        <a:t>原型机技术状态评审 ；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</a:rPr>
                        <a:t>原型机技术状态评审报告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DC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DC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测试及改版意见输出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《EVT DC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》《DVT DC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测试计划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92736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SI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测试及改版意见输出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《EVT SI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》《DVT SI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测试计划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97477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SIT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SIT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测试，</a:t>
                      </a: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bug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提交，</a:t>
                      </a: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bug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验证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《EVT SIT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》《DVT SIT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测试计划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1674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散热工程师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散热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测试及改版意见输出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《EVT 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散热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》《DVT 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散热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测试计划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93535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PA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PA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测试及改版意见输出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《EVT PA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》《DVT PA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测试计划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214060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可靠性工程师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可靠性测试及改版意见输出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《EVT 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可靠性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》《DVT 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可靠性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测试计划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037987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BMC/BIOS/CMM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软件版本开发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软件版本（根据软件版本计划发布）</a:t>
                      </a:r>
                      <a:endParaRPr lang="en-US" altLang="zh-CN" sz="105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311231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硬件工程师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评估</a:t>
                      </a: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bug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及各组改版意见进行原理图改版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原理图（含</a:t>
                      </a:r>
                      <a:r>
                        <a:rPr lang="en-US" altLang="zh-CN" sz="105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changelist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》《layout guideline》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297114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Layout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改版布线，</a:t>
                      </a:r>
                      <a:r>
                        <a:rPr lang="en-US" altLang="zh-CN" sz="105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geber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文档发布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《BRD》《Gerber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文件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346069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机构工程师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评估</a:t>
                      </a: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bug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及各组改版意见进行机构图档改版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结构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文件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结构布局图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结构包装设计图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471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7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EVT——</a:t>
            </a:r>
            <a:r>
              <a:rPr lang="zh-CN" altLang="en-US" dirty="0" smtClean="0"/>
              <a:t>重点岗位主要</a:t>
            </a:r>
            <a:r>
              <a:rPr lang="zh-CN" altLang="en-US" dirty="0"/>
              <a:t>工作</a:t>
            </a:r>
          </a:p>
        </p:txBody>
      </p:sp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045432"/>
              </p:ext>
            </p:extLst>
          </p:nvPr>
        </p:nvGraphicFramePr>
        <p:xfrm>
          <a:off x="323528" y="771550"/>
          <a:ext cx="8424936" cy="4075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72264">
                  <a:extLst>
                    <a:ext uri="{9D8B030D-6E8A-4147-A177-3AD203B41FA5}">
                      <a16:colId xmlns:a16="http://schemas.microsoft.com/office/drawing/2014/main" val="1503978168"/>
                    </a:ext>
                  </a:extLst>
                </a:gridCol>
                <a:gridCol w="1761578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2067939">
                  <a:extLst>
                    <a:ext uri="{9D8B030D-6E8A-4147-A177-3AD203B41FA5}">
                      <a16:colId xmlns:a16="http://schemas.microsoft.com/office/drawing/2014/main" val="1193865247"/>
                    </a:ext>
                  </a:extLst>
                </a:gridCol>
                <a:gridCol w="3523155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</a:tblGrid>
              <a:tr h="320036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+mn-ea"/>
                          <a:ea typeface="+mn-ea"/>
                        </a:rPr>
                        <a:t>岗位名称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+mn-ea"/>
                          <a:ea typeface="+mn-ea"/>
                        </a:rPr>
                        <a:t>工作内容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+mn-ea"/>
                          <a:ea typeface="+mn-ea"/>
                        </a:rPr>
                        <a:t>参与人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+mn-ea"/>
                          <a:ea typeface="+mn-ea"/>
                        </a:rPr>
                        <a:t>输出物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544060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项目经理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组织机构安装评审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/>
                        <a:t>产线、解决方案、技术支持、品质管理、项目组关键角色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机构安装评审签到表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Bug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提交（问题提出人）</a:t>
                      </a:r>
                      <a:endParaRPr lang="zh-CN" altLang="en-US" sz="105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54406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项目进展及状态跟踪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项目组全体成员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《QR-D-PH-003-003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项目会议纪要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BUG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回复时效性及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值统计报告（邮件）</a:t>
                      </a:r>
                      <a:endParaRPr lang="en-US" altLang="zh-CN" sz="105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在研项目状态周报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（双周）</a:t>
                      </a:r>
                      <a:endParaRPr lang="en-US" altLang="zh-CN" sz="105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项目严重风险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问题预警（决策委员会）</a:t>
                      </a:r>
                      <a:endParaRPr lang="en-US" altLang="zh-CN" sz="105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《QR-D-PH-002-001 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项目计划书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（可选）</a:t>
                      </a:r>
                      <a:endParaRPr lang="zh-CN" altLang="en-US" sz="105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92736"/>
                  </a:ext>
                </a:extLst>
              </a:tr>
              <a:tr h="54406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组织原型机技术状态评审问题讨论会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系统架构师、开发经理、评审问题提出人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原型机技术状态评审报告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（系统架构师）</a:t>
                      </a:r>
                      <a:endParaRPr lang="zh-CN" altLang="en-US" sz="105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97477"/>
                  </a:ext>
                </a:extLst>
              </a:tr>
              <a:tr h="54406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组织各组</a:t>
                      </a:r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EVT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测试报告评审问题讨论会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各工作产品作者、系统架构师、评审问题提出人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zh-CN" altLang="en-US" sz="1050" kern="1200" dirty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1674"/>
                  </a:ext>
                </a:extLst>
              </a:tr>
              <a:tr h="54406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组织各组</a:t>
                      </a:r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DVT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测试计划评审问题讨论会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各工作产品作者、系统架构师、评审问题提出人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zh-CN" altLang="en-US" sz="1050" kern="1200" dirty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93535"/>
                  </a:ext>
                </a:extLst>
              </a:tr>
              <a:tr h="54406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组织</a:t>
                      </a:r>
                      <a:r>
                        <a:rPr lang="en-US" altLang="zh-CN" sz="1050" dirty="0" smtClean="0">
                          <a:latin typeface="+mn-ea"/>
                          <a:ea typeface="+mn-ea"/>
                        </a:rPr>
                        <a:t>DVT</a:t>
                      </a:r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准入评审 </a:t>
                      </a:r>
                      <a:endParaRPr lang="en-US" altLang="zh-CN" sz="1050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050" dirty="0" smtClean="0">
                          <a:latin typeface="+mn-ea"/>
                          <a:ea typeface="+mn-ea"/>
                        </a:rPr>
                        <a:t>（管理评审）</a:t>
                      </a:r>
                      <a:endParaRPr lang="zh-CN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高层领导、项目核心团队人员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项目阶段管理评审报告</a:t>
                      </a:r>
                      <a:r>
                        <a:rPr lang="en-US" altLang="zh-CN" sz="105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  <a:endParaRPr lang="zh-CN" altLang="en-US" sz="105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214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28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35596" y="2068032"/>
            <a:ext cx="7272807" cy="623248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lang="en-US" altLang="zh-CN" dirty="0" smtClean="0">
                <a:latin typeface="+mn-lt"/>
                <a:ea typeface="+mn-ea"/>
                <a:cs typeface="+mn-ea"/>
                <a:sym typeface="+mn-lt"/>
              </a:rPr>
              <a:t>VT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准入条件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859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DVT</a:t>
            </a:r>
            <a:r>
              <a:rPr lang="zh-CN" altLang="en-US" dirty="0" smtClean="0"/>
              <a:t>准入条件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443299"/>
              </p:ext>
            </p:extLst>
          </p:nvPr>
        </p:nvGraphicFramePr>
        <p:xfrm>
          <a:off x="1115616" y="732687"/>
          <a:ext cx="7200800" cy="4064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7132">
                  <a:extLst>
                    <a:ext uri="{9D8B030D-6E8A-4147-A177-3AD203B41FA5}">
                      <a16:colId xmlns:a16="http://schemas.microsoft.com/office/drawing/2014/main" val="3450258799"/>
                    </a:ext>
                  </a:extLst>
                </a:gridCol>
                <a:gridCol w="1916834">
                  <a:extLst>
                    <a:ext uri="{9D8B030D-6E8A-4147-A177-3AD203B41FA5}">
                      <a16:colId xmlns:a16="http://schemas.microsoft.com/office/drawing/2014/main" val="2089343860"/>
                    </a:ext>
                  </a:extLst>
                </a:gridCol>
                <a:gridCol w="1916834">
                  <a:extLst>
                    <a:ext uri="{9D8B030D-6E8A-4147-A177-3AD203B41FA5}">
                      <a16:colId xmlns:a16="http://schemas.microsoft.com/office/drawing/2014/main" val="1480761418"/>
                    </a:ext>
                  </a:extLst>
                </a:gridCol>
              </a:tblGrid>
              <a:tr h="203934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altLang="zh-CN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EVT</a:t>
                      </a:r>
                      <a:r>
                        <a:rPr lang="zh-CN" alt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测试报告评审</a:t>
                      </a: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已通过；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955695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0"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工作产品名称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责任人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评审模式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576110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SIT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测试报告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ea"/>
                          <a:ea typeface="+mn-ea"/>
                        </a:rPr>
                        <a:t>TPM(</a:t>
                      </a:r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测试代表</a:t>
                      </a:r>
                      <a:r>
                        <a:rPr lang="en-US" altLang="zh-CN" sz="11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签审发布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78937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marL="457200" marR="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测试报告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699841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marL="457200" marR="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散热测试报告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散热测试工程师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54354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可靠性测试报告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可靠性测试工程师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528634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PA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测试报告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可靠性测试工程师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1583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电源测试报告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电源测试工程师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060831"/>
                  </a:ext>
                </a:extLst>
              </a:tr>
              <a:tr h="20393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DVT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系统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组装物料已齐备；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195501"/>
                  </a:ext>
                </a:extLst>
              </a:tr>
              <a:tr h="224056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DVT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软件版本已发布（</a:t>
                      </a:r>
                      <a:r>
                        <a:rPr lang="en-US" altLang="zh-C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BIOS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BMC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CMM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940925"/>
                  </a:ext>
                </a:extLst>
              </a:tr>
              <a:tr h="20393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DVT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测试计划评审</a:t>
                      </a:r>
                      <a:r>
                        <a:rPr lang="zh-CN" alt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已通过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endParaRPr lang="zh-CN" altLang="en-US" sz="120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05573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工作产品名称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责任人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评审模式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202100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SIT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测试计划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ea"/>
                          <a:ea typeface="+mn-ea"/>
                        </a:rPr>
                        <a:t>TPM(</a:t>
                      </a:r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测试代表</a:t>
                      </a:r>
                      <a:r>
                        <a:rPr lang="en-US" altLang="zh-CN" sz="11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签审发布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89511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测试计划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97665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散热测试计划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散热测试工程师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587547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可靠性测试计划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可靠性测试工程师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246507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PA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测试计划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可靠性测试工程师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79258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100" u="none" strike="noStrike" dirty="0" smtClean="0">
                          <a:effectLst/>
                          <a:latin typeface="+mn-ea"/>
                          <a:ea typeface="+mn-ea"/>
                        </a:rPr>
                        <a:t>电源测试计划</a:t>
                      </a:r>
                      <a:r>
                        <a:rPr lang="en-US" altLang="zh-CN" sz="1100" u="none" strike="noStrike" dirty="0" smtClean="0">
                          <a:effectLst/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+mn-ea"/>
                          <a:ea typeface="+mn-ea"/>
                        </a:rPr>
                        <a:t>电源测试工程师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086787"/>
                  </a:ext>
                </a:extLst>
              </a:tr>
              <a:tr h="203934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、项目计划书已更新；（可选）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514248"/>
                  </a:ext>
                </a:extLst>
              </a:tr>
              <a:tr h="203934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n-ea"/>
                        </a:rPr>
                        <a:t>MR2 DVT</a:t>
                      </a: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n-ea"/>
                        </a:rPr>
                        <a:t>准入评审</a:t>
                      </a:r>
                      <a:r>
                        <a:rPr lang="zh-CN" altLang="en-US" sz="1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评审通过；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55230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工作产品名称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责任人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评审模式</a:t>
                      </a:r>
                      <a:endParaRPr lang="zh-CN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512041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r>
                        <a:rPr lang="en-US" altLang="zh-CN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《</a:t>
                      </a:r>
                      <a:r>
                        <a:rPr lang="zh-CN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项目阶段管理评审报告</a:t>
                      </a:r>
                      <a:r>
                        <a:rPr lang="en-US" altLang="zh-CN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》</a:t>
                      </a:r>
                      <a:endParaRPr lang="zh-CN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项目经理</a:t>
                      </a:r>
                      <a:endParaRPr lang="en-US" altLang="zh-CN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组织正式会议</a:t>
                      </a:r>
                      <a:r>
                        <a:rPr lang="en-US" altLang="zh-CN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手工发布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01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56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CONTENTSID" val="269"/>
  <p:tag name="MH_SECTIONID" val="270,271,"/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2"/>
</p:tagLst>
</file>

<file path=ppt/theme/theme1.xml><?xml version="1.0" encoding="utf-8"?>
<a:theme xmlns:a="http://schemas.openxmlformats.org/drawingml/2006/main" name="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034dk4m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1794</Words>
  <Application>Microsoft Office PowerPoint</Application>
  <PresentationFormat>全屏显示(16:9)</PresentationFormat>
  <Paragraphs>289</Paragraphs>
  <Slides>18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等线</vt:lpstr>
      <vt:lpstr>宋体</vt:lpstr>
      <vt:lpstr>Microsoft YaHei</vt:lpstr>
      <vt:lpstr>Microsoft YaHei</vt:lpstr>
      <vt:lpstr>Arial</vt:lpstr>
      <vt:lpstr>Calibri</vt:lpstr>
      <vt:lpstr>Wingdings</vt:lpstr>
      <vt:lpstr>演示文稿2</vt:lpstr>
      <vt:lpstr>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sugon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用户47;AdenWang</dc:creator>
  <cp:lastModifiedBy>lvdy</cp:lastModifiedBy>
  <cp:revision>498</cp:revision>
  <dcterms:created xsi:type="dcterms:W3CDTF">2011-03-28T03:13:00Z</dcterms:created>
  <dcterms:modified xsi:type="dcterms:W3CDTF">2020-05-09T09:00:31Z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