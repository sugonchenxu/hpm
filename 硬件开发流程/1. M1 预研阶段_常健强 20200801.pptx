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notesMasterIdLst>
    <p:notesMasterId r:id="rId18"/>
  </p:notesMasterIdLst>
  <p:sldIdLst>
    <p:sldId id="257" r:id="rId3"/>
    <p:sldId id="2632" r:id="rId4"/>
    <p:sldId id="273" r:id="rId5"/>
    <p:sldId id="450" r:id="rId6"/>
    <p:sldId id="2635" r:id="rId7"/>
    <p:sldId id="2633" r:id="rId8"/>
    <p:sldId id="2641" r:id="rId9"/>
    <p:sldId id="2640" r:id="rId10"/>
    <p:sldId id="2642" r:id="rId11"/>
    <p:sldId id="2634" r:id="rId12"/>
    <p:sldId id="2638" r:id="rId13"/>
    <p:sldId id="2631" r:id="rId14"/>
    <p:sldId id="2637" r:id="rId15"/>
    <p:sldId id="2643" r:id="rId16"/>
    <p:sldId id="25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M 张林宇" initials="P张" lastIdx="1" clrIdx="0">
    <p:extLst>
      <p:ext uri="{19B8F6BF-5375-455C-9EA6-DF929625EA0E}">
        <p15:presenceInfo xmlns:p15="http://schemas.microsoft.com/office/powerpoint/2012/main" userId="PM 张林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D0D0"/>
    <a:srgbClr val="C0504D"/>
    <a:srgbClr val="AD283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5" autoAdjust="0"/>
    <p:restoredTop sz="96366" autoAdjust="0"/>
  </p:normalViewPr>
  <p:slideViewPr>
    <p:cSldViewPr snapToGrid="0">
      <p:cViewPr varScale="1">
        <p:scale>
          <a:sx n="112" d="100"/>
          <a:sy n="112" d="100"/>
        </p:scale>
        <p:origin x="56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EC4E9F-AE3B-485F-BC37-65B8A64DB76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932E3AD-8807-45F1-A465-8641F24EED9F}">
      <dgm:prSet phldrT="[文本]" custT="1"/>
      <dgm:spPr/>
      <dgm:t>
        <a:bodyPr/>
        <a:lstStyle/>
        <a:p>
          <a:r>
            <a:rPr lang="zh-CN" altLang="en-US" sz="1600" dirty="0"/>
            <a:t>用户调研</a:t>
          </a:r>
        </a:p>
      </dgm:t>
    </dgm:pt>
    <dgm:pt modelId="{56D17FD4-476F-4557-A978-D262704A34C6}" type="parTrans" cxnId="{587A92DC-EB84-408B-AEDF-B0B6097D5C12}">
      <dgm:prSet/>
      <dgm:spPr/>
      <dgm:t>
        <a:bodyPr/>
        <a:lstStyle/>
        <a:p>
          <a:endParaRPr lang="zh-CN" altLang="en-US"/>
        </a:p>
      </dgm:t>
    </dgm:pt>
    <dgm:pt modelId="{42525EC2-4B00-4A42-8DD2-A0DEA08BF4FF}" type="sibTrans" cxnId="{587A92DC-EB84-408B-AEDF-B0B6097D5C12}">
      <dgm:prSet/>
      <dgm:spPr/>
      <dgm:t>
        <a:bodyPr/>
        <a:lstStyle/>
        <a:p>
          <a:endParaRPr lang="zh-CN" altLang="en-US"/>
        </a:p>
      </dgm:t>
    </dgm:pt>
    <dgm:pt modelId="{BD41B807-3F55-41AC-9718-D4D801E8291A}">
      <dgm:prSet phldrT="[文本]" custT="1"/>
      <dgm:spPr/>
      <dgm:t>
        <a:bodyPr/>
        <a:lstStyle/>
        <a:p>
          <a:r>
            <a:rPr lang="zh-CN" altLang="en-US" sz="1600" dirty="0"/>
            <a:t>需求分析</a:t>
          </a:r>
          <a:endParaRPr lang="en-US" altLang="zh-CN" sz="1600" dirty="0"/>
        </a:p>
        <a:p>
          <a:r>
            <a:rPr lang="zh-CN" altLang="en-US" sz="1600" dirty="0"/>
            <a:t>市场分析</a:t>
          </a:r>
          <a:endParaRPr lang="en-US" altLang="zh-CN" sz="1600" dirty="0"/>
        </a:p>
        <a:p>
          <a:r>
            <a:rPr lang="zh-CN" altLang="en-US" sz="1600" dirty="0"/>
            <a:t>公司战略</a:t>
          </a:r>
        </a:p>
      </dgm:t>
    </dgm:pt>
    <dgm:pt modelId="{09E83963-7F2A-4A8F-870E-A4857A655AC1}" type="parTrans" cxnId="{B6840728-0A35-4AE3-AC75-69763F99A368}">
      <dgm:prSet/>
      <dgm:spPr/>
      <dgm:t>
        <a:bodyPr/>
        <a:lstStyle/>
        <a:p>
          <a:endParaRPr lang="zh-CN" altLang="en-US"/>
        </a:p>
      </dgm:t>
    </dgm:pt>
    <dgm:pt modelId="{E50A10F2-FBAB-4538-94EE-5851674AD26A}" type="sibTrans" cxnId="{B6840728-0A35-4AE3-AC75-69763F99A368}">
      <dgm:prSet/>
      <dgm:spPr/>
      <dgm:t>
        <a:bodyPr/>
        <a:lstStyle/>
        <a:p>
          <a:endParaRPr lang="zh-CN" altLang="en-US"/>
        </a:p>
      </dgm:t>
    </dgm:pt>
    <dgm:pt modelId="{291C266B-FD28-413A-9AF2-0CAD478E316C}">
      <dgm:prSet phldrT="[文本]" custT="1"/>
      <dgm:spPr/>
      <dgm:t>
        <a:bodyPr/>
        <a:lstStyle/>
        <a:p>
          <a:r>
            <a:rPr lang="zh-CN" altLang="en-US" sz="1600" dirty="0"/>
            <a:t>预立项</a:t>
          </a:r>
        </a:p>
      </dgm:t>
    </dgm:pt>
    <dgm:pt modelId="{8ED25CD6-1BA3-4F26-B1CA-4A6DB116124C}" type="parTrans" cxnId="{AA7A4453-DCBA-4D22-80E4-C1109327817B}">
      <dgm:prSet/>
      <dgm:spPr/>
      <dgm:t>
        <a:bodyPr/>
        <a:lstStyle/>
        <a:p>
          <a:endParaRPr lang="zh-CN" altLang="en-US"/>
        </a:p>
      </dgm:t>
    </dgm:pt>
    <dgm:pt modelId="{41247B4A-BEFF-4DD7-8549-F02DDC57080E}" type="sibTrans" cxnId="{AA7A4453-DCBA-4D22-80E4-C1109327817B}">
      <dgm:prSet/>
      <dgm:spPr/>
      <dgm:t>
        <a:bodyPr/>
        <a:lstStyle/>
        <a:p>
          <a:endParaRPr lang="zh-CN" altLang="en-US"/>
        </a:p>
      </dgm:t>
    </dgm:pt>
    <dgm:pt modelId="{AEC9BD0E-08C3-413B-AC39-DDFED852EC27}" type="pres">
      <dgm:prSet presAssocID="{1AEC4E9F-AE3B-485F-BC37-65B8A64DB768}" presName="Name0" presStyleCnt="0">
        <dgm:presLayoutVars>
          <dgm:dir/>
          <dgm:resizeHandles val="exact"/>
        </dgm:presLayoutVars>
      </dgm:prSet>
      <dgm:spPr/>
    </dgm:pt>
    <dgm:pt modelId="{1A9AA16B-4FD8-4E77-9E74-791315F1E878}" type="pres">
      <dgm:prSet presAssocID="{F932E3AD-8807-45F1-A465-8641F24EED9F}" presName="node" presStyleLbl="node1" presStyleIdx="0" presStyleCnt="3">
        <dgm:presLayoutVars>
          <dgm:bulletEnabled val="1"/>
        </dgm:presLayoutVars>
      </dgm:prSet>
      <dgm:spPr/>
    </dgm:pt>
    <dgm:pt modelId="{9E08C635-8627-467D-84F5-489C787F9684}" type="pres">
      <dgm:prSet presAssocID="{42525EC2-4B00-4A42-8DD2-A0DEA08BF4FF}" presName="sibTrans" presStyleLbl="sibTrans2D1" presStyleIdx="0" presStyleCnt="2"/>
      <dgm:spPr/>
    </dgm:pt>
    <dgm:pt modelId="{EE9554D5-78F6-473B-AF5C-CFDED753457A}" type="pres">
      <dgm:prSet presAssocID="{42525EC2-4B00-4A42-8DD2-A0DEA08BF4FF}" presName="connectorText" presStyleLbl="sibTrans2D1" presStyleIdx="0" presStyleCnt="2"/>
      <dgm:spPr/>
    </dgm:pt>
    <dgm:pt modelId="{245028A4-C5CD-4A2C-8EC5-05A6D55EE2E5}" type="pres">
      <dgm:prSet presAssocID="{BD41B807-3F55-41AC-9718-D4D801E8291A}" presName="node" presStyleLbl="node1" presStyleIdx="1" presStyleCnt="3">
        <dgm:presLayoutVars>
          <dgm:bulletEnabled val="1"/>
        </dgm:presLayoutVars>
      </dgm:prSet>
      <dgm:spPr/>
    </dgm:pt>
    <dgm:pt modelId="{AF4C712C-CE3A-4430-B60E-346D8B2BB374}" type="pres">
      <dgm:prSet presAssocID="{E50A10F2-FBAB-4538-94EE-5851674AD26A}" presName="sibTrans" presStyleLbl="sibTrans2D1" presStyleIdx="1" presStyleCnt="2"/>
      <dgm:spPr/>
    </dgm:pt>
    <dgm:pt modelId="{1EDE9FAC-30A2-4B9D-9C12-14E90FB3E6EC}" type="pres">
      <dgm:prSet presAssocID="{E50A10F2-FBAB-4538-94EE-5851674AD26A}" presName="connectorText" presStyleLbl="sibTrans2D1" presStyleIdx="1" presStyleCnt="2"/>
      <dgm:spPr/>
    </dgm:pt>
    <dgm:pt modelId="{46DF27AB-00E9-4383-B2EA-1E31BE10732B}" type="pres">
      <dgm:prSet presAssocID="{291C266B-FD28-413A-9AF2-0CAD478E316C}" presName="node" presStyleLbl="node1" presStyleIdx="2" presStyleCnt="3">
        <dgm:presLayoutVars>
          <dgm:bulletEnabled val="1"/>
        </dgm:presLayoutVars>
      </dgm:prSet>
      <dgm:spPr/>
    </dgm:pt>
  </dgm:ptLst>
  <dgm:cxnLst>
    <dgm:cxn modelId="{4366E516-706E-4A2B-8129-357536BDBF9F}" type="presOf" srcId="{291C266B-FD28-413A-9AF2-0CAD478E316C}" destId="{46DF27AB-00E9-4383-B2EA-1E31BE10732B}" srcOrd="0" destOrd="0" presId="urn:microsoft.com/office/officeart/2005/8/layout/process1"/>
    <dgm:cxn modelId="{B6840728-0A35-4AE3-AC75-69763F99A368}" srcId="{1AEC4E9F-AE3B-485F-BC37-65B8A64DB768}" destId="{BD41B807-3F55-41AC-9718-D4D801E8291A}" srcOrd="1" destOrd="0" parTransId="{09E83963-7F2A-4A8F-870E-A4857A655AC1}" sibTransId="{E50A10F2-FBAB-4538-94EE-5851674AD26A}"/>
    <dgm:cxn modelId="{3B810D3D-BD51-407D-9D4D-8CD030F5E4F3}" type="presOf" srcId="{42525EC2-4B00-4A42-8DD2-A0DEA08BF4FF}" destId="{EE9554D5-78F6-473B-AF5C-CFDED753457A}" srcOrd="1" destOrd="0" presId="urn:microsoft.com/office/officeart/2005/8/layout/process1"/>
    <dgm:cxn modelId="{4F159342-FD71-4370-9926-E7F79E1555F0}" type="presOf" srcId="{BD41B807-3F55-41AC-9718-D4D801E8291A}" destId="{245028A4-C5CD-4A2C-8EC5-05A6D55EE2E5}" srcOrd="0" destOrd="0" presId="urn:microsoft.com/office/officeart/2005/8/layout/process1"/>
    <dgm:cxn modelId="{AA7A4453-DCBA-4D22-80E4-C1109327817B}" srcId="{1AEC4E9F-AE3B-485F-BC37-65B8A64DB768}" destId="{291C266B-FD28-413A-9AF2-0CAD478E316C}" srcOrd="2" destOrd="0" parTransId="{8ED25CD6-1BA3-4F26-B1CA-4A6DB116124C}" sibTransId="{41247B4A-BEFF-4DD7-8549-F02DDC57080E}"/>
    <dgm:cxn modelId="{D3648675-BD47-46AE-AAA5-6E3D11BFD06D}" type="presOf" srcId="{E50A10F2-FBAB-4538-94EE-5851674AD26A}" destId="{1EDE9FAC-30A2-4B9D-9C12-14E90FB3E6EC}" srcOrd="1" destOrd="0" presId="urn:microsoft.com/office/officeart/2005/8/layout/process1"/>
    <dgm:cxn modelId="{F4FA4158-B10C-4F46-95C1-466287F4ABCB}" type="presOf" srcId="{F932E3AD-8807-45F1-A465-8641F24EED9F}" destId="{1A9AA16B-4FD8-4E77-9E74-791315F1E878}" srcOrd="0" destOrd="0" presId="urn:microsoft.com/office/officeart/2005/8/layout/process1"/>
    <dgm:cxn modelId="{8A14EB92-17B8-44D6-A72D-6A842C94AEE2}" type="presOf" srcId="{42525EC2-4B00-4A42-8DD2-A0DEA08BF4FF}" destId="{9E08C635-8627-467D-84F5-489C787F9684}" srcOrd="0" destOrd="0" presId="urn:microsoft.com/office/officeart/2005/8/layout/process1"/>
    <dgm:cxn modelId="{469FF8BC-74F1-4B96-A83B-9134A3A7F5C9}" type="presOf" srcId="{1AEC4E9F-AE3B-485F-BC37-65B8A64DB768}" destId="{AEC9BD0E-08C3-413B-AC39-DDFED852EC27}" srcOrd="0" destOrd="0" presId="urn:microsoft.com/office/officeart/2005/8/layout/process1"/>
    <dgm:cxn modelId="{587A92DC-EB84-408B-AEDF-B0B6097D5C12}" srcId="{1AEC4E9F-AE3B-485F-BC37-65B8A64DB768}" destId="{F932E3AD-8807-45F1-A465-8641F24EED9F}" srcOrd="0" destOrd="0" parTransId="{56D17FD4-476F-4557-A978-D262704A34C6}" sibTransId="{42525EC2-4B00-4A42-8DD2-A0DEA08BF4FF}"/>
    <dgm:cxn modelId="{0DA12CFE-15AB-46A8-AE92-C57D31EF0DD3}" type="presOf" srcId="{E50A10F2-FBAB-4538-94EE-5851674AD26A}" destId="{AF4C712C-CE3A-4430-B60E-346D8B2BB374}" srcOrd="0" destOrd="0" presId="urn:microsoft.com/office/officeart/2005/8/layout/process1"/>
    <dgm:cxn modelId="{51B2411F-A2D5-4E14-AFA4-10705694A2AA}" type="presParOf" srcId="{AEC9BD0E-08C3-413B-AC39-DDFED852EC27}" destId="{1A9AA16B-4FD8-4E77-9E74-791315F1E878}" srcOrd="0" destOrd="0" presId="urn:microsoft.com/office/officeart/2005/8/layout/process1"/>
    <dgm:cxn modelId="{8DB59496-4DD1-4F25-B749-764FFAB72209}" type="presParOf" srcId="{AEC9BD0E-08C3-413B-AC39-DDFED852EC27}" destId="{9E08C635-8627-467D-84F5-489C787F9684}" srcOrd="1" destOrd="0" presId="urn:microsoft.com/office/officeart/2005/8/layout/process1"/>
    <dgm:cxn modelId="{4279A47C-4A19-43CD-BD29-E88892A1889F}" type="presParOf" srcId="{9E08C635-8627-467D-84F5-489C787F9684}" destId="{EE9554D5-78F6-473B-AF5C-CFDED753457A}" srcOrd="0" destOrd="0" presId="urn:microsoft.com/office/officeart/2005/8/layout/process1"/>
    <dgm:cxn modelId="{778F51E1-5F9A-488C-959F-E1D50C6197AF}" type="presParOf" srcId="{AEC9BD0E-08C3-413B-AC39-DDFED852EC27}" destId="{245028A4-C5CD-4A2C-8EC5-05A6D55EE2E5}" srcOrd="2" destOrd="0" presId="urn:microsoft.com/office/officeart/2005/8/layout/process1"/>
    <dgm:cxn modelId="{DA0FBF2D-BF3E-4DD5-BDA5-3ADB2BC48A53}" type="presParOf" srcId="{AEC9BD0E-08C3-413B-AC39-DDFED852EC27}" destId="{AF4C712C-CE3A-4430-B60E-346D8B2BB374}" srcOrd="3" destOrd="0" presId="urn:microsoft.com/office/officeart/2005/8/layout/process1"/>
    <dgm:cxn modelId="{D6801D48-5D12-4EA3-976F-DCE04145E3CD}" type="presParOf" srcId="{AF4C712C-CE3A-4430-B60E-346D8B2BB374}" destId="{1EDE9FAC-30A2-4B9D-9C12-14E90FB3E6EC}" srcOrd="0" destOrd="0" presId="urn:microsoft.com/office/officeart/2005/8/layout/process1"/>
    <dgm:cxn modelId="{52E1EDD0-9209-4E70-92C5-26E64D05A730}" type="presParOf" srcId="{AEC9BD0E-08C3-413B-AC39-DDFED852EC27}" destId="{46DF27AB-00E9-4383-B2EA-1E31BE10732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AA16B-4FD8-4E77-9E74-791315F1E878}">
      <dsp:nvSpPr>
        <dsp:cNvPr id="0" name=""/>
        <dsp:cNvSpPr/>
      </dsp:nvSpPr>
      <dsp:spPr>
        <a:xfrm>
          <a:off x="7143" y="1174112"/>
          <a:ext cx="2135187" cy="1401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用户调研</a:t>
          </a:r>
        </a:p>
      </dsp:txBody>
      <dsp:txXfrm>
        <a:off x="48183" y="1215152"/>
        <a:ext cx="2053107" cy="1319136"/>
      </dsp:txXfrm>
    </dsp:sp>
    <dsp:sp modelId="{9E08C635-8627-467D-84F5-489C787F9684}">
      <dsp:nvSpPr>
        <dsp:cNvPr id="0" name=""/>
        <dsp:cNvSpPr/>
      </dsp:nvSpPr>
      <dsp:spPr>
        <a:xfrm>
          <a:off x="2355850" y="1609957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/>
        </a:p>
      </dsp:txBody>
      <dsp:txXfrm>
        <a:off x="2355850" y="1715862"/>
        <a:ext cx="316861" cy="317716"/>
      </dsp:txXfrm>
    </dsp:sp>
    <dsp:sp modelId="{245028A4-C5CD-4A2C-8EC5-05A6D55EE2E5}">
      <dsp:nvSpPr>
        <dsp:cNvPr id="0" name=""/>
        <dsp:cNvSpPr/>
      </dsp:nvSpPr>
      <dsp:spPr>
        <a:xfrm>
          <a:off x="2996406" y="1174112"/>
          <a:ext cx="2135187" cy="1401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需求分析</a:t>
          </a:r>
          <a:endParaRPr lang="en-US" altLang="zh-CN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市场分析</a:t>
          </a:r>
          <a:endParaRPr lang="en-US" altLang="zh-CN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公司战略</a:t>
          </a:r>
        </a:p>
      </dsp:txBody>
      <dsp:txXfrm>
        <a:off x="3037446" y="1215152"/>
        <a:ext cx="2053107" cy="1319136"/>
      </dsp:txXfrm>
    </dsp:sp>
    <dsp:sp modelId="{AF4C712C-CE3A-4430-B60E-346D8B2BB374}">
      <dsp:nvSpPr>
        <dsp:cNvPr id="0" name=""/>
        <dsp:cNvSpPr/>
      </dsp:nvSpPr>
      <dsp:spPr>
        <a:xfrm>
          <a:off x="5345112" y="1609957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/>
        </a:p>
      </dsp:txBody>
      <dsp:txXfrm>
        <a:off x="5345112" y="1715862"/>
        <a:ext cx="316861" cy="317716"/>
      </dsp:txXfrm>
    </dsp:sp>
    <dsp:sp modelId="{46DF27AB-00E9-4383-B2EA-1E31BE10732B}">
      <dsp:nvSpPr>
        <dsp:cNvPr id="0" name=""/>
        <dsp:cNvSpPr/>
      </dsp:nvSpPr>
      <dsp:spPr>
        <a:xfrm>
          <a:off x="5985668" y="1174112"/>
          <a:ext cx="2135187" cy="1401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预立项</a:t>
          </a:r>
        </a:p>
      </dsp:txBody>
      <dsp:txXfrm>
        <a:off x="6026708" y="1215152"/>
        <a:ext cx="2053107" cy="13191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83A09-6D16-45F9-AD93-418AC720A9E0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51107-131D-4920-8540-3D58829C1F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352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06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041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591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639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15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136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927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258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019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31586" y="1758270"/>
            <a:ext cx="9792228" cy="830997"/>
          </a:xfrm>
          <a:prstGeom prst="rect">
            <a:avLst/>
          </a:prstGeom>
        </p:spPr>
        <p:txBody>
          <a:bodyPr/>
          <a:lstStyle>
            <a:lvl1pPr marL="0" indent="0" algn="l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5333" b="1" kern="1200" dirty="0"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单击此处编辑主标题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9122443" y="5157194"/>
            <a:ext cx="2688597" cy="10561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3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撰写部门及人员</a:t>
            </a:r>
            <a:endParaRPr lang="en-US" altLang="zh-CN" dirty="0"/>
          </a:p>
          <a:p>
            <a:pPr lvl="0"/>
            <a:r>
              <a:rPr lang="en-US" altLang="zh-CN" dirty="0"/>
              <a:t>2017/4/1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1758270"/>
            <a:ext cx="143339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7195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3477818" y="1439945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3477818" y="2331327"/>
            <a:ext cx="5791199" cy="53159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477818" y="3222711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3477817" y="4114093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3477817" y="5005475"/>
            <a:ext cx="5791199" cy="544615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8511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幻灯片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1295469" y="2756926"/>
            <a:ext cx="9697076" cy="830997"/>
          </a:xfrm>
          <a:prstGeom prst="rect">
            <a:avLst/>
          </a:prstGeom>
        </p:spPr>
        <p:txBody>
          <a:bodyPr/>
          <a:lstStyle>
            <a:lvl1pPr marL="0" indent="0" algn="ctr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3733" b="1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单击此处编辑节标题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079777" y="4197086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079775" y="4685002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4079774" y="5165055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4079774" y="5645108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94865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0917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9889099" cy="672075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内容占位符 2"/>
          <p:cNvSpPr>
            <a:spLocks noGrp="1"/>
          </p:cNvSpPr>
          <p:nvPr>
            <p:ph sz="quarter" idx="14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07645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04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4018384" y="0"/>
            <a:ext cx="4155232" cy="6466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28457" y="81164"/>
            <a:ext cx="3135086" cy="480131"/>
          </a:xfrm>
        </p:spPr>
        <p:txBody>
          <a:bodyPr wrap="none">
            <a:noAutofit/>
          </a:bodyPr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1957360983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9303" y="356659"/>
            <a:ext cx="7863029" cy="440676"/>
          </a:xfrm>
        </p:spPr>
        <p:txBody>
          <a:bodyPr vert="horz" lIns="68580" tIns="34290" rIns="68580" bIns="34290" rtlCol="0" anchor="ctr">
            <a:noAutofit/>
          </a:bodyPr>
          <a:lstStyle>
            <a:lvl1pPr algn="l">
              <a:defRPr lang="zh-CN" altLang="en-US" sz="2933" b="0" i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685783">
              <a:lnSpc>
                <a:spcPct val="90000"/>
              </a:lnSpc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88020"/>
            <a:ext cx="3860800" cy="365125"/>
          </a:xfrm>
        </p:spPr>
        <p:txBody>
          <a:bodyPr/>
          <a:lstStyle>
            <a:lvl1pPr>
              <a:defRPr sz="14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936427" y="6383321"/>
            <a:ext cx="1632181" cy="406233"/>
          </a:xfrm>
        </p:spPr>
        <p:txBody>
          <a:bodyPr/>
          <a:lstStyle>
            <a:lvl1pPr algn="ctr">
              <a:defRPr sz="1867">
                <a:latin typeface="Impact" panose="020B080603090205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1270838" y="872083"/>
            <a:ext cx="10479237" cy="1"/>
          </a:xfrm>
          <a:prstGeom prst="line">
            <a:avLst/>
          </a:prstGeom>
          <a:ln w="158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527435" y="331259"/>
            <a:ext cx="528000" cy="528000"/>
            <a:chOff x="406574" y="236732"/>
            <a:chExt cx="612048" cy="593261"/>
          </a:xfrm>
        </p:grpSpPr>
        <p:sp>
          <p:nvSpPr>
            <p:cNvPr id="15" name="矩形 14"/>
            <p:cNvSpPr/>
            <p:nvPr userDrawn="1"/>
          </p:nvSpPr>
          <p:spPr>
            <a:xfrm>
              <a:off x="406574" y="236732"/>
              <a:ext cx="504000" cy="504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694606" y="512239"/>
              <a:ext cx="324016" cy="3177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9237416" y="235097"/>
            <a:ext cx="2619225" cy="666786"/>
            <a:chOff x="2884255" y="393762"/>
            <a:chExt cx="2165350" cy="738483"/>
          </a:xfrm>
        </p:grpSpPr>
        <p:sp>
          <p:nvSpPr>
            <p:cNvPr id="11" name="TextBox 10"/>
            <p:cNvSpPr txBox="1"/>
            <p:nvPr/>
          </p:nvSpPr>
          <p:spPr>
            <a:xfrm>
              <a:off x="3717568" y="500833"/>
              <a:ext cx="1325774" cy="374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</a:rPr>
                <a:t>亮亮图文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723829" y="776107"/>
              <a:ext cx="1325776" cy="261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33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CONPANY NAME</a:t>
              </a:r>
              <a:endParaRPr lang="zh-CN" altLang="en-US" sz="933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84255" y="393762"/>
              <a:ext cx="966585" cy="738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3" spc="-200" dirty="0">
                  <a:solidFill>
                    <a:schemeClr val="accent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LOGO</a:t>
              </a:r>
              <a:endParaRPr lang="zh-CN" altLang="en-US" sz="3733" spc="-2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687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00">
        <p14:vortex dir="r"/>
      </p:transition>
    </mc:Choice>
    <mc:Fallback xmlns="">
      <p:transition spd="slow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31586" y="1758270"/>
            <a:ext cx="9792228" cy="830997"/>
          </a:xfrm>
          <a:prstGeom prst="rect">
            <a:avLst/>
          </a:prstGeom>
        </p:spPr>
        <p:txBody>
          <a:bodyPr/>
          <a:lstStyle>
            <a:lvl1pPr marL="0" indent="0" algn="l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5333" b="1" kern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单击此处编辑主标题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9122443" y="5157194"/>
            <a:ext cx="2688597" cy="10561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3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撰写部门及人员</a:t>
            </a:r>
            <a:endParaRPr lang="en-US" altLang="zh-CN" dirty="0"/>
          </a:p>
          <a:p>
            <a:pPr lvl="0"/>
            <a:r>
              <a:rPr lang="en-US" altLang="zh-CN" dirty="0"/>
              <a:t>2017/4/1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1758270"/>
            <a:ext cx="143339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43427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3477818" y="1439945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477818" y="2331327"/>
            <a:ext cx="5791199" cy="53159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3477818" y="3222711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3477817" y="4114093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3477817" y="5005475"/>
            <a:ext cx="5791199" cy="544615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0661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1295469" y="2756926"/>
            <a:ext cx="9697076" cy="830997"/>
          </a:xfrm>
          <a:prstGeom prst="rect">
            <a:avLst/>
          </a:prstGeom>
        </p:spPr>
        <p:txBody>
          <a:bodyPr/>
          <a:lstStyle>
            <a:lvl1pPr marL="0" indent="0" algn="ctr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3733" b="1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单击此处编辑节标题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4079777" y="4197086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079775" y="4685002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079774" y="5165055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4079774" y="5645108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20167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3541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9889099" cy="672075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4271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94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1983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37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89" r:id="rId8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576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package" Target="../embeddings/Microsoft_Excel_Worksheet.xls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wmf"/><Relationship Id="rId4" Type="http://schemas.openxmlformats.org/officeDocument/2006/relationships/package" Target="../embeddings/Microsoft_Excel_Worksheet1.xlsx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wmf"/><Relationship Id="rId4" Type="http://schemas.openxmlformats.org/officeDocument/2006/relationships/package" Target="../embeddings/Microsoft_Excel_Worksheet2.xls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407617" y="1616031"/>
            <a:ext cx="10063023" cy="2214290"/>
          </a:xfrm>
        </p:spPr>
        <p:txBody>
          <a:bodyPr/>
          <a:lstStyle/>
          <a:p>
            <a:r>
              <a:rPr lang="zh-CN" altLang="en-US" dirty="0"/>
              <a:t>基础技能培训</a:t>
            </a:r>
            <a:r>
              <a:rPr lang="en-US" altLang="zh-CN" dirty="0"/>
              <a:t>-</a:t>
            </a:r>
            <a:r>
              <a:rPr lang="zh-CN" altLang="en-US" sz="3600" dirty="0"/>
              <a:t>预研阶段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9168342" y="5340315"/>
            <a:ext cx="2688597" cy="588847"/>
          </a:xfrm>
        </p:spPr>
        <p:txBody>
          <a:bodyPr/>
          <a:lstStyle/>
          <a:p>
            <a:r>
              <a:rPr lang="zh-CN" altLang="en-US" dirty="0"/>
              <a:t>日期：</a:t>
            </a:r>
            <a:r>
              <a:rPr lang="en-US" altLang="zh-CN" dirty="0"/>
              <a:t>2020/08/01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353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A9EBCF35-EB45-4AF3-9064-FB02185A45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目录</a:t>
            </a:r>
          </a:p>
        </p:txBody>
      </p:sp>
      <p:sp>
        <p:nvSpPr>
          <p:cNvPr id="38" name="文本占位符 37">
            <a:extLst>
              <a:ext uri="{FF2B5EF4-FFF2-40B4-BE49-F238E27FC236}">
                <a16:creationId xmlns:a16="http://schemas.microsoft.com/office/drawing/2014/main" id="{D33769A1-42B4-4E5C-89EA-1A83E9902A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7819" y="3222711"/>
            <a:ext cx="5569596" cy="544616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A4FC441-B95E-4D5E-9F0E-CC1FC0E6BD02}"/>
              </a:ext>
            </a:extLst>
          </p:cNvPr>
          <p:cNvGrpSpPr/>
          <p:nvPr/>
        </p:nvGrpSpPr>
        <p:grpSpPr>
          <a:xfrm>
            <a:off x="2639616" y="1973429"/>
            <a:ext cx="6528725" cy="3049544"/>
            <a:chOff x="1259632" y="901081"/>
            <a:chExt cx="7008403" cy="2866148"/>
          </a:xfrm>
        </p:grpSpPr>
        <p:sp>
          <p:nvSpPr>
            <p:cNvPr id="10" name="MH_Others_1">
              <a:extLst>
                <a:ext uri="{FF2B5EF4-FFF2-40B4-BE49-F238E27FC236}">
                  <a16:creationId xmlns:a16="http://schemas.microsoft.com/office/drawing/2014/main" id="{317E8A0A-29E8-4453-8301-A36CB737D1C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86204" y="3242309"/>
              <a:ext cx="334379" cy="518712"/>
            </a:xfrm>
            <a:custGeom>
              <a:avLst/>
              <a:gdLst>
                <a:gd name="connsiteX0" fmla="*/ 203199 w 203199"/>
                <a:gd name="connsiteY0" fmla="*/ 0 h 210018"/>
                <a:gd name="connsiteX1" fmla="*/ 203199 w 203199"/>
                <a:gd name="connsiteY1" fmla="*/ 210018 h 210018"/>
                <a:gd name="connsiteX2" fmla="*/ 0 w 203199"/>
                <a:gd name="connsiteY2" fmla="*/ 210018 h 210018"/>
                <a:gd name="connsiteX3" fmla="*/ 0 w 203199"/>
                <a:gd name="connsiteY3" fmla="*/ 209707 h 21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199" h="210018">
                  <a:moveTo>
                    <a:pt x="203199" y="0"/>
                  </a:moveTo>
                  <a:lnTo>
                    <a:pt x="203199" y="210018"/>
                  </a:lnTo>
                  <a:lnTo>
                    <a:pt x="0" y="210018"/>
                  </a:lnTo>
                  <a:lnTo>
                    <a:pt x="0" y="209707"/>
                  </a:lnTo>
                  <a:close/>
                </a:path>
              </a:pathLst>
            </a:custGeom>
            <a:solidFill>
              <a:srgbClr val="E4E4E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noAutofit/>
            </a:bodyPr>
            <a:lstStyle/>
            <a:p>
              <a:pPr algn="ctr" defTabSz="1219170">
                <a:defRPr/>
              </a:pPr>
              <a:endParaRPr lang="zh-CN" altLang="en-US" sz="2133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043BCAA0-EA43-4765-A753-0933047F9CB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286204" y="3187452"/>
              <a:ext cx="6981831" cy="573566"/>
            </a:xfrm>
            <a:custGeom>
              <a:avLst/>
              <a:gdLst>
                <a:gd name="connsiteX0" fmla="*/ 228599 w 6629400"/>
                <a:gd name="connsiteY0" fmla="*/ 126626 h 362857"/>
                <a:gd name="connsiteX1" fmla="*/ 228599 w 6629400"/>
                <a:gd name="connsiteY1" fmla="*/ 362857 h 362857"/>
                <a:gd name="connsiteX2" fmla="*/ 0 w 6629400"/>
                <a:gd name="connsiteY2" fmla="*/ 362857 h 362857"/>
                <a:gd name="connsiteX3" fmla="*/ 0 w 6629400"/>
                <a:gd name="connsiteY3" fmla="*/ 362546 h 362857"/>
                <a:gd name="connsiteX4" fmla="*/ 838200 w 6629400"/>
                <a:gd name="connsiteY4" fmla="*/ 0 h 362857"/>
                <a:gd name="connsiteX5" fmla="*/ 5791200 w 6629400"/>
                <a:gd name="connsiteY5" fmla="*/ 0 h 362857"/>
                <a:gd name="connsiteX6" fmla="*/ 6629400 w 6629400"/>
                <a:gd name="connsiteY6" fmla="*/ 0 h 362857"/>
                <a:gd name="connsiteX7" fmla="*/ 6629400 w 6629400"/>
                <a:gd name="connsiteY7" fmla="*/ 362857 h 362857"/>
                <a:gd name="connsiteX8" fmla="*/ 5791200 w 6629400"/>
                <a:gd name="connsiteY8" fmla="*/ 362857 h 362857"/>
                <a:gd name="connsiteX9" fmla="*/ 838200 w 6629400"/>
                <a:gd name="connsiteY9" fmla="*/ 362857 h 3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29400" h="362857">
                  <a:moveTo>
                    <a:pt x="228599" y="126626"/>
                  </a:moveTo>
                  <a:lnTo>
                    <a:pt x="228599" y="362857"/>
                  </a:lnTo>
                  <a:lnTo>
                    <a:pt x="0" y="362857"/>
                  </a:lnTo>
                  <a:lnTo>
                    <a:pt x="0" y="362546"/>
                  </a:lnTo>
                  <a:close/>
                  <a:moveTo>
                    <a:pt x="838200" y="0"/>
                  </a:moveTo>
                  <a:lnTo>
                    <a:pt x="5791200" y="0"/>
                  </a:lnTo>
                  <a:lnTo>
                    <a:pt x="6629400" y="0"/>
                  </a:lnTo>
                  <a:lnTo>
                    <a:pt x="6629400" y="362857"/>
                  </a:lnTo>
                  <a:lnTo>
                    <a:pt x="5791200" y="362857"/>
                  </a:lnTo>
                  <a:lnTo>
                    <a:pt x="838200" y="362857"/>
                  </a:lnTo>
                  <a:close/>
                </a:path>
              </a:pathLst>
            </a:custGeom>
            <a:solidFill>
              <a:srgbClr val="AD2830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0" tIns="0" rIns="0" bIns="0" numCol="1" spcCol="0" rtlCol="0" fromWordArt="0" anchor="ctr" anchorCtr="0" forceAA="0" compatLnSpc="1">
              <a:normAutofit/>
            </a:bodyPr>
            <a:lstStyle/>
            <a:p>
              <a:pPr defTabSz="1219170">
                <a:defRPr/>
              </a:pPr>
              <a:endParaRPr lang="zh-CN" altLang="en-US" sz="2133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4" name="MH_Others_1">
              <a:extLst>
                <a:ext uri="{FF2B5EF4-FFF2-40B4-BE49-F238E27FC236}">
                  <a16:creationId xmlns:a16="http://schemas.microsoft.com/office/drawing/2014/main" id="{9990CAFB-AD78-43CE-83D5-6FEC440C45A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259632" y="2088593"/>
              <a:ext cx="334379" cy="518712"/>
            </a:xfrm>
            <a:custGeom>
              <a:avLst/>
              <a:gdLst>
                <a:gd name="connsiteX0" fmla="*/ 203199 w 203199"/>
                <a:gd name="connsiteY0" fmla="*/ 0 h 210018"/>
                <a:gd name="connsiteX1" fmla="*/ 203199 w 203199"/>
                <a:gd name="connsiteY1" fmla="*/ 210018 h 210018"/>
                <a:gd name="connsiteX2" fmla="*/ 0 w 203199"/>
                <a:gd name="connsiteY2" fmla="*/ 210018 h 210018"/>
                <a:gd name="connsiteX3" fmla="*/ 0 w 203199"/>
                <a:gd name="connsiteY3" fmla="*/ 209707 h 21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199" h="210018">
                  <a:moveTo>
                    <a:pt x="203199" y="0"/>
                  </a:moveTo>
                  <a:lnTo>
                    <a:pt x="203199" y="210018"/>
                  </a:lnTo>
                  <a:lnTo>
                    <a:pt x="0" y="210018"/>
                  </a:lnTo>
                  <a:lnTo>
                    <a:pt x="0" y="209707"/>
                  </a:lnTo>
                  <a:close/>
                </a:path>
              </a:pathLst>
            </a:custGeom>
            <a:solidFill>
              <a:srgbClr val="E4E4E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noAutofit/>
            </a:bodyPr>
            <a:lstStyle/>
            <a:p>
              <a:pPr algn="ctr" defTabSz="1219170">
                <a:defRPr/>
              </a:pPr>
              <a:endParaRPr lang="zh-CN" altLang="en-US" sz="2133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6" name="文本占位符 4">
              <a:extLst>
                <a:ext uri="{FF2B5EF4-FFF2-40B4-BE49-F238E27FC236}">
                  <a16:creationId xmlns:a16="http://schemas.microsoft.com/office/drawing/2014/main" id="{C04CAF3C-10F4-4E1D-864C-CE5C5F9EA9DF}"/>
                </a:ext>
              </a:extLst>
            </p:cNvPr>
            <p:cNvSpPr txBox="1">
              <a:spLocks/>
            </p:cNvSpPr>
            <p:nvPr/>
          </p:nvSpPr>
          <p:spPr>
            <a:xfrm>
              <a:off x="2462086" y="3270004"/>
              <a:ext cx="4343399" cy="408462"/>
            </a:xfrm>
            <a:prstGeom prst="rect">
              <a:avLst/>
            </a:prstGeom>
          </p:spPr>
          <p:txBody>
            <a:bodyPr anchor="ctr"/>
            <a:lstStyle>
              <a:lvl1pPr marL="0" marR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600" kern="12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133" dirty="0">
                  <a:solidFill>
                    <a:prstClr val="white"/>
                  </a:solidFill>
                  <a:cs typeface="+mn-ea"/>
                  <a:sym typeface="+mn-lt"/>
                </a:rPr>
                <a:t>立项筹备</a:t>
              </a:r>
            </a:p>
          </p:txBody>
        </p:sp>
        <p:sp>
          <p:nvSpPr>
            <p:cNvPr id="18" name="MH_Others_1">
              <a:extLst>
                <a:ext uri="{FF2B5EF4-FFF2-40B4-BE49-F238E27FC236}">
                  <a16:creationId xmlns:a16="http://schemas.microsoft.com/office/drawing/2014/main" id="{73CD44D1-E323-4756-B4C0-0059B06C262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289210" y="970425"/>
              <a:ext cx="334379" cy="518712"/>
            </a:xfrm>
            <a:custGeom>
              <a:avLst/>
              <a:gdLst>
                <a:gd name="connsiteX0" fmla="*/ 203199 w 203199"/>
                <a:gd name="connsiteY0" fmla="*/ 0 h 210018"/>
                <a:gd name="connsiteX1" fmla="*/ 203199 w 203199"/>
                <a:gd name="connsiteY1" fmla="*/ 210018 h 210018"/>
                <a:gd name="connsiteX2" fmla="*/ 0 w 203199"/>
                <a:gd name="connsiteY2" fmla="*/ 210018 h 210018"/>
                <a:gd name="connsiteX3" fmla="*/ 0 w 203199"/>
                <a:gd name="connsiteY3" fmla="*/ 209707 h 21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199" h="210018">
                  <a:moveTo>
                    <a:pt x="203199" y="0"/>
                  </a:moveTo>
                  <a:lnTo>
                    <a:pt x="203199" y="210018"/>
                  </a:lnTo>
                  <a:lnTo>
                    <a:pt x="0" y="210018"/>
                  </a:lnTo>
                  <a:lnTo>
                    <a:pt x="0" y="209707"/>
                  </a:lnTo>
                  <a:close/>
                </a:path>
              </a:pathLst>
            </a:custGeom>
            <a:solidFill>
              <a:srgbClr val="E4E4E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noAutofit/>
            </a:bodyPr>
            <a:lstStyle/>
            <a:p>
              <a:pPr algn="ctr" defTabSz="1219170">
                <a:defRPr/>
              </a:pPr>
              <a:endParaRPr lang="zh-CN" altLang="en-US" sz="2133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41B166CB-5160-410E-BCFC-696F313EA54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283268" y="915566"/>
              <a:ext cx="6981831" cy="573566"/>
            </a:xfrm>
            <a:custGeom>
              <a:avLst/>
              <a:gdLst>
                <a:gd name="connsiteX0" fmla="*/ 228599 w 6629400"/>
                <a:gd name="connsiteY0" fmla="*/ 126626 h 362857"/>
                <a:gd name="connsiteX1" fmla="*/ 228599 w 6629400"/>
                <a:gd name="connsiteY1" fmla="*/ 362857 h 362857"/>
                <a:gd name="connsiteX2" fmla="*/ 0 w 6629400"/>
                <a:gd name="connsiteY2" fmla="*/ 362857 h 362857"/>
                <a:gd name="connsiteX3" fmla="*/ 0 w 6629400"/>
                <a:gd name="connsiteY3" fmla="*/ 362546 h 362857"/>
                <a:gd name="connsiteX4" fmla="*/ 838200 w 6629400"/>
                <a:gd name="connsiteY4" fmla="*/ 0 h 362857"/>
                <a:gd name="connsiteX5" fmla="*/ 5791200 w 6629400"/>
                <a:gd name="connsiteY5" fmla="*/ 0 h 362857"/>
                <a:gd name="connsiteX6" fmla="*/ 6629400 w 6629400"/>
                <a:gd name="connsiteY6" fmla="*/ 0 h 362857"/>
                <a:gd name="connsiteX7" fmla="*/ 6629400 w 6629400"/>
                <a:gd name="connsiteY7" fmla="*/ 362857 h 362857"/>
                <a:gd name="connsiteX8" fmla="*/ 5791200 w 6629400"/>
                <a:gd name="connsiteY8" fmla="*/ 362857 h 362857"/>
                <a:gd name="connsiteX9" fmla="*/ 838200 w 6629400"/>
                <a:gd name="connsiteY9" fmla="*/ 362857 h 3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29400" h="362857">
                  <a:moveTo>
                    <a:pt x="228599" y="126626"/>
                  </a:moveTo>
                  <a:lnTo>
                    <a:pt x="228599" y="362857"/>
                  </a:lnTo>
                  <a:lnTo>
                    <a:pt x="0" y="362857"/>
                  </a:lnTo>
                  <a:lnTo>
                    <a:pt x="0" y="362546"/>
                  </a:lnTo>
                  <a:close/>
                  <a:moveTo>
                    <a:pt x="838200" y="0"/>
                  </a:moveTo>
                  <a:lnTo>
                    <a:pt x="5791200" y="0"/>
                  </a:lnTo>
                  <a:lnTo>
                    <a:pt x="6629400" y="0"/>
                  </a:lnTo>
                  <a:lnTo>
                    <a:pt x="6629400" y="362857"/>
                  </a:lnTo>
                  <a:lnTo>
                    <a:pt x="5791200" y="362857"/>
                  </a:lnTo>
                  <a:lnTo>
                    <a:pt x="838200" y="362857"/>
                  </a:lnTo>
                  <a:close/>
                </a:path>
              </a:pathLst>
            </a:custGeom>
            <a:solidFill>
              <a:srgbClr val="AD2830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0" tIns="0" rIns="0" bIns="0" numCol="1" spcCol="0" rtlCol="0" fromWordArt="0" anchor="ctr" anchorCtr="0" forceAA="0" compatLnSpc="1">
              <a:normAutofit/>
            </a:bodyPr>
            <a:lstStyle/>
            <a:p>
              <a:pPr defTabSz="1219170">
                <a:defRPr/>
              </a:pPr>
              <a:endParaRPr lang="zh-CN" altLang="en-US" sz="2133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CB60F05D-152E-433F-ADBE-4738AF0C00C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594011" y="915569"/>
              <a:ext cx="642010" cy="57356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1219170">
                <a:defRPr/>
              </a:pPr>
              <a:r>
                <a:rPr lang="en-US" altLang="zh-CN" sz="2133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L1</a:t>
              </a:r>
              <a:endParaRPr lang="zh-CN" altLang="en-US" sz="2133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文本占位符 2">
              <a:extLst>
                <a:ext uri="{FF2B5EF4-FFF2-40B4-BE49-F238E27FC236}">
                  <a16:creationId xmlns:a16="http://schemas.microsoft.com/office/drawing/2014/main" id="{FF43160C-948E-4AAB-B70F-C722BC4BAABB}"/>
                </a:ext>
              </a:extLst>
            </p:cNvPr>
            <p:cNvSpPr txBox="1">
              <a:spLocks/>
            </p:cNvSpPr>
            <p:nvPr/>
          </p:nvSpPr>
          <p:spPr>
            <a:xfrm>
              <a:off x="2474146" y="901081"/>
              <a:ext cx="5676137" cy="573569"/>
            </a:xfrm>
            <a:prstGeom prst="rect">
              <a:avLst/>
            </a:prstGeom>
          </p:spPr>
          <p:txBody>
            <a:bodyPr anchor="ctr"/>
            <a:lstStyle>
              <a:lvl1pPr marL="0" marR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600" kern="12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133" dirty="0">
                  <a:cs typeface="+mn-ea"/>
                  <a:sym typeface="+mn-lt"/>
                </a:rPr>
                <a:t>预研</a:t>
              </a:r>
            </a:p>
          </p:txBody>
        </p:sp>
        <p:sp>
          <p:nvSpPr>
            <p:cNvPr id="26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65CCE426-EA9C-48FE-A26A-DD99BA875AD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594011" y="2033737"/>
              <a:ext cx="642010" cy="57356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1219170">
                <a:defRPr/>
              </a:pPr>
              <a:r>
                <a:rPr lang="en-US" altLang="zh-CN" sz="2133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L2</a:t>
              </a:r>
              <a:endParaRPr lang="zh-CN" altLang="en-US" sz="2133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8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id="{7BB9A6A1-1679-4EB5-9D58-E108D0C754E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594011" y="3193661"/>
              <a:ext cx="642010" cy="57356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1219170">
                <a:defRPr/>
              </a:pPr>
              <a:r>
                <a:rPr lang="en-US" altLang="zh-CN" sz="2133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L3</a:t>
              </a:r>
              <a:endParaRPr lang="zh-CN" altLang="en-US" sz="2133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0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id="{0EA0D617-82B2-4474-973D-F9A64A61CB97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259632" y="2033736"/>
              <a:ext cx="6981831" cy="573566"/>
            </a:xfrm>
            <a:custGeom>
              <a:avLst/>
              <a:gdLst>
                <a:gd name="connsiteX0" fmla="*/ 228599 w 6629400"/>
                <a:gd name="connsiteY0" fmla="*/ 126626 h 362857"/>
                <a:gd name="connsiteX1" fmla="*/ 228599 w 6629400"/>
                <a:gd name="connsiteY1" fmla="*/ 362857 h 362857"/>
                <a:gd name="connsiteX2" fmla="*/ 0 w 6629400"/>
                <a:gd name="connsiteY2" fmla="*/ 362857 h 362857"/>
                <a:gd name="connsiteX3" fmla="*/ 0 w 6629400"/>
                <a:gd name="connsiteY3" fmla="*/ 362546 h 362857"/>
                <a:gd name="connsiteX4" fmla="*/ 838200 w 6629400"/>
                <a:gd name="connsiteY4" fmla="*/ 0 h 362857"/>
                <a:gd name="connsiteX5" fmla="*/ 5791200 w 6629400"/>
                <a:gd name="connsiteY5" fmla="*/ 0 h 362857"/>
                <a:gd name="connsiteX6" fmla="*/ 6629400 w 6629400"/>
                <a:gd name="connsiteY6" fmla="*/ 0 h 362857"/>
                <a:gd name="connsiteX7" fmla="*/ 6629400 w 6629400"/>
                <a:gd name="connsiteY7" fmla="*/ 362857 h 362857"/>
                <a:gd name="connsiteX8" fmla="*/ 5791200 w 6629400"/>
                <a:gd name="connsiteY8" fmla="*/ 362857 h 362857"/>
                <a:gd name="connsiteX9" fmla="*/ 838200 w 6629400"/>
                <a:gd name="connsiteY9" fmla="*/ 362857 h 36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29400" h="362857">
                  <a:moveTo>
                    <a:pt x="228599" y="126626"/>
                  </a:moveTo>
                  <a:lnTo>
                    <a:pt x="228599" y="362857"/>
                  </a:lnTo>
                  <a:lnTo>
                    <a:pt x="0" y="362857"/>
                  </a:lnTo>
                  <a:lnTo>
                    <a:pt x="0" y="362546"/>
                  </a:lnTo>
                  <a:close/>
                  <a:moveTo>
                    <a:pt x="838200" y="0"/>
                  </a:moveTo>
                  <a:lnTo>
                    <a:pt x="5791200" y="0"/>
                  </a:lnTo>
                  <a:lnTo>
                    <a:pt x="6629400" y="0"/>
                  </a:lnTo>
                  <a:lnTo>
                    <a:pt x="6629400" y="362857"/>
                  </a:lnTo>
                  <a:lnTo>
                    <a:pt x="5791200" y="362857"/>
                  </a:lnTo>
                  <a:lnTo>
                    <a:pt x="838200" y="362857"/>
                  </a:lnTo>
                  <a:close/>
                </a:path>
              </a:pathLst>
            </a:custGeom>
            <a:solidFill>
              <a:srgbClr val="AD2830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0" tIns="0" rIns="0" bIns="0" numCol="1" spcCol="0" rtlCol="0" fromWordArt="0" anchor="ctr" anchorCtr="0" forceAA="0" compatLnSpc="1">
              <a:normAutofit/>
            </a:bodyPr>
            <a:lstStyle/>
            <a:p>
              <a:pPr defTabSz="1219170">
                <a:defRPr/>
              </a:pPr>
              <a:endParaRPr lang="zh-CN" altLang="en-US" sz="2133" kern="0" spc="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占位符 2">
              <a:extLst>
                <a:ext uri="{FF2B5EF4-FFF2-40B4-BE49-F238E27FC236}">
                  <a16:creationId xmlns:a16="http://schemas.microsoft.com/office/drawing/2014/main" id="{ABEA3294-1D86-403B-8232-3726A1CAA017}"/>
                </a:ext>
              </a:extLst>
            </p:cNvPr>
            <p:cNvSpPr txBox="1">
              <a:spLocks/>
            </p:cNvSpPr>
            <p:nvPr/>
          </p:nvSpPr>
          <p:spPr>
            <a:xfrm>
              <a:off x="2474146" y="3187452"/>
              <a:ext cx="5676137" cy="573569"/>
            </a:xfrm>
            <a:prstGeom prst="rect">
              <a:avLst/>
            </a:prstGeom>
          </p:spPr>
          <p:txBody>
            <a:bodyPr anchor="ctr"/>
            <a:lstStyle>
              <a:lvl1pPr marL="0" marR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600" kern="12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133" dirty="0">
                <a:cs typeface="+mn-ea"/>
                <a:sym typeface="+mn-lt"/>
              </a:endParaRPr>
            </a:p>
          </p:txBody>
        </p:sp>
        <p:sp>
          <p:nvSpPr>
            <p:cNvPr id="34" name="文本占位符 2">
              <a:extLst>
                <a:ext uri="{FF2B5EF4-FFF2-40B4-BE49-F238E27FC236}">
                  <a16:creationId xmlns:a16="http://schemas.microsoft.com/office/drawing/2014/main" id="{56E092A9-04B4-4BB2-837C-D5061998D02F}"/>
                </a:ext>
              </a:extLst>
            </p:cNvPr>
            <p:cNvSpPr txBox="1">
              <a:spLocks/>
            </p:cNvSpPr>
            <p:nvPr/>
          </p:nvSpPr>
          <p:spPr>
            <a:xfrm>
              <a:off x="2462086" y="2033736"/>
              <a:ext cx="5676137" cy="573569"/>
            </a:xfrm>
            <a:prstGeom prst="rect">
              <a:avLst/>
            </a:prstGeom>
          </p:spPr>
          <p:txBody>
            <a:bodyPr anchor="ctr"/>
            <a:lstStyle>
              <a:lvl1pPr marL="0" marR="0" indent="0" algn="l" defTabSz="914400" rtl="0" eaLnBrk="1" fontAlgn="auto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600" kern="12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133" dirty="0">
                  <a:cs typeface="+mn-ea"/>
                  <a:sym typeface="+mn-lt"/>
                </a:rPr>
                <a:t>详细需求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2939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800" dirty="0"/>
              <a:t>M1 </a:t>
            </a:r>
            <a:r>
              <a:rPr lang="zh-CN" altLang="en-US" sz="2800" dirty="0"/>
              <a:t>预研阶段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92" y="1024719"/>
            <a:ext cx="10222730" cy="5398825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BF6CC26-E86A-4B05-9845-421194397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884007"/>
              </p:ext>
            </p:extLst>
          </p:nvPr>
        </p:nvGraphicFramePr>
        <p:xfrm>
          <a:off x="5724957" y="4021076"/>
          <a:ext cx="4567999" cy="24024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37160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3330839">
                  <a:extLst>
                    <a:ext uri="{9D8B030D-6E8A-4147-A177-3AD203B41FA5}">
                      <a16:colId xmlns:a16="http://schemas.microsoft.com/office/drawing/2014/main" val="99857605"/>
                    </a:ext>
                  </a:extLst>
                </a:gridCol>
              </a:tblGrid>
              <a:tr h="29319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任务名称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责任人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485617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开始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系统提交预立项，到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PMO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519441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结束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DCP1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立项决策评审通过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762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技术评审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TR1--DQA</a:t>
                      </a:r>
                    </a:p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TR2--DQA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848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决策评审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DCP1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41039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512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247462" y="2757376"/>
            <a:ext cx="9697076" cy="830997"/>
          </a:xfrm>
        </p:spPr>
        <p:txBody>
          <a:bodyPr/>
          <a:lstStyle/>
          <a:p>
            <a:pPr defTabSz="1219170"/>
            <a:r>
              <a:rPr lang="en-US" altLang="zh-CN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L1 </a:t>
            </a:r>
            <a:r>
              <a:rPr lang="zh-CN" altLang="en-US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预研</a:t>
            </a:r>
          </a:p>
        </p:txBody>
      </p:sp>
    </p:spTree>
    <p:extLst>
      <p:ext uri="{BB962C8B-B14F-4D97-AF65-F5344CB8AC3E}">
        <p14:creationId xmlns:p14="http://schemas.microsoft.com/office/powerpoint/2010/main" val="398639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爆炸形 1 5"/>
          <p:cNvSpPr/>
          <p:nvPr/>
        </p:nvSpPr>
        <p:spPr>
          <a:xfrm>
            <a:off x="2987344" y="1125142"/>
            <a:ext cx="1420883" cy="777922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800" dirty="0"/>
              <a:t>L1 </a:t>
            </a:r>
            <a:r>
              <a:rPr lang="zh-CN" altLang="en-US" sz="2800" dirty="0"/>
              <a:t>预研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094822822"/>
              </p:ext>
            </p:extLst>
          </p:nvPr>
        </p:nvGraphicFramePr>
        <p:xfrm>
          <a:off x="1622568" y="1514103"/>
          <a:ext cx="8128000" cy="3749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193576" y="1330656"/>
            <a:ext cx="1214651" cy="36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产品经理</a:t>
            </a:r>
          </a:p>
        </p:txBody>
      </p:sp>
    </p:spTree>
    <p:extLst>
      <p:ext uri="{BB962C8B-B14F-4D97-AF65-F5344CB8AC3E}">
        <p14:creationId xmlns:p14="http://schemas.microsoft.com/office/powerpoint/2010/main" val="942737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247462" y="2757376"/>
            <a:ext cx="9697076" cy="830997"/>
          </a:xfrm>
        </p:spPr>
        <p:txBody>
          <a:bodyPr/>
          <a:lstStyle/>
          <a:p>
            <a:pPr defTabSz="1219170"/>
            <a:r>
              <a:rPr lang="en-US" altLang="zh-CN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L2 </a:t>
            </a:r>
            <a:r>
              <a:rPr lang="zh-CN" altLang="en-US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详细需求</a:t>
            </a:r>
          </a:p>
        </p:txBody>
      </p:sp>
    </p:spTree>
    <p:extLst>
      <p:ext uri="{BB962C8B-B14F-4D97-AF65-F5344CB8AC3E}">
        <p14:creationId xmlns:p14="http://schemas.microsoft.com/office/powerpoint/2010/main" val="4165265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800" dirty="0"/>
              <a:t>L2 </a:t>
            </a:r>
            <a:r>
              <a:rPr lang="zh-CN" altLang="en-US" sz="2800" dirty="0"/>
              <a:t>详细需求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BF6CC26-E86A-4B05-9845-421194397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949308"/>
              </p:ext>
            </p:extLst>
          </p:nvPr>
        </p:nvGraphicFramePr>
        <p:xfrm>
          <a:off x="988515" y="956825"/>
          <a:ext cx="10035559" cy="38881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59029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5153114">
                  <a:extLst>
                    <a:ext uri="{9D8B030D-6E8A-4147-A177-3AD203B41FA5}">
                      <a16:colId xmlns:a16="http://schemas.microsoft.com/office/drawing/2014/main" val="99857605"/>
                    </a:ext>
                  </a:extLst>
                </a:gridCol>
                <a:gridCol w="3623416">
                  <a:extLst>
                    <a:ext uri="{9D8B030D-6E8A-4147-A177-3AD203B41FA5}">
                      <a16:colId xmlns:a16="http://schemas.microsoft.com/office/drawing/2014/main" val="1047766596"/>
                    </a:ext>
                  </a:extLst>
                </a:gridCol>
              </a:tblGrid>
              <a:tr h="390458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任务名称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项目经理工作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注意事项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609756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开始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同产品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A/B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沟通，了解产品背景、项目背景；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根据命名规则，确定项目代号；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清楚项目背景，有无上代产品，什么关系，主要客户，产品定位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1507942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创建预研项目空间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创建预研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WBS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项目类型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预研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项目类别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技术预研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典型配置和需求规格说明书要同步下发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PLM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任务，</a:t>
                      </a: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需求评审的时候，实际是要对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PRD</a:t>
                      </a: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和典型配置同步评审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。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9974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资源申请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邮件向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蒲嘉鹏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申请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DQA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人员，预研阶段其组织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TR1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TR2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评审；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邮件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向</a:t>
                      </a: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许飞、辛云龙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申请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TPM/</a:t>
                      </a: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测试代表，介入评审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；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 </a:t>
                      </a:r>
                      <a:endParaRPr lang="zh-CN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研发代表，由架构师根据情况决定涉及人员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；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申请开发经理资源；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发送邮件时，</a:t>
                      </a:r>
                      <a:r>
                        <a:rPr lang="zh-CN" altLang="en-US" sz="16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注意将项目背景、项目范围、初步时间计划等信息一起发出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564429"/>
              </p:ext>
            </p:extLst>
          </p:nvPr>
        </p:nvGraphicFramePr>
        <p:xfrm>
          <a:off x="4726698" y="5128478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Worksheet" showAsIcon="1" r:id="rId4" imgW="914400" imgH="828720" progId="Excel.Sheet.12">
                  <p:embed/>
                </p:oleObj>
              </mc:Choice>
              <mc:Fallback>
                <p:oleObj name="Worksheet" showAsIcon="1" r:id="rId4" imgW="914400" imgH="82872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26698" y="5128478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9752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800" dirty="0"/>
              <a:t>L2 </a:t>
            </a:r>
            <a:r>
              <a:rPr lang="zh-CN" altLang="en-US" sz="2800" dirty="0"/>
              <a:t>详细需求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BF6CC26-E86A-4B05-9845-421194397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704195"/>
              </p:ext>
            </p:extLst>
          </p:nvPr>
        </p:nvGraphicFramePr>
        <p:xfrm>
          <a:off x="988515" y="956825"/>
          <a:ext cx="10215021" cy="301330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25248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4269425">
                  <a:extLst>
                    <a:ext uri="{9D8B030D-6E8A-4147-A177-3AD203B41FA5}">
                      <a16:colId xmlns:a16="http://schemas.microsoft.com/office/drawing/2014/main" val="99857605"/>
                    </a:ext>
                  </a:extLst>
                </a:gridCol>
                <a:gridCol w="4120348">
                  <a:extLst>
                    <a:ext uri="{9D8B030D-6E8A-4147-A177-3AD203B41FA5}">
                      <a16:colId xmlns:a16="http://schemas.microsoft.com/office/drawing/2014/main" val="1047766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任务名称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任务工作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注意事项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108798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PRD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系统命名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PRD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的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PLM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系统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任务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用版本号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标识清楚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---01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版编制</a:t>
                      </a:r>
                      <a:r>
                        <a:rPr lang="en-US" altLang="zh-CN" sz="16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01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版评审等等</a:t>
                      </a:r>
                    </a:p>
                    <a:p>
                      <a:pPr algn="l"/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每一版评完，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系统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会根据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评审人员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提的问题出一份评审报告，里面有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评审人员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提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出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的意见，根据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评审报告的意见，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组织讨论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 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，再升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02</a:t>
                      </a:r>
                      <a:r>
                        <a:rPr lang="zh-CN" altLang="zh-CN" sz="1600" dirty="0">
                          <a:latin typeface="+mn-ea"/>
                          <a:ea typeface="+mn-ea"/>
                        </a:rPr>
                        <a:t>版</a:t>
                      </a: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；</a:t>
                      </a:r>
                      <a:endParaRPr lang="zh-CN" altLang="zh-CN" sz="16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典型配置及通用物料清单任务命名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典型配置及通用物料清单，也以版本号命名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注意请产品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提前同赵雷沟通，不需要的通用物料及时卡住；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冗余的配置及时删减；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通用物料请务必带料号，提前通知产品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；</a:t>
                      </a:r>
                      <a:endParaRPr lang="en-US" altLang="zh-CN" sz="16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新引入通用物料，需同采购、部件负责人确认交期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15" y="4090247"/>
            <a:ext cx="7476190" cy="18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02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800" dirty="0"/>
              <a:t>L2 </a:t>
            </a:r>
            <a:r>
              <a:rPr lang="zh-CN" altLang="en-US" sz="2800" dirty="0"/>
              <a:t>详细需求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00" y="657529"/>
            <a:ext cx="10388200" cy="612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47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247462" y="2757376"/>
            <a:ext cx="9697076" cy="830997"/>
          </a:xfrm>
        </p:spPr>
        <p:txBody>
          <a:bodyPr/>
          <a:lstStyle/>
          <a:p>
            <a:pPr defTabSz="1219170"/>
            <a:r>
              <a:rPr lang="en-US" altLang="zh-CN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L3 </a:t>
            </a:r>
            <a:r>
              <a:rPr lang="zh-CN" altLang="en-US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立项筹备</a:t>
            </a:r>
          </a:p>
        </p:txBody>
      </p:sp>
    </p:spTree>
    <p:extLst>
      <p:ext uri="{BB962C8B-B14F-4D97-AF65-F5344CB8AC3E}">
        <p14:creationId xmlns:p14="http://schemas.microsoft.com/office/powerpoint/2010/main" val="1165605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800" dirty="0"/>
              <a:t>L3 </a:t>
            </a:r>
            <a:r>
              <a:rPr lang="zh-CN" altLang="en-US" sz="2800" dirty="0"/>
              <a:t>立项筹备</a:t>
            </a:r>
            <a:r>
              <a:rPr lang="en-US" altLang="zh-CN" sz="2800" dirty="0"/>
              <a:t>—</a:t>
            </a:r>
            <a:r>
              <a:rPr lang="zh-CN" altLang="en-US" sz="2400" dirty="0"/>
              <a:t>文档注意事项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F6CC26-E86A-4B05-9845-421194397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724503"/>
              </p:ext>
            </p:extLst>
          </p:nvPr>
        </p:nvGraphicFramePr>
        <p:xfrm>
          <a:off x="871671" y="1113002"/>
          <a:ext cx="10469619" cy="4968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21153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1754239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  <a:gridCol w="3490327">
                  <a:extLst>
                    <a:ext uri="{9D8B030D-6E8A-4147-A177-3AD203B41FA5}">
                      <a16:colId xmlns:a16="http://schemas.microsoft.com/office/drawing/2014/main" val="99857605"/>
                    </a:ext>
                  </a:extLst>
                </a:gridCol>
                <a:gridCol w="3803900">
                  <a:extLst>
                    <a:ext uri="{9D8B030D-6E8A-4147-A177-3AD203B41FA5}">
                      <a16:colId xmlns:a16="http://schemas.microsoft.com/office/drawing/2014/main" val="1047766596"/>
                    </a:ext>
                  </a:extLst>
                </a:gridCol>
              </a:tblGrid>
              <a:tr h="228271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任务名称</a:t>
                      </a:r>
                    </a:p>
                  </a:txBody>
                  <a:tcPr anchor="ctr" anchorCtr="1"/>
                </a:tc>
                <a:tc gridSpan="2"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责任人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注意事项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102721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立项建议报告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产品经理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</a:p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架构师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项目经理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注意要</a:t>
                      </a: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按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照</a:t>
                      </a:r>
                      <a:r>
                        <a:rPr lang="zh-CN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三大主线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进行布局，立项汇报时也是按照三大主线进行；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报告分几种方案 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，分析优缺点；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注意格式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、模板；</a:t>
                      </a:r>
                      <a:endParaRPr lang="zh-CN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确认好开发范围；</a:t>
                      </a:r>
                      <a:endParaRPr lang="zh-CN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商业计划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投资管理团队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需求实现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产品开发团队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项目管理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项目管理团队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70763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估算报告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项目经理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开发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物料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通用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物料</a:t>
                      </a:r>
                      <a:endParaRPr lang="zh-CN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人力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/NRE</a:t>
                      </a:r>
                    </a:p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测试费用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认证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运费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按照模板进行，便于统计项目里的不同机型、不同阶段费用；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新一代的大项目，会有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CPU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运费，预留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15-20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万。</a:t>
                      </a: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41039119"/>
                  </a:ext>
                </a:extLst>
              </a:tr>
              <a:tr h="22827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立项建议书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产品经理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06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立项检查表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项目经理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申请立项前，审查产品经理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的文件、内容是否齐全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项目任务书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产品经理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TR1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DQA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TR1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产品需求评审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TR2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DQA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TR2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系统总体方案评审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DCP1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项目经理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立项评审报告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爆炸形 2 1"/>
          <p:cNvSpPr/>
          <p:nvPr/>
        </p:nvSpPr>
        <p:spPr>
          <a:xfrm>
            <a:off x="5704762" y="579072"/>
            <a:ext cx="2743199" cy="791570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三大主线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338899"/>
              </p:ext>
            </p:extLst>
          </p:nvPr>
        </p:nvGraphicFramePr>
        <p:xfrm>
          <a:off x="11341290" y="3021621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Worksheet" showAsIcon="1" r:id="rId4" imgW="914400" imgH="828720" progId="Excel.Sheet.12">
                  <p:embed/>
                </p:oleObj>
              </mc:Choice>
              <mc:Fallback>
                <p:oleObj name="Worksheet" showAsIcon="1" r:id="rId4" imgW="914400" imgH="82872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41290" y="3021621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4172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预研阶段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—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lt"/>
              </a:rPr>
              <a:t>主要工作及输出物汇总</a:t>
            </a:r>
          </a:p>
        </p:txBody>
      </p:sp>
      <p:graphicFrame>
        <p:nvGraphicFramePr>
          <p:cNvPr id="94" name="表格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574008"/>
              </p:ext>
            </p:extLst>
          </p:nvPr>
        </p:nvGraphicFramePr>
        <p:xfrm>
          <a:off x="580288" y="836712"/>
          <a:ext cx="10119557" cy="57169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3480">
                  <a:extLst>
                    <a:ext uri="{9D8B030D-6E8A-4147-A177-3AD203B41FA5}">
                      <a16:colId xmlns:a16="http://schemas.microsoft.com/office/drawing/2014/main" val="1503978168"/>
                    </a:ext>
                  </a:extLst>
                </a:gridCol>
                <a:gridCol w="5576281">
                  <a:extLst>
                    <a:ext uri="{9D8B030D-6E8A-4147-A177-3AD203B41FA5}">
                      <a16:colId xmlns:a16="http://schemas.microsoft.com/office/drawing/2014/main" val="1193865247"/>
                    </a:ext>
                  </a:extLst>
                </a:gridCol>
                <a:gridCol w="2789796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</a:tblGrid>
              <a:tr h="3189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岗位名称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工作内容</a:t>
                      </a:r>
                      <a:r>
                        <a:rPr lang="en-US" altLang="zh-CN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参与人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输出物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6615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  <a:cs typeface="+mn-ea"/>
                          <a:sym typeface="+mn-lt"/>
                        </a:rPr>
                        <a:t>项目经理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预立项材料审核；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项目估算；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组织（预）立项评审；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项目估算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会议纪要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会议结论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6615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  <a:cs typeface="+mn-ea"/>
                          <a:sym typeface="+mn-lt"/>
                        </a:rPr>
                        <a:t>市场代表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提交预立项申请；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编制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MRD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提交立项建议书；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提交立项申请；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立项申请书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立项建议书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立项建议报告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  <a:cs typeface="+mn-ea"/>
                          <a:sym typeface="+mn-lt"/>
                        </a:rPr>
                        <a:t>产品工程师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编制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PRD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提供典型配置及通用物料清单；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典型配置及通用物料清单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94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  <a:cs typeface="+mn-ea"/>
                          <a:sym typeface="+mn-lt"/>
                        </a:rPr>
                        <a:t>系统架构师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需求可行性分析；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技术可行性分析；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问题及风险分析；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竞争对手分析；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构思多重概念；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形成系统总体方案；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系统总体方案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1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  <a:cs typeface="+mn-ea"/>
                          <a:sym typeface="+mn-lt"/>
                        </a:rPr>
                        <a:t>研发代表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子系统技术可行性分析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---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5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  <a:cs typeface="+mn-ea"/>
                          <a:sym typeface="+mn-lt"/>
                        </a:rPr>
                        <a:t>TPM/</a:t>
                      </a:r>
                      <a:r>
                        <a:rPr lang="zh-CN" altLang="en-US" sz="1400" dirty="0">
                          <a:latin typeface="+mn-ea"/>
                          <a:ea typeface="+mn-ea"/>
                          <a:cs typeface="+mn-ea"/>
                          <a:sym typeface="+mn-lt"/>
                        </a:rPr>
                        <a:t>测试代表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测试可行性分析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---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  <a:cs typeface="+mn-ea"/>
                          <a:sym typeface="+mn-lt"/>
                        </a:rPr>
                        <a:t>生产制造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生产可行性分析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---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  <a:cs typeface="+mn-ea"/>
                          <a:sym typeface="+mn-lt"/>
                        </a:rPr>
                        <a:t>解决方案</a:t>
                      </a:r>
                      <a:endParaRPr lang="en-US" altLang="zh-CN" sz="14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  <a:cs typeface="+mn-ea"/>
                          <a:sym typeface="+mn-lt"/>
                        </a:rPr>
                        <a:t>技术支持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产品可维护性分析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---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209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L3 </a:t>
            </a:r>
            <a:r>
              <a:rPr lang="zh-CN" altLang="en-US" dirty="0"/>
              <a:t>立项筹备</a:t>
            </a:r>
          </a:p>
        </p:txBody>
      </p:sp>
      <p:sp>
        <p:nvSpPr>
          <p:cNvPr id="38" name="Line 9"/>
          <p:cNvSpPr>
            <a:spLocks noChangeShapeType="1"/>
          </p:cNvSpPr>
          <p:nvPr/>
        </p:nvSpPr>
        <p:spPr bwMode="auto">
          <a:xfrm flipV="1">
            <a:off x="8230656" y="4171581"/>
            <a:ext cx="0" cy="1203122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6259AFE-8C91-491C-BCA7-C96E7D0D2E75}"/>
              </a:ext>
            </a:extLst>
          </p:cNvPr>
          <p:cNvGrpSpPr/>
          <p:nvPr/>
        </p:nvGrpSpPr>
        <p:grpSpPr>
          <a:xfrm>
            <a:off x="16918" y="3091236"/>
            <a:ext cx="11968805" cy="978416"/>
            <a:chOff x="56601" y="2982732"/>
            <a:chExt cx="11968805" cy="978416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910CCD9A-183E-407D-AECB-78E5F5BB75ED}"/>
                </a:ext>
              </a:extLst>
            </p:cNvPr>
            <p:cNvGrpSpPr/>
            <p:nvPr/>
          </p:nvGrpSpPr>
          <p:grpSpPr>
            <a:xfrm>
              <a:off x="56601" y="2982732"/>
              <a:ext cx="11968805" cy="972438"/>
              <a:chOff x="-670883" y="2982762"/>
              <a:chExt cx="11862700" cy="954428"/>
            </a:xfrm>
          </p:grpSpPr>
          <p:grpSp>
            <p:nvGrpSpPr>
              <p:cNvPr id="48" name="组合 47"/>
              <p:cNvGrpSpPr/>
              <p:nvPr/>
            </p:nvGrpSpPr>
            <p:grpSpPr>
              <a:xfrm>
                <a:off x="-670883" y="2982762"/>
                <a:ext cx="4386881" cy="952803"/>
                <a:chOff x="-1515345" y="2352956"/>
                <a:chExt cx="3422953" cy="798390"/>
              </a:xfrm>
            </p:grpSpPr>
            <p:sp>
              <p:nvSpPr>
                <p:cNvPr id="61" name="AutoShape 15"/>
                <p:cNvSpPr>
                  <a:spLocks noChangeArrowheads="1"/>
                </p:cNvSpPr>
                <p:nvPr/>
              </p:nvSpPr>
              <p:spPr bwMode="auto">
                <a:xfrm>
                  <a:off x="-1515345" y="2352956"/>
                  <a:ext cx="1414678" cy="798390"/>
                </a:xfrm>
                <a:prstGeom prst="homePlate">
                  <a:avLst>
                    <a:gd name="adj" fmla="val 33678"/>
                  </a:avLst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zh-CN" altLang="en-US" sz="2000" b="1" kern="0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预立项申请</a:t>
                  </a:r>
                </a:p>
              </p:txBody>
            </p:sp>
            <p:sp>
              <p:nvSpPr>
                <p:cNvPr id="62" name="WordArt 20"/>
                <p:cNvSpPr>
                  <a:spLocks noChangeArrowheads="1" noChangeShapeType="1"/>
                </p:cNvSpPr>
                <p:nvPr/>
              </p:nvSpPr>
              <p:spPr bwMode="auto">
                <a:xfrm>
                  <a:off x="1043608" y="2591511"/>
                  <a:ext cx="864000" cy="324000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/>
                <a:lstStyle/>
                <a:p>
                  <a:pPr algn="ctr">
                    <a:defRPr/>
                  </a:pPr>
                  <a:r>
                    <a:rPr lang="en-US" altLang="zh-CN" sz="1867" b="1" kern="0" dirty="0">
                      <a:ln w="9525" cmpd="sng">
                        <a:noFill/>
                        <a:round/>
                      </a:ln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SIT</a:t>
                  </a:r>
                  <a:endParaRPr lang="zh-CN" altLang="en-US" sz="1867" b="1" kern="0" dirty="0">
                    <a:ln w="9525" cmpd="sng">
                      <a:noFill/>
                      <a:round/>
                    </a:ln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4081011" y="2984387"/>
                <a:ext cx="1901439" cy="952803"/>
                <a:chOff x="2229248" y="2354318"/>
                <a:chExt cx="1483636" cy="798390"/>
              </a:xfrm>
            </p:grpSpPr>
            <p:sp>
              <p:nvSpPr>
                <p:cNvPr id="59" name="AutoShape 16"/>
                <p:cNvSpPr>
                  <a:spLocks noChangeArrowheads="1"/>
                </p:cNvSpPr>
                <p:nvPr/>
              </p:nvSpPr>
              <p:spPr bwMode="auto">
                <a:xfrm>
                  <a:off x="2229248" y="2354318"/>
                  <a:ext cx="1483636" cy="798390"/>
                </a:xfrm>
                <a:prstGeom prst="chevron">
                  <a:avLst>
                    <a:gd name="adj" fmla="val 33678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 kern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" name="WordArt 21"/>
                <p:cNvSpPr>
                  <a:spLocks noChangeArrowheads="1" noChangeShapeType="1"/>
                </p:cNvSpPr>
                <p:nvPr/>
              </p:nvSpPr>
              <p:spPr bwMode="auto">
                <a:xfrm>
                  <a:off x="2581479" y="2509676"/>
                  <a:ext cx="864000" cy="324000"/>
                </a:xfrm>
                <a:prstGeom prst="rect">
                  <a:avLst/>
                </a:prstGeom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/>
                <a:lstStyle/>
                <a:p>
                  <a:pPr algn="ctr" defTabSz="914377"/>
                  <a:r>
                    <a:rPr lang="zh-CN" altLang="en-US" sz="20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系统方案</a:t>
                  </a:r>
                  <a:endPara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77"/>
                  <a:r>
                    <a:rPr lang="zh-CN" altLang="en-US" sz="20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项目估算</a:t>
                  </a: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5712509" y="2984385"/>
                <a:ext cx="2006411" cy="952803"/>
                <a:chOff x="3501870" y="2354316"/>
                <a:chExt cx="1565543" cy="798390"/>
              </a:xfrm>
            </p:grpSpPr>
            <p:sp>
              <p:nvSpPr>
                <p:cNvPr id="57" name="AutoShape 17"/>
                <p:cNvSpPr>
                  <a:spLocks noChangeArrowheads="1"/>
                </p:cNvSpPr>
                <p:nvPr/>
              </p:nvSpPr>
              <p:spPr bwMode="auto">
                <a:xfrm>
                  <a:off x="3501870" y="2354316"/>
                  <a:ext cx="1565543" cy="798390"/>
                </a:xfrm>
                <a:prstGeom prst="chevron">
                  <a:avLst>
                    <a:gd name="adj" fmla="val 33678"/>
                  </a:avLst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 kern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8" name="WordArt 22"/>
                <p:cNvSpPr>
                  <a:spLocks noChangeArrowheads="1" noChangeShapeType="1"/>
                </p:cNvSpPr>
                <p:nvPr/>
              </p:nvSpPr>
              <p:spPr bwMode="auto">
                <a:xfrm>
                  <a:off x="3868142" y="2591511"/>
                  <a:ext cx="864000" cy="324000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/>
                <a:lstStyle/>
                <a:p>
                  <a:pPr algn="ctr">
                    <a:defRPr/>
                  </a:pPr>
                  <a:r>
                    <a:rPr lang="zh-CN" altLang="en-US" sz="2000" b="1" kern="0" dirty="0">
                      <a:ln w="9525" cmpd="sng">
                        <a:noFill/>
                        <a:round/>
                      </a:ln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立项建议报告</a:t>
                  </a: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7448962" y="2984385"/>
                <a:ext cx="2006411" cy="952803"/>
                <a:chOff x="4837779" y="2354316"/>
                <a:chExt cx="1565543" cy="798390"/>
              </a:xfrm>
            </p:grpSpPr>
            <p:sp>
              <p:nvSpPr>
                <p:cNvPr id="55" name="AutoShape 18"/>
                <p:cNvSpPr>
                  <a:spLocks noChangeArrowheads="1"/>
                </p:cNvSpPr>
                <p:nvPr/>
              </p:nvSpPr>
              <p:spPr bwMode="auto">
                <a:xfrm>
                  <a:off x="4837779" y="2354316"/>
                  <a:ext cx="1565543" cy="798390"/>
                </a:xfrm>
                <a:prstGeom prst="chevron">
                  <a:avLst>
                    <a:gd name="adj" fmla="val 33678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 kern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6" name="WordArt 23"/>
                <p:cNvSpPr>
                  <a:spLocks noChangeArrowheads="1" noChangeShapeType="1"/>
                </p:cNvSpPr>
                <p:nvPr/>
              </p:nvSpPr>
              <p:spPr bwMode="auto">
                <a:xfrm>
                  <a:off x="5208350" y="2579917"/>
                  <a:ext cx="864000" cy="324000"/>
                </a:xfrm>
                <a:prstGeom prst="rect">
                  <a:avLst/>
                </a:prstGeom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/>
                <a:lstStyle/>
                <a:p>
                  <a:pPr algn="ctr" defTabSz="914377"/>
                  <a:r>
                    <a:rPr lang="zh-CN" altLang="en-US" sz="1867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立项申请</a:t>
                  </a: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9185406" y="2984385"/>
                <a:ext cx="2006411" cy="952803"/>
                <a:chOff x="6175239" y="2354316"/>
                <a:chExt cx="1565543" cy="798390"/>
              </a:xfrm>
            </p:grpSpPr>
            <p:sp>
              <p:nvSpPr>
                <p:cNvPr id="53" name="AutoShape 19"/>
                <p:cNvSpPr>
                  <a:spLocks noChangeArrowheads="1"/>
                </p:cNvSpPr>
                <p:nvPr/>
              </p:nvSpPr>
              <p:spPr bwMode="auto">
                <a:xfrm>
                  <a:off x="6175239" y="2354316"/>
                  <a:ext cx="1565543" cy="798390"/>
                </a:xfrm>
                <a:prstGeom prst="chevron">
                  <a:avLst>
                    <a:gd name="adj" fmla="val 33678"/>
                  </a:avLst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 kern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4" name="WordArt 23"/>
                <p:cNvSpPr>
                  <a:spLocks noChangeArrowheads="1" noChangeShapeType="1"/>
                </p:cNvSpPr>
                <p:nvPr/>
              </p:nvSpPr>
              <p:spPr bwMode="auto">
                <a:xfrm>
                  <a:off x="6579343" y="2591511"/>
                  <a:ext cx="864000" cy="324000"/>
                </a:xfrm>
                <a:prstGeom prst="rect">
                  <a:avLst/>
                </a:prstGeom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/>
                <a:lstStyle/>
                <a:p>
                  <a:pPr algn="ctr" defTabSz="914377"/>
                  <a:r>
                    <a:rPr lang="zh-CN" altLang="en-US" sz="20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立项会</a:t>
                  </a:r>
                </a:p>
              </p:txBody>
            </p:sp>
          </p:grpSp>
        </p:grpSp>
        <p:sp>
          <p:nvSpPr>
            <p:cNvPr id="46" name="AutoShape 16">
              <a:extLst>
                <a:ext uri="{FF2B5EF4-FFF2-40B4-BE49-F238E27FC236}">
                  <a16:creationId xmlns:a16="http://schemas.microsoft.com/office/drawing/2014/main" id="{956A46C9-F0E2-4B96-BE9F-EC6029372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108" y="2990366"/>
              <a:ext cx="1932855" cy="970782"/>
            </a:xfrm>
            <a:prstGeom prst="chevron">
              <a:avLst>
                <a:gd name="adj" fmla="val 3367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创建预立项</a:t>
              </a:r>
              <a:endParaRPr lang="en-US" altLang="zh-CN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空间、</a:t>
              </a:r>
              <a:r>
                <a:rPr lang="en-US" altLang="zh-CN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WBS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AutoShape 17">
              <a:extLst>
                <a:ext uri="{FF2B5EF4-FFF2-40B4-BE49-F238E27FC236}">
                  <a16:creationId xmlns:a16="http://schemas.microsoft.com/office/drawing/2014/main" id="{37F5D733-C427-4CE2-B8F7-011EAE401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9813" y="2990366"/>
              <a:ext cx="1894479" cy="970782"/>
            </a:xfrm>
            <a:prstGeom prst="chevron">
              <a:avLst>
                <a:gd name="adj" fmla="val 33678"/>
              </a:avLst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PRD</a:t>
              </a: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、典配、</a:t>
              </a:r>
              <a:endParaRPr lang="en-US" altLang="zh-CN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通用物料</a:t>
              </a:r>
              <a:endParaRPr lang="en-US" altLang="zh-CN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5" name="TextBox 11">
            <a:extLst>
              <a:ext uri="{FF2B5EF4-FFF2-40B4-BE49-F238E27FC236}">
                <a16:creationId xmlns:a16="http://schemas.microsoft.com/office/drawing/2014/main" id="{2B7AA59A-9B3B-461D-9A1D-F2C7F7C9FAF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066772" y="2406252"/>
            <a:ext cx="2055902" cy="7571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zh-CN" sz="1200" dirty="0"/>
              <a:t>准入条件（</a:t>
            </a:r>
            <a:r>
              <a:rPr lang="en-US" altLang="zh-CN" sz="1200" dirty="0"/>
              <a:t>PM</a:t>
            </a:r>
            <a:r>
              <a:rPr lang="zh-CN" altLang="zh-CN" sz="1200" dirty="0"/>
              <a:t>检查）立项检查表</a:t>
            </a:r>
            <a:endParaRPr lang="en-US" altLang="zh-CN" sz="1200" dirty="0"/>
          </a:p>
          <a:p>
            <a:pPr lvl="0" eaLnBrk="1" hangingPunct="1">
              <a:lnSpc>
                <a:spcPct val="120000"/>
              </a:lnSpc>
              <a:defRPr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Line 9">
            <a:extLst>
              <a:ext uri="{FF2B5EF4-FFF2-40B4-BE49-F238E27FC236}">
                <a16:creationId xmlns:a16="http://schemas.microsoft.com/office/drawing/2014/main" id="{ED28694C-EBFE-4412-9851-554524AA7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61364" y="1885391"/>
            <a:ext cx="1" cy="1102238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Line 9">
            <a:extLst>
              <a:ext uri="{FF2B5EF4-FFF2-40B4-BE49-F238E27FC236}">
                <a16:creationId xmlns:a16="http://schemas.microsoft.com/office/drawing/2014/main" id="{B1470A1F-A1F4-4798-87B0-B4CAC27F6D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3369" y="1885392"/>
            <a:ext cx="0" cy="1102238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11">
            <a:extLst>
              <a:ext uri="{FF2B5EF4-FFF2-40B4-BE49-F238E27FC236}">
                <a16:creationId xmlns:a16="http://schemas.microsoft.com/office/drawing/2014/main" id="{ADACE828-0663-44D1-9F97-230FB41314E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287632" y="2249286"/>
            <a:ext cx="2173841" cy="3139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20000"/>
              </a:lnSpc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通用物料带料号！！！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Line 9">
            <a:extLst>
              <a:ext uri="{FF2B5EF4-FFF2-40B4-BE49-F238E27FC236}">
                <a16:creationId xmlns:a16="http://schemas.microsoft.com/office/drawing/2014/main" id="{E5C3C3DE-DA22-432A-A3C9-E09C01CF19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0130" y="1973768"/>
            <a:ext cx="0" cy="1013862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Box 11">
            <a:extLst>
              <a:ext uri="{FF2B5EF4-FFF2-40B4-BE49-F238E27FC236}">
                <a16:creationId xmlns:a16="http://schemas.microsoft.com/office/drawing/2014/main" id="{BB04D9D2-A56F-466F-B2C4-D843D0CD9F7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310059" y="4237960"/>
            <a:ext cx="3739510" cy="184313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sz="1200" dirty="0"/>
              <a:t>说明：</a:t>
            </a:r>
            <a:br>
              <a:rPr lang="zh-CN" altLang="en-US" sz="1200" dirty="0"/>
            </a:br>
            <a:r>
              <a:rPr lang="zh-CN" altLang="en-US" sz="1200" dirty="0"/>
              <a:t>一、申请人需提交立项建议书、立项建议报告及</a:t>
            </a:r>
            <a:r>
              <a:rPr lang="en-US" altLang="zh-CN" sz="1200" dirty="0"/>
              <a:t>PRD;</a:t>
            </a:r>
            <a:br>
              <a:rPr lang="en-US" altLang="zh-CN" sz="1200" dirty="0"/>
            </a:br>
            <a:r>
              <a:rPr lang="en-US" altLang="zh-CN" sz="1200" dirty="0"/>
              <a:t>1. </a:t>
            </a:r>
            <a:r>
              <a:rPr lang="zh-CN" altLang="en-US" sz="1200" dirty="0"/>
              <a:t>已经预立项项目申请人需在参考文档中，添加现有项：立项建议书及立项建议报告；</a:t>
            </a:r>
            <a:br>
              <a:rPr lang="zh-CN" altLang="en-US" sz="1200" dirty="0"/>
            </a:br>
            <a:r>
              <a:rPr lang="en-US" altLang="zh-CN" sz="1200" dirty="0"/>
              <a:t>2. </a:t>
            </a:r>
            <a:r>
              <a:rPr lang="zh-CN" altLang="en-US" sz="1200" dirty="0"/>
              <a:t>未进行预立项项目，申请人需创建文档：立项建议书及立项建议报告；</a:t>
            </a:r>
            <a:br>
              <a:rPr lang="zh-CN" altLang="en-US" sz="1200" dirty="0"/>
            </a:br>
            <a:r>
              <a:rPr lang="en-US" altLang="zh-CN" sz="1200" dirty="0"/>
              <a:t>3. </a:t>
            </a:r>
            <a:r>
              <a:rPr lang="zh-CN" altLang="en-US" sz="1200" dirty="0"/>
              <a:t>相关产品要求</a:t>
            </a:r>
            <a:r>
              <a:rPr lang="en-US" altLang="zh-CN" sz="1200" dirty="0"/>
              <a:t>PRD</a:t>
            </a:r>
            <a:r>
              <a:rPr lang="zh-CN" altLang="en-US" sz="1200" dirty="0"/>
              <a:t>已经发布；</a:t>
            </a:r>
            <a:br>
              <a:rPr lang="zh-CN" altLang="en-US" sz="1200" dirty="0"/>
            </a:br>
            <a:r>
              <a:rPr lang="zh-CN" altLang="en-US" sz="1200" dirty="0"/>
              <a:t>二、项目经理审批时需上传立项评审报告。</a:t>
            </a:r>
          </a:p>
        </p:txBody>
      </p:sp>
      <p:sp>
        <p:nvSpPr>
          <p:cNvPr id="72" name="Line 9">
            <a:extLst>
              <a:ext uri="{FF2B5EF4-FFF2-40B4-BE49-F238E27FC236}">
                <a16:creationId xmlns:a16="http://schemas.microsoft.com/office/drawing/2014/main" id="{87DA91EA-2439-4349-8AAB-E27476852D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1315" y="4160948"/>
            <a:ext cx="14579" cy="887483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11">
            <a:extLst>
              <a:ext uri="{FF2B5EF4-FFF2-40B4-BE49-F238E27FC236}">
                <a16:creationId xmlns:a16="http://schemas.microsoft.com/office/drawing/2014/main" id="{8D837EB7-490C-4CAA-9D72-20196CCC006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005188" y="4291301"/>
            <a:ext cx="2173841" cy="7571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zh-CN" sz="1200" dirty="0"/>
              <a:t>和资源组长确认资源保证，统计人力及物料</a:t>
            </a:r>
            <a:r>
              <a:rPr lang="zh-CN" altLang="en-US" sz="1200" dirty="0"/>
              <a:t>需求，确认测试地点。</a:t>
            </a:r>
            <a:endParaRPr lang="en-US" altLang="zh-CN" sz="1200" dirty="0"/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2B7AA59A-9B3B-461D-9A1D-F2C7F7C9FAF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923369" y="2333981"/>
            <a:ext cx="2055902" cy="29315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sz="1200" dirty="0"/>
              <a:t>预立项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651107"/>
              </p:ext>
            </p:extLst>
          </p:nvPr>
        </p:nvGraphicFramePr>
        <p:xfrm>
          <a:off x="10631974" y="1703503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Worksheet" showAsIcon="1" r:id="rId4" imgW="914400" imgH="828720" progId="Excel.Sheet.12">
                  <p:embed/>
                </p:oleObj>
              </mc:Choice>
              <mc:Fallback>
                <p:oleObj name="Worksheet" showAsIcon="1" r:id="rId4" imgW="914400" imgH="82872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31974" y="1703503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5702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L3 </a:t>
            </a:r>
            <a:r>
              <a:rPr lang="zh-CN" altLang="en-US" dirty="0"/>
              <a:t>立项筹备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76" y="1504060"/>
            <a:ext cx="6962447" cy="184788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281" y="1504060"/>
            <a:ext cx="3770041" cy="46383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92276" y="4307080"/>
            <a:ext cx="6272614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svn://10.0.20.234:3691/Pro_act/07-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模板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项目管理模板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http://oa.sugon.com/Produce/homepage.nsf/vwHomePage/default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164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869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OTHERS"/>
  <p:tag name="ID" val="6267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ENTRY"/>
  <p:tag name="ID" val="626781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OTHERS"/>
  <p:tag name="ID" val="6267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OTHERS"/>
  <p:tag name="ID" val="6267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ENTRY"/>
  <p:tag name="ID" val="626781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NUMBER"/>
  <p:tag name="ID" val="626781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NUMBER"/>
  <p:tag name="ID" val="626781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NUMBER"/>
  <p:tag name="ID" val="626781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406221723"/>
  <p:tag name="MH_LIBRARY" val="CONTENTS"/>
  <p:tag name="MH_TYPE" val="ENTRY"/>
  <p:tag name="ID" val="626781"/>
  <p:tag name="MH_ORDER" val="1"/>
</p:tagLst>
</file>

<file path=ppt/theme/theme1.xml><?xml version="1.0" encoding="utf-8"?>
<a:theme xmlns:a="http://schemas.openxmlformats.org/drawingml/2006/main" name="演示文稿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演示文稿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nscpaj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6139</TotalTime>
  <Words>904</Words>
  <Application>Microsoft Office PowerPoint</Application>
  <PresentationFormat>宽屏</PresentationFormat>
  <Paragraphs>178</Paragraphs>
  <Slides>15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等线</vt:lpstr>
      <vt:lpstr>宋体</vt:lpstr>
      <vt:lpstr>微软雅黑</vt:lpstr>
      <vt:lpstr>Arial</vt:lpstr>
      <vt:lpstr>Calibri</vt:lpstr>
      <vt:lpstr>Impact</vt:lpstr>
      <vt:lpstr>演示文稿2</vt:lpstr>
      <vt:lpstr>1_演示文稿2</vt:lpstr>
      <vt:lpstr>Microsoft Excel 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le</dc:creator>
  <cp:lastModifiedBy>chenxu</cp:lastModifiedBy>
  <cp:revision>538</cp:revision>
  <dcterms:created xsi:type="dcterms:W3CDTF">2020-03-26T01:15:10Z</dcterms:created>
  <dcterms:modified xsi:type="dcterms:W3CDTF">2026-05-28T10:01:07Z</dcterms:modified>
</cp:coreProperties>
</file>