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15"/>
  </p:notesMasterIdLst>
  <p:handoutMasterIdLst>
    <p:handoutMasterId r:id="rId16"/>
  </p:handoutMasterIdLst>
  <p:sldIdLst>
    <p:sldId id="266" r:id="rId3"/>
    <p:sldId id="279" r:id="rId4"/>
    <p:sldId id="428" r:id="rId5"/>
    <p:sldId id="429" r:id="rId6"/>
    <p:sldId id="297" r:id="rId7"/>
    <p:sldId id="301" r:id="rId8"/>
    <p:sldId id="430" r:id="rId9"/>
    <p:sldId id="432" r:id="rId10"/>
    <p:sldId id="433" r:id="rId11"/>
    <p:sldId id="431" r:id="rId12"/>
    <p:sldId id="434" r:id="rId13"/>
    <p:sldId id="258" r:id="rId14"/>
  </p:sldIdLst>
  <p:sldSz cx="9144000" cy="5143500" type="screen16x9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2630"/>
    <a:srgbClr val="AD2830"/>
    <a:srgbClr val="E8D0D0"/>
    <a:srgbClr val="E4E4E4"/>
    <a:srgbClr val="1C83CD"/>
    <a:srgbClr val="C5EEFF"/>
    <a:srgbClr val="0AB156"/>
    <a:srgbClr val="999A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0504" autoAdjust="0"/>
  </p:normalViewPr>
  <p:slideViewPr>
    <p:cSldViewPr>
      <p:cViewPr varScale="1">
        <p:scale>
          <a:sx n="132" d="100"/>
          <a:sy n="132" d="100"/>
        </p:scale>
        <p:origin x="936" y="108"/>
      </p:cViewPr>
      <p:guideLst>
        <p:guide orient="horz" pos="157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0" d="100"/>
          <a:sy n="90" d="100"/>
        </p:scale>
        <p:origin x="-334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2FBB5D-0C1C-497E-BD7E-24D3D9BAA953}" type="doc">
      <dgm:prSet loTypeId="urn:microsoft.com/office/officeart/2005/8/layout/radial5" loCatId="relationship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89F8AABF-8A3D-4739-95A2-52E69F3C77B4}">
      <dgm:prSet phldrT="[文本]" custT="1"/>
      <dgm:spPr/>
      <dgm:t>
        <a:bodyPr/>
        <a:lstStyle/>
        <a:p>
          <a:r>
            <a:rPr lang="zh-CN" altLang="en-US" sz="2400"/>
            <a:t>条件</a:t>
          </a:r>
          <a:endParaRPr lang="zh-CN" altLang="en-US" sz="2400" dirty="0"/>
        </a:p>
      </dgm:t>
    </dgm:pt>
    <dgm:pt modelId="{D63B64C8-A34D-47AF-82D7-FECBBE476ADB}" type="parTrans" cxnId="{D4C92FE6-9737-4FC9-8562-C097A6526E47}">
      <dgm:prSet/>
      <dgm:spPr/>
      <dgm:t>
        <a:bodyPr/>
        <a:lstStyle/>
        <a:p>
          <a:endParaRPr lang="zh-CN" altLang="en-US"/>
        </a:p>
      </dgm:t>
    </dgm:pt>
    <dgm:pt modelId="{5F669249-EFC9-4503-B010-EE9E5E5665E5}" type="sibTrans" cxnId="{D4C92FE6-9737-4FC9-8562-C097A6526E47}">
      <dgm:prSet/>
      <dgm:spPr/>
      <dgm:t>
        <a:bodyPr/>
        <a:lstStyle/>
        <a:p>
          <a:endParaRPr lang="zh-CN" altLang="en-US"/>
        </a:p>
      </dgm:t>
    </dgm:pt>
    <dgm:pt modelId="{FD4D26B7-0D0F-483B-A53E-C92C816868B0}">
      <dgm:prSet phldrT="[文本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zh-CN" altLang="en-US" sz="900" dirty="0">
              <a:solidFill>
                <a:schemeClr val="bg1"/>
              </a:solidFill>
              <a:latin typeface="+mn-ea"/>
            </a:rPr>
            <a:t>项目目标成功实现；</a:t>
          </a:r>
          <a:endParaRPr lang="en-US" altLang="zh-CN" sz="900" dirty="0">
            <a:solidFill>
              <a:schemeClr val="bg1"/>
            </a:solidFill>
            <a:latin typeface="+mn-ea"/>
          </a:endParaRPr>
        </a:p>
        <a:p>
          <a:pPr>
            <a:buFont typeface="Wingdings" panose="05000000000000000000" pitchFamily="2" charset="2"/>
            <a:buChar char="Ø"/>
          </a:pPr>
          <a:r>
            <a:rPr lang="zh-CN" altLang="en-US" sz="900" dirty="0">
              <a:solidFill>
                <a:schemeClr val="bg1"/>
              </a:solidFill>
              <a:latin typeface="+mn-ea"/>
            </a:rPr>
            <a:t>项目成果已移交给发起人或第三方；</a:t>
          </a:r>
          <a:endParaRPr lang="zh-CN" altLang="en-US" sz="900" dirty="0">
            <a:solidFill>
              <a:schemeClr val="bg1"/>
            </a:solidFill>
          </a:endParaRPr>
        </a:p>
      </dgm:t>
    </dgm:pt>
    <dgm:pt modelId="{0CFF3132-25E1-4A69-83EC-3654B0899D0E}" type="sibTrans" cxnId="{EB364DF8-9146-4D52-B336-EB0C9F823227}">
      <dgm:prSet/>
      <dgm:spPr/>
      <dgm:t>
        <a:bodyPr/>
        <a:lstStyle/>
        <a:p>
          <a:endParaRPr lang="zh-CN" altLang="en-US"/>
        </a:p>
      </dgm:t>
    </dgm:pt>
    <dgm:pt modelId="{C4F06D04-4FB1-4712-80FF-158ACF315060}" type="parTrans" cxnId="{EB364DF8-9146-4D52-B336-EB0C9F823227}">
      <dgm:prSet/>
      <dgm:spPr/>
      <dgm:t>
        <a:bodyPr/>
        <a:lstStyle/>
        <a:p>
          <a:endParaRPr lang="zh-CN" altLang="en-US"/>
        </a:p>
      </dgm:t>
    </dgm:pt>
    <dgm:pt modelId="{9CD70C7F-41F6-4E15-8F18-F779BB151B60}">
      <dgm:prSet phldrT="[文本]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zh-CN" altLang="en-US"/>
            <a:t>事业环境因素限制导致项目无法进行；</a:t>
          </a:r>
          <a:endParaRPr lang="zh-CN" altLang="en-US" dirty="0"/>
        </a:p>
      </dgm:t>
    </dgm:pt>
    <dgm:pt modelId="{66DD9CE1-BE96-4E92-B6F0-88673745BFEB}" type="sibTrans" cxnId="{A70C96B5-5EA1-4DF1-9EE9-7CA7C744E105}">
      <dgm:prSet/>
      <dgm:spPr/>
      <dgm:t>
        <a:bodyPr/>
        <a:lstStyle/>
        <a:p>
          <a:endParaRPr lang="zh-CN" altLang="en-US"/>
        </a:p>
      </dgm:t>
    </dgm:pt>
    <dgm:pt modelId="{A1815624-5604-4A6B-9570-5B1BAED2FA02}" type="parTrans" cxnId="{A70C96B5-5EA1-4DF1-9EE9-7CA7C744E105}">
      <dgm:prSet/>
      <dgm:spPr/>
      <dgm:t>
        <a:bodyPr/>
        <a:lstStyle/>
        <a:p>
          <a:endParaRPr lang="zh-CN" altLang="en-US"/>
        </a:p>
      </dgm:t>
    </dgm:pt>
    <dgm:pt modelId="{D4FE8C92-2256-4A78-8F29-335561795F6F}">
      <dgm:prSet phldrT="[文本]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zh-CN" altLang="en-US" dirty="0">
              <a:latin typeface="+mn-ea"/>
            </a:rPr>
            <a:t>严重偏离进度、成本和性能，既定的项目目标无法实现；</a:t>
          </a:r>
          <a:endParaRPr lang="en-US" altLang="zh-CN" dirty="0">
            <a:latin typeface="+mn-ea"/>
          </a:endParaRPr>
        </a:p>
        <a:p>
          <a:pPr>
            <a:buFont typeface="Wingdings" panose="05000000000000000000" pitchFamily="2" charset="2"/>
            <a:buChar char="Ø"/>
          </a:pPr>
          <a:r>
            <a:rPr lang="zh-CN" altLang="en-US" dirty="0">
              <a:latin typeface="+mn-ea"/>
            </a:rPr>
            <a:t>发起人战略改变，停止项目</a:t>
          </a:r>
          <a:endParaRPr lang="zh-CN" altLang="en-US" dirty="0"/>
        </a:p>
      </dgm:t>
    </dgm:pt>
    <dgm:pt modelId="{2EBEA635-8A25-4418-87A4-EBC7CE1BC68C}" type="sibTrans" cxnId="{2EE89A1E-3520-422D-A790-66D874D07988}">
      <dgm:prSet/>
      <dgm:spPr/>
      <dgm:t>
        <a:bodyPr/>
        <a:lstStyle/>
        <a:p>
          <a:endParaRPr lang="zh-CN" altLang="en-US"/>
        </a:p>
      </dgm:t>
    </dgm:pt>
    <dgm:pt modelId="{4D7C688C-C3E9-43AC-ACCF-FE368AF5818E}" type="parTrans" cxnId="{2EE89A1E-3520-422D-A790-66D874D07988}">
      <dgm:prSet/>
      <dgm:spPr/>
      <dgm:t>
        <a:bodyPr/>
        <a:lstStyle/>
        <a:p>
          <a:endParaRPr lang="zh-CN" altLang="en-US"/>
        </a:p>
      </dgm:t>
    </dgm:pt>
    <dgm:pt modelId="{A7D87889-D21F-4418-A4E9-85978292B646}" type="pres">
      <dgm:prSet presAssocID="{B12FBB5D-0C1C-497E-BD7E-24D3D9BAA95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20EA665-A5CE-4FDE-B475-F73893108BA2}" type="pres">
      <dgm:prSet presAssocID="{89F8AABF-8A3D-4739-95A2-52E69F3C77B4}" presName="centerShape" presStyleLbl="node0" presStyleIdx="0" presStyleCnt="1"/>
      <dgm:spPr/>
    </dgm:pt>
    <dgm:pt modelId="{BFE7C7E4-1F77-4B09-A4AF-41CF76196C37}" type="pres">
      <dgm:prSet presAssocID="{C4F06D04-4FB1-4712-80FF-158ACF315060}" presName="parTrans" presStyleLbl="sibTrans2D1" presStyleIdx="0" presStyleCnt="3"/>
      <dgm:spPr/>
    </dgm:pt>
    <dgm:pt modelId="{FF17768F-C89C-4776-9AF7-3F5F78F628FF}" type="pres">
      <dgm:prSet presAssocID="{C4F06D04-4FB1-4712-80FF-158ACF315060}" presName="connectorText" presStyleLbl="sibTrans2D1" presStyleIdx="0" presStyleCnt="3"/>
      <dgm:spPr/>
    </dgm:pt>
    <dgm:pt modelId="{122AE73F-2324-4E60-87AF-29DDAD0E2280}" type="pres">
      <dgm:prSet presAssocID="{FD4D26B7-0D0F-483B-A53E-C92C816868B0}" presName="node" presStyleLbl="node1" presStyleIdx="0" presStyleCnt="3">
        <dgm:presLayoutVars>
          <dgm:bulletEnabled val="1"/>
        </dgm:presLayoutVars>
      </dgm:prSet>
      <dgm:spPr/>
    </dgm:pt>
    <dgm:pt modelId="{0508861A-3319-4EEF-BD14-9DC2569FA243}" type="pres">
      <dgm:prSet presAssocID="{4D7C688C-C3E9-43AC-ACCF-FE368AF5818E}" presName="parTrans" presStyleLbl="sibTrans2D1" presStyleIdx="1" presStyleCnt="3"/>
      <dgm:spPr/>
    </dgm:pt>
    <dgm:pt modelId="{017143C7-9D6C-4167-88AA-BB87778B42A2}" type="pres">
      <dgm:prSet presAssocID="{4D7C688C-C3E9-43AC-ACCF-FE368AF5818E}" presName="connectorText" presStyleLbl="sibTrans2D1" presStyleIdx="1" presStyleCnt="3"/>
      <dgm:spPr/>
    </dgm:pt>
    <dgm:pt modelId="{D7DD5B85-7CFA-4C6D-98AD-5109309A9A77}" type="pres">
      <dgm:prSet presAssocID="{D4FE8C92-2256-4A78-8F29-335561795F6F}" presName="node" presStyleLbl="node1" presStyleIdx="1" presStyleCnt="3">
        <dgm:presLayoutVars>
          <dgm:bulletEnabled val="1"/>
        </dgm:presLayoutVars>
      </dgm:prSet>
      <dgm:spPr/>
    </dgm:pt>
    <dgm:pt modelId="{69FC63D5-5716-4A65-A0EA-A26908CC6120}" type="pres">
      <dgm:prSet presAssocID="{A1815624-5604-4A6B-9570-5B1BAED2FA02}" presName="parTrans" presStyleLbl="sibTrans2D1" presStyleIdx="2" presStyleCnt="3"/>
      <dgm:spPr/>
    </dgm:pt>
    <dgm:pt modelId="{F60FC397-C3DF-44CC-AB10-C93923D01866}" type="pres">
      <dgm:prSet presAssocID="{A1815624-5604-4A6B-9570-5B1BAED2FA02}" presName="connectorText" presStyleLbl="sibTrans2D1" presStyleIdx="2" presStyleCnt="3"/>
      <dgm:spPr/>
    </dgm:pt>
    <dgm:pt modelId="{8942E4E2-FFFB-417A-B55C-51C575FB5EAC}" type="pres">
      <dgm:prSet presAssocID="{9CD70C7F-41F6-4E15-8F18-F779BB151B60}" presName="node" presStyleLbl="node1" presStyleIdx="2" presStyleCnt="3">
        <dgm:presLayoutVars>
          <dgm:bulletEnabled val="1"/>
        </dgm:presLayoutVars>
      </dgm:prSet>
      <dgm:spPr/>
    </dgm:pt>
  </dgm:ptLst>
  <dgm:cxnLst>
    <dgm:cxn modelId="{2EE89A1E-3520-422D-A790-66D874D07988}" srcId="{89F8AABF-8A3D-4739-95A2-52E69F3C77B4}" destId="{D4FE8C92-2256-4A78-8F29-335561795F6F}" srcOrd="1" destOrd="0" parTransId="{4D7C688C-C3E9-43AC-ACCF-FE368AF5818E}" sibTransId="{2EBEA635-8A25-4418-87A4-EBC7CE1BC68C}"/>
    <dgm:cxn modelId="{A951E31F-A7E2-43B6-B4C6-FEDAA8D6A394}" type="presOf" srcId="{A1815624-5604-4A6B-9570-5B1BAED2FA02}" destId="{69FC63D5-5716-4A65-A0EA-A26908CC6120}" srcOrd="0" destOrd="0" presId="urn:microsoft.com/office/officeart/2005/8/layout/radial5"/>
    <dgm:cxn modelId="{D8DF8A6A-FAD0-44FA-8967-6783AF9791B8}" type="presOf" srcId="{C4F06D04-4FB1-4712-80FF-158ACF315060}" destId="{FF17768F-C89C-4776-9AF7-3F5F78F628FF}" srcOrd="1" destOrd="0" presId="urn:microsoft.com/office/officeart/2005/8/layout/radial5"/>
    <dgm:cxn modelId="{DD12AA4D-7971-47BE-8525-57E0EF164A9A}" type="presOf" srcId="{A1815624-5604-4A6B-9570-5B1BAED2FA02}" destId="{F60FC397-C3DF-44CC-AB10-C93923D01866}" srcOrd="1" destOrd="0" presId="urn:microsoft.com/office/officeart/2005/8/layout/radial5"/>
    <dgm:cxn modelId="{4CC39277-A948-4AB5-91AC-A9E540DF650A}" type="presOf" srcId="{C4F06D04-4FB1-4712-80FF-158ACF315060}" destId="{BFE7C7E4-1F77-4B09-A4AF-41CF76196C37}" srcOrd="0" destOrd="0" presId="urn:microsoft.com/office/officeart/2005/8/layout/radial5"/>
    <dgm:cxn modelId="{35A99E93-28CF-43C6-B659-34EA0A524DCF}" type="presOf" srcId="{4D7C688C-C3E9-43AC-ACCF-FE368AF5818E}" destId="{0508861A-3319-4EEF-BD14-9DC2569FA243}" srcOrd="0" destOrd="0" presId="urn:microsoft.com/office/officeart/2005/8/layout/radial5"/>
    <dgm:cxn modelId="{99E98895-2383-4D5B-BF42-519E7006FD69}" type="presOf" srcId="{4D7C688C-C3E9-43AC-ACCF-FE368AF5818E}" destId="{017143C7-9D6C-4167-88AA-BB87778B42A2}" srcOrd="1" destOrd="0" presId="urn:microsoft.com/office/officeart/2005/8/layout/radial5"/>
    <dgm:cxn modelId="{8C4F6BA2-67B3-4C0F-BD55-C728A521E358}" type="presOf" srcId="{FD4D26B7-0D0F-483B-A53E-C92C816868B0}" destId="{122AE73F-2324-4E60-87AF-29DDAD0E2280}" srcOrd="0" destOrd="0" presId="urn:microsoft.com/office/officeart/2005/8/layout/radial5"/>
    <dgm:cxn modelId="{A70C96B5-5EA1-4DF1-9EE9-7CA7C744E105}" srcId="{89F8AABF-8A3D-4739-95A2-52E69F3C77B4}" destId="{9CD70C7F-41F6-4E15-8F18-F779BB151B60}" srcOrd="2" destOrd="0" parTransId="{A1815624-5604-4A6B-9570-5B1BAED2FA02}" sibTransId="{66DD9CE1-BE96-4E92-B6F0-88673745BFEB}"/>
    <dgm:cxn modelId="{D2E836BF-F364-4248-A5D8-E38DBC169FCD}" type="presOf" srcId="{9CD70C7F-41F6-4E15-8F18-F779BB151B60}" destId="{8942E4E2-FFFB-417A-B55C-51C575FB5EAC}" srcOrd="0" destOrd="0" presId="urn:microsoft.com/office/officeart/2005/8/layout/radial5"/>
    <dgm:cxn modelId="{3E0B8CCA-2B15-4E36-B35F-544BF39E9AEB}" type="presOf" srcId="{89F8AABF-8A3D-4739-95A2-52E69F3C77B4}" destId="{320EA665-A5CE-4FDE-B475-F73893108BA2}" srcOrd="0" destOrd="0" presId="urn:microsoft.com/office/officeart/2005/8/layout/radial5"/>
    <dgm:cxn modelId="{C04E34E5-C34D-49E5-9E3F-886AC564089E}" type="presOf" srcId="{D4FE8C92-2256-4A78-8F29-335561795F6F}" destId="{D7DD5B85-7CFA-4C6D-98AD-5109309A9A77}" srcOrd="0" destOrd="0" presId="urn:microsoft.com/office/officeart/2005/8/layout/radial5"/>
    <dgm:cxn modelId="{D4C92FE6-9737-4FC9-8562-C097A6526E47}" srcId="{B12FBB5D-0C1C-497E-BD7E-24D3D9BAA953}" destId="{89F8AABF-8A3D-4739-95A2-52E69F3C77B4}" srcOrd="0" destOrd="0" parTransId="{D63B64C8-A34D-47AF-82D7-FECBBE476ADB}" sibTransId="{5F669249-EFC9-4503-B010-EE9E5E5665E5}"/>
    <dgm:cxn modelId="{EB364DF8-9146-4D52-B336-EB0C9F823227}" srcId="{89F8AABF-8A3D-4739-95A2-52E69F3C77B4}" destId="{FD4D26B7-0D0F-483B-A53E-C92C816868B0}" srcOrd="0" destOrd="0" parTransId="{C4F06D04-4FB1-4712-80FF-158ACF315060}" sibTransId="{0CFF3132-25E1-4A69-83EC-3654B0899D0E}"/>
    <dgm:cxn modelId="{FABD3DFF-E31F-4138-89C9-E138860F69C3}" type="presOf" srcId="{B12FBB5D-0C1C-497E-BD7E-24D3D9BAA953}" destId="{A7D87889-D21F-4418-A4E9-85978292B646}" srcOrd="0" destOrd="0" presId="urn:microsoft.com/office/officeart/2005/8/layout/radial5"/>
    <dgm:cxn modelId="{BEADBA39-4E0D-4A08-81F3-7E6EBB534CA5}" type="presParOf" srcId="{A7D87889-D21F-4418-A4E9-85978292B646}" destId="{320EA665-A5CE-4FDE-B475-F73893108BA2}" srcOrd="0" destOrd="0" presId="urn:microsoft.com/office/officeart/2005/8/layout/radial5"/>
    <dgm:cxn modelId="{D5DA61B7-133B-4C8F-A43A-8397D2686B85}" type="presParOf" srcId="{A7D87889-D21F-4418-A4E9-85978292B646}" destId="{BFE7C7E4-1F77-4B09-A4AF-41CF76196C37}" srcOrd="1" destOrd="0" presId="urn:microsoft.com/office/officeart/2005/8/layout/radial5"/>
    <dgm:cxn modelId="{AD348896-4E9D-44D0-995C-C528CB613A56}" type="presParOf" srcId="{BFE7C7E4-1F77-4B09-A4AF-41CF76196C37}" destId="{FF17768F-C89C-4776-9AF7-3F5F78F628FF}" srcOrd="0" destOrd="0" presId="urn:microsoft.com/office/officeart/2005/8/layout/radial5"/>
    <dgm:cxn modelId="{3FE49FAA-0C52-405B-B01C-D7BFBF6B48CC}" type="presParOf" srcId="{A7D87889-D21F-4418-A4E9-85978292B646}" destId="{122AE73F-2324-4E60-87AF-29DDAD0E2280}" srcOrd="2" destOrd="0" presId="urn:microsoft.com/office/officeart/2005/8/layout/radial5"/>
    <dgm:cxn modelId="{4FEE4D55-73FA-4E8F-BE21-6C8CD2925FBB}" type="presParOf" srcId="{A7D87889-D21F-4418-A4E9-85978292B646}" destId="{0508861A-3319-4EEF-BD14-9DC2569FA243}" srcOrd="3" destOrd="0" presId="urn:microsoft.com/office/officeart/2005/8/layout/radial5"/>
    <dgm:cxn modelId="{9588C59F-D34D-4794-94A5-E74C0ACC3D7A}" type="presParOf" srcId="{0508861A-3319-4EEF-BD14-9DC2569FA243}" destId="{017143C7-9D6C-4167-88AA-BB87778B42A2}" srcOrd="0" destOrd="0" presId="urn:microsoft.com/office/officeart/2005/8/layout/radial5"/>
    <dgm:cxn modelId="{8060C72B-CFC1-44AC-98A1-6514A04FE368}" type="presParOf" srcId="{A7D87889-D21F-4418-A4E9-85978292B646}" destId="{D7DD5B85-7CFA-4C6D-98AD-5109309A9A77}" srcOrd="4" destOrd="0" presId="urn:microsoft.com/office/officeart/2005/8/layout/radial5"/>
    <dgm:cxn modelId="{493CA33D-7E39-42D4-B99E-96B742A95D81}" type="presParOf" srcId="{A7D87889-D21F-4418-A4E9-85978292B646}" destId="{69FC63D5-5716-4A65-A0EA-A26908CC6120}" srcOrd="5" destOrd="0" presId="urn:microsoft.com/office/officeart/2005/8/layout/radial5"/>
    <dgm:cxn modelId="{C0BC7DAD-1CB6-4AF9-B93B-293F48AF1E17}" type="presParOf" srcId="{69FC63D5-5716-4A65-A0EA-A26908CC6120}" destId="{F60FC397-C3DF-44CC-AB10-C93923D01866}" srcOrd="0" destOrd="0" presId="urn:microsoft.com/office/officeart/2005/8/layout/radial5"/>
    <dgm:cxn modelId="{D5F08137-DD66-4CCE-8616-3D0CD88D146A}" type="presParOf" srcId="{A7D87889-D21F-4418-A4E9-85978292B646}" destId="{8942E4E2-FFFB-417A-B55C-51C575FB5EAC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0EA665-A5CE-4FDE-B475-F73893108BA2}">
      <dsp:nvSpPr>
        <dsp:cNvPr id="0" name=""/>
        <dsp:cNvSpPr/>
      </dsp:nvSpPr>
      <dsp:spPr>
        <a:xfrm>
          <a:off x="2499907" y="1851000"/>
          <a:ext cx="1108016" cy="11080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/>
            <a:t>条件</a:t>
          </a:r>
          <a:endParaRPr lang="zh-CN" altLang="en-US" sz="2400" kern="1200" dirty="0"/>
        </a:p>
      </dsp:txBody>
      <dsp:txXfrm>
        <a:off x="2662172" y="2013265"/>
        <a:ext cx="783486" cy="783486"/>
      </dsp:txXfrm>
    </dsp:sp>
    <dsp:sp modelId="{BFE7C7E4-1F77-4B09-A4AF-41CF76196C37}">
      <dsp:nvSpPr>
        <dsp:cNvPr id="0" name=""/>
        <dsp:cNvSpPr/>
      </dsp:nvSpPr>
      <dsp:spPr>
        <a:xfrm rot="16200000">
          <a:off x="2932711" y="1485692"/>
          <a:ext cx="242409" cy="2869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2969073" y="1579446"/>
        <a:ext cx="169686" cy="172176"/>
      </dsp:txXfrm>
    </dsp:sp>
    <dsp:sp modelId="{122AE73F-2324-4E60-87AF-29DDAD0E2280}">
      <dsp:nvSpPr>
        <dsp:cNvPr id="0" name=""/>
        <dsp:cNvSpPr/>
      </dsp:nvSpPr>
      <dsp:spPr>
        <a:xfrm>
          <a:off x="2361405" y="8602"/>
          <a:ext cx="1385020" cy="13850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zh-CN" altLang="en-US" sz="900" kern="1200" dirty="0">
              <a:solidFill>
                <a:schemeClr val="bg1"/>
              </a:solidFill>
              <a:latin typeface="+mn-ea"/>
            </a:rPr>
            <a:t>项目目标成功实现；</a:t>
          </a:r>
          <a:endParaRPr lang="en-US" altLang="zh-CN" sz="900" kern="1200" dirty="0">
            <a:solidFill>
              <a:schemeClr val="bg1"/>
            </a:solidFill>
            <a:latin typeface="+mn-ea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zh-CN" altLang="en-US" sz="900" kern="1200" dirty="0">
              <a:solidFill>
                <a:schemeClr val="bg1"/>
              </a:solidFill>
              <a:latin typeface="+mn-ea"/>
            </a:rPr>
            <a:t>项目成果已移交给发起人或第三方；</a:t>
          </a:r>
          <a:endParaRPr lang="zh-CN" altLang="en-US" sz="900" kern="1200" dirty="0">
            <a:solidFill>
              <a:schemeClr val="bg1"/>
            </a:solidFill>
          </a:endParaRPr>
        </a:p>
      </dsp:txBody>
      <dsp:txXfrm>
        <a:off x="2564236" y="211433"/>
        <a:ext cx="979358" cy="979358"/>
      </dsp:txXfrm>
    </dsp:sp>
    <dsp:sp modelId="{0508861A-3319-4EEF-BD14-9DC2569FA243}">
      <dsp:nvSpPr>
        <dsp:cNvPr id="0" name=""/>
        <dsp:cNvSpPr/>
      </dsp:nvSpPr>
      <dsp:spPr>
        <a:xfrm rot="1800000">
          <a:off x="3604604" y="2649446"/>
          <a:ext cx="242409" cy="2869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3609476" y="2688657"/>
        <a:ext cx="169686" cy="172176"/>
      </dsp:txXfrm>
    </dsp:sp>
    <dsp:sp modelId="{D7DD5B85-7CFA-4C6D-98AD-5109309A9A77}">
      <dsp:nvSpPr>
        <dsp:cNvPr id="0" name=""/>
        <dsp:cNvSpPr/>
      </dsp:nvSpPr>
      <dsp:spPr>
        <a:xfrm>
          <a:off x="3837022" y="2564446"/>
          <a:ext cx="1385020" cy="13850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zh-CN" altLang="en-US" sz="900" kern="1200" dirty="0">
              <a:latin typeface="+mn-ea"/>
            </a:rPr>
            <a:t>严重偏离进度、成本和性能，既定的项目目标无法实现；</a:t>
          </a:r>
          <a:endParaRPr lang="en-US" altLang="zh-CN" sz="900" kern="1200" dirty="0">
            <a:latin typeface="+mn-ea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zh-CN" altLang="en-US" sz="900" kern="1200" dirty="0">
              <a:latin typeface="+mn-ea"/>
            </a:rPr>
            <a:t>发起人战略改变，停止项目</a:t>
          </a:r>
          <a:endParaRPr lang="zh-CN" altLang="en-US" sz="900" kern="1200" dirty="0"/>
        </a:p>
      </dsp:txBody>
      <dsp:txXfrm>
        <a:off x="4039853" y="2767277"/>
        <a:ext cx="979358" cy="979358"/>
      </dsp:txXfrm>
    </dsp:sp>
    <dsp:sp modelId="{69FC63D5-5716-4A65-A0EA-A26908CC6120}">
      <dsp:nvSpPr>
        <dsp:cNvPr id="0" name=""/>
        <dsp:cNvSpPr/>
      </dsp:nvSpPr>
      <dsp:spPr>
        <a:xfrm rot="9000000">
          <a:off x="2260817" y="2649446"/>
          <a:ext cx="242409" cy="2869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 rot="10800000">
        <a:off x="2328668" y="2688657"/>
        <a:ext cx="169686" cy="172176"/>
      </dsp:txXfrm>
    </dsp:sp>
    <dsp:sp modelId="{8942E4E2-FFFB-417A-B55C-51C575FB5EAC}">
      <dsp:nvSpPr>
        <dsp:cNvPr id="0" name=""/>
        <dsp:cNvSpPr/>
      </dsp:nvSpPr>
      <dsp:spPr>
        <a:xfrm>
          <a:off x="885788" y="2564446"/>
          <a:ext cx="1385020" cy="13850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zh-CN" altLang="en-US" sz="900" kern="1200"/>
            <a:t>事业环境因素限制导致项目无法进行；</a:t>
          </a:r>
          <a:endParaRPr lang="zh-CN" altLang="en-US" sz="900" kern="1200" dirty="0"/>
        </a:p>
      </dsp:txBody>
      <dsp:txXfrm>
        <a:off x="1088619" y="2767277"/>
        <a:ext cx="979358" cy="979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78497-196B-415E-957E-0F415BE43247}" type="datetimeFigureOut">
              <a:rPr lang="zh-CN" altLang="en-US" smtClean="0"/>
              <a:t>2020/3/28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853C6-0FAD-4C80-9812-1751C55792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27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497A3-A6E9-460C-B8AE-AE67AD1E0A38}" type="datetimeFigureOut">
              <a:rPr lang="zh-CN" altLang="en-US" smtClean="0"/>
              <a:t>2020/3/28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C96D9-4D4F-4265-8F02-21631B019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20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161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dirty="0"/>
              <a:t>项目结果只有两个状态：成功和失败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dirty="0"/>
              <a:t>项目进入结束阶段，采用两种方式结束项目：正常结束和非正常终止。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dirty="0"/>
              <a:t>项目目标实现，进入正常结束阶段时，应对项目目标进行验收和评价，实现项目的移交、行政收尾和清算。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dirty="0"/>
              <a:t>项目失败时，采用非正常终止方式对项目进行收尾时，要综合考虑影响终止项目的决定因素，进行评估项目终止及执行终止决策，处理好终止后的事务。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164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568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181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4564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377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491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资产清算物料确认，曙光、可控、宁畅确认总工均为赵雷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9433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29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548689" y="1318702"/>
            <a:ext cx="7344171" cy="6232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4000" b="1" kern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6841832" y="3867895"/>
            <a:ext cx="2016448" cy="7920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318702"/>
            <a:ext cx="107504" cy="623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560840" cy="470804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2608363" y="1079959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2608363" y="1748495"/>
            <a:ext cx="4343399" cy="39869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2608363" y="2417033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2608362" y="3085570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2608362" y="3754106"/>
            <a:ext cx="4343399" cy="408461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1601" y="2067694"/>
            <a:ext cx="7272807" cy="62324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2800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059832" y="3147814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3059831" y="3513751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059830" y="3873791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059830" y="4233831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560840" cy="470804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611560" y="1059582"/>
            <a:ext cx="7886700" cy="350043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416824" cy="504056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611560" y="1059582"/>
            <a:ext cx="7886700" cy="350043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548690" y="1318703"/>
            <a:ext cx="7344171" cy="623248"/>
          </a:xfrm>
          <a:prstGeom prst="rect">
            <a:avLst/>
          </a:prstGeom>
        </p:spPr>
        <p:txBody>
          <a:bodyPr/>
          <a:lstStyle>
            <a:lvl1pPr marL="0" indent="0" algn="l" defTabSz="914378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4000" b="1" kern="1200" dirty="0"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6841833" y="3867896"/>
            <a:ext cx="2016448" cy="7920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1" y="1318703"/>
            <a:ext cx="107504" cy="623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82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560840" cy="470804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1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2608364" y="1079959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2608364" y="1748495"/>
            <a:ext cx="4343399" cy="398697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2608364" y="2417033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2608363" y="3085570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2608363" y="3754107"/>
            <a:ext cx="4343399" cy="408461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0963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971602" y="2067695"/>
            <a:ext cx="7272807" cy="623248"/>
          </a:xfrm>
          <a:prstGeom prst="rect">
            <a:avLst/>
          </a:prstGeom>
        </p:spPr>
        <p:txBody>
          <a:bodyPr/>
          <a:lstStyle>
            <a:lvl1pPr marL="0" indent="0" algn="ctr" defTabSz="914378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2800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3059833" y="3147815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059832" y="3513752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3059831" y="3873792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059831" y="4233831"/>
            <a:ext cx="4069655" cy="360040"/>
          </a:xfrm>
          <a:prstGeom prst="rect">
            <a:avLst/>
          </a:prstGeom>
        </p:spPr>
        <p:txBody>
          <a:bodyPr anchor="ctr"/>
          <a:lstStyle>
            <a:lvl1pPr marL="0" marR="0" indent="0" algn="l" defTabSz="914378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9299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560840" cy="470804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1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611560" y="1059583"/>
            <a:ext cx="7886700" cy="350043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8449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123478"/>
            <a:ext cx="7416824" cy="504056"/>
          </a:xfrm>
          <a:prstGeom prst="rect">
            <a:avLst/>
          </a:prstGeom>
        </p:spPr>
        <p:txBody>
          <a:bodyPr/>
          <a:lstStyle>
            <a:lvl1pPr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1" y="123478"/>
            <a:ext cx="107504" cy="470804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sz="quarter" idx="14"/>
          </p:nvPr>
        </p:nvSpPr>
        <p:spPr>
          <a:xfrm>
            <a:off x="611560" y="1059583"/>
            <a:ext cx="7886700" cy="350043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91328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958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虚线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>
          <a:xfrm rot="13500000">
            <a:off x="234243" y="231296"/>
            <a:ext cx="282847" cy="282847"/>
          </a:xfrm>
          <a:custGeom>
            <a:avLst/>
            <a:gdLst>
              <a:gd name="connsiteX0" fmla="*/ 0 w 586408"/>
              <a:gd name="connsiteY0" fmla="*/ 0 h 586408"/>
              <a:gd name="connsiteX1" fmla="*/ 98392 w 586408"/>
              <a:gd name="connsiteY1" fmla="*/ 0 h 586408"/>
              <a:gd name="connsiteX2" fmla="*/ 98392 w 586408"/>
              <a:gd name="connsiteY2" fmla="*/ 488016 h 586408"/>
              <a:gd name="connsiteX3" fmla="*/ 586408 w 586408"/>
              <a:gd name="connsiteY3" fmla="*/ 488016 h 586408"/>
              <a:gd name="connsiteX4" fmla="*/ 586408 w 586408"/>
              <a:gd name="connsiteY4" fmla="*/ 586408 h 586408"/>
              <a:gd name="connsiteX5" fmla="*/ 0 w 586408"/>
              <a:gd name="connsiteY5" fmla="*/ 586408 h 5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408" h="586408">
                <a:moveTo>
                  <a:pt x="0" y="0"/>
                </a:moveTo>
                <a:lnTo>
                  <a:pt x="98392" y="0"/>
                </a:lnTo>
                <a:lnTo>
                  <a:pt x="98392" y="488016"/>
                </a:lnTo>
                <a:lnTo>
                  <a:pt x="586408" y="488016"/>
                </a:lnTo>
                <a:lnTo>
                  <a:pt x="586408" y="586408"/>
                </a:lnTo>
                <a:lnTo>
                  <a:pt x="0" y="5864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78293"/>
            <a:ext cx="8229600" cy="449243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57201" y="713285"/>
            <a:ext cx="7874318" cy="32151"/>
          </a:xfrm>
          <a:prstGeom prst="line">
            <a:avLst/>
          </a:prstGeom>
          <a:ln w="12700">
            <a:solidFill>
              <a:srgbClr val="C00000"/>
            </a:solidFill>
            <a:prstDash val="dash"/>
            <a:headEnd type="diamond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457200" y="915568"/>
            <a:ext cx="8229600" cy="3678659"/>
          </a:xfrm>
        </p:spPr>
        <p:txBody>
          <a:bodyPr/>
          <a:lstStyle>
            <a:lvl1pPr marL="342884" indent="-342884">
              <a:buFont typeface="微软雅黑" panose="020B0503020204020204" pitchFamily="34" charset="-122"/>
              <a:buChar char="◢"/>
              <a:defRPr sz="2400"/>
            </a:lvl1pPr>
            <a:lvl2pPr marL="742913" indent="-285736">
              <a:buFont typeface="Wingdings" panose="05000000000000000000" pitchFamily="2" charset="2"/>
              <a:buChar char=""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8172041" y="4758412"/>
            <a:ext cx="450005" cy="288032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+mn-ea"/>
                <a:ea typeface="+mn-ea"/>
              </a:defRPr>
            </a:lvl1pPr>
          </a:lstStyle>
          <a:p>
            <a:pPr defTabSz="914378"/>
            <a:fld id="{EF906490-237C-474C-BA2E-D98840BC1F8F}" type="slidenum">
              <a:rPr lang="zh-CN" altLang="en-US" smtClean="0"/>
              <a:pPr defTabSz="914378"/>
              <a:t>‹#›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12018" y="4767262"/>
            <a:ext cx="22573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生活服务互联网运营专家 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|  Page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Microsoft YaHe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76148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CBE2E-F268-4961-ABFA-A3F450DA8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02220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列表内容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quarter" idx="12" hasCustomPrompt="1"/>
          </p:nvPr>
        </p:nvSpPr>
        <p:spPr>
          <a:xfrm>
            <a:off x="467544" y="897564"/>
            <a:ext cx="8208912" cy="3942438"/>
          </a:xfrm>
          <a:prstGeom prst="rect">
            <a:avLst/>
          </a:prstGeom>
        </p:spPr>
        <p:txBody>
          <a:bodyPr/>
          <a:lstStyle>
            <a:lvl1pPr marL="257168" indent="-257168"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buFont typeface="Wingdings" pitchFamily="2" charset="2"/>
              <a:buChar char="p"/>
              <a:defRPr sz="15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Font typeface="Wingdings" pitchFamily="2" charset="2"/>
              <a:buChar char="l"/>
              <a:defRPr sz="15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defRPr sz="135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>
              <a:defRPr sz="135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28598" y="267892"/>
            <a:ext cx="5072098" cy="428612"/>
          </a:xfrm>
          <a:prstGeom prst="rect">
            <a:avLst/>
          </a:prstGeom>
        </p:spPr>
        <p:txBody>
          <a:bodyPr/>
          <a:lstStyle>
            <a:lvl1pPr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</p:spTree>
    <p:extLst>
      <p:ext uri="{BB962C8B-B14F-4D97-AF65-F5344CB8AC3E}">
        <p14:creationId xmlns:p14="http://schemas.microsoft.com/office/powerpoint/2010/main" val="396932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65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934709" y="2188689"/>
            <a:ext cx="7695719" cy="623248"/>
          </a:xfrm>
        </p:spPr>
        <p:txBody>
          <a:bodyPr/>
          <a:lstStyle/>
          <a:p>
            <a:pPr algn="ctr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项目验收结项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6588224" y="3651870"/>
            <a:ext cx="2016448" cy="288032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日期：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2020/3/26</a:t>
            </a:r>
          </a:p>
        </p:txBody>
      </p:sp>
      <p:sp>
        <p:nvSpPr>
          <p:cNvPr id="4" name="文本占位符 2"/>
          <p:cNvSpPr txBox="1"/>
          <p:nvPr/>
        </p:nvSpPr>
        <p:spPr>
          <a:xfrm>
            <a:off x="107504" y="57734"/>
            <a:ext cx="7344816" cy="7069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H_Others_1"/>
          <p:cNvSpPr/>
          <p:nvPr>
            <p:custDataLst>
              <p:tags r:id="rId1"/>
            </p:custDataLst>
          </p:nvPr>
        </p:nvSpPr>
        <p:spPr>
          <a:xfrm>
            <a:off x="1769020" y="1674712"/>
            <a:ext cx="238125" cy="369396"/>
          </a:xfrm>
          <a:custGeom>
            <a:avLst/>
            <a:gdLst>
              <a:gd name="connsiteX0" fmla="*/ 203199 w 203199"/>
              <a:gd name="connsiteY0" fmla="*/ 0 h 210018"/>
              <a:gd name="connsiteX1" fmla="*/ 203199 w 203199"/>
              <a:gd name="connsiteY1" fmla="*/ 210018 h 210018"/>
              <a:gd name="connsiteX2" fmla="*/ 0 w 203199"/>
              <a:gd name="connsiteY2" fmla="*/ 210018 h 210018"/>
              <a:gd name="connsiteX3" fmla="*/ 0 w 203199"/>
              <a:gd name="connsiteY3" fmla="*/ 209707 h 2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99" h="210018">
                <a:moveTo>
                  <a:pt x="203199" y="0"/>
                </a:moveTo>
                <a:lnTo>
                  <a:pt x="203199" y="210018"/>
                </a:lnTo>
                <a:lnTo>
                  <a:pt x="0" y="210018"/>
                </a:lnTo>
                <a:lnTo>
                  <a:pt x="0" y="209707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9" name="MH_Others_2"/>
          <p:cNvSpPr/>
          <p:nvPr>
            <p:custDataLst>
              <p:tags r:id="rId2"/>
            </p:custDataLst>
          </p:nvPr>
        </p:nvSpPr>
        <p:spPr>
          <a:xfrm>
            <a:off x="1769019" y="2343246"/>
            <a:ext cx="238125" cy="369396"/>
          </a:xfrm>
          <a:custGeom>
            <a:avLst/>
            <a:gdLst>
              <a:gd name="connsiteX0" fmla="*/ 203199 w 203199"/>
              <a:gd name="connsiteY0" fmla="*/ 0 h 210018"/>
              <a:gd name="connsiteX1" fmla="*/ 203199 w 203199"/>
              <a:gd name="connsiteY1" fmla="*/ 210018 h 210018"/>
              <a:gd name="connsiteX2" fmla="*/ 0 w 203199"/>
              <a:gd name="connsiteY2" fmla="*/ 210018 h 210018"/>
              <a:gd name="connsiteX3" fmla="*/ 0 w 203199"/>
              <a:gd name="connsiteY3" fmla="*/ 209707 h 2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99" h="210018">
                <a:moveTo>
                  <a:pt x="203199" y="0"/>
                </a:moveTo>
                <a:lnTo>
                  <a:pt x="203199" y="210018"/>
                </a:lnTo>
                <a:lnTo>
                  <a:pt x="0" y="210018"/>
                </a:lnTo>
                <a:lnTo>
                  <a:pt x="0" y="209707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0" name="MH_Entry_1">
            <a:hlinkClick r:id="rId14" action="ppaction://hlinksldjump"/>
          </p:cNvPr>
          <p:cNvSpPr/>
          <p:nvPr>
            <p:custDataLst>
              <p:tags r:id="rId3"/>
            </p:custDataLst>
          </p:nvPr>
        </p:nvSpPr>
        <p:spPr>
          <a:xfrm>
            <a:off x="1835696" y="1635646"/>
            <a:ext cx="4972050" cy="408460"/>
          </a:xfrm>
          <a:custGeom>
            <a:avLst/>
            <a:gdLst>
              <a:gd name="connsiteX0" fmla="*/ 228599 w 6629400"/>
              <a:gd name="connsiteY0" fmla="*/ 126626 h 362857"/>
              <a:gd name="connsiteX1" fmla="*/ 228599 w 6629400"/>
              <a:gd name="connsiteY1" fmla="*/ 362857 h 362857"/>
              <a:gd name="connsiteX2" fmla="*/ 0 w 6629400"/>
              <a:gd name="connsiteY2" fmla="*/ 362857 h 362857"/>
              <a:gd name="connsiteX3" fmla="*/ 0 w 6629400"/>
              <a:gd name="connsiteY3" fmla="*/ 362546 h 362857"/>
              <a:gd name="connsiteX4" fmla="*/ 838200 w 6629400"/>
              <a:gd name="connsiteY4" fmla="*/ 0 h 362857"/>
              <a:gd name="connsiteX5" fmla="*/ 5791200 w 6629400"/>
              <a:gd name="connsiteY5" fmla="*/ 0 h 362857"/>
              <a:gd name="connsiteX6" fmla="*/ 6629400 w 6629400"/>
              <a:gd name="connsiteY6" fmla="*/ 0 h 362857"/>
              <a:gd name="connsiteX7" fmla="*/ 6629400 w 6629400"/>
              <a:gd name="connsiteY7" fmla="*/ 362857 h 362857"/>
              <a:gd name="connsiteX8" fmla="*/ 5791200 w 6629400"/>
              <a:gd name="connsiteY8" fmla="*/ 362857 h 362857"/>
              <a:gd name="connsiteX9" fmla="*/ 838200 w 6629400"/>
              <a:gd name="connsiteY9" fmla="*/ 362857 h 36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29400" h="362857">
                <a:moveTo>
                  <a:pt x="228599" y="126626"/>
                </a:moveTo>
                <a:lnTo>
                  <a:pt x="228599" y="362857"/>
                </a:lnTo>
                <a:lnTo>
                  <a:pt x="0" y="362857"/>
                </a:lnTo>
                <a:lnTo>
                  <a:pt x="0" y="362546"/>
                </a:lnTo>
                <a:close/>
                <a:moveTo>
                  <a:pt x="838200" y="0"/>
                </a:moveTo>
                <a:lnTo>
                  <a:pt x="5791200" y="0"/>
                </a:lnTo>
                <a:lnTo>
                  <a:pt x="6629400" y="0"/>
                </a:lnTo>
                <a:lnTo>
                  <a:pt x="6629400" y="362857"/>
                </a:lnTo>
                <a:lnTo>
                  <a:pt x="5791200" y="362857"/>
                </a:lnTo>
                <a:lnTo>
                  <a:pt x="838200" y="362857"/>
                </a:lnTo>
                <a:close/>
              </a:path>
            </a:pathLst>
          </a:cu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<a:normAutofit/>
          </a:bodyPr>
          <a:lstStyle/>
          <a:p>
            <a:endParaRPr lang="zh-CN" altLang="en-US" sz="1600" spc="15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MH_Number_1">
            <a:hlinkClick r:id="rId14" action="ppaction://hlinksldjump"/>
          </p:cNvPr>
          <p:cNvSpPr/>
          <p:nvPr>
            <p:custDataLst>
              <p:tags r:id="rId4"/>
            </p:custDataLst>
          </p:nvPr>
        </p:nvSpPr>
        <p:spPr>
          <a:xfrm>
            <a:off x="2007146" y="1635646"/>
            <a:ext cx="457201" cy="408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2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MH_Entry_2">
            <a:hlinkClick r:id="rId14" action="ppaction://hlinksldjump"/>
          </p:cNvPr>
          <p:cNvSpPr/>
          <p:nvPr>
            <p:custDataLst>
              <p:tags r:id="rId5"/>
            </p:custDataLst>
          </p:nvPr>
        </p:nvSpPr>
        <p:spPr>
          <a:xfrm>
            <a:off x="1835696" y="2304182"/>
            <a:ext cx="4972050" cy="408460"/>
          </a:xfrm>
          <a:custGeom>
            <a:avLst/>
            <a:gdLst>
              <a:gd name="connsiteX0" fmla="*/ 228599 w 6629400"/>
              <a:gd name="connsiteY0" fmla="*/ 126626 h 362857"/>
              <a:gd name="connsiteX1" fmla="*/ 228599 w 6629400"/>
              <a:gd name="connsiteY1" fmla="*/ 362857 h 362857"/>
              <a:gd name="connsiteX2" fmla="*/ 0 w 6629400"/>
              <a:gd name="connsiteY2" fmla="*/ 362857 h 362857"/>
              <a:gd name="connsiteX3" fmla="*/ 0 w 6629400"/>
              <a:gd name="connsiteY3" fmla="*/ 362546 h 362857"/>
              <a:gd name="connsiteX4" fmla="*/ 838200 w 6629400"/>
              <a:gd name="connsiteY4" fmla="*/ 0 h 362857"/>
              <a:gd name="connsiteX5" fmla="*/ 5791200 w 6629400"/>
              <a:gd name="connsiteY5" fmla="*/ 0 h 362857"/>
              <a:gd name="connsiteX6" fmla="*/ 6629400 w 6629400"/>
              <a:gd name="connsiteY6" fmla="*/ 0 h 362857"/>
              <a:gd name="connsiteX7" fmla="*/ 6629400 w 6629400"/>
              <a:gd name="connsiteY7" fmla="*/ 362857 h 362857"/>
              <a:gd name="connsiteX8" fmla="*/ 5791200 w 6629400"/>
              <a:gd name="connsiteY8" fmla="*/ 362857 h 362857"/>
              <a:gd name="connsiteX9" fmla="*/ 838200 w 6629400"/>
              <a:gd name="connsiteY9" fmla="*/ 362857 h 36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29400" h="362857">
                <a:moveTo>
                  <a:pt x="228599" y="126626"/>
                </a:moveTo>
                <a:lnTo>
                  <a:pt x="228599" y="362857"/>
                </a:lnTo>
                <a:lnTo>
                  <a:pt x="0" y="362857"/>
                </a:lnTo>
                <a:lnTo>
                  <a:pt x="0" y="362546"/>
                </a:lnTo>
                <a:close/>
                <a:moveTo>
                  <a:pt x="838200" y="0"/>
                </a:moveTo>
                <a:lnTo>
                  <a:pt x="5791200" y="0"/>
                </a:lnTo>
                <a:lnTo>
                  <a:pt x="6629400" y="0"/>
                </a:lnTo>
                <a:lnTo>
                  <a:pt x="6629400" y="362857"/>
                </a:lnTo>
                <a:lnTo>
                  <a:pt x="5791200" y="362857"/>
                </a:lnTo>
                <a:lnTo>
                  <a:pt x="838200" y="362857"/>
                </a:lnTo>
                <a:close/>
              </a:path>
            </a:pathLst>
          </a:cu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<a:normAutofit/>
          </a:bodyPr>
          <a:lstStyle/>
          <a:p>
            <a:endParaRPr lang="zh-CN" altLang="en-US" sz="1600" spc="15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3" name="MH_Number_2">
            <a:hlinkClick r:id="rId14" action="ppaction://hlinksldjump"/>
          </p:cNvPr>
          <p:cNvSpPr/>
          <p:nvPr>
            <p:custDataLst>
              <p:tags r:id="rId6"/>
            </p:custDataLst>
          </p:nvPr>
        </p:nvSpPr>
        <p:spPr>
          <a:xfrm>
            <a:off x="2007146" y="2274886"/>
            <a:ext cx="457201" cy="408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2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MH_Others_2"/>
          <p:cNvSpPr/>
          <p:nvPr>
            <p:custDataLst>
              <p:tags r:id="rId7"/>
            </p:custDataLst>
          </p:nvPr>
        </p:nvSpPr>
        <p:spPr>
          <a:xfrm>
            <a:off x="1769019" y="3011926"/>
            <a:ext cx="238125" cy="369396"/>
          </a:xfrm>
          <a:custGeom>
            <a:avLst/>
            <a:gdLst>
              <a:gd name="connsiteX0" fmla="*/ 203199 w 203199"/>
              <a:gd name="connsiteY0" fmla="*/ 0 h 210018"/>
              <a:gd name="connsiteX1" fmla="*/ 203199 w 203199"/>
              <a:gd name="connsiteY1" fmla="*/ 210018 h 210018"/>
              <a:gd name="connsiteX2" fmla="*/ 0 w 203199"/>
              <a:gd name="connsiteY2" fmla="*/ 210018 h 210018"/>
              <a:gd name="connsiteX3" fmla="*/ 0 w 203199"/>
              <a:gd name="connsiteY3" fmla="*/ 209707 h 2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99" h="210018">
                <a:moveTo>
                  <a:pt x="203199" y="0"/>
                </a:moveTo>
                <a:lnTo>
                  <a:pt x="203199" y="210018"/>
                </a:lnTo>
                <a:lnTo>
                  <a:pt x="0" y="210018"/>
                </a:lnTo>
                <a:lnTo>
                  <a:pt x="0" y="209707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5" name="MH_Entry_2">
            <a:hlinkClick r:id="rId14" action="ppaction://hlinksldjump"/>
          </p:cNvPr>
          <p:cNvSpPr/>
          <p:nvPr>
            <p:custDataLst>
              <p:tags r:id="rId8"/>
            </p:custDataLst>
          </p:nvPr>
        </p:nvSpPr>
        <p:spPr>
          <a:xfrm>
            <a:off x="1835696" y="2972720"/>
            <a:ext cx="4972050" cy="408460"/>
          </a:xfrm>
          <a:custGeom>
            <a:avLst/>
            <a:gdLst>
              <a:gd name="connsiteX0" fmla="*/ 228599 w 6629400"/>
              <a:gd name="connsiteY0" fmla="*/ 126626 h 362857"/>
              <a:gd name="connsiteX1" fmla="*/ 228599 w 6629400"/>
              <a:gd name="connsiteY1" fmla="*/ 362857 h 362857"/>
              <a:gd name="connsiteX2" fmla="*/ 0 w 6629400"/>
              <a:gd name="connsiteY2" fmla="*/ 362857 h 362857"/>
              <a:gd name="connsiteX3" fmla="*/ 0 w 6629400"/>
              <a:gd name="connsiteY3" fmla="*/ 362546 h 362857"/>
              <a:gd name="connsiteX4" fmla="*/ 838200 w 6629400"/>
              <a:gd name="connsiteY4" fmla="*/ 0 h 362857"/>
              <a:gd name="connsiteX5" fmla="*/ 5791200 w 6629400"/>
              <a:gd name="connsiteY5" fmla="*/ 0 h 362857"/>
              <a:gd name="connsiteX6" fmla="*/ 6629400 w 6629400"/>
              <a:gd name="connsiteY6" fmla="*/ 0 h 362857"/>
              <a:gd name="connsiteX7" fmla="*/ 6629400 w 6629400"/>
              <a:gd name="connsiteY7" fmla="*/ 362857 h 362857"/>
              <a:gd name="connsiteX8" fmla="*/ 5791200 w 6629400"/>
              <a:gd name="connsiteY8" fmla="*/ 362857 h 362857"/>
              <a:gd name="connsiteX9" fmla="*/ 838200 w 6629400"/>
              <a:gd name="connsiteY9" fmla="*/ 362857 h 36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29400" h="362857">
                <a:moveTo>
                  <a:pt x="228599" y="126626"/>
                </a:moveTo>
                <a:lnTo>
                  <a:pt x="228599" y="362857"/>
                </a:lnTo>
                <a:lnTo>
                  <a:pt x="0" y="362857"/>
                </a:lnTo>
                <a:lnTo>
                  <a:pt x="0" y="362546"/>
                </a:lnTo>
                <a:close/>
                <a:moveTo>
                  <a:pt x="838200" y="0"/>
                </a:moveTo>
                <a:lnTo>
                  <a:pt x="5791200" y="0"/>
                </a:lnTo>
                <a:lnTo>
                  <a:pt x="6629400" y="0"/>
                </a:lnTo>
                <a:lnTo>
                  <a:pt x="6629400" y="362857"/>
                </a:lnTo>
                <a:lnTo>
                  <a:pt x="5791200" y="362857"/>
                </a:lnTo>
                <a:lnTo>
                  <a:pt x="838200" y="362857"/>
                </a:lnTo>
                <a:close/>
              </a:path>
            </a:pathLst>
          </a:cu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<a:normAutofit/>
          </a:bodyPr>
          <a:lstStyle/>
          <a:p>
            <a:endParaRPr lang="zh-CN" altLang="en-US" sz="1600" spc="15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MH_Number_2">
            <a:hlinkClick r:id="rId14" action="ppaction://hlinksldjump"/>
          </p:cNvPr>
          <p:cNvSpPr/>
          <p:nvPr>
            <p:custDataLst>
              <p:tags r:id="rId9"/>
            </p:custDataLst>
          </p:nvPr>
        </p:nvSpPr>
        <p:spPr>
          <a:xfrm>
            <a:off x="2007146" y="2953189"/>
            <a:ext cx="457201" cy="408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2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560840" cy="470804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464347" y="1635644"/>
            <a:ext cx="4343399" cy="408462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结项概念及目的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2464347" y="2304180"/>
            <a:ext cx="4343399" cy="398697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结项条件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2464347" y="2972718"/>
            <a:ext cx="4343399" cy="408462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结项流程</a:t>
            </a:r>
          </a:p>
        </p:txBody>
      </p:sp>
      <p:sp>
        <p:nvSpPr>
          <p:cNvPr id="17" name="MH_Others_2">
            <a:extLst>
              <a:ext uri="{FF2B5EF4-FFF2-40B4-BE49-F238E27FC236}">
                <a16:creationId xmlns:a16="http://schemas.microsoft.com/office/drawing/2014/main" id="{4DED4233-19DC-455B-80CA-37270AB550E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765521" y="3710607"/>
            <a:ext cx="238125" cy="369396"/>
          </a:xfrm>
          <a:custGeom>
            <a:avLst/>
            <a:gdLst>
              <a:gd name="connsiteX0" fmla="*/ 203199 w 203199"/>
              <a:gd name="connsiteY0" fmla="*/ 0 h 210018"/>
              <a:gd name="connsiteX1" fmla="*/ 203199 w 203199"/>
              <a:gd name="connsiteY1" fmla="*/ 210018 h 210018"/>
              <a:gd name="connsiteX2" fmla="*/ 0 w 203199"/>
              <a:gd name="connsiteY2" fmla="*/ 210018 h 210018"/>
              <a:gd name="connsiteX3" fmla="*/ 0 w 203199"/>
              <a:gd name="connsiteY3" fmla="*/ 209707 h 21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99" h="210018">
                <a:moveTo>
                  <a:pt x="203199" y="0"/>
                </a:moveTo>
                <a:lnTo>
                  <a:pt x="203199" y="210018"/>
                </a:lnTo>
                <a:lnTo>
                  <a:pt x="0" y="210018"/>
                </a:lnTo>
                <a:lnTo>
                  <a:pt x="0" y="209707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100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8" name="MH_Entry_2">
            <a:hlinkClick r:id="rId14" action="ppaction://hlinksldjump"/>
            <a:extLst>
              <a:ext uri="{FF2B5EF4-FFF2-40B4-BE49-F238E27FC236}">
                <a16:creationId xmlns:a16="http://schemas.microsoft.com/office/drawing/2014/main" id="{7B2FAF2E-6463-4924-8BC7-0AC8AEFD46F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832198" y="3671401"/>
            <a:ext cx="4972050" cy="408460"/>
          </a:xfrm>
          <a:custGeom>
            <a:avLst/>
            <a:gdLst>
              <a:gd name="connsiteX0" fmla="*/ 228599 w 6629400"/>
              <a:gd name="connsiteY0" fmla="*/ 126626 h 362857"/>
              <a:gd name="connsiteX1" fmla="*/ 228599 w 6629400"/>
              <a:gd name="connsiteY1" fmla="*/ 362857 h 362857"/>
              <a:gd name="connsiteX2" fmla="*/ 0 w 6629400"/>
              <a:gd name="connsiteY2" fmla="*/ 362857 h 362857"/>
              <a:gd name="connsiteX3" fmla="*/ 0 w 6629400"/>
              <a:gd name="connsiteY3" fmla="*/ 362546 h 362857"/>
              <a:gd name="connsiteX4" fmla="*/ 838200 w 6629400"/>
              <a:gd name="connsiteY4" fmla="*/ 0 h 362857"/>
              <a:gd name="connsiteX5" fmla="*/ 5791200 w 6629400"/>
              <a:gd name="connsiteY5" fmla="*/ 0 h 362857"/>
              <a:gd name="connsiteX6" fmla="*/ 6629400 w 6629400"/>
              <a:gd name="connsiteY6" fmla="*/ 0 h 362857"/>
              <a:gd name="connsiteX7" fmla="*/ 6629400 w 6629400"/>
              <a:gd name="connsiteY7" fmla="*/ 362857 h 362857"/>
              <a:gd name="connsiteX8" fmla="*/ 5791200 w 6629400"/>
              <a:gd name="connsiteY8" fmla="*/ 362857 h 362857"/>
              <a:gd name="connsiteX9" fmla="*/ 838200 w 6629400"/>
              <a:gd name="connsiteY9" fmla="*/ 362857 h 36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29400" h="362857">
                <a:moveTo>
                  <a:pt x="228599" y="126626"/>
                </a:moveTo>
                <a:lnTo>
                  <a:pt x="228599" y="362857"/>
                </a:lnTo>
                <a:lnTo>
                  <a:pt x="0" y="362857"/>
                </a:lnTo>
                <a:lnTo>
                  <a:pt x="0" y="362546"/>
                </a:lnTo>
                <a:close/>
                <a:moveTo>
                  <a:pt x="838200" y="0"/>
                </a:moveTo>
                <a:lnTo>
                  <a:pt x="5791200" y="0"/>
                </a:lnTo>
                <a:lnTo>
                  <a:pt x="6629400" y="0"/>
                </a:lnTo>
                <a:lnTo>
                  <a:pt x="6629400" y="362857"/>
                </a:lnTo>
                <a:lnTo>
                  <a:pt x="5791200" y="362857"/>
                </a:lnTo>
                <a:lnTo>
                  <a:pt x="838200" y="362857"/>
                </a:lnTo>
                <a:close/>
              </a:path>
            </a:pathLst>
          </a:cu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5000" tIns="0" rIns="0" bIns="0" numCol="1" spcCol="0" rtlCol="0" fromWordArt="0" anchor="ctr" anchorCtr="0" forceAA="0" compatLnSpc="1">
            <a:normAutofit/>
          </a:bodyPr>
          <a:lstStyle/>
          <a:p>
            <a:endParaRPr lang="zh-CN" altLang="en-US" sz="1600" spc="15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9" name="MH_Number_2">
            <a:hlinkClick r:id="rId14" action="ppaction://hlinksldjump"/>
            <a:extLst>
              <a:ext uri="{FF2B5EF4-FFF2-40B4-BE49-F238E27FC236}">
                <a16:creationId xmlns:a16="http://schemas.microsoft.com/office/drawing/2014/main" id="{7981679F-6E0A-4B0D-AD2A-52AFEA92B1C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003648" y="3651870"/>
            <a:ext cx="457201" cy="408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04</a:t>
            </a:r>
            <a:endParaRPr lang="zh-CN" altLang="en-US" sz="2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占位符 4">
            <a:extLst>
              <a:ext uri="{FF2B5EF4-FFF2-40B4-BE49-F238E27FC236}">
                <a16:creationId xmlns:a16="http://schemas.microsoft.com/office/drawing/2014/main" id="{8D520A3E-CFCD-42FD-A8F8-BA08340D861E}"/>
              </a:ext>
            </a:extLst>
          </p:cNvPr>
          <p:cNvSpPr txBox="1">
            <a:spLocks/>
          </p:cNvSpPr>
          <p:nvPr/>
        </p:nvSpPr>
        <p:spPr>
          <a:xfrm>
            <a:off x="2460849" y="3671399"/>
            <a:ext cx="4343399" cy="4084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曙光验收结项流程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结项作用（摘录</a:t>
            </a:r>
            <a:r>
              <a:rPr lang="en-US" altLang="zh-CN" dirty="0"/>
              <a:t>PMBOOK </a:t>
            </a:r>
            <a:r>
              <a:rPr lang="zh-CN" altLang="en-US" dirty="0"/>
              <a:t>）</a:t>
            </a:r>
          </a:p>
        </p:txBody>
      </p:sp>
      <p:sp>
        <p:nvSpPr>
          <p:cNvPr id="71" name="文本框 29"/>
          <p:cNvSpPr txBox="1">
            <a:spLocks noChangeArrowheads="1"/>
          </p:cNvSpPr>
          <p:nvPr/>
        </p:nvSpPr>
        <p:spPr bwMode="auto">
          <a:xfrm>
            <a:off x="179512" y="1563638"/>
            <a:ext cx="8784783" cy="1762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pitchFamily="2" charset="-122"/>
              </a:rPr>
              <a:t>概念：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pitchFamily="2" charset="-122"/>
              </a:rPr>
              <a:t>结束项目或阶段是终结项目、阶段或合同的所有活动的过程。</a:t>
            </a: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pitchFamily="2" charset="-122"/>
              </a:rPr>
              <a:t>它是项目管理的五大过程组之一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pitchFamily="2" charset="-122"/>
              </a:rPr>
              <a:t>。</a:t>
            </a:r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pitchFamily="2" charset="-122"/>
            </a:endParaRPr>
          </a:p>
          <a:p>
            <a:pPr marL="0" indent="0">
              <a:lnSpc>
                <a:spcPct val="150000"/>
              </a:lnSpc>
            </a:pPr>
            <a:endParaRPr lang="en-US" altLang="zh-CN" sz="1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pitchFamily="2" charset="-122"/>
              </a:rPr>
              <a:t>目的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pitchFamily="2" charset="-122"/>
              </a:rPr>
              <a:t>：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ea typeface="+mn-ea"/>
                <a:sym typeface="等线" panose="02010600030101010101" pitchFamily="2" charset="-122"/>
              </a:rPr>
              <a:t>主要作用是存档项目或阶段信息，完成计划的工作，释放组织团队资源以开展新工作。</a:t>
            </a:r>
            <a:endParaRPr lang="en-US" altLang="zh-CN" sz="1400" dirty="0">
              <a:solidFill>
                <a:srgbClr val="404040"/>
              </a:solidFill>
              <a:latin typeface="+mn-ea"/>
              <a:ea typeface="+mn-ea"/>
              <a:sym typeface="等线" panose="0201060003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ea typeface="+mn-ea"/>
                <a:sym typeface="等线" panose="02010600030101010101" pitchFamily="2" charset="-122"/>
              </a:rPr>
              <a:t>    如果没有结项过程对项目结果的验收和接受，就盲目结束项目或开始下一阶段工作，会导致关键干系人和管理层不满意，给项目的下一阶段的工作留下许多隐患。项目结束一般意味着项目目标的实现。</a:t>
            </a:r>
            <a:endParaRPr lang="zh-CN" altLang="en-US" sz="1400" b="1" dirty="0">
              <a:solidFill>
                <a:srgbClr val="404040"/>
              </a:solidFill>
              <a:latin typeface="+mn-ea"/>
              <a:ea typeface="+mn-ea"/>
              <a:sym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结项条件（摘录</a:t>
            </a:r>
            <a:r>
              <a:rPr lang="en-US" altLang="zh-CN" dirty="0"/>
              <a:t>PMBOOK 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9DE6CA41-D92B-46B6-AD87-2734ACFE3E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447752"/>
              </p:ext>
            </p:extLst>
          </p:nvPr>
        </p:nvGraphicFramePr>
        <p:xfrm>
          <a:off x="1518084" y="627534"/>
          <a:ext cx="6107832" cy="3958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30741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C7AEB3BD-43CB-419E-9E86-1D17F4635BC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04825" y="875049"/>
            <a:ext cx="8134350" cy="3533334"/>
            <a:chOff x="673100" y="1535031"/>
            <a:chExt cx="10845798" cy="4649229"/>
          </a:xfrm>
        </p:grpSpPr>
        <p:grpSp>
          <p:nvGrpSpPr>
            <p:cNvPr id="7" name="íşḷîde">
              <a:extLst>
                <a:ext uri="{FF2B5EF4-FFF2-40B4-BE49-F238E27FC236}">
                  <a16:creationId xmlns:a16="http://schemas.microsoft.com/office/drawing/2014/main" id="{45475FCC-4124-4F45-8FB7-A60A34A7D2F5}"/>
                </a:ext>
              </a:extLst>
            </p:cNvPr>
            <p:cNvGrpSpPr/>
            <p:nvPr/>
          </p:nvGrpSpPr>
          <p:grpSpPr>
            <a:xfrm>
              <a:off x="1769478" y="3156452"/>
              <a:ext cx="545098" cy="545096"/>
              <a:chOff x="1678604" y="2702157"/>
              <a:chExt cx="726845" cy="726843"/>
            </a:xfrm>
          </p:grpSpPr>
          <p:sp>
            <p:nvSpPr>
              <p:cNvPr id="43" name="ïşľidé">
                <a:extLst>
                  <a:ext uri="{FF2B5EF4-FFF2-40B4-BE49-F238E27FC236}">
                    <a16:creationId xmlns:a16="http://schemas.microsoft.com/office/drawing/2014/main" id="{F3012650-D243-4748-A89C-8738E2E8C430}"/>
                  </a:ext>
                </a:extLst>
              </p:cNvPr>
              <p:cNvSpPr/>
              <p:nvPr/>
            </p:nvSpPr>
            <p:spPr>
              <a:xfrm>
                <a:off x="1678604" y="2702157"/>
                <a:ext cx="726845" cy="726843"/>
              </a:xfrm>
              <a:prstGeom prst="flowChartConnector">
                <a:avLst/>
              </a:prstGeom>
              <a:solidFill>
                <a:srgbClr val="AB26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/>
                <a:endParaRPr sz="1350">
                  <a:solidFill>
                    <a:prstClr val="white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44" name="íśľïďe">
                <a:extLst>
                  <a:ext uri="{FF2B5EF4-FFF2-40B4-BE49-F238E27FC236}">
                    <a16:creationId xmlns:a16="http://schemas.microsoft.com/office/drawing/2014/main" id="{E14974BD-C507-4018-A2F0-E85D222B3362}"/>
                  </a:ext>
                </a:extLst>
              </p:cNvPr>
              <p:cNvSpPr/>
              <p:nvPr/>
            </p:nvSpPr>
            <p:spPr>
              <a:xfrm>
                <a:off x="1850910" y="2829720"/>
                <a:ext cx="382232" cy="471718"/>
              </a:xfrm>
              <a:custGeom>
                <a:avLst/>
                <a:gdLst>
                  <a:gd name="connsiteX0" fmla="*/ 35879 w 485081"/>
                  <a:gd name="connsiteY0" fmla="*/ 269773 h 598645"/>
                  <a:gd name="connsiteX1" fmla="*/ 35879 w 485081"/>
                  <a:gd name="connsiteY1" fmla="*/ 468960 h 598645"/>
                  <a:gd name="connsiteX2" fmla="*/ 206662 w 485081"/>
                  <a:gd name="connsiteY2" fmla="*/ 544908 h 598645"/>
                  <a:gd name="connsiteX3" fmla="*/ 206662 w 485081"/>
                  <a:gd name="connsiteY3" fmla="*/ 345722 h 598645"/>
                  <a:gd name="connsiteX4" fmla="*/ 142080 w 485081"/>
                  <a:gd name="connsiteY4" fmla="*/ 150835 h 598645"/>
                  <a:gd name="connsiteX5" fmla="*/ 143515 w 485081"/>
                  <a:gd name="connsiteY5" fmla="*/ 153701 h 598645"/>
                  <a:gd name="connsiteX6" fmla="*/ 170783 w 485081"/>
                  <a:gd name="connsiteY6" fmla="*/ 169464 h 598645"/>
                  <a:gd name="connsiteX7" fmla="*/ 188005 w 485081"/>
                  <a:gd name="connsiteY7" fmla="*/ 169464 h 598645"/>
                  <a:gd name="connsiteX8" fmla="*/ 188005 w 485081"/>
                  <a:gd name="connsiteY8" fmla="*/ 226784 h 598645"/>
                  <a:gd name="connsiteX9" fmla="*/ 221013 w 485081"/>
                  <a:gd name="connsiteY9" fmla="*/ 259743 h 598645"/>
                  <a:gd name="connsiteX10" fmla="*/ 264068 w 485081"/>
                  <a:gd name="connsiteY10" fmla="*/ 259743 h 598645"/>
                  <a:gd name="connsiteX11" fmla="*/ 295641 w 485081"/>
                  <a:gd name="connsiteY11" fmla="*/ 226784 h 598645"/>
                  <a:gd name="connsiteX12" fmla="*/ 295641 w 485081"/>
                  <a:gd name="connsiteY12" fmla="*/ 169464 h 598645"/>
                  <a:gd name="connsiteX13" fmla="*/ 312863 w 485081"/>
                  <a:gd name="connsiteY13" fmla="*/ 169464 h 598645"/>
                  <a:gd name="connsiteX14" fmla="*/ 341566 w 485081"/>
                  <a:gd name="connsiteY14" fmla="*/ 153701 h 598645"/>
                  <a:gd name="connsiteX15" fmla="*/ 343001 w 485081"/>
                  <a:gd name="connsiteY15" fmla="*/ 150835 h 598645"/>
                  <a:gd name="connsiteX16" fmla="*/ 475035 w 485081"/>
                  <a:gd name="connsiteY16" fmla="*/ 209588 h 598645"/>
                  <a:gd name="connsiteX17" fmla="*/ 485081 w 485081"/>
                  <a:gd name="connsiteY17" fmla="*/ 225351 h 598645"/>
                  <a:gd name="connsiteX18" fmla="*/ 485081 w 485081"/>
                  <a:gd name="connsiteY18" fmla="*/ 481857 h 598645"/>
                  <a:gd name="connsiteX19" fmla="*/ 475035 w 485081"/>
                  <a:gd name="connsiteY19" fmla="*/ 496186 h 598645"/>
                  <a:gd name="connsiteX20" fmla="*/ 248281 w 485081"/>
                  <a:gd name="connsiteY20" fmla="*/ 596496 h 598645"/>
                  <a:gd name="connsiteX21" fmla="*/ 235365 w 485081"/>
                  <a:gd name="connsiteY21" fmla="*/ 596496 h 598645"/>
                  <a:gd name="connsiteX22" fmla="*/ 8611 w 485081"/>
                  <a:gd name="connsiteY22" fmla="*/ 496186 h 598645"/>
                  <a:gd name="connsiteX23" fmla="*/ 0 w 485081"/>
                  <a:gd name="connsiteY23" fmla="*/ 481857 h 598645"/>
                  <a:gd name="connsiteX24" fmla="*/ 0 w 485081"/>
                  <a:gd name="connsiteY24" fmla="*/ 225351 h 598645"/>
                  <a:gd name="connsiteX25" fmla="*/ 8611 w 485081"/>
                  <a:gd name="connsiteY25" fmla="*/ 209588 h 598645"/>
                  <a:gd name="connsiteX26" fmla="*/ 241824 w 485081"/>
                  <a:gd name="connsiteY26" fmla="*/ 0 h 598645"/>
                  <a:gd name="connsiteX27" fmla="*/ 254021 w 485081"/>
                  <a:gd name="connsiteY27" fmla="*/ 7519 h 598645"/>
                  <a:gd name="connsiteX28" fmla="*/ 325771 w 485081"/>
                  <a:gd name="connsiteY28" fmla="*/ 130681 h 598645"/>
                  <a:gd name="connsiteX29" fmla="*/ 312856 w 485081"/>
                  <a:gd name="connsiteY29" fmla="*/ 152163 h 598645"/>
                  <a:gd name="connsiteX30" fmla="*/ 276981 w 485081"/>
                  <a:gd name="connsiteY30" fmla="*/ 152163 h 598645"/>
                  <a:gd name="connsiteX31" fmla="*/ 276981 w 485081"/>
                  <a:gd name="connsiteY31" fmla="*/ 226633 h 598645"/>
                  <a:gd name="connsiteX32" fmla="*/ 264066 w 485081"/>
                  <a:gd name="connsiteY32" fmla="*/ 240954 h 598645"/>
                  <a:gd name="connsiteX33" fmla="*/ 221016 w 485081"/>
                  <a:gd name="connsiteY33" fmla="*/ 240954 h 598645"/>
                  <a:gd name="connsiteX34" fmla="*/ 206666 w 485081"/>
                  <a:gd name="connsiteY34" fmla="*/ 226633 h 598645"/>
                  <a:gd name="connsiteX35" fmla="*/ 206666 w 485081"/>
                  <a:gd name="connsiteY35" fmla="*/ 152163 h 598645"/>
                  <a:gd name="connsiteX36" fmla="*/ 170791 w 485081"/>
                  <a:gd name="connsiteY36" fmla="*/ 152163 h 598645"/>
                  <a:gd name="connsiteX37" fmla="*/ 159311 w 485081"/>
                  <a:gd name="connsiteY37" fmla="*/ 130681 h 598645"/>
                  <a:gd name="connsiteX38" fmla="*/ 229626 w 485081"/>
                  <a:gd name="connsiteY38" fmla="*/ 7519 h 598645"/>
                  <a:gd name="connsiteX39" fmla="*/ 241824 w 485081"/>
                  <a:gd name="connsiteY39" fmla="*/ 0 h 598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85081" h="598645">
                    <a:moveTo>
                      <a:pt x="35879" y="269773"/>
                    </a:moveTo>
                    <a:lnTo>
                      <a:pt x="35879" y="468960"/>
                    </a:lnTo>
                    <a:lnTo>
                      <a:pt x="206662" y="544908"/>
                    </a:lnTo>
                    <a:lnTo>
                      <a:pt x="206662" y="345722"/>
                    </a:lnTo>
                    <a:close/>
                    <a:moveTo>
                      <a:pt x="142080" y="150835"/>
                    </a:moveTo>
                    <a:cubicBezTo>
                      <a:pt x="142080" y="150835"/>
                      <a:pt x="142080" y="152268"/>
                      <a:pt x="143515" y="153701"/>
                    </a:cubicBezTo>
                    <a:cubicBezTo>
                      <a:pt x="149256" y="163732"/>
                      <a:pt x="159302" y="169464"/>
                      <a:pt x="170783" y="169464"/>
                    </a:cubicBezTo>
                    <a:lnTo>
                      <a:pt x="188005" y="169464"/>
                    </a:lnTo>
                    <a:lnTo>
                      <a:pt x="188005" y="226784"/>
                    </a:lnTo>
                    <a:cubicBezTo>
                      <a:pt x="188005" y="245413"/>
                      <a:pt x="202356" y="259743"/>
                      <a:pt x="221013" y="259743"/>
                    </a:cubicBezTo>
                    <a:lnTo>
                      <a:pt x="264068" y="259743"/>
                    </a:lnTo>
                    <a:cubicBezTo>
                      <a:pt x="281290" y="259743"/>
                      <a:pt x="295641" y="245413"/>
                      <a:pt x="295641" y="226784"/>
                    </a:cubicBezTo>
                    <a:lnTo>
                      <a:pt x="295641" y="169464"/>
                    </a:lnTo>
                    <a:lnTo>
                      <a:pt x="312863" y="169464"/>
                    </a:lnTo>
                    <a:cubicBezTo>
                      <a:pt x="324344" y="169464"/>
                      <a:pt x="335825" y="163732"/>
                      <a:pt x="341566" y="153701"/>
                    </a:cubicBezTo>
                    <a:cubicBezTo>
                      <a:pt x="341566" y="152268"/>
                      <a:pt x="341566" y="150835"/>
                      <a:pt x="343001" y="150835"/>
                    </a:cubicBezTo>
                    <a:lnTo>
                      <a:pt x="475035" y="209588"/>
                    </a:lnTo>
                    <a:cubicBezTo>
                      <a:pt x="480776" y="212454"/>
                      <a:pt x="485081" y="218186"/>
                      <a:pt x="485081" y="225351"/>
                    </a:cubicBezTo>
                    <a:lnTo>
                      <a:pt x="485081" y="481857"/>
                    </a:lnTo>
                    <a:cubicBezTo>
                      <a:pt x="485081" y="487589"/>
                      <a:pt x="480776" y="493320"/>
                      <a:pt x="475035" y="496186"/>
                    </a:cubicBezTo>
                    <a:lnTo>
                      <a:pt x="248281" y="596496"/>
                    </a:lnTo>
                    <a:cubicBezTo>
                      <a:pt x="243976" y="599362"/>
                      <a:pt x="239670" y="599362"/>
                      <a:pt x="235365" y="596496"/>
                    </a:cubicBezTo>
                    <a:lnTo>
                      <a:pt x="8611" y="496186"/>
                    </a:lnTo>
                    <a:cubicBezTo>
                      <a:pt x="2870" y="493320"/>
                      <a:pt x="0" y="487589"/>
                      <a:pt x="0" y="481857"/>
                    </a:cubicBezTo>
                    <a:lnTo>
                      <a:pt x="0" y="225351"/>
                    </a:lnTo>
                    <a:cubicBezTo>
                      <a:pt x="0" y="218186"/>
                      <a:pt x="2870" y="212454"/>
                      <a:pt x="8611" y="209588"/>
                    </a:cubicBezTo>
                    <a:close/>
                    <a:moveTo>
                      <a:pt x="241824" y="0"/>
                    </a:moveTo>
                    <a:cubicBezTo>
                      <a:pt x="246487" y="0"/>
                      <a:pt x="251151" y="2507"/>
                      <a:pt x="254021" y="7519"/>
                    </a:cubicBezTo>
                    <a:lnTo>
                      <a:pt x="325771" y="130681"/>
                    </a:lnTo>
                    <a:cubicBezTo>
                      <a:pt x="331511" y="139274"/>
                      <a:pt x="324336" y="152163"/>
                      <a:pt x="312856" y="152163"/>
                    </a:cubicBezTo>
                    <a:lnTo>
                      <a:pt x="276981" y="152163"/>
                    </a:lnTo>
                    <a:lnTo>
                      <a:pt x="276981" y="226633"/>
                    </a:lnTo>
                    <a:cubicBezTo>
                      <a:pt x="276981" y="235226"/>
                      <a:pt x="271241" y="240954"/>
                      <a:pt x="264066" y="240954"/>
                    </a:cubicBezTo>
                    <a:lnTo>
                      <a:pt x="221016" y="240954"/>
                    </a:lnTo>
                    <a:cubicBezTo>
                      <a:pt x="212406" y="240954"/>
                      <a:pt x="206666" y="235226"/>
                      <a:pt x="206666" y="226633"/>
                    </a:cubicBezTo>
                    <a:lnTo>
                      <a:pt x="206666" y="152163"/>
                    </a:lnTo>
                    <a:lnTo>
                      <a:pt x="170791" y="152163"/>
                    </a:lnTo>
                    <a:cubicBezTo>
                      <a:pt x="160746" y="152163"/>
                      <a:pt x="153571" y="139274"/>
                      <a:pt x="159311" y="130681"/>
                    </a:cubicBezTo>
                    <a:lnTo>
                      <a:pt x="229626" y="7519"/>
                    </a:lnTo>
                    <a:cubicBezTo>
                      <a:pt x="232496" y="2507"/>
                      <a:pt x="237160" y="0"/>
                      <a:pt x="24182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/>
                <a:endParaRPr sz="1350">
                  <a:solidFill>
                    <a:prstClr val="white"/>
                  </a:solidFill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8" name="íśḷîďe">
              <a:extLst>
                <a:ext uri="{FF2B5EF4-FFF2-40B4-BE49-F238E27FC236}">
                  <a16:creationId xmlns:a16="http://schemas.microsoft.com/office/drawing/2014/main" id="{FCDAA4D5-E01C-4A50-B98C-68BED6B4E0A1}"/>
                </a:ext>
              </a:extLst>
            </p:cNvPr>
            <p:cNvGrpSpPr/>
            <p:nvPr/>
          </p:nvGrpSpPr>
          <p:grpSpPr>
            <a:xfrm>
              <a:off x="673100" y="2178208"/>
              <a:ext cx="10845798" cy="2146143"/>
              <a:chOff x="759341" y="2178207"/>
              <a:chExt cx="10775432" cy="2877174"/>
            </a:xfrm>
          </p:grpSpPr>
          <p:grpSp>
            <p:nvGrpSpPr>
              <p:cNvPr id="29" name="íšlíďè">
                <a:extLst>
                  <a:ext uri="{FF2B5EF4-FFF2-40B4-BE49-F238E27FC236}">
                    <a16:creationId xmlns:a16="http://schemas.microsoft.com/office/drawing/2014/main" id="{DE481E03-0849-4A19-9879-B4F41D6CF37C}"/>
                  </a:ext>
                </a:extLst>
              </p:cNvPr>
              <p:cNvGrpSpPr/>
              <p:nvPr/>
            </p:nvGrpSpPr>
            <p:grpSpPr>
              <a:xfrm>
                <a:off x="759341" y="2178207"/>
                <a:ext cx="10775432" cy="2877174"/>
                <a:chOff x="1267063" y="2254531"/>
                <a:chExt cx="9773218" cy="2609570"/>
              </a:xfrm>
            </p:grpSpPr>
            <p:sp>
              <p:nvSpPr>
                <p:cNvPr id="34" name="ïṩļïḓè">
                  <a:extLst>
                    <a:ext uri="{FF2B5EF4-FFF2-40B4-BE49-F238E27FC236}">
                      <a16:creationId xmlns:a16="http://schemas.microsoft.com/office/drawing/2014/main" id="{E45F210F-94D8-4515-AAF7-E3C49A507F99}"/>
                    </a:ext>
                  </a:extLst>
                </p:cNvPr>
                <p:cNvSpPr/>
                <p:nvPr/>
              </p:nvSpPr>
              <p:spPr>
                <a:xfrm>
                  <a:off x="1267063" y="4211672"/>
                  <a:ext cx="2280103" cy="65235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  <p:sp>
              <p:nvSpPr>
                <p:cNvPr id="35" name="ïSḻîḑè">
                  <a:extLst>
                    <a:ext uri="{FF2B5EF4-FFF2-40B4-BE49-F238E27FC236}">
                      <a16:creationId xmlns:a16="http://schemas.microsoft.com/office/drawing/2014/main" id="{94469FB1-51B7-4846-8BF7-716A54F6B5E3}"/>
                    </a:ext>
                  </a:extLst>
                </p:cNvPr>
                <p:cNvSpPr/>
                <p:nvPr/>
              </p:nvSpPr>
              <p:spPr>
                <a:xfrm>
                  <a:off x="3857136" y="3559317"/>
                  <a:ext cx="2019480" cy="65235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  <p:sp>
              <p:nvSpPr>
                <p:cNvPr id="36" name="iṣľîďé">
                  <a:extLst>
                    <a:ext uri="{FF2B5EF4-FFF2-40B4-BE49-F238E27FC236}">
                      <a16:creationId xmlns:a16="http://schemas.microsoft.com/office/drawing/2014/main" id="{04686ADF-4C14-4291-A927-BAAE0C3B9EDF}"/>
                    </a:ext>
                  </a:extLst>
                </p:cNvPr>
                <p:cNvSpPr/>
                <p:nvPr/>
              </p:nvSpPr>
              <p:spPr>
                <a:xfrm>
                  <a:off x="6301917" y="2907041"/>
                  <a:ext cx="2019480" cy="65235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  <p:sp>
              <p:nvSpPr>
                <p:cNvPr id="37" name="iŝ1idè">
                  <a:extLst>
                    <a:ext uri="{FF2B5EF4-FFF2-40B4-BE49-F238E27FC236}">
                      <a16:creationId xmlns:a16="http://schemas.microsoft.com/office/drawing/2014/main" id="{400CCEDE-793C-414F-8F96-42F264FCB680}"/>
                    </a:ext>
                  </a:extLst>
                </p:cNvPr>
                <p:cNvSpPr/>
                <p:nvPr/>
              </p:nvSpPr>
              <p:spPr>
                <a:xfrm>
                  <a:off x="8760178" y="2254532"/>
                  <a:ext cx="2280103" cy="65235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  <p:sp>
              <p:nvSpPr>
                <p:cNvPr id="38" name="ïṧḷîḑê">
                  <a:extLst>
                    <a:ext uri="{FF2B5EF4-FFF2-40B4-BE49-F238E27FC236}">
                      <a16:creationId xmlns:a16="http://schemas.microsoft.com/office/drawing/2014/main" id="{AC242BFF-F16B-4688-9739-47C7A99C1DA6}"/>
                    </a:ext>
                  </a:extLst>
                </p:cNvPr>
                <p:cNvSpPr/>
                <p:nvPr/>
              </p:nvSpPr>
              <p:spPr>
                <a:xfrm flipV="1">
                  <a:off x="8321397" y="2254531"/>
                  <a:ext cx="438781" cy="1304862"/>
                </a:xfrm>
                <a:custGeom>
                  <a:avLst/>
                  <a:gdLst>
                    <a:gd name="connsiteX0" fmla="*/ 962026 w 962026"/>
                    <a:gd name="connsiteY0" fmla="*/ 1924050 h 1924050"/>
                    <a:gd name="connsiteX1" fmla="*/ 962026 w 962026"/>
                    <a:gd name="connsiteY1" fmla="*/ 962025 h 1924050"/>
                    <a:gd name="connsiteX2" fmla="*/ 962025 w 962026"/>
                    <a:gd name="connsiteY2" fmla="*/ 962025 h 1924050"/>
                    <a:gd name="connsiteX3" fmla="*/ 0 w 962026"/>
                    <a:gd name="connsiteY3" fmla="*/ 0 h 1924050"/>
                    <a:gd name="connsiteX4" fmla="*/ 0 w 962026"/>
                    <a:gd name="connsiteY4" fmla="*/ 962025 h 1924050"/>
                    <a:gd name="connsiteX5" fmla="*/ 1 w 962026"/>
                    <a:gd name="connsiteY5" fmla="*/ 962025 h 1924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62026" h="1924050">
                      <a:moveTo>
                        <a:pt x="962026" y="1924050"/>
                      </a:moveTo>
                      <a:lnTo>
                        <a:pt x="962026" y="962025"/>
                      </a:lnTo>
                      <a:lnTo>
                        <a:pt x="962025" y="962025"/>
                      </a:lnTo>
                      <a:lnTo>
                        <a:pt x="0" y="0"/>
                      </a:lnTo>
                      <a:lnTo>
                        <a:pt x="0" y="962025"/>
                      </a:lnTo>
                      <a:lnTo>
                        <a:pt x="1" y="96202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  <p:sp>
              <p:nvSpPr>
                <p:cNvPr id="39" name="iṥľídê">
                  <a:extLst>
                    <a:ext uri="{FF2B5EF4-FFF2-40B4-BE49-F238E27FC236}">
                      <a16:creationId xmlns:a16="http://schemas.microsoft.com/office/drawing/2014/main" id="{3B6EB28C-EE5E-40B9-BDE5-308167C89D0B}"/>
                    </a:ext>
                  </a:extLst>
                </p:cNvPr>
                <p:cNvSpPr/>
                <p:nvPr/>
              </p:nvSpPr>
              <p:spPr>
                <a:xfrm flipV="1">
                  <a:off x="5863136" y="2906884"/>
                  <a:ext cx="438781" cy="1304862"/>
                </a:xfrm>
                <a:custGeom>
                  <a:avLst/>
                  <a:gdLst>
                    <a:gd name="connsiteX0" fmla="*/ 962026 w 962026"/>
                    <a:gd name="connsiteY0" fmla="*/ 1924050 h 1924050"/>
                    <a:gd name="connsiteX1" fmla="*/ 962026 w 962026"/>
                    <a:gd name="connsiteY1" fmla="*/ 962025 h 1924050"/>
                    <a:gd name="connsiteX2" fmla="*/ 962025 w 962026"/>
                    <a:gd name="connsiteY2" fmla="*/ 962025 h 1924050"/>
                    <a:gd name="connsiteX3" fmla="*/ 0 w 962026"/>
                    <a:gd name="connsiteY3" fmla="*/ 0 h 1924050"/>
                    <a:gd name="connsiteX4" fmla="*/ 0 w 962026"/>
                    <a:gd name="connsiteY4" fmla="*/ 962025 h 1924050"/>
                    <a:gd name="connsiteX5" fmla="*/ 1 w 962026"/>
                    <a:gd name="connsiteY5" fmla="*/ 962025 h 1924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62026" h="1924050">
                      <a:moveTo>
                        <a:pt x="962026" y="1924050"/>
                      </a:moveTo>
                      <a:lnTo>
                        <a:pt x="962026" y="962025"/>
                      </a:lnTo>
                      <a:lnTo>
                        <a:pt x="962025" y="962025"/>
                      </a:lnTo>
                      <a:lnTo>
                        <a:pt x="0" y="0"/>
                      </a:lnTo>
                      <a:lnTo>
                        <a:pt x="0" y="962025"/>
                      </a:lnTo>
                      <a:lnTo>
                        <a:pt x="1" y="96202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  <p:sp>
              <p:nvSpPr>
                <p:cNvPr id="40" name="îṧḻïďè">
                  <a:extLst>
                    <a:ext uri="{FF2B5EF4-FFF2-40B4-BE49-F238E27FC236}">
                      <a16:creationId xmlns:a16="http://schemas.microsoft.com/office/drawing/2014/main" id="{7A923D07-1D0A-4810-B6F6-8521B92B6689}"/>
                    </a:ext>
                  </a:extLst>
                </p:cNvPr>
                <p:cNvSpPr/>
                <p:nvPr/>
              </p:nvSpPr>
              <p:spPr>
                <a:xfrm flipV="1">
                  <a:off x="3431835" y="3559239"/>
                  <a:ext cx="438781" cy="1304862"/>
                </a:xfrm>
                <a:custGeom>
                  <a:avLst/>
                  <a:gdLst>
                    <a:gd name="connsiteX0" fmla="*/ 962026 w 962026"/>
                    <a:gd name="connsiteY0" fmla="*/ 1924050 h 1924050"/>
                    <a:gd name="connsiteX1" fmla="*/ 962026 w 962026"/>
                    <a:gd name="connsiteY1" fmla="*/ 962025 h 1924050"/>
                    <a:gd name="connsiteX2" fmla="*/ 962025 w 962026"/>
                    <a:gd name="connsiteY2" fmla="*/ 962025 h 1924050"/>
                    <a:gd name="connsiteX3" fmla="*/ 0 w 962026"/>
                    <a:gd name="connsiteY3" fmla="*/ 0 h 1924050"/>
                    <a:gd name="connsiteX4" fmla="*/ 0 w 962026"/>
                    <a:gd name="connsiteY4" fmla="*/ 962025 h 1924050"/>
                    <a:gd name="connsiteX5" fmla="*/ 1 w 962026"/>
                    <a:gd name="connsiteY5" fmla="*/ 962025 h 1924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62026" h="1924050">
                      <a:moveTo>
                        <a:pt x="962026" y="1924050"/>
                      </a:moveTo>
                      <a:lnTo>
                        <a:pt x="962026" y="962025"/>
                      </a:lnTo>
                      <a:lnTo>
                        <a:pt x="962025" y="962025"/>
                      </a:lnTo>
                      <a:lnTo>
                        <a:pt x="0" y="0"/>
                      </a:lnTo>
                      <a:lnTo>
                        <a:pt x="0" y="962025"/>
                      </a:lnTo>
                      <a:lnTo>
                        <a:pt x="1" y="96202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  <p:sp>
              <p:nvSpPr>
                <p:cNvPr id="41" name="ísľïdè">
                  <a:extLst>
                    <a:ext uri="{FF2B5EF4-FFF2-40B4-BE49-F238E27FC236}">
                      <a16:creationId xmlns:a16="http://schemas.microsoft.com/office/drawing/2014/main" id="{75631241-4EC0-420C-B1F3-3D139B1CDD28}"/>
                    </a:ext>
                  </a:extLst>
                </p:cNvPr>
                <p:cNvSpPr/>
                <p:nvPr/>
              </p:nvSpPr>
              <p:spPr>
                <a:xfrm>
                  <a:off x="2147998" y="4211672"/>
                  <a:ext cx="1283837" cy="65235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  <p:sp>
              <p:nvSpPr>
                <p:cNvPr id="42" name="íšľïḓe">
                  <a:extLst>
                    <a:ext uri="{FF2B5EF4-FFF2-40B4-BE49-F238E27FC236}">
                      <a16:creationId xmlns:a16="http://schemas.microsoft.com/office/drawing/2014/main" id="{9969285E-68BC-4F7D-A689-4FD7CAE74008}"/>
                    </a:ext>
                  </a:extLst>
                </p:cNvPr>
                <p:cNvSpPr/>
                <p:nvPr/>
              </p:nvSpPr>
              <p:spPr>
                <a:xfrm>
                  <a:off x="8760179" y="2254532"/>
                  <a:ext cx="1071182" cy="65235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685800"/>
                  <a:endParaRPr sz="1350">
                    <a:solidFill>
                      <a:prstClr val="white"/>
                    </a:solidFill>
                    <a:latin typeface="Arial"/>
                    <a:ea typeface="Microsoft YaHei"/>
                  </a:endParaRPr>
                </a:p>
              </p:txBody>
            </p:sp>
          </p:grpSp>
          <p:sp>
            <p:nvSpPr>
              <p:cNvPr id="30" name="ïṧľide">
                <a:extLst>
                  <a:ext uri="{FF2B5EF4-FFF2-40B4-BE49-F238E27FC236}">
                    <a16:creationId xmlns:a16="http://schemas.microsoft.com/office/drawing/2014/main" id="{BF658B99-76C8-4C63-9BC0-32CDAA0E02EC}"/>
                  </a:ext>
                </a:extLst>
              </p:cNvPr>
              <p:cNvSpPr txBox="1"/>
              <p:nvPr/>
            </p:nvSpPr>
            <p:spPr bwMode="auto">
              <a:xfrm>
                <a:off x="871829" y="4335964"/>
                <a:ext cx="2288943" cy="719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35100" rIns="67500" bIns="35100" anchor="ctr" anchorCtr="0">
                <a:normAutofit/>
              </a:bodyPr>
              <a:lstStyle/>
              <a:p>
                <a:pPr algn="ctr" defTabSz="685800">
                  <a:spcBef>
                    <a:spcPct val="0"/>
                  </a:spcBef>
                </a:pPr>
                <a:r>
                  <a:rPr lang="zh-CN" altLang="en-US" sz="1500" b="1" dirty="0">
                    <a:solidFill>
                      <a:prstClr val="black"/>
                    </a:solidFill>
                    <a:latin typeface="Arial"/>
                    <a:ea typeface="Microsoft YaHei"/>
                  </a:rPr>
                  <a:t>结项准备</a:t>
                </a:r>
                <a:endParaRPr lang="en-US" altLang="zh-CN" sz="1500" b="1" dirty="0">
                  <a:solidFill>
                    <a:prstClr val="black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31" name="íṡľiḍe">
                <a:extLst>
                  <a:ext uri="{FF2B5EF4-FFF2-40B4-BE49-F238E27FC236}">
                    <a16:creationId xmlns:a16="http://schemas.microsoft.com/office/drawing/2014/main" id="{ED09EFA7-8DCE-409F-A987-98BE39993368}"/>
                  </a:ext>
                </a:extLst>
              </p:cNvPr>
              <p:cNvSpPr txBox="1"/>
              <p:nvPr/>
            </p:nvSpPr>
            <p:spPr bwMode="auto">
              <a:xfrm>
                <a:off x="3615019" y="3623062"/>
                <a:ext cx="2211710" cy="719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35100" rIns="67500" bIns="35100" anchor="ctr" anchorCtr="0">
                <a:normAutofit/>
              </a:bodyPr>
              <a:lstStyle/>
              <a:p>
                <a:pPr algn="ctr" defTabSz="685800">
                  <a:spcBef>
                    <a:spcPct val="0"/>
                  </a:spcBef>
                </a:pPr>
                <a:r>
                  <a:rPr lang="zh-CN" altLang="en-US" sz="1500" b="1" dirty="0">
                    <a:solidFill>
                      <a:prstClr val="black"/>
                    </a:solidFill>
                    <a:latin typeface="Arial"/>
                    <a:ea typeface="Microsoft YaHei"/>
                  </a:rPr>
                  <a:t>结项申请</a:t>
                </a:r>
                <a:endParaRPr lang="en-US" altLang="zh-CN" sz="1500" b="1" dirty="0">
                  <a:solidFill>
                    <a:prstClr val="black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32" name="iṧľîďe">
                <a:extLst>
                  <a:ext uri="{FF2B5EF4-FFF2-40B4-BE49-F238E27FC236}">
                    <a16:creationId xmlns:a16="http://schemas.microsoft.com/office/drawing/2014/main" id="{62ADC3FB-48B1-4833-B0E5-FFBE84719691}"/>
                  </a:ext>
                </a:extLst>
              </p:cNvPr>
              <p:cNvSpPr txBox="1"/>
              <p:nvPr/>
            </p:nvSpPr>
            <p:spPr bwMode="auto">
              <a:xfrm>
                <a:off x="6330330" y="2877668"/>
                <a:ext cx="2211710" cy="719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35100" rIns="67500" bIns="35100" anchor="ctr" anchorCtr="0">
                <a:normAutofit/>
              </a:bodyPr>
              <a:lstStyle/>
              <a:p>
                <a:pPr algn="ctr" defTabSz="685800">
                  <a:spcBef>
                    <a:spcPct val="0"/>
                  </a:spcBef>
                </a:pPr>
                <a:r>
                  <a:rPr lang="zh-CN" altLang="en-US" sz="1500" b="1" dirty="0">
                    <a:solidFill>
                      <a:prstClr val="black"/>
                    </a:solidFill>
                    <a:latin typeface="Arial"/>
                    <a:ea typeface="Microsoft YaHei"/>
                  </a:rPr>
                  <a:t>结项评审</a:t>
                </a:r>
                <a:endParaRPr lang="en-US" altLang="zh-CN" sz="1500" b="1" dirty="0">
                  <a:solidFill>
                    <a:prstClr val="black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33" name="îsḻîḓe">
                <a:extLst>
                  <a:ext uri="{FF2B5EF4-FFF2-40B4-BE49-F238E27FC236}">
                    <a16:creationId xmlns:a16="http://schemas.microsoft.com/office/drawing/2014/main" id="{A26C311D-44C3-4A9E-A721-376ABDB83767}"/>
                  </a:ext>
                </a:extLst>
              </p:cNvPr>
              <p:cNvSpPr txBox="1"/>
              <p:nvPr/>
            </p:nvSpPr>
            <p:spPr bwMode="auto">
              <a:xfrm>
                <a:off x="9020852" y="2178208"/>
                <a:ext cx="2513921" cy="719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35100" rIns="67500" bIns="35100" anchor="ctr" anchorCtr="0">
                <a:normAutofit/>
              </a:bodyPr>
              <a:lstStyle/>
              <a:p>
                <a:pPr algn="ctr" defTabSz="685800">
                  <a:spcBef>
                    <a:spcPct val="0"/>
                  </a:spcBef>
                </a:pPr>
                <a:r>
                  <a:rPr lang="zh-CN" altLang="en-US" sz="1500" b="1" dirty="0">
                    <a:solidFill>
                      <a:prstClr val="black"/>
                    </a:solidFill>
                    <a:latin typeface="Arial"/>
                    <a:ea typeface="Microsoft YaHei"/>
                  </a:rPr>
                  <a:t>文档归档</a:t>
                </a:r>
                <a:endParaRPr lang="en-US" altLang="zh-CN" sz="1500" b="1" dirty="0">
                  <a:solidFill>
                    <a:prstClr val="black"/>
                  </a:solidFill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9" name="îšḷïḑé">
              <a:extLst>
                <a:ext uri="{FF2B5EF4-FFF2-40B4-BE49-F238E27FC236}">
                  <a16:creationId xmlns:a16="http://schemas.microsoft.com/office/drawing/2014/main" id="{A0D87970-F587-4BD9-8C29-7DF2E572DE61}"/>
                </a:ext>
              </a:extLst>
            </p:cNvPr>
            <p:cNvGrpSpPr/>
            <p:nvPr/>
          </p:nvGrpSpPr>
          <p:grpSpPr>
            <a:xfrm>
              <a:off x="4442021" y="2611356"/>
              <a:ext cx="545098" cy="545096"/>
              <a:chOff x="1678604" y="2702157"/>
              <a:chExt cx="726845" cy="726843"/>
            </a:xfrm>
          </p:grpSpPr>
          <p:sp>
            <p:nvSpPr>
              <p:cNvPr id="27" name="ïṧḷíḋé">
                <a:extLst>
                  <a:ext uri="{FF2B5EF4-FFF2-40B4-BE49-F238E27FC236}">
                    <a16:creationId xmlns:a16="http://schemas.microsoft.com/office/drawing/2014/main" id="{A6EAC22D-1809-4E3D-862B-F16B6370BE6F}"/>
                  </a:ext>
                </a:extLst>
              </p:cNvPr>
              <p:cNvSpPr/>
              <p:nvPr/>
            </p:nvSpPr>
            <p:spPr>
              <a:xfrm>
                <a:off x="1678604" y="2702157"/>
                <a:ext cx="726845" cy="726843"/>
              </a:xfrm>
              <a:prstGeom prst="flowChartConnector">
                <a:avLst/>
              </a:prstGeom>
              <a:solidFill>
                <a:srgbClr val="AB26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/>
                <a:endParaRPr sz="1350">
                  <a:solidFill>
                    <a:prstClr val="white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28" name="î$ḷíḋè">
                <a:extLst>
                  <a:ext uri="{FF2B5EF4-FFF2-40B4-BE49-F238E27FC236}">
                    <a16:creationId xmlns:a16="http://schemas.microsoft.com/office/drawing/2014/main" id="{7140FC19-EBED-4EA1-98F4-83F82B28AF0C}"/>
                  </a:ext>
                </a:extLst>
              </p:cNvPr>
              <p:cNvSpPr/>
              <p:nvPr/>
            </p:nvSpPr>
            <p:spPr>
              <a:xfrm>
                <a:off x="1850910" y="2829720"/>
                <a:ext cx="382232" cy="471718"/>
              </a:xfrm>
              <a:custGeom>
                <a:avLst/>
                <a:gdLst>
                  <a:gd name="connsiteX0" fmla="*/ 35879 w 485081"/>
                  <a:gd name="connsiteY0" fmla="*/ 269773 h 598645"/>
                  <a:gd name="connsiteX1" fmla="*/ 35879 w 485081"/>
                  <a:gd name="connsiteY1" fmla="*/ 468960 h 598645"/>
                  <a:gd name="connsiteX2" fmla="*/ 206662 w 485081"/>
                  <a:gd name="connsiteY2" fmla="*/ 544908 h 598645"/>
                  <a:gd name="connsiteX3" fmla="*/ 206662 w 485081"/>
                  <a:gd name="connsiteY3" fmla="*/ 345722 h 598645"/>
                  <a:gd name="connsiteX4" fmla="*/ 142080 w 485081"/>
                  <a:gd name="connsiteY4" fmla="*/ 150835 h 598645"/>
                  <a:gd name="connsiteX5" fmla="*/ 143515 w 485081"/>
                  <a:gd name="connsiteY5" fmla="*/ 153701 h 598645"/>
                  <a:gd name="connsiteX6" fmla="*/ 170783 w 485081"/>
                  <a:gd name="connsiteY6" fmla="*/ 169464 h 598645"/>
                  <a:gd name="connsiteX7" fmla="*/ 188005 w 485081"/>
                  <a:gd name="connsiteY7" fmla="*/ 169464 h 598645"/>
                  <a:gd name="connsiteX8" fmla="*/ 188005 w 485081"/>
                  <a:gd name="connsiteY8" fmla="*/ 226784 h 598645"/>
                  <a:gd name="connsiteX9" fmla="*/ 221013 w 485081"/>
                  <a:gd name="connsiteY9" fmla="*/ 259743 h 598645"/>
                  <a:gd name="connsiteX10" fmla="*/ 264068 w 485081"/>
                  <a:gd name="connsiteY10" fmla="*/ 259743 h 598645"/>
                  <a:gd name="connsiteX11" fmla="*/ 295641 w 485081"/>
                  <a:gd name="connsiteY11" fmla="*/ 226784 h 598645"/>
                  <a:gd name="connsiteX12" fmla="*/ 295641 w 485081"/>
                  <a:gd name="connsiteY12" fmla="*/ 169464 h 598645"/>
                  <a:gd name="connsiteX13" fmla="*/ 312863 w 485081"/>
                  <a:gd name="connsiteY13" fmla="*/ 169464 h 598645"/>
                  <a:gd name="connsiteX14" fmla="*/ 341566 w 485081"/>
                  <a:gd name="connsiteY14" fmla="*/ 153701 h 598645"/>
                  <a:gd name="connsiteX15" fmla="*/ 343001 w 485081"/>
                  <a:gd name="connsiteY15" fmla="*/ 150835 h 598645"/>
                  <a:gd name="connsiteX16" fmla="*/ 475035 w 485081"/>
                  <a:gd name="connsiteY16" fmla="*/ 209588 h 598645"/>
                  <a:gd name="connsiteX17" fmla="*/ 485081 w 485081"/>
                  <a:gd name="connsiteY17" fmla="*/ 225351 h 598645"/>
                  <a:gd name="connsiteX18" fmla="*/ 485081 w 485081"/>
                  <a:gd name="connsiteY18" fmla="*/ 481857 h 598645"/>
                  <a:gd name="connsiteX19" fmla="*/ 475035 w 485081"/>
                  <a:gd name="connsiteY19" fmla="*/ 496186 h 598645"/>
                  <a:gd name="connsiteX20" fmla="*/ 248281 w 485081"/>
                  <a:gd name="connsiteY20" fmla="*/ 596496 h 598645"/>
                  <a:gd name="connsiteX21" fmla="*/ 235365 w 485081"/>
                  <a:gd name="connsiteY21" fmla="*/ 596496 h 598645"/>
                  <a:gd name="connsiteX22" fmla="*/ 8611 w 485081"/>
                  <a:gd name="connsiteY22" fmla="*/ 496186 h 598645"/>
                  <a:gd name="connsiteX23" fmla="*/ 0 w 485081"/>
                  <a:gd name="connsiteY23" fmla="*/ 481857 h 598645"/>
                  <a:gd name="connsiteX24" fmla="*/ 0 w 485081"/>
                  <a:gd name="connsiteY24" fmla="*/ 225351 h 598645"/>
                  <a:gd name="connsiteX25" fmla="*/ 8611 w 485081"/>
                  <a:gd name="connsiteY25" fmla="*/ 209588 h 598645"/>
                  <a:gd name="connsiteX26" fmla="*/ 241824 w 485081"/>
                  <a:gd name="connsiteY26" fmla="*/ 0 h 598645"/>
                  <a:gd name="connsiteX27" fmla="*/ 254021 w 485081"/>
                  <a:gd name="connsiteY27" fmla="*/ 7519 h 598645"/>
                  <a:gd name="connsiteX28" fmla="*/ 325771 w 485081"/>
                  <a:gd name="connsiteY28" fmla="*/ 130681 h 598645"/>
                  <a:gd name="connsiteX29" fmla="*/ 312856 w 485081"/>
                  <a:gd name="connsiteY29" fmla="*/ 152163 h 598645"/>
                  <a:gd name="connsiteX30" fmla="*/ 276981 w 485081"/>
                  <a:gd name="connsiteY30" fmla="*/ 152163 h 598645"/>
                  <a:gd name="connsiteX31" fmla="*/ 276981 w 485081"/>
                  <a:gd name="connsiteY31" fmla="*/ 226633 h 598645"/>
                  <a:gd name="connsiteX32" fmla="*/ 264066 w 485081"/>
                  <a:gd name="connsiteY32" fmla="*/ 240954 h 598645"/>
                  <a:gd name="connsiteX33" fmla="*/ 221016 w 485081"/>
                  <a:gd name="connsiteY33" fmla="*/ 240954 h 598645"/>
                  <a:gd name="connsiteX34" fmla="*/ 206666 w 485081"/>
                  <a:gd name="connsiteY34" fmla="*/ 226633 h 598645"/>
                  <a:gd name="connsiteX35" fmla="*/ 206666 w 485081"/>
                  <a:gd name="connsiteY35" fmla="*/ 152163 h 598645"/>
                  <a:gd name="connsiteX36" fmla="*/ 170791 w 485081"/>
                  <a:gd name="connsiteY36" fmla="*/ 152163 h 598645"/>
                  <a:gd name="connsiteX37" fmla="*/ 159311 w 485081"/>
                  <a:gd name="connsiteY37" fmla="*/ 130681 h 598645"/>
                  <a:gd name="connsiteX38" fmla="*/ 229626 w 485081"/>
                  <a:gd name="connsiteY38" fmla="*/ 7519 h 598645"/>
                  <a:gd name="connsiteX39" fmla="*/ 241824 w 485081"/>
                  <a:gd name="connsiteY39" fmla="*/ 0 h 598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85081" h="598645">
                    <a:moveTo>
                      <a:pt x="35879" y="269773"/>
                    </a:moveTo>
                    <a:lnTo>
                      <a:pt x="35879" y="468960"/>
                    </a:lnTo>
                    <a:lnTo>
                      <a:pt x="206662" y="544908"/>
                    </a:lnTo>
                    <a:lnTo>
                      <a:pt x="206662" y="345722"/>
                    </a:lnTo>
                    <a:close/>
                    <a:moveTo>
                      <a:pt x="142080" y="150835"/>
                    </a:moveTo>
                    <a:cubicBezTo>
                      <a:pt x="142080" y="150835"/>
                      <a:pt x="142080" y="152268"/>
                      <a:pt x="143515" y="153701"/>
                    </a:cubicBezTo>
                    <a:cubicBezTo>
                      <a:pt x="149256" y="163732"/>
                      <a:pt x="159302" y="169464"/>
                      <a:pt x="170783" y="169464"/>
                    </a:cubicBezTo>
                    <a:lnTo>
                      <a:pt x="188005" y="169464"/>
                    </a:lnTo>
                    <a:lnTo>
                      <a:pt x="188005" y="226784"/>
                    </a:lnTo>
                    <a:cubicBezTo>
                      <a:pt x="188005" y="245413"/>
                      <a:pt x="202356" y="259743"/>
                      <a:pt x="221013" y="259743"/>
                    </a:cubicBezTo>
                    <a:lnTo>
                      <a:pt x="264068" y="259743"/>
                    </a:lnTo>
                    <a:cubicBezTo>
                      <a:pt x="281290" y="259743"/>
                      <a:pt x="295641" y="245413"/>
                      <a:pt x="295641" y="226784"/>
                    </a:cubicBezTo>
                    <a:lnTo>
                      <a:pt x="295641" y="169464"/>
                    </a:lnTo>
                    <a:lnTo>
                      <a:pt x="312863" y="169464"/>
                    </a:lnTo>
                    <a:cubicBezTo>
                      <a:pt x="324344" y="169464"/>
                      <a:pt x="335825" y="163732"/>
                      <a:pt x="341566" y="153701"/>
                    </a:cubicBezTo>
                    <a:cubicBezTo>
                      <a:pt x="341566" y="152268"/>
                      <a:pt x="341566" y="150835"/>
                      <a:pt x="343001" y="150835"/>
                    </a:cubicBezTo>
                    <a:lnTo>
                      <a:pt x="475035" y="209588"/>
                    </a:lnTo>
                    <a:cubicBezTo>
                      <a:pt x="480776" y="212454"/>
                      <a:pt x="485081" y="218186"/>
                      <a:pt x="485081" y="225351"/>
                    </a:cubicBezTo>
                    <a:lnTo>
                      <a:pt x="485081" y="481857"/>
                    </a:lnTo>
                    <a:cubicBezTo>
                      <a:pt x="485081" y="487589"/>
                      <a:pt x="480776" y="493320"/>
                      <a:pt x="475035" y="496186"/>
                    </a:cubicBezTo>
                    <a:lnTo>
                      <a:pt x="248281" y="596496"/>
                    </a:lnTo>
                    <a:cubicBezTo>
                      <a:pt x="243976" y="599362"/>
                      <a:pt x="239670" y="599362"/>
                      <a:pt x="235365" y="596496"/>
                    </a:cubicBezTo>
                    <a:lnTo>
                      <a:pt x="8611" y="496186"/>
                    </a:lnTo>
                    <a:cubicBezTo>
                      <a:pt x="2870" y="493320"/>
                      <a:pt x="0" y="487589"/>
                      <a:pt x="0" y="481857"/>
                    </a:cubicBezTo>
                    <a:lnTo>
                      <a:pt x="0" y="225351"/>
                    </a:lnTo>
                    <a:cubicBezTo>
                      <a:pt x="0" y="218186"/>
                      <a:pt x="2870" y="212454"/>
                      <a:pt x="8611" y="209588"/>
                    </a:cubicBezTo>
                    <a:close/>
                    <a:moveTo>
                      <a:pt x="241824" y="0"/>
                    </a:moveTo>
                    <a:cubicBezTo>
                      <a:pt x="246487" y="0"/>
                      <a:pt x="251151" y="2507"/>
                      <a:pt x="254021" y="7519"/>
                    </a:cubicBezTo>
                    <a:lnTo>
                      <a:pt x="325771" y="130681"/>
                    </a:lnTo>
                    <a:cubicBezTo>
                      <a:pt x="331511" y="139274"/>
                      <a:pt x="324336" y="152163"/>
                      <a:pt x="312856" y="152163"/>
                    </a:cubicBezTo>
                    <a:lnTo>
                      <a:pt x="276981" y="152163"/>
                    </a:lnTo>
                    <a:lnTo>
                      <a:pt x="276981" y="226633"/>
                    </a:lnTo>
                    <a:cubicBezTo>
                      <a:pt x="276981" y="235226"/>
                      <a:pt x="271241" y="240954"/>
                      <a:pt x="264066" y="240954"/>
                    </a:cubicBezTo>
                    <a:lnTo>
                      <a:pt x="221016" y="240954"/>
                    </a:lnTo>
                    <a:cubicBezTo>
                      <a:pt x="212406" y="240954"/>
                      <a:pt x="206666" y="235226"/>
                      <a:pt x="206666" y="226633"/>
                    </a:cubicBezTo>
                    <a:lnTo>
                      <a:pt x="206666" y="152163"/>
                    </a:lnTo>
                    <a:lnTo>
                      <a:pt x="170791" y="152163"/>
                    </a:lnTo>
                    <a:cubicBezTo>
                      <a:pt x="160746" y="152163"/>
                      <a:pt x="153571" y="139274"/>
                      <a:pt x="159311" y="130681"/>
                    </a:cubicBezTo>
                    <a:lnTo>
                      <a:pt x="229626" y="7519"/>
                    </a:lnTo>
                    <a:cubicBezTo>
                      <a:pt x="232496" y="2507"/>
                      <a:pt x="237160" y="0"/>
                      <a:pt x="24182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/>
                <a:endParaRPr sz="1350">
                  <a:solidFill>
                    <a:prstClr val="white"/>
                  </a:solidFill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10" name="ïśļide">
              <a:extLst>
                <a:ext uri="{FF2B5EF4-FFF2-40B4-BE49-F238E27FC236}">
                  <a16:creationId xmlns:a16="http://schemas.microsoft.com/office/drawing/2014/main" id="{8D817D4A-541C-47D9-9A38-E439EDA9AD3C}"/>
                </a:ext>
              </a:extLst>
            </p:cNvPr>
            <p:cNvGrpSpPr/>
            <p:nvPr/>
          </p:nvGrpSpPr>
          <p:grpSpPr>
            <a:xfrm>
              <a:off x="7151237" y="2058906"/>
              <a:ext cx="545098" cy="545096"/>
              <a:chOff x="1678604" y="2702157"/>
              <a:chExt cx="726845" cy="726843"/>
            </a:xfrm>
          </p:grpSpPr>
          <p:sp>
            <p:nvSpPr>
              <p:cNvPr id="25" name="íṡḷïḍé">
                <a:extLst>
                  <a:ext uri="{FF2B5EF4-FFF2-40B4-BE49-F238E27FC236}">
                    <a16:creationId xmlns:a16="http://schemas.microsoft.com/office/drawing/2014/main" id="{3778A693-FDEC-44D6-889C-648A1F45E6FF}"/>
                  </a:ext>
                </a:extLst>
              </p:cNvPr>
              <p:cNvSpPr/>
              <p:nvPr/>
            </p:nvSpPr>
            <p:spPr>
              <a:xfrm>
                <a:off x="1678604" y="2702157"/>
                <a:ext cx="726845" cy="726843"/>
              </a:xfrm>
              <a:prstGeom prst="flowChartConnector">
                <a:avLst/>
              </a:prstGeom>
              <a:solidFill>
                <a:srgbClr val="AB26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/>
                <a:endParaRPr sz="1350">
                  <a:solidFill>
                    <a:prstClr val="white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26" name="iśḷíďè">
                <a:extLst>
                  <a:ext uri="{FF2B5EF4-FFF2-40B4-BE49-F238E27FC236}">
                    <a16:creationId xmlns:a16="http://schemas.microsoft.com/office/drawing/2014/main" id="{204AF555-CF6E-44E1-A5E8-416DEB48FEE8}"/>
                  </a:ext>
                </a:extLst>
              </p:cNvPr>
              <p:cNvSpPr/>
              <p:nvPr/>
            </p:nvSpPr>
            <p:spPr>
              <a:xfrm>
                <a:off x="1850910" y="2829720"/>
                <a:ext cx="382232" cy="471718"/>
              </a:xfrm>
              <a:custGeom>
                <a:avLst/>
                <a:gdLst>
                  <a:gd name="connsiteX0" fmla="*/ 35879 w 485081"/>
                  <a:gd name="connsiteY0" fmla="*/ 269773 h 598645"/>
                  <a:gd name="connsiteX1" fmla="*/ 35879 w 485081"/>
                  <a:gd name="connsiteY1" fmla="*/ 468960 h 598645"/>
                  <a:gd name="connsiteX2" fmla="*/ 206662 w 485081"/>
                  <a:gd name="connsiteY2" fmla="*/ 544908 h 598645"/>
                  <a:gd name="connsiteX3" fmla="*/ 206662 w 485081"/>
                  <a:gd name="connsiteY3" fmla="*/ 345722 h 598645"/>
                  <a:gd name="connsiteX4" fmla="*/ 142080 w 485081"/>
                  <a:gd name="connsiteY4" fmla="*/ 150835 h 598645"/>
                  <a:gd name="connsiteX5" fmla="*/ 143515 w 485081"/>
                  <a:gd name="connsiteY5" fmla="*/ 153701 h 598645"/>
                  <a:gd name="connsiteX6" fmla="*/ 170783 w 485081"/>
                  <a:gd name="connsiteY6" fmla="*/ 169464 h 598645"/>
                  <a:gd name="connsiteX7" fmla="*/ 188005 w 485081"/>
                  <a:gd name="connsiteY7" fmla="*/ 169464 h 598645"/>
                  <a:gd name="connsiteX8" fmla="*/ 188005 w 485081"/>
                  <a:gd name="connsiteY8" fmla="*/ 226784 h 598645"/>
                  <a:gd name="connsiteX9" fmla="*/ 221013 w 485081"/>
                  <a:gd name="connsiteY9" fmla="*/ 259743 h 598645"/>
                  <a:gd name="connsiteX10" fmla="*/ 264068 w 485081"/>
                  <a:gd name="connsiteY10" fmla="*/ 259743 h 598645"/>
                  <a:gd name="connsiteX11" fmla="*/ 295641 w 485081"/>
                  <a:gd name="connsiteY11" fmla="*/ 226784 h 598645"/>
                  <a:gd name="connsiteX12" fmla="*/ 295641 w 485081"/>
                  <a:gd name="connsiteY12" fmla="*/ 169464 h 598645"/>
                  <a:gd name="connsiteX13" fmla="*/ 312863 w 485081"/>
                  <a:gd name="connsiteY13" fmla="*/ 169464 h 598645"/>
                  <a:gd name="connsiteX14" fmla="*/ 341566 w 485081"/>
                  <a:gd name="connsiteY14" fmla="*/ 153701 h 598645"/>
                  <a:gd name="connsiteX15" fmla="*/ 343001 w 485081"/>
                  <a:gd name="connsiteY15" fmla="*/ 150835 h 598645"/>
                  <a:gd name="connsiteX16" fmla="*/ 475035 w 485081"/>
                  <a:gd name="connsiteY16" fmla="*/ 209588 h 598645"/>
                  <a:gd name="connsiteX17" fmla="*/ 485081 w 485081"/>
                  <a:gd name="connsiteY17" fmla="*/ 225351 h 598645"/>
                  <a:gd name="connsiteX18" fmla="*/ 485081 w 485081"/>
                  <a:gd name="connsiteY18" fmla="*/ 481857 h 598645"/>
                  <a:gd name="connsiteX19" fmla="*/ 475035 w 485081"/>
                  <a:gd name="connsiteY19" fmla="*/ 496186 h 598645"/>
                  <a:gd name="connsiteX20" fmla="*/ 248281 w 485081"/>
                  <a:gd name="connsiteY20" fmla="*/ 596496 h 598645"/>
                  <a:gd name="connsiteX21" fmla="*/ 235365 w 485081"/>
                  <a:gd name="connsiteY21" fmla="*/ 596496 h 598645"/>
                  <a:gd name="connsiteX22" fmla="*/ 8611 w 485081"/>
                  <a:gd name="connsiteY22" fmla="*/ 496186 h 598645"/>
                  <a:gd name="connsiteX23" fmla="*/ 0 w 485081"/>
                  <a:gd name="connsiteY23" fmla="*/ 481857 h 598645"/>
                  <a:gd name="connsiteX24" fmla="*/ 0 w 485081"/>
                  <a:gd name="connsiteY24" fmla="*/ 225351 h 598645"/>
                  <a:gd name="connsiteX25" fmla="*/ 8611 w 485081"/>
                  <a:gd name="connsiteY25" fmla="*/ 209588 h 598645"/>
                  <a:gd name="connsiteX26" fmla="*/ 241824 w 485081"/>
                  <a:gd name="connsiteY26" fmla="*/ 0 h 598645"/>
                  <a:gd name="connsiteX27" fmla="*/ 254021 w 485081"/>
                  <a:gd name="connsiteY27" fmla="*/ 7519 h 598645"/>
                  <a:gd name="connsiteX28" fmla="*/ 325771 w 485081"/>
                  <a:gd name="connsiteY28" fmla="*/ 130681 h 598645"/>
                  <a:gd name="connsiteX29" fmla="*/ 312856 w 485081"/>
                  <a:gd name="connsiteY29" fmla="*/ 152163 h 598645"/>
                  <a:gd name="connsiteX30" fmla="*/ 276981 w 485081"/>
                  <a:gd name="connsiteY30" fmla="*/ 152163 h 598645"/>
                  <a:gd name="connsiteX31" fmla="*/ 276981 w 485081"/>
                  <a:gd name="connsiteY31" fmla="*/ 226633 h 598645"/>
                  <a:gd name="connsiteX32" fmla="*/ 264066 w 485081"/>
                  <a:gd name="connsiteY32" fmla="*/ 240954 h 598645"/>
                  <a:gd name="connsiteX33" fmla="*/ 221016 w 485081"/>
                  <a:gd name="connsiteY33" fmla="*/ 240954 h 598645"/>
                  <a:gd name="connsiteX34" fmla="*/ 206666 w 485081"/>
                  <a:gd name="connsiteY34" fmla="*/ 226633 h 598645"/>
                  <a:gd name="connsiteX35" fmla="*/ 206666 w 485081"/>
                  <a:gd name="connsiteY35" fmla="*/ 152163 h 598645"/>
                  <a:gd name="connsiteX36" fmla="*/ 170791 w 485081"/>
                  <a:gd name="connsiteY36" fmla="*/ 152163 h 598645"/>
                  <a:gd name="connsiteX37" fmla="*/ 159311 w 485081"/>
                  <a:gd name="connsiteY37" fmla="*/ 130681 h 598645"/>
                  <a:gd name="connsiteX38" fmla="*/ 229626 w 485081"/>
                  <a:gd name="connsiteY38" fmla="*/ 7519 h 598645"/>
                  <a:gd name="connsiteX39" fmla="*/ 241824 w 485081"/>
                  <a:gd name="connsiteY39" fmla="*/ 0 h 598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85081" h="598645">
                    <a:moveTo>
                      <a:pt x="35879" y="269773"/>
                    </a:moveTo>
                    <a:lnTo>
                      <a:pt x="35879" y="468960"/>
                    </a:lnTo>
                    <a:lnTo>
                      <a:pt x="206662" y="544908"/>
                    </a:lnTo>
                    <a:lnTo>
                      <a:pt x="206662" y="345722"/>
                    </a:lnTo>
                    <a:close/>
                    <a:moveTo>
                      <a:pt x="142080" y="150835"/>
                    </a:moveTo>
                    <a:cubicBezTo>
                      <a:pt x="142080" y="150835"/>
                      <a:pt x="142080" y="152268"/>
                      <a:pt x="143515" y="153701"/>
                    </a:cubicBezTo>
                    <a:cubicBezTo>
                      <a:pt x="149256" y="163732"/>
                      <a:pt x="159302" y="169464"/>
                      <a:pt x="170783" y="169464"/>
                    </a:cubicBezTo>
                    <a:lnTo>
                      <a:pt x="188005" y="169464"/>
                    </a:lnTo>
                    <a:lnTo>
                      <a:pt x="188005" y="226784"/>
                    </a:lnTo>
                    <a:cubicBezTo>
                      <a:pt x="188005" y="245413"/>
                      <a:pt x="202356" y="259743"/>
                      <a:pt x="221013" y="259743"/>
                    </a:cubicBezTo>
                    <a:lnTo>
                      <a:pt x="264068" y="259743"/>
                    </a:lnTo>
                    <a:cubicBezTo>
                      <a:pt x="281290" y="259743"/>
                      <a:pt x="295641" y="245413"/>
                      <a:pt x="295641" y="226784"/>
                    </a:cubicBezTo>
                    <a:lnTo>
                      <a:pt x="295641" y="169464"/>
                    </a:lnTo>
                    <a:lnTo>
                      <a:pt x="312863" y="169464"/>
                    </a:lnTo>
                    <a:cubicBezTo>
                      <a:pt x="324344" y="169464"/>
                      <a:pt x="335825" y="163732"/>
                      <a:pt x="341566" y="153701"/>
                    </a:cubicBezTo>
                    <a:cubicBezTo>
                      <a:pt x="341566" y="152268"/>
                      <a:pt x="341566" y="150835"/>
                      <a:pt x="343001" y="150835"/>
                    </a:cubicBezTo>
                    <a:lnTo>
                      <a:pt x="475035" y="209588"/>
                    </a:lnTo>
                    <a:cubicBezTo>
                      <a:pt x="480776" y="212454"/>
                      <a:pt x="485081" y="218186"/>
                      <a:pt x="485081" y="225351"/>
                    </a:cubicBezTo>
                    <a:lnTo>
                      <a:pt x="485081" y="481857"/>
                    </a:lnTo>
                    <a:cubicBezTo>
                      <a:pt x="485081" y="487589"/>
                      <a:pt x="480776" y="493320"/>
                      <a:pt x="475035" y="496186"/>
                    </a:cubicBezTo>
                    <a:lnTo>
                      <a:pt x="248281" y="596496"/>
                    </a:lnTo>
                    <a:cubicBezTo>
                      <a:pt x="243976" y="599362"/>
                      <a:pt x="239670" y="599362"/>
                      <a:pt x="235365" y="596496"/>
                    </a:cubicBezTo>
                    <a:lnTo>
                      <a:pt x="8611" y="496186"/>
                    </a:lnTo>
                    <a:cubicBezTo>
                      <a:pt x="2870" y="493320"/>
                      <a:pt x="0" y="487589"/>
                      <a:pt x="0" y="481857"/>
                    </a:cubicBezTo>
                    <a:lnTo>
                      <a:pt x="0" y="225351"/>
                    </a:lnTo>
                    <a:cubicBezTo>
                      <a:pt x="0" y="218186"/>
                      <a:pt x="2870" y="212454"/>
                      <a:pt x="8611" y="209588"/>
                    </a:cubicBezTo>
                    <a:close/>
                    <a:moveTo>
                      <a:pt x="241824" y="0"/>
                    </a:moveTo>
                    <a:cubicBezTo>
                      <a:pt x="246487" y="0"/>
                      <a:pt x="251151" y="2507"/>
                      <a:pt x="254021" y="7519"/>
                    </a:cubicBezTo>
                    <a:lnTo>
                      <a:pt x="325771" y="130681"/>
                    </a:lnTo>
                    <a:cubicBezTo>
                      <a:pt x="331511" y="139274"/>
                      <a:pt x="324336" y="152163"/>
                      <a:pt x="312856" y="152163"/>
                    </a:cubicBezTo>
                    <a:lnTo>
                      <a:pt x="276981" y="152163"/>
                    </a:lnTo>
                    <a:lnTo>
                      <a:pt x="276981" y="226633"/>
                    </a:lnTo>
                    <a:cubicBezTo>
                      <a:pt x="276981" y="235226"/>
                      <a:pt x="271241" y="240954"/>
                      <a:pt x="264066" y="240954"/>
                    </a:cubicBezTo>
                    <a:lnTo>
                      <a:pt x="221016" y="240954"/>
                    </a:lnTo>
                    <a:cubicBezTo>
                      <a:pt x="212406" y="240954"/>
                      <a:pt x="206666" y="235226"/>
                      <a:pt x="206666" y="226633"/>
                    </a:cubicBezTo>
                    <a:lnTo>
                      <a:pt x="206666" y="152163"/>
                    </a:lnTo>
                    <a:lnTo>
                      <a:pt x="170791" y="152163"/>
                    </a:lnTo>
                    <a:cubicBezTo>
                      <a:pt x="160746" y="152163"/>
                      <a:pt x="153571" y="139274"/>
                      <a:pt x="159311" y="130681"/>
                    </a:cubicBezTo>
                    <a:lnTo>
                      <a:pt x="229626" y="7519"/>
                    </a:lnTo>
                    <a:cubicBezTo>
                      <a:pt x="232496" y="2507"/>
                      <a:pt x="237160" y="0"/>
                      <a:pt x="24182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/>
                <a:endParaRPr sz="1350">
                  <a:solidFill>
                    <a:prstClr val="white"/>
                  </a:solidFill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11" name="iŝ1íḋé">
              <a:extLst>
                <a:ext uri="{FF2B5EF4-FFF2-40B4-BE49-F238E27FC236}">
                  <a16:creationId xmlns:a16="http://schemas.microsoft.com/office/drawing/2014/main" id="{2E9FE502-D18A-48E8-9F3B-2CCB5E2D821F}"/>
                </a:ext>
              </a:extLst>
            </p:cNvPr>
            <p:cNvGrpSpPr/>
            <p:nvPr/>
          </p:nvGrpSpPr>
          <p:grpSpPr>
            <a:xfrm>
              <a:off x="9981180" y="1535031"/>
              <a:ext cx="545098" cy="545096"/>
              <a:chOff x="1678604" y="2702157"/>
              <a:chExt cx="726845" cy="726843"/>
            </a:xfrm>
          </p:grpSpPr>
          <p:sp>
            <p:nvSpPr>
              <p:cNvPr id="23" name="ïṧḻiḍé">
                <a:extLst>
                  <a:ext uri="{FF2B5EF4-FFF2-40B4-BE49-F238E27FC236}">
                    <a16:creationId xmlns:a16="http://schemas.microsoft.com/office/drawing/2014/main" id="{5D19E98D-B342-4C9F-A73D-1E9356181FA1}"/>
                  </a:ext>
                </a:extLst>
              </p:cNvPr>
              <p:cNvSpPr/>
              <p:nvPr/>
            </p:nvSpPr>
            <p:spPr>
              <a:xfrm>
                <a:off x="1678604" y="2702157"/>
                <a:ext cx="726845" cy="726843"/>
              </a:xfrm>
              <a:prstGeom prst="flowChartConnector">
                <a:avLst/>
              </a:prstGeom>
              <a:solidFill>
                <a:srgbClr val="AB26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/>
                <a:endParaRPr sz="1350">
                  <a:solidFill>
                    <a:prstClr val="white"/>
                  </a:solidFill>
                  <a:latin typeface="Arial"/>
                  <a:ea typeface="Microsoft YaHei"/>
                </a:endParaRPr>
              </a:p>
            </p:txBody>
          </p:sp>
          <p:sp>
            <p:nvSpPr>
              <p:cNvPr id="24" name="íṡ1íḋe">
                <a:extLst>
                  <a:ext uri="{FF2B5EF4-FFF2-40B4-BE49-F238E27FC236}">
                    <a16:creationId xmlns:a16="http://schemas.microsoft.com/office/drawing/2014/main" id="{7FF107B8-7210-4900-A3F5-E3C236665B53}"/>
                  </a:ext>
                </a:extLst>
              </p:cNvPr>
              <p:cNvSpPr/>
              <p:nvPr/>
            </p:nvSpPr>
            <p:spPr>
              <a:xfrm>
                <a:off x="1850910" y="2829720"/>
                <a:ext cx="382232" cy="471718"/>
              </a:xfrm>
              <a:custGeom>
                <a:avLst/>
                <a:gdLst>
                  <a:gd name="connsiteX0" fmla="*/ 35879 w 485081"/>
                  <a:gd name="connsiteY0" fmla="*/ 269773 h 598645"/>
                  <a:gd name="connsiteX1" fmla="*/ 35879 w 485081"/>
                  <a:gd name="connsiteY1" fmla="*/ 468960 h 598645"/>
                  <a:gd name="connsiteX2" fmla="*/ 206662 w 485081"/>
                  <a:gd name="connsiteY2" fmla="*/ 544908 h 598645"/>
                  <a:gd name="connsiteX3" fmla="*/ 206662 w 485081"/>
                  <a:gd name="connsiteY3" fmla="*/ 345722 h 598645"/>
                  <a:gd name="connsiteX4" fmla="*/ 142080 w 485081"/>
                  <a:gd name="connsiteY4" fmla="*/ 150835 h 598645"/>
                  <a:gd name="connsiteX5" fmla="*/ 143515 w 485081"/>
                  <a:gd name="connsiteY5" fmla="*/ 153701 h 598645"/>
                  <a:gd name="connsiteX6" fmla="*/ 170783 w 485081"/>
                  <a:gd name="connsiteY6" fmla="*/ 169464 h 598645"/>
                  <a:gd name="connsiteX7" fmla="*/ 188005 w 485081"/>
                  <a:gd name="connsiteY7" fmla="*/ 169464 h 598645"/>
                  <a:gd name="connsiteX8" fmla="*/ 188005 w 485081"/>
                  <a:gd name="connsiteY8" fmla="*/ 226784 h 598645"/>
                  <a:gd name="connsiteX9" fmla="*/ 221013 w 485081"/>
                  <a:gd name="connsiteY9" fmla="*/ 259743 h 598645"/>
                  <a:gd name="connsiteX10" fmla="*/ 264068 w 485081"/>
                  <a:gd name="connsiteY10" fmla="*/ 259743 h 598645"/>
                  <a:gd name="connsiteX11" fmla="*/ 295641 w 485081"/>
                  <a:gd name="connsiteY11" fmla="*/ 226784 h 598645"/>
                  <a:gd name="connsiteX12" fmla="*/ 295641 w 485081"/>
                  <a:gd name="connsiteY12" fmla="*/ 169464 h 598645"/>
                  <a:gd name="connsiteX13" fmla="*/ 312863 w 485081"/>
                  <a:gd name="connsiteY13" fmla="*/ 169464 h 598645"/>
                  <a:gd name="connsiteX14" fmla="*/ 341566 w 485081"/>
                  <a:gd name="connsiteY14" fmla="*/ 153701 h 598645"/>
                  <a:gd name="connsiteX15" fmla="*/ 343001 w 485081"/>
                  <a:gd name="connsiteY15" fmla="*/ 150835 h 598645"/>
                  <a:gd name="connsiteX16" fmla="*/ 475035 w 485081"/>
                  <a:gd name="connsiteY16" fmla="*/ 209588 h 598645"/>
                  <a:gd name="connsiteX17" fmla="*/ 485081 w 485081"/>
                  <a:gd name="connsiteY17" fmla="*/ 225351 h 598645"/>
                  <a:gd name="connsiteX18" fmla="*/ 485081 w 485081"/>
                  <a:gd name="connsiteY18" fmla="*/ 481857 h 598645"/>
                  <a:gd name="connsiteX19" fmla="*/ 475035 w 485081"/>
                  <a:gd name="connsiteY19" fmla="*/ 496186 h 598645"/>
                  <a:gd name="connsiteX20" fmla="*/ 248281 w 485081"/>
                  <a:gd name="connsiteY20" fmla="*/ 596496 h 598645"/>
                  <a:gd name="connsiteX21" fmla="*/ 235365 w 485081"/>
                  <a:gd name="connsiteY21" fmla="*/ 596496 h 598645"/>
                  <a:gd name="connsiteX22" fmla="*/ 8611 w 485081"/>
                  <a:gd name="connsiteY22" fmla="*/ 496186 h 598645"/>
                  <a:gd name="connsiteX23" fmla="*/ 0 w 485081"/>
                  <a:gd name="connsiteY23" fmla="*/ 481857 h 598645"/>
                  <a:gd name="connsiteX24" fmla="*/ 0 w 485081"/>
                  <a:gd name="connsiteY24" fmla="*/ 225351 h 598645"/>
                  <a:gd name="connsiteX25" fmla="*/ 8611 w 485081"/>
                  <a:gd name="connsiteY25" fmla="*/ 209588 h 598645"/>
                  <a:gd name="connsiteX26" fmla="*/ 241824 w 485081"/>
                  <a:gd name="connsiteY26" fmla="*/ 0 h 598645"/>
                  <a:gd name="connsiteX27" fmla="*/ 254021 w 485081"/>
                  <a:gd name="connsiteY27" fmla="*/ 7519 h 598645"/>
                  <a:gd name="connsiteX28" fmla="*/ 325771 w 485081"/>
                  <a:gd name="connsiteY28" fmla="*/ 130681 h 598645"/>
                  <a:gd name="connsiteX29" fmla="*/ 312856 w 485081"/>
                  <a:gd name="connsiteY29" fmla="*/ 152163 h 598645"/>
                  <a:gd name="connsiteX30" fmla="*/ 276981 w 485081"/>
                  <a:gd name="connsiteY30" fmla="*/ 152163 h 598645"/>
                  <a:gd name="connsiteX31" fmla="*/ 276981 w 485081"/>
                  <a:gd name="connsiteY31" fmla="*/ 226633 h 598645"/>
                  <a:gd name="connsiteX32" fmla="*/ 264066 w 485081"/>
                  <a:gd name="connsiteY32" fmla="*/ 240954 h 598645"/>
                  <a:gd name="connsiteX33" fmla="*/ 221016 w 485081"/>
                  <a:gd name="connsiteY33" fmla="*/ 240954 h 598645"/>
                  <a:gd name="connsiteX34" fmla="*/ 206666 w 485081"/>
                  <a:gd name="connsiteY34" fmla="*/ 226633 h 598645"/>
                  <a:gd name="connsiteX35" fmla="*/ 206666 w 485081"/>
                  <a:gd name="connsiteY35" fmla="*/ 152163 h 598645"/>
                  <a:gd name="connsiteX36" fmla="*/ 170791 w 485081"/>
                  <a:gd name="connsiteY36" fmla="*/ 152163 h 598645"/>
                  <a:gd name="connsiteX37" fmla="*/ 159311 w 485081"/>
                  <a:gd name="connsiteY37" fmla="*/ 130681 h 598645"/>
                  <a:gd name="connsiteX38" fmla="*/ 229626 w 485081"/>
                  <a:gd name="connsiteY38" fmla="*/ 7519 h 598645"/>
                  <a:gd name="connsiteX39" fmla="*/ 241824 w 485081"/>
                  <a:gd name="connsiteY39" fmla="*/ 0 h 598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85081" h="598645">
                    <a:moveTo>
                      <a:pt x="35879" y="269773"/>
                    </a:moveTo>
                    <a:lnTo>
                      <a:pt x="35879" y="468960"/>
                    </a:lnTo>
                    <a:lnTo>
                      <a:pt x="206662" y="544908"/>
                    </a:lnTo>
                    <a:lnTo>
                      <a:pt x="206662" y="345722"/>
                    </a:lnTo>
                    <a:close/>
                    <a:moveTo>
                      <a:pt x="142080" y="150835"/>
                    </a:moveTo>
                    <a:cubicBezTo>
                      <a:pt x="142080" y="150835"/>
                      <a:pt x="142080" y="152268"/>
                      <a:pt x="143515" y="153701"/>
                    </a:cubicBezTo>
                    <a:cubicBezTo>
                      <a:pt x="149256" y="163732"/>
                      <a:pt x="159302" y="169464"/>
                      <a:pt x="170783" y="169464"/>
                    </a:cubicBezTo>
                    <a:lnTo>
                      <a:pt x="188005" y="169464"/>
                    </a:lnTo>
                    <a:lnTo>
                      <a:pt x="188005" y="226784"/>
                    </a:lnTo>
                    <a:cubicBezTo>
                      <a:pt x="188005" y="245413"/>
                      <a:pt x="202356" y="259743"/>
                      <a:pt x="221013" y="259743"/>
                    </a:cubicBezTo>
                    <a:lnTo>
                      <a:pt x="264068" y="259743"/>
                    </a:lnTo>
                    <a:cubicBezTo>
                      <a:pt x="281290" y="259743"/>
                      <a:pt x="295641" y="245413"/>
                      <a:pt x="295641" y="226784"/>
                    </a:cubicBezTo>
                    <a:lnTo>
                      <a:pt x="295641" y="169464"/>
                    </a:lnTo>
                    <a:lnTo>
                      <a:pt x="312863" y="169464"/>
                    </a:lnTo>
                    <a:cubicBezTo>
                      <a:pt x="324344" y="169464"/>
                      <a:pt x="335825" y="163732"/>
                      <a:pt x="341566" y="153701"/>
                    </a:cubicBezTo>
                    <a:cubicBezTo>
                      <a:pt x="341566" y="152268"/>
                      <a:pt x="341566" y="150835"/>
                      <a:pt x="343001" y="150835"/>
                    </a:cubicBezTo>
                    <a:lnTo>
                      <a:pt x="475035" y="209588"/>
                    </a:lnTo>
                    <a:cubicBezTo>
                      <a:pt x="480776" y="212454"/>
                      <a:pt x="485081" y="218186"/>
                      <a:pt x="485081" y="225351"/>
                    </a:cubicBezTo>
                    <a:lnTo>
                      <a:pt x="485081" y="481857"/>
                    </a:lnTo>
                    <a:cubicBezTo>
                      <a:pt x="485081" y="487589"/>
                      <a:pt x="480776" y="493320"/>
                      <a:pt x="475035" y="496186"/>
                    </a:cubicBezTo>
                    <a:lnTo>
                      <a:pt x="248281" y="596496"/>
                    </a:lnTo>
                    <a:cubicBezTo>
                      <a:pt x="243976" y="599362"/>
                      <a:pt x="239670" y="599362"/>
                      <a:pt x="235365" y="596496"/>
                    </a:cubicBezTo>
                    <a:lnTo>
                      <a:pt x="8611" y="496186"/>
                    </a:lnTo>
                    <a:cubicBezTo>
                      <a:pt x="2870" y="493320"/>
                      <a:pt x="0" y="487589"/>
                      <a:pt x="0" y="481857"/>
                    </a:cubicBezTo>
                    <a:lnTo>
                      <a:pt x="0" y="225351"/>
                    </a:lnTo>
                    <a:cubicBezTo>
                      <a:pt x="0" y="218186"/>
                      <a:pt x="2870" y="212454"/>
                      <a:pt x="8611" y="209588"/>
                    </a:cubicBezTo>
                    <a:close/>
                    <a:moveTo>
                      <a:pt x="241824" y="0"/>
                    </a:moveTo>
                    <a:cubicBezTo>
                      <a:pt x="246487" y="0"/>
                      <a:pt x="251151" y="2507"/>
                      <a:pt x="254021" y="7519"/>
                    </a:cubicBezTo>
                    <a:lnTo>
                      <a:pt x="325771" y="130681"/>
                    </a:lnTo>
                    <a:cubicBezTo>
                      <a:pt x="331511" y="139274"/>
                      <a:pt x="324336" y="152163"/>
                      <a:pt x="312856" y="152163"/>
                    </a:cubicBezTo>
                    <a:lnTo>
                      <a:pt x="276981" y="152163"/>
                    </a:lnTo>
                    <a:lnTo>
                      <a:pt x="276981" y="226633"/>
                    </a:lnTo>
                    <a:cubicBezTo>
                      <a:pt x="276981" y="235226"/>
                      <a:pt x="271241" y="240954"/>
                      <a:pt x="264066" y="240954"/>
                    </a:cubicBezTo>
                    <a:lnTo>
                      <a:pt x="221016" y="240954"/>
                    </a:lnTo>
                    <a:cubicBezTo>
                      <a:pt x="212406" y="240954"/>
                      <a:pt x="206666" y="235226"/>
                      <a:pt x="206666" y="226633"/>
                    </a:cubicBezTo>
                    <a:lnTo>
                      <a:pt x="206666" y="152163"/>
                    </a:lnTo>
                    <a:lnTo>
                      <a:pt x="170791" y="152163"/>
                    </a:lnTo>
                    <a:cubicBezTo>
                      <a:pt x="160746" y="152163"/>
                      <a:pt x="153571" y="139274"/>
                      <a:pt x="159311" y="130681"/>
                    </a:cubicBezTo>
                    <a:lnTo>
                      <a:pt x="229626" y="7519"/>
                    </a:lnTo>
                    <a:cubicBezTo>
                      <a:pt x="232496" y="2507"/>
                      <a:pt x="237160" y="0"/>
                      <a:pt x="24182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/>
                <a:endParaRPr sz="1350">
                  <a:solidFill>
                    <a:prstClr val="white"/>
                  </a:solidFill>
                  <a:latin typeface="Arial"/>
                  <a:ea typeface="Microsoft YaHei"/>
                </a:endParaRPr>
              </a:p>
            </p:txBody>
          </p:sp>
        </p:grpSp>
        <p:sp>
          <p:nvSpPr>
            <p:cNvPr id="12" name="ís1ïḑe">
              <a:extLst>
                <a:ext uri="{FF2B5EF4-FFF2-40B4-BE49-F238E27FC236}">
                  <a16:creationId xmlns:a16="http://schemas.microsoft.com/office/drawing/2014/main" id="{E99437E2-4C82-4C99-97CD-59119DD9BDA1}"/>
                </a:ext>
              </a:extLst>
            </p:cNvPr>
            <p:cNvSpPr/>
            <p:nvPr/>
          </p:nvSpPr>
          <p:spPr bwMode="auto">
            <a:xfrm>
              <a:off x="8988557" y="2825697"/>
              <a:ext cx="2530339" cy="780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500" tIns="35100" rIns="67500" bIns="35100" anchor="t" anchorCtr="0">
              <a:normAutofit/>
            </a:bodyPr>
            <a:lstStyle/>
            <a:p>
              <a:pPr marL="128588" indent="-128588" defTabSz="685800">
                <a:buFont typeface="Arial" panose="020B0604020202020204" pitchFamily="34" charset="0"/>
                <a:buChar char="•"/>
              </a:pPr>
              <a:endParaRPr lang="en-US" altLang="zh-CN" sz="825" dirty="0">
                <a:solidFill>
                  <a:prstClr val="black"/>
                </a:solidFill>
                <a:latin typeface="Arial"/>
                <a:ea typeface="Microsoft YaHei"/>
              </a:endParaRPr>
            </a:p>
          </p:txBody>
        </p:sp>
        <p:sp>
          <p:nvSpPr>
            <p:cNvPr id="21" name="íṣḻíḍè">
              <a:extLst>
                <a:ext uri="{FF2B5EF4-FFF2-40B4-BE49-F238E27FC236}">
                  <a16:creationId xmlns:a16="http://schemas.microsoft.com/office/drawing/2014/main" id="{DC380249-9456-4AC6-BDC5-82E38EF27346}"/>
                </a:ext>
              </a:extLst>
            </p:cNvPr>
            <p:cNvSpPr/>
            <p:nvPr/>
          </p:nvSpPr>
          <p:spPr bwMode="auto">
            <a:xfrm>
              <a:off x="6255515" y="3390342"/>
              <a:ext cx="2241112" cy="2651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500" tIns="35100" rIns="67500" bIns="35100" anchor="t" anchorCtr="0">
              <a:normAutofit/>
            </a:bodyPr>
            <a:lstStyle/>
            <a:p>
              <a:pPr marL="171450" indent="-171450" defTabSz="685800">
                <a:buFont typeface="Wingdings" panose="05000000000000000000" pitchFamily="2" charset="2"/>
                <a:buChar char="u"/>
              </a:pPr>
              <a:endParaRPr lang="en-US" altLang="zh-CN" sz="900" dirty="0">
                <a:solidFill>
                  <a:prstClr val="black"/>
                </a:solidFill>
                <a:latin typeface="Microsoft YaHei"/>
                <a:ea typeface="Microsoft YaHei"/>
              </a:endParaRPr>
            </a:p>
          </p:txBody>
        </p:sp>
        <p:sp>
          <p:nvSpPr>
            <p:cNvPr id="19" name="íS1îḍè">
              <a:extLst>
                <a:ext uri="{FF2B5EF4-FFF2-40B4-BE49-F238E27FC236}">
                  <a16:creationId xmlns:a16="http://schemas.microsoft.com/office/drawing/2014/main" id="{3D223CE6-3275-4205-8F9D-2E637365D9FD}"/>
                </a:ext>
              </a:extLst>
            </p:cNvPr>
            <p:cNvSpPr/>
            <p:nvPr/>
          </p:nvSpPr>
          <p:spPr bwMode="auto">
            <a:xfrm>
              <a:off x="3539946" y="3989979"/>
              <a:ext cx="2241112" cy="2051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500" tIns="35100" rIns="67500" bIns="35100" anchor="t" anchorCtr="0">
              <a:normAutofit fontScale="92500" lnSpcReduction="10000"/>
            </a:bodyPr>
            <a:lstStyle/>
            <a:p>
              <a:pPr marL="171450" indent="-171450" defTabSz="685800">
                <a:buFont typeface="Wingdings" panose="05000000000000000000" pitchFamily="2" charset="2"/>
                <a:buChar char="u"/>
              </a:pP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项目经理准备好结项的资料（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《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项目结项确认书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》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、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《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项目章程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》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、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《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质量报告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》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、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《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资产清算报告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》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、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《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审计报告</a:t>
              </a:r>
              <a:r>
                <a:rPr lang="en-US" altLang="zh-CN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》</a:t>
              </a:r>
              <a:r>
                <a:rPr lang="zh-CN" altLang="en-US" sz="1300" dirty="0">
                  <a:solidFill>
                    <a:prstClr val="black"/>
                  </a:solidFill>
                  <a:latin typeface="Microsoft YaHei"/>
                  <a:ea typeface="Microsoft YaHei"/>
                </a:rPr>
                <a:t>等），在系统或提交给项目发起人、审批人，申请结项；</a:t>
              </a:r>
              <a:endParaRPr lang="en-US" altLang="zh-CN" sz="1300" dirty="0">
                <a:solidFill>
                  <a:prstClr val="black"/>
                </a:solidFill>
                <a:latin typeface="Microsoft YaHei"/>
                <a:ea typeface="Microsoft YaHei"/>
              </a:endParaRPr>
            </a:p>
            <a:p>
              <a:pPr marL="128588" indent="-128588" defTabSz="685800">
                <a:buFont typeface="Arial" panose="020B0604020202020204" pitchFamily="34" charset="0"/>
                <a:buChar char="•"/>
              </a:pPr>
              <a:endParaRPr lang="en-US" altLang="zh-CN" sz="825" dirty="0">
                <a:solidFill>
                  <a:prstClr val="black"/>
                </a:solidFill>
                <a:latin typeface="Arial"/>
                <a:ea typeface="Microsoft YaHei"/>
              </a:endParaRPr>
            </a:p>
          </p:txBody>
        </p:sp>
        <p:sp>
          <p:nvSpPr>
            <p:cNvPr id="17" name="ïṧļíḓé">
              <a:extLst>
                <a:ext uri="{FF2B5EF4-FFF2-40B4-BE49-F238E27FC236}">
                  <a16:creationId xmlns:a16="http://schemas.microsoft.com/office/drawing/2014/main" id="{EA0322B5-1421-43E2-94D2-EFDC270E83C6}"/>
                </a:ext>
              </a:extLst>
            </p:cNvPr>
            <p:cNvSpPr/>
            <p:nvPr/>
          </p:nvSpPr>
          <p:spPr bwMode="auto">
            <a:xfrm>
              <a:off x="840585" y="4470638"/>
              <a:ext cx="2375094" cy="1713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500" tIns="35100" rIns="67500" bIns="35100" anchor="t" anchorCtr="0">
              <a:noAutofit/>
            </a:bodyPr>
            <a:lstStyle/>
            <a:p>
              <a:pPr marL="171450" indent="-171450" defTabSz="685800">
                <a:buFont typeface="Wingdings" panose="05000000000000000000" pitchFamily="2" charset="2"/>
                <a:buChar char="u"/>
              </a:pPr>
              <a:r>
                <a:rPr lang="zh-CN" altLang="en-US" sz="1200" dirty="0">
                  <a:solidFill>
                    <a:prstClr val="black"/>
                  </a:solidFill>
                  <a:latin typeface="+mn-ea"/>
                </a:rPr>
                <a:t>项目成果验收；</a:t>
              </a:r>
              <a:endParaRPr lang="en-US" altLang="zh-CN" sz="1200" dirty="0">
                <a:solidFill>
                  <a:prstClr val="black"/>
                </a:solidFill>
                <a:latin typeface="+mn-ea"/>
              </a:endParaRPr>
            </a:p>
            <a:p>
              <a:pPr marL="171450" indent="-171450" defTabSz="685800">
                <a:buFont typeface="Wingdings" panose="05000000000000000000" pitchFamily="2" charset="2"/>
                <a:buChar char="u"/>
              </a:pPr>
              <a:r>
                <a:rPr lang="zh-CN" altLang="en-US" sz="1200" dirty="0">
                  <a:solidFill>
                    <a:prstClr val="black"/>
                  </a:solidFill>
                  <a:latin typeface="+mn-ea"/>
                </a:rPr>
                <a:t>结项报告编写；</a:t>
              </a:r>
              <a:endParaRPr lang="en-US" altLang="zh-CN" sz="1200" dirty="0">
                <a:solidFill>
                  <a:prstClr val="black"/>
                </a:solidFill>
                <a:latin typeface="+mn-ea"/>
              </a:endParaRPr>
            </a:p>
            <a:p>
              <a:pPr marL="171450" indent="-171450" defTabSz="685800">
                <a:buFont typeface="Wingdings" panose="05000000000000000000" pitchFamily="2" charset="2"/>
                <a:buChar char="u"/>
              </a:pPr>
              <a:r>
                <a:rPr lang="zh-CN" altLang="en-US" sz="1200" dirty="0">
                  <a:solidFill>
                    <a:prstClr val="black"/>
                  </a:solidFill>
                  <a:latin typeface="+mn-ea"/>
                </a:rPr>
                <a:t>资产清算、费用决算；</a:t>
              </a:r>
              <a:endParaRPr lang="en-US" altLang="zh-CN" sz="1200" dirty="0">
                <a:solidFill>
                  <a:prstClr val="black"/>
                </a:solidFill>
                <a:latin typeface="+mn-ea"/>
              </a:endParaRPr>
            </a:p>
            <a:p>
              <a:pPr marL="171450" indent="-171450" defTabSz="685800">
                <a:buFont typeface="Wingdings" panose="05000000000000000000" pitchFamily="2" charset="2"/>
                <a:buChar char="u"/>
              </a:pPr>
              <a:r>
                <a:rPr lang="zh-CN" altLang="en-US" sz="1200" dirty="0">
                  <a:solidFill>
                    <a:prstClr val="black"/>
                  </a:solidFill>
                  <a:latin typeface="+mn-ea"/>
                </a:rPr>
                <a:t>采购流程关闭、项目审计（质量、费用、合同）；</a:t>
              </a:r>
              <a:endParaRPr lang="en-US" altLang="zh-CN" sz="1200" dirty="0">
                <a:solidFill>
                  <a:prstClr val="black"/>
                </a:solidFill>
                <a:latin typeface="+mn-ea"/>
              </a:endParaRPr>
            </a:p>
            <a:p>
              <a:pPr marL="171450" indent="-171450" defTabSz="685800">
                <a:buFont typeface="Wingdings" panose="05000000000000000000" pitchFamily="2" charset="2"/>
                <a:buChar char="u"/>
              </a:pPr>
              <a:r>
                <a:rPr lang="zh-CN" altLang="en-US" sz="1200" dirty="0">
                  <a:solidFill>
                    <a:prstClr val="black"/>
                  </a:solidFill>
                  <a:latin typeface="+mn-ea"/>
                </a:rPr>
                <a:t>总结经验教训；</a:t>
              </a:r>
              <a:endParaRPr lang="en-US" altLang="zh-CN" sz="1200" dirty="0"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46" name="文本占位符 1">
            <a:extLst>
              <a:ext uri="{FF2B5EF4-FFF2-40B4-BE49-F238E27FC236}">
                <a16:creationId xmlns:a16="http://schemas.microsoft.com/office/drawing/2014/main" id="{59B004E9-E3F7-4DC6-88DD-9EBF4D97C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416824" cy="504056"/>
          </a:xfrm>
        </p:spPr>
        <p:txBody>
          <a:bodyPr/>
          <a:lstStyle/>
          <a:p>
            <a:r>
              <a:rPr lang="zh-CN" altLang="en-US" dirty="0"/>
              <a:t>结项流程（摘录</a:t>
            </a:r>
            <a:r>
              <a:rPr lang="en-US" altLang="zh-CN" dirty="0"/>
              <a:t>PMBOOK </a:t>
            </a:r>
            <a:r>
              <a:rPr lang="zh-CN" altLang="en-US" dirty="0"/>
              <a:t>）</a:t>
            </a:r>
          </a:p>
        </p:txBody>
      </p:sp>
      <p:sp>
        <p:nvSpPr>
          <p:cNvPr id="47" name="íS1îḍè">
            <a:extLst>
              <a:ext uri="{FF2B5EF4-FFF2-40B4-BE49-F238E27FC236}">
                <a16:creationId xmlns:a16="http://schemas.microsoft.com/office/drawing/2014/main" id="{BF0B618C-9C23-4CE4-A3A7-FA17D9942B6D}"/>
              </a:ext>
            </a:extLst>
          </p:cNvPr>
          <p:cNvSpPr/>
          <p:nvPr/>
        </p:nvSpPr>
        <p:spPr bwMode="auto">
          <a:xfrm>
            <a:off x="4768652" y="2363425"/>
            <a:ext cx="1680834" cy="153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7500" tIns="35100" rIns="67500" bIns="35100" anchor="t" anchorCtr="0">
            <a:normAutofit/>
          </a:bodyPr>
          <a:lstStyle/>
          <a:p>
            <a:pPr marL="171450" indent="-171450" defTabSz="685800"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prstClr val="black"/>
                </a:solidFill>
                <a:latin typeface="Microsoft YaHei"/>
                <a:ea typeface="Microsoft YaHei"/>
              </a:rPr>
              <a:t>组织召开结项评审会议；</a:t>
            </a:r>
            <a:endParaRPr lang="en-US" altLang="zh-CN" sz="1200" dirty="0">
              <a:solidFill>
                <a:prstClr val="black"/>
              </a:solidFill>
              <a:latin typeface="Microsoft YaHei"/>
              <a:ea typeface="Microsoft YaHei"/>
            </a:endParaRPr>
          </a:p>
          <a:p>
            <a:pPr marL="171450" indent="-171450" defTabSz="685800"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prstClr val="black"/>
                </a:solidFill>
                <a:latin typeface="Microsoft YaHei"/>
                <a:ea typeface="Microsoft YaHei"/>
              </a:rPr>
              <a:t>公司领导及项目所有干系人、相关部门代表参加会议进行项目评审，形成评审报告；</a:t>
            </a:r>
            <a:endParaRPr lang="en-US" altLang="zh-CN" sz="1200" dirty="0">
              <a:solidFill>
                <a:prstClr val="black"/>
              </a:solidFill>
              <a:latin typeface="Arial"/>
              <a:ea typeface="Microsoft YaHei"/>
            </a:endParaRPr>
          </a:p>
        </p:txBody>
      </p:sp>
      <p:sp>
        <p:nvSpPr>
          <p:cNvPr id="48" name="íS1îḍè">
            <a:extLst>
              <a:ext uri="{FF2B5EF4-FFF2-40B4-BE49-F238E27FC236}">
                <a16:creationId xmlns:a16="http://schemas.microsoft.com/office/drawing/2014/main" id="{333BA9AD-65D8-4C21-AC2B-84C4055AE6AD}"/>
              </a:ext>
            </a:extLst>
          </p:cNvPr>
          <p:cNvSpPr/>
          <p:nvPr/>
        </p:nvSpPr>
        <p:spPr bwMode="auto">
          <a:xfrm>
            <a:off x="6873424" y="2091115"/>
            <a:ext cx="1680834" cy="153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7500" tIns="35100" rIns="67500" bIns="35100" anchor="t" anchorCtr="0">
            <a:normAutofit/>
          </a:bodyPr>
          <a:lstStyle/>
          <a:p>
            <a:pPr marL="171450" indent="-171450" defTabSz="685800"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prstClr val="black"/>
                </a:solidFill>
                <a:latin typeface="Microsoft YaHei"/>
                <a:ea typeface="Microsoft YaHei"/>
              </a:rPr>
              <a:t>项目总结报告；</a:t>
            </a:r>
            <a:endParaRPr lang="en-US" altLang="zh-CN" sz="1200" dirty="0">
              <a:solidFill>
                <a:prstClr val="black"/>
              </a:solidFill>
              <a:latin typeface="Microsoft YaHei"/>
              <a:ea typeface="Microsoft YaHei"/>
            </a:endParaRPr>
          </a:p>
          <a:p>
            <a:pPr marL="171450" indent="-171450" defTabSz="685800"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prstClr val="black"/>
                </a:solidFill>
                <a:latin typeface="Arial"/>
                <a:ea typeface="Microsoft YaHei"/>
              </a:rPr>
              <a:t>最终产品、服务和成果移交；</a:t>
            </a:r>
            <a:endParaRPr lang="en-US" altLang="zh-CN" sz="1200" dirty="0">
              <a:solidFill>
                <a:prstClr val="black"/>
              </a:solidFill>
              <a:latin typeface="Arial"/>
              <a:ea typeface="Microsoft YaHei"/>
            </a:endParaRPr>
          </a:p>
          <a:p>
            <a:pPr marL="171450" indent="-171450" defTabSz="685800"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prstClr val="black"/>
                </a:solidFill>
                <a:latin typeface="Arial"/>
                <a:ea typeface="Microsoft YaHei"/>
              </a:rPr>
              <a:t>项目文件更新（风险、问题日志、经验教训登记册）；</a:t>
            </a:r>
            <a:endParaRPr lang="en-US" altLang="zh-CN" sz="1200" dirty="0">
              <a:solidFill>
                <a:prstClr val="black"/>
              </a:solidFill>
              <a:latin typeface="Arial"/>
              <a:ea typeface="Microsoft YaHei"/>
            </a:endParaRPr>
          </a:p>
          <a:p>
            <a:pPr marL="171450" indent="-171450" defTabSz="685800"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prstClr val="black"/>
                </a:solidFill>
                <a:latin typeface="Arial"/>
                <a:ea typeface="Microsoft YaHei"/>
              </a:rPr>
              <a:t>组织过程资产更新；</a:t>
            </a:r>
            <a:endParaRPr lang="en-US" altLang="zh-CN" sz="1200" dirty="0">
              <a:solidFill>
                <a:prstClr val="black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0377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30731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BD8C3C5D-6F36-4CEC-BD7D-65BA9351CCC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9512" y="1347614"/>
            <a:ext cx="8718975" cy="1296144"/>
            <a:chOff x="656036" y="2479520"/>
            <a:chExt cx="11827223" cy="1216542"/>
          </a:xfrm>
        </p:grpSpPr>
        <p:sp>
          <p:nvSpPr>
            <p:cNvPr id="47" name="íṥ1íďe">
              <a:extLst>
                <a:ext uri="{FF2B5EF4-FFF2-40B4-BE49-F238E27FC236}">
                  <a16:creationId xmlns:a16="http://schemas.microsoft.com/office/drawing/2014/main" id="{42679F30-396A-4858-B225-36F5A818B9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51847" y="3085722"/>
              <a:ext cx="9021982" cy="12423"/>
            </a:xfrm>
            <a:prstGeom prst="line">
              <a:avLst/>
            </a:prstGeom>
            <a:noFill/>
            <a:ln w="19050">
              <a:solidFill>
                <a:srgbClr val="C0504D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da-DK" sz="1350">
                <a:solidFill>
                  <a:prstClr val="black"/>
                </a:solidFill>
                <a:latin typeface="Arial"/>
                <a:ea typeface="Microsoft YaHei"/>
              </a:endParaRPr>
            </a:p>
          </p:txBody>
        </p:sp>
        <p:sp>
          <p:nvSpPr>
            <p:cNvPr id="48" name="iṩliḓê">
              <a:extLst>
                <a:ext uri="{FF2B5EF4-FFF2-40B4-BE49-F238E27FC236}">
                  <a16:creationId xmlns:a16="http://schemas.microsoft.com/office/drawing/2014/main" id="{626E7F31-7603-41FB-9AE9-414C7FF2D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3126" y="2479520"/>
              <a:ext cx="2240133" cy="1216542"/>
            </a:xfrm>
            <a:prstGeom prst="chevron">
              <a:avLst/>
            </a:prstGeom>
            <a:solidFill>
              <a:srgbClr val="AB2630"/>
            </a:solidFill>
            <a:ln w="50800">
              <a:noFill/>
              <a:round/>
              <a:headEnd/>
              <a:tailEnd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Arial"/>
                  <a:ea typeface="Microsoft YaHei"/>
                </a:rPr>
                <a:t>结项完成</a:t>
              </a:r>
              <a:endParaRPr lang="nb-NO" sz="1400" b="1" dirty="0">
                <a:solidFill>
                  <a:prstClr val="black"/>
                </a:solidFill>
                <a:latin typeface="Arial"/>
                <a:ea typeface="Microsoft YaHei"/>
              </a:endParaRPr>
            </a:p>
          </p:txBody>
        </p:sp>
        <p:sp>
          <p:nvSpPr>
            <p:cNvPr id="94" name="ïṣḷïḍê">
              <a:extLst>
                <a:ext uri="{FF2B5EF4-FFF2-40B4-BE49-F238E27FC236}">
                  <a16:creationId xmlns:a16="http://schemas.microsoft.com/office/drawing/2014/main" id="{07E129AB-C488-46A4-9A48-290E7BEA6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397" y="2760643"/>
              <a:ext cx="1949434" cy="630805"/>
            </a:xfrm>
            <a:prstGeom prst="chevron">
              <a:avLst/>
            </a:prstGeom>
            <a:solidFill>
              <a:srgbClr val="AB2630"/>
            </a:solidFill>
            <a:ln w="31750">
              <a:noFill/>
              <a:prstDash val="sysDash"/>
              <a:round/>
              <a:headEnd/>
              <a:tailEnd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Arial"/>
                  <a:ea typeface="Microsoft YaHei"/>
                </a:rPr>
                <a:t>结项决策评审准备</a:t>
              </a:r>
              <a:endParaRPr lang="nb-NO" sz="1400" b="1" dirty="0">
                <a:solidFill>
                  <a:prstClr val="black"/>
                </a:solidFill>
                <a:latin typeface="Arial"/>
                <a:ea typeface="Microsoft YaHei"/>
              </a:endParaRPr>
            </a:p>
          </p:txBody>
        </p:sp>
        <p:sp>
          <p:nvSpPr>
            <p:cNvPr id="85" name="í$ḷïḍe">
              <a:extLst>
                <a:ext uri="{FF2B5EF4-FFF2-40B4-BE49-F238E27FC236}">
                  <a16:creationId xmlns:a16="http://schemas.microsoft.com/office/drawing/2014/main" id="{459451B9-6E1E-4729-8ABA-3CCD493AA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1827" y="2776065"/>
              <a:ext cx="1949433" cy="630805"/>
            </a:xfrm>
            <a:prstGeom prst="chevron">
              <a:avLst/>
            </a:prstGeom>
            <a:solidFill>
              <a:srgbClr val="AB2630"/>
            </a:solidFill>
            <a:ln w="31750">
              <a:noFill/>
              <a:prstDash val="sysDash"/>
              <a:round/>
              <a:headEnd/>
              <a:tailEnd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Arial"/>
                  <a:ea typeface="Microsoft YaHei"/>
                </a:rPr>
                <a:t>系统结项申请</a:t>
              </a:r>
              <a:endParaRPr lang="nb-NO" sz="1400" b="1" dirty="0">
                <a:solidFill>
                  <a:prstClr val="black"/>
                </a:solidFill>
                <a:latin typeface="Arial"/>
                <a:ea typeface="Microsoft YaHei"/>
              </a:endParaRPr>
            </a:p>
          </p:txBody>
        </p:sp>
        <p:sp>
          <p:nvSpPr>
            <p:cNvPr id="76" name="iṣlîḍe">
              <a:extLst>
                <a:ext uri="{FF2B5EF4-FFF2-40B4-BE49-F238E27FC236}">
                  <a16:creationId xmlns:a16="http://schemas.microsoft.com/office/drawing/2014/main" id="{A92DCE1C-79E7-4B13-9253-272B36098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036" y="2760644"/>
              <a:ext cx="1949434" cy="630805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1750">
              <a:noFill/>
              <a:prstDash val="sysDash"/>
              <a:round/>
              <a:headEnd/>
              <a:tailEnd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r>
                <a:rPr lang="en-US" altLang="zh-CN" sz="1400" b="1" dirty="0">
                  <a:solidFill>
                    <a:prstClr val="black"/>
                  </a:solidFill>
                  <a:latin typeface="Arial"/>
                  <a:ea typeface="Microsoft YaHei"/>
                </a:rPr>
                <a:t>NPI</a:t>
              </a:r>
              <a:r>
                <a:rPr lang="zh-CN" altLang="en-US" sz="1400" b="1" dirty="0">
                  <a:solidFill>
                    <a:prstClr val="black"/>
                  </a:solidFill>
                  <a:latin typeface="Arial"/>
                  <a:ea typeface="Microsoft YaHei"/>
                </a:rPr>
                <a:t>验收</a:t>
              </a:r>
              <a:endParaRPr lang="nb-NO" sz="1400" b="1" dirty="0">
                <a:solidFill>
                  <a:prstClr val="black"/>
                </a:solidFill>
                <a:latin typeface="Arial"/>
                <a:ea typeface="Microsoft YaHei"/>
              </a:endParaRPr>
            </a:p>
          </p:txBody>
        </p:sp>
        <p:sp>
          <p:nvSpPr>
            <p:cNvPr id="67" name="îślíḋé">
              <a:extLst>
                <a:ext uri="{FF2B5EF4-FFF2-40B4-BE49-F238E27FC236}">
                  <a16:creationId xmlns:a16="http://schemas.microsoft.com/office/drawing/2014/main" id="{62E95541-B0FE-483E-8498-4CFC75E74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832" y="2776066"/>
              <a:ext cx="1915294" cy="630805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1750">
              <a:noFill/>
              <a:prstDash val="sysDash"/>
              <a:round/>
              <a:headEnd/>
              <a:tailEnd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Arial"/>
                  <a:ea typeface="Microsoft YaHei"/>
                </a:rPr>
                <a:t>结项决策评审会议</a:t>
              </a:r>
              <a:endParaRPr lang="nb-NO" sz="1400" b="1" dirty="0">
                <a:solidFill>
                  <a:prstClr val="black"/>
                </a:solidFill>
                <a:latin typeface="Arial"/>
                <a:ea typeface="Microsoft YaHei"/>
              </a:endParaRPr>
            </a:p>
          </p:txBody>
        </p:sp>
        <p:sp>
          <p:nvSpPr>
            <p:cNvPr id="58" name="ï$ḻiḋé">
              <a:extLst>
                <a:ext uri="{FF2B5EF4-FFF2-40B4-BE49-F238E27FC236}">
                  <a16:creationId xmlns:a16="http://schemas.microsoft.com/office/drawing/2014/main" id="{D29705D0-0048-46F6-AC87-2F8CF56CD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6180" y="2776066"/>
              <a:ext cx="1915294" cy="630805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1750">
              <a:noFill/>
              <a:prstDash val="sysDash"/>
              <a:round/>
              <a:headEnd/>
              <a:tailEnd/>
            </a:ln>
            <a:effectLst/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文档归档</a:t>
              </a:r>
              <a:endParaRPr lang="nb-NO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0" name="文本占位符 1">
            <a:extLst>
              <a:ext uri="{FF2B5EF4-FFF2-40B4-BE49-F238E27FC236}">
                <a16:creationId xmlns:a16="http://schemas.microsoft.com/office/drawing/2014/main" id="{90D14549-D650-4B44-96F5-6F3CBD5352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416824" cy="504056"/>
          </a:xfrm>
        </p:spPr>
        <p:txBody>
          <a:bodyPr/>
          <a:lstStyle/>
          <a:p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曙光验收结项流程</a:t>
            </a:r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7B1FE8-F375-4412-83E0-7691B42FBA93}"/>
              </a:ext>
            </a:extLst>
          </p:cNvPr>
          <p:cNvSpPr txBox="1"/>
          <p:nvPr/>
        </p:nvSpPr>
        <p:spPr>
          <a:xfrm>
            <a:off x="179512" y="2715766"/>
            <a:ext cx="3600400" cy="2289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涉及模板清单：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en-US" altLang="zh-CN" sz="1200" dirty="0">
                <a:latin typeface="+mn-ea"/>
              </a:rPr>
              <a:t>《</a:t>
            </a:r>
            <a:r>
              <a:rPr lang="zh-CN" altLang="en-US" sz="1200" dirty="0">
                <a:latin typeface="+mn-ea"/>
              </a:rPr>
              <a:t>结项检查表</a:t>
            </a:r>
            <a:r>
              <a:rPr lang="en-US" altLang="zh-CN" sz="1200" dirty="0">
                <a:latin typeface="+mn-ea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+mn-ea"/>
              </a:rPr>
              <a:t>2.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《 C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类项目验收结项表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+mn-ea"/>
                <a:cs typeface="+mn-ea"/>
                <a:sym typeface="+mn-lt"/>
              </a:rPr>
              <a:t>3.《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项目资产清算报告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+mn-ea"/>
                <a:cs typeface="+mn-ea"/>
                <a:sym typeface="+mn-lt"/>
              </a:rPr>
              <a:t>4.《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立项评审报告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+mn-ea"/>
                <a:cs typeface="+mn-ea"/>
                <a:sym typeface="+mn-lt"/>
              </a:rPr>
              <a:t>5.《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结项评审报告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+mn-ea"/>
                <a:cs typeface="+mn-ea"/>
                <a:sym typeface="+mn-lt"/>
              </a:rPr>
              <a:t>6.《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费用清单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+mn-ea"/>
                <a:cs typeface="+mn-ea"/>
                <a:sym typeface="+mn-lt"/>
              </a:rPr>
              <a:t>7.《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审计报告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+mn-ea"/>
                <a:cs typeface="+mn-ea"/>
                <a:sym typeface="+mn-lt"/>
              </a:rPr>
              <a:t>8.《</a:t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>项目状态报告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+mn-ea"/>
              </a:rPr>
              <a:t>9.《</a:t>
            </a:r>
            <a:r>
              <a:rPr lang="zh-CN" altLang="en-US" sz="1200" dirty="0">
                <a:latin typeface="+mn-ea"/>
              </a:rPr>
              <a:t>项目管理计划</a:t>
            </a:r>
            <a:r>
              <a:rPr lang="en-US" altLang="zh-CN" sz="1200" dirty="0">
                <a:latin typeface="+mn-ea"/>
              </a:rPr>
              <a:t>》</a:t>
            </a: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64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占位符 1">
            <a:extLst>
              <a:ext uri="{FF2B5EF4-FFF2-40B4-BE49-F238E27FC236}">
                <a16:creationId xmlns:a16="http://schemas.microsoft.com/office/drawing/2014/main" id="{90D14549-D650-4B44-96F5-6F3CBD5352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416824" cy="504056"/>
          </a:xfrm>
        </p:spPr>
        <p:txBody>
          <a:bodyPr/>
          <a:lstStyle/>
          <a:p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曙光验收结项流程</a:t>
            </a:r>
            <a:r>
              <a:rPr lang="en-US" altLang="zh-CN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—NPI</a:t>
            </a:r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验收</a:t>
            </a:r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38B407-F27C-489B-9559-BBB701D3E6C5}"/>
              </a:ext>
            </a:extLst>
          </p:cNvPr>
          <p:cNvSpPr txBox="1"/>
          <p:nvPr/>
        </p:nvSpPr>
        <p:spPr>
          <a:xfrm>
            <a:off x="683568" y="735480"/>
            <a:ext cx="7272808" cy="223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—A/B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批量测试完成，达到质量评审标准；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DQA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组织质量评审，项目经理和项目组成员参与，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PLM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系统同步发起评审流程，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DQA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上传评审报告（签字版）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——DQA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质量评审通过后，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开始验收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工程师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邮件通知研发库位物料的所有借用人，开始进行资产清算，借用人退库、移库或领用，邮件中附上库位借用的清单（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SAP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中导出清单）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5BED75A-ECFC-43FC-A262-436E5C7CB959}"/>
              </a:ext>
            </a:extLst>
          </p:cNvPr>
          <p:cNvSpPr txBox="1"/>
          <p:nvPr/>
        </p:nvSpPr>
        <p:spPr>
          <a:xfrm>
            <a:off x="683568" y="3387891"/>
            <a:ext cx="7272808" cy="1755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—C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批量测试完成，质量评审：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085850" lvl="2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非整机类，比如定制板卡，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DQA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出质量报告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不组织质量评审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——DQA</a:t>
            </a:r>
          </a:p>
          <a:p>
            <a:pPr marL="1085850" lvl="2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整机类的参考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A/B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类流程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——DQA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验收：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非整机类无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整机类质量评审通过后，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开始验收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——NPI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工程师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若有单独库位参考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A/B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类流程，若无单独库位，即通知项目组成员退还借用物料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E21F5C-1A3A-4A34-B051-2B99187C9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501" y="2283718"/>
            <a:ext cx="6624736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49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占位符 1">
            <a:extLst>
              <a:ext uri="{FF2B5EF4-FFF2-40B4-BE49-F238E27FC236}">
                <a16:creationId xmlns:a16="http://schemas.microsoft.com/office/drawing/2014/main" id="{90D14549-D650-4B44-96F5-6F3CBD5352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416824" cy="504056"/>
          </a:xfrm>
        </p:spPr>
        <p:txBody>
          <a:bodyPr/>
          <a:lstStyle/>
          <a:p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曙光验收结项流程</a:t>
            </a:r>
            <a:r>
              <a:rPr lang="en-US" altLang="zh-CN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—</a:t>
            </a:r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结项决策评审准备</a:t>
            </a:r>
          </a:p>
          <a:p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8F56600-BA1D-4235-B7AC-0676CAF107FC}"/>
              </a:ext>
            </a:extLst>
          </p:cNvPr>
          <p:cNvSpPr txBox="1"/>
          <p:nvPr/>
        </p:nvSpPr>
        <p:spPr>
          <a:xfrm>
            <a:off x="755576" y="915566"/>
            <a:ext cx="8136904" cy="179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结项决策评审准备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—A/B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邮件通知项目组所有成员及领导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验收结果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工程师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验收通过，项目组内部组织结项评审会议同意结项，结论邮件通知项目组成员，正式进入结项阶段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若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验收未通过，项目组解决验收问题，评估再次验收。验收通过后，参考上述流程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项目经理、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工程师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邮件通知项目组成员和采购订单号即将关闭，确认是否有项目费用未申请和报销（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NRE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费、委外测试费、开模费、出差报销等）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邮件通知产品经理、架构师及主要项目干系人（硬件、软件、散热、机构）准备结项汇报报告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跟进关闭系统上所有采购流程，与财务确认项目费用清单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项目经理、财务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057BE8B-417E-495A-934E-68CCD7E44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708108"/>
            <a:ext cx="4032448" cy="799746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47DD7DAC-01F4-4E39-8701-F4086471B89A}"/>
              </a:ext>
            </a:extLst>
          </p:cNvPr>
          <p:cNvSpPr txBox="1"/>
          <p:nvPr/>
        </p:nvSpPr>
        <p:spPr>
          <a:xfrm>
            <a:off x="755576" y="3540627"/>
            <a:ext cx="8136904" cy="980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结项决策评审准备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—C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无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验收，项目组织内部评审、结项报告、采购费用确认参考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A/B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有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验收，均参考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A/B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类流程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项目经理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如无单独订单号，即财务无需提供费用清单，若有单独订单号，财务需提供费用清单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——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财务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788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占位符 1">
            <a:extLst>
              <a:ext uri="{FF2B5EF4-FFF2-40B4-BE49-F238E27FC236}">
                <a16:creationId xmlns:a16="http://schemas.microsoft.com/office/drawing/2014/main" id="{90D14549-D650-4B44-96F5-6F3CBD5352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416824" cy="504056"/>
          </a:xfrm>
        </p:spPr>
        <p:txBody>
          <a:bodyPr/>
          <a:lstStyle/>
          <a:p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曙光验收结项流程</a:t>
            </a:r>
            <a:r>
              <a:rPr lang="en-US" altLang="zh-CN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—</a:t>
            </a:r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结项决策评审</a:t>
            </a:r>
          </a:p>
          <a:p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25000F7-D7C0-4F60-9936-04A1F9897177}"/>
              </a:ext>
            </a:extLst>
          </p:cNvPr>
          <p:cNvSpPr txBox="1"/>
          <p:nvPr/>
        </p:nvSpPr>
        <p:spPr>
          <a:xfrm>
            <a:off x="827584" y="987574"/>
            <a:ext cx="8136904" cy="1386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结项决策评审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—A/B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100" dirty="0">
                <a:latin typeface="+mn-ea"/>
              </a:rPr>
              <a:t>PMO</a:t>
            </a:r>
            <a:r>
              <a:rPr lang="zh-CN" altLang="en-US" sz="1100" dirty="0">
                <a:latin typeface="+mn-ea"/>
              </a:rPr>
              <a:t>确认结项评审会议具体时间，发会议邀请产品技术委员会领导、发起部门总经理</a:t>
            </a:r>
            <a:r>
              <a:rPr lang="en-US" altLang="zh-CN" sz="1100" dirty="0">
                <a:latin typeface="+mn-ea"/>
              </a:rPr>
              <a:t>&amp;</a:t>
            </a:r>
            <a:r>
              <a:rPr lang="zh-CN" altLang="en-US" sz="1100" dirty="0">
                <a:latin typeface="+mn-ea"/>
              </a:rPr>
              <a:t>总工、接受部门总经理、品质经理、</a:t>
            </a:r>
            <a:r>
              <a:rPr lang="en-US" altLang="zh-CN" sz="1100" dirty="0">
                <a:latin typeface="+mn-ea"/>
              </a:rPr>
              <a:t>PMO</a:t>
            </a:r>
            <a:r>
              <a:rPr lang="zh-CN" altLang="en-US" sz="1100" dirty="0">
                <a:latin typeface="+mn-ea"/>
              </a:rPr>
              <a:t>经理、产品经理</a:t>
            </a:r>
            <a:r>
              <a:rPr lang="en-US" altLang="zh-CN" sz="1100" dirty="0">
                <a:latin typeface="+mn-ea"/>
              </a:rPr>
              <a:t>A&amp;B</a:t>
            </a:r>
            <a:r>
              <a:rPr lang="zh-CN" altLang="en-US" sz="1100" dirty="0">
                <a:latin typeface="+mn-ea"/>
              </a:rPr>
              <a:t>、采购、项目组成员及相关干系人参加评审会议</a:t>
            </a:r>
            <a:r>
              <a:rPr lang="en-US" altLang="zh-CN" sz="1100" dirty="0">
                <a:latin typeface="+mn-ea"/>
              </a:rPr>
              <a:t>——PMO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latin typeface="+mn-ea"/>
              </a:rPr>
              <a:t>核对</a:t>
            </a:r>
            <a:r>
              <a:rPr lang="en-US" altLang="zh-CN" sz="1100" dirty="0">
                <a:latin typeface="+mn-ea"/>
              </a:rPr>
              <a:t>《</a:t>
            </a:r>
            <a:r>
              <a:rPr lang="zh-CN" altLang="en-US" sz="1100" dirty="0">
                <a:latin typeface="+mn-ea"/>
              </a:rPr>
              <a:t>结项检查表</a:t>
            </a:r>
            <a:r>
              <a:rPr lang="en-US" altLang="zh-CN" sz="1100" dirty="0">
                <a:latin typeface="+mn-ea"/>
              </a:rPr>
              <a:t>》</a:t>
            </a:r>
            <a:r>
              <a:rPr lang="zh-CN" altLang="en-US" sz="1100" dirty="0">
                <a:latin typeface="+mn-ea"/>
              </a:rPr>
              <a:t>是否均已完成</a:t>
            </a:r>
            <a:r>
              <a:rPr lang="en-US" altLang="zh-CN" sz="1100" dirty="0">
                <a:latin typeface="+mn-ea"/>
              </a:rPr>
              <a:t>——</a:t>
            </a:r>
            <a:r>
              <a:rPr lang="zh-CN" altLang="en-US" sz="1100" dirty="0">
                <a:latin typeface="+mn-ea"/>
              </a:rPr>
              <a:t>项目经理</a:t>
            </a:r>
            <a:endParaRPr lang="en-US" altLang="zh-CN" sz="11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100" dirty="0">
                <a:latin typeface="+mn-ea"/>
              </a:rPr>
              <a:t>PMO</a:t>
            </a:r>
            <a:r>
              <a:rPr lang="zh-CN" altLang="en-US" sz="1100" dirty="0">
                <a:latin typeface="+mn-ea"/>
              </a:rPr>
              <a:t>输出结项评审报告，邮件通知所有项目组成员及相关领导评审结果，若通过评审通知财务关闭订单号（系统会自动关闭订单号）；若评审不通过，项目组解决相关问题后，会议或邮件再次评审</a:t>
            </a:r>
            <a:r>
              <a:rPr lang="en-US" altLang="zh-CN" sz="1100" dirty="0">
                <a:latin typeface="+mn-ea"/>
              </a:rPr>
              <a:t>——PMO</a:t>
            </a:r>
            <a:r>
              <a:rPr lang="zh-CN" altLang="en-US" sz="1100" dirty="0">
                <a:latin typeface="+mn-ea"/>
              </a:rPr>
              <a:t>、项目经理</a:t>
            </a:r>
            <a:endParaRPr lang="en-US" altLang="zh-CN" sz="1100" dirty="0">
              <a:latin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8D5C775-A7DE-4FF8-9740-9E5F94E81FCC}"/>
              </a:ext>
            </a:extLst>
          </p:cNvPr>
          <p:cNvSpPr txBox="1"/>
          <p:nvPr/>
        </p:nvSpPr>
        <p:spPr>
          <a:xfrm>
            <a:off x="827584" y="2733891"/>
            <a:ext cx="8136904" cy="1386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结项决策评审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—C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latin typeface="+mn-ea"/>
              </a:rPr>
              <a:t>项目组内部评审同意结项后，邀请产品技术委员会领导、发起部门总经理、接受部门总经理、品质经理、</a:t>
            </a:r>
            <a:r>
              <a:rPr lang="en-US" altLang="zh-CN" sz="1100" dirty="0">
                <a:latin typeface="+mn-ea"/>
              </a:rPr>
              <a:t>PMO</a:t>
            </a:r>
            <a:r>
              <a:rPr lang="zh-CN" altLang="en-US" sz="1100" dirty="0">
                <a:latin typeface="+mn-ea"/>
              </a:rPr>
              <a:t>经理、产品经理</a:t>
            </a:r>
            <a:r>
              <a:rPr lang="en-US" altLang="zh-CN" sz="1100" dirty="0">
                <a:latin typeface="+mn-ea"/>
              </a:rPr>
              <a:t>A&amp;B</a:t>
            </a:r>
            <a:r>
              <a:rPr lang="zh-CN" altLang="en-US" sz="1100" dirty="0">
                <a:latin typeface="+mn-ea"/>
              </a:rPr>
              <a:t>、采购、项目组成员及相关干系人</a:t>
            </a:r>
            <a:r>
              <a:rPr lang="zh-CN" altLang="en-US" sz="1100" b="1" dirty="0">
                <a:solidFill>
                  <a:srgbClr val="FF0000"/>
                </a:solidFill>
                <a:latin typeface="+mn-ea"/>
              </a:rPr>
              <a:t>邮件</a:t>
            </a:r>
            <a:r>
              <a:rPr lang="zh-CN" altLang="en-US" sz="1100" dirty="0">
                <a:latin typeface="+mn-ea"/>
              </a:rPr>
              <a:t>进行结项报告评审</a:t>
            </a:r>
            <a:r>
              <a:rPr lang="en-US" altLang="zh-CN" sz="1100" dirty="0">
                <a:latin typeface="+mn-ea"/>
              </a:rPr>
              <a:t>——</a:t>
            </a:r>
            <a:r>
              <a:rPr lang="zh-CN" altLang="en-US" sz="1100" dirty="0">
                <a:latin typeface="+mn-ea"/>
              </a:rPr>
              <a:t>项目经理</a:t>
            </a:r>
            <a:endParaRPr lang="en-US" altLang="zh-CN" sz="11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latin typeface="+mn-ea"/>
              </a:rPr>
              <a:t>核对</a:t>
            </a:r>
            <a:r>
              <a:rPr lang="en-US" altLang="zh-CN" sz="1100" dirty="0">
                <a:latin typeface="+mn-ea"/>
              </a:rPr>
              <a:t>《</a:t>
            </a:r>
            <a:r>
              <a:rPr lang="zh-CN" altLang="en-US" sz="1100" dirty="0">
                <a:latin typeface="+mn-ea"/>
              </a:rPr>
              <a:t>结项检查表</a:t>
            </a:r>
            <a:r>
              <a:rPr lang="en-US" altLang="zh-CN" sz="1100" dirty="0">
                <a:latin typeface="+mn-ea"/>
              </a:rPr>
              <a:t>》</a:t>
            </a:r>
            <a:r>
              <a:rPr lang="zh-CN" altLang="en-US" sz="1100" dirty="0">
                <a:latin typeface="+mn-ea"/>
              </a:rPr>
              <a:t>是否均已完成</a:t>
            </a:r>
            <a:r>
              <a:rPr lang="en-US" altLang="zh-CN" sz="1100" dirty="0">
                <a:latin typeface="+mn-ea"/>
              </a:rPr>
              <a:t>——</a:t>
            </a:r>
            <a:r>
              <a:rPr lang="zh-CN" altLang="en-US" sz="1100" dirty="0">
                <a:latin typeface="+mn-ea"/>
              </a:rPr>
              <a:t>项目经理</a:t>
            </a:r>
            <a:endParaRPr lang="en-US" altLang="zh-CN" sz="11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100" dirty="0">
                <a:latin typeface="+mn-ea"/>
                <a:cs typeface="+mn-ea"/>
                <a:sym typeface="+mn-lt"/>
              </a:rPr>
              <a:t>《 C</a:t>
            </a:r>
            <a:r>
              <a:rPr lang="zh-CN" altLang="en-US" sz="1100" dirty="0">
                <a:latin typeface="+mn-ea"/>
                <a:cs typeface="+mn-ea"/>
                <a:sym typeface="+mn-lt"/>
              </a:rPr>
              <a:t>类项目验收结项表</a:t>
            </a:r>
            <a:r>
              <a:rPr lang="en-US" altLang="zh-CN" sz="1100" dirty="0">
                <a:latin typeface="+mn-ea"/>
                <a:cs typeface="+mn-ea"/>
                <a:sym typeface="+mn-lt"/>
              </a:rPr>
              <a:t>》</a:t>
            </a:r>
            <a:r>
              <a:rPr lang="zh-CN" altLang="en-US" sz="1100" dirty="0">
                <a:latin typeface="+mn-ea"/>
                <a:cs typeface="+mn-ea"/>
                <a:sym typeface="+mn-lt"/>
              </a:rPr>
              <a:t>签字</a:t>
            </a:r>
            <a:r>
              <a:rPr lang="en-US" altLang="zh-CN" sz="1100" dirty="0">
                <a:latin typeface="+mn-ea"/>
                <a:cs typeface="+mn-ea"/>
                <a:sym typeface="+mn-lt"/>
              </a:rPr>
              <a:t>——</a:t>
            </a:r>
            <a:r>
              <a:rPr lang="zh-CN" altLang="en-US" sz="1100" dirty="0">
                <a:latin typeface="+mn-ea"/>
                <a:cs typeface="+mn-ea"/>
                <a:sym typeface="+mn-lt"/>
              </a:rPr>
              <a:t>项目经理</a:t>
            </a:r>
            <a:endParaRPr lang="en-US" altLang="zh-CN" sz="11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latin typeface="+mn-ea"/>
              </a:rPr>
              <a:t>若无单独订单号无需关闭订单号，若有单独订单号通知财务关闭订单号（系统会自动关闭订单号）</a:t>
            </a:r>
            <a:r>
              <a:rPr lang="en-US" altLang="zh-CN" sz="1100" dirty="0">
                <a:latin typeface="+mn-ea"/>
              </a:rPr>
              <a:t>——</a:t>
            </a:r>
            <a:r>
              <a:rPr lang="zh-CN" altLang="en-US" sz="1100" dirty="0">
                <a:latin typeface="+mn-ea"/>
              </a:rPr>
              <a:t>项目经理</a:t>
            </a:r>
            <a:endParaRPr lang="en-US" altLang="zh-CN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264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占位符 1">
            <a:extLst>
              <a:ext uri="{FF2B5EF4-FFF2-40B4-BE49-F238E27FC236}">
                <a16:creationId xmlns:a16="http://schemas.microsoft.com/office/drawing/2014/main" id="{90D14549-D650-4B44-96F5-6F3CBD5352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416824" cy="504056"/>
          </a:xfrm>
        </p:spPr>
        <p:txBody>
          <a:bodyPr/>
          <a:lstStyle/>
          <a:p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曙光验收结项流程</a:t>
            </a:r>
            <a:r>
              <a:rPr lang="en-US" altLang="zh-CN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—</a:t>
            </a:r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系统结项申请</a:t>
            </a:r>
          </a:p>
          <a:p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33ECA7A-3230-48EE-960A-37AB3348A197}"/>
              </a:ext>
            </a:extLst>
          </p:cNvPr>
          <p:cNvSpPr txBox="1"/>
          <p:nvPr/>
        </p:nvSpPr>
        <p:spPr>
          <a:xfrm>
            <a:off x="827584" y="987574"/>
            <a:ext cx="8136904" cy="2808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系统结项申请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—A/B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000" dirty="0">
                <a:latin typeface="+mn-ea"/>
              </a:rPr>
              <a:t>与库房管理员核对清算资产和反冲正品库物料清单，系统做预留，最终形成资产清算报告</a:t>
            </a:r>
            <a:r>
              <a:rPr lang="en-US" altLang="zh-CN" sz="1000" dirty="0">
                <a:latin typeface="+mn-ea"/>
              </a:rPr>
              <a:t>——</a:t>
            </a:r>
            <a:r>
              <a:rPr lang="zh-CN" altLang="en-US" sz="1000" dirty="0">
                <a:latin typeface="+mn-ea"/>
              </a:rPr>
              <a:t>项目经理、库房管理员</a:t>
            </a:r>
            <a:endParaRPr lang="en-US" altLang="zh-CN" sz="1000" dirty="0">
              <a:latin typeface="+mn-ea"/>
            </a:endParaRP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确认研发库位无外借物料后，库房提供库位所有物料的清单</a:t>
            </a:r>
            <a:r>
              <a:rPr lang="en-US" altLang="zh-CN" sz="1000" dirty="0">
                <a:latin typeface="+mn-ea"/>
              </a:rPr>
              <a:t>——</a:t>
            </a:r>
            <a:r>
              <a:rPr lang="zh-CN" altLang="en-US" sz="1000" dirty="0">
                <a:latin typeface="+mn-ea"/>
              </a:rPr>
              <a:t>库房管理员</a:t>
            </a:r>
            <a:endParaRPr lang="en-US" altLang="zh-CN" sz="1000" dirty="0">
              <a:latin typeface="+mn-ea"/>
            </a:endParaRP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根据物料清单梳理报废、转公共库、转正品物料，将梳理后的清单邮件给项目发起部门总工及产品经理确认是否合理</a:t>
            </a:r>
            <a:r>
              <a:rPr lang="en-US" altLang="zh-CN" sz="1000" dirty="0">
                <a:latin typeface="+mn-ea"/>
              </a:rPr>
              <a:t>——</a:t>
            </a:r>
            <a:r>
              <a:rPr lang="zh-CN" altLang="en-US" sz="1000" dirty="0">
                <a:latin typeface="+mn-ea"/>
              </a:rPr>
              <a:t>项目经理</a:t>
            </a:r>
            <a:endParaRPr lang="en-US" altLang="zh-CN" sz="1000" dirty="0">
              <a:latin typeface="+mn-ea"/>
            </a:endParaRP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梳理清单确认</a:t>
            </a:r>
            <a:r>
              <a:rPr lang="en-US" altLang="zh-CN" sz="1000" dirty="0">
                <a:latin typeface="+mn-ea"/>
              </a:rPr>
              <a:t>OK</a:t>
            </a:r>
            <a:r>
              <a:rPr lang="zh-CN" altLang="en-US" sz="1000" dirty="0">
                <a:latin typeface="+mn-ea"/>
              </a:rPr>
              <a:t>后，将清单打印出来给技术体系领导、发起部门总经理</a:t>
            </a:r>
            <a:r>
              <a:rPr lang="en-US" altLang="zh-CN" sz="1000" dirty="0">
                <a:latin typeface="+mn-ea"/>
              </a:rPr>
              <a:t>&amp;</a:t>
            </a:r>
            <a:r>
              <a:rPr lang="zh-CN" altLang="en-US" sz="1000" dirty="0">
                <a:latin typeface="+mn-ea"/>
              </a:rPr>
              <a:t>总工、产品经理</a:t>
            </a:r>
            <a:r>
              <a:rPr lang="en-US" altLang="zh-CN" sz="1000" dirty="0">
                <a:latin typeface="+mn-ea"/>
              </a:rPr>
              <a:t>A&amp;B</a:t>
            </a:r>
            <a:r>
              <a:rPr lang="zh-CN" altLang="en-US" sz="1000" dirty="0">
                <a:latin typeface="+mn-ea"/>
              </a:rPr>
              <a:t>签字，形成资产清算报告</a:t>
            </a:r>
            <a:r>
              <a:rPr lang="en-US" altLang="zh-CN" sz="1000" dirty="0">
                <a:latin typeface="+mn-ea"/>
              </a:rPr>
              <a:t>——</a:t>
            </a:r>
            <a:r>
              <a:rPr lang="zh-CN" altLang="en-US" sz="1000" dirty="0">
                <a:latin typeface="+mn-ea"/>
              </a:rPr>
              <a:t>项目经理</a:t>
            </a:r>
            <a:endParaRPr lang="en-US" altLang="zh-CN" sz="1000" dirty="0">
              <a:latin typeface="+mn-ea"/>
            </a:endParaRP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走</a:t>
            </a:r>
            <a:r>
              <a:rPr lang="en-US" altLang="zh-CN" sz="1000" dirty="0">
                <a:latin typeface="+mn-ea"/>
              </a:rPr>
              <a:t>OA</a:t>
            </a:r>
            <a:r>
              <a:rPr lang="zh-CN" altLang="en-US" sz="1000" dirty="0">
                <a:latin typeface="+mn-ea"/>
              </a:rPr>
              <a:t>转正品申请</a:t>
            </a:r>
            <a:r>
              <a:rPr lang="en-US" altLang="zh-CN" sz="1000" dirty="0">
                <a:latin typeface="+mn-ea"/>
              </a:rPr>
              <a:t>——</a:t>
            </a:r>
            <a:r>
              <a:rPr lang="zh-CN" altLang="en-US" sz="1000" dirty="0">
                <a:latin typeface="+mn-ea"/>
              </a:rPr>
              <a:t>项目经理</a:t>
            </a:r>
            <a:endParaRPr lang="en-US" altLang="zh-CN" sz="10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000" dirty="0">
                <a:latin typeface="+mn-ea"/>
              </a:rPr>
              <a:t>OA/PLM</a:t>
            </a:r>
            <a:r>
              <a:rPr lang="zh-CN" altLang="en-US" sz="1000" dirty="0">
                <a:latin typeface="+mn-ea"/>
              </a:rPr>
              <a:t>系统提交结项申请（</a:t>
            </a:r>
            <a:r>
              <a:rPr lang="en-US" altLang="zh-CN" sz="1000" dirty="0">
                <a:latin typeface="+mn-ea"/>
              </a:rPr>
              <a:t>OA</a:t>
            </a:r>
            <a:r>
              <a:rPr lang="zh-CN" altLang="en-US" sz="1000" dirty="0">
                <a:latin typeface="+mn-ea"/>
              </a:rPr>
              <a:t>申请立项</a:t>
            </a:r>
            <a:r>
              <a:rPr lang="en-US" altLang="zh-CN" sz="1000" dirty="0">
                <a:latin typeface="+mn-ea"/>
              </a:rPr>
              <a:t>OA</a:t>
            </a:r>
            <a:r>
              <a:rPr lang="zh-CN" altLang="en-US" sz="1000" dirty="0">
                <a:latin typeface="+mn-ea"/>
              </a:rPr>
              <a:t>申请结项，</a:t>
            </a:r>
            <a:r>
              <a:rPr lang="en-US" altLang="zh-CN" sz="1000" dirty="0">
                <a:latin typeface="+mn-ea"/>
              </a:rPr>
              <a:t>PLM</a:t>
            </a:r>
            <a:r>
              <a:rPr lang="zh-CN" altLang="en-US" sz="1000" dirty="0">
                <a:latin typeface="+mn-ea"/>
              </a:rPr>
              <a:t>系统申请立项</a:t>
            </a:r>
            <a:r>
              <a:rPr lang="en-US" altLang="zh-CN" sz="1000" dirty="0">
                <a:latin typeface="+mn-ea"/>
              </a:rPr>
              <a:t>PLM</a:t>
            </a:r>
            <a:r>
              <a:rPr lang="zh-CN" altLang="en-US" sz="1000" dirty="0">
                <a:latin typeface="+mn-ea"/>
              </a:rPr>
              <a:t>系统申请结项），上传立项评审报告、结项评审报告、资产清算报告、费用清单</a:t>
            </a:r>
            <a:r>
              <a:rPr lang="en-US" altLang="zh-CN" sz="1000" dirty="0">
                <a:latin typeface="+mn-ea"/>
              </a:rPr>
              <a:t>——</a:t>
            </a:r>
            <a:r>
              <a:rPr lang="zh-CN" altLang="en-US" sz="1000" dirty="0">
                <a:latin typeface="+mn-ea"/>
              </a:rPr>
              <a:t>项目经理</a:t>
            </a:r>
            <a:endParaRPr lang="en-US" altLang="zh-CN" sz="10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000" dirty="0">
                <a:latin typeface="+mn-ea"/>
              </a:rPr>
              <a:t>预算超过</a:t>
            </a:r>
            <a:r>
              <a:rPr lang="en-US" altLang="zh-CN" sz="1000" dirty="0">
                <a:latin typeface="+mn-ea"/>
              </a:rPr>
              <a:t>1500</a:t>
            </a:r>
            <a:r>
              <a:rPr lang="zh-CN" altLang="en-US" sz="1000" dirty="0">
                <a:latin typeface="+mn-ea"/>
              </a:rPr>
              <a:t>万（不含人力）需要审计提供审计报告，不超过则无需提供</a:t>
            </a:r>
            <a:r>
              <a:rPr lang="en-US" altLang="zh-CN" sz="1000" dirty="0">
                <a:latin typeface="+mn-ea"/>
              </a:rPr>
              <a:t>——</a:t>
            </a:r>
            <a:r>
              <a:rPr lang="zh-CN" altLang="en-US" sz="1000" dirty="0">
                <a:latin typeface="+mn-ea"/>
              </a:rPr>
              <a:t>审计</a:t>
            </a:r>
            <a:endParaRPr lang="en-US" altLang="zh-CN" sz="10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000" dirty="0">
                <a:latin typeface="+mn-ea"/>
              </a:rPr>
              <a:t>跟进签核流程直至流程结束</a:t>
            </a:r>
            <a:r>
              <a:rPr lang="en-US" altLang="zh-CN" sz="1000" dirty="0">
                <a:latin typeface="+mn-ea"/>
              </a:rPr>
              <a:t>——</a:t>
            </a:r>
            <a:r>
              <a:rPr lang="zh-CN" altLang="en-US" sz="1000" dirty="0">
                <a:latin typeface="+mn-ea"/>
              </a:rPr>
              <a:t>项目经理</a:t>
            </a:r>
            <a:endParaRPr lang="en-US" altLang="zh-CN" sz="1000" dirty="0">
              <a:latin typeface="+mn-ea"/>
            </a:endParaRPr>
          </a:p>
          <a:p>
            <a:pPr lvl="1">
              <a:lnSpc>
                <a:spcPct val="120000"/>
              </a:lnSpc>
            </a:pP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vl="2">
              <a:lnSpc>
                <a:spcPct val="120000"/>
              </a:lnSpc>
            </a:pP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7CD9914-7846-4FE7-B40A-4A127FC33602}"/>
              </a:ext>
            </a:extLst>
          </p:cNvPr>
          <p:cNvSpPr txBox="1"/>
          <p:nvPr/>
        </p:nvSpPr>
        <p:spPr>
          <a:xfrm>
            <a:off x="827584" y="3823986"/>
            <a:ext cx="8280920" cy="118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系统结项申请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—C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latin typeface="+mn-ea"/>
              </a:rPr>
              <a:t>无独立库位的无需资产清算报告，有独立库位的参考</a:t>
            </a:r>
            <a:r>
              <a:rPr lang="en-US" altLang="zh-CN" sz="1100" dirty="0">
                <a:latin typeface="+mn-ea"/>
              </a:rPr>
              <a:t>A/B</a:t>
            </a:r>
            <a:r>
              <a:rPr lang="zh-CN" altLang="en-US" sz="1100" dirty="0">
                <a:latin typeface="+mn-ea"/>
              </a:rPr>
              <a:t>类的资产清算流程</a:t>
            </a:r>
            <a:r>
              <a:rPr lang="en-US" altLang="zh-CN" sz="1100" dirty="0">
                <a:latin typeface="+mn-ea"/>
              </a:rPr>
              <a:t>——</a:t>
            </a:r>
            <a:r>
              <a:rPr lang="zh-CN" altLang="en-US" sz="1100" dirty="0">
                <a:latin typeface="+mn-ea"/>
              </a:rPr>
              <a:t>项目经理</a:t>
            </a:r>
            <a:endParaRPr lang="en-US" altLang="zh-CN" sz="11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100" dirty="0">
                <a:latin typeface="+mn-ea"/>
              </a:rPr>
              <a:t>OA/PLM</a:t>
            </a:r>
            <a:r>
              <a:rPr lang="zh-CN" altLang="en-US" sz="1100" dirty="0">
                <a:latin typeface="+mn-ea"/>
              </a:rPr>
              <a:t>系统提交结项申请（</a:t>
            </a:r>
            <a:r>
              <a:rPr lang="en-US" altLang="zh-CN" sz="1100" dirty="0">
                <a:latin typeface="+mn-ea"/>
              </a:rPr>
              <a:t>OA</a:t>
            </a:r>
            <a:r>
              <a:rPr lang="zh-CN" altLang="en-US" sz="1100" dirty="0">
                <a:latin typeface="+mn-ea"/>
              </a:rPr>
              <a:t>申请立项</a:t>
            </a:r>
            <a:r>
              <a:rPr lang="en-US" altLang="zh-CN" sz="1100" dirty="0">
                <a:latin typeface="+mn-ea"/>
              </a:rPr>
              <a:t>OA</a:t>
            </a:r>
            <a:r>
              <a:rPr lang="zh-CN" altLang="en-US" sz="1100" dirty="0">
                <a:latin typeface="+mn-ea"/>
              </a:rPr>
              <a:t>申请结项，</a:t>
            </a:r>
            <a:r>
              <a:rPr lang="en-US" altLang="zh-CN" sz="1100" dirty="0">
                <a:latin typeface="+mn-ea"/>
              </a:rPr>
              <a:t>PLM</a:t>
            </a:r>
            <a:r>
              <a:rPr lang="zh-CN" altLang="en-US" sz="1100" dirty="0">
                <a:latin typeface="+mn-ea"/>
              </a:rPr>
              <a:t>系统申请立项</a:t>
            </a:r>
            <a:r>
              <a:rPr lang="en-US" altLang="zh-CN" sz="1100" dirty="0">
                <a:latin typeface="+mn-ea"/>
              </a:rPr>
              <a:t>PLM</a:t>
            </a:r>
            <a:r>
              <a:rPr lang="zh-CN" altLang="en-US" sz="1100" dirty="0">
                <a:latin typeface="+mn-ea"/>
              </a:rPr>
              <a:t>系统申请结项），上传立项评审报告、</a:t>
            </a:r>
            <a:r>
              <a:rPr lang="en-US" altLang="zh-CN" sz="1100" dirty="0">
                <a:latin typeface="+mn-ea"/>
                <a:cs typeface="+mn-ea"/>
                <a:sym typeface="+mn-lt"/>
              </a:rPr>
              <a:t> 《 C</a:t>
            </a:r>
            <a:r>
              <a:rPr lang="zh-CN" altLang="en-US" sz="1100" dirty="0">
                <a:latin typeface="+mn-ea"/>
                <a:cs typeface="+mn-ea"/>
                <a:sym typeface="+mn-lt"/>
              </a:rPr>
              <a:t>类项目验收结项表</a:t>
            </a:r>
            <a:r>
              <a:rPr lang="en-US" altLang="zh-CN" sz="1100" dirty="0">
                <a:latin typeface="+mn-ea"/>
                <a:cs typeface="+mn-ea"/>
                <a:sym typeface="+mn-lt"/>
              </a:rPr>
              <a:t>》 </a:t>
            </a:r>
            <a:r>
              <a:rPr lang="zh-CN" altLang="en-US" sz="1100" dirty="0">
                <a:latin typeface="+mn-ea"/>
              </a:rPr>
              <a:t>、资产清算报告、费用清单</a:t>
            </a:r>
            <a:r>
              <a:rPr lang="en-US" altLang="zh-CN" sz="1100" dirty="0">
                <a:latin typeface="+mn-ea"/>
              </a:rPr>
              <a:t>——</a:t>
            </a:r>
            <a:r>
              <a:rPr lang="zh-CN" altLang="en-US" sz="1100" dirty="0">
                <a:latin typeface="+mn-ea"/>
              </a:rPr>
              <a:t>项目经理</a:t>
            </a:r>
            <a:endParaRPr lang="en-US" altLang="zh-CN" sz="1100" dirty="0">
              <a:latin typeface="+mn-ea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100" dirty="0">
                <a:latin typeface="+mn-ea"/>
              </a:rPr>
              <a:t>跟进签核流程直至流程结束</a:t>
            </a:r>
            <a:r>
              <a:rPr lang="en-US" altLang="zh-CN" sz="1100" dirty="0">
                <a:latin typeface="+mn-ea"/>
              </a:rPr>
              <a:t>——</a:t>
            </a:r>
            <a:r>
              <a:rPr lang="zh-CN" altLang="en-US" sz="1100" dirty="0">
                <a:latin typeface="+mn-ea"/>
              </a:rPr>
              <a:t>项目经理</a:t>
            </a:r>
            <a:endParaRPr lang="en-US" altLang="zh-CN" sz="1100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FD10ADF-27B1-484A-81FE-8EA3EA561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732189"/>
              </p:ext>
            </p:extLst>
          </p:nvPr>
        </p:nvGraphicFramePr>
        <p:xfrm>
          <a:off x="6660232" y="3003798"/>
          <a:ext cx="20843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" name="包装程序外壳对象" showAsIcon="1" r:id="rId4" imgW="2084760" imgH="453960" progId="Package">
                  <p:embed/>
                </p:oleObj>
              </mc:Choice>
              <mc:Fallback>
                <p:oleObj name="包装程序外壳对象" showAsIcon="1" r:id="rId4" imgW="2084760" imgH="4539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0232" y="3003798"/>
                        <a:ext cx="2084387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652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占位符 1">
            <a:extLst>
              <a:ext uri="{FF2B5EF4-FFF2-40B4-BE49-F238E27FC236}">
                <a16:creationId xmlns:a16="http://schemas.microsoft.com/office/drawing/2014/main" id="{90D14549-D650-4B44-96F5-6F3CBD5352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123478"/>
            <a:ext cx="7416824" cy="504056"/>
          </a:xfrm>
        </p:spPr>
        <p:txBody>
          <a:bodyPr/>
          <a:lstStyle/>
          <a:p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曙光验收结项流程</a:t>
            </a:r>
            <a:r>
              <a:rPr lang="en-US" altLang="zh-CN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—</a:t>
            </a:r>
            <a:r>
              <a:rPr lang="zh-CN" altLang="en-US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项目文档归档</a:t>
            </a:r>
          </a:p>
          <a:p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E7636AE-3C12-4EDD-9071-58EF8E618515}"/>
              </a:ext>
            </a:extLst>
          </p:cNvPr>
          <p:cNvSpPr txBox="1"/>
          <p:nvPr/>
        </p:nvSpPr>
        <p:spPr>
          <a:xfrm>
            <a:off x="611560" y="915566"/>
            <a:ext cx="8280920" cy="72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项目文档归档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—A/B/C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类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628650" lvl="1" indent="-171450" defTabSz="6858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1100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PLM</a:t>
            </a:r>
            <a:r>
              <a:rPr lang="zh-CN" altLang="en-US" sz="1100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系统更新项目文件（项目管理计划、结项评审报告等）</a:t>
            </a:r>
            <a:r>
              <a:rPr lang="en-US" altLang="zh-CN" sz="1100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——</a:t>
            </a:r>
            <a:r>
              <a:rPr lang="zh-CN" altLang="en-US" sz="1100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项目经理</a:t>
            </a:r>
            <a:endParaRPr lang="en-US" altLang="zh-CN" sz="1100" dirty="0">
              <a:solidFill>
                <a:prstClr val="black"/>
              </a:solidFill>
              <a:latin typeface="+mn-ea"/>
              <a:cs typeface="+mn-ea"/>
              <a:sym typeface="+mn-lt"/>
            </a:endParaRPr>
          </a:p>
          <a:p>
            <a:pPr marL="628650" lvl="1" indent="-171450" defTabSz="6858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1100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组织过程资产更新（项目状态报告）</a:t>
            </a:r>
            <a:r>
              <a:rPr lang="en-US" altLang="zh-CN" sz="1100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——</a:t>
            </a:r>
            <a:r>
              <a:rPr lang="zh-CN" altLang="en-US" sz="1100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项目经理</a:t>
            </a:r>
            <a:endParaRPr lang="en-US" altLang="zh-CN" sz="1100" dirty="0">
              <a:solidFill>
                <a:prstClr val="black"/>
              </a:solidFill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643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CONTENTSID" val="269"/>
  <p:tag name="MH_SECTIONID" val="270,271,"/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3074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307312"/>
</p:tagLst>
</file>

<file path=ppt/theme/theme1.xml><?xml version="1.0" encoding="utf-8"?>
<a:theme xmlns:a="http://schemas.openxmlformats.org/drawingml/2006/main" name="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034dk4m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3ouany5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1661</Words>
  <Application>Microsoft Office PowerPoint</Application>
  <PresentationFormat>全屏显示(16:9)</PresentationFormat>
  <Paragraphs>126</Paragraphs>
  <Slides>12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Microsoft YaHei</vt:lpstr>
      <vt:lpstr>Microsoft YaHei</vt:lpstr>
      <vt:lpstr>Arial</vt:lpstr>
      <vt:lpstr>Calibri</vt:lpstr>
      <vt:lpstr>Wingdings</vt:lpstr>
      <vt:lpstr>演示文稿2</vt:lpstr>
      <vt:lpstr>1_演示文稿2</vt:lpstr>
      <vt:lpstr>包装程序外壳对象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sugon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用户47;AdenWang</dc:creator>
  <cp:lastModifiedBy>Sun</cp:lastModifiedBy>
  <cp:revision>388</cp:revision>
  <dcterms:created xsi:type="dcterms:W3CDTF">2011-03-28T03:13:00Z</dcterms:created>
  <dcterms:modified xsi:type="dcterms:W3CDTF">2020-03-28T09:00:16Z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