
<file path=[Content_Types].xml><?xml version="1.0" encoding="utf-8"?>
<Types xmlns="http://schemas.openxmlformats.org/package/2006/content-types">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57" r:id="rId2"/>
    <p:sldId id="260" r:id="rId3"/>
    <p:sldId id="263" r:id="rId4"/>
    <p:sldId id="264" r:id="rId5"/>
    <p:sldId id="265" r:id="rId6"/>
    <p:sldId id="266" r:id="rId7"/>
    <p:sldId id="267" r:id="rId8"/>
    <p:sldId id="269" r:id="rId9"/>
    <p:sldId id="270" r:id="rId10"/>
    <p:sldId id="268" r:id="rId11"/>
    <p:sldId id="271" r:id="rId12"/>
    <p:sldId id="259"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74" autoAdjust="0"/>
    <p:restoredTop sz="94660"/>
  </p:normalViewPr>
  <p:slideViewPr>
    <p:cSldViewPr snapToGrid="0">
      <p:cViewPr varScale="1">
        <p:scale>
          <a:sx n="68" d="100"/>
          <a:sy n="68" d="100"/>
        </p:scale>
        <p:origin x="81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983A09-6D16-45F9-AD93-418AC720A9E0}" type="datetimeFigureOut">
              <a:rPr lang="zh-CN" altLang="en-US" smtClean="0"/>
              <a:t>2020/4/10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451107-131D-4920-8540-3D58829C1F99}" type="slidenum">
              <a:rPr lang="zh-CN" altLang="en-US" smtClean="0"/>
              <a:t>‹#›</a:t>
            </a:fld>
            <a:endParaRPr lang="zh-CN" altLang="en-US"/>
          </a:p>
        </p:txBody>
      </p:sp>
    </p:spTree>
    <p:extLst>
      <p:ext uri="{BB962C8B-B14F-4D97-AF65-F5344CB8AC3E}">
        <p14:creationId xmlns:p14="http://schemas.microsoft.com/office/powerpoint/2010/main" val="10813528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2020</a:t>
            </a:r>
            <a:r>
              <a:rPr lang="zh-CN" altLang="en-US" dirty="0" smtClean="0"/>
              <a:t>年商务部下单排产接口人 天津 韩超超。</a:t>
            </a:r>
            <a:endParaRPr lang="zh-CN" altLang="en-US" dirty="0"/>
          </a:p>
        </p:txBody>
      </p:sp>
      <p:sp>
        <p:nvSpPr>
          <p:cNvPr id="4" name="灯片编号占位符 3"/>
          <p:cNvSpPr>
            <a:spLocks noGrp="1"/>
          </p:cNvSpPr>
          <p:nvPr>
            <p:ph type="sldNum" sz="quarter" idx="10"/>
          </p:nvPr>
        </p:nvSpPr>
        <p:spPr/>
        <p:txBody>
          <a:bodyPr/>
          <a:lstStyle/>
          <a:p>
            <a:fld id="{6D451107-131D-4920-8540-3D58829C1F99}" type="slidenum">
              <a:rPr lang="zh-CN" altLang="en-US" smtClean="0"/>
              <a:t>2</a:t>
            </a:fld>
            <a:endParaRPr lang="zh-CN" altLang="en-US"/>
          </a:p>
        </p:txBody>
      </p:sp>
    </p:spTree>
    <p:extLst>
      <p:ext uri="{BB962C8B-B14F-4D97-AF65-F5344CB8AC3E}">
        <p14:creationId xmlns:p14="http://schemas.microsoft.com/office/powerpoint/2010/main" val="30748845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项目经理需下发工艺评审任务给产品工程师。</a:t>
            </a:r>
            <a:endParaRPr lang="zh-CN" altLang="en-US" dirty="0"/>
          </a:p>
        </p:txBody>
      </p:sp>
      <p:sp>
        <p:nvSpPr>
          <p:cNvPr id="4" name="灯片编号占位符 3"/>
          <p:cNvSpPr>
            <a:spLocks noGrp="1"/>
          </p:cNvSpPr>
          <p:nvPr>
            <p:ph type="sldNum" sz="quarter" idx="10"/>
          </p:nvPr>
        </p:nvSpPr>
        <p:spPr/>
        <p:txBody>
          <a:bodyPr/>
          <a:lstStyle/>
          <a:p>
            <a:fld id="{6D451107-131D-4920-8540-3D58829C1F99}" type="slidenum">
              <a:rPr lang="zh-CN" altLang="en-US" smtClean="0"/>
              <a:t>3</a:t>
            </a:fld>
            <a:endParaRPr lang="zh-CN" altLang="en-US"/>
          </a:p>
        </p:txBody>
      </p:sp>
    </p:spTree>
    <p:extLst>
      <p:ext uri="{BB962C8B-B14F-4D97-AF65-F5344CB8AC3E}">
        <p14:creationId xmlns:p14="http://schemas.microsoft.com/office/powerpoint/2010/main" val="40736668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工艺评审责任人产品</a:t>
            </a:r>
            <a:r>
              <a:rPr lang="zh-CN" altLang="en-US" sz="1200" dirty="0" smtClean="0">
                <a:solidFill>
                  <a:schemeClr val="tx1">
                    <a:lumMod val="75000"/>
                    <a:lumOff val="25000"/>
                  </a:schemeClr>
                </a:solidFill>
                <a:latin typeface="+mn-ea"/>
              </a:rPr>
              <a:t>工程师，报告输出。</a:t>
            </a:r>
            <a:endParaRPr lang="zh-CN" altLang="en-US" dirty="0"/>
          </a:p>
        </p:txBody>
      </p:sp>
      <p:sp>
        <p:nvSpPr>
          <p:cNvPr id="4" name="灯片编号占位符 3"/>
          <p:cNvSpPr>
            <a:spLocks noGrp="1"/>
          </p:cNvSpPr>
          <p:nvPr>
            <p:ph type="sldNum" sz="quarter" idx="10"/>
          </p:nvPr>
        </p:nvSpPr>
        <p:spPr/>
        <p:txBody>
          <a:bodyPr/>
          <a:lstStyle/>
          <a:p>
            <a:fld id="{6D451107-131D-4920-8540-3D58829C1F99}" type="slidenum">
              <a:rPr lang="zh-CN" altLang="en-US" smtClean="0"/>
              <a:t>4</a:t>
            </a:fld>
            <a:endParaRPr lang="zh-CN" altLang="en-US"/>
          </a:p>
        </p:txBody>
      </p:sp>
    </p:spTree>
    <p:extLst>
      <p:ext uri="{BB962C8B-B14F-4D97-AF65-F5344CB8AC3E}">
        <p14:creationId xmlns:p14="http://schemas.microsoft.com/office/powerpoint/2010/main" val="17200121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工艺评审责任人产品</a:t>
            </a:r>
            <a:r>
              <a:rPr lang="zh-CN" altLang="en-US" sz="1200" dirty="0" smtClean="0">
                <a:solidFill>
                  <a:schemeClr val="tx1">
                    <a:lumMod val="75000"/>
                    <a:lumOff val="25000"/>
                  </a:schemeClr>
                </a:solidFill>
                <a:latin typeface="+mn-ea"/>
              </a:rPr>
              <a:t>工程师，报告输出。</a:t>
            </a:r>
            <a:endParaRPr lang="zh-CN" altLang="en-US" dirty="0"/>
          </a:p>
        </p:txBody>
      </p:sp>
      <p:sp>
        <p:nvSpPr>
          <p:cNvPr id="4" name="灯片编号占位符 3"/>
          <p:cNvSpPr>
            <a:spLocks noGrp="1"/>
          </p:cNvSpPr>
          <p:nvPr>
            <p:ph type="sldNum" sz="quarter" idx="10"/>
          </p:nvPr>
        </p:nvSpPr>
        <p:spPr/>
        <p:txBody>
          <a:bodyPr/>
          <a:lstStyle/>
          <a:p>
            <a:fld id="{6D451107-131D-4920-8540-3D58829C1F99}" type="slidenum">
              <a:rPr lang="zh-CN" altLang="en-US" smtClean="0"/>
              <a:t>5</a:t>
            </a:fld>
            <a:endParaRPr lang="zh-CN" altLang="en-US"/>
          </a:p>
        </p:txBody>
      </p:sp>
    </p:spTree>
    <p:extLst>
      <p:ext uri="{BB962C8B-B14F-4D97-AF65-F5344CB8AC3E}">
        <p14:creationId xmlns:p14="http://schemas.microsoft.com/office/powerpoint/2010/main" val="31221880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工艺评审责任人产品</a:t>
            </a:r>
            <a:r>
              <a:rPr lang="zh-CN" altLang="en-US" sz="1200" dirty="0" smtClean="0">
                <a:solidFill>
                  <a:schemeClr val="tx1">
                    <a:lumMod val="75000"/>
                    <a:lumOff val="25000"/>
                  </a:schemeClr>
                </a:solidFill>
                <a:latin typeface="+mn-ea"/>
              </a:rPr>
              <a:t>工程师，报告输出。</a:t>
            </a:r>
            <a:r>
              <a:rPr lang="zh-CN" altLang="en-US" sz="1200" b="1" dirty="0" smtClean="0">
                <a:solidFill>
                  <a:schemeClr val="tx1">
                    <a:lumMod val="75000"/>
                    <a:lumOff val="25000"/>
                  </a:schemeClr>
                </a:solidFill>
                <a:latin typeface="+mn-ea"/>
              </a:rPr>
              <a:t>首件鉴定是否包含老化？</a:t>
            </a:r>
            <a:endParaRPr lang="zh-CN" altLang="en-US" b="1" dirty="0"/>
          </a:p>
        </p:txBody>
      </p:sp>
      <p:sp>
        <p:nvSpPr>
          <p:cNvPr id="4" name="灯片编号占位符 3"/>
          <p:cNvSpPr>
            <a:spLocks noGrp="1"/>
          </p:cNvSpPr>
          <p:nvPr>
            <p:ph type="sldNum" sz="quarter" idx="10"/>
          </p:nvPr>
        </p:nvSpPr>
        <p:spPr/>
        <p:txBody>
          <a:bodyPr/>
          <a:lstStyle/>
          <a:p>
            <a:fld id="{6D451107-131D-4920-8540-3D58829C1F99}" type="slidenum">
              <a:rPr lang="zh-CN" altLang="en-US" smtClean="0"/>
              <a:t>6</a:t>
            </a:fld>
            <a:endParaRPr lang="zh-CN" altLang="en-US"/>
          </a:p>
        </p:txBody>
      </p:sp>
    </p:spTree>
    <p:extLst>
      <p:ext uri="{BB962C8B-B14F-4D97-AF65-F5344CB8AC3E}">
        <p14:creationId xmlns:p14="http://schemas.microsoft.com/office/powerpoint/2010/main" val="8140576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451107-131D-4920-8540-3D58829C1F99}" type="slidenum">
              <a:rPr lang="zh-CN" altLang="en-US" smtClean="0"/>
              <a:t>7</a:t>
            </a:fld>
            <a:endParaRPr lang="zh-CN" altLang="en-US"/>
          </a:p>
        </p:txBody>
      </p:sp>
    </p:spTree>
    <p:extLst>
      <p:ext uri="{BB962C8B-B14F-4D97-AF65-F5344CB8AC3E}">
        <p14:creationId xmlns:p14="http://schemas.microsoft.com/office/powerpoint/2010/main" val="19940130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D451107-131D-4920-8540-3D58829C1F99}" type="slidenum">
              <a:rPr lang="zh-CN" altLang="en-US" smtClean="0"/>
              <a:t>9</a:t>
            </a:fld>
            <a:endParaRPr lang="zh-CN" altLang="en-US"/>
          </a:p>
        </p:txBody>
      </p:sp>
    </p:spTree>
    <p:extLst>
      <p:ext uri="{BB962C8B-B14F-4D97-AF65-F5344CB8AC3E}">
        <p14:creationId xmlns:p14="http://schemas.microsoft.com/office/powerpoint/2010/main" val="11798967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blipFill dpi="0" rotWithShape="1">
          <a:blip r:embed="rId2" cstate="screen">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31586" y="1758270"/>
            <a:ext cx="9792228" cy="830997"/>
          </a:xfrm>
          <a:prstGeom prst="rect">
            <a:avLst/>
          </a:prstGeom>
        </p:spPr>
        <p:txBody>
          <a:bodyPr/>
          <a:lstStyle>
            <a:lvl1pPr marL="0" indent="0" algn="l" defTabSz="1219170" rtl="0" eaLnBrk="1" fontAlgn="auto" latinLnBrk="0" hangingPunct="1">
              <a:spcBef>
                <a:spcPts val="0"/>
              </a:spcBef>
              <a:spcAft>
                <a:spcPts val="0"/>
              </a:spcAft>
              <a:buNone/>
              <a:defRPr lang="zh-CN" altLang="en-US" sz="5333" b="1" kern="1200" dirty="0">
                <a:solidFill>
                  <a:schemeClr val="bg1"/>
                </a:solidFill>
                <a:effectLst/>
                <a:latin typeface="微软雅黑" pitchFamily="34" charset="-122"/>
                <a:ea typeface="微软雅黑" pitchFamily="34" charset="-122"/>
                <a:cs typeface="+mn-cs"/>
              </a:defRPr>
            </a:lvl1pPr>
          </a:lstStyle>
          <a:p>
            <a:pPr lvl="0"/>
            <a:r>
              <a:rPr lang="zh-CN" altLang="en-US" dirty="0"/>
              <a:t>单击此处编辑主标题</a:t>
            </a:r>
          </a:p>
        </p:txBody>
      </p:sp>
      <p:sp>
        <p:nvSpPr>
          <p:cNvPr id="20" name="文本占位符 19"/>
          <p:cNvSpPr>
            <a:spLocks noGrp="1"/>
          </p:cNvSpPr>
          <p:nvPr>
            <p:ph type="body" sz="quarter" idx="12" hasCustomPrompt="1"/>
          </p:nvPr>
        </p:nvSpPr>
        <p:spPr>
          <a:xfrm>
            <a:off x="9122443" y="5157194"/>
            <a:ext cx="2688597" cy="1056117"/>
          </a:xfrm>
          <a:prstGeom prst="rect">
            <a:avLst/>
          </a:prstGeom>
        </p:spPr>
        <p:txBody>
          <a:bodyPr/>
          <a:lstStyle>
            <a:lvl1pPr marL="0" indent="0" algn="l">
              <a:buNone/>
              <a:defRPr sz="2133">
                <a:solidFill>
                  <a:srgbClr val="FFFFFF"/>
                </a:solidFill>
                <a:latin typeface="微软雅黑" pitchFamily="34" charset="-122"/>
                <a:ea typeface="微软雅黑" pitchFamily="34" charset="-122"/>
              </a:defRPr>
            </a:lvl1pPr>
          </a:lstStyle>
          <a:p>
            <a:pPr lvl="0"/>
            <a:r>
              <a:rPr lang="zh-CN" altLang="en-US" dirty="0"/>
              <a:t>撰写部门及人员</a:t>
            </a:r>
            <a:endParaRPr lang="en-US" altLang="zh-CN" dirty="0"/>
          </a:p>
          <a:p>
            <a:pPr lvl="0"/>
            <a:r>
              <a:rPr lang="en-US" altLang="zh-CN" dirty="0"/>
              <a:t>2017/4/1</a:t>
            </a:r>
            <a:endParaRPr lang="zh-CN" altLang="en-US" dirty="0"/>
          </a:p>
        </p:txBody>
      </p:sp>
      <p:sp>
        <p:nvSpPr>
          <p:cNvPr id="4" name="矩形 3"/>
          <p:cNvSpPr/>
          <p:nvPr userDrawn="1"/>
        </p:nvSpPr>
        <p:spPr>
          <a:xfrm>
            <a:off x="0" y="1758270"/>
            <a:ext cx="143339" cy="8309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Tree>
    <p:extLst>
      <p:ext uri="{BB962C8B-B14F-4D97-AF65-F5344CB8AC3E}">
        <p14:creationId xmlns:p14="http://schemas.microsoft.com/office/powerpoint/2010/main" val="2719518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bg>
      <p:bgPr>
        <a:blipFill dpi="0" rotWithShape="1">
          <a:blip r:embed="rId2" cstate="screen">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4" name="文本占位符 7"/>
          <p:cNvSpPr>
            <a:spLocks noGrp="1"/>
          </p:cNvSpPr>
          <p:nvPr>
            <p:ph type="body" sz="quarter" idx="13" hasCustomPrompt="1"/>
          </p:nvPr>
        </p:nvSpPr>
        <p:spPr>
          <a:xfrm>
            <a:off x="239349" y="164637"/>
            <a:ext cx="10081120" cy="627739"/>
          </a:xfrm>
          <a:prstGeom prst="rect">
            <a:avLst/>
          </a:prstGeom>
        </p:spPr>
        <p:txBody>
          <a:bodyPr/>
          <a:lstStyle>
            <a:lvl1pPr>
              <a:buNone/>
              <a:defRPr sz="3733" b="1">
                <a:solidFill>
                  <a:schemeClr val="tx1">
                    <a:lumMod val="65000"/>
                    <a:lumOff val="35000"/>
                  </a:schemeClr>
                </a:solidFill>
                <a:latin typeface="微软雅黑" pitchFamily="34" charset="-122"/>
                <a:ea typeface="微软雅黑" pitchFamily="34" charset="-122"/>
              </a:defRPr>
            </a:lvl1pPr>
          </a:lstStyle>
          <a:p>
            <a:pPr lvl="0"/>
            <a:r>
              <a:rPr lang="zh-CN" altLang="en-US" dirty="0"/>
              <a:t>单击此处编辑小标题</a:t>
            </a:r>
          </a:p>
        </p:txBody>
      </p:sp>
      <p:sp>
        <p:nvSpPr>
          <p:cNvPr id="5" name="矩形 4"/>
          <p:cNvSpPr/>
          <p:nvPr userDrawn="1"/>
        </p:nvSpPr>
        <p:spPr>
          <a:xfrm>
            <a:off x="0" y="164637"/>
            <a:ext cx="143339" cy="627739"/>
          </a:xfrm>
          <a:prstGeom prst="rect">
            <a:avLst/>
          </a:prstGeom>
          <a:solidFill>
            <a:srgbClr val="AD28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1" name="文本占位符 3"/>
          <p:cNvSpPr>
            <a:spLocks noGrp="1"/>
          </p:cNvSpPr>
          <p:nvPr>
            <p:ph type="body" sz="quarter" idx="12" hasCustomPrompt="1"/>
          </p:nvPr>
        </p:nvSpPr>
        <p:spPr>
          <a:xfrm>
            <a:off x="3477818" y="1439945"/>
            <a:ext cx="5791199" cy="544616"/>
          </a:xfrm>
          <a:prstGeom prst="rect">
            <a:avLst/>
          </a:prstGeom>
        </p:spPr>
        <p:txBody>
          <a:bodyPr anchor="ctr"/>
          <a:lstStyle>
            <a:lvl1pPr marL="0" marR="0" indent="0" algn="l" defTabSz="1219170" rtl="0" eaLnBrk="1" fontAlgn="auto" latinLnBrk="0" hangingPunct="1">
              <a:lnSpc>
                <a:spcPct val="120000"/>
              </a:lnSpc>
              <a:spcBef>
                <a:spcPct val="20000"/>
              </a:spcBef>
              <a:spcAft>
                <a:spcPts val="0"/>
              </a:spcAft>
              <a:buClrTx/>
              <a:buSzTx/>
              <a:buFont typeface="Arial" panose="020B0604020202020204" pitchFamily="34" charset="0"/>
              <a:buNone/>
              <a:tabLst/>
              <a:defRPr sz="2133">
                <a:solidFill>
                  <a:schemeClr val="bg1"/>
                </a:solidFill>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marL="457189" marR="0" lvl="0" indent="-457189" algn="l" defTabSz="1219170" rtl="0" eaLnBrk="1" fontAlgn="auto" latinLnBrk="0" hangingPunct="1">
              <a:lnSpc>
                <a:spcPct val="100000"/>
              </a:lnSpc>
              <a:spcBef>
                <a:spcPct val="20000"/>
              </a:spcBef>
              <a:spcAft>
                <a:spcPts val="0"/>
              </a:spcAft>
              <a:buClrTx/>
              <a:buSzTx/>
              <a:tabLst/>
              <a:defRPr/>
            </a:pPr>
            <a:r>
              <a:rPr lang="zh-CN" altLang="en-US" dirty="0"/>
              <a:t>单击此处编辑母版文本样式</a:t>
            </a:r>
          </a:p>
        </p:txBody>
      </p:sp>
      <p:sp>
        <p:nvSpPr>
          <p:cNvPr id="22" name="文本占位符 3"/>
          <p:cNvSpPr>
            <a:spLocks noGrp="1"/>
          </p:cNvSpPr>
          <p:nvPr>
            <p:ph type="body" sz="quarter" idx="14" hasCustomPrompt="1"/>
          </p:nvPr>
        </p:nvSpPr>
        <p:spPr>
          <a:xfrm>
            <a:off x="3477818" y="2331327"/>
            <a:ext cx="5791199" cy="531596"/>
          </a:xfrm>
          <a:prstGeom prst="rect">
            <a:avLst/>
          </a:prstGeom>
        </p:spPr>
        <p:txBody>
          <a:bodyPr anchor="ctr"/>
          <a:lstStyle>
            <a:lvl1pPr marL="0" marR="0" indent="0" algn="l" defTabSz="1219170" rtl="0" eaLnBrk="1" fontAlgn="auto" latinLnBrk="0" hangingPunct="1">
              <a:lnSpc>
                <a:spcPct val="120000"/>
              </a:lnSpc>
              <a:spcBef>
                <a:spcPct val="20000"/>
              </a:spcBef>
              <a:spcAft>
                <a:spcPts val="0"/>
              </a:spcAft>
              <a:buClrTx/>
              <a:buSzTx/>
              <a:buFont typeface="Arial" panose="020B0604020202020204" pitchFamily="34" charset="0"/>
              <a:buNone/>
              <a:tabLst/>
              <a:defRPr sz="2133">
                <a:solidFill>
                  <a:schemeClr val="bg1"/>
                </a:solidFill>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marL="457189" marR="0" lvl="0" indent="-457189" algn="l" defTabSz="1219170" rtl="0" eaLnBrk="1" fontAlgn="auto" latinLnBrk="0" hangingPunct="1">
              <a:lnSpc>
                <a:spcPct val="100000"/>
              </a:lnSpc>
              <a:spcBef>
                <a:spcPct val="20000"/>
              </a:spcBef>
              <a:spcAft>
                <a:spcPts val="0"/>
              </a:spcAft>
              <a:buClrTx/>
              <a:buSzTx/>
              <a:tabLst/>
              <a:defRPr/>
            </a:pPr>
            <a:r>
              <a:rPr lang="zh-CN" altLang="en-US" dirty="0"/>
              <a:t>单击此处编辑母版文本样式</a:t>
            </a:r>
          </a:p>
        </p:txBody>
      </p:sp>
      <p:sp>
        <p:nvSpPr>
          <p:cNvPr id="23" name="文本占位符 3"/>
          <p:cNvSpPr>
            <a:spLocks noGrp="1"/>
          </p:cNvSpPr>
          <p:nvPr>
            <p:ph type="body" sz="quarter" idx="15" hasCustomPrompt="1"/>
          </p:nvPr>
        </p:nvSpPr>
        <p:spPr>
          <a:xfrm>
            <a:off x="3477818" y="3222711"/>
            <a:ext cx="5791199" cy="544616"/>
          </a:xfrm>
          <a:prstGeom prst="rect">
            <a:avLst/>
          </a:prstGeom>
        </p:spPr>
        <p:txBody>
          <a:bodyPr anchor="ctr"/>
          <a:lstStyle>
            <a:lvl1pPr marL="0" marR="0" indent="0" algn="l" defTabSz="1219170" rtl="0" eaLnBrk="1" fontAlgn="auto" latinLnBrk="0" hangingPunct="1">
              <a:lnSpc>
                <a:spcPct val="120000"/>
              </a:lnSpc>
              <a:spcBef>
                <a:spcPct val="20000"/>
              </a:spcBef>
              <a:spcAft>
                <a:spcPts val="0"/>
              </a:spcAft>
              <a:buClrTx/>
              <a:buSzTx/>
              <a:buFont typeface="Arial" panose="020B0604020202020204" pitchFamily="34" charset="0"/>
              <a:buNone/>
              <a:tabLst/>
              <a:defRPr sz="2133">
                <a:solidFill>
                  <a:schemeClr val="bg1"/>
                </a:solidFill>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marL="457189" marR="0" lvl="0" indent="-457189" algn="l" defTabSz="1219170" rtl="0" eaLnBrk="1" fontAlgn="auto" latinLnBrk="0" hangingPunct="1">
              <a:lnSpc>
                <a:spcPct val="100000"/>
              </a:lnSpc>
              <a:spcBef>
                <a:spcPct val="20000"/>
              </a:spcBef>
              <a:spcAft>
                <a:spcPts val="0"/>
              </a:spcAft>
              <a:buClrTx/>
              <a:buSzTx/>
              <a:tabLst/>
              <a:defRPr/>
            </a:pPr>
            <a:r>
              <a:rPr lang="zh-CN" altLang="en-US" dirty="0"/>
              <a:t>单击此处编辑母版文本样式</a:t>
            </a:r>
          </a:p>
        </p:txBody>
      </p:sp>
      <p:sp>
        <p:nvSpPr>
          <p:cNvPr id="24" name="文本占位符 3"/>
          <p:cNvSpPr>
            <a:spLocks noGrp="1"/>
          </p:cNvSpPr>
          <p:nvPr>
            <p:ph type="body" sz="quarter" idx="16" hasCustomPrompt="1"/>
          </p:nvPr>
        </p:nvSpPr>
        <p:spPr>
          <a:xfrm>
            <a:off x="3477817" y="4114093"/>
            <a:ext cx="5791199" cy="544616"/>
          </a:xfrm>
          <a:prstGeom prst="rect">
            <a:avLst/>
          </a:prstGeom>
        </p:spPr>
        <p:txBody>
          <a:bodyPr anchor="ctr"/>
          <a:lstStyle>
            <a:lvl1pPr marL="0" marR="0" indent="0" algn="l" defTabSz="1219170" rtl="0" eaLnBrk="1" fontAlgn="auto" latinLnBrk="0" hangingPunct="1">
              <a:lnSpc>
                <a:spcPct val="120000"/>
              </a:lnSpc>
              <a:spcBef>
                <a:spcPct val="20000"/>
              </a:spcBef>
              <a:spcAft>
                <a:spcPts val="0"/>
              </a:spcAft>
              <a:buClrTx/>
              <a:buSzTx/>
              <a:buFont typeface="Arial" panose="020B0604020202020204" pitchFamily="34" charset="0"/>
              <a:buNone/>
              <a:tabLst/>
              <a:defRPr sz="2133">
                <a:solidFill>
                  <a:schemeClr val="bg1"/>
                </a:solidFill>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marL="457189" marR="0" lvl="0" indent="-457189" algn="l" defTabSz="1219170" rtl="0" eaLnBrk="1" fontAlgn="auto" latinLnBrk="0" hangingPunct="1">
              <a:lnSpc>
                <a:spcPct val="100000"/>
              </a:lnSpc>
              <a:spcBef>
                <a:spcPct val="20000"/>
              </a:spcBef>
              <a:spcAft>
                <a:spcPts val="0"/>
              </a:spcAft>
              <a:buClrTx/>
              <a:buSzTx/>
              <a:tabLst/>
              <a:defRPr/>
            </a:pPr>
            <a:r>
              <a:rPr lang="zh-CN" altLang="en-US" dirty="0"/>
              <a:t>单击此处编辑母版文本样式</a:t>
            </a:r>
          </a:p>
        </p:txBody>
      </p:sp>
      <p:sp>
        <p:nvSpPr>
          <p:cNvPr id="25" name="文本占位符 3"/>
          <p:cNvSpPr>
            <a:spLocks noGrp="1"/>
          </p:cNvSpPr>
          <p:nvPr>
            <p:ph type="body" sz="quarter" idx="17" hasCustomPrompt="1"/>
          </p:nvPr>
        </p:nvSpPr>
        <p:spPr>
          <a:xfrm>
            <a:off x="3477817" y="5005475"/>
            <a:ext cx="5791199" cy="544615"/>
          </a:xfrm>
          <a:prstGeom prst="rect">
            <a:avLst/>
          </a:prstGeom>
        </p:spPr>
        <p:txBody>
          <a:bodyPr anchor="ctr"/>
          <a:lstStyle>
            <a:lvl1pPr marL="0" marR="0" indent="0" algn="l" defTabSz="1219170" rtl="0" eaLnBrk="1" fontAlgn="auto" latinLnBrk="0" hangingPunct="1">
              <a:lnSpc>
                <a:spcPct val="120000"/>
              </a:lnSpc>
              <a:spcBef>
                <a:spcPct val="20000"/>
              </a:spcBef>
              <a:spcAft>
                <a:spcPts val="0"/>
              </a:spcAft>
              <a:buClrTx/>
              <a:buSzTx/>
              <a:buFont typeface="Arial" panose="020B0604020202020204" pitchFamily="34" charset="0"/>
              <a:buNone/>
              <a:tabLst/>
              <a:defRPr sz="2133">
                <a:solidFill>
                  <a:schemeClr val="bg1"/>
                </a:solidFill>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marL="457189" marR="0" lvl="0" indent="-457189" algn="l" defTabSz="1219170" rtl="0" eaLnBrk="1" fontAlgn="auto" latinLnBrk="0" hangingPunct="1">
              <a:lnSpc>
                <a:spcPct val="100000"/>
              </a:lnSpc>
              <a:spcBef>
                <a:spcPct val="20000"/>
              </a:spcBef>
              <a:spcAft>
                <a:spcPts val="0"/>
              </a:spcAft>
              <a:buClrTx/>
              <a:buSzTx/>
              <a:tabLst/>
              <a:defRPr/>
            </a:pPr>
            <a:r>
              <a:rPr lang="zh-CN" altLang="en-US" dirty="0"/>
              <a:t>单击此处编辑母版文本样式</a:t>
            </a:r>
          </a:p>
        </p:txBody>
      </p:sp>
    </p:spTree>
    <p:extLst>
      <p:ext uri="{BB962C8B-B14F-4D97-AF65-F5344CB8AC3E}">
        <p14:creationId xmlns:p14="http://schemas.microsoft.com/office/powerpoint/2010/main" val="17851179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幻灯片">
    <p:bg>
      <p:bgPr>
        <a:blipFill dpi="0" rotWithShape="1">
          <a:blip r:embed="rId2" cstate="screen">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文本占位符 11"/>
          <p:cNvSpPr>
            <a:spLocks noGrp="1"/>
          </p:cNvSpPr>
          <p:nvPr>
            <p:ph type="body" sz="quarter" idx="11" hasCustomPrompt="1"/>
          </p:nvPr>
        </p:nvSpPr>
        <p:spPr>
          <a:xfrm>
            <a:off x="1295469" y="2756926"/>
            <a:ext cx="9697076" cy="830997"/>
          </a:xfrm>
          <a:prstGeom prst="rect">
            <a:avLst/>
          </a:prstGeom>
        </p:spPr>
        <p:txBody>
          <a:bodyPr/>
          <a:lstStyle>
            <a:lvl1pPr marL="0" indent="0" algn="ctr" defTabSz="1219170" rtl="0" eaLnBrk="1" fontAlgn="auto" latinLnBrk="0" hangingPunct="1">
              <a:spcBef>
                <a:spcPts val="0"/>
              </a:spcBef>
              <a:spcAft>
                <a:spcPts val="0"/>
              </a:spcAft>
              <a:buNone/>
              <a:defRPr lang="zh-CN" altLang="en-US" sz="3733" b="1" kern="1200" dirty="0">
                <a:solidFill>
                  <a:schemeClr val="tx1">
                    <a:lumMod val="65000"/>
                    <a:lumOff val="35000"/>
                  </a:schemeClr>
                </a:solidFill>
                <a:effectLst/>
                <a:latin typeface="微软雅黑" pitchFamily="34" charset="-122"/>
                <a:ea typeface="微软雅黑" pitchFamily="34" charset="-122"/>
                <a:cs typeface="+mn-cs"/>
              </a:defRPr>
            </a:lvl1pPr>
          </a:lstStyle>
          <a:p>
            <a:pPr lvl="0"/>
            <a:r>
              <a:rPr lang="zh-CN" altLang="en-US" dirty="0"/>
              <a:t>单击此处编辑节标题</a:t>
            </a:r>
          </a:p>
        </p:txBody>
      </p:sp>
      <p:sp>
        <p:nvSpPr>
          <p:cNvPr id="4" name="文本占位符 3"/>
          <p:cNvSpPr>
            <a:spLocks noGrp="1"/>
          </p:cNvSpPr>
          <p:nvPr>
            <p:ph type="body" sz="quarter" idx="12" hasCustomPrompt="1"/>
          </p:nvPr>
        </p:nvSpPr>
        <p:spPr>
          <a:xfrm>
            <a:off x="4079777" y="4197086"/>
            <a:ext cx="5426207" cy="480053"/>
          </a:xfrm>
          <a:prstGeom prst="rect">
            <a:avLst/>
          </a:prstGeom>
        </p:spPr>
        <p:txBody>
          <a:bodyPr anchor="ctr"/>
          <a:lstStyle>
            <a:lvl1pPr marL="0" marR="0" indent="0" algn="l" defTabSz="1219170" rtl="0" eaLnBrk="1" fontAlgn="auto" latinLnBrk="0" hangingPunct="1">
              <a:lnSpc>
                <a:spcPct val="120000"/>
              </a:lnSpc>
              <a:spcBef>
                <a:spcPct val="20000"/>
              </a:spcBef>
              <a:spcAft>
                <a:spcPts val="0"/>
              </a:spcAft>
              <a:buClrTx/>
              <a:buSzTx/>
              <a:buFont typeface="Arial" panose="020B0604020202020204" pitchFamily="34" charset="0"/>
              <a:buNone/>
              <a:tabLst/>
              <a:defRPr sz="2133">
                <a:solidFill>
                  <a:schemeClr val="tx1">
                    <a:lumMod val="75000"/>
                    <a:lumOff val="25000"/>
                  </a:schemeClr>
                </a:solidFill>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marL="457189" marR="0" lvl="0" indent="-457189" algn="l" defTabSz="1219170" rtl="0" eaLnBrk="1" fontAlgn="auto" latinLnBrk="0" hangingPunct="1">
              <a:lnSpc>
                <a:spcPct val="100000"/>
              </a:lnSpc>
              <a:spcBef>
                <a:spcPct val="20000"/>
              </a:spcBef>
              <a:spcAft>
                <a:spcPts val="0"/>
              </a:spcAft>
              <a:buClrTx/>
              <a:buSzTx/>
              <a:tabLst/>
              <a:defRPr/>
            </a:pPr>
            <a:r>
              <a:rPr lang="zh-CN" altLang="en-US" dirty="0"/>
              <a:t>单击此处编辑母版文本样式</a:t>
            </a:r>
          </a:p>
        </p:txBody>
      </p:sp>
      <p:sp>
        <p:nvSpPr>
          <p:cNvPr id="6" name="文本占位符 3"/>
          <p:cNvSpPr>
            <a:spLocks noGrp="1"/>
          </p:cNvSpPr>
          <p:nvPr>
            <p:ph type="body" sz="quarter" idx="13" hasCustomPrompt="1"/>
          </p:nvPr>
        </p:nvSpPr>
        <p:spPr>
          <a:xfrm>
            <a:off x="4079775" y="4685002"/>
            <a:ext cx="5426207" cy="480053"/>
          </a:xfrm>
          <a:prstGeom prst="rect">
            <a:avLst/>
          </a:prstGeom>
        </p:spPr>
        <p:txBody>
          <a:bodyPr anchor="ctr"/>
          <a:lstStyle>
            <a:lvl1pPr marL="0" marR="0" indent="0" algn="l" defTabSz="1219170" rtl="0" eaLnBrk="1" fontAlgn="auto" latinLnBrk="0" hangingPunct="1">
              <a:lnSpc>
                <a:spcPct val="120000"/>
              </a:lnSpc>
              <a:spcBef>
                <a:spcPct val="20000"/>
              </a:spcBef>
              <a:spcAft>
                <a:spcPts val="0"/>
              </a:spcAft>
              <a:buClrTx/>
              <a:buSzTx/>
              <a:buFont typeface="Arial" panose="020B0604020202020204" pitchFamily="34" charset="0"/>
              <a:buNone/>
              <a:tabLst/>
              <a:defRPr sz="2133">
                <a:solidFill>
                  <a:schemeClr val="tx1">
                    <a:lumMod val="75000"/>
                    <a:lumOff val="25000"/>
                  </a:schemeClr>
                </a:solidFill>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marL="457189" marR="0" lvl="0" indent="-457189" algn="l" defTabSz="1219170" rtl="0" eaLnBrk="1" fontAlgn="auto" latinLnBrk="0" hangingPunct="1">
              <a:lnSpc>
                <a:spcPct val="100000"/>
              </a:lnSpc>
              <a:spcBef>
                <a:spcPct val="20000"/>
              </a:spcBef>
              <a:spcAft>
                <a:spcPts val="0"/>
              </a:spcAft>
              <a:buClrTx/>
              <a:buSzTx/>
              <a:tabLst/>
              <a:defRPr/>
            </a:pPr>
            <a:r>
              <a:rPr lang="zh-CN" altLang="en-US" dirty="0"/>
              <a:t>单击此处编辑母版文本样式</a:t>
            </a:r>
          </a:p>
        </p:txBody>
      </p:sp>
      <p:sp>
        <p:nvSpPr>
          <p:cNvPr id="7" name="文本占位符 3"/>
          <p:cNvSpPr>
            <a:spLocks noGrp="1"/>
          </p:cNvSpPr>
          <p:nvPr>
            <p:ph type="body" sz="quarter" idx="14" hasCustomPrompt="1"/>
          </p:nvPr>
        </p:nvSpPr>
        <p:spPr>
          <a:xfrm>
            <a:off x="4079774" y="5165055"/>
            <a:ext cx="5426207" cy="480053"/>
          </a:xfrm>
          <a:prstGeom prst="rect">
            <a:avLst/>
          </a:prstGeom>
        </p:spPr>
        <p:txBody>
          <a:bodyPr anchor="ctr"/>
          <a:lstStyle>
            <a:lvl1pPr marL="0" marR="0" indent="0" algn="l" defTabSz="1219170" rtl="0" eaLnBrk="1" fontAlgn="auto" latinLnBrk="0" hangingPunct="1">
              <a:lnSpc>
                <a:spcPct val="120000"/>
              </a:lnSpc>
              <a:spcBef>
                <a:spcPct val="20000"/>
              </a:spcBef>
              <a:spcAft>
                <a:spcPts val="0"/>
              </a:spcAft>
              <a:buClrTx/>
              <a:buSzTx/>
              <a:buFont typeface="Arial" panose="020B0604020202020204" pitchFamily="34" charset="0"/>
              <a:buNone/>
              <a:tabLst/>
              <a:defRPr sz="2133">
                <a:solidFill>
                  <a:schemeClr val="tx1">
                    <a:lumMod val="75000"/>
                    <a:lumOff val="25000"/>
                  </a:schemeClr>
                </a:solidFill>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marL="457189" marR="0" lvl="0" indent="-457189" algn="l" defTabSz="1219170" rtl="0" eaLnBrk="1" fontAlgn="auto" latinLnBrk="0" hangingPunct="1">
              <a:lnSpc>
                <a:spcPct val="100000"/>
              </a:lnSpc>
              <a:spcBef>
                <a:spcPct val="20000"/>
              </a:spcBef>
              <a:spcAft>
                <a:spcPts val="0"/>
              </a:spcAft>
              <a:buClrTx/>
              <a:buSzTx/>
              <a:tabLst/>
              <a:defRPr/>
            </a:pPr>
            <a:r>
              <a:rPr lang="zh-CN" altLang="en-US" dirty="0"/>
              <a:t>单击此处编辑母版文本样式</a:t>
            </a:r>
          </a:p>
        </p:txBody>
      </p:sp>
      <p:sp>
        <p:nvSpPr>
          <p:cNvPr id="8" name="文本占位符 3"/>
          <p:cNvSpPr>
            <a:spLocks noGrp="1"/>
          </p:cNvSpPr>
          <p:nvPr>
            <p:ph type="body" sz="quarter" idx="15" hasCustomPrompt="1"/>
          </p:nvPr>
        </p:nvSpPr>
        <p:spPr>
          <a:xfrm>
            <a:off x="4079774" y="5645108"/>
            <a:ext cx="5426207" cy="480053"/>
          </a:xfrm>
          <a:prstGeom prst="rect">
            <a:avLst/>
          </a:prstGeom>
        </p:spPr>
        <p:txBody>
          <a:bodyPr anchor="ctr"/>
          <a:lstStyle>
            <a:lvl1pPr marL="0" marR="0" indent="0" algn="l" defTabSz="1219170" rtl="0" eaLnBrk="1" fontAlgn="auto" latinLnBrk="0" hangingPunct="1">
              <a:lnSpc>
                <a:spcPct val="120000"/>
              </a:lnSpc>
              <a:spcBef>
                <a:spcPct val="20000"/>
              </a:spcBef>
              <a:spcAft>
                <a:spcPts val="0"/>
              </a:spcAft>
              <a:buClrTx/>
              <a:buSzTx/>
              <a:buFont typeface="Arial" panose="020B0604020202020204" pitchFamily="34" charset="0"/>
              <a:buNone/>
              <a:tabLst/>
              <a:defRPr sz="2133">
                <a:solidFill>
                  <a:schemeClr val="tx1">
                    <a:lumMod val="75000"/>
                    <a:lumOff val="25000"/>
                  </a:schemeClr>
                </a:solidFill>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marL="457189" marR="0" lvl="0" indent="-457189" algn="l" defTabSz="1219170" rtl="0" eaLnBrk="1" fontAlgn="auto" latinLnBrk="0" hangingPunct="1">
              <a:lnSpc>
                <a:spcPct val="100000"/>
              </a:lnSpc>
              <a:spcBef>
                <a:spcPct val="20000"/>
              </a:spcBef>
              <a:spcAft>
                <a:spcPts val="0"/>
              </a:spcAft>
              <a:buClrTx/>
              <a:buSzTx/>
              <a:tabLst/>
              <a:defRPr/>
            </a:pPr>
            <a:r>
              <a:rPr lang="zh-CN" altLang="en-US" dirty="0"/>
              <a:t>单击此处编辑母版文本样式</a:t>
            </a:r>
          </a:p>
        </p:txBody>
      </p:sp>
    </p:spTree>
    <p:extLst>
      <p:ext uri="{BB962C8B-B14F-4D97-AF65-F5344CB8AC3E}">
        <p14:creationId xmlns:p14="http://schemas.microsoft.com/office/powerpoint/2010/main" val="8948657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内容1">
    <p:bg>
      <p:bgPr>
        <a:blipFill dpi="0" rotWithShape="1">
          <a:blip r:embed="rId2" cstate="screen">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8" name="文本占位符 7"/>
          <p:cNvSpPr>
            <a:spLocks noGrp="1"/>
          </p:cNvSpPr>
          <p:nvPr>
            <p:ph type="body" sz="quarter" idx="13" hasCustomPrompt="1"/>
          </p:nvPr>
        </p:nvSpPr>
        <p:spPr>
          <a:xfrm>
            <a:off x="239349" y="164637"/>
            <a:ext cx="10081120" cy="627739"/>
          </a:xfrm>
          <a:prstGeom prst="rect">
            <a:avLst/>
          </a:prstGeom>
        </p:spPr>
        <p:txBody>
          <a:bodyPr/>
          <a:lstStyle>
            <a:lvl1pPr>
              <a:buNone/>
              <a:defRPr sz="3733" b="1">
                <a:solidFill>
                  <a:schemeClr val="tx1">
                    <a:lumMod val="65000"/>
                    <a:lumOff val="35000"/>
                  </a:schemeClr>
                </a:solidFill>
                <a:latin typeface="微软雅黑" pitchFamily="34" charset="-122"/>
                <a:ea typeface="微软雅黑" pitchFamily="34" charset="-122"/>
              </a:defRPr>
            </a:lvl1pPr>
          </a:lstStyle>
          <a:p>
            <a:pPr lvl="0"/>
            <a:r>
              <a:rPr lang="zh-CN" altLang="en-US" dirty="0"/>
              <a:t>单击此处编辑小标题</a:t>
            </a:r>
          </a:p>
        </p:txBody>
      </p:sp>
      <p:sp>
        <p:nvSpPr>
          <p:cNvPr id="4" name="矩形 3"/>
          <p:cNvSpPr/>
          <p:nvPr userDrawn="1"/>
        </p:nvSpPr>
        <p:spPr>
          <a:xfrm>
            <a:off x="0" y="164637"/>
            <a:ext cx="143339" cy="627739"/>
          </a:xfrm>
          <a:prstGeom prst="rect">
            <a:avLst/>
          </a:prstGeom>
          <a:solidFill>
            <a:srgbClr val="AD28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 name="内容占位符 2"/>
          <p:cNvSpPr>
            <a:spLocks noGrp="1"/>
          </p:cNvSpPr>
          <p:nvPr>
            <p:ph sz="quarter" idx="14"/>
          </p:nvPr>
        </p:nvSpPr>
        <p:spPr>
          <a:xfrm>
            <a:off x="815413" y="1412777"/>
            <a:ext cx="10515600" cy="4667249"/>
          </a:xfrm>
          <a:prstGeom prst="rect">
            <a:avLst/>
          </a:prstGeom>
        </p:spPr>
        <p:txBody>
          <a:bodyPr/>
          <a:lstStyle>
            <a:lvl1pPr>
              <a:defRPr sz="2133">
                <a:solidFill>
                  <a:schemeClr val="tx1">
                    <a:lumMod val="75000"/>
                    <a:lumOff val="25000"/>
                  </a:schemeClr>
                </a:solidFill>
              </a:defRPr>
            </a:lvl1pPr>
            <a:lvl2pPr>
              <a:defRPr sz="2133">
                <a:solidFill>
                  <a:schemeClr val="tx1">
                    <a:lumMod val="75000"/>
                    <a:lumOff val="25000"/>
                  </a:schemeClr>
                </a:solidFill>
              </a:defRPr>
            </a:lvl2pPr>
            <a:lvl3pPr>
              <a:defRPr sz="2133">
                <a:solidFill>
                  <a:schemeClr val="tx1">
                    <a:lumMod val="75000"/>
                    <a:lumOff val="25000"/>
                  </a:schemeClr>
                </a:solidFill>
              </a:defRPr>
            </a:lvl3pPr>
            <a:lvl4pPr>
              <a:defRPr sz="2133">
                <a:solidFill>
                  <a:schemeClr val="tx1">
                    <a:lumMod val="75000"/>
                    <a:lumOff val="25000"/>
                  </a:schemeClr>
                </a:solidFill>
              </a:defRPr>
            </a:lvl4pPr>
            <a:lvl5pPr>
              <a:defRPr sz="2133">
                <a:solidFill>
                  <a:schemeClr val="tx1">
                    <a:lumMod val="75000"/>
                    <a:lumOff val="25000"/>
                  </a:schemeClr>
                </a:solidFill>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26091786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内容2">
    <p:bg>
      <p:bgPr>
        <a:blipFill dpi="0" rotWithShape="1">
          <a:blip r:embed="rId2" cstate="screen">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6" name="文本占位符 7"/>
          <p:cNvSpPr>
            <a:spLocks noGrp="1"/>
          </p:cNvSpPr>
          <p:nvPr>
            <p:ph type="body" sz="quarter" idx="13" hasCustomPrompt="1"/>
          </p:nvPr>
        </p:nvSpPr>
        <p:spPr>
          <a:xfrm>
            <a:off x="239349" y="164637"/>
            <a:ext cx="9889099" cy="672075"/>
          </a:xfrm>
          <a:prstGeom prst="rect">
            <a:avLst/>
          </a:prstGeom>
        </p:spPr>
        <p:txBody>
          <a:bodyPr/>
          <a:lstStyle>
            <a:lvl1pPr>
              <a:buNone/>
              <a:defRPr sz="3733" b="1">
                <a:solidFill>
                  <a:schemeClr val="tx1">
                    <a:lumMod val="65000"/>
                    <a:lumOff val="35000"/>
                  </a:schemeClr>
                </a:solidFill>
                <a:latin typeface="微软雅黑" pitchFamily="34" charset="-122"/>
                <a:ea typeface="微软雅黑" pitchFamily="34" charset="-122"/>
              </a:defRPr>
            </a:lvl1pPr>
          </a:lstStyle>
          <a:p>
            <a:pPr lvl="0"/>
            <a:r>
              <a:rPr lang="zh-CN" altLang="en-US" dirty="0"/>
              <a:t>单击此处编辑小标题</a:t>
            </a:r>
          </a:p>
        </p:txBody>
      </p:sp>
      <p:sp>
        <p:nvSpPr>
          <p:cNvPr id="4" name="矩形 3"/>
          <p:cNvSpPr/>
          <p:nvPr userDrawn="1"/>
        </p:nvSpPr>
        <p:spPr>
          <a:xfrm>
            <a:off x="0" y="164637"/>
            <a:ext cx="143339" cy="627739"/>
          </a:xfrm>
          <a:prstGeom prst="rect">
            <a:avLst/>
          </a:prstGeom>
          <a:solidFill>
            <a:srgbClr val="AD28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8" name="内容占位符 2"/>
          <p:cNvSpPr>
            <a:spLocks noGrp="1"/>
          </p:cNvSpPr>
          <p:nvPr>
            <p:ph sz="quarter" idx="14"/>
          </p:nvPr>
        </p:nvSpPr>
        <p:spPr>
          <a:xfrm>
            <a:off x="815413" y="1412777"/>
            <a:ext cx="10515600" cy="4667249"/>
          </a:xfrm>
          <a:prstGeom prst="rect">
            <a:avLst/>
          </a:prstGeom>
        </p:spPr>
        <p:txBody>
          <a:bodyPr/>
          <a:lstStyle>
            <a:lvl1pPr>
              <a:defRPr sz="2133">
                <a:solidFill>
                  <a:schemeClr val="tx1">
                    <a:lumMod val="75000"/>
                    <a:lumOff val="25000"/>
                  </a:schemeClr>
                </a:solidFill>
              </a:defRPr>
            </a:lvl1pPr>
            <a:lvl2pPr>
              <a:defRPr sz="2133">
                <a:solidFill>
                  <a:schemeClr val="tx1">
                    <a:lumMod val="75000"/>
                    <a:lumOff val="25000"/>
                  </a:schemeClr>
                </a:solidFill>
              </a:defRPr>
            </a:lvl2pPr>
            <a:lvl3pPr>
              <a:defRPr sz="2133">
                <a:solidFill>
                  <a:schemeClr val="tx1">
                    <a:lumMod val="75000"/>
                    <a:lumOff val="25000"/>
                  </a:schemeClr>
                </a:solidFill>
              </a:defRPr>
            </a:lvl3pPr>
            <a:lvl4pPr>
              <a:defRPr sz="2133">
                <a:solidFill>
                  <a:schemeClr val="tx1">
                    <a:lumMod val="75000"/>
                    <a:lumOff val="25000"/>
                  </a:schemeClr>
                </a:solidFill>
              </a:defRPr>
            </a:lvl4pPr>
            <a:lvl5pPr>
              <a:defRPr sz="2133">
                <a:solidFill>
                  <a:schemeClr val="tx1">
                    <a:lumMod val="75000"/>
                    <a:lumOff val="25000"/>
                  </a:schemeClr>
                </a:solidFill>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1607645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尾页">
    <p:bg>
      <p:bgPr>
        <a:blipFill dpi="0" rotWithShape="1">
          <a:blip r:embed="rId2" cstate="screen">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30423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8" cstate="screen">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33769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8.wmf"/><Relationship Id="rId2" Type="http://schemas.openxmlformats.org/officeDocument/2006/relationships/slideLayout" Target="../slideLayouts/slideLayout5.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7.wmf"/><Relationship Id="rId4"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xml"/><Relationship Id="rId1" Type="http://schemas.openxmlformats.org/officeDocument/2006/relationships/vmlDrawing" Target="../drawings/vmlDrawing2.vml"/><Relationship Id="rId5" Type="http://schemas.openxmlformats.org/officeDocument/2006/relationships/image" Target="../media/image9.wmf"/><Relationship Id="rId4" Type="http://schemas.openxmlformats.org/officeDocument/2006/relationships/oleObject" Target="../embeddings/oleObject3.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vmlDrawing" Target="../drawings/vmlDrawing3.vml"/><Relationship Id="rId5" Type="http://schemas.openxmlformats.org/officeDocument/2006/relationships/image" Target="../media/image10.wmf"/><Relationship Id="rId4" Type="http://schemas.openxmlformats.org/officeDocument/2006/relationships/oleObject" Target="../embeddings/oleObject4.bin"/></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vmlDrawing" Target="../drawings/vmlDrawing4.vml"/><Relationship Id="rId5" Type="http://schemas.openxmlformats.org/officeDocument/2006/relationships/image" Target="../media/image11.wmf"/><Relationship Id="rId4" Type="http://schemas.openxmlformats.org/officeDocument/2006/relationships/oleObject" Target="../embeddings/oleObject5.bin"/></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vmlDrawing" Target="../drawings/vmlDrawing5.vml"/><Relationship Id="rId5" Type="http://schemas.openxmlformats.org/officeDocument/2006/relationships/image" Target="../media/image12.wmf"/><Relationship Id="rId4" Type="http://schemas.openxmlformats.org/officeDocument/2006/relationships/oleObject" Target="../embeddings/oleObject6.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1"/>
          </p:nvPr>
        </p:nvSpPr>
        <p:spPr>
          <a:xfrm>
            <a:off x="2250897" y="1758270"/>
            <a:ext cx="7540217" cy="2342805"/>
          </a:xfrm>
        </p:spPr>
        <p:txBody>
          <a:bodyPr/>
          <a:lstStyle/>
          <a:p>
            <a:r>
              <a:rPr lang="zh-CN" altLang="en-US" dirty="0" smtClean="0"/>
              <a:t>部门培训</a:t>
            </a:r>
            <a:r>
              <a:rPr lang="en-US" altLang="zh-CN" dirty="0" smtClean="0"/>
              <a:t>-</a:t>
            </a:r>
            <a:r>
              <a:rPr lang="zh-CN" altLang="en-US" dirty="0" smtClean="0"/>
              <a:t>试制阶段</a:t>
            </a:r>
            <a:endParaRPr lang="zh-CN" altLang="en-US" dirty="0"/>
          </a:p>
        </p:txBody>
      </p:sp>
      <p:sp>
        <p:nvSpPr>
          <p:cNvPr id="3" name="文本占位符 2"/>
          <p:cNvSpPr>
            <a:spLocks noGrp="1"/>
          </p:cNvSpPr>
          <p:nvPr>
            <p:ph type="body" sz="quarter" idx="12"/>
          </p:nvPr>
        </p:nvSpPr>
        <p:spPr>
          <a:xfrm>
            <a:off x="9168342" y="5061182"/>
            <a:ext cx="2688597" cy="1056117"/>
          </a:xfrm>
        </p:spPr>
        <p:txBody>
          <a:bodyPr/>
          <a:lstStyle/>
          <a:p>
            <a:r>
              <a:rPr lang="zh-CN" altLang="en-US" dirty="0"/>
              <a:t>王乐</a:t>
            </a:r>
            <a:endParaRPr lang="en-US" altLang="zh-CN" dirty="0"/>
          </a:p>
          <a:p>
            <a:r>
              <a:rPr lang="en-US" altLang="zh-CN" dirty="0" smtClean="0"/>
              <a:t>2020/04/10</a:t>
            </a:r>
            <a:endParaRPr lang="en-US" altLang="zh-CN" dirty="0"/>
          </a:p>
        </p:txBody>
      </p:sp>
    </p:spTree>
    <p:extLst>
      <p:ext uri="{BB962C8B-B14F-4D97-AF65-F5344CB8AC3E}">
        <p14:creationId xmlns:p14="http://schemas.microsoft.com/office/powerpoint/2010/main" val="318353812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2">
            <a:extLst>
              <a:ext uri="{FF2B5EF4-FFF2-40B4-BE49-F238E27FC236}">
                <a16:creationId xmlns:a16="http://schemas.microsoft.com/office/drawing/2014/main" id="{2B587CB1-41A9-48EF-9229-101563C80EFD}"/>
              </a:ext>
            </a:extLst>
          </p:cNvPr>
          <p:cNvSpPr txBox="1">
            <a:spLocks/>
          </p:cNvSpPr>
          <p:nvPr/>
        </p:nvSpPr>
        <p:spPr>
          <a:xfrm>
            <a:off x="-126609" y="149000"/>
            <a:ext cx="5725552" cy="832388"/>
          </a:xfrm>
          <a:prstGeom prst="rect">
            <a:avLst/>
          </a:prstGeom>
        </p:spPr>
        <p:txBody>
          <a:bodyPr/>
          <a:lstStyle>
            <a:defPPr>
              <a:defRPr lang="zh-CN"/>
            </a:defPPr>
            <a:lvl1pPr algn="ctr">
              <a:spcBef>
                <a:spcPct val="0"/>
              </a:spcBef>
              <a:buNone/>
              <a:defRPr sz="2400" b="1">
                <a:solidFill>
                  <a:schemeClr val="tx1">
                    <a:lumMod val="65000"/>
                    <a:lumOff val="35000"/>
                  </a:schemeClr>
                </a:solidFill>
                <a:latin typeface="微软雅黑" pitchFamily="34" charset="-122"/>
                <a:ea typeface="微软雅黑" pitchFamily="34" charset="-122"/>
              </a:defRPr>
            </a:lvl1pPr>
          </a:lstStyle>
          <a:p>
            <a:pPr defTabSz="1219170"/>
            <a:r>
              <a:rPr lang="zh-CN" altLang="en-US" sz="3200" dirty="0" smtClean="0">
                <a:solidFill>
                  <a:prstClr val="black">
                    <a:lumMod val="65000"/>
                    <a:lumOff val="35000"/>
                  </a:prstClr>
                </a:solidFill>
              </a:rPr>
              <a:t>一、</a:t>
            </a:r>
            <a:r>
              <a:rPr lang="en-US" altLang="zh-CN" sz="3200" dirty="0" smtClean="0">
                <a:solidFill>
                  <a:prstClr val="black">
                    <a:lumMod val="65000"/>
                    <a:lumOff val="35000"/>
                  </a:prstClr>
                </a:solidFill>
              </a:rPr>
              <a:t>L10 </a:t>
            </a:r>
            <a:r>
              <a:rPr lang="zh-CN" altLang="en-US" sz="3200" dirty="0" smtClean="0">
                <a:solidFill>
                  <a:prstClr val="black">
                    <a:lumMod val="65000"/>
                    <a:lumOff val="35000"/>
                  </a:prstClr>
                </a:solidFill>
              </a:rPr>
              <a:t>首件试制</a:t>
            </a:r>
            <a:r>
              <a:rPr lang="en-US" altLang="zh-CN" sz="3200" dirty="0" smtClean="0">
                <a:solidFill>
                  <a:prstClr val="black">
                    <a:lumMod val="65000"/>
                    <a:lumOff val="35000"/>
                  </a:prstClr>
                </a:solidFill>
              </a:rPr>
              <a:t>/</a:t>
            </a:r>
            <a:r>
              <a:rPr lang="zh-CN" altLang="en-US" sz="3200" dirty="0" smtClean="0">
                <a:solidFill>
                  <a:prstClr val="black">
                    <a:lumMod val="65000"/>
                    <a:lumOff val="35000"/>
                  </a:prstClr>
                </a:solidFill>
              </a:rPr>
              <a:t>批量试制</a:t>
            </a:r>
            <a:endParaRPr lang="zh-CN" altLang="en-US" sz="3200" dirty="0">
              <a:solidFill>
                <a:prstClr val="black">
                  <a:lumMod val="65000"/>
                  <a:lumOff val="35000"/>
                </a:prstClr>
              </a:solidFill>
            </a:endParaRPr>
          </a:p>
        </p:txBody>
      </p:sp>
      <p:sp>
        <p:nvSpPr>
          <p:cNvPr id="4" name="Rectangle 3">
            <a:extLst>
              <a:ext uri="{FF2B5EF4-FFF2-40B4-BE49-F238E27FC236}">
                <a16:creationId xmlns:a16="http://schemas.microsoft.com/office/drawing/2014/main" id="{FA07C651-B856-4405-9E2A-D4B3064DAEAF}"/>
              </a:ext>
            </a:extLst>
          </p:cNvPr>
          <p:cNvSpPr txBox="1">
            <a:spLocks noChangeArrowheads="1"/>
          </p:cNvSpPr>
          <p:nvPr/>
        </p:nvSpPr>
        <p:spPr bwMode="auto">
          <a:xfrm>
            <a:off x="780969" y="849542"/>
            <a:ext cx="10907601" cy="832388"/>
          </a:xfrm>
          <a:prstGeom prst="rect">
            <a:avLst/>
          </a:prstGeom>
          <a:solidFill>
            <a:schemeClr val="bg1">
              <a:lumMod val="85000"/>
            </a:schemeClr>
          </a:solidFill>
          <a:scene3d>
            <a:camera prst="orthographicFront"/>
            <a:lightRig rig="threePt" dir="t"/>
          </a:scene3d>
          <a:sp3d>
            <a:bevelT/>
          </a:sp3d>
          <a:extLst/>
        </p:spPr>
        <p:txBody>
          <a:bodyPr vert="horz" wrap="square" lIns="121920" tIns="60960" rIns="121920" bIns="60960" numCol="1" anchor="t" anchorCtr="0" compatLnSpc="1">
            <a:prstTxWarp prst="textNoShape">
              <a:avLst/>
            </a:prstTxWarp>
          </a:bodyPr>
          <a:lstStyle>
            <a:lvl1pPr marL="342900" indent="-342900" algn="l" defTabSz="912813" rtl="0" eaLnBrk="0" fontAlgn="base" hangingPunct="0">
              <a:spcBef>
                <a:spcPct val="20000"/>
              </a:spcBef>
              <a:spcAft>
                <a:spcPct val="0"/>
              </a:spcAft>
              <a:buChar char="•"/>
              <a:defRPr sz="3000">
                <a:solidFill>
                  <a:schemeClr val="tx1"/>
                </a:solidFill>
                <a:latin typeface="+mn-lt"/>
                <a:ea typeface="+mn-ea"/>
                <a:cs typeface="+mn-cs"/>
              </a:defRPr>
            </a:lvl1pPr>
            <a:lvl2pPr marL="741363" indent="-285750" algn="l" defTabSz="912813" rtl="0" eaLnBrk="0" fontAlgn="base" hangingPunct="0">
              <a:spcBef>
                <a:spcPct val="20000"/>
              </a:spcBef>
              <a:spcAft>
                <a:spcPct val="0"/>
              </a:spcAft>
              <a:buChar char="–"/>
              <a:defRPr sz="2800">
                <a:solidFill>
                  <a:schemeClr val="tx1"/>
                </a:solidFill>
                <a:latin typeface="+mj-lt"/>
                <a:ea typeface="+mj-ea"/>
              </a:defRPr>
            </a:lvl2pPr>
            <a:lvl3pPr marL="1139825" indent="-227013" algn="l" defTabSz="912813" rtl="0" eaLnBrk="0" fontAlgn="base" hangingPunct="0">
              <a:spcBef>
                <a:spcPct val="20000"/>
              </a:spcBef>
              <a:spcAft>
                <a:spcPct val="0"/>
              </a:spcAft>
              <a:buChar char="•"/>
              <a:defRPr sz="2400">
                <a:solidFill>
                  <a:schemeClr val="tx1"/>
                </a:solidFill>
                <a:latin typeface="+mj-lt"/>
                <a:ea typeface="+mj-ea"/>
              </a:defRPr>
            </a:lvl3pPr>
            <a:lvl4pPr marL="1595438" indent="-227013" algn="l" defTabSz="912813" rtl="0" eaLnBrk="0" fontAlgn="base" hangingPunct="0">
              <a:spcBef>
                <a:spcPct val="20000"/>
              </a:spcBef>
              <a:spcAft>
                <a:spcPct val="0"/>
              </a:spcAft>
              <a:buChar char="–"/>
              <a:defRPr sz="2000">
                <a:solidFill>
                  <a:schemeClr val="tx1"/>
                </a:solidFill>
                <a:latin typeface="+mj-lt"/>
                <a:ea typeface="+mj-ea"/>
              </a:defRPr>
            </a:lvl4pPr>
            <a:lvl5pPr marL="2052638" indent="-227013" algn="l" defTabSz="912813" rtl="0" eaLnBrk="0" fontAlgn="base" hangingPunct="0">
              <a:spcBef>
                <a:spcPct val="20000"/>
              </a:spcBef>
              <a:spcAft>
                <a:spcPct val="0"/>
              </a:spcAft>
              <a:buChar char="»"/>
              <a:defRPr sz="2000">
                <a:solidFill>
                  <a:schemeClr val="tx1"/>
                </a:solidFill>
                <a:latin typeface="+mj-lt"/>
                <a:ea typeface="+mj-ea"/>
              </a:defRPr>
            </a:lvl5pPr>
            <a:lvl6pPr marL="2509838" indent="-227013" algn="l" defTabSz="912813" rtl="0" fontAlgn="base">
              <a:spcBef>
                <a:spcPct val="20000"/>
              </a:spcBef>
              <a:spcAft>
                <a:spcPct val="0"/>
              </a:spcAft>
              <a:buChar char="»"/>
              <a:defRPr sz="2000">
                <a:solidFill>
                  <a:schemeClr val="tx1"/>
                </a:solidFill>
                <a:latin typeface="+mj-lt"/>
                <a:ea typeface="+mj-ea"/>
              </a:defRPr>
            </a:lvl6pPr>
            <a:lvl7pPr marL="2967038" indent="-227013" algn="l" defTabSz="912813" rtl="0" fontAlgn="base">
              <a:spcBef>
                <a:spcPct val="20000"/>
              </a:spcBef>
              <a:spcAft>
                <a:spcPct val="0"/>
              </a:spcAft>
              <a:buChar char="»"/>
              <a:defRPr sz="2000">
                <a:solidFill>
                  <a:schemeClr val="tx1"/>
                </a:solidFill>
                <a:latin typeface="+mj-lt"/>
                <a:ea typeface="+mj-ea"/>
              </a:defRPr>
            </a:lvl7pPr>
            <a:lvl8pPr marL="3424238" indent="-227013" algn="l" defTabSz="912813" rtl="0" fontAlgn="base">
              <a:spcBef>
                <a:spcPct val="20000"/>
              </a:spcBef>
              <a:spcAft>
                <a:spcPct val="0"/>
              </a:spcAft>
              <a:buChar char="»"/>
              <a:defRPr sz="2000">
                <a:solidFill>
                  <a:schemeClr val="tx1"/>
                </a:solidFill>
                <a:latin typeface="+mj-lt"/>
                <a:ea typeface="+mj-ea"/>
              </a:defRPr>
            </a:lvl8pPr>
            <a:lvl9pPr marL="3881438" indent="-227013" algn="l" defTabSz="912813" rtl="0" fontAlgn="base">
              <a:spcBef>
                <a:spcPct val="20000"/>
              </a:spcBef>
              <a:spcAft>
                <a:spcPct val="0"/>
              </a:spcAft>
              <a:buChar char="»"/>
              <a:defRPr sz="2000">
                <a:solidFill>
                  <a:schemeClr val="tx1"/>
                </a:solidFill>
                <a:latin typeface="+mj-lt"/>
                <a:ea typeface="+mj-ea"/>
              </a:defRPr>
            </a:lvl9pPr>
          </a:lstStyle>
          <a:p>
            <a:pPr marL="844529" lvl="1" indent="0" defTabSz="1217054">
              <a:lnSpc>
                <a:spcPct val="120000"/>
              </a:lnSpc>
              <a:spcBef>
                <a:spcPct val="50000"/>
              </a:spcBef>
              <a:buNone/>
            </a:pPr>
            <a:r>
              <a:rPr lang="zh-CN" altLang="en-US" sz="1400" b="1" kern="0" dirty="0" smtClean="0">
                <a:solidFill>
                  <a:prstClr val="black"/>
                </a:solidFill>
                <a:latin typeface="微软雅黑" panose="020B0503020204020204" pitchFamily="34" charset="-122"/>
                <a:ea typeface="微软雅黑" panose="020B0503020204020204" pitchFamily="34" charset="-122"/>
              </a:rPr>
              <a:t>试制的准入条件</a:t>
            </a:r>
            <a:r>
              <a:rPr lang="zh-CN" altLang="en-US" sz="1400" kern="0" dirty="0" smtClean="0">
                <a:solidFill>
                  <a:prstClr val="black"/>
                </a:solidFill>
                <a:latin typeface="微软雅黑" panose="020B0503020204020204" pitchFamily="34" charset="-122"/>
                <a:ea typeface="微软雅黑" panose="020B0503020204020204" pitchFamily="34" charset="-122"/>
              </a:rPr>
              <a:t>：硬件研发项目在研发测试阶段完成后，根据项目计划可进行新产品试制工作。</a:t>
            </a:r>
            <a:r>
              <a:rPr lang="en-US" altLang="zh-CN" sz="1400" kern="0" dirty="0" smtClean="0">
                <a:solidFill>
                  <a:prstClr val="black"/>
                </a:solidFill>
                <a:latin typeface="微软雅黑" panose="020B0503020204020204" pitchFamily="34" charset="-122"/>
                <a:ea typeface="微软雅黑" panose="020B0503020204020204" pitchFamily="34" charset="-122"/>
              </a:rPr>
              <a:t>DVT</a:t>
            </a:r>
            <a:r>
              <a:rPr lang="zh-CN" altLang="en-US" sz="1400" kern="0" dirty="0" smtClean="0">
                <a:solidFill>
                  <a:prstClr val="black"/>
                </a:solidFill>
                <a:latin typeface="微软雅黑" panose="020B0503020204020204" pitchFamily="34" charset="-122"/>
                <a:ea typeface="微软雅黑" panose="020B0503020204020204" pitchFamily="34" charset="-122"/>
              </a:rPr>
              <a:t>测试报告评审通过后，才具备试制准入的基本条件，试制准备工作可提前展开。</a:t>
            </a:r>
            <a:endParaRPr lang="zh-CN" altLang="en-US" sz="1400" kern="0" dirty="0">
              <a:solidFill>
                <a:prstClr val="black"/>
              </a:solidFill>
              <a:latin typeface="微软雅黑" panose="020B0503020204020204" pitchFamily="34" charset="-122"/>
              <a:ea typeface="微软雅黑" panose="020B0503020204020204" pitchFamily="34" charset="-122"/>
            </a:endParaRPr>
          </a:p>
        </p:txBody>
      </p:sp>
      <p:sp>
        <p:nvSpPr>
          <p:cNvPr id="7" name="Freeform: Shape 15"/>
          <p:cNvSpPr>
            <a:spLocks/>
          </p:cNvSpPr>
          <p:nvPr/>
        </p:nvSpPr>
        <p:spPr bwMode="auto">
          <a:xfrm>
            <a:off x="954516" y="997121"/>
            <a:ext cx="562707" cy="537229"/>
          </a:xfrm>
          <a:custGeom>
            <a:avLst/>
            <a:gdLst/>
            <a:ahLst/>
            <a:cxnLst>
              <a:cxn ang="0">
                <a:pos x="55" y="44"/>
              </a:cxn>
              <a:cxn ang="0">
                <a:pos x="44" y="55"/>
              </a:cxn>
              <a:cxn ang="0">
                <a:pos x="10" y="55"/>
              </a:cxn>
              <a:cxn ang="0">
                <a:pos x="0" y="44"/>
              </a:cxn>
              <a:cxn ang="0">
                <a:pos x="0" y="10"/>
              </a:cxn>
              <a:cxn ang="0">
                <a:pos x="10" y="0"/>
              </a:cxn>
              <a:cxn ang="0">
                <a:pos x="44" y="0"/>
              </a:cxn>
              <a:cxn ang="0">
                <a:pos x="55" y="10"/>
              </a:cxn>
              <a:cxn ang="0">
                <a:pos x="55" y="44"/>
              </a:cxn>
              <a:cxn ang="0">
                <a:pos x="46" y="20"/>
              </a:cxn>
              <a:cxn ang="0">
                <a:pos x="46" y="17"/>
              </a:cxn>
              <a:cxn ang="0">
                <a:pos x="42" y="13"/>
              </a:cxn>
              <a:cxn ang="0">
                <a:pos x="39" y="13"/>
              </a:cxn>
              <a:cxn ang="0">
                <a:pos x="23" y="30"/>
              </a:cxn>
              <a:cxn ang="0">
                <a:pos x="15" y="22"/>
              </a:cxn>
              <a:cxn ang="0">
                <a:pos x="12" y="22"/>
              </a:cxn>
              <a:cxn ang="0">
                <a:pos x="8" y="26"/>
              </a:cxn>
              <a:cxn ang="0">
                <a:pos x="8" y="29"/>
              </a:cxn>
              <a:cxn ang="0">
                <a:pos x="21" y="42"/>
              </a:cxn>
              <a:cxn ang="0">
                <a:pos x="24" y="42"/>
              </a:cxn>
              <a:cxn ang="0">
                <a:pos x="46" y="20"/>
              </a:cxn>
            </a:cxnLst>
            <a:rect l="0" t="0" r="r" b="b"/>
            <a:pathLst>
              <a:path w="55" h="55">
                <a:moveTo>
                  <a:pt x="55" y="44"/>
                </a:moveTo>
                <a:cubicBezTo>
                  <a:pt x="55" y="50"/>
                  <a:pt x="50" y="55"/>
                  <a:pt x="44" y="55"/>
                </a:cubicBezTo>
                <a:cubicBezTo>
                  <a:pt x="10" y="55"/>
                  <a:pt x="10" y="55"/>
                  <a:pt x="10" y="55"/>
                </a:cubicBezTo>
                <a:cubicBezTo>
                  <a:pt x="4" y="55"/>
                  <a:pt x="0" y="50"/>
                  <a:pt x="0" y="44"/>
                </a:cubicBezTo>
                <a:cubicBezTo>
                  <a:pt x="0" y="10"/>
                  <a:pt x="0" y="10"/>
                  <a:pt x="0" y="10"/>
                </a:cubicBezTo>
                <a:cubicBezTo>
                  <a:pt x="0" y="5"/>
                  <a:pt x="4" y="0"/>
                  <a:pt x="10" y="0"/>
                </a:cubicBezTo>
                <a:cubicBezTo>
                  <a:pt x="44" y="0"/>
                  <a:pt x="44" y="0"/>
                  <a:pt x="44" y="0"/>
                </a:cubicBezTo>
                <a:cubicBezTo>
                  <a:pt x="50" y="0"/>
                  <a:pt x="55" y="5"/>
                  <a:pt x="55" y="10"/>
                </a:cubicBezTo>
                <a:lnTo>
                  <a:pt x="55" y="44"/>
                </a:lnTo>
                <a:close/>
                <a:moveTo>
                  <a:pt x="46" y="20"/>
                </a:moveTo>
                <a:cubicBezTo>
                  <a:pt x="47" y="19"/>
                  <a:pt x="47" y="17"/>
                  <a:pt x="46" y="17"/>
                </a:cubicBezTo>
                <a:cubicBezTo>
                  <a:pt x="42" y="13"/>
                  <a:pt x="42" y="13"/>
                  <a:pt x="42" y="13"/>
                </a:cubicBezTo>
                <a:cubicBezTo>
                  <a:pt x="42" y="12"/>
                  <a:pt x="40" y="12"/>
                  <a:pt x="39" y="13"/>
                </a:cubicBezTo>
                <a:cubicBezTo>
                  <a:pt x="23" y="30"/>
                  <a:pt x="23" y="30"/>
                  <a:pt x="23" y="30"/>
                </a:cubicBezTo>
                <a:cubicBezTo>
                  <a:pt x="15" y="22"/>
                  <a:pt x="15" y="22"/>
                  <a:pt x="15" y="22"/>
                </a:cubicBezTo>
                <a:cubicBezTo>
                  <a:pt x="14" y="21"/>
                  <a:pt x="13" y="21"/>
                  <a:pt x="12" y="22"/>
                </a:cubicBezTo>
                <a:cubicBezTo>
                  <a:pt x="8" y="26"/>
                  <a:pt x="8" y="26"/>
                  <a:pt x="8" y="26"/>
                </a:cubicBezTo>
                <a:cubicBezTo>
                  <a:pt x="7" y="27"/>
                  <a:pt x="7" y="28"/>
                  <a:pt x="8" y="29"/>
                </a:cubicBezTo>
                <a:cubicBezTo>
                  <a:pt x="21" y="42"/>
                  <a:pt x="21" y="42"/>
                  <a:pt x="21" y="42"/>
                </a:cubicBezTo>
                <a:cubicBezTo>
                  <a:pt x="22" y="43"/>
                  <a:pt x="23" y="43"/>
                  <a:pt x="24" y="42"/>
                </a:cubicBezTo>
                <a:lnTo>
                  <a:pt x="46" y="20"/>
                </a:lnTo>
                <a:close/>
              </a:path>
            </a:pathLst>
          </a:custGeom>
          <a:solidFill>
            <a:srgbClr val="C00000"/>
          </a:solidFill>
          <a:ln w="9525">
            <a:noFill/>
            <a:round/>
            <a:headEnd/>
            <a:tailEnd/>
          </a:ln>
        </p:spPr>
        <p:txBody>
          <a:bodyPr anchor="ctr"/>
          <a:lstStyle/>
          <a:p>
            <a:pPr algn="ctr"/>
            <a:endParaRPr/>
          </a:p>
        </p:txBody>
      </p:sp>
      <p:sp>
        <p:nvSpPr>
          <p:cNvPr id="9" name="Oval 105"/>
          <p:cNvSpPr/>
          <p:nvPr/>
        </p:nvSpPr>
        <p:spPr>
          <a:xfrm>
            <a:off x="964310" y="4627168"/>
            <a:ext cx="467663" cy="4676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fontScale="92500" lnSpcReduction="10000"/>
          </a:bodyPr>
          <a:lstStyle/>
          <a:p>
            <a:pPr algn="ctr"/>
            <a:r>
              <a:rPr lang="en-US" b="1" dirty="0"/>
              <a:t>01</a:t>
            </a:r>
          </a:p>
        </p:txBody>
      </p:sp>
      <p:sp>
        <p:nvSpPr>
          <p:cNvPr id="10" name="Arc 114"/>
          <p:cNvSpPr/>
          <p:nvPr/>
        </p:nvSpPr>
        <p:spPr>
          <a:xfrm rot="5400000" flipV="1">
            <a:off x="778976" y="4629162"/>
            <a:ext cx="616481" cy="612495"/>
          </a:xfrm>
          <a:prstGeom prst="arc">
            <a:avLst/>
          </a:prstGeom>
          <a:ln w="38100">
            <a:solidFill>
              <a:srgbClr val="C00000"/>
            </a:solidFill>
            <a:headEnd type="none"/>
            <a:tailEnd type="oval"/>
          </a:ln>
        </p:spPr>
        <p:style>
          <a:lnRef idx="1">
            <a:schemeClr val="accent1"/>
          </a:lnRef>
          <a:fillRef idx="0">
            <a:schemeClr val="accent1"/>
          </a:fillRef>
          <a:effectRef idx="0">
            <a:schemeClr val="accent1"/>
          </a:effectRef>
          <a:fontRef idx="minor">
            <a:schemeClr val="tx1"/>
          </a:fontRef>
        </p:style>
        <p:txBody>
          <a:bodyPr anchor="ctr"/>
          <a:lstStyle/>
          <a:p>
            <a:pPr algn="ctr"/>
            <a:endParaRPr/>
          </a:p>
        </p:txBody>
      </p:sp>
      <p:cxnSp>
        <p:nvCxnSpPr>
          <p:cNvPr id="11" name="Straight Connector 115"/>
          <p:cNvCxnSpPr/>
          <p:nvPr/>
        </p:nvCxnSpPr>
        <p:spPr>
          <a:xfrm>
            <a:off x="154375" y="4950523"/>
            <a:ext cx="630937" cy="877"/>
          </a:xfrm>
          <a:prstGeom prst="line">
            <a:avLst/>
          </a:prstGeom>
          <a:ln w="38100">
            <a:solidFill>
              <a:srgbClr val="C00000"/>
            </a:solidFill>
            <a:headEnd type="oval"/>
          </a:ln>
        </p:spPr>
        <p:style>
          <a:lnRef idx="1">
            <a:schemeClr val="accent1"/>
          </a:lnRef>
          <a:fillRef idx="0">
            <a:schemeClr val="accent1"/>
          </a:fillRef>
          <a:effectRef idx="0">
            <a:schemeClr val="accent1"/>
          </a:effectRef>
          <a:fontRef idx="minor">
            <a:schemeClr val="tx1"/>
          </a:fontRef>
        </p:style>
      </p:cxnSp>
      <p:sp>
        <p:nvSpPr>
          <p:cNvPr id="12" name="Arc 119"/>
          <p:cNvSpPr/>
          <p:nvPr/>
        </p:nvSpPr>
        <p:spPr>
          <a:xfrm rot="5400000" flipV="1">
            <a:off x="1223018" y="4321924"/>
            <a:ext cx="1892126" cy="902918"/>
          </a:xfrm>
          <a:prstGeom prst="arc">
            <a:avLst/>
          </a:prstGeom>
          <a:ln w="38100">
            <a:solidFill>
              <a:srgbClr val="C00000"/>
            </a:solidFill>
            <a:headEnd type="none"/>
            <a:tailEnd type="oval"/>
          </a:ln>
        </p:spPr>
        <p:style>
          <a:lnRef idx="1">
            <a:schemeClr val="accent1"/>
          </a:lnRef>
          <a:fillRef idx="0">
            <a:schemeClr val="accent1"/>
          </a:fillRef>
          <a:effectRef idx="0">
            <a:schemeClr val="accent1"/>
          </a:effectRef>
          <a:fontRef idx="minor">
            <a:schemeClr val="tx1"/>
          </a:fontRef>
        </p:style>
        <p:txBody>
          <a:bodyPr anchor="ctr"/>
          <a:lstStyle/>
          <a:p>
            <a:pPr algn="ctr"/>
            <a:endParaRPr/>
          </a:p>
        </p:txBody>
      </p:sp>
      <p:sp>
        <p:nvSpPr>
          <p:cNvPr id="13" name="Arc 121"/>
          <p:cNvSpPr/>
          <p:nvPr/>
        </p:nvSpPr>
        <p:spPr>
          <a:xfrm rot="5400000" flipH="1">
            <a:off x="923906" y="4477143"/>
            <a:ext cx="623928" cy="623927"/>
          </a:xfrm>
          <a:prstGeom prst="arc">
            <a:avLst/>
          </a:prstGeom>
          <a:ln w="38100">
            <a:solidFill>
              <a:srgbClr val="C00000"/>
            </a:solidFill>
            <a:headEnd type="none"/>
            <a:tailEnd type="none"/>
          </a:ln>
        </p:spPr>
        <p:style>
          <a:lnRef idx="1">
            <a:schemeClr val="accent1"/>
          </a:lnRef>
          <a:fillRef idx="0">
            <a:schemeClr val="accent1"/>
          </a:fillRef>
          <a:effectRef idx="0">
            <a:schemeClr val="accent1"/>
          </a:effectRef>
          <a:fontRef idx="minor">
            <a:schemeClr val="tx1"/>
          </a:fontRef>
        </p:style>
        <p:txBody>
          <a:bodyPr anchor="ctr"/>
          <a:lstStyle/>
          <a:p>
            <a:pPr algn="ctr"/>
            <a:endParaRPr/>
          </a:p>
        </p:txBody>
      </p:sp>
      <p:cxnSp>
        <p:nvCxnSpPr>
          <p:cNvPr id="14" name="Straight Connector 118"/>
          <p:cNvCxnSpPr>
            <a:stCxn id="15" idx="4"/>
          </p:cNvCxnSpPr>
          <p:nvPr/>
        </p:nvCxnSpPr>
        <p:spPr>
          <a:xfrm>
            <a:off x="1222385" y="2680867"/>
            <a:ext cx="29451" cy="1797486"/>
          </a:xfrm>
          <a:prstGeom prst="line">
            <a:avLst/>
          </a:prstGeom>
          <a:ln w="38100">
            <a:solidFill>
              <a:srgbClr val="C00000"/>
            </a:solidFill>
            <a:headEnd type="none"/>
          </a:ln>
        </p:spPr>
        <p:style>
          <a:lnRef idx="1">
            <a:schemeClr val="accent1"/>
          </a:lnRef>
          <a:fillRef idx="0">
            <a:schemeClr val="accent1"/>
          </a:fillRef>
          <a:effectRef idx="0">
            <a:schemeClr val="accent1"/>
          </a:effectRef>
          <a:fontRef idx="minor">
            <a:schemeClr val="tx1"/>
          </a:fontRef>
        </p:style>
      </p:cxnSp>
      <p:sp>
        <p:nvSpPr>
          <p:cNvPr id="15" name="Oval 156"/>
          <p:cNvSpPr/>
          <p:nvPr/>
        </p:nvSpPr>
        <p:spPr>
          <a:xfrm>
            <a:off x="988553" y="2213202"/>
            <a:ext cx="467663" cy="467665"/>
          </a:xfrm>
          <a:prstGeom prst="ellipse">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6" name="TextBox 60"/>
          <p:cNvSpPr txBox="1">
            <a:spLocks/>
          </p:cNvSpPr>
          <p:nvPr/>
        </p:nvSpPr>
        <p:spPr bwMode="auto">
          <a:xfrm>
            <a:off x="527562" y="5401729"/>
            <a:ext cx="1294599" cy="427844"/>
          </a:xfrm>
          <a:prstGeom prst="rect">
            <a:avLst/>
          </a:prstGeom>
          <a:noFill/>
          <a:extLst/>
        </p:spPr>
        <p:txBody>
          <a:bodyPr wrap="none" lIns="90000" tIns="46800" rIns="90000" bIns="46800" anchor="b" anchorCtr="1">
            <a:normAutofit/>
          </a:bodyPr>
          <a:lstStyle/>
          <a:p>
            <a:pPr latinLnBrk="0"/>
            <a:r>
              <a:rPr lang="zh-CN" altLang="en-US" sz="1400" b="1" dirty="0" smtClean="0">
                <a:effectLst/>
                <a:ea typeface="微软雅黑" panose="020B0503020204020204" pitchFamily="34" charset="-122"/>
              </a:rPr>
              <a:t>试制准备相关工作</a:t>
            </a:r>
            <a:endParaRPr lang="zh-CN" altLang="en-US" sz="1400" b="1" dirty="0">
              <a:effectLst/>
              <a:ea typeface="微软雅黑" panose="020B0503020204020204" pitchFamily="34" charset="-122"/>
            </a:endParaRPr>
          </a:p>
        </p:txBody>
      </p:sp>
      <p:cxnSp>
        <p:nvCxnSpPr>
          <p:cNvPr id="17" name="Straight Connector 120"/>
          <p:cNvCxnSpPr/>
          <p:nvPr/>
        </p:nvCxnSpPr>
        <p:spPr>
          <a:xfrm>
            <a:off x="1547834" y="4787352"/>
            <a:ext cx="318691" cy="877"/>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aphicFrame>
        <p:nvGraphicFramePr>
          <p:cNvPr id="18" name="表格 17"/>
          <p:cNvGraphicFramePr>
            <a:graphicFrameLocks noGrp="1"/>
          </p:cNvGraphicFramePr>
          <p:nvPr>
            <p:extLst>
              <p:ext uri="{D42A27DB-BD31-4B8C-83A1-F6EECF244321}">
                <p14:modId xmlns:p14="http://schemas.microsoft.com/office/powerpoint/2010/main" val="44510851"/>
              </p:ext>
            </p:extLst>
          </p:nvPr>
        </p:nvGraphicFramePr>
        <p:xfrm>
          <a:off x="1897758" y="1743281"/>
          <a:ext cx="9802949" cy="3589020"/>
        </p:xfrm>
        <a:graphic>
          <a:graphicData uri="http://schemas.openxmlformats.org/drawingml/2006/table">
            <a:tbl>
              <a:tblPr firstRow="1">
                <a:tableStyleId>{21E4AEA4-8DFA-4A89-87EB-49C32662AFE0}</a:tableStyleId>
              </a:tblPr>
              <a:tblGrid>
                <a:gridCol w="565628">
                  <a:extLst>
                    <a:ext uri="{9D8B030D-6E8A-4147-A177-3AD203B41FA5}">
                      <a16:colId xmlns:a16="http://schemas.microsoft.com/office/drawing/2014/main" val="2940851073"/>
                    </a:ext>
                  </a:extLst>
                </a:gridCol>
                <a:gridCol w="1445486">
                  <a:extLst>
                    <a:ext uri="{9D8B030D-6E8A-4147-A177-3AD203B41FA5}">
                      <a16:colId xmlns:a16="http://schemas.microsoft.com/office/drawing/2014/main" val="3516952899"/>
                    </a:ext>
                  </a:extLst>
                </a:gridCol>
                <a:gridCol w="1682371">
                  <a:extLst>
                    <a:ext uri="{9D8B030D-6E8A-4147-A177-3AD203B41FA5}">
                      <a16:colId xmlns:a16="http://schemas.microsoft.com/office/drawing/2014/main" val="2755818900"/>
                    </a:ext>
                  </a:extLst>
                </a:gridCol>
                <a:gridCol w="6109464">
                  <a:extLst>
                    <a:ext uri="{9D8B030D-6E8A-4147-A177-3AD203B41FA5}">
                      <a16:colId xmlns:a16="http://schemas.microsoft.com/office/drawing/2014/main" val="302838818"/>
                    </a:ext>
                  </a:extLst>
                </a:gridCol>
              </a:tblGrid>
              <a:tr h="237836">
                <a:tc>
                  <a:txBody>
                    <a:bodyPr/>
                    <a:lstStyle/>
                    <a:p>
                      <a:pPr algn="ctr"/>
                      <a:r>
                        <a:rPr lang="zh-CN" altLang="en-US" sz="1050" dirty="0" smtClean="0">
                          <a:latin typeface="+mn-ea"/>
                          <a:ea typeface="+mn-ea"/>
                        </a:rPr>
                        <a:t>序号</a:t>
                      </a:r>
                      <a:endParaRPr lang="zh-CN" altLang="en-US" sz="1050" b="1" dirty="0">
                        <a:latin typeface="+mn-ea"/>
                        <a:ea typeface="+mn-ea"/>
                      </a:endParaRPr>
                    </a:p>
                  </a:txBody>
                  <a:tcPr/>
                </a:tc>
                <a:tc>
                  <a:txBody>
                    <a:bodyPr/>
                    <a:lstStyle/>
                    <a:p>
                      <a:pPr algn="ctr"/>
                      <a:r>
                        <a:rPr lang="zh-CN" altLang="en-US" sz="1050" dirty="0" smtClean="0">
                          <a:latin typeface="+mn-ea"/>
                          <a:ea typeface="+mn-ea"/>
                        </a:rPr>
                        <a:t>工作名称</a:t>
                      </a:r>
                      <a:endParaRPr lang="zh-CN" altLang="en-US" sz="1050" b="1" dirty="0">
                        <a:latin typeface="+mn-ea"/>
                        <a:ea typeface="+mn-ea"/>
                      </a:endParaRPr>
                    </a:p>
                  </a:txBody>
                  <a:tcPr/>
                </a:tc>
                <a:tc>
                  <a:txBody>
                    <a:bodyPr/>
                    <a:lstStyle/>
                    <a:p>
                      <a:pPr algn="ctr"/>
                      <a:r>
                        <a:rPr lang="zh-CN" altLang="en-US" sz="1050" dirty="0" smtClean="0">
                          <a:latin typeface="+mn-ea"/>
                          <a:ea typeface="+mn-ea"/>
                        </a:rPr>
                        <a:t>责任人</a:t>
                      </a:r>
                      <a:endParaRPr lang="zh-CN" altLang="en-US" sz="1050" b="1" dirty="0">
                        <a:latin typeface="+mn-ea"/>
                        <a:ea typeface="+mn-ea"/>
                      </a:endParaRPr>
                    </a:p>
                  </a:txBody>
                  <a:tcPr/>
                </a:tc>
                <a:tc>
                  <a:txBody>
                    <a:bodyPr/>
                    <a:lstStyle/>
                    <a:p>
                      <a:pPr algn="ctr"/>
                      <a:r>
                        <a:rPr lang="zh-CN" altLang="en-US" sz="1050" dirty="0" smtClean="0">
                          <a:latin typeface="+mn-ea"/>
                          <a:ea typeface="+mn-ea"/>
                        </a:rPr>
                        <a:t>工作内容</a:t>
                      </a:r>
                      <a:endParaRPr lang="zh-CN" altLang="en-US" sz="1050" b="1" dirty="0">
                        <a:latin typeface="+mn-ea"/>
                        <a:ea typeface="+mn-ea"/>
                      </a:endParaRPr>
                    </a:p>
                  </a:txBody>
                  <a:tcPr/>
                </a:tc>
                <a:extLst>
                  <a:ext uri="{0D108BD9-81ED-4DB2-BD59-A6C34878D82A}">
                    <a16:rowId xmlns:a16="http://schemas.microsoft.com/office/drawing/2014/main" val="2032103293"/>
                  </a:ext>
                </a:extLst>
              </a:tr>
              <a:tr h="237836">
                <a:tc>
                  <a:txBody>
                    <a:bodyPr/>
                    <a:lstStyle/>
                    <a:p>
                      <a:r>
                        <a:rPr lang="en-US" altLang="zh-CN" sz="1050" dirty="0" smtClean="0">
                          <a:latin typeface="+mn-ea"/>
                          <a:ea typeface="+mn-ea"/>
                        </a:rPr>
                        <a:t>1</a:t>
                      </a:r>
                      <a:endParaRPr lang="zh-CN" altLang="en-US" sz="1050" dirty="0">
                        <a:latin typeface="+mn-ea"/>
                        <a:ea typeface="+mn-ea"/>
                      </a:endParaRPr>
                    </a:p>
                  </a:txBody>
                  <a:tcPr/>
                </a:tc>
                <a:tc>
                  <a:txBody>
                    <a:bodyPr/>
                    <a:lstStyle/>
                    <a:p>
                      <a:r>
                        <a:rPr lang="zh-CN" altLang="en-US" sz="1050" dirty="0" smtClean="0">
                          <a:latin typeface="+mn-ea"/>
                          <a:ea typeface="+mn-ea"/>
                        </a:rPr>
                        <a:t>编写部件规格书</a:t>
                      </a:r>
                      <a:endParaRPr lang="zh-CN" altLang="en-US" sz="1050" dirty="0">
                        <a:latin typeface="+mn-ea"/>
                        <a:ea typeface="+mn-ea"/>
                      </a:endParaRPr>
                    </a:p>
                  </a:txBody>
                  <a:tcPr/>
                </a:tc>
                <a:tc>
                  <a:txBody>
                    <a:bodyPr/>
                    <a:lstStyle/>
                    <a:p>
                      <a:r>
                        <a:rPr lang="zh-CN" altLang="en-US" sz="1050" dirty="0" smtClean="0">
                          <a:latin typeface="+mn-ea"/>
                          <a:ea typeface="+mn-ea"/>
                        </a:rPr>
                        <a:t>研发工程师</a:t>
                      </a:r>
                      <a:r>
                        <a:rPr lang="en-US" altLang="zh-CN" sz="1050" dirty="0" smtClean="0">
                          <a:latin typeface="+mn-ea"/>
                          <a:ea typeface="+mn-ea"/>
                        </a:rPr>
                        <a:t>/</a:t>
                      </a:r>
                      <a:r>
                        <a:rPr lang="zh-CN" altLang="en-US" sz="1050" dirty="0" smtClean="0">
                          <a:latin typeface="+mn-ea"/>
                          <a:ea typeface="+mn-ea"/>
                        </a:rPr>
                        <a:t>部件负责人</a:t>
                      </a:r>
                      <a:endParaRPr lang="zh-CN" altLang="en-US" sz="1050" dirty="0">
                        <a:latin typeface="+mn-ea"/>
                        <a:ea typeface="+mn-ea"/>
                      </a:endParaRPr>
                    </a:p>
                  </a:txBody>
                  <a:tcPr/>
                </a:tc>
                <a:tc>
                  <a:txBody>
                    <a:bodyPr/>
                    <a:lstStyle/>
                    <a:p>
                      <a:r>
                        <a:rPr lang="zh-CN" altLang="en-US" sz="1050" dirty="0" smtClean="0">
                          <a:latin typeface="+mn-ea"/>
                          <a:ea typeface="+mn-ea"/>
                        </a:rPr>
                        <a:t>根据量产版本的设计编制、更新</a:t>
                      </a:r>
                      <a:r>
                        <a:rPr lang="en-US" altLang="zh-CN" sz="1050" dirty="0" smtClean="0">
                          <a:latin typeface="+mn-ea"/>
                          <a:ea typeface="+mn-ea"/>
                        </a:rPr>
                        <a:t>《</a:t>
                      </a:r>
                      <a:r>
                        <a:rPr lang="zh-CN" altLang="en-US" sz="1050" dirty="0" smtClean="0">
                          <a:latin typeface="+mn-ea"/>
                          <a:ea typeface="+mn-ea"/>
                        </a:rPr>
                        <a:t>部件规格书</a:t>
                      </a:r>
                      <a:r>
                        <a:rPr lang="en-US" altLang="zh-CN" sz="1050" dirty="0" smtClean="0">
                          <a:latin typeface="+mn-ea"/>
                          <a:ea typeface="+mn-ea"/>
                        </a:rPr>
                        <a:t>》</a:t>
                      </a:r>
                      <a:r>
                        <a:rPr lang="zh-CN" altLang="en-US" sz="1050" dirty="0" smtClean="0">
                          <a:latin typeface="+mn-ea"/>
                          <a:ea typeface="+mn-ea"/>
                        </a:rPr>
                        <a:t>，包括板卡、机构、线缆、等涉及设计更改的物料。</a:t>
                      </a:r>
                      <a:endParaRPr lang="zh-CN" altLang="en-US" sz="1050" dirty="0">
                        <a:latin typeface="+mn-ea"/>
                        <a:ea typeface="+mn-ea"/>
                      </a:endParaRPr>
                    </a:p>
                  </a:txBody>
                  <a:tcPr/>
                </a:tc>
                <a:extLst>
                  <a:ext uri="{0D108BD9-81ED-4DB2-BD59-A6C34878D82A}">
                    <a16:rowId xmlns:a16="http://schemas.microsoft.com/office/drawing/2014/main" val="1313637397"/>
                  </a:ext>
                </a:extLst>
              </a:tr>
              <a:tr h="237836">
                <a:tc>
                  <a:txBody>
                    <a:bodyPr/>
                    <a:lstStyle/>
                    <a:p>
                      <a:r>
                        <a:rPr lang="en-US" altLang="zh-CN" sz="1050" dirty="0" smtClean="0">
                          <a:latin typeface="+mn-ea"/>
                          <a:ea typeface="+mn-ea"/>
                        </a:rPr>
                        <a:t>2</a:t>
                      </a:r>
                      <a:endParaRPr lang="zh-CN" altLang="en-US" sz="1050" dirty="0">
                        <a:latin typeface="+mn-ea"/>
                        <a:ea typeface="+mn-ea"/>
                      </a:endParaRPr>
                    </a:p>
                  </a:txBody>
                  <a:tcPr/>
                </a:tc>
                <a:tc>
                  <a:txBody>
                    <a:bodyPr/>
                    <a:lstStyle/>
                    <a:p>
                      <a:r>
                        <a:rPr lang="zh-CN" altLang="en-US" sz="1050" dirty="0" smtClean="0">
                          <a:latin typeface="+mn-ea"/>
                          <a:ea typeface="+mn-ea"/>
                        </a:rPr>
                        <a:t>部件物料号申请</a:t>
                      </a:r>
                      <a:endParaRPr lang="zh-CN" altLang="en-US" sz="1050" dirty="0">
                        <a:latin typeface="+mn-ea"/>
                        <a:ea typeface="+mn-ea"/>
                      </a:endParaRP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zh-CN" altLang="en-US" sz="1050" dirty="0" smtClean="0">
                          <a:latin typeface="+mn-ea"/>
                          <a:ea typeface="+mn-ea"/>
                        </a:rPr>
                        <a:t>研发工程师</a:t>
                      </a:r>
                      <a:r>
                        <a:rPr lang="en-US" altLang="zh-CN" sz="1050" dirty="0" smtClean="0">
                          <a:latin typeface="+mn-ea"/>
                          <a:ea typeface="+mn-ea"/>
                        </a:rPr>
                        <a:t>/</a:t>
                      </a:r>
                      <a:r>
                        <a:rPr lang="zh-CN" altLang="en-US" sz="1050" dirty="0" smtClean="0">
                          <a:latin typeface="+mn-ea"/>
                          <a:ea typeface="+mn-ea"/>
                        </a:rPr>
                        <a:t>部件负责人</a:t>
                      </a:r>
                    </a:p>
                  </a:txBody>
                  <a:tcPr/>
                </a:tc>
                <a:tc>
                  <a:txBody>
                    <a:bodyPr/>
                    <a:lstStyle/>
                    <a:p>
                      <a:r>
                        <a:rPr lang="zh-CN" altLang="en-US" sz="1050" dirty="0" smtClean="0">
                          <a:latin typeface="+mn-ea"/>
                          <a:ea typeface="+mn-ea"/>
                        </a:rPr>
                        <a:t>申请工作内容</a:t>
                      </a:r>
                      <a:r>
                        <a:rPr lang="en-US" altLang="zh-CN" sz="1050" dirty="0" smtClean="0">
                          <a:latin typeface="+mn-ea"/>
                          <a:ea typeface="+mn-ea"/>
                        </a:rPr>
                        <a:t>1</a:t>
                      </a:r>
                      <a:r>
                        <a:rPr lang="zh-CN" altLang="en-US" sz="1050" dirty="0" smtClean="0">
                          <a:latin typeface="+mn-ea"/>
                          <a:ea typeface="+mn-ea"/>
                        </a:rPr>
                        <a:t>中提及的部件的料号。</a:t>
                      </a:r>
                      <a:endParaRPr lang="zh-CN" altLang="en-US" sz="1050" dirty="0">
                        <a:latin typeface="+mn-ea"/>
                        <a:ea typeface="+mn-ea"/>
                      </a:endParaRPr>
                    </a:p>
                  </a:txBody>
                  <a:tcPr/>
                </a:tc>
                <a:extLst>
                  <a:ext uri="{0D108BD9-81ED-4DB2-BD59-A6C34878D82A}">
                    <a16:rowId xmlns:a16="http://schemas.microsoft.com/office/drawing/2014/main" val="2774203038"/>
                  </a:ext>
                </a:extLst>
              </a:tr>
              <a:tr h="237836">
                <a:tc>
                  <a:txBody>
                    <a:bodyPr/>
                    <a:lstStyle/>
                    <a:p>
                      <a:r>
                        <a:rPr lang="en-US" altLang="zh-CN" sz="1050" dirty="0" smtClean="0">
                          <a:latin typeface="+mn-ea"/>
                          <a:ea typeface="+mn-ea"/>
                        </a:rPr>
                        <a:t>3</a:t>
                      </a:r>
                      <a:endParaRPr lang="zh-CN" altLang="en-US" sz="1050" dirty="0">
                        <a:latin typeface="+mn-ea"/>
                        <a:ea typeface="+mn-ea"/>
                      </a:endParaRPr>
                    </a:p>
                  </a:txBody>
                  <a:tcPr/>
                </a:tc>
                <a:tc>
                  <a:txBody>
                    <a:bodyPr/>
                    <a:lstStyle/>
                    <a:p>
                      <a:r>
                        <a:rPr lang="zh-CN" altLang="en-US" sz="1050" dirty="0" smtClean="0">
                          <a:latin typeface="+mn-ea"/>
                          <a:ea typeface="+mn-ea"/>
                        </a:rPr>
                        <a:t>编制产品</a:t>
                      </a:r>
                      <a:r>
                        <a:rPr lang="en-US" altLang="zh-CN" sz="1050" dirty="0" smtClean="0">
                          <a:latin typeface="+mn-ea"/>
                          <a:ea typeface="+mn-ea"/>
                        </a:rPr>
                        <a:t>BOM</a:t>
                      </a:r>
                      <a:endParaRPr lang="zh-CN" altLang="en-US" sz="1050" dirty="0">
                        <a:latin typeface="+mn-ea"/>
                        <a:ea typeface="+mn-ea"/>
                      </a:endParaRPr>
                    </a:p>
                  </a:txBody>
                  <a:tcPr/>
                </a:tc>
                <a:tc>
                  <a:txBody>
                    <a:bodyPr/>
                    <a:lstStyle/>
                    <a:p>
                      <a:r>
                        <a:rPr lang="zh-CN" altLang="en-US" sz="1050" dirty="0" smtClean="0">
                          <a:latin typeface="+mn-ea"/>
                          <a:ea typeface="+mn-ea"/>
                        </a:rPr>
                        <a:t>产品工程师</a:t>
                      </a:r>
                      <a:endParaRPr lang="zh-CN" altLang="en-US" sz="1050" dirty="0">
                        <a:latin typeface="+mn-ea"/>
                        <a:ea typeface="+mn-ea"/>
                      </a:endParaRPr>
                    </a:p>
                  </a:txBody>
                  <a:tcPr/>
                </a:tc>
                <a:tc>
                  <a:txBody>
                    <a:bodyPr/>
                    <a:lstStyle/>
                    <a:p>
                      <a:r>
                        <a:rPr lang="zh-CN" altLang="en-US" sz="1050" dirty="0" smtClean="0">
                          <a:latin typeface="+mn-ea"/>
                          <a:ea typeface="+mn-ea"/>
                        </a:rPr>
                        <a:t>根据产品的应用需求，选择产品中涉及的物料及物料数量，形成</a:t>
                      </a:r>
                      <a:r>
                        <a:rPr lang="en-US" altLang="zh-CN" sz="1050" dirty="0" smtClean="0">
                          <a:latin typeface="+mn-ea"/>
                          <a:ea typeface="+mn-ea"/>
                        </a:rPr>
                        <a:t>《</a:t>
                      </a:r>
                      <a:r>
                        <a:rPr lang="zh-CN" altLang="en-US" sz="1050" dirty="0" smtClean="0">
                          <a:latin typeface="+mn-ea"/>
                          <a:ea typeface="+mn-ea"/>
                        </a:rPr>
                        <a:t>产品</a:t>
                      </a:r>
                      <a:r>
                        <a:rPr lang="en-US" altLang="zh-CN" sz="1050" dirty="0" smtClean="0">
                          <a:latin typeface="+mn-ea"/>
                          <a:ea typeface="+mn-ea"/>
                        </a:rPr>
                        <a:t>BOM</a:t>
                      </a:r>
                      <a:r>
                        <a:rPr lang="zh-CN" altLang="en-US" sz="1050" dirty="0" smtClean="0">
                          <a:latin typeface="+mn-ea"/>
                          <a:ea typeface="+mn-ea"/>
                        </a:rPr>
                        <a:t>清单</a:t>
                      </a:r>
                      <a:r>
                        <a:rPr lang="en-US" altLang="zh-CN" sz="1050" dirty="0" smtClean="0">
                          <a:latin typeface="+mn-ea"/>
                          <a:ea typeface="+mn-ea"/>
                        </a:rPr>
                        <a:t>》</a:t>
                      </a:r>
                      <a:r>
                        <a:rPr lang="zh-CN" altLang="en-US" sz="1050" dirty="0" smtClean="0">
                          <a:latin typeface="+mn-ea"/>
                          <a:ea typeface="+mn-ea"/>
                        </a:rPr>
                        <a:t>并申请产品物料号。</a:t>
                      </a:r>
                      <a:endParaRPr lang="zh-CN" altLang="en-US" sz="1050" dirty="0">
                        <a:latin typeface="+mn-ea"/>
                        <a:ea typeface="+mn-ea"/>
                      </a:endParaRPr>
                    </a:p>
                  </a:txBody>
                  <a:tcPr/>
                </a:tc>
                <a:extLst>
                  <a:ext uri="{0D108BD9-81ED-4DB2-BD59-A6C34878D82A}">
                    <a16:rowId xmlns:a16="http://schemas.microsoft.com/office/drawing/2014/main" val="2202008534"/>
                  </a:ext>
                </a:extLst>
              </a:tr>
              <a:tr h="237836">
                <a:tc>
                  <a:txBody>
                    <a:bodyPr/>
                    <a:lstStyle/>
                    <a:p>
                      <a:r>
                        <a:rPr lang="en-US" altLang="zh-CN" sz="1050" dirty="0" smtClean="0">
                          <a:latin typeface="+mn-ea"/>
                          <a:ea typeface="+mn-ea"/>
                        </a:rPr>
                        <a:t>4</a:t>
                      </a:r>
                      <a:endParaRPr lang="zh-CN" altLang="en-US" sz="1050" dirty="0">
                        <a:latin typeface="+mn-ea"/>
                        <a:ea typeface="+mn-ea"/>
                      </a:endParaRPr>
                    </a:p>
                  </a:txBody>
                  <a:tcPr/>
                </a:tc>
                <a:tc>
                  <a:txBody>
                    <a:bodyPr/>
                    <a:lstStyle/>
                    <a:p>
                      <a:r>
                        <a:rPr lang="zh-CN" altLang="en-US" sz="1050" dirty="0" smtClean="0">
                          <a:latin typeface="+mn-ea"/>
                          <a:ea typeface="+mn-ea"/>
                        </a:rPr>
                        <a:t>首批采购订单申请</a:t>
                      </a:r>
                      <a:endParaRPr lang="zh-CN" altLang="en-US" sz="1050" dirty="0">
                        <a:latin typeface="+mn-ea"/>
                        <a:ea typeface="+mn-ea"/>
                      </a:endParaRP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zh-CN" altLang="en-US" sz="1050" dirty="0" smtClean="0">
                          <a:latin typeface="+mn-ea"/>
                          <a:ea typeface="+mn-ea"/>
                        </a:rPr>
                        <a:t>市场代表</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zh-CN" altLang="en-US" sz="1050" dirty="0" smtClean="0">
                          <a:latin typeface="+mn-ea"/>
                          <a:ea typeface="+mn-ea"/>
                        </a:rPr>
                        <a:t>市场代表提交首批采购订单</a:t>
                      </a:r>
                      <a:endParaRPr lang="zh-CN" altLang="en-US" sz="1050" dirty="0">
                        <a:latin typeface="+mn-ea"/>
                        <a:ea typeface="+mn-ea"/>
                      </a:endParaRPr>
                    </a:p>
                  </a:txBody>
                  <a:tcPr/>
                </a:tc>
                <a:extLst>
                  <a:ext uri="{0D108BD9-81ED-4DB2-BD59-A6C34878D82A}">
                    <a16:rowId xmlns:a16="http://schemas.microsoft.com/office/drawing/2014/main" val="1446853953"/>
                  </a:ext>
                </a:extLst>
              </a:tr>
              <a:tr h="237836">
                <a:tc>
                  <a:txBody>
                    <a:bodyPr/>
                    <a:lstStyle/>
                    <a:p>
                      <a:r>
                        <a:rPr lang="en-US" altLang="zh-CN" sz="1050" dirty="0" smtClean="0">
                          <a:latin typeface="+mn-ea"/>
                          <a:ea typeface="+mn-ea"/>
                        </a:rPr>
                        <a:t>5</a:t>
                      </a:r>
                      <a:endParaRPr lang="zh-CN" altLang="en-US" sz="1050" dirty="0">
                        <a:latin typeface="+mn-ea"/>
                        <a:ea typeface="+mn-ea"/>
                      </a:endParaRPr>
                    </a:p>
                  </a:txBody>
                  <a:tcPr/>
                </a:tc>
                <a:tc>
                  <a:txBody>
                    <a:bodyPr/>
                    <a:lstStyle/>
                    <a:p>
                      <a:r>
                        <a:rPr lang="zh-CN" altLang="en-US" sz="1050" dirty="0" smtClean="0">
                          <a:latin typeface="+mn-ea"/>
                          <a:ea typeface="+mn-ea"/>
                        </a:rPr>
                        <a:t>编制生产技术要求</a:t>
                      </a:r>
                      <a:endParaRPr lang="zh-CN" altLang="en-US" sz="1050" dirty="0">
                        <a:latin typeface="+mn-ea"/>
                        <a:ea typeface="+mn-ea"/>
                      </a:endParaRPr>
                    </a:p>
                  </a:txBody>
                  <a:tcPr/>
                </a:tc>
                <a:tc>
                  <a:txBody>
                    <a:bodyPr/>
                    <a:lstStyle/>
                    <a:p>
                      <a:r>
                        <a:rPr lang="zh-CN" altLang="en-US" sz="1050" dirty="0" smtClean="0">
                          <a:latin typeface="+mn-ea"/>
                          <a:ea typeface="+mn-ea"/>
                        </a:rPr>
                        <a:t>产品工程师</a:t>
                      </a:r>
                      <a:endParaRPr lang="zh-CN" altLang="en-US" sz="1050" dirty="0">
                        <a:latin typeface="+mn-ea"/>
                        <a:ea typeface="+mn-ea"/>
                      </a:endParaRPr>
                    </a:p>
                  </a:txBody>
                  <a:tcPr/>
                </a:tc>
                <a:tc>
                  <a:txBody>
                    <a:bodyPr/>
                    <a:lstStyle/>
                    <a:p>
                      <a:r>
                        <a:rPr lang="zh-CN" altLang="en-US" sz="1050" dirty="0" smtClean="0">
                          <a:latin typeface="+mn-ea"/>
                          <a:ea typeface="+mn-ea"/>
                        </a:rPr>
                        <a:t>根据产品组装和安装顺序，形成</a:t>
                      </a:r>
                      <a:r>
                        <a:rPr lang="en-US" altLang="zh-CN" sz="1050" dirty="0" smtClean="0">
                          <a:latin typeface="+mn-ea"/>
                          <a:ea typeface="+mn-ea"/>
                        </a:rPr>
                        <a:t>《</a:t>
                      </a:r>
                      <a:r>
                        <a:rPr lang="zh-CN" altLang="en-US" sz="1050" dirty="0" smtClean="0">
                          <a:latin typeface="+mn-ea"/>
                          <a:ea typeface="+mn-ea"/>
                        </a:rPr>
                        <a:t>产品生产技术要求</a:t>
                      </a:r>
                      <a:r>
                        <a:rPr lang="en-US" altLang="zh-CN" sz="1050" dirty="0" smtClean="0">
                          <a:latin typeface="+mn-ea"/>
                          <a:ea typeface="+mn-ea"/>
                        </a:rPr>
                        <a:t>》</a:t>
                      </a:r>
                      <a:r>
                        <a:rPr lang="zh-CN" altLang="en-US" sz="1050" dirty="0" smtClean="0">
                          <a:latin typeface="+mn-ea"/>
                          <a:ea typeface="+mn-ea"/>
                        </a:rPr>
                        <a:t>用于指导产品上线</a:t>
                      </a:r>
                      <a:endParaRPr lang="zh-CN" altLang="en-US" sz="1050" dirty="0">
                        <a:latin typeface="+mn-ea"/>
                        <a:ea typeface="+mn-ea"/>
                      </a:endParaRPr>
                    </a:p>
                  </a:txBody>
                  <a:tcPr/>
                </a:tc>
                <a:extLst>
                  <a:ext uri="{0D108BD9-81ED-4DB2-BD59-A6C34878D82A}">
                    <a16:rowId xmlns:a16="http://schemas.microsoft.com/office/drawing/2014/main" val="3241236086"/>
                  </a:ext>
                </a:extLst>
              </a:tr>
              <a:tr h="237836">
                <a:tc>
                  <a:txBody>
                    <a:bodyPr/>
                    <a:lstStyle/>
                    <a:p>
                      <a:r>
                        <a:rPr lang="en-US" altLang="zh-CN" sz="1050" dirty="0" smtClean="0">
                          <a:latin typeface="+mn-ea"/>
                          <a:ea typeface="+mn-ea"/>
                        </a:rPr>
                        <a:t>6</a:t>
                      </a:r>
                      <a:endParaRPr lang="zh-CN" altLang="en-US" sz="1050" dirty="0">
                        <a:latin typeface="+mn-ea"/>
                        <a:ea typeface="+mn-ea"/>
                      </a:endParaRPr>
                    </a:p>
                  </a:txBody>
                  <a:tcPr/>
                </a:tc>
                <a:tc>
                  <a:txBody>
                    <a:bodyPr/>
                    <a:lstStyle/>
                    <a:p>
                      <a:r>
                        <a:rPr lang="zh-CN" altLang="en-US" sz="1050" dirty="0" smtClean="0">
                          <a:latin typeface="+mn-ea"/>
                          <a:ea typeface="+mn-ea"/>
                        </a:rPr>
                        <a:t>批量测试配置确认</a:t>
                      </a:r>
                      <a:endParaRPr lang="zh-CN" altLang="en-US" sz="1050" dirty="0">
                        <a:latin typeface="+mn-ea"/>
                        <a:ea typeface="+mn-ea"/>
                      </a:endParaRP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zh-CN" altLang="en-US" sz="1050" dirty="0" smtClean="0">
                          <a:latin typeface="+mn-ea"/>
                          <a:ea typeface="+mn-ea"/>
                        </a:rPr>
                        <a:t>产品工程师</a:t>
                      </a:r>
                      <a:r>
                        <a:rPr lang="en-US" altLang="zh-CN" sz="1050" dirty="0" smtClean="0">
                          <a:latin typeface="+mn-ea"/>
                          <a:ea typeface="+mn-ea"/>
                        </a:rPr>
                        <a:t>/TPM</a:t>
                      </a:r>
                      <a:endParaRPr lang="zh-CN" altLang="en-US" sz="1050" dirty="0" smtClean="0">
                        <a:latin typeface="+mn-ea"/>
                        <a:ea typeface="+mn-ea"/>
                      </a:endParaRPr>
                    </a:p>
                  </a:txBody>
                  <a:tcPr/>
                </a:tc>
                <a:tc>
                  <a:txBody>
                    <a:bodyPr/>
                    <a:lstStyle/>
                    <a:p>
                      <a:r>
                        <a:rPr lang="zh-CN" altLang="en-US" sz="1050" dirty="0" smtClean="0">
                          <a:latin typeface="+mn-ea"/>
                          <a:ea typeface="+mn-ea"/>
                        </a:rPr>
                        <a:t>产品工程师与</a:t>
                      </a:r>
                      <a:r>
                        <a:rPr lang="en-US" altLang="zh-CN" sz="1050" dirty="0" smtClean="0">
                          <a:latin typeface="+mn-ea"/>
                          <a:ea typeface="+mn-ea"/>
                        </a:rPr>
                        <a:t>TPM</a:t>
                      </a:r>
                      <a:r>
                        <a:rPr lang="zh-CN" altLang="en-US" sz="1050" dirty="0" smtClean="0">
                          <a:latin typeface="+mn-ea"/>
                          <a:ea typeface="+mn-ea"/>
                        </a:rPr>
                        <a:t>共同确认批量测试配置。</a:t>
                      </a:r>
                      <a:endParaRPr lang="zh-CN" altLang="en-US" sz="1050" dirty="0">
                        <a:latin typeface="+mn-ea"/>
                        <a:ea typeface="+mn-ea"/>
                      </a:endParaRPr>
                    </a:p>
                  </a:txBody>
                  <a:tcPr/>
                </a:tc>
                <a:extLst>
                  <a:ext uri="{0D108BD9-81ED-4DB2-BD59-A6C34878D82A}">
                    <a16:rowId xmlns:a16="http://schemas.microsoft.com/office/drawing/2014/main" val="3104681602"/>
                  </a:ext>
                </a:extLst>
              </a:tr>
              <a:tr h="237836">
                <a:tc>
                  <a:txBody>
                    <a:bodyPr/>
                    <a:lstStyle/>
                    <a:p>
                      <a:r>
                        <a:rPr lang="en-US" altLang="zh-CN" sz="1050" dirty="0" smtClean="0">
                          <a:latin typeface="+mn-ea"/>
                          <a:ea typeface="+mn-ea"/>
                        </a:rPr>
                        <a:t>7</a:t>
                      </a:r>
                      <a:endParaRPr lang="zh-CN" altLang="en-US" sz="1050" dirty="0">
                        <a:latin typeface="+mn-ea"/>
                        <a:ea typeface="+mn-ea"/>
                      </a:endParaRPr>
                    </a:p>
                  </a:txBody>
                  <a:tcPr/>
                </a:tc>
                <a:tc>
                  <a:txBody>
                    <a:bodyPr/>
                    <a:lstStyle/>
                    <a:p>
                      <a:r>
                        <a:rPr lang="zh-CN" altLang="en-US" sz="1050" dirty="0" smtClean="0">
                          <a:latin typeface="+mn-ea"/>
                          <a:ea typeface="+mn-ea"/>
                        </a:rPr>
                        <a:t>下单排产</a:t>
                      </a:r>
                      <a:endParaRPr lang="zh-CN" altLang="en-US" sz="1050" dirty="0">
                        <a:latin typeface="+mn-ea"/>
                        <a:ea typeface="+mn-ea"/>
                      </a:endParaRPr>
                    </a:p>
                  </a:txBody>
                  <a:tcPr/>
                </a:tc>
                <a:tc>
                  <a:txBody>
                    <a:bodyPr/>
                    <a:lstStyle/>
                    <a:p>
                      <a:r>
                        <a:rPr lang="zh-CN" altLang="en-US" sz="1050" dirty="0" smtClean="0">
                          <a:latin typeface="+mn-ea"/>
                          <a:ea typeface="+mn-ea"/>
                        </a:rPr>
                        <a:t>商务部</a:t>
                      </a:r>
                      <a:endParaRPr lang="zh-CN" altLang="en-US" sz="1050" dirty="0">
                        <a:latin typeface="+mn-ea"/>
                        <a:ea typeface="+mn-ea"/>
                      </a:endParaRPr>
                    </a:p>
                  </a:txBody>
                  <a:tcPr/>
                </a:tc>
                <a:tc>
                  <a:txBody>
                    <a:bodyPr/>
                    <a:lstStyle/>
                    <a:p>
                      <a:r>
                        <a:rPr lang="zh-CN" altLang="en-US" sz="1050" dirty="0" smtClean="0">
                          <a:latin typeface="+mn-ea"/>
                          <a:ea typeface="+mn-ea"/>
                        </a:rPr>
                        <a:t>商务部根据生产计划，确定首批试制的机器上线的时间</a:t>
                      </a:r>
                      <a:endParaRPr lang="zh-CN" altLang="en-US" sz="1050" dirty="0">
                        <a:latin typeface="+mn-ea"/>
                        <a:ea typeface="+mn-ea"/>
                      </a:endParaRPr>
                    </a:p>
                  </a:txBody>
                  <a:tcPr/>
                </a:tc>
                <a:extLst>
                  <a:ext uri="{0D108BD9-81ED-4DB2-BD59-A6C34878D82A}">
                    <a16:rowId xmlns:a16="http://schemas.microsoft.com/office/drawing/2014/main" val="2956290243"/>
                  </a:ext>
                </a:extLst>
              </a:tr>
              <a:tr h="237836">
                <a:tc>
                  <a:txBody>
                    <a:bodyPr/>
                    <a:lstStyle/>
                    <a:p>
                      <a:r>
                        <a:rPr lang="en-US" altLang="zh-CN" sz="1050" dirty="0" smtClean="0">
                          <a:latin typeface="+mn-ea"/>
                          <a:ea typeface="+mn-ea"/>
                        </a:rPr>
                        <a:t>8</a:t>
                      </a:r>
                      <a:endParaRPr lang="zh-CN" altLang="en-US" sz="1050" dirty="0">
                        <a:latin typeface="+mn-ea"/>
                        <a:ea typeface="+mn-ea"/>
                      </a:endParaRPr>
                    </a:p>
                  </a:txBody>
                  <a:tcPr/>
                </a:tc>
                <a:tc>
                  <a:txBody>
                    <a:bodyPr/>
                    <a:lstStyle/>
                    <a:p>
                      <a:r>
                        <a:rPr lang="zh-CN" altLang="en-US" sz="1050" dirty="0" smtClean="0">
                          <a:latin typeface="+mn-ea"/>
                          <a:ea typeface="+mn-ea"/>
                        </a:rPr>
                        <a:t>首批物料采购</a:t>
                      </a:r>
                      <a:endParaRPr lang="zh-CN" altLang="en-US" sz="1050" dirty="0">
                        <a:latin typeface="+mn-ea"/>
                        <a:ea typeface="+mn-ea"/>
                      </a:endParaRPr>
                    </a:p>
                  </a:txBody>
                  <a:tcPr/>
                </a:tc>
                <a:tc>
                  <a:txBody>
                    <a:bodyPr/>
                    <a:lstStyle/>
                    <a:p>
                      <a:r>
                        <a:rPr lang="zh-CN" altLang="en-US" sz="1050" dirty="0" smtClean="0">
                          <a:latin typeface="+mn-ea"/>
                          <a:ea typeface="+mn-ea"/>
                        </a:rPr>
                        <a:t>采购部</a:t>
                      </a:r>
                      <a:endParaRPr lang="zh-CN" altLang="en-US" sz="1050" dirty="0">
                        <a:latin typeface="+mn-ea"/>
                        <a:ea typeface="+mn-ea"/>
                      </a:endParaRPr>
                    </a:p>
                  </a:txBody>
                  <a:tcPr/>
                </a:tc>
                <a:tc>
                  <a:txBody>
                    <a:bodyPr/>
                    <a:lstStyle/>
                    <a:p>
                      <a:r>
                        <a:rPr lang="zh-CN" altLang="en-US" sz="1050" dirty="0" smtClean="0">
                          <a:latin typeface="+mn-ea"/>
                          <a:ea typeface="+mn-ea"/>
                        </a:rPr>
                        <a:t>采购部根据首批订单申请表采购首批物料，并反馈物料的交期</a:t>
                      </a:r>
                      <a:endParaRPr lang="zh-CN" altLang="en-US" sz="1050" dirty="0">
                        <a:latin typeface="+mn-ea"/>
                        <a:ea typeface="+mn-ea"/>
                      </a:endParaRPr>
                    </a:p>
                  </a:txBody>
                  <a:tcPr/>
                </a:tc>
                <a:extLst>
                  <a:ext uri="{0D108BD9-81ED-4DB2-BD59-A6C34878D82A}">
                    <a16:rowId xmlns:a16="http://schemas.microsoft.com/office/drawing/2014/main" val="215260808"/>
                  </a:ext>
                </a:extLst>
              </a:tr>
              <a:tr h="237836">
                <a:tc>
                  <a:txBody>
                    <a:bodyPr/>
                    <a:lstStyle/>
                    <a:p>
                      <a:r>
                        <a:rPr lang="en-US" altLang="zh-CN" sz="1050" dirty="0" smtClean="0">
                          <a:latin typeface="+mn-ea"/>
                          <a:ea typeface="+mn-ea"/>
                        </a:rPr>
                        <a:t>9</a:t>
                      </a:r>
                      <a:endParaRPr lang="zh-CN" altLang="en-US" sz="1050" dirty="0">
                        <a:latin typeface="+mn-ea"/>
                        <a:ea typeface="+mn-ea"/>
                      </a:endParaRPr>
                    </a:p>
                  </a:txBody>
                  <a:tcPr/>
                </a:tc>
                <a:tc>
                  <a:txBody>
                    <a:bodyPr/>
                    <a:lstStyle/>
                    <a:p>
                      <a:r>
                        <a:rPr lang="zh-CN" altLang="en-US" sz="1050" dirty="0" smtClean="0">
                          <a:latin typeface="+mn-ea"/>
                          <a:ea typeface="+mn-ea"/>
                        </a:rPr>
                        <a:t>入库物料检验</a:t>
                      </a:r>
                      <a:endParaRPr lang="zh-CN" altLang="en-US" sz="1050" dirty="0">
                        <a:latin typeface="+mn-ea"/>
                        <a:ea typeface="+mn-ea"/>
                      </a:endParaRPr>
                    </a:p>
                  </a:txBody>
                  <a:tcPr/>
                </a:tc>
                <a:tc>
                  <a:txBody>
                    <a:bodyPr/>
                    <a:lstStyle/>
                    <a:p>
                      <a:r>
                        <a:rPr lang="zh-CN" altLang="en-US" sz="1050" dirty="0" smtClean="0">
                          <a:latin typeface="+mn-ea"/>
                          <a:ea typeface="+mn-ea"/>
                        </a:rPr>
                        <a:t>品质管理部</a:t>
                      </a:r>
                      <a:endParaRPr lang="zh-CN" altLang="en-US" sz="1050" dirty="0">
                        <a:latin typeface="+mn-ea"/>
                        <a:ea typeface="+mn-ea"/>
                      </a:endParaRPr>
                    </a:p>
                  </a:txBody>
                  <a:tcPr/>
                </a:tc>
                <a:tc>
                  <a:txBody>
                    <a:bodyPr/>
                    <a:lstStyle/>
                    <a:p>
                      <a:r>
                        <a:rPr lang="zh-CN" altLang="en-US" sz="1050" dirty="0" smtClean="0">
                          <a:latin typeface="+mn-ea"/>
                          <a:ea typeface="+mn-ea"/>
                        </a:rPr>
                        <a:t>对试制物料进行入库检验</a:t>
                      </a:r>
                      <a:endParaRPr lang="zh-CN" altLang="en-US" sz="1050" dirty="0">
                        <a:latin typeface="+mn-ea"/>
                        <a:ea typeface="+mn-ea"/>
                      </a:endParaRPr>
                    </a:p>
                  </a:txBody>
                  <a:tcPr/>
                </a:tc>
                <a:extLst>
                  <a:ext uri="{0D108BD9-81ED-4DB2-BD59-A6C34878D82A}">
                    <a16:rowId xmlns:a16="http://schemas.microsoft.com/office/drawing/2014/main" val="1602968991"/>
                  </a:ext>
                </a:extLst>
              </a:tr>
              <a:tr h="237836">
                <a:tc>
                  <a:txBody>
                    <a:bodyPr/>
                    <a:lstStyle/>
                    <a:p>
                      <a:r>
                        <a:rPr lang="en-US" altLang="zh-CN" sz="1050" dirty="0" smtClean="0">
                          <a:latin typeface="+mn-ea"/>
                          <a:ea typeface="+mn-ea"/>
                        </a:rPr>
                        <a:t>10</a:t>
                      </a:r>
                      <a:endParaRPr lang="zh-CN" altLang="en-US" sz="1050" dirty="0">
                        <a:latin typeface="+mn-ea"/>
                        <a:ea typeface="+mn-ea"/>
                      </a:endParaRPr>
                    </a:p>
                  </a:txBody>
                  <a:tcPr/>
                </a:tc>
                <a:tc>
                  <a:txBody>
                    <a:bodyPr/>
                    <a:lstStyle/>
                    <a:p>
                      <a:r>
                        <a:rPr lang="zh-CN" altLang="en-US" sz="1050" dirty="0" smtClean="0">
                          <a:latin typeface="+mn-ea"/>
                          <a:ea typeface="+mn-ea"/>
                        </a:rPr>
                        <a:t>首批物料齐备跟踪</a:t>
                      </a:r>
                      <a:endParaRPr lang="zh-CN" altLang="en-US" sz="1050" dirty="0">
                        <a:latin typeface="+mn-ea"/>
                        <a:ea typeface="+mn-ea"/>
                      </a:endParaRP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zh-CN" altLang="en-US" sz="1050" dirty="0" smtClean="0">
                          <a:latin typeface="+mn-ea"/>
                          <a:ea typeface="+mn-ea"/>
                        </a:rPr>
                        <a:t>产品工程师</a:t>
                      </a:r>
                    </a:p>
                  </a:txBody>
                  <a:tcPr/>
                </a:tc>
                <a:tc>
                  <a:txBody>
                    <a:bodyPr/>
                    <a:lstStyle/>
                    <a:p>
                      <a:r>
                        <a:rPr lang="zh-CN" altLang="en-US" sz="1050" dirty="0" smtClean="0">
                          <a:latin typeface="+mn-ea"/>
                          <a:ea typeface="+mn-ea"/>
                        </a:rPr>
                        <a:t>根据首批订单中的物料申请明细跟踪物料到位情况</a:t>
                      </a:r>
                      <a:endParaRPr lang="zh-CN" altLang="en-US" sz="1050" dirty="0">
                        <a:latin typeface="+mn-ea"/>
                        <a:ea typeface="+mn-ea"/>
                      </a:endParaRPr>
                    </a:p>
                  </a:txBody>
                  <a:tcPr/>
                </a:tc>
                <a:extLst>
                  <a:ext uri="{0D108BD9-81ED-4DB2-BD59-A6C34878D82A}">
                    <a16:rowId xmlns:a16="http://schemas.microsoft.com/office/drawing/2014/main" val="3356232832"/>
                  </a:ext>
                </a:extLst>
              </a:tr>
              <a:tr h="389186">
                <a:tc>
                  <a:txBody>
                    <a:bodyPr/>
                    <a:lstStyle/>
                    <a:p>
                      <a:r>
                        <a:rPr lang="en-US" altLang="zh-CN" sz="1050" kern="1200" dirty="0" smtClean="0">
                          <a:solidFill>
                            <a:schemeClr val="dk1"/>
                          </a:solidFill>
                          <a:latin typeface="+mn-ea"/>
                          <a:ea typeface="+mn-ea"/>
                          <a:cs typeface="+mn-cs"/>
                        </a:rPr>
                        <a:t>11</a:t>
                      </a:r>
                      <a:endParaRPr lang="zh-CN" altLang="en-US" sz="1050" kern="1200" dirty="0">
                        <a:solidFill>
                          <a:schemeClr val="dk1"/>
                        </a:solidFill>
                        <a:latin typeface="+mn-ea"/>
                        <a:ea typeface="+mn-ea"/>
                        <a:cs typeface="+mn-cs"/>
                      </a:endParaRPr>
                    </a:p>
                  </a:txBody>
                  <a:tcPr/>
                </a:tc>
                <a:tc>
                  <a:txBody>
                    <a:bodyPr/>
                    <a:lstStyle/>
                    <a:p>
                      <a:r>
                        <a:rPr lang="zh-CN" altLang="en-US" sz="1050" dirty="0" smtClean="0">
                          <a:latin typeface="+mn-ea"/>
                          <a:ea typeface="+mn-ea"/>
                        </a:rPr>
                        <a:t>工艺评审</a:t>
                      </a:r>
                      <a:endParaRPr lang="zh-CN" altLang="en-US" sz="1050" dirty="0">
                        <a:latin typeface="+mn-ea"/>
                        <a:ea typeface="+mn-ea"/>
                      </a:endParaRP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zh-CN" altLang="en-US" sz="1050" dirty="0" smtClean="0">
                          <a:latin typeface="+mn-ea"/>
                          <a:ea typeface="+mn-ea"/>
                        </a:rPr>
                        <a:t>产品工程师</a:t>
                      </a:r>
                    </a:p>
                  </a:txBody>
                  <a:tcPr/>
                </a:tc>
                <a:tc>
                  <a:txBody>
                    <a:bodyPr/>
                    <a:lstStyle/>
                    <a:p>
                      <a:r>
                        <a:rPr lang="zh-CN" altLang="en-US" sz="1050" dirty="0" smtClean="0">
                          <a:latin typeface="+mn-ea"/>
                          <a:ea typeface="+mn-ea"/>
                        </a:rPr>
                        <a:t>产品经理基于</a:t>
                      </a:r>
                      <a:r>
                        <a:rPr lang="en-US" altLang="zh-CN" sz="1050" dirty="0" smtClean="0">
                          <a:latin typeface="+mn-ea"/>
                          <a:ea typeface="+mn-ea"/>
                        </a:rPr>
                        <a:t>《</a:t>
                      </a:r>
                      <a:r>
                        <a:rPr lang="zh-CN" altLang="en-US" sz="1050" dirty="0" smtClean="0">
                          <a:latin typeface="+mn-ea"/>
                          <a:ea typeface="+mn-ea"/>
                        </a:rPr>
                        <a:t>产品生产技术要求</a:t>
                      </a:r>
                      <a:r>
                        <a:rPr lang="en-US" altLang="zh-CN" sz="1050" dirty="0" smtClean="0">
                          <a:latin typeface="+mn-ea"/>
                          <a:ea typeface="+mn-ea"/>
                        </a:rPr>
                        <a:t>》,</a:t>
                      </a:r>
                      <a:r>
                        <a:rPr lang="zh-CN" altLang="en-US" sz="1050" dirty="0" smtClean="0">
                          <a:latin typeface="+mn-ea"/>
                          <a:ea typeface="+mn-ea"/>
                        </a:rPr>
                        <a:t>以及真实样机对制造部和品管同事介绍新品（包括装配、拆卸、基础安装及基础验证等），便于制造部转化成生产作业指导书</a:t>
                      </a:r>
                      <a:endParaRPr lang="zh-CN" altLang="en-US" sz="1050" dirty="0">
                        <a:latin typeface="+mn-ea"/>
                        <a:ea typeface="+mn-ea"/>
                      </a:endParaRPr>
                    </a:p>
                  </a:txBody>
                  <a:tcPr/>
                </a:tc>
                <a:extLst>
                  <a:ext uri="{0D108BD9-81ED-4DB2-BD59-A6C34878D82A}">
                    <a16:rowId xmlns:a16="http://schemas.microsoft.com/office/drawing/2014/main" val="4005644857"/>
                  </a:ext>
                </a:extLst>
              </a:tr>
              <a:tr h="389186">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altLang="zh-CN" sz="1050" kern="1200" dirty="0" smtClean="0">
                          <a:solidFill>
                            <a:schemeClr val="dk1"/>
                          </a:solidFill>
                          <a:latin typeface="+mn-ea"/>
                          <a:ea typeface="+mn-ea"/>
                          <a:cs typeface="+mn-cs"/>
                        </a:rPr>
                        <a:t>12</a:t>
                      </a:r>
                      <a:endParaRPr lang="zh-CN" altLang="en-US" sz="1050" kern="1200" dirty="0" smtClean="0">
                        <a:solidFill>
                          <a:schemeClr val="dk1"/>
                        </a:solidFill>
                        <a:latin typeface="+mn-ea"/>
                        <a:ea typeface="+mn-ea"/>
                        <a:cs typeface="+mn-cs"/>
                      </a:endParaRPr>
                    </a:p>
                    <a:p>
                      <a:endParaRPr lang="zh-CN" altLang="en-US" sz="1050" kern="1200" dirty="0">
                        <a:solidFill>
                          <a:schemeClr val="dk1"/>
                        </a:solidFill>
                        <a:latin typeface="+mn-ea"/>
                        <a:ea typeface="+mn-ea"/>
                        <a:cs typeface="+mn-cs"/>
                      </a:endParaRPr>
                    </a:p>
                  </a:txBody>
                  <a:tcPr/>
                </a:tc>
                <a:tc>
                  <a:txBody>
                    <a:bodyPr/>
                    <a:lstStyle/>
                    <a:p>
                      <a:r>
                        <a:rPr lang="zh-CN" altLang="en-US" sz="1050" dirty="0" smtClean="0">
                          <a:latin typeface="+mn-ea"/>
                          <a:ea typeface="+mn-ea"/>
                        </a:rPr>
                        <a:t>试制准备状态检查</a:t>
                      </a:r>
                      <a:endParaRPr lang="zh-CN" altLang="en-US" sz="1050" dirty="0">
                        <a:latin typeface="+mn-ea"/>
                        <a:ea typeface="+mn-ea"/>
                      </a:endParaRPr>
                    </a:p>
                  </a:txBody>
                  <a:tcPr/>
                </a:tc>
                <a:tc>
                  <a:txBody>
                    <a:bodyPr/>
                    <a:lstStyle/>
                    <a:p>
                      <a:r>
                        <a:rPr lang="zh-CN" altLang="en-US" sz="1050" dirty="0" smtClean="0">
                          <a:latin typeface="+mn-ea"/>
                          <a:ea typeface="+mn-ea"/>
                        </a:rPr>
                        <a:t>品质管理部</a:t>
                      </a:r>
                      <a:endParaRPr lang="zh-CN" altLang="en-US" sz="1050" dirty="0">
                        <a:latin typeface="+mn-ea"/>
                        <a:ea typeface="+mn-ea"/>
                      </a:endParaRPr>
                    </a:p>
                  </a:txBody>
                  <a:tcPr/>
                </a:tc>
                <a:tc>
                  <a:txBody>
                    <a:bodyPr/>
                    <a:lstStyle/>
                    <a:p>
                      <a:r>
                        <a:rPr lang="zh-CN" altLang="en-US" sz="1050" dirty="0" smtClean="0">
                          <a:latin typeface="+mn-ea"/>
                          <a:ea typeface="+mn-ea"/>
                        </a:rPr>
                        <a:t>基于</a:t>
                      </a:r>
                      <a:r>
                        <a:rPr lang="en-US" altLang="zh-CN" sz="1050" dirty="0" smtClean="0">
                          <a:latin typeface="+mn-ea"/>
                          <a:ea typeface="+mn-ea"/>
                        </a:rPr>
                        <a:t>《</a:t>
                      </a:r>
                      <a:r>
                        <a:rPr lang="zh-CN" altLang="en-US" sz="1050" dirty="0" smtClean="0">
                          <a:latin typeface="+mn-ea"/>
                          <a:ea typeface="+mn-ea"/>
                        </a:rPr>
                        <a:t>新产品试制准备状态检查表</a:t>
                      </a:r>
                      <a:r>
                        <a:rPr lang="en-US" altLang="zh-CN" sz="1050" dirty="0" smtClean="0">
                          <a:latin typeface="+mn-ea"/>
                          <a:ea typeface="+mn-ea"/>
                        </a:rPr>
                        <a:t>》</a:t>
                      </a:r>
                      <a:r>
                        <a:rPr lang="zh-CN" altLang="en-US" sz="1050" dirty="0" smtClean="0">
                          <a:latin typeface="+mn-ea"/>
                          <a:ea typeface="+mn-ea"/>
                        </a:rPr>
                        <a:t>完成试制准备状态检查</a:t>
                      </a:r>
                      <a:endParaRPr lang="zh-CN" altLang="en-US" sz="1050" dirty="0">
                        <a:latin typeface="+mn-ea"/>
                        <a:ea typeface="+mn-ea"/>
                      </a:endParaRPr>
                    </a:p>
                  </a:txBody>
                  <a:tcPr/>
                </a:tc>
                <a:extLst>
                  <a:ext uri="{0D108BD9-81ED-4DB2-BD59-A6C34878D82A}">
                    <a16:rowId xmlns:a16="http://schemas.microsoft.com/office/drawing/2014/main" val="1307103954"/>
                  </a:ext>
                </a:extLst>
              </a:tr>
            </a:tbl>
          </a:graphicData>
        </a:graphic>
      </p:graphicFrame>
      <p:sp>
        <p:nvSpPr>
          <p:cNvPr id="20" name="Freeform: Shape 157"/>
          <p:cNvSpPr>
            <a:spLocks/>
          </p:cNvSpPr>
          <p:nvPr/>
        </p:nvSpPr>
        <p:spPr bwMode="auto">
          <a:xfrm>
            <a:off x="1113035" y="2282756"/>
            <a:ext cx="218697" cy="322039"/>
          </a:xfrm>
          <a:custGeom>
            <a:avLst/>
            <a:gdLst/>
            <a:ahLst/>
            <a:cxnLst>
              <a:cxn ang="0">
                <a:pos x="37" y="29"/>
              </a:cxn>
              <a:cxn ang="0">
                <a:pos x="31" y="41"/>
              </a:cxn>
              <a:cxn ang="0">
                <a:pos x="33" y="44"/>
              </a:cxn>
              <a:cxn ang="0">
                <a:pos x="32" y="47"/>
              </a:cxn>
              <a:cxn ang="0">
                <a:pos x="33" y="49"/>
              </a:cxn>
              <a:cxn ang="0">
                <a:pos x="31" y="53"/>
              </a:cxn>
              <a:cxn ang="0">
                <a:pos x="31" y="54"/>
              </a:cxn>
              <a:cxn ang="0">
                <a:pos x="27" y="58"/>
              </a:cxn>
              <a:cxn ang="0">
                <a:pos x="21" y="62"/>
              </a:cxn>
              <a:cxn ang="0">
                <a:pos x="15" y="58"/>
              </a:cxn>
              <a:cxn ang="0">
                <a:pos x="11" y="54"/>
              </a:cxn>
              <a:cxn ang="0">
                <a:pos x="11" y="53"/>
              </a:cxn>
              <a:cxn ang="0">
                <a:pos x="9" y="49"/>
              </a:cxn>
              <a:cxn ang="0">
                <a:pos x="10" y="47"/>
              </a:cxn>
              <a:cxn ang="0">
                <a:pos x="9" y="44"/>
              </a:cxn>
              <a:cxn ang="0">
                <a:pos x="11" y="41"/>
              </a:cxn>
              <a:cxn ang="0">
                <a:pos x="5" y="29"/>
              </a:cxn>
              <a:cxn ang="0">
                <a:pos x="0" y="18"/>
              </a:cxn>
              <a:cxn ang="0">
                <a:pos x="21" y="0"/>
              </a:cxn>
              <a:cxn ang="0">
                <a:pos x="42" y="18"/>
              </a:cxn>
              <a:cxn ang="0">
                <a:pos x="37" y="29"/>
              </a:cxn>
              <a:cxn ang="0">
                <a:pos x="21" y="6"/>
              </a:cxn>
              <a:cxn ang="0">
                <a:pos x="6" y="18"/>
              </a:cxn>
              <a:cxn ang="0">
                <a:pos x="8" y="26"/>
              </a:cxn>
              <a:cxn ang="0">
                <a:pos x="11" y="28"/>
              </a:cxn>
              <a:cxn ang="0">
                <a:pos x="16" y="40"/>
              </a:cxn>
              <a:cxn ang="0">
                <a:pos x="26" y="40"/>
              </a:cxn>
              <a:cxn ang="0">
                <a:pos x="31" y="28"/>
              </a:cxn>
              <a:cxn ang="0">
                <a:pos x="34" y="26"/>
              </a:cxn>
              <a:cxn ang="0">
                <a:pos x="36" y="18"/>
              </a:cxn>
              <a:cxn ang="0">
                <a:pos x="21" y="6"/>
              </a:cxn>
              <a:cxn ang="0">
                <a:pos x="29" y="20"/>
              </a:cxn>
              <a:cxn ang="0">
                <a:pos x="27" y="18"/>
              </a:cxn>
              <a:cxn ang="0">
                <a:pos x="21" y="15"/>
              </a:cxn>
              <a:cxn ang="0">
                <a:pos x="20" y="13"/>
              </a:cxn>
              <a:cxn ang="0">
                <a:pos x="21" y="12"/>
              </a:cxn>
              <a:cxn ang="0">
                <a:pos x="30" y="18"/>
              </a:cxn>
              <a:cxn ang="0">
                <a:pos x="29" y="20"/>
              </a:cxn>
            </a:cxnLst>
            <a:rect l="0" t="0" r="r" b="b"/>
            <a:pathLst>
              <a:path w="42" h="62">
                <a:moveTo>
                  <a:pt x="37" y="29"/>
                </a:moveTo>
                <a:cubicBezTo>
                  <a:pt x="35" y="32"/>
                  <a:pt x="31" y="37"/>
                  <a:pt x="31" y="41"/>
                </a:cubicBezTo>
                <a:cubicBezTo>
                  <a:pt x="32" y="42"/>
                  <a:pt x="33" y="43"/>
                  <a:pt x="33" y="44"/>
                </a:cubicBezTo>
                <a:cubicBezTo>
                  <a:pt x="33" y="45"/>
                  <a:pt x="32" y="46"/>
                  <a:pt x="32" y="47"/>
                </a:cubicBezTo>
                <a:cubicBezTo>
                  <a:pt x="32" y="47"/>
                  <a:pt x="33" y="48"/>
                  <a:pt x="33" y="49"/>
                </a:cubicBezTo>
                <a:cubicBezTo>
                  <a:pt x="33" y="51"/>
                  <a:pt x="32" y="52"/>
                  <a:pt x="31" y="53"/>
                </a:cubicBezTo>
                <a:cubicBezTo>
                  <a:pt x="31" y="53"/>
                  <a:pt x="31" y="54"/>
                  <a:pt x="31" y="54"/>
                </a:cubicBezTo>
                <a:cubicBezTo>
                  <a:pt x="31" y="57"/>
                  <a:pt x="29" y="58"/>
                  <a:pt x="27" y="58"/>
                </a:cubicBezTo>
                <a:cubicBezTo>
                  <a:pt x="26" y="61"/>
                  <a:pt x="24" y="62"/>
                  <a:pt x="21" y="62"/>
                </a:cubicBezTo>
                <a:cubicBezTo>
                  <a:pt x="19" y="62"/>
                  <a:pt x="16" y="61"/>
                  <a:pt x="15" y="58"/>
                </a:cubicBezTo>
                <a:cubicBezTo>
                  <a:pt x="13" y="58"/>
                  <a:pt x="11" y="57"/>
                  <a:pt x="11" y="54"/>
                </a:cubicBezTo>
                <a:cubicBezTo>
                  <a:pt x="11" y="54"/>
                  <a:pt x="11" y="53"/>
                  <a:pt x="11" y="53"/>
                </a:cubicBezTo>
                <a:cubicBezTo>
                  <a:pt x="10" y="52"/>
                  <a:pt x="9" y="51"/>
                  <a:pt x="9" y="49"/>
                </a:cubicBezTo>
                <a:cubicBezTo>
                  <a:pt x="9" y="48"/>
                  <a:pt x="10" y="47"/>
                  <a:pt x="10" y="47"/>
                </a:cubicBezTo>
                <a:cubicBezTo>
                  <a:pt x="10" y="46"/>
                  <a:pt x="9" y="45"/>
                  <a:pt x="9" y="44"/>
                </a:cubicBezTo>
                <a:cubicBezTo>
                  <a:pt x="9" y="43"/>
                  <a:pt x="10" y="42"/>
                  <a:pt x="11" y="41"/>
                </a:cubicBezTo>
                <a:cubicBezTo>
                  <a:pt x="11" y="37"/>
                  <a:pt x="7" y="32"/>
                  <a:pt x="5" y="29"/>
                </a:cubicBezTo>
                <a:cubicBezTo>
                  <a:pt x="2" y="26"/>
                  <a:pt x="0" y="23"/>
                  <a:pt x="0" y="18"/>
                </a:cubicBezTo>
                <a:cubicBezTo>
                  <a:pt x="0" y="8"/>
                  <a:pt x="11" y="0"/>
                  <a:pt x="21" y="0"/>
                </a:cubicBezTo>
                <a:cubicBezTo>
                  <a:pt x="31" y="0"/>
                  <a:pt x="42" y="8"/>
                  <a:pt x="42" y="18"/>
                </a:cubicBezTo>
                <a:cubicBezTo>
                  <a:pt x="42" y="23"/>
                  <a:pt x="40" y="26"/>
                  <a:pt x="37" y="29"/>
                </a:cubicBezTo>
                <a:close/>
                <a:moveTo>
                  <a:pt x="21" y="6"/>
                </a:moveTo>
                <a:cubicBezTo>
                  <a:pt x="14" y="6"/>
                  <a:pt x="6" y="10"/>
                  <a:pt x="6" y="18"/>
                </a:cubicBezTo>
                <a:cubicBezTo>
                  <a:pt x="6" y="21"/>
                  <a:pt x="7" y="24"/>
                  <a:pt x="8" y="26"/>
                </a:cubicBezTo>
                <a:cubicBezTo>
                  <a:pt x="9" y="27"/>
                  <a:pt x="10" y="27"/>
                  <a:pt x="11" y="28"/>
                </a:cubicBezTo>
                <a:cubicBezTo>
                  <a:pt x="14" y="32"/>
                  <a:pt x="16" y="36"/>
                  <a:pt x="16" y="40"/>
                </a:cubicBezTo>
                <a:cubicBezTo>
                  <a:pt x="26" y="40"/>
                  <a:pt x="26" y="40"/>
                  <a:pt x="26" y="40"/>
                </a:cubicBezTo>
                <a:cubicBezTo>
                  <a:pt x="26" y="36"/>
                  <a:pt x="28" y="32"/>
                  <a:pt x="31" y="28"/>
                </a:cubicBezTo>
                <a:cubicBezTo>
                  <a:pt x="32" y="27"/>
                  <a:pt x="33" y="27"/>
                  <a:pt x="34" y="26"/>
                </a:cubicBezTo>
                <a:cubicBezTo>
                  <a:pt x="35" y="24"/>
                  <a:pt x="36" y="21"/>
                  <a:pt x="36" y="18"/>
                </a:cubicBezTo>
                <a:cubicBezTo>
                  <a:pt x="36" y="10"/>
                  <a:pt x="28" y="6"/>
                  <a:pt x="21" y="6"/>
                </a:cubicBezTo>
                <a:close/>
                <a:moveTo>
                  <a:pt x="29" y="20"/>
                </a:moveTo>
                <a:cubicBezTo>
                  <a:pt x="28" y="20"/>
                  <a:pt x="27" y="19"/>
                  <a:pt x="27" y="18"/>
                </a:cubicBezTo>
                <a:cubicBezTo>
                  <a:pt x="27" y="16"/>
                  <a:pt x="23" y="15"/>
                  <a:pt x="21" y="15"/>
                </a:cubicBezTo>
                <a:cubicBezTo>
                  <a:pt x="20" y="15"/>
                  <a:pt x="20" y="14"/>
                  <a:pt x="20" y="13"/>
                </a:cubicBezTo>
                <a:cubicBezTo>
                  <a:pt x="20" y="13"/>
                  <a:pt x="20" y="12"/>
                  <a:pt x="21" y="12"/>
                </a:cubicBezTo>
                <a:cubicBezTo>
                  <a:pt x="25" y="12"/>
                  <a:pt x="30" y="14"/>
                  <a:pt x="30" y="18"/>
                </a:cubicBezTo>
                <a:cubicBezTo>
                  <a:pt x="30" y="19"/>
                  <a:pt x="29" y="20"/>
                  <a:pt x="29" y="20"/>
                </a:cubicBezTo>
                <a:close/>
              </a:path>
            </a:pathLst>
          </a:custGeom>
          <a:solidFill>
            <a:srgbClr val="C00000"/>
          </a:solidFill>
          <a:ln w="9525">
            <a:solidFill>
              <a:srgbClr val="C00000"/>
            </a:solidFill>
            <a:round/>
            <a:headEnd/>
            <a:tailEnd/>
          </a:ln>
        </p:spPr>
        <p:txBody>
          <a:bodyPr anchor="ctr"/>
          <a:lstStyle/>
          <a:p>
            <a:pPr algn="ctr"/>
            <a:endParaRPr/>
          </a:p>
        </p:txBody>
      </p:sp>
      <p:grpSp>
        <p:nvGrpSpPr>
          <p:cNvPr id="21" name="Group 29"/>
          <p:cNvGrpSpPr/>
          <p:nvPr/>
        </p:nvGrpSpPr>
        <p:grpSpPr>
          <a:xfrm>
            <a:off x="3405070" y="5705217"/>
            <a:ext cx="8022030" cy="722185"/>
            <a:chOff x="648100" y="3562350"/>
            <a:chExt cx="3771500" cy="914400"/>
          </a:xfrm>
        </p:grpSpPr>
        <p:sp>
          <p:nvSpPr>
            <p:cNvPr id="22" name="Rectangle 28"/>
            <p:cNvSpPr/>
            <p:nvPr/>
          </p:nvSpPr>
          <p:spPr>
            <a:xfrm>
              <a:off x="800500" y="3562350"/>
              <a:ext cx="3619100" cy="914400"/>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800">
                <a:latin typeface="+mn-ea"/>
                <a:cs typeface="+mn-ea"/>
                <a:sym typeface="Arial" panose="020B0604020202020204" pitchFamily="34" charset="0"/>
              </a:endParaRPr>
            </a:p>
          </p:txBody>
        </p:sp>
        <p:sp>
          <p:nvSpPr>
            <p:cNvPr id="23" name="Rectangle 29"/>
            <p:cNvSpPr/>
            <p:nvPr/>
          </p:nvSpPr>
          <p:spPr>
            <a:xfrm>
              <a:off x="648100" y="3562350"/>
              <a:ext cx="152400" cy="91440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800">
                <a:latin typeface="+mn-ea"/>
                <a:cs typeface="+mn-ea"/>
                <a:sym typeface="Arial" panose="020B0604020202020204" pitchFamily="34" charset="0"/>
              </a:endParaRPr>
            </a:p>
          </p:txBody>
        </p:sp>
      </p:grpSp>
      <p:sp>
        <p:nvSpPr>
          <p:cNvPr id="24" name="文本框 23"/>
          <p:cNvSpPr txBox="1"/>
          <p:nvPr/>
        </p:nvSpPr>
        <p:spPr>
          <a:xfrm>
            <a:off x="3729227" y="5806028"/>
            <a:ext cx="7610279" cy="609398"/>
          </a:xfrm>
          <a:prstGeom prst="rect">
            <a:avLst/>
          </a:prstGeom>
          <a:noFill/>
        </p:spPr>
        <p:txBody>
          <a:bodyPr wrap="square" rtlCol="0">
            <a:spAutoFit/>
          </a:bodyPr>
          <a:lstStyle/>
          <a:p>
            <a:pPr>
              <a:lnSpc>
                <a:spcPct val="120000"/>
              </a:lnSpc>
            </a:pPr>
            <a:r>
              <a:rPr lang="zh-CN" altLang="en-US" sz="1600" b="1" dirty="0" smtClean="0">
                <a:solidFill>
                  <a:srgbClr val="0070C0"/>
                </a:solidFill>
                <a:latin typeface="+mn-ea"/>
              </a:rPr>
              <a:t>提示：</a:t>
            </a:r>
            <a:r>
              <a:rPr lang="en-US" altLang="zh-CN" sz="1200" dirty="0" smtClean="0">
                <a:latin typeface="+mn-ea"/>
              </a:rPr>
              <a:t>DVT</a:t>
            </a:r>
            <a:r>
              <a:rPr lang="zh-CN" altLang="en-US" sz="1200" dirty="0" smtClean="0">
                <a:latin typeface="+mn-ea"/>
              </a:rPr>
              <a:t>阶段可根据技术状态 提前开展试制准备工作，项目经理可根据以上工作内容及责任人，监控与了解项目试制准备状态。</a:t>
            </a:r>
          </a:p>
        </p:txBody>
      </p:sp>
      <p:sp>
        <p:nvSpPr>
          <p:cNvPr id="25" name="椭圆 24"/>
          <p:cNvSpPr/>
          <p:nvPr/>
        </p:nvSpPr>
        <p:spPr>
          <a:xfrm>
            <a:off x="2175585" y="5401729"/>
            <a:ext cx="1229485" cy="1139232"/>
          </a:xfrm>
          <a:prstGeom prst="ellipse">
            <a:avLst/>
          </a:prstGeom>
          <a:blipFill dpi="0" rotWithShape="1">
            <a:blip r:embed="rId3"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zh-CN" altLang="en-US"/>
          </a:p>
        </p:txBody>
      </p:sp>
    </p:spTree>
    <p:extLst>
      <p:ext uri="{BB962C8B-B14F-4D97-AF65-F5344CB8AC3E}">
        <p14:creationId xmlns:p14="http://schemas.microsoft.com/office/powerpoint/2010/main" val="259970874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4"/>
          </p:nvPr>
        </p:nvSpPr>
        <p:spPr>
          <a:xfrm>
            <a:off x="277628" y="992362"/>
            <a:ext cx="10515600" cy="405363"/>
          </a:xfrm>
        </p:spPr>
        <p:txBody>
          <a:bodyPr/>
          <a:lstStyle/>
          <a:p>
            <a:pPr>
              <a:buFont typeface="Wingdings" panose="05000000000000000000" pitchFamily="2" charset="2"/>
              <a:buChar char="n"/>
            </a:pPr>
            <a:r>
              <a:rPr lang="en-US" altLang="zh-CN" sz="1800" b="1" dirty="0" smtClean="0">
                <a:latin typeface="+mn-ea"/>
              </a:rPr>
              <a:t>1.1</a:t>
            </a:r>
            <a:r>
              <a:rPr lang="zh-CN" altLang="en-US" sz="1800" b="1" dirty="0" smtClean="0">
                <a:latin typeface="+mn-ea"/>
              </a:rPr>
              <a:t>工艺评审</a:t>
            </a:r>
            <a:endParaRPr lang="en-US" altLang="zh-CN" sz="1800" b="1" dirty="0">
              <a:latin typeface="+mn-ea"/>
            </a:endParaRPr>
          </a:p>
          <a:p>
            <a:endParaRPr lang="en-US" altLang="zh-CN" dirty="0" smtClean="0"/>
          </a:p>
          <a:p>
            <a:pPr marL="0" indent="0">
              <a:buNone/>
            </a:pPr>
            <a:endParaRPr lang="zh-CN" altLang="en-US" dirty="0"/>
          </a:p>
        </p:txBody>
      </p:sp>
      <p:sp>
        <p:nvSpPr>
          <p:cNvPr id="4" name="标题 2">
            <a:extLst>
              <a:ext uri="{FF2B5EF4-FFF2-40B4-BE49-F238E27FC236}">
                <a16:creationId xmlns:a16="http://schemas.microsoft.com/office/drawing/2014/main" id="{2B587CB1-41A9-48EF-9229-101563C80EFD}"/>
              </a:ext>
            </a:extLst>
          </p:cNvPr>
          <p:cNvSpPr txBox="1">
            <a:spLocks noGrp="1"/>
          </p:cNvSpPr>
          <p:nvPr>
            <p:ph type="body" sz="quarter" idx="13"/>
          </p:nvPr>
        </p:nvSpPr>
        <p:spPr>
          <a:xfrm>
            <a:off x="0" y="154126"/>
            <a:ext cx="5535428" cy="672075"/>
          </a:xfrm>
          <a:prstGeom prst="rect">
            <a:avLst/>
          </a:prstGeom>
        </p:spPr>
        <p:txBody>
          <a:bodyPr/>
          <a:lstStyle>
            <a:defPPr>
              <a:defRPr lang="zh-CN"/>
            </a:defPPr>
            <a:lvl1pPr algn="ctr">
              <a:spcBef>
                <a:spcPct val="0"/>
              </a:spcBef>
              <a:buNone/>
              <a:defRPr sz="2400" b="1">
                <a:solidFill>
                  <a:schemeClr val="tx1">
                    <a:lumMod val="65000"/>
                    <a:lumOff val="35000"/>
                  </a:schemeClr>
                </a:solidFill>
                <a:latin typeface="微软雅黑" pitchFamily="34" charset="-122"/>
                <a:ea typeface="微软雅黑" pitchFamily="34" charset="-122"/>
              </a:defRPr>
            </a:lvl1pPr>
          </a:lstStyle>
          <a:p>
            <a:pPr defTabSz="1219170"/>
            <a:r>
              <a:rPr lang="zh-CN" altLang="en-US" sz="3200" dirty="0" smtClean="0">
                <a:solidFill>
                  <a:prstClr val="black">
                    <a:lumMod val="65000"/>
                    <a:lumOff val="35000"/>
                  </a:prstClr>
                </a:solidFill>
              </a:rPr>
              <a:t>一、</a:t>
            </a:r>
            <a:r>
              <a:rPr lang="en-US" altLang="zh-CN" sz="3200" dirty="0" smtClean="0">
                <a:solidFill>
                  <a:prstClr val="black">
                    <a:lumMod val="65000"/>
                    <a:lumOff val="35000"/>
                  </a:prstClr>
                </a:solidFill>
              </a:rPr>
              <a:t>L10 </a:t>
            </a:r>
            <a:r>
              <a:rPr lang="zh-CN" altLang="en-US" sz="3200" dirty="0" smtClean="0">
                <a:solidFill>
                  <a:prstClr val="black">
                    <a:lumMod val="65000"/>
                    <a:lumOff val="35000"/>
                  </a:prstClr>
                </a:solidFill>
              </a:rPr>
              <a:t>首件试制</a:t>
            </a:r>
            <a:r>
              <a:rPr lang="en-US" altLang="zh-CN" sz="3200" dirty="0" smtClean="0">
                <a:solidFill>
                  <a:prstClr val="black">
                    <a:lumMod val="65000"/>
                    <a:lumOff val="35000"/>
                  </a:prstClr>
                </a:solidFill>
              </a:rPr>
              <a:t>/</a:t>
            </a:r>
            <a:r>
              <a:rPr lang="zh-CN" altLang="en-US" sz="3200" dirty="0" smtClean="0">
                <a:solidFill>
                  <a:prstClr val="black">
                    <a:lumMod val="65000"/>
                    <a:lumOff val="35000"/>
                  </a:prstClr>
                </a:solidFill>
              </a:rPr>
              <a:t>批量试制</a:t>
            </a:r>
            <a:endParaRPr lang="zh-CN" altLang="en-US" sz="3200" dirty="0">
              <a:solidFill>
                <a:prstClr val="black">
                  <a:lumMod val="65000"/>
                  <a:lumOff val="35000"/>
                </a:prstClr>
              </a:solidFill>
            </a:endParaRPr>
          </a:p>
        </p:txBody>
      </p:sp>
      <p:graphicFrame>
        <p:nvGraphicFramePr>
          <p:cNvPr id="5" name="表格 4"/>
          <p:cNvGraphicFramePr>
            <a:graphicFrameLocks noGrp="1"/>
          </p:cNvGraphicFramePr>
          <p:nvPr>
            <p:extLst>
              <p:ext uri="{D42A27DB-BD31-4B8C-83A1-F6EECF244321}">
                <p14:modId xmlns:p14="http://schemas.microsoft.com/office/powerpoint/2010/main" val="647029550"/>
              </p:ext>
            </p:extLst>
          </p:nvPr>
        </p:nvGraphicFramePr>
        <p:xfrm>
          <a:off x="1344513" y="1412735"/>
          <a:ext cx="10320266" cy="889000"/>
        </p:xfrm>
        <a:graphic>
          <a:graphicData uri="http://schemas.openxmlformats.org/drawingml/2006/table">
            <a:tbl>
              <a:tblPr firstRow="1" bandRow="1">
                <a:tableStyleId>{21E4AEA4-8DFA-4A89-87EB-49C32662AFE0}</a:tableStyleId>
              </a:tblPr>
              <a:tblGrid>
                <a:gridCol w="1118240">
                  <a:extLst>
                    <a:ext uri="{9D8B030D-6E8A-4147-A177-3AD203B41FA5}">
                      <a16:colId xmlns:a16="http://schemas.microsoft.com/office/drawing/2014/main" val="773509366"/>
                    </a:ext>
                  </a:extLst>
                </a:gridCol>
                <a:gridCol w="2553925">
                  <a:extLst>
                    <a:ext uri="{9D8B030D-6E8A-4147-A177-3AD203B41FA5}">
                      <a16:colId xmlns:a16="http://schemas.microsoft.com/office/drawing/2014/main" val="1193865247"/>
                    </a:ext>
                  </a:extLst>
                </a:gridCol>
                <a:gridCol w="1229458">
                  <a:extLst>
                    <a:ext uri="{9D8B030D-6E8A-4147-A177-3AD203B41FA5}">
                      <a16:colId xmlns:a16="http://schemas.microsoft.com/office/drawing/2014/main" val="869367937"/>
                    </a:ext>
                  </a:extLst>
                </a:gridCol>
                <a:gridCol w="3680922">
                  <a:extLst>
                    <a:ext uri="{9D8B030D-6E8A-4147-A177-3AD203B41FA5}">
                      <a16:colId xmlns:a16="http://schemas.microsoft.com/office/drawing/2014/main" val="99857605"/>
                    </a:ext>
                  </a:extLst>
                </a:gridCol>
                <a:gridCol w="1737721">
                  <a:extLst>
                    <a:ext uri="{9D8B030D-6E8A-4147-A177-3AD203B41FA5}">
                      <a16:colId xmlns:a16="http://schemas.microsoft.com/office/drawing/2014/main" val="1047766596"/>
                    </a:ext>
                  </a:extLst>
                </a:gridCol>
              </a:tblGrid>
              <a:tr h="370840">
                <a:tc>
                  <a:txBody>
                    <a:bodyPr/>
                    <a:lstStyle/>
                    <a:p>
                      <a:r>
                        <a:rPr lang="zh-CN" altLang="en-US" sz="1400" dirty="0" smtClean="0">
                          <a:latin typeface="+mn-ea"/>
                          <a:ea typeface="+mn-ea"/>
                        </a:rPr>
                        <a:t>任务名称</a:t>
                      </a:r>
                      <a:endParaRPr lang="zh-CN" altLang="en-US" sz="1400" dirty="0">
                        <a:latin typeface="+mn-ea"/>
                        <a:ea typeface="+mn-ea"/>
                      </a:endParaRPr>
                    </a:p>
                  </a:txBody>
                  <a:tcPr/>
                </a:tc>
                <a:tc>
                  <a:txBody>
                    <a:bodyPr/>
                    <a:lstStyle/>
                    <a:p>
                      <a:r>
                        <a:rPr lang="zh-CN" altLang="en-US" sz="1400" dirty="0" smtClean="0">
                          <a:latin typeface="+mn-ea"/>
                          <a:ea typeface="+mn-ea"/>
                        </a:rPr>
                        <a:t>启动条件</a:t>
                      </a:r>
                      <a:endParaRPr lang="zh-CN" altLang="en-US" sz="1400" dirty="0">
                        <a:latin typeface="+mn-ea"/>
                        <a:ea typeface="+mn-ea"/>
                      </a:endParaRPr>
                    </a:p>
                  </a:txBody>
                  <a:tcPr/>
                </a:tc>
                <a:tc>
                  <a:txBody>
                    <a:bodyPr/>
                    <a:lstStyle/>
                    <a:p>
                      <a:r>
                        <a:rPr lang="zh-CN" altLang="en-US" sz="1400" dirty="0" smtClean="0">
                          <a:latin typeface="+mn-ea"/>
                          <a:ea typeface="+mn-ea"/>
                        </a:rPr>
                        <a:t>责任人</a:t>
                      </a:r>
                      <a:endParaRPr lang="zh-CN" altLang="en-US" sz="1400" dirty="0">
                        <a:latin typeface="+mn-ea"/>
                        <a:ea typeface="+mn-ea"/>
                      </a:endParaRPr>
                    </a:p>
                  </a:txBody>
                  <a:tcPr/>
                </a:tc>
                <a:tc>
                  <a:txBody>
                    <a:bodyPr/>
                    <a:lstStyle/>
                    <a:p>
                      <a:r>
                        <a:rPr lang="zh-CN" altLang="en-US" sz="1400" dirty="0" smtClean="0">
                          <a:latin typeface="+mn-ea"/>
                          <a:ea typeface="+mn-ea"/>
                        </a:rPr>
                        <a:t>参与人</a:t>
                      </a:r>
                      <a:endParaRPr lang="zh-CN" altLang="en-US" sz="1400" dirty="0">
                        <a:latin typeface="+mn-ea"/>
                        <a:ea typeface="+mn-ea"/>
                      </a:endParaRPr>
                    </a:p>
                  </a:txBody>
                  <a:tcPr/>
                </a:tc>
                <a:tc>
                  <a:txBody>
                    <a:bodyPr/>
                    <a:lstStyle/>
                    <a:p>
                      <a:r>
                        <a:rPr lang="zh-CN" altLang="en-US" sz="1400" dirty="0" smtClean="0">
                          <a:latin typeface="+mn-ea"/>
                          <a:ea typeface="+mn-ea"/>
                        </a:rPr>
                        <a:t>输出物</a:t>
                      </a:r>
                      <a:endParaRPr lang="zh-CN" altLang="en-US" sz="1400" dirty="0">
                        <a:latin typeface="+mn-ea"/>
                        <a:ea typeface="+mn-ea"/>
                      </a:endParaRPr>
                    </a:p>
                  </a:txBody>
                  <a:tcPr/>
                </a:tc>
                <a:extLst>
                  <a:ext uri="{0D108BD9-81ED-4DB2-BD59-A6C34878D82A}">
                    <a16:rowId xmlns:a16="http://schemas.microsoft.com/office/drawing/2014/main" val="3162067804"/>
                  </a:ext>
                </a:extLst>
              </a:tr>
              <a:tr h="370840">
                <a:tc>
                  <a:txBody>
                    <a:bodyPr/>
                    <a:lstStyle/>
                    <a:p>
                      <a:r>
                        <a:rPr lang="zh-CN" altLang="en-US" sz="1400" dirty="0" smtClean="0">
                          <a:latin typeface="+mn-ea"/>
                          <a:ea typeface="+mn-ea"/>
                        </a:rPr>
                        <a:t>工艺评审</a:t>
                      </a:r>
                      <a:endParaRPr lang="zh-CN" altLang="en-US" sz="1400" dirty="0">
                        <a:latin typeface="+mn-ea"/>
                        <a:ea typeface="+mn-ea"/>
                      </a:endParaRPr>
                    </a:p>
                  </a:txBody>
                  <a:tcPr/>
                </a:tc>
                <a:tc>
                  <a:txBody>
                    <a:bodyPr/>
                    <a:lstStyle/>
                    <a:p>
                      <a:r>
                        <a:rPr lang="zh-CN" altLang="en-US" sz="1400" dirty="0" smtClean="0">
                          <a:latin typeface="+mn-ea"/>
                          <a:ea typeface="+mn-ea"/>
                        </a:rPr>
                        <a:t>首批采购物料需齐备，首批排产上线之前</a:t>
                      </a:r>
                      <a:endParaRPr lang="zh-CN" altLang="en-US" sz="1400" dirty="0">
                        <a:latin typeface="+mn-ea"/>
                        <a:ea typeface="+mn-ea"/>
                      </a:endParaRPr>
                    </a:p>
                  </a:txBody>
                  <a:tcPr/>
                </a:tc>
                <a:tc>
                  <a:txBody>
                    <a:bodyPr/>
                    <a:lstStyle/>
                    <a:p>
                      <a:r>
                        <a:rPr lang="zh-CN" altLang="en-US" sz="1400" dirty="0" smtClean="0">
                          <a:solidFill>
                            <a:srgbClr val="0070C0"/>
                          </a:solidFill>
                          <a:latin typeface="+mn-ea"/>
                          <a:ea typeface="+mn-ea"/>
                        </a:rPr>
                        <a:t>产品工程师</a:t>
                      </a:r>
                      <a:endParaRPr lang="zh-CN" altLang="en-US" sz="1400" dirty="0">
                        <a:solidFill>
                          <a:srgbClr val="0070C0"/>
                        </a:solidFill>
                        <a:latin typeface="+mn-ea"/>
                        <a:ea typeface="+mn-ea"/>
                      </a:endParaRPr>
                    </a:p>
                  </a:txBody>
                  <a:tcPr/>
                </a:tc>
                <a:tc>
                  <a:txBody>
                    <a:bodyPr/>
                    <a:lstStyle/>
                    <a:p>
                      <a:r>
                        <a:rPr lang="zh-CN" altLang="en-US" sz="1400" dirty="0" smtClean="0">
                          <a:latin typeface="+mn-ea"/>
                          <a:ea typeface="+mn-ea"/>
                        </a:rPr>
                        <a:t>制造部、品质管理部相关人员（必要时邀请顾客参加）</a:t>
                      </a:r>
                      <a:endParaRPr lang="zh-CN" altLang="en-US" sz="1400" dirty="0">
                        <a:latin typeface="+mn-ea"/>
                        <a:ea typeface="+mn-ea"/>
                      </a:endParaRPr>
                    </a:p>
                  </a:txBody>
                  <a:tcPr/>
                </a:tc>
                <a:tc>
                  <a:txBody>
                    <a:bodyPr/>
                    <a:lstStyle/>
                    <a:p>
                      <a:pPr algn="l" fontAlgn="ctr"/>
                      <a:r>
                        <a:rPr lang="en-US" altLang="zh-CN" sz="1400" u="none" strike="noStrike" dirty="0" smtClean="0">
                          <a:solidFill>
                            <a:srgbClr val="0070C0"/>
                          </a:solidFill>
                          <a:effectLst/>
                          <a:latin typeface="+mn-ea"/>
                          <a:ea typeface="+mn-ea"/>
                        </a:rPr>
                        <a:t>《QR-D-H-005-004</a:t>
                      </a:r>
                      <a:r>
                        <a:rPr lang="zh-CN" altLang="en-US" sz="1400" u="none" strike="noStrike" dirty="0" smtClean="0">
                          <a:solidFill>
                            <a:srgbClr val="0070C0"/>
                          </a:solidFill>
                          <a:effectLst/>
                          <a:latin typeface="+mn-ea"/>
                          <a:ea typeface="+mn-ea"/>
                        </a:rPr>
                        <a:t>工艺评审报告</a:t>
                      </a:r>
                      <a:r>
                        <a:rPr lang="en-US" altLang="zh-CN" sz="1400" u="none" strike="noStrike" dirty="0" smtClean="0">
                          <a:solidFill>
                            <a:srgbClr val="0070C0"/>
                          </a:solidFill>
                          <a:effectLst/>
                          <a:latin typeface="+mn-ea"/>
                          <a:ea typeface="+mn-ea"/>
                        </a:rPr>
                        <a:t>》</a:t>
                      </a:r>
                      <a:endParaRPr lang="en-US" altLang="zh-CN" sz="1400" b="0" i="0" u="none" strike="noStrike" dirty="0">
                        <a:solidFill>
                          <a:srgbClr val="0070C0"/>
                        </a:solidFill>
                        <a:effectLst/>
                        <a:latin typeface="+mn-ea"/>
                        <a:ea typeface="+mn-ea"/>
                      </a:endParaRPr>
                    </a:p>
                  </a:txBody>
                  <a:tcPr/>
                </a:tc>
                <a:extLst>
                  <a:ext uri="{0D108BD9-81ED-4DB2-BD59-A6C34878D82A}">
                    <a16:rowId xmlns:a16="http://schemas.microsoft.com/office/drawing/2014/main" val="2982289352"/>
                  </a:ext>
                </a:extLst>
              </a:tr>
            </a:tbl>
          </a:graphicData>
        </a:graphic>
      </p:graphicFrame>
      <p:sp>
        <p:nvSpPr>
          <p:cNvPr id="10" name="Oval 104"/>
          <p:cNvSpPr/>
          <p:nvPr/>
        </p:nvSpPr>
        <p:spPr>
          <a:xfrm>
            <a:off x="655854" y="4940068"/>
            <a:ext cx="467663" cy="467665"/>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fontScale="92500" lnSpcReduction="10000"/>
          </a:bodyPr>
          <a:lstStyle/>
          <a:p>
            <a:pPr algn="ctr"/>
            <a:r>
              <a:rPr lang="en-US" b="1" dirty="0"/>
              <a:t>02</a:t>
            </a:r>
          </a:p>
        </p:txBody>
      </p:sp>
      <p:sp>
        <p:nvSpPr>
          <p:cNvPr id="11" name="Arc 125"/>
          <p:cNvSpPr/>
          <p:nvPr/>
        </p:nvSpPr>
        <p:spPr>
          <a:xfrm rot="5400000" flipV="1">
            <a:off x="1283134" y="4724886"/>
            <a:ext cx="1215698" cy="814616"/>
          </a:xfrm>
          <a:prstGeom prst="arc">
            <a:avLst/>
          </a:prstGeom>
          <a:ln w="38100">
            <a:solidFill>
              <a:srgbClr val="C00000"/>
            </a:solidFill>
            <a:headEnd type="none"/>
            <a:tailEnd type="oval"/>
          </a:ln>
        </p:spPr>
        <p:style>
          <a:lnRef idx="1">
            <a:schemeClr val="accent1"/>
          </a:lnRef>
          <a:fillRef idx="0">
            <a:schemeClr val="accent1"/>
          </a:fillRef>
          <a:effectRef idx="0">
            <a:schemeClr val="accent1"/>
          </a:effectRef>
          <a:fontRef idx="minor">
            <a:schemeClr val="tx1"/>
          </a:fontRef>
        </p:style>
        <p:txBody>
          <a:bodyPr anchor="ctr"/>
          <a:lstStyle/>
          <a:p>
            <a:pPr algn="ctr"/>
            <a:endParaRPr/>
          </a:p>
        </p:txBody>
      </p:sp>
      <p:cxnSp>
        <p:nvCxnSpPr>
          <p:cNvPr id="12" name="Straight Connector 126"/>
          <p:cNvCxnSpPr/>
          <p:nvPr/>
        </p:nvCxnSpPr>
        <p:spPr>
          <a:xfrm>
            <a:off x="1135741" y="5132194"/>
            <a:ext cx="347934" cy="8217"/>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4"/>
          <p:cNvCxnSpPr/>
          <p:nvPr/>
        </p:nvCxnSpPr>
        <p:spPr>
          <a:xfrm flipH="1">
            <a:off x="889686" y="2030434"/>
            <a:ext cx="2807" cy="2899912"/>
          </a:xfrm>
          <a:prstGeom prst="line">
            <a:avLst/>
          </a:prstGeom>
          <a:ln w="38100">
            <a:solidFill>
              <a:srgbClr val="C00000"/>
            </a:solidFill>
            <a:headEnd type="none"/>
          </a:ln>
        </p:spPr>
        <p:style>
          <a:lnRef idx="1">
            <a:schemeClr val="accent1"/>
          </a:lnRef>
          <a:fillRef idx="0">
            <a:schemeClr val="accent1"/>
          </a:fillRef>
          <a:effectRef idx="0">
            <a:schemeClr val="accent1"/>
          </a:effectRef>
          <a:fontRef idx="minor">
            <a:schemeClr val="tx1"/>
          </a:fontRef>
        </p:style>
      </p:cxnSp>
      <p:sp>
        <p:nvSpPr>
          <p:cNvPr id="14" name="Oval 147"/>
          <p:cNvSpPr/>
          <p:nvPr/>
        </p:nvSpPr>
        <p:spPr>
          <a:xfrm>
            <a:off x="680914" y="1562770"/>
            <a:ext cx="454827" cy="468782"/>
          </a:xfrm>
          <a:prstGeom prst="ellipse">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7" name="Arc 114"/>
          <p:cNvSpPr/>
          <p:nvPr/>
        </p:nvSpPr>
        <p:spPr>
          <a:xfrm rot="5400000" flipV="1">
            <a:off x="472038" y="4911685"/>
            <a:ext cx="616481" cy="612495"/>
          </a:xfrm>
          <a:prstGeom prst="arc">
            <a:avLst/>
          </a:prstGeom>
          <a:ln w="38100">
            <a:solidFill>
              <a:srgbClr val="C00000"/>
            </a:solidFill>
            <a:headEnd type="none"/>
            <a:tailEnd type="oval"/>
          </a:ln>
        </p:spPr>
        <p:style>
          <a:lnRef idx="1">
            <a:schemeClr val="accent1"/>
          </a:lnRef>
          <a:fillRef idx="0">
            <a:schemeClr val="accent1"/>
          </a:fillRef>
          <a:effectRef idx="0">
            <a:schemeClr val="accent1"/>
          </a:effectRef>
          <a:fontRef idx="minor">
            <a:schemeClr val="tx1"/>
          </a:fontRef>
        </p:style>
        <p:txBody>
          <a:bodyPr anchor="ctr"/>
          <a:lstStyle/>
          <a:p>
            <a:pPr algn="ctr"/>
            <a:endParaRPr/>
          </a:p>
        </p:txBody>
      </p:sp>
      <p:cxnSp>
        <p:nvCxnSpPr>
          <p:cNvPr id="18" name="Straight Connector 115"/>
          <p:cNvCxnSpPr/>
          <p:nvPr/>
        </p:nvCxnSpPr>
        <p:spPr>
          <a:xfrm flipV="1">
            <a:off x="76882" y="5233924"/>
            <a:ext cx="401492" cy="1821"/>
          </a:xfrm>
          <a:prstGeom prst="line">
            <a:avLst/>
          </a:prstGeom>
          <a:ln w="38100">
            <a:solidFill>
              <a:srgbClr val="C00000"/>
            </a:solidFill>
            <a:headEnd type="oval"/>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1677708" y="2485365"/>
            <a:ext cx="7351019" cy="3194721"/>
          </a:xfrm>
          <a:prstGeom prst="rect">
            <a:avLst/>
          </a:prstGeom>
          <a:noFill/>
        </p:spPr>
        <p:txBody>
          <a:bodyPr wrap="square" rtlCol="0">
            <a:spAutoFit/>
          </a:bodyPr>
          <a:lstStyle/>
          <a:p>
            <a:pPr marL="171450" indent="-171450">
              <a:lnSpc>
                <a:spcPct val="120000"/>
              </a:lnSpc>
              <a:buFont typeface="Wingdings" panose="05000000000000000000" pitchFamily="2" charset="2"/>
              <a:buChar char="u"/>
            </a:pPr>
            <a:r>
              <a:rPr lang="zh-CN" altLang="en-US" sz="1200" b="1" dirty="0" smtClean="0">
                <a:solidFill>
                  <a:schemeClr val="accent1">
                    <a:lumMod val="75000"/>
                  </a:schemeClr>
                </a:solidFill>
                <a:latin typeface="+mn-ea"/>
              </a:rPr>
              <a:t>工艺评审过程：</a:t>
            </a:r>
            <a:r>
              <a:rPr lang="zh-CN" altLang="en-US" sz="1200" dirty="0" smtClean="0">
                <a:solidFill>
                  <a:schemeClr val="tx1">
                    <a:lumMod val="75000"/>
                    <a:lumOff val="25000"/>
                  </a:schemeClr>
                </a:solidFill>
                <a:latin typeface="+mn-ea"/>
              </a:rPr>
              <a:t>产品工程师基于</a:t>
            </a:r>
            <a:r>
              <a:rPr lang="en-US" altLang="zh-CN" sz="1200" dirty="0" smtClean="0">
                <a:solidFill>
                  <a:schemeClr val="tx1">
                    <a:lumMod val="75000"/>
                    <a:lumOff val="25000"/>
                  </a:schemeClr>
                </a:solidFill>
                <a:latin typeface="+mn-ea"/>
              </a:rPr>
              <a:t>《</a:t>
            </a:r>
            <a:r>
              <a:rPr lang="zh-CN" altLang="en-US" sz="1200" dirty="0" smtClean="0">
                <a:solidFill>
                  <a:schemeClr val="tx1">
                    <a:lumMod val="75000"/>
                    <a:lumOff val="25000"/>
                  </a:schemeClr>
                </a:solidFill>
                <a:latin typeface="+mn-ea"/>
              </a:rPr>
              <a:t>产品生产技术要求</a:t>
            </a:r>
            <a:r>
              <a:rPr lang="en-US" altLang="zh-CN" sz="1200" dirty="0" smtClean="0">
                <a:solidFill>
                  <a:schemeClr val="tx1">
                    <a:lumMod val="75000"/>
                    <a:lumOff val="25000"/>
                  </a:schemeClr>
                </a:solidFill>
                <a:latin typeface="+mn-ea"/>
              </a:rPr>
              <a:t>》</a:t>
            </a:r>
            <a:r>
              <a:rPr lang="zh-CN" altLang="en-US" sz="1200" dirty="0" smtClean="0">
                <a:solidFill>
                  <a:schemeClr val="tx1">
                    <a:lumMod val="75000"/>
                    <a:lumOff val="25000"/>
                  </a:schemeClr>
                </a:solidFill>
                <a:latin typeface="+mn-ea"/>
              </a:rPr>
              <a:t>和组装样机向评审组成员介绍新产品的组装、拆卸、检验的过程，</a:t>
            </a:r>
            <a:r>
              <a:rPr lang="zh-CN" altLang="en-US" sz="1200" dirty="0" smtClean="0">
                <a:latin typeface="+mn-ea"/>
              </a:rPr>
              <a:t>便于</a:t>
            </a:r>
            <a:r>
              <a:rPr lang="zh-CN" altLang="en-US" sz="1200" dirty="0">
                <a:latin typeface="+mn-ea"/>
              </a:rPr>
              <a:t>制造部转化成生产作业指导</a:t>
            </a:r>
            <a:r>
              <a:rPr lang="zh-CN" altLang="en-US" sz="1200" dirty="0" smtClean="0">
                <a:latin typeface="+mn-ea"/>
              </a:rPr>
              <a:t>书，</a:t>
            </a:r>
            <a:endParaRPr lang="en-US" altLang="zh-CN" sz="1200" dirty="0" smtClean="0">
              <a:latin typeface="+mn-ea"/>
            </a:endParaRPr>
          </a:p>
          <a:p>
            <a:pPr marL="171450" indent="-171450">
              <a:lnSpc>
                <a:spcPct val="120000"/>
              </a:lnSpc>
              <a:buFont typeface="Wingdings" panose="05000000000000000000" pitchFamily="2" charset="2"/>
              <a:buChar char="u"/>
            </a:pPr>
            <a:r>
              <a:rPr lang="zh-CN" altLang="en-US" sz="1200" b="1" dirty="0" smtClean="0">
                <a:solidFill>
                  <a:schemeClr val="accent1">
                    <a:lumMod val="75000"/>
                  </a:schemeClr>
                </a:solidFill>
                <a:latin typeface="+mn-ea"/>
              </a:rPr>
              <a:t>评审内容：</a:t>
            </a:r>
            <a:endParaRPr lang="en-US" altLang="zh-CN" sz="1200" b="1" dirty="0" smtClean="0">
              <a:solidFill>
                <a:schemeClr val="accent1">
                  <a:lumMod val="75000"/>
                </a:schemeClr>
              </a:solidFill>
              <a:latin typeface="+mn-ea"/>
            </a:endParaRPr>
          </a:p>
          <a:p>
            <a:pPr marL="171450" indent="-171450">
              <a:lnSpc>
                <a:spcPct val="120000"/>
              </a:lnSpc>
              <a:buFont typeface="Wingdings" panose="05000000000000000000" pitchFamily="2" charset="2"/>
              <a:buChar char="ü"/>
            </a:pPr>
            <a:r>
              <a:rPr lang="en-US" altLang="zh-CN" sz="1200" dirty="0" smtClean="0">
                <a:solidFill>
                  <a:schemeClr val="tx1">
                    <a:lumMod val="75000"/>
                    <a:lumOff val="25000"/>
                  </a:schemeClr>
                </a:solidFill>
                <a:latin typeface="+mn-ea"/>
              </a:rPr>
              <a:t>《</a:t>
            </a:r>
            <a:r>
              <a:rPr lang="zh-CN" altLang="en-US" sz="1200" dirty="0">
                <a:solidFill>
                  <a:schemeClr val="tx1">
                    <a:lumMod val="75000"/>
                    <a:lumOff val="25000"/>
                  </a:schemeClr>
                </a:solidFill>
                <a:latin typeface="+mn-ea"/>
              </a:rPr>
              <a:t>产品生产技术要求</a:t>
            </a:r>
            <a:r>
              <a:rPr lang="en-US" altLang="zh-CN" sz="1200" dirty="0" smtClean="0">
                <a:solidFill>
                  <a:schemeClr val="tx1">
                    <a:lumMod val="75000"/>
                    <a:lumOff val="25000"/>
                  </a:schemeClr>
                </a:solidFill>
                <a:latin typeface="+mn-ea"/>
              </a:rPr>
              <a:t>》</a:t>
            </a:r>
            <a:r>
              <a:rPr lang="zh-CN" altLang="en-US" sz="1200" dirty="0" smtClean="0">
                <a:solidFill>
                  <a:schemeClr val="tx1">
                    <a:lumMod val="75000"/>
                    <a:lumOff val="25000"/>
                  </a:schemeClr>
                </a:solidFill>
                <a:latin typeface="+mn-ea"/>
              </a:rPr>
              <a:t>的指导说明是否准确，是否可正确转化为生产工艺文件；</a:t>
            </a:r>
            <a:endParaRPr lang="en-US" altLang="zh-CN" sz="1200" dirty="0" smtClean="0">
              <a:solidFill>
                <a:schemeClr val="tx1">
                  <a:lumMod val="75000"/>
                  <a:lumOff val="25000"/>
                </a:schemeClr>
              </a:solidFill>
              <a:latin typeface="+mn-ea"/>
            </a:endParaRPr>
          </a:p>
          <a:p>
            <a:pPr marL="171450" indent="-171450">
              <a:lnSpc>
                <a:spcPct val="120000"/>
              </a:lnSpc>
              <a:buFont typeface="Wingdings" panose="05000000000000000000" pitchFamily="2" charset="2"/>
              <a:buChar char="ü"/>
            </a:pPr>
            <a:r>
              <a:rPr lang="zh-CN" altLang="en-US" sz="1200" dirty="0" smtClean="0">
                <a:solidFill>
                  <a:schemeClr val="tx1">
                    <a:lumMod val="75000"/>
                    <a:lumOff val="25000"/>
                  </a:schemeClr>
                </a:solidFill>
                <a:latin typeface="+mn-ea"/>
              </a:rPr>
              <a:t>是否识别了关键件、重要件、并填写在</a:t>
            </a:r>
            <a:r>
              <a:rPr lang="en-US" altLang="zh-CN" sz="1200" dirty="0" smtClean="0">
                <a:solidFill>
                  <a:schemeClr val="tx1">
                    <a:lumMod val="75000"/>
                    <a:lumOff val="25000"/>
                  </a:schemeClr>
                </a:solidFill>
                <a:latin typeface="+mn-ea"/>
              </a:rPr>
              <a:t>《</a:t>
            </a:r>
            <a:r>
              <a:rPr lang="zh-CN" altLang="en-US" sz="1200" dirty="0" smtClean="0">
                <a:solidFill>
                  <a:schemeClr val="tx1">
                    <a:lumMod val="75000"/>
                    <a:lumOff val="25000"/>
                  </a:schemeClr>
                </a:solidFill>
                <a:latin typeface="+mn-ea"/>
              </a:rPr>
              <a:t>产品</a:t>
            </a:r>
            <a:r>
              <a:rPr lang="en-US" altLang="zh-CN" sz="1200" dirty="0" smtClean="0">
                <a:solidFill>
                  <a:schemeClr val="tx1">
                    <a:lumMod val="75000"/>
                    <a:lumOff val="25000"/>
                  </a:schemeClr>
                </a:solidFill>
                <a:latin typeface="+mn-ea"/>
              </a:rPr>
              <a:t>BOM</a:t>
            </a:r>
            <a:r>
              <a:rPr lang="zh-CN" altLang="en-US" sz="1200" dirty="0" smtClean="0">
                <a:solidFill>
                  <a:schemeClr val="tx1">
                    <a:lumMod val="75000"/>
                    <a:lumOff val="25000"/>
                  </a:schemeClr>
                </a:solidFill>
                <a:latin typeface="+mn-ea"/>
              </a:rPr>
              <a:t>清单</a:t>
            </a:r>
            <a:r>
              <a:rPr lang="en-US" altLang="zh-CN" sz="1200" dirty="0" smtClean="0">
                <a:solidFill>
                  <a:schemeClr val="tx1">
                    <a:lumMod val="75000"/>
                    <a:lumOff val="25000"/>
                  </a:schemeClr>
                </a:solidFill>
                <a:latin typeface="+mn-ea"/>
              </a:rPr>
              <a:t>》</a:t>
            </a:r>
            <a:r>
              <a:rPr lang="zh-CN" altLang="en-US" sz="1200" dirty="0" smtClean="0">
                <a:solidFill>
                  <a:schemeClr val="tx1">
                    <a:lumMod val="75000"/>
                    <a:lumOff val="25000"/>
                  </a:schemeClr>
                </a:solidFill>
                <a:latin typeface="+mn-ea"/>
              </a:rPr>
              <a:t>中，</a:t>
            </a:r>
            <a:r>
              <a:rPr lang="zh-CN" altLang="en-US" sz="1200" dirty="0" smtClean="0">
                <a:solidFill>
                  <a:srgbClr val="0070C0"/>
                </a:solidFill>
                <a:latin typeface="+mn-ea"/>
              </a:rPr>
              <a:t>关键件</a:t>
            </a:r>
            <a:r>
              <a:rPr lang="zh-CN" altLang="en-US" sz="1200" dirty="0" smtClean="0">
                <a:solidFill>
                  <a:schemeClr val="tx1">
                    <a:lumMod val="75000"/>
                    <a:lumOff val="25000"/>
                  </a:schemeClr>
                </a:solidFill>
                <a:latin typeface="+mn-ea"/>
              </a:rPr>
              <a:t>和</a:t>
            </a:r>
            <a:r>
              <a:rPr lang="zh-CN" altLang="en-US" sz="1200" dirty="0" smtClean="0">
                <a:solidFill>
                  <a:srgbClr val="0070C0"/>
                </a:solidFill>
                <a:latin typeface="+mn-ea"/>
              </a:rPr>
              <a:t>重要件</a:t>
            </a:r>
            <a:r>
              <a:rPr lang="zh-CN" altLang="en-US" sz="1200" dirty="0" smtClean="0">
                <a:solidFill>
                  <a:schemeClr val="tx1">
                    <a:lumMod val="75000"/>
                    <a:lumOff val="25000"/>
                  </a:schemeClr>
                </a:solidFill>
                <a:latin typeface="+mn-ea"/>
              </a:rPr>
              <a:t>的识别是否适宜、充分；</a:t>
            </a:r>
            <a:endParaRPr lang="en-US" altLang="zh-CN" sz="1200" dirty="0" smtClean="0">
              <a:solidFill>
                <a:schemeClr val="tx1">
                  <a:lumMod val="75000"/>
                  <a:lumOff val="25000"/>
                </a:schemeClr>
              </a:solidFill>
              <a:latin typeface="+mn-ea"/>
            </a:endParaRPr>
          </a:p>
          <a:p>
            <a:pPr marL="171450" indent="-171450">
              <a:lnSpc>
                <a:spcPct val="120000"/>
              </a:lnSpc>
              <a:buFont typeface="Wingdings" panose="05000000000000000000" pitchFamily="2" charset="2"/>
              <a:buChar char="ü"/>
            </a:pPr>
            <a:r>
              <a:rPr lang="zh-CN" altLang="en-US" sz="1200" dirty="0" smtClean="0">
                <a:solidFill>
                  <a:schemeClr val="tx1">
                    <a:lumMod val="75000"/>
                    <a:lumOff val="25000"/>
                  </a:schemeClr>
                </a:solidFill>
                <a:latin typeface="+mn-ea"/>
              </a:rPr>
              <a:t>是否识别了</a:t>
            </a:r>
            <a:r>
              <a:rPr lang="zh-CN" altLang="en-US" sz="1200" dirty="0" smtClean="0">
                <a:solidFill>
                  <a:srgbClr val="0070C0"/>
                </a:solidFill>
                <a:latin typeface="+mn-ea"/>
              </a:rPr>
              <a:t>关键工序</a:t>
            </a:r>
            <a:r>
              <a:rPr lang="zh-CN" altLang="en-US" sz="1200" dirty="0" smtClean="0">
                <a:solidFill>
                  <a:schemeClr val="tx1">
                    <a:lumMod val="75000"/>
                    <a:lumOff val="25000"/>
                  </a:schemeClr>
                </a:solidFill>
                <a:latin typeface="+mn-ea"/>
              </a:rPr>
              <a:t>和</a:t>
            </a:r>
            <a:r>
              <a:rPr lang="zh-CN" altLang="en-US" sz="1200" dirty="0" smtClean="0">
                <a:solidFill>
                  <a:srgbClr val="0070C0"/>
                </a:solidFill>
                <a:latin typeface="+mn-ea"/>
              </a:rPr>
              <a:t>特殊工序</a:t>
            </a:r>
            <a:r>
              <a:rPr lang="zh-CN" altLang="en-US" sz="1200" dirty="0" smtClean="0">
                <a:solidFill>
                  <a:schemeClr val="tx1">
                    <a:lumMod val="75000"/>
                    <a:lumOff val="25000"/>
                  </a:schemeClr>
                </a:solidFill>
                <a:latin typeface="+mn-ea"/>
              </a:rPr>
              <a:t>，并在</a:t>
            </a:r>
            <a:r>
              <a:rPr lang="en-US" altLang="zh-CN" sz="1200" dirty="0">
                <a:solidFill>
                  <a:schemeClr val="tx1">
                    <a:lumMod val="75000"/>
                    <a:lumOff val="25000"/>
                  </a:schemeClr>
                </a:solidFill>
                <a:latin typeface="+mn-ea"/>
              </a:rPr>
              <a:t>《</a:t>
            </a:r>
            <a:r>
              <a:rPr lang="zh-CN" altLang="en-US" sz="1200" dirty="0">
                <a:solidFill>
                  <a:schemeClr val="tx1">
                    <a:lumMod val="75000"/>
                    <a:lumOff val="25000"/>
                  </a:schemeClr>
                </a:solidFill>
                <a:latin typeface="+mn-ea"/>
              </a:rPr>
              <a:t>产品生产技术要求</a:t>
            </a:r>
            <a:r>
              <a:rPr lang="en-US" altLang="zh-CN" sz="1200" dirty="0" smtClean="0">
                <a:solidFill>
                  <a:schemeClr val="tx1">
                    <a:lumMod val="75000"/>
                    <a:lumOff val="25000"/>
                  </a:schemeClr>
                </a:solidFill>
                <a:latin typeface="+mn-ea"/>
              </a:rPr>
              <a:t>》</a:t>
            </a:r>
            <a:r>
              <a:rPr lang="zh-CN" altLang="en-US" sz="1200" dirty="0" smtClean="0">
                <a:solidFill>
                  <a:schemeClr val="tx1">
                    <a:lumMod val="75000"/>
                    <a:lumOff val="25000"/>
                  </a:schemeClr>
                </a:solidFill>
                <a:latin typeface="+mn-ea"/>
              </a:rPr>
              <a:t>中标识；</a:t>
            </a:r>
            <a:endParaRPr lang="en-US" altLang="zh-CN" sz="1200" dirty="0" smtClean="0">
              <a:solidFill>
                <a:schemeClr val="tx1">
                  <a:lumMod val="75000"/>
                  <a:lumOff val="25000"/>
                </a:schemeClr>
              </a:solidFill>
              <a:latin typeface="+mn-ea"/>
            </a:endParaRPr>
          </a:p>
          <a:p>
            <a:pPr marL="171450" indent="-171450">
              <a:lnSpc>
                <a:spcPct val="120000"/>
              </a:lnSpc>
              <a:buFont typeface="Wingdings" panose="05000000000000000000" pitchFamily="2" charset="2"/>
              <a:buChar char="ü"/>
            </a:pPr>
            <a:r>
              <a:rPr lang="zh-CN" altLang="en-US" sz="1200" dirty="0" smtClean="0">
                <a:solidFill>
                  <a:schemeClr val="tx1">
                    <a:lumMod val="75000"/>
                    <a:lumOff val="25000"/>
                  </a:schemeClr>
                </a:solidFill>
                <a:latin typeface="+mn-ea"/>
              </a:rPr>
              <a:t>根据</a:t>
            </a:r>
            <a:r>
              <a:rPr lang="en-US" altLang="zh-CN" sz="1200" dirty="0" smtClean="0">
                <a:solidFill>
                  <a:schemeClr val="tx1">
                    <a:lumMod val="75000"/>
                    <a:lumOff val="25000"/>
                  </a:schemeClr>
                </a:solidFill>
                <a:latin typeface="+mn-ea"/>
              </a:rPr>
              <a:t>《</a:t>
            </a:r>
            <a:r>
              <a:rPr lang="zh-CN" altLang="en-US" sz="1200" dirty="0" smtClean="0">
                <a:solidFill>
                  <a:schemeClr val="tx1">
                    <a:lumMod val="75000"/>
                    <a:lumOff val="25000"/>
                  </a:schemeClr>
                </a:solidFill>
                <a:latin typeface="+mn-ea"/>
              </a:rPr>
              <a:t>产品生产技术要求</a:t>
            </a:r>
            <a:r>
              <a:rPr lang="en-US" altLang="zh-CN" sz="1200" dirty="0" smtClean="0">
                <a:solidFill>
                  <a:schemeClr val="tx1">
                    <a:lumMod val="75000"/>
                    <a:lumOff val="25000"/>
                  </a:schemeClr>
                </a:solidFill>
                <a:latin typeface="+mn-ea"/>
              </a:rPr>
              <a:t>》</a:t>
            </a:r>
            <a:r>
              <a:rPr lang="zh-CN" altLang="en-US" sz="1200" dirty="0" smtClean="0">
                <a:solidFill>
                  <a:schemeClr val="tx1">
                    <a:lumMod val="75000"/>
                    <a:lumOff val="25000"/>
                  </a:schemeClr>
                </a:solidFill>
                <a:latin typeface="+mn-ea"/>
              </a:rPr>
              <a:t>和</a:t>
            </a:r>
            <a:r>
              <a:rPr lang="en-US" altLang="zh-CN" sz="1200" dirty="0" smtClean="0">
                <a:solidFill>
                  <a:schemeClr val="tx1">
                    <a:lumMod val="75000"/>
                    <a:lumOff val="25000"/>
                  </a:schemeClr>
                </a:solidFill>
                <a:latin typeface="+mn-ea"/>
              </a:rPr>
              <a:t>《</a:t>
            </a:r>
            <a:r>
              <a:rPr lang="zh-CN" altLang="en-US" sz="1200" dirty="0" smtClean="0">
                <a:solidFill>
                  <a:schemeClr val="tx1">
                    <a:lumMod val="75000"/>
                    <a:lumOff val="25000"/>
                  </a:schemeClr>
                </a:solidFill>
                <a:latin typeface="+mn-ea"/>
              </a:rPr>
              <a:t>产品</a:t>
            </a:r>
            <a:r>
              <a:rPr lang="en-US" altLang="zh-CN" sz="1200" dirty="0" smtClean="0">
                <a:solidFill>
                  <a:schemeClr val="tx1">
                    <a:lumMod val="75000"/>
                    <a:lumOff val="25000"/>
                  </a:schemeClr>
                </a:solidFill>
                <a:latin typeface="+mn-ea"/>
              </a:rPr>
              <a:t>BOM</a:t>
            </a:r>
            <a:r>
              <a:rPr lang="zh-CN" altLang="en-US" sz="1200" dirty="0" smtClean="0">
                <a:solidFill>
                  <a:schemeClr val="tx1">
                    <a:lumMod val="75000"/>
                    <a:lumOff val="25000"/>
                  </a:schemeClr>
                </a:solidFill>
                <a:latin typeface="+mn-ea"/>
              </a:rPr>
              <a:t>清单</a:t>
            </a:r>
            <a:r>
              <a:rPr lang="en-US" altLang="zh-CN" sz="1200" dirty="0" smtClean="0">
                <a:solidFill>
                  <a:schemeClr val="tx1">
                    <a:lumMod val="75000"/>
                    <a:lumOff val="25000"/>
                  </a:schemeClr>
                </a:solidFill>
                <a:latin typeface="+mn-ea"/>
              </a:rPr>
              <a:t>》</a:t>
            </a:r>
            <a:r>
              <a:rPr lang="zh-CN" altLang="en-US" sz="1200" dirty="0" smtClean="0">
                <a:solidFill>
                  <a:schemeClr val="tx1">
                    <a:lumMod val="75000"/>
                    <a:lumOff val="25000"/>
                  </a:schemeClr>
                </a:solidFill>
                <a:latin typeface="+mn-ea"/>
              </a:rPr>
              <a:t>由评审组对产品的关键工序和特殊工序评审确认，制造部需根据评审结果在生产工艺文件中标识产品的关键工序和特殊工序。</a:t>
            </a:r>
            <a:endParaRPr lang="en-US" altLang="zh-CN" sz="1200" dirty="0" smtClean="0">
              <a:solidFill>
                <a:schemeClr val="tx1">
                  <a:lumMod val="75000"/>
                  <a:lumOff val="25000"/>
                </a:schemeClr>
              </a:solidFill>
              <a:latin typeface="+mn-ea"/>
            </a:endParaRPr>
          </a:p>
          <a:p>
            <a:pPr marL="171450" indent="-171450">
              <a:lnSpc>
                <a:spcPct val="120000"/>
              </a:lnSpc>
              <a:buFont typeface="Wingdings" panose="05000000000000000000" pitchFamily="2" charset="2"/>
              <a:buChar char="u"/>
            </a:pPr>
            <a:r>
              <a:rPr lang="zh-CN" altLang="en-US" sz="1200" b="1" dirty="0" smtClean="0">
                <a:solidFill>
                  <a:schemeClr val="accent1">
                    <a:lumMod val="75000"/>
                  </a:schemeClr>
                </a:solidFill>
                <a:latin typeface="+mn-ea"/>
              </a:rPr>
              <a:t>问题处理</a:t>
            </a:r>
            <a:endParaRPr lang="en-US" altLang="zh-CN" sz="1200" b="1" dirty="0" smtClean="0">
              <a:solidFill>
                <a:schemeClr val="accent1">
                  <a:lumMod val="75000"/>
                </a:schemeClr>
              </a:solidFill>
              <a:latin typeface="+mn-ea"/>
            </a:endParaRPr>
          </a:p>
          <a:p>
            <a:pPr marL="171450" indent="-171450">
              <a:lnSpc>
                <a:spcPct val="120000"/>
              </a:lnSpc>
              <a:buFont typeface="Wingdings" panose="05000000000000000000" pitchFamily="2" charset="2"/>
              <a:buChar char="ü"/>
            </a:pPr>
            <a:r>
              <a:rPr lang="zh-CN" altLang="en-US" sz="1200" dirty="0" smtClean="0">
                <a:solidFill>
                  <a:schemeClr val="tx1">
                    <a:lumMod val="75000"/>
                    <a:lumOff val="25000"/>
                  </a:schemeClr>
                </a:solidFill>
                <a:latin typeface="+mn-ea"/>
              </a:rPr>
              <a:t>如工艺评审通过，则进行下一阶段的工作；如工艺评审过程中发现问题，由</a:t>
            </a:r>
            <a:r>
              <a:rPr lang="zh-CN" altLang="en-US" sz="1200" dirty="0" smtClean="0">
                <a:solidFill>
                  <a:srgbClr val="0070C0"/>
                </a:solidFill>
                <a:latin typeface="+mn-ea"/>
              </a:rPr>
              <a:t>产品</a:t>
            </a:r>
            <a:r>
              <a:rPr lang="zh-CN" altLang="en-US" sz="1200" dirty="0">
                <a:solidFill>
                  <a:srgbClr val="0070C0"/>
                </a:solidFill>
                <a:latin typeface="+mn-ea"/>
              </a:rPr>
              <a:t>工程师</a:t>
            </a:r>
            <a:r>
              <a:rPr lang="zh-CN" altLang="en-US" sz="1200" dirty="0" smtClean="0">
                <a:solidFill>
                  <a:srgbClr val="0070C0"/>
                </a:solidFill>
                <a:latin typeface="+mn-ea"/>
              </a:rPr>
              <a:t>推动</a:t>
            </a:r>
            <a:r>
              <a:rPr lang="zh-CN" altLang="en-US" sz="1200" dirty="0" smtClean="0">
                <a:solidFill>
                  <a:schemeClr val="tx1">
                    <a:lumMod val="75000"/>
                    <a:lumOff val="25000"/>
                  </a:schemeClr>
                </a:solidFill>
                <a:latin typeface="+mn-ea"/>
              </a:rPr>
              <a:t>完成相关问题的改进工作，并重新进行工艺评审。</a:t>
            </a:r>
            <a:endParaRPr lang="en-US" altLang="zh-CN" sz="1200" dirty="0" smtClean="0">
              <a:solidFill>
                <a:schemeClr val="tx1">
                  <a:lumMod val="75000"/>
                  <a:lumOff val="25000"/>
                </a:schemeClr>
              </a:solidFill>
              <a:latin typeface="+mn-ea"/>
            </a:endParaRPr>
          </a:p>
          <a:p>
            <a:pPr marL="171450" indent="-171450">
              <a:lnSpc>
                <a:spcPct val="120000"/>
              </a:lnSpc>
              <a:buFont typeface="Wingdings" panose="05000000000000000000" pitchFamily="2" charset="2"/>
              <a:buChar char="u"/>
            </a:pPr>
            <a:r>
              <a:rPr lang="zh-CN" altLang="en-US" sz="1200" b="1" dirty="0" smtClean="0">
                <a:solidFill>
                  <a:schemeClr val="accent1">
                    <a:lumMod val="75000"/>
                  </a:schemeClr>
                </a:solidFill>
                <a:latin typeface="+mn-ea"/>
              </a:rPr>
              <a:t>报告输出</a:t>
            </a:r>
            <a:endParaRPr lang="en-US" altLang="zh-CN" sz="1200" b="1" dirty="0" smtClean="0">
              <a:solidFill>
                <a:schemeClr val="accent1">
                  <a:lumMod val="75000"/>
                </a:schemeClr>
              </a:solidFill>
              <a:latin typeface="+mn-ea"/>
            </a:endParaRPr>
          </a:p>
          <a:p>
            <a:pPr marL="171450" indent="-171450">
              <a:lnSpc>
                <a:spcPct val="120000"/>
              </a:lnSpc>
              <a:buFont typeface="Wingdings" panose="05000000000000000000" pitchFamily="2" charset="2"/>
              <a:buChar char="ü"/>
            </a:pPr>
            <a:r>
              <a:rPr lang="zh-CN" altLang="en-US" sz="1200" dirty="0" smtClean="0">
                <a:solidFill>
                  <a:schemeClr val="tx1">
                    <a:lumMod val="75000"/>
                    <a:lumOff val="25000"/>
                  </a:schemeClr>
                </a:solidFill>
                <a:latin typeface="+mn-ea"/>
              </a:rPr>
              <a:t>工艺评审结束后，</a:t>
            </a:r>
            <a:r>
              <a:rPr lang="zh-CN" altLang="en-US" sz="1200" dirty="0">
                <a:solidFill>
                  <a:schemeClr val="tx1">
                    <a:lumMod val="75000"/>
                    <a:lumOff val="25000"/>
                  </a:schemeClr>
                </a:solidFill>
                <a:latin typeface="+mn-ea"/>
              </a:rPr>
              <a:t>由</a:t>
            </a:r>
            <a:r>
              <a:rPr lang="zh-CN" altLang="en-US" sz="1200" dirty="0" smtClean="0">
                <a:solidFill>
                  <a:schemeClr val="tx1">
                    <a:lumMod val="75000"/>
                    <a:lumOff val="25000"/>
                  </a:schemeClr>
                </a:solidFill>
                <a:latin typeface="+mn-ea"/>
              </a:rPr>
              <a:t>产品</a:t>
            </a:r>
            <a:r>
              <a:rPr lang="zh-CN" altLang="en-US" sz="1200" dirty="0">
                <a:solidFill>
                  <a:schemeClr val="tx1">
                    <a:lumMod val="75000"/>
                    <a:lumOff val="25000"/>
                  </a:schemeClr>
                </a:solidFill>
                <a:latin typeface="+mn-ea"/>
              </a:rPr>
              <a:t>工程师</a:t>
            </a:r>
            <a:r>
              <a:rPr lang="zh-CN" altLang="en-US" sz="1200" dirty="0" smtClean="0">
                <a:solidFill>
                  <a:schemeClr val="tx1">
                    <a:lumMod val="75000"/>
                    <a:lumOff val="25000"/>
                  </a:schemeClr>
                </a:solidFill>
                <a:latin typeface="+mn-ea"/>
              </a:rPr>
              <a:t>推动评审组签发</a:t>
            </a:r>
            <a:r>
              <a:rPr lang="en-US" altLang="zh-CN" sz="1200" dirty="0" smtClean="0">
                <a:solidFill>
                  <a:schemeClr val="tx1">
                    <a:lumMod val="75000"/>
                    <a:lumOff val="25000"/>
                  </a:schemeClr>
                </a:solidFill>
                <a:latin typeface="+mn-ea"/>
              </a:rPr>
              <a:t>《</a:t>
            </a:r>
            <a:r>
              <a:rPr lang="zh-CN" altLang="en-US" sz="1200" dirty="0" smtClean="0">
                <a:solidFill>
                  <a:schemeClr val="tx1">
                    <a:lumMod val="75000"/>
                    <a:lumOff val="25000"/>
                  </a:schemeClr>
                </a:solidFill>
                <a:latin typeface="+mn-ea"/>
              </a:rPr>
              <a:t>工艺评审报告</a:t>
            </a:r>
            <a:r>
              <a:rPr lang="en-US" altLang="zh-CN" sz="1200" dirty="0" smtClean="0">
                <a:solidFill>
                  <a:schemeClr val="tx1">
                    <a:lumMod val="75000"/>
                    <a:lumOff val="25000"/>
                  </a:schemeClr>
                </a:solidFill>
                <a:latin typeface="+mn-ea"/>
              </a:rPr>
              <a:t>》</a:t>
            </a:r>
            <a:r>
              <a:rPr lang="zh-CN" altLang="en-US" sz="1200" dirty="0" smtClean="0">
                <a:solidFill>
                  <a:schemeClr val="tx1">
                    <a:lumMod val="75000"/>
                    <a:lumOff val="25000"/>
                  </a:schemeClr>
                </a:solidFill>
                <a:latin typeface="+mn-ea"/>
              </a:rPr>
              <a:t>，对于出现的问题以及相应的解决过程也应保留相应的记录。</a:t>
            </a:r>
            <a:endParaRPr lang="en-US" altLang="zh-CN" sz="1200" dirty="0" smtClean="0">
              <a:solidFill>
                <a:schemeClr val="tx1">
                  <a:lumMod val="75000"/>
                  <a:lumOff val="25000"/>
                </a:schemeClr>
              </a:solidFill>
              <a:latin typeface="+mn-ea"/>
            </a:endParaRPr>
          </a:p>
        </p:txBody>
      </p:sp>
      <p:graphicFrame>
        <p:nvGraphicFramePr>
          <p:cNvPr id="27" name="对象 26"/>
          <p:cNvGraphicFramePr>
            <a:graphicFrameLocks noChangeAspect="1"/>
          </p:cNvGraphicFramePr>
          <p:nvPr>
            <p:extLst>
              <p:ext uri="{D42A27DB-BD31-4B8C-83A1-F6EECF244321}">
                <p14:modId xmlns:p14="http://schemas.microsoft.com/office/powerpoint/2010/main" val="2662334483"/>
              </p:ext>
            </p:extLst>
          </p:nvPr>
        </p:nvGraphicFramePr>
        <p:xfrm>
          <a:off x="5301480" y="5525865"/>
          <a:ext cx="914400" cy="828675"/>
        </p:xfrm>
        <a:graphic>
          <a:graphicData uri="http://schemas.openxmlformats.org/presentationml/2006/ole">
            <mc:AlternateContent xmlns:mc="http://schemas.openxmlformats.org/markup-compatibility/2006">
              <mc:Choice xmlns:v="urn:schemas-microsoft-com:vml" Requires="v">
                <p:oleObj spid="_x0000_s1516" name="文档" showAsIcon="1" r:id="rId4" imgW="914400" imgH="828720" progId="Word.Document.12">
                  <p:embed/>
                </p:oleObj>
              </mc:Choice>
              <mc:Fallback>
                <p:oleObj name="文档" showAsIcon="1" r:id="rId4" imgW="914400" imgH="828720" progId="Word.Document.12">
                  <p:embed/>
                  <p:pic>
                    <p:nvPicPr>
                      <p:cNvPr id="0" name=""/>
                      <p:cNvPicPr/>
                      <p:nvPr/>
                    </p:nvPicPr>
                    <p:blipFill>
                      <a:blip r:embed="rId5"/>
                      <a:stretch>
                        <a:fillRect/>
                      </a:stretch>
                    </p:blipFill>
                    <p:spPr>
                      <a:xfrm>
                        <a:off x="5301480" y="5525865"/>
                        <a:ext cx="914400" cy="828675"/>
                      </a:xfrm>
                      <a:prstGeom prst="rect">
                        <a:avLst/>
                      </a:prstGeom>
                    </p:spPr>
                  </p:pic>
                </p:oleObj>
              </mc:Fallback>
            </mc:AlternateContent>
          </a:graphicData>
        </a:graphic>
      </p:graphicFrame>
      <p:graphicFrame>
        <p:nvGraphicFramePr>
          <p:cNvPr id="28" name="对象 27"/>
          <p:cNvGraphicFramePr>
            <a:graphicFrameLocks noChangeAspect="1"/>
          </p:cNvGraphicFramePr>
          <p:nvPr>
            <p:extLst>
              <p:ext uri="{D42A27DB-BD31-4B8C-83A1-F6EECF244321}">
                <p14:modId xmlns:p14="http://schemas.microsoft.com/office/powerpoint/2010/main" val="234733992"/>
              </p:ext>
            </p:extLst>
          </p:nvPr>
        </p:nvGraphicFramePr>
        <p:xfrm>
          <a:off x="6572529" y="5525866"/>
          <a:ext cx="914400" cy="828675"/>
        </p:xfrm>
        <a:graphic>
          <a:graphicData uri="http://schemas.openxmlformats.org/presentationml/2006/ole">
            <mc:AlternateContent xmlns:mc="http://schemas.openxmlformats.org/markup-compatibility/2006">
              <mc:Choice xmlns:v="urn:schemas-microsoft-com:vml" Requires="v">
                <p:oleObj spid="_x0000_s1517" name="文档" showAsIcon="1" r:id="rId6" imgW="914400" imgH="828720" progId="Word.Document.12">
                  <p:embed/>
                </p:oleObj>
              </mc:Choice>
              <mc:Fallback>
                <p:oleObj name="文档" showAsIcon="1" r:id="rId6" imgW="914400" imgH="828720" progId="Word.Document.12">
                  <p:embed/>
                  <p:pic>
                    <p:nvPicPr>
                      <p:cNvPr id="0" name=""/>
                      <p:cNvPicPr/>
                      <p:nvPr/>
                    </p:nvPicPr>
                    <p:blipFill>
                      <a:blip r:embed="rId7"/>
                      <a:stretch>
                        <a:fillRect/>
                      </a:stretch>
                    </p:blipFill>
                    <p:spPr>
                      <a:xfrm>
                        <a:off x="6572529" y="5525866"/>
                        <a:ext cx="914400" cy="828675"/>
                      </a:xfrm>
                      <a:prstGeom prst="rect">
                        <a:avLst/>
                      </a:prstGeom>
                    </p:spPr>
                  </p:pic>
                </p:oleObj>
              </mc:Fallback>
            </mc:AlternateContent>
          </a:graphicData>
        </a:graphic>
      </p:graphicFrame>
      <p:grpSp>
        <p:nvGrpSpPr>
          <p:cNvPr id="21" name="组合 20"/>
          <p:cNvGrpSpPr/>
          <p:nvPr/>
        </p:nvGrpSpPr>
        <p:grpSpPr>
          <a:xfrm>
            <a:off x="9059299" y="2431629"/>
            <a:ext cx="2605480" cy="3922912"/>
            <a:chOff x="7746268" y="2316744"/>
            <a:chExt cx="3756077" cy="4052805"/>
          </a:xfrm>
        </p:grpSpPr>
        <p:grpSp>
          <p:nvGrpSpPr>
            <p:cNvPr id="30" name="Group 38"/>
            <p:cNvGrpSpPr/>
            <p:nvPr/>
          </p:nvGrpSpPr>
          <p:grpSpPr>
            <a:xfrm>
              <a:off x="7782430" y="4730279"/>
              <a:ext cx="1756845" cy="1639269"/>
              <a:chOff x="7346434" y="4909620"/>
              <a:chExt cx="1918320" cy="1948378"/>
            </a:xfrm>
          </p:grpSpPr>
          <p:sp>
            <p:nvSpPr>
              <p:cNvPr id="31" name="Freeform 3"/>
              <p:cNvSpPr/>
              <p:nvPr/>
            </p:nvSpPr>
            <p:spPr>
              <a:xfrm rot="16200000">
                <a:off x="7331405" y="4924649"/>
                <a:ext cx="1948378" cy="1918320"/>
              </a:xfrm>
              <a:custGeom>
                <a:avLst/>
                <a:gdLst>
                  <a:gd name="connsiteX0" fmla="*/ 2143216 w 2143216"/>
                  <a:gd name="connsiteY0" fmla="*/ 562708 h 2110152"/>
                  <a:gd name="connsiteX1" fmla="*/ 2018715 w 2143216"/>
                  <a:gd name="connsiteY1" fmla="*/ 562708 h 2110152"/>
                  <a:gd name="connsiteX2" fmla="*/ 2018715 w 2143216"/>
                  <a:gd name="connsiteY2" fmla="*/ 1547444 h 2110152"/>
                  <a:gd name="connsiteX3" fmla="*/ 1456007 w 2143216"/>
                  <a:gd name="connsiteY3" fmla="*/ 2110152 h 2110152"/>
                  <a:gd name="connsiteX4" fmla="*/ 1456007 w 2143216"/>
                  <a:gd name="connsiteY4" fmla="*/ 2110151 h 2110152"/>
                  <a:gd name="connsiteX5" fmla="*/ 0 w 2143216"/>
                  <a:gd name="connsiteY5" fmla="*/ 2110151 h 2110152"/>
                  <a:gd name="connsiteX6" fmla="*/ 0 w 2143216"/>
                  <a:gd name="connsiteY6" fmla="*/ 1547443 h 2110152"/>
                  <a:gd name="connsiteX7" fmla="*/ 1456007 w 2143216"/>
                  <a:gd name="connsiteY7" fmla="*/ 1547443 h 2110152"/>
                  <a:gd name="connsiteX8" fmla="*/ 1456007 w 2143216"/>
                  <a:gd name="connsiteY8" fmla="*/ 562708 h 2110152"/>
                  <a:gd name="connsiteX9" fmla="*/ 1331509 w 2143216"/>
                  <a:gd name="connsiteY9" fmla="*/ 562708 h 2110152"/>
                  <a:gd name="connsiteX10" fmla="*/ 1737363 w 2143216"/>
                  <a:gd name="connsiteY10" fmla="*/ 0 h 2110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43216" h="2110152">
                    <a:moveTo>
                      <a:pt x="2143216" y="562708"/>
                    </a:moveTo>
                    <a:lnTo>
                      <a:pt x="2018715" y="562708"/>
                    </a:lnTo>
                    <a:lnTo>
                      <a:pt x="2018715" y="1547444"/>
                    </a:lnTo>
                    <a:lnTo>
                      <a:pt x="1456007" y="2110152"/>
                    </a:lnTo>
                    <a:lnTo>
                      <a:pt x="1456007" y="2110151"/>
                    </a:lnTo>
                    <a:lnTo>
                      <a:pt x="0" y="2110151"/>
                    </a:lnTo>
                    <a:lnTo>
                      <a:pt x="0" y="1547443"/>
                    </a:lnTo>
                    <a:lnTo>
                      <a:pt x="1456007" y="1547443"/>
                    </a:lnTo>
                    <a:lnTo>
                      <a:pt x="1456007" y="562708"/>
                    </a:lnTo>
                    <a:lnTo>
                      <a:pt x="1331509" y="562708"/>
                    </a:lnTo>
                    <a:lnTo>
                      <a:pt x="1737363" y="0"/>
                    </a:ln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00">
                  <a:latin typeface="+mn-ea"/>
                  <a:cs typeface="+mn-ea"/>
                  <a:sym typeface="Arial" panose="020B0604020202020204" pitchFamily="34" charset="0"/>
                </a:endParaRPr>
              </a:p>
            </p:txBody>
          </p:sp>
          <p:sp>
            <p:nvSpPr>
              <p:cNvPr id="32" name="Freeform 18"/>
              <p:cNvSpPr>
                <a:spLocks noEditPoints="1"/>
              </p:cNvSpPr>
              <p:nvPr/>
            </p:nvSpPr>
            <p:spPr bwMode="auto">
              <a:xfrm>
                <a:off x="8091344" y="5076469"/>
                <a:ext cx="399007" cy="404213"/>
              </a:xfrm>
              <a:custGeom>
                <a:avLst/>
                <a:gdLst>
                  <a:gd name="T0" fmla="*/ 94 w 107"/>
                  <a:gd name="T1" fmla="*/ 30 h 108"/>
                  <a:gd name="T2" fmla="*/ 77 w 107"/>
                  <a:gd name="T3" fmla="*/ 95 h 108"/>
                  <a:gd name="T4" fmla="*/ 13 w 107"/>
                  <a:gd name="T5" fmla="*/ 77 h 108"/>
                  <a:gd name="T6" fmla="*/ 30 w 107"/>
                  <a:gd name="T7" fmla="*/ 13 h 108"/>
                  <a:gd name="T8" fmla="*/ 94 w 107"/>
                  <a:gd name="T9" fmla="*/ 30 h 108"/>
                  <a:gd name="T10" fmla="*/ 68 w 107"/>
                  <a:gd name="T11" fmla="*/ 46 h 108"/>
                  <a:gd name="T12" fmla="*/ 68 w 107"/>
                  <a:gd name="T13" fmla="*/ 46 h 108"/>
                  <a:gd name="T14" fmla="*/ 58 w 107"/>
                  <a:gd name="T15" fmla="*/ 38 h 108"/>
                  <a:gd name="T16" fmla="*/ 45 w 107"/>
                  <a:gd name="T17" fmla="*/ 40 h 108"/>
                  <a:gd name="T18" fmla="*/ 45 w 107"/>
                  <a:gd name="T19" fmla="*/ 40 h 108"/>
                  <a:gd name="T20" fmla="*/ 38 w 107"/>
                  <a:gd name="T21" fmla="*/ 50 h 108"/>
                  <a:gd name="T22" fmla="*/ 39 w 107"/>
                  <a:gd name="T23" fmla="*/ 62 h 108"/>
                  <a:gd name="T24" fmla="*/ 39 w 107"/>
                  <a:gd name="T25" fmla="*/ 62 h 108"/>
                  <a:gd name="T26" fmla="*/ 49 w 107"/>
                  <a:gd name="T27" fmla="*/ 69 h 108"/>
                  <a:gd name="T28" fmla="*/ 62 w 107"/>
                  <a:gd name="T29" fmla="*/ 68 h 108"/>
                  <a:gd name="T30" fmla="*/ 62 w 107"/>
                  <a:gd name="T31" fmla="*/ 68 h 108"/>
                  <a:gd name="T32" fmla="*/ 69 w 107"/>
                  <a:gd name="T33" fmla="*/ 58 h 108"/>
                  <a:gd name="T34" fmla="*/ 68 w 107"/>
                  <a:gd name="T35" fmla="*/ 46 h 108"/>
                  <a:gd name="T36" fmla="*/ 63 w 107"/>
                  <a:gd name="T37" fmla="*/ 56 h 108"/>
                  <a:gd name="T38" fmla="*/ 62 w 107"/>
                  <a:gd name="T39" fmla="*/ 49 h 108"/>
                  <a:gd name="T40" fmla="*/ 62 w 107"/>
                  <a:gd name="T41" fmla="*/ 49 h 108"/>
                  <a:gd name="T42" fmla="*/ 56 w 107"/>
                  <a:gd name="T43" fmla="*/ 44 h 108"/>
                  <a:gd name="T44" fmla="*/ 48 w 107"/>
                  <a:gd name="T45" fmla="*/ 45 h 108"/>
                  <a:gd name="T46" fmla="*/ 48 w 107"/>
                  <a:gd name="T47" fmla="*/ 45 h 108"/>
                  <a:gd name="T48" fmla="*/ 44 w 107"/>
                  <a:gd name="T49" fmla="*/ 51 h 108"/>
                  <a:gd name="T50" fmla="*/ 45 w 107"/>
                  <a:gd name="T51" fmla="*/ 59 h 108"/>
                  <a:gd name="T52" fmla="*/ 45 w 107"/>
                  <a:gd name="T53" fmla="*/ 59 h 108"/>
                  <a:gd name="T54" fmla="*/ 51 w 107"/>
                  <a:gd name="T55" fmla="*/ 64 h 108"/>
                  <a:gd name="T56" fmla="*/ 59 w 107"/>
                  <a:gd name="T57" fmla="*/ 63 h 108"/>
                  <a:gd name="T58" fmla="*/ 59 w 107"/>
                  <a:gd name="T59" fmla="*/ 63 h 108"/>
                  <a:gd name="T60" fmla="*/ 63 w 107"/>
                  <a:gd name="T61" fmla="*/ 56 h 108"/>
                  <a:gd name="T62" fmla="*/ 29 w 107"/>
                  <a:gd name="T63" fmla="*/ 24 h 108"/>
                  <a:gd name="T64" fmla="*/ 17 w 107"/>
                  <a:gd name="T65" fmla="*/ 65 h 108"/>
                  <a:gd name="T66" fmla="*/ 25 w 107"/>
                  <a:gd name="T67" fmla="*/ 63 h 108"/>
                  <a:gd name="T68" fmla="*/ 29 w 107"/>
                  <a:gd name="T69" fmla="*/ 24 h 108"/>
                  <a:gd name="T70" fmla="*/ 69 w 107"/>
                  <a:gd name="T71" fmla="*/ 37 h 108"/>
                  <a:gd name="T72" fmla="*/ 73 w 107"/>
                  <a:gd name="T73" fmla="*/ 42 h 108"/>
                  <a:gd name="T74" fmla="*/ 74 w 107"/>
                  <a:gd name="T75" fmla="*/ 45 h 108"/>
                  <a:gd name="T76" fmla="*/ 91 w 107"/>
                  <a:gd name="T77" fmla="*/ 38 h 108"/>
                  <a:gd name="T78" fmla="*/ 89 w 107"/>
                  <a:gd name="T79" fmla="*/ 33 h 108"/>
                  <a:gd name="T80" fmla="*/ 82 w 107"/>
                  <a:gd name="T81" fmla="*/ 25 h 108"/>
                  <a:gd name="T82" fmla="*/ 69 w 107"/>
                  <a:gd name="T83" fmla="*/ 37 h 108"/>
                  <a:gd name="T84" fmla="*/ 92 w 107"/>
                  <a:gd name="T85" fmla="*/ 43 h 108"/>
                  <a:gd name="T86" fmla="*/ 75 w 107"/>
                  <a:gd name="T87" fmla="*/ 47 h 108"/>
                  <a:gd name="T88" fmla="*/ 76 w 107"/>
                  <a:gd name="T89" fmla="*/ 53 h 108"/>
                  <a:gd name="T90" fmla="*/ 93 w 107"/>
                  <a:gd name="T91" fmla="*/ 54 h 108"/>
                  <a:gd name="T92" fmla="*/ 92 w 107"/>
                  <a:gd name="T93" fmla="*/ 43 h 108"/>
                  <a:gd name="T94" fmla="*/ 70 w 107"/>
                  <a:gd name="T95" fmla="*/ 44 h 108"/>
                  <a:gd name="T96" fmla="*/ 44 w 107"/>
                  <a:gd name="T97" fmla="*/ 37 h 108"/>
                  <a:gd name="T98" fmla="*/ 37 w 107"/>
                  <a:gd name="T99" fmla="*/ 63 h 108"/>
                  <a:gd name="T100" fmla="*/ 63 w 107"/>
                  <a:gd name="T101" fmla="*/ 70 h 108"/>
                  <a:gd name="T102" fmla="*/ 70 w 107"/>
                  <a:gd name="T103" fmla="*/ 44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07" h="108">
                    <a:moveTo>
                      <a:pt x="94" y="30"/>
                    </a:moveTo>
                    <a:cubicBezTo>
                      <a:pt x="107" y="53"/>
                      <a:pt x="100" y="82"/>
                      <a:pt x="77" y="95"/>
                    </a:cubicBezTo>
                    <a:cubicBezTo>
                      <a:pt x="54" y="108"/>
                      <a:pt x="26" y="100"/>
                      <a:pt x="13" y="77"/>
                    </a:cubicBezTo>
                    <a:cubicBezTo>
                      <a:pt x="0" y="55"/>
                      <a:pt x="7" y="26"/>
                      <a:pt x="30" y="13"/>
                    </a:cubicBezTo>
                    <a:cubicBezTo>
                      <a:pt x="52" y="0"/>
                      <a:pt x="81" y="8"/>
                      <a:pt x="94" y="30"/>
                    </a:cubicBezTo>
                    <a:close/>
                    <a:moveTo>
                      <a:pt x="68" y="46"/>
                    </a:moveTo>
                    <a:cubicBezTo>
                      <a:pt x="68" y="46"/>
                      <a:pt x="68" y="46"/>
                      <a:pt x="68" y="46"/>
                    </a:cubicBezTo>
                    <a:cubicBezTo>
                      <a:pt x="65" y="42"/>
                      <a:pt x="62" y="39"/>
                      <a:pt x="58" y="38"/>
                    </a:cubicBezTo>
                    <a:cubicBezTo>
                      <a:pt x="54" y="37"/>
                      <a:pt x="49" y="37"/>
                      <a:pt x="45" y="40"/>
                    </a:cubicBezTo>
                    <a:cubicBezTo>
                      <a:pt x="45" y="40"/>
                      <a:pt x="45" y="40"/>
                      <a:pt x="45" y="40"/>
                    </a:cubicBezTo>
                    <a:cubicBezTo>
                      <a:pt x="41" y="42"/>
                      <a:pt x="39" y="46"/>
                      <a:pt x="38" y="50"/>
                    </a:cubicBezTo>
                    <a:cubicBezTo>
                      <a:pt x="37" y="54"/>
                      <a:pt x="37" y="58"/>
                      <a:pt x="39" y="62"/>
                    </a:cubicBezTo>
                    <a:cubicBezTo>
                      <a:pt x="39" y="62"/>
                      <a:pt x="39" y="62"/>
                      <a:pt x="39" y="62"/>
                    </a:cubicBezTo>
                    <a:cubicBezTo>
                      <a:pt x="42" y="66"/>
                      <a:pt x="45" y="68"/>
                      <a:pt x="49" y="69"/>
                    </a:cubicBezTo>
                    <a:cubicBezTo>
                      <a:pt x="53" y="71"/>
                      <a:pt x="58" y="70"/>
                      <a:pt x="62" y="68"/>
                    </a:cubicBezTo>
                    <a:cubicBezTo>
                      <a:pt x="62" y="68"/>
                      <a:pt x="62" y="68"/>
                      <a:pt x="62" y="68"/>
                    </a:cubicBezTo>
                    <a:cubicBezTo>
                      <a:pt x="65" y="66"/>
                      <a:pt x="68" y="62"/>
                      <a:pt x="69" y="58"/>
                    </a:cubicBezTo>
                    <a:cubicBezTo>
                      <a:pt x="70" y="54"/>
                      <a:pt x="70" y="50"/>
                      <a:pt x="68" y="46"/>
                    </a:cubicBezTo>
                    <a:close/>
                    <a:moveTo>
                      <a:pt x="63" y="56"/>
                    </a:moveTo>
                    <a:cubicBezTo>
                      <a:pt x="64" y="54"/>
                      <a:pt x="64" y="51"/>
                      <a:pt x="62" y="49"/>
                    </a:cubicBezTo>
                    <a:cubicBezTo>
                      <a:pt x="62" y="49"/>
                      <a:pt x="62" y="49"/>
                      <a:pt x="62" y="49"/>
                    </a:cubicBezTo>
                    <a:cubicBezTo>
                      <a:pt x="61" y="46"/>
                      <a:pt x="59" y="45"/>
                      <a:pt x="56" y="44"/>
                    </a:cubicBezTo>
                    <a:cubicBezTo>
                      <a:pt x="54" y="43"/>
                      <a:pt x="51" y="44"/>
                      <a:pt x="48" y="45"/>
                    </a:cubicBezTo>
                    <a:cubicBezTo>
                      <a:pt x="48" y="45"/>
                      <a:pt x="48" y="45"/>
                      <a:pt x="48" y="45"/>
                    </a:cubicBezTo>
                    <a:cubicBezTo>
                      <a:pt x="46" y="46"/>
                      <a:pt x="44" y="49"/>
                      <a:pt x="44" y="51"/>
                    </a:cubicBezTo>
                    <a:cubicBezTo>
                      <a:pt x="43" y="54"/>
                      <a:pt x="43" y="56"/>
                      <a:pt x="45" y="59"/>
                    </a:cubicBezTo>
                    <a:cubicBezTo>
                      <a:pt x="45" y="59"/>
                      <a:pt x="45" y="59"/>
                      <a:pt x="45" y="59"/>
                    </a:cubicBezTo>
                    <a:cubicBezTo>
                      <a:pt x="46" y="61"/>
                      <a:pt x="48" y="63"/>
                      <a:pt x="51" y="64"/>
                    </a:cubicBezTo>
                    <a:cubicBezTo>
                      <a:pt x="53" y="64"/>
                      <a:pt x="56" y="64"/>
                      <a:pt x="59" y="63"/>
                    </a:cubicBezTo>
                    <a:cubicBezTo>
                      <a:pt x="59" y="63"/>
                      <a:pt x="59" y="63"/>
                      <a:pt x="59" y="63"/>
                    </a:cubicBezTo>
                    <a:cubicBezTo>
                      <a:pt x="61" y="61"/>
                      <a:pt x="63" y="59"/>
                      <a:pt x="63" y="56"/>
                    </a:cubicBezTo>
                    <a:close/>
                    <a:moveTo>
                      <a:pt x="29" y="24"/>
                    </a:moveTo>
                    <a:cubicBezTo>
                      <a:pt x="16" y="36"/>
                      <a:pt x="14" y="50"/>
                      <a:pt x="17" y="65"/>
                    </a:cubicBezTo>
                    <a:cubicBezTo>
                      <a:pt x="20" y="64"/>
                      <a:pt x="23" y="64"/>
                      <a:pt x="25" y="63"/>
                    </a:cubicBezTo>
                    <a:cubicBezTo>
                      <a:pt x="21" y="49"/>
                      <a:pt x="22" y="36"/>
                      <a:pt x="29" y="24"/>
                    </a:cubicBezTo>
                    <a:close/>
                    <a:moveTo>
                      <a:pt x="69" y="37"/>
                    </a:moveTo>
                    <a:cubicBezTo>
                      <a:pt x="70" y="38"/>
                      <a:pt x="72" y="40"/>
                      <a:pt x="73" y="42"/>
                    </a:cubicBezTo>
                    <a:cubicBezTo>
                      <a:pt x="74" y="43"/>
                      <a:pt x="74" y="44"/>
                      <a:pt x="74" y="45"/>
                    </a:cubicBezTo>
                    <a:cubicBezTo>
                      <a:pt x="91" y="38"/>
                      <a:pt x="91" y="38"/>
                      <a:pt x="91" y="38"/>
                    </a:cubicBezTo>
                    <a:cubicBezTo>
                      <a:pt x="90" y="36"/>
                      <a:pt x="89" y="35"/>
                      <a:pt x="89" y="33"/>
                    </a:cubicBezTo>
                    <a:cubicBezTo>
                      <a:pt x="87" y="30"/>
                      <a:pt x="85" y="28"/>
                      <a:pt x="82" y="25"/>
                    </a:cubicBezTo>
                    <a:cubicBezTo>
                      <a:pt x="69" y="37"/>
                      <a:pt x="69" y="37"/>
                      <a:pt x="69" y="37"/>
                    </a:cubicBezTo>
                    <a:close/>
                    <a:moveTo>
                      <a:pt x="92" y="43"/>
                    </a:moveTo>
                    <a:cubicBezTo>
                      <a:pt x="75" y="47"/>
                      <a:pt x="75" y="47"/>
                      <a:pt x="75" y="47"/>
                    </a:cubicBezTo>
                    <a:cubicBezTo>
                      <a:pt x="76" y="49"/>
                      <a:pt x="76" y="51"/>
                      <a:pt x="76" y="53"/>
                    </a:cubicBezTo>
                    <a:cubicBezTo>
                      <a:pt x="93" y="54"/>
                      <a:pt x="93" y="54"/>
                      <a:pt x="93" y="54"/>
                    </a:cubicBezTo>
                    <a:cubicBezTo>
                      <a:pt x="94" y="50"/>
                      <a:pt x="93" y="46"/>
                      <a:pt x="92" y="43"/>
                    </a:cubicBezTo>
                    <a:close/>
                    <a:moveTo>
                      <a:pt x="70" y="44"/>
                    </a:moveTo>
                    <a:cubicBezTo>
                      <a:pt x="65" y="35"/>
                      <a:pt x="53" y="32"/>
                      <a:pt x="44" y="37"/>
                    </a:cubicBezTo>
                    <a:cubicBezTo>
                      <a:pt x="35" y="42"/>
                      <a:pt x="32" y="54"/>
                      <a:pt x="37" y="63"/>
                    </a:cubicBezTo>
                    <a:cubicBezTo>
                      <a:pt x="42" y="72"/>
                      <a:pt x="54" y="76"/>
                      <a:pt x="63" y="70"/>
                    </a:cubicBezTo>
                    <a:cubicBezTo>
                      <a:pt x="72" y="65"/>
                      <a:pt x="75" y="53"/>
                      <a:pt x="70" y="44"/>
                    </a:cubicBezTo>
                    <a:close/>
                  </a:path>
                </a:pathLst>
              </a:custGeom>
              <a:solidFill>
                <a:schemeClr val="bg1"/>
              </a:solidFill>
              <a:ln>
                <a:noFill/>
              </a:ln>
            </p:spPr>
            <p:txBody>
              <a:bodyPr vert="horz" wrap="square" lIns="83743" tIns="41872" rIns="83743" bIns="41872"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900">
                  <a:solidFill>
                    <a:prstClr val="black"/>
                  </a:solidFill>
                  <a:latin typeface="+mn-ea"/>
                  <a:cs typeface="+mn-ea"/>
                  <a:sym typeface="Arial" panose="020B0604020202020204" pitchFamily="34" charset="0"/>
                </a:endParaRPr>
              </a:p>
            </p:txBody>
          </p:sp>
        </p:grpSp>
        <p:sp>
          <p:nvSpPr>
            <p:cNvPr id="34" name="Freeform 4"/>
            <p:cNvSpPr/>
            <p:nvPr/>
          </p:nvSpPr>
          <p:spPr>
            <a:xfrm rot="16200000">
              <a:off x="7684960" y="3907218"/>
              <a:ext cx="2523640" cy="2401022"/>
            </a:xfrm>
            <a:custGeom>
              <a:avLst/>
              <a:gdLst>
                <a:gd name="connsiteX0" fmla="*/ 2496508 w 3190111"/>
                <a:gd name="connsiteY0" fmla="*/ 2321164 h 2883873"/>
                <a:gd name="connsiteX1" fmla="*/ 2496508 w 3190111"/>
                <a:gd name="connsiteY1" fmla="*/ 2883872 h 2883873"/>
                <a:gd name="connsiteX2" fmla="*/ 0 w 3190111"/>
                <a:gd name="connsiteY2" fmla="*/ 2883872 h 2883873"/>
                <a:gd name="connsiteX3" fmla="*/ 0 w 3190111"/>
                <a:gd name="connsiteY3" fmla="*/ 2321164 h 2883873"/>
                <a:gd name="connsiteX4" fmla="*/ 3190111 w 3190111"/>
                <a:gd name="connsiteY4" fmla="*/ 562708 h 2883873"/>
                <a:gd name="connsiteX5" fmla="*/ 3062414 w 3190111"/>
                <a:gd name="connsiteY5" fmla="*/ 562708 h 2883873"/>
                <a:gd name="connsiteX6" fmla="*/ 3062414 w 3190111"/>
                <a:gd name="connsiteY6" fmla="*/ 2321165 h 2883873"/>
                <a:gd name="connsiteX7" fmla="*/ 3065612 w 3190111"/>
                <a:gd name="connsiteY7" fmla="*/ 2321165 h 2883873"/>
                <a:gd name="connsiteX8" fmla="*/ 2499706 w 3190111"/>
                <a:gd name="connsiteY8" fmla="*/ 2883873 h 2883873"/>
                <a:gd name="connsiteX9" fmla="*/ 2499706 w 3190111"/>
                <a:gd name="connsiteY9" fmla="*/ 2321165 h 2883873"/>
                <a:gd name="connsiteX10" fmla="*/ 2499706 w 3190111"/>
                <a:gd name="connsiteY10" fmla="*/ 562708 h 2883873"/>
                <a:gd name="connsiteX11" fmla="*/ 2378404 w 3190111"/>
                <a:gd name="connsiteY11" fmla="*/ 562708 h 2883873"/>
                <a:gd name="connsiteX12" fmla="*/ 2784258 w 3190111"/>
                <a:gd name="connsiteY12" fmla="*/ 0 h 2883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90111" h="2883873">
                  <a:moveTo>
                    <a:pt x="2496508" y="2321164"/>
                  </a:moveTo>
                  <a:lnTo>
                    <a:pt x="2496508" y="2883872"/>
                  </a:lnTo>
                  <a:lnTo>
                    <a:pt x="0" y="2883872"/>
                  </a:lnTo>
                  <a:lnTo>
                    <a:pt x="0" y="2321164"/>
                  </a:lnTo>
                  <a:close/>
                  <a:moveTo>
                    <a:pt x="3190111" y="562708"/>
                  </a:moveTo>
                  <a:lnTo>
                    <a:pt x="3062414" y="562708"/>
                  </a:lnTo>
                  <a:lnTo>
                    <a:pt x="3062414" y="2321165"/>
                  </a:lnTo>
                  <a:lnTo>
                    <a:pt x="3065612" y="2321165"/>
                  </a:lnTo>
                  <a:lnTo>
                    <a:pt x="2499706" y="2883873"/>
                  </a:lnTo>
                  <a:lnTo>
                    <a:pt x="2499706" y="2321165"/>
                  </a:lnTo>
                  <a:lnTo>
                    <a:pt x="2499706" y="562708"/>
                  </a:lnTo>
                  <a:lnTo>
                    <a:pt x="2378404" y="562708"/>
                  </a:lnTo>
                  <a:lnTo>
                    <a:pt x="2784258" y="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00">
                <a:latin typeface="+mn-ea"/>
                <a:cs typeface="+mn-ea"/>
                <a:sym typeface="Arial" panose="020B0604020202020204" pitchFamily="34" charset="0"/>
              </a:endParaRPr>
            </a:p>
          </p:txBody>
        </p:sp>
        <p:sp>
          <p:nvSpPr>
            <p:cNvPr id="36" name="Freeform 5"/>
            <p:cNvSpPr/>
            <p:nvPr/>
          </p:nvSpPr>
          <p:spPr>
            <a:xfrm rot="16200000">
              <a:off x="7600885" y="3162196"/>
              <a:ext cx="3339494" cy="3045194"/>
            </a:xfrm>
            <a:custGeom>
              <a:avLst/>
              <a:gdLst>
                <a:gd name="connsiteX0" fmla="*/ 4242316 w 4242316"/>
                <a:gd name="connsiteY0" fmla="*/ 562708 h 3657591"/>
                <a:gd name="connsiteX1" fmla="*/ 4117817 w 4242316"/>
                <a:gd name="connsiteY1" fmla="*/ 562708 h 3657591"/>
                <a:gd name="connsiteX2" fmla="*/ 4117817 w 4242316"/>
                <a:gd name="connsiteY2" fmla="*/ 3094883 h 3657591"/>
                <a:gd name="connsiteX3" fmla="*/ 3555109 w 4242316"/>
                <a:gd name="connsiteY3" fmla="*/ 3657591 h 3657591"/>
                <a:gd name="connsiteX4" fmla="*/ 0 w 4242316"/>
                <a:gd name="connsiteY4" fmla="*/ 3657591 h 3657591"/>
                <a:gd name="connsiteX5" fmla="*/ 0 w 4242316"/>
                <a:gd name="connsiteY5" fmla="*/ 3094883 h 3657591"/>
                <a:gd name="connsiteX6" fmla="*/ 3555109 w 4242316"/>
                <a:gd name="connsiteY6" fmla="*/ 3094883 h 3657591"/>
                <a:gd name="connsiteX7" fmla="*/ 3555109 w 4242316"/>
                <a:gd name="connsiteY7" fmla="*/ 562708 h 3657591"/>
                <a:gd name="connsiteX8" fmla="*/ 3430609 w 4242316"/>
                <a:gd name="connsiteY8" fmla="*/ 562708 h 3657591"/>
                <a:gd name="connsiteX9" fmla="*/ 3836463 w 4242316"/>
                <a:gd name="connsiteY9" fmla="*/ 0 h 3657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42316" h="3657591">
                  <a:moveTo>
                    <a:pt x="4242316" y="562708"/>
                  </a:moveTo>
                  <a:lnTo>
                    <a:pt x="4117817" y="562708"/>
                  </a:lnTo>
                  <a:lnTo>
                    <a:pt x="4117817" y="3094883"/>
                  </a:lnTo>
                  <a:lnTo>
                    <a:pt x="3555109" y="3657591"/>
                  </a:lnTo>
                  <a:lnTo>
                    <a:pt x="0" y="3657591"/>
                  </a:lnTo>
                  <a:lnTo>
                    <a:pt x="0" y="3094883"/>
                  </a:lnTo>
                  <a:lnTo>
                    <a:pt x="3555109" y="3094883"/>
                  </a:lnTo>
                  <a:lnTo>
                    <a:pt x="3555109" y="562708"/>
                  </a:lnTo>
                  <a:lnTo>
                    <a:pt x="3430609" y="562708"/>
                  </a:lnTo>
                  <a:lnTo>
                    <a:pt x="3836463"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00">
                <a:latin typeface="+mn-ea"/>
                <a:cs typeface="+mn-ea"/>
                <a:sym typeface="Arial" panose="020B0604020202020204" pitchFamily="34" charset="0"/>
              </a:endParaRPr>
            </a:p>
          </p:txBody>
        </p:sp>
        <p:sp>
          <p:nvSpPr>
            <p:cNvPr id="37" name="Freeform 6"/>
            <p:cNvSpPr/>
            <p:nvPr/>
          </p:nvSpPr>
          <p:spPr>
            <a:xfrm rot="16200000">
              <a:off x="7605409" y="2457603"/>
              <a:ext cx="4037796" cy="3756077"/>
            </a:xfrm>
            <a:custGeom>
              <a:avLst/>
              <a:gdLst>
                <a:gd name="connsiteX0" fmla="*/ 5289608 w 5289608"/>
                <a:gd name="connsiteY0" fmla="*/ 562708 h 4431309"/>
                <a:gd name="connsiteX1" fmla="*/ 5165108 w 5289608"/>
                <a:gd name="connsiteY1" fmla="*/ 562708 h 4431309"/>
                <a:gd name="connsiteX2" fmla="*/ 5165108 w 5289608"/>
                <a:gd name="connsiteY2" fmla="*/ 3868601 h 4431309"/>
                <a:gd name="connsiteX3" fmla="*/ 4602401 w 5289608"/>
                <a:gd name="connsiteY3" fmla="*/ 4431309 h 4431309"/>
                <a:gd name="connsiteX4" fmla="*/ 0 w 5289608"/>
                <a:gd name="connsiteY4" fmla="*/ 4431309 h 4431309"/>
                <a:gd name="connsiteX5" fmla="*/ 0 w 5289608"/>
                <a:gd name="connsiteY5" fmla="*/ 3868601 h 4431309"/>
                <a:gd name="connsiteX6" fmla="*/ 4602401 w 5289608"/>
                <a:gd name="connsiteY6" fmla="*/ 3868601 h 4431309"/>
                <a:gd name="connsiteX7" fmla="*/ 4602401 w 5289608"/>
                <a:gd name="connsiteY7" fmla="*/ 562708 h 4431309"/>
                <a:gd name="connsiteX8" fmla="*/ 4477901 w 5289608"/>
                <a:gd name="connsiteY8" fmla="*/ 562708 h 4431309"/>
                <a:gd name="connsiteX9" fmla="*/ 4883755 w 5289608"/>
                <a:gd name="connsiteY9" fmla="*/ 0 h 4431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89608" h="4431309">
                  <a:moveTo>
                    <a:pt x="5289608" y="562708"/>
                  </a:moveTo>
                  <a:lnTo>
                    <a:pt x="5165108" y="562708"/>
                  </a:lnTo>
                  <a:lnTo>
                    <a:pt x="5165108" y="3868601"/>
                  </a:lnTo>
                  <a:lnTo>
                    <a:pt x="4602401" y="4431309"/>
                  </a:lnTo>
                  <a:lnTo>
                    <a:pt x="0" y="4431309"/>
                  </a:lnTo>
                  <a:lnTo>
                    <a:pt x="0" y="3868601"/>
                  </a:lnTo>
                  <a:lnTo>
                    <a:pt x="4602401" y="3868601"/>
                  </a:lnTo>
                  <a:lnTo>
                    <a:pt x="4602401" y="562708"/>
                  </a:lnTo>
                  <a:lnTo>
                    <a:pt x="4477901" y="562708"/>
                  </a:lnTo>
                  <a:lnTo>
                    <a:pt x="4883755" y="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00">
                <a:latin typeface="+mn-ea"/>
                <a:cs typeface="+mn-ea"/>
                <a:sym typeface="Arial" panose="020B0604020202020204" pitchFamily="34" charset="0"/>
              </a:endParaRPr>
            </a:p>
          </p:txBody>
        </p:sp>
      </p:grpSp>
      <p:sp>
        <p:nvSpPr>
          <p:cNvPr id="22" name="文本框 21"/>
          <p:cNvSpPr txBox="1"/>
          <p:nvPr/>
        </p:nvSpPr>
        <p:spPr>
          <a:xfrm>
            <a:off x="9532561" y="2575690"/>
            <a:ext cx="1439903" cy="246799"/>
          </a:xfrm>
          <a:prstGeom prst="rect">
            <a:avLst/>
          </a:prstGeom>
          <a:noFill/>
        </p:spPr>
        <p:txBody>
          <a:bodyPr wrap="square" rtlCol="0">
            <a:spAutoFit/>
          </a:bodyPr>
          <a:lstStyle/>
          <a:p>
            <a:pPr>
              <a:lnSpc>
                <a:spcPct val="120000"/>
              </a:lnSpc>
            </a:pPr>
            <a:r>
              <a:rPr lang="zh-CN" altLang="en-US" sz="900" b="1" dirty="0" smtClean="0">
                <a:solidFill>
                  <a:schemeClr val="bg1"/>
                </a:solidFill>
              </a:rPr>
              <a:t>工艺评审过程</a:t>
            </a:r>
          </a:p>
        </p:txBody>
      </p:sp>
      <p:sp>
        <p:nvSpPr>
          <p:cNvPr id="38" name="文本框 37"/>
          <p:cNvSpPr txBox="1"/>
          <p:nvPr/>
        </p:nvSpPr>
        <p:spPr>
          <a:xfrm>
            <a:off x="9476893" y="3219141"/>
            <a:ext cx="1439903" cy="246799"/>
          </a:xfrm>
          <a:prstGeom prst="rect">
            <a:avLst/>
          </a:prstGeom>
          <a:noFill/>
        </p:spPr>
        <p:txBody>
          <a:bodyPr wrap="square" rtlCol="0">
            <a:spAutoFit/>
          </a:bodyPr>
          <a:lstStyle/>
          <a:p>
            <a:pPr>
              <a:lnSpc>
                <a:spcPct val="120000"/>
              </a:lnSpc>
            </a:pPr>
            <a:r>
              <a:rPr lang="zh-CN" altLang="en-US" sz="900" b="1" dirty="0" smtClean="0">
                <a:solidFill>
                  <a:schemeClr val="bg1"/>
                </a:solidFill>
              </a:rPr>
              <a:t>工艺评审内容</a:t>
            </a:r>
          </a:p>
        </p:txBody>
      </p:sp>
      <p:sp>
        <p:nvSpPr>
          <p:cNvPr id="39" name="文本框 38"/>
          <p:cNvSpPr txBox="1"/>
          <p:nvPr/>
        </p:nvSpPr>
        <p:spPr>
          <a:xfrm>
            <a:off x="9467094" y="4082726"/>
            <a:ext cx="1439903" cy="258532"/>
          </a:xfrm>
          <a:prstGeom prst="rect">
            <a:avLst/>
          </a:prstGeom>
          <a:noFill/>
        </p:spPr>
        <p:txBody>
          <a:bodyPr wrap="square" rtlCol="0">
            <a:spAutoFit/>
          </a:bodyPr>
          <a:lstStyle/>
          <a:p>
            <a:pPr>
              <a:lnSpc>
                <a:spcPct val="120000"/>
              </a:lnSpc>
            </a:pPr>
            <a:r>
              <a:rPr lang="zh-CN" altLang="en-US" sz="900" b="1" dirty="0" smtClean="0">
                <a:solidFill>
                  <a:schemeClr val="bg1"/>
                </a:solidFill>
              </a:rPr>
              <a:t>问题闭环</a:t>
            </a:r>
          </a:p>
        </p:txBody>
      </p:sp>
      <p:sp>
        <p:nvSpPr>
          <p:cNvPr id="23" name="动作按钮: 结束 22">
            <a:hlinkClick r:id="" action="ppaction://hlinkshowjump?jump=lastslide" highlightClick="1"/>
          </p:cNvPr>
          <p:cNvSpPr/>
          <p:nvPr/>
        </p:nvSpPr>
        <p:spPr>
          <a:xfrm>
            <a:off x="763831" y="1696665"/>
            <a:ext cx="322695" cy="272765"/>
          </a:xfrm>
          <a:prstGeom prst="actionButtonEnd">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9251340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4"/>
          </p:nvPr>
        </p:nvSpPr>
        <p:spPr>
          <a:xfrm>
            <a:off x="277628" y="992362"/>
            <a:ext cx="10515600" cy="405363"/>
          </a:xfrm>
        </p:spPr>
        <p:txBody>
          <a:bodyPr/>
          <a:lstStyle/>
          <a:p>
            <a:pPr>
              <a:buFont typeface="Wingdings" panose="05000000000000000000" pitchFamily="2" charset="2"/>
              <a:buChar char="n"/>
            </a:pPr>
            <a:r>
              <a:rPr lang="en-US" altLang="zh-CN" sz="1800" b="1" dirty="0" smtClean="0">
                <a:latin typeface="+mn-ea"/>
              </a:rPr>
              <a:t>1.2</a:t>
            </a:r>
            <a:r>
              <a:rPr lang="zh-CN" altLang="en-US" sz="1800" b="1" dirty="0" smtClean="0">
                <a:latin typeface="+mn-ea"/>
              </a:rPr>
              <a:t>试制</a:t>
            </a:r>
            <a:r>
              <a:rPr lang="zh-CN" altLang="en-US" sz="1800" b="1" dirty="0">
                <a:latin typeface="+mn-ea"/>
              </a:rPr>
              <a:t>准备状态检查</a:t>
            </a:r>
          </a:p>
          <a:p>
            <a:pPr>
              <a:buFont typeface="Wingdings" panose="05000000000000000000" pitchFamily="2" charset="2"/>
              <a:buChar char="n"/>
            </a:pPr>
            <a:endParaRPr lang="en-US" altLang="zh-CN" sz="1800" b="1" dirty="0">
              <a:latin typeface="+mn-ea"/>
            </a:endParaRPr>
          </a:p>
          <a:p>
            <a:endParaRPr lang="en-US" altLang="zh-CN" dirty="0" smtClean="0"/>
          </a:p>
          <a:p>
            <a:pPr marL="0" indent="0">
              <a:buNone/>
            </a:pPr>
            <a:endParaRPr lang="zh-CN" altLang="en-US" dirty="0"/>
          </a:p>
        </p:txBody>
      </p:sp>
      <p:sp>
        <p:nvSpPr>
          <p:cNvPr id="4" name="标题 2">
            <a:extLst>
              <a:ext uri="{FF2B5EF4-FFF2-40B4-BE49-F238E27FC236}">
                <a16:creationId xmlns:a16="http://schemas.microsoft.com/office/drawing/2014/main" id="{2B587CB1-41A9-48EF-9229-101563C80EFD}"/>
              </a:ext>
            </a:extLst>
          </p:cNvPr>
          <p:cNvSpPr txBox="1">
            <a:spLocks noGrp="1"/>
          </p:cNvSpPr>
          <p:nvPr>
            <p:ph type="body" sz="quarter" idx="13"/>
          </p:nvPr>
        </p:nvSpPr>
        <p:spPr>
          <a:xfrm>
            <a:off x="0" y="154126"/>
            <a:ext cx="5535428" cy="672075"/>
          </a:xfrm>
          <a:prstGeom prst="rect">
            <a:avLst/>
          </a:prstGeom>
        </p:spPr>
        <p:txBody>
          <a:bodyPr/>
          <a:lstStyle>
            <a:defPPr>
              <a:defRPr lang="zh-CN"/>
            </a:defPPr>
            <a:lvl1pPr algn="ctr">
              <a:spcBef>
                <a:spcPct val="0"/>
              </a:spcBef>
              <a:buNone/>
              <a:defRPr sz="2400" b="1">
                <a:solidFill>
                  <a:schemeClr val="tx1">
                    <a:lumMod val="65000"/>
                    <a:lumOff val="35000"/>
                  </a:schemeClr>
                </a:solidFill>
                <a:latin typeface="微软雅黑" pitchFamily="34" charset="-122"/>
                <a:ea typeface="微软雅黑" pitchFamily="34" charset="-122"/>
              </a:defRPr>
            </a:lvl1pPr>
          </a:lstStyle>
          <a:p>
            <a:pPr defTabSz="1219170"/>
            <a:r>
              <a:rPr lang="zh-CN" altLang="en-US" sz="3200" dirty="0" smtClean="0">
                <a:solidFill>
                  <a:prstClr val="black">
                    <a:lumMod val="65000"/>
                    <a:lumOff val="35000"/>
                  </a:prstClr>
                </a:solidFill>
              </a:rPr>
              <a:t>一、</a:t>
            </a:r>
            <a:r>
              <a:rPr lang="en-US" altLang="zh-CN" sz="3200" dirty="0" smtClean="0">
                <a:solidFill>
                  <a:prstClr val="black">
                    <a:lumMod val="65000"/>
                    <a:lumOff val="35000"/>
                  </a:prstClr>
                </a:solidFill>
              </a:rPr>
              <a:t>L10 </a:t>
            </a:r>
            <a:r>
              <a:rPr lang="zh-CN" altLang="en-US" sz="3200" dirty="0" smtClean="0">
                <a:solidFill>
                  <a:prstClr val="black">
                    <a:lumMod val="65000"/>
                    <a:lumOff val="35000"/>
                  </a:prstClr>
                </a:solidFill>
              </a:rPr>
              <a:t>首件试制</a:t>
            </a:r>
            <a:r>
              <a:rPr lang="en-US" altLang="zh-CN" sz="3200" dirty="0" smtClean="0">
                <a:solidFill>
                  <a:prstClr val="black">
                    <a:lumMod val="65000"/>
                    <a:lumOff val="35000"/>
                  </a:prstClr>
                </a:solidFill>
              </a:rPr>
              <a:t>/</a:t>
            </a:r>
            <a:r>
              <a:rPr lang="zh-CN" altLang="en-US" sz="3200" dirty="0" smtClean="0">
                <a:solidFill>
                  <a:prstClr val="black">
                    <a:lumMod val="65000"/>
                    <a:lumOff val="35000"/>
                  </a:prstClr>
                </a:solidFill>
              </a:rPr>
              <a:t>批量试制</a:t>
            </a:r>
            <a:endParaRPr lang="zh-CN" altLang="en-US" sz="3200" dirty="0">
              <a:solidFill>
                <a:prstClr val="black">
                  <a:lumMod val="65000"/>
                  <a:lumOff val="35000"/>
                </a:prstClr>
              </a:solidFill>
            </a:endParaRPr>
          </a:p>
        </p:txBody>
      </p:sp>
      <p:graphicFrame>
        <p:nvGraphicFramePr>
          <p:cNvPr id="5" name="表格 4"/>
          <p:cNvGraphicFramePr>
            <a:graphicFrameLocks noGrp="1"/>
          </p:cNvGraphicFramePr>
          <p:nvPr>
            <p:extLst>
              <p:ext uri="{D42A27DB-BD31-4B8C-83A1-F6EECF244321}">
                <p14:modId xmlns:p14="http://schemas.microsoft.com/office/powerpoint/2010/main" val="4131754697"/>
              </p:ext>
            </p:extLst>
          </p:nvPr>
        </p:nvGraphicFramePr>
        <p:xfrm>
          <a:off x="1359280" y="1550644"/>
          <a:ext cx="10240537" cy="889000"/>
        </p:xfrm>
        <a:graphic>
          <a:graphicData uri="http://schemas.openxmlformats.org/drawingml/2006/table">
            <a:tbl>
              <a:tblPr firstRow="1" bandRow="1">
                <a:tableStyleId>{21E4AEA4-8DFA-4A89-87EB-49C32662AFE0}</a:tableStyleId>
              </a:tblPr>
              <a:tblGrid>
                <a:gridCol w="1031223">
                  <a:extLst>
                    <a:ext uri="{9D8B030D-6E8A-4147-A177-3AD203B41FA5}">
                      <a16:colId xmlns:a16="http://schemas.microsoft.com/office/drawing/2014/main" val="773509366"/>
                    </a:ext>
                  </a:extLst>
                </a:gridCol>
                <a:gridCol w="1449977">
                  <a:extLst>
                    <a:ext uri="{9D8B030D-6E8A-4147-A177-3AD203B41FA5}">
                      <a16:colId xmlns:a16="http://schemas.microsoft.com/office/drawing/2014/main" val="1193865247"/>
                    </a:ext>
                  </a:extLst>
                </a:gridCol>
                <a:gridCol w="1136469">
                  <a:extLst>
                    <a:ext uri="{9D8B030D-6E8A-4147-A177-3AD203B41FA5}">
                      <a16:colId xmlns:a16="http://schemas.microsoft.com/office/drawing/2014/main" val="869367937"/>
                    </a:ext>
                  </a:extLst>
                </a:gridCol>
                <a:gridCol w="4297680">
                  <a:extLst>
                    <a:ext uri="{9D8B030D-6E8A-4147-A177-3AD203B41FA5}">
                      <a16:colId xmlns:a16="http://schemas.microsoft.com/office/drawing/2014/main" val="99857605"/>
                    </a:ext>
                  </a:extLst>
                </a:gridCol>
                <a:gridCol w="2325188">
                  <a:extLst>
                    <a:ext uri="{9D8B030D-6E8A-4147-A177-3AD203B41FA5}">
                      <a16:colId xmlns:a16="http://schemas.microsoft.com/office/drawing/2014/main" val="1047766596"/>
                    </a:ext>
                  </a:extLst>
                </a:gridCol>
              </a:tblGrid>
              <a:tr h="370840">
                <a:tc>
                  <a:txBody>
                    <a:bodyPr/>
                    <a:lstStyle/>
                    <a:p>
                      <a:r>
                        <a:rPr lang="zh-CN" altLang="en-US" sz="1400" dirty="0" smtClean="0">
                          <a:latin typeface="+mn-ea"/>
                          <a:ea typeface="+mn-ea"/>
                        </a:rPr>
                        <a:t>任务名称</a:t>
                      </a:r>
                      <a:endParaRPr lang="zh-CN" altLang="en-US" sz="1400" dirty="0">
                        <a:latin typeface="+mn-ea"/>
                        <a:ea typeface="+mn-ea"/>
                      </a:endParaRPr>
                    </a:p>
                  </a:txBody>
                  <a:tcPr/>
                </a:tc>
                <a:tc>
                  <a:txBody>
                    <a:bodyPr/>
                    <a:lstStyle/>
                    <a:p>
                      <a:r>
                        <a:rPr lang="zh-CN" altLang="en-US" sz="1400" dirty="0" smtClean="0">
                          <a:latin typeface="+mn-ea"/>
                          <a:ea typeface="+mn-ea"/>
                        </a:rPr>
                        <a:t>启动条件</a:t>
                      </a:r>
                      <a:endParaRPr lang="zh-CN" altLang="en-US" sz="1400" dirty="0">
                        <a:latin typeface="+mn-ea"/>
                        <a:ea typeface="+mn-ea"/>
                      </a:endParaRPr>
                    </a:p>
                  </a:txBody>
                  <a:tcPr/>
                </a:tc>
                <a:tc>
                  <a:txBody>
                    <a:bodyPr/>
                    <a:lstStyle/>
                    <a:p>
                      <a:r>
                        <a:rPr lang="zh-CN" altLang="en-US" sz="1400" dirty="0" smtClean="0">
                          <a:latin typeface="+mn-ea"/>
                          <a:ea typeface="+mn-ea"/>
                        </a:rPr>
                        <a:t>责任人</a:t>
                      </a:r>
                      <a:endParaRPr lang="zh-CN" altLang="en-US" sz="1400" dirty="0">
                        <a:latin typeface="+mn-ea"/>
                        <a:ea typeface="+mn-ea"/>
                      </a:endParaRPr>
                    </a:p>
                  </a:txBody>
                  <a:tcPr/>
                </a:tc>
                <a:tc>
                  <a:txBody>
                    <a:bodyPr/>
                    <a:lstStyle/>
                    <a:p>
                      <a:r>
                        <a:rPr lang="zh-CN" altLang="en-US" sz="1400" dirty="0" smtClean="0">
                          <a:latin typeface="+mn-ea"/>
                          <a:ea typeface="+mn-ea"/>
                        </a:rPr>
                        <a:t>参与人</a:t>
                      </a:r>
                      <a:endParaRPr lang="zh-CN" altLang="en-US" sz="1400" dirty="0">
                        <a:latin typeface="+mn-ea"/>
                        <a:ea typeface="+mn-ea"/>
                      </a:endParaRPr>
                    </a:p>
                  </a:txBody>
                  <a:tcPr/>
                </a:tc>
                <a:tc>
                  <a:txBody>
                    <a:bodyPr/>
                    <a:lstStyle/>
                    <a:p>
                      <a:r>
                        <a:rPr lang="zh-CN" altLang="en-US" sz="1400" dirty="0" smtClean="0">
                          <a:latin typeface="+mn-ea"/>
                          <a:ea typeface="+mn-ea"/>
                        </a:rPr>
                        <a:t>输出物</a:t>
                      </a:r>
                      <a:endParaRPr lang="zh-CN" altLang="en-US" sz="1400" dirty="0">
                        <a:latin typeface="+mn-ea"/>
                        <a:ea typeface="+mn-ea"/>
                      </a:endParaRPr>
                    </a:p>
                  </a:txBody>
                  <a:tcPr/>
                </a:tc>
                <a:extLst>
                  <a:ext uri="{0D108BD9-81ED-4DB2-BD59-A6C34878D82A}">
                    <a16:rowId xmlns:a16="http://schemas.microsoft.com/office/drawing/2014/main" val="3162067804"/>
                  </a:ext>
                </a:extLst>
              </a:tr>
              <a:tr h="370840">
                <a:tc>
                  <a:txBody>
                    <a:bodyPr/>
                    <a:lstStyle/>
                    <a:p>
                      <a:r>
                        <a:rPr lang="zh-CN" altLang="en-US" sz="1400" dirty="0" smtClean="0">
                          <a:latin typeface="+mn-ea"/>
                          <a:ea typeface="+mn-ea"/>
                        </a:rPr>
                        <a:t>试制准备状态检查</a:t>
                      </a:r>
                      <a:endParaRPr lang="zh-CN" altLang="en-US" sz="1400" dirty="0">
                        <a:latin typeface="+mn-ea"/>
                        <a:ea typeface="+mn-ea"/>
                      </a:endParaRPr>
                    </a:p>
                  </a:txBody>
                  <a:tcPr/>
                </a:tc>
                <a:tc>
                  <a:txBody>
                    <a:bodyPr/>
                    <a:lstStyle/>
                    <a:p>
                      <a:r>
                        <a:rPr lang="zh-CN" altLang="en-US" sz="1400" dirty="0" smtClean="0">
                          <a:latin typeface="+mn-ea"/>
                          <a:ea typeface="+mn-ea"/>
                        </a:rPr>
                        <a:t>试制准备就绪</a:t>
                      </a:r>
                      <a:endParaRPr lang="zh-CN" altLang="en-US" sz="1400" dirty="0">
                        <a:latin typeface="+mn-ea"/>
                        <a:ea typeface="+mn-ea"/>
                      </a:endParaRPr>
                    </a:p>
                  </a:txBody>
                  <a:tcPr/>
                </a:tc>
                <a:tc>
                  <a:txBody>
                    <a:bodyPr/>
                    <a:lstStyle/>
                    <a:p>
                      <a:r>
                        <a:rPr lang="zh-CN" altLang="en-US" sz="1400" dirty="0" smtClean="0">
                          <a:solidFill>
                            <a:srgbClr val="0070C0"/>
                          </a:solidFill>
                          <a:latin typeface="+mn-ea"/>
                          <a:ea typeface="+mn-ea"/>
                        </a:rPr>
                        <a:t>品质管理部</a:t>
                      </a:r>
                      <a:endParaRPr lang="zh-CN" altLang="en-US" sz="1400" dirty="0">
                        <a:solidFill>
                          <a:srgbClr val="0070C0"/>
                        </a:solidFill>
                        <a:latin typeface="+mn-ea"/>
                        <a:ea typeface="+mn-ea"/>
                      </a:endParaRPr>
                    </a:p>
                  </a:txBody>
                  <a:tcPr/>
                </a:tc>
                <a:tc>
                  <a:txBody>
                    <a:bodyPr/>
                    <a:lstStyle/>
                    <a:p>
                      <a:r>
                        <a:rPr lang="zh-CN" altLang="en-US" sz="1400" dirty="0" smtClean="0">
                          <a:latin typeface="+mn-ea"/>
                          <a:ea typeface="+mn-ea"/>
                        </a:rPr>
                        <a:t>制造部、商务部（必要时邀请顾客参加）、产品工程师</a:t>
                      </a:r>
                      <a:endParaRPr lang="zh-CN" altLang="en-US" sz="1400" dirty="0">
                        <a:latin typeface="+mn-ea"/>
                        <a:ea typeface="+mn-ea"/>
                      </a:endParaRPr>
                    </a:p>
                  </a:txBody>
                  <a:tcPr/>
                </a:tc>
                <a:tc>
                  <a:txBody>
                    <a:bodyPr/>
                    <a:lstStyle/>
                    <a:p>
                      <a:r>
                        <a:rPr lang="en-US" altLang="zh-CN" sz="1400" dirty="0" smtClean="0">
                          <a:solidFill>
                            <a:srgbClr val="0070C0"/>
                          </a:solidFill>
                          <a:latin typeface="+mn-ea"/>
                          <a:ea typeface="+mn-ea"/>
                        </a:rPr>
                        <a:t>《</a:t>
                      </a:r>
                      <a:r>
                        <a:rPr lang="en-US" altLang="zh-CN" sz="1400" u="none" strike="noStrike" dirty="0" smtClean="0">
                          <a:solidFill>
                            <a:srgbClr val="0070C0"/>
                          </a:solidFill>
                          <a:effectLst/>
                          <a:latin typeface="+mn-ea"/>
                          <a:ea typeface="+mn-ea"/>
                        </a:rPr>
                        <a:t>QR-D-H-005-005</a:t>
                      </a:r>
                      <a:r>
                        <a:rPr lang="zh-CN" altLang="en-US" sz="1400" dirty="0" smtClean="0">
                          <a:solidFill>
                            <a:srgbClr val="0070C0"/>
                          </a:solidFill>
                          <a:latin typeface="+mn-ea"/>
                          <a:ea typeface="+mn-ea"/>
                        </a:rPr>
                        <a:t>试制准备状态检查表</a:t>
                      </a:r>
                      <a:r>
                        <a:rPr lang="en-US" altLang="zh-CN" sz="1400" dirty="0" smtClean="0">
                          <a:solidFill>
                            <a:srgbClr val="0070C0"/>
                          </a:solidFill>
                          <a:latin typeface="+mn-ea"/>
                          <a:ea typeface="+mn-ea"/>
                        </a:rPr>
                        <a:t>》</a:t>
                      </a:r>
                      <a:endParaRPr lang="zh-CN" altLang="en-US" sz="1400" dirty="0">
                        <a:solidFill>
                          <a:srgbClr val="0070C0"/>
                        </a:solidFill>
                        <a:latin typeface="+mn-ea"/>
                        <a:ea typeface="+mn-ea"/>
                      </a:endParaRPr>
                    </a:p>
                  </a:txBody>
                  <a:tcPr/>
                </a:tc>
                <a:extLst>
                  <a:ext uri="{0D108BD9-81ED-4DB2-BD59-A6C34878D82A}">
                    <a16:rowId xmlns:a16="http://schemas.microsoft.com/office/drawing/2014/main" val="2982289352"/>
                  </a:ext>
                </a:extLst>
              </a:tr>
            </a:tbl>
          </a:graphicData>
        </a:graphic>
      </p:graphicFrame>
      <p:sp>
        <p:nvSpPr>
          <p:cNvPr id="10" name="Oval 104"/>
          <p:cNvSpPr/>
          <p:nvPr/>
        </p:nvSpPr>
        <p:spPr>
          <a:xfrm>
            <a:off x="596339" y="5205636"/>
            <a:ext cx="467663" cy="4676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fontScale="92500" lnSpcReduction="10000"/>
          </a:bodyPr>
          <a:lstStyle/>
          <a:p>
            <a:pPr algn="ctr"/>
            <a:r>
              <a:rPr lang="en-US" b="1" dirty="0" smtClean="0"/>
              <a:t>03</a:t>
            </a:r>
            <a:endParaRPr lang="en-US" b="1" dirty="0"/>
          </a:p>
        </p:txBody>
      </p:sp>
      <p:sp>
        <p:nvSpPr>
          <p:cNvPr id="11" name="Arc 125"/>
          <p:cNvSpPr/>
          <p:nvPr/>
        </p:nvSpPr>
        <p:spPr>
          <a:xfrm rot="5400000" flipV="1">
            <a:off x="1374989" y="5103572"/>
            <a:ext cx="1083950" cy="526607"/>
          </a:xfrm>
          <a:prstGeom prst="arc">
            <a:avLst/>
          </a:prstGeom>
          <a:ln w="38100">
            <a:solidFill>
              <a:schemeClr val="accent2"/>
            </a:solidFill>
            <a:headEnd type="none"/>
            <a:tailEnd type="oval"/>
          </a:ln>
        </p:spPr>
        <p:style>
          <a:lnRef idx="1">
            <a:schemeClr val="accent1"/>
          </a:lnRef>
          <a:fillRef idx="0">
            <a:schemeClr val="accent1"/>
          </a:fillRef>
          <a:effectRef idx="0">
            <a:schemeClr val="accent1"/>
          </a:effectRef>
          <a:fontRef idx="minor">
            <a:schemeClr val="tx1"/>
          </a:fontRef>
        </p:style>
        <p:txBody>
          <a:bodyPr anchor="ctr"/>
          <a:lstStyle/>
          <a:p>
            <a:pPr algn="ctr"/>
            <a:endParaRPr/>
          </a:p>
        </p:txBody>
      </p:sp>
      <p:cxnSp>
        <p:nvCxnSpPr>
          <p:cNvPr id="12" name="Straight Connector 126"/>
          <p:cNvCxnSpPr/>
          <p:nvPr/>
        </p:nvCxnSpPr>
        <p:spPr>
          <a:xfrm>
            <a:off x="1076364" y="5367686"/>
            <a:ext cx="584174" cy="65"/>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Straight Connector 124"/>
          <p:cNvCxnSpPr>
            <a:endCxn id="10" idx="0"/>
          </p:cNvCxnSpPr>
          <p:nvPr/>
        </p:nvCxnSpPr>
        <p:spPr>
          <a:xfrm flipH="1">
            <a:off x="830171" y="2014571"/>
            <a:ext cx="12415" cy="3191065"/>
          </a:xfrm>
          <a:prstGeom prst="line">
            <a:avLst/>
          </a:prstGeom>
          <a:ln w="38100">
            <a:solidFill>
              <a:srgbClr val="C00000"/>
            </a:solidFill>
            <a:headEnd type="none"/>
          </a:ln>
        </p:spPr>
        <p:style>
          <a:lnRef idx="1">
            <a:schemeClr val="accent1"/>
          </a:lnRef>
          <a:fillRef idx="0">
            <a:schemeClr val="accent1"/>
          </a:fillRef>
          <a:effectRef idx="0">
            <a:schemeClr val="accent1"/>
          </a:effectRef>
          <a:fontRef idx="minor">
            <a:schemeClr val="tx1"/>
          </a:fontRef>
        </p:style>
      </p:cxnSp>
      <p:sp>
        <p:nvSpPr>
          <p:cNvPr id="14" name="Oval 147"/>
          <p:cNvSpPr/>
          <p:nvPr/>
        </p:nvSpPr>
        <p:spPr>
          <a:xfrm>
            <a:off x="571188" y="1552339"/>
            <a:ext cx="467663" cy="467665"/>
          </a:xfrm>
          <a:prstGeom prst="ellipse">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6" name="Freeform: Shape 148"/>
          <p:cNvSpPr>
            <a:spLocks/>
          </p:cNvSpPr>
          <p:nvPr/>
        </p:nvSpPr>
        <p:spPr bwMode="auto">
          <a:xfrm>
            <a:off x="648087" y="1646569"/>
            <a:ext cx="294258" cy="273772"/>
          </a:xfrm>
          <a:custGeom>
            <a:avLst/>
            <a:gdLst/>
            <a:ahLst/>
            <a:cxnLst>
              <a:cxn ang="0">
                <a:pos x="13" y="39"/>
              </a:cxn>
              <a:cxn ang="0">
                <a:pos x="8" y="39"/>
              </a:cxn>
              <a:cxn ang="0">
                <a:pos x="0" y="33"/>
              </a:cxn>
              <a:cxn ang="0">
                <a:pos x="5" y="19"/>
              </a:cxn>
              <a:cxn ang="0">
                <a:pos x="15" y="22"/>
              </a:cxn>
              <a:cxn ang="0">
                <a:pos x="20" y="21"/>
              </a:cxn>
              <a:cxn ang="0">
                <a:pos x="20" y="24"/>
              </a:cxn>
              <a:cxn ang="0">
                <a:pos x="23" y="34"/>
              </a:cxn>
              <a:cxn ang="0">
                <a:pos x="13" y="39"/>
              </a:cxn>
              <a:cxn ang="0">
                <a:pos x="15" y="19"/>
              </a:cxn>
              <a:cxn ang="0">
                <a:pos x="5" y="9"/>
              </a:cxn>
              <a:cxn ang="0">
                <a:pos x="15" y="0"/>
              </a:cxn>
              <a:cxn ang="0">
                <a:pos x="25" y="9"/>
              </a:cxn>
              <a:cxn ang="0">
                <a:pos x="15" y="19"/>
              </a:cxn>
              <a:cxn ang="0">
                <a:pos x="53" y="68"/>
              </a:cxn>
              <a:cxn ang="0">
                <a:pos x="20" y="68"/>
              </a:cxn>
              <a:cxn ang="0">
                <a:pos x="10" y="58"/>
              </a:cxn>
              <a:cxn ang="0">
                <a:pos x="23" y="36"/>
              </a:cxn>
              <a:cxn ang="0">
                <a:pos x="37" y="41"/>
              </a:cxn>
              <a:cxn ang="0">
                <a:pos x="50" y="36"/>
              </a:cxn>
              <a:cxn ang="0">
                <a:pos x="64" y="58"/>
              </a:cxn>
              <a:cxn ang="0">
                <a:pos x="53" y="68"/>
              </a:cxn>
              <a:cxn ang="0">
                <a:pos x="37" y="39"/>
              </a:cxn>
              <a:cxn ang="0">
                <a:pos x="22" y="24"/>
              </a:cxn>
              <a:cxn ang="0">
                <a:pos x="37" y="9"/>
              </a:cxn>
              <a:cxn ang="0">
                <a:pos x="51" y="24"/>
              </a:cxn>
              <a:cxn ang="0">
                <a:pos x="37" y="39"/>
              </a:cxn>
              <a:cxn ang="0">
                <a:pos x="59" y="19"/>
              </a:cxn>
              <a:cxn ang="0">
                <a:pos x="49" y="9"/>
              </a:cxn>
              <a:cxn ang="0">
                <a:pos x="59" y="0"/>
              </a:cxn>
              <a:cxn ang="0">
                <a:pos x="68" y="9"/>
              </a:cxn>
              <a:cxn ang="0">
                <a:pos x="59" y="19"/>
              </a:cxn>
              <a:cxn ang="0">
                <a:pos x="66" y="39"/>
              </a:cxn>
              <a:cxn ang="0">
                <a:pos x="61" y="39"/>
              </a:cxn>
              <a:cxn ang="0">
                <a:pos x="51" y="34"/>
              </a:cxn>
              <a:cxn ang="0">
                <a:pos x="54" y="24"/>
              </a:cxn>
              <a:cxn ang="0">
                <a:pos x="54" y="21"/>
              </a:cxn>
              <a:cxn ang="0">
                <a:pos x="59" y="22"/>
              </a:cxn>
              <a:cxn ang="0">
                <a:pos x="69" y="19"/>
              </a:cxn>
              <a:cxn ang="0">
                <a:pos x="73" y="33"/>
              </a:cxn>
              <a:cxn ang="0">
                <a:pos x="66" y="39"/>
              </a:cxn>
            </a:cxnLst>
            <a:rect l="0" t="0" r="r" b="b"/>
            <a:pathLst>
              <a:path w="73" h="68">
                <a:moveTo>
                  <a:pt x="13" y="39"/>
                </a:moveTo>
                <a:cubicBezTo>
                  <a:pt x="8" y="39"/>
                  <a:pt x="8" y="39"/>
                  <a:pt x="8" y="39"/>
                </a:cubicBezTo>
                <a:cubicBezTo>
                  <a:pt x="4" y="39"/>
                  <a:pt x="0" y="37"/>
                  <a:pt x="0" y="33"/>
                </a:cubicBezTo>
                <a:cubicBezTo>
                  <a:pt x="0" y="29"/>
                  <a:pt x="0" y="19"/>
                  <a:pt x="5" y="19"/>
                </a:cubicBezTo>
                <a:cubicBezTo>
                  <a:pt x="6" y="19"/>
                  <a:pt x="10" y="22"/>
                  <a:pt x="15" y="22"/>
                </a:cubicBezTo>
                <a:cubicBezTo>
                  <a:pt x="17" y="22"/>
                  <a:pt x="18" y="22"/>
                  <a:pt x="20" y="21"/>
                </a:cubicBezTo>
                <a:cubicBezTo>
                  <a:pt x="20" y="22"/>
                  <a:pt x="20" y="23"/>
                  <a:pt x="20" y="24"/>
                </a:cubicBezTo>
                <a:cubicBezTo>
                  <a:pt x="20" y="27"/>
                  <a:pt x="21" y="31"/>
                  <a:pt x="23" y="34"/>
                </a:cubicBezTo>
                <a:cubicBezTo>
                  <a:pt x="19" y="34"/>
                  <a:pt x="15" y="36"/>
                  <a:pt x="13" y="39"/>
                </a:cubicBezTo>
                <a:close/>
                <a:moveTo>
                  <a:pt x="15" y="19"/>
                </a:moveTo>
                <a:cubicBezTo>
                  <a:pt x="10" y="19"/>
                  <a:pt x="5" y="15"/>
                  <a:pt x="5" y="9"/>
                </a:cubicBezTo>
                <a:cubicBezTo>
                  <a:pt x="5" y="4"/>
                  <a:pt x="10" y="0"/>
                  <a:pt x="15" y="0"/>
                </a:cubicBezTo>
                <a:cubicBezTo>
                  <a:pt x="20" y="0"/>
                  <a:pt x="25" y="4"/>
                  <a:pt x="25" y="9"/>
                </a:cubicBezTo>
                <a:cubicBezTo>
                  <a:pt x="25" y="15"/>
                  <a:pt x="20" y="19"/>
                  <a:pt x="15" y="19"/>
                </a:cubicBezTo>
                <a:close/>
                <a:moveTo>
                  <a:pt x="53" y="68"/>
                </a:moveTo>
                <a:cubicBezTo>
                  <a:pt x="20" y="68"/>
                  <a:pt x="20" y="68"/>
                  <a:pt x="20" y="68"/>
                </a:cubicBezTo>
                <a:cubicBezTo>
                  <a:pt x="14" y="68"/>
                  <a:pt x="10" y="64"/>
                  <a:pt x="10" y="58"/>
                </a:cubicBezTo>
                <a:cubicBezTo>
                  <a:pt x="10" y="49"/>
                  <a:pt x="12" y="36"/>
                  <a:pt x="23" y="36"/>
                </a:cubicBezTo>
                <a:cubicBezTo>
                  <a:pt x="25" y="36"/>
                  <a:pt x="29" y="41"/>
                  <a:pt x="37" y="41"/>
                </a:cubicBezTo>
                <a:cubicBezTo>
                  <a:pt x="44" y="41"/>
                  <a:pt x="49" y="36"/>
                  <a:pt x="50" y="36"/>
                </a:cubicBezTo>
                <a:cubicBezTo>
                  <a:pt x="62" y="36"/>
                  <a:pt x="64" y="49"/>
                  <a:pt x="64" y="58"/>
                </a:cubicBezTo>
                <a:cubicBezTo>
                  <a:pt x="64" y="64"/>
                  <a:pt x="60" y="68"/>
                  <a:pt x="53" y="68"/>
                </a:cubicBezTo>
                <a:close/>
                <a:moveTo>
                  <a:pt x="37" y="39"/>
                </a:moveTo>
                <a:cubicBezTo>
                  <a:pt x="29" y="39"/>
                  <a:pt x="22" y="32"/>
                  <a:pt x="22" y="24"/>
                </a:cubicBezTo>
                <a:cubicBezTo>
                  <a:pt x="22" y="16"/>
                  <a:pt x="29" y="9"/>
                  <a:pt x="37" y="9"/>
                </a:cubicBezTo>
                <a:cubicBezTo>
                  <a:pt x="45" y="9"/>
                  <a:pt x="51" y="16"/>
                  <a:pt x="51" y="24"/>
                </a:cubicBezTo>
                <a:cubicBezTo>
                  <a:pt x="51" y="32"/>
                  <a:pt x="45" y="39"/>
                  <a:pt x="37" y="39"/>
                </a:cubicBezTo>
                <a:close/>
                <a:moveTo>
                  <a:pt x="59" y="19"/>
                </a:moveTo>
                <a:cubicBezTo>
                  <a:pt x="53" y="19"/>
                  <a:pt x="49" y="15"/>
                  <a:pt x="49" y="9"/>
                </a:cubicBezTo>
                <a:cubicBezTo>
                  <a:pt x="49" y="4"/>
                  <a:pt x="53" y="0"/>
                  <a:pt x="59" y="0"/>
                </a:cubicBezTo>
                <a:cubicBezTo>
                  <a:pt x="64" y="0"/>
                  <a:pt x="68" y="4"/>
                  <a:pt x="68" y="9"/>
                </a:cubicBezTo>
                <a:cubicBezTo>
                  <a:pt x="68" y="15"/>
                  <a:pt x="64" y="19"/>
                  <a:pt x="59" y="19"/>
                </a:cubicBezTo>
                <a:close/>
                <a:moveTo>
                  <a:pt x="66" y="39"/>
                </a:moveTo>
                <a:cubicBezTo>
                  <a:pt x="61" y="39"/>
                  <a:pt x="61" y="39"/>
                  <a:pt x="61" y="39"/>
                </a:cubicBezTo>
                <a:cubicBezTo>
                  <a:pt x="58" y="36"/>
                  <a:pt x="55" y="34"/>
                  <a:pt x="51" y="34"/>
                </a:cubicBezTo>
                <a:cubicBezTo>
                  <a:pt x="53" y="31"/>
                  <a:pt x="54" y="27"/>
                  <a:pt x="54" y="24"/>
                </a:cubicBezTo>
                <a:cubicBezTo>
                  <a:pt x="54" y="23"/>
                  <a:pt x="54" y="22"/>
                  <a:pt x="54" y="21"/>
                </a:cubicBezTo>
                <a:cubicBezTo>
                  <a:pt x="55" y="22"/>
                  <a:pt x="57" y="22"/>
                  <a:pt x="59" y="22"/>
                </a:cubicBezTo>
                <a:cubicBezTo>
                  <a:pt x="64" y="22"/>
                  <a:pt x="68" y="19"/>
                  <a:pt x="69" y="19"/>
                </a:cubicBezTo>
                <a:cubicBezTo>
                  <a:pt x="73" y="19"/>
                  <a:pt x="73" y="29"/>
                  <a:pt x="73" y="33"/>
                </a:cubicBezTo>
                <a:cubicBezTo>
                  <a:pt x="73" y="37"/>
                  <a:pt x="70" y="39"/>
                  <a:pt x="66" y="39"/>
                </a:cubicBezTo>
                <a:close/>
              </a:path>
            </a:pathLst>
          </a:custGeom>
          <a:solidFill>
            <a:srgbClr val="C00000"/>
          </a:solidFill>
          <a:ln w="9525">
            <a:noFill/>
            <a:round/>
            <a:headEnd/>
            <a:tailEnd/>
          </a:ln>
        </p:spPr>
        <p:txBody>
          <a:bodyPr anchor="ctr"/>
          <a:lstStyle/>
          <a:p>
            <a:pPr algn="ctr"/>
            <a:endParaRPr/>
          </a:p>
        </p:txBody>
      </p:sp>
      <p:sp>
        <p:nvSpPr>
          <p:cNvPr id="17" name="Arc 114"/>
          <p:cNvSpPr/>
          <p:nvPr/>
        </p:nvSpPr>
        <p:spPr>
          <a:xfrm rot="5400000" flipV="1">
            <a:off x="534345" y="5207629"/>
            <a:ext cx="616481" cy="612495"/>
          </a:xfrm>
          <a:prstGeom prst="arc">
            <a:avLst/>
          </a:prstGeom>
          <a:ln w="38100">
            <a:solidFill>
              <a:srgbClr val="C00000"/>
            </a:solidFill>
            <a:headEnd type="none"/>
            <a:tailEnd type="oval"/>
          </a:ln>
        </p:spPr>
        <p:style>
          <a:lnRef idx="1">
            <a:schemeClr val="accent1"/>
          </a:lnRef>
          <a:fillRef idx="0">
            <a:schemeClr val="accent1"/>
          </a:fillRef>
          <a:effectRef idx="0">
            <a:schemeClr val="accent1"/>
          </a:effectRef>
          <a:fontRef idx="minor">
            <a:schemeClr val="tx1"/>
          </a:fontRef>
        </p:style>
        <p:txBody>
          <a:bodyPr anchor="ctr"/>
          <a:lstStyle/>
          <a:p>
            <a:pPr algn="ctr"/>
            <a:endParaRPr/>
          </a:p>
        </p:txBody>
      </p:sp>
      <p:cxnSp>
        <p:nvCxnSpPr>
          <p:cNvPr id="18" name="Straight Connector 115"/>
          <p:cNvCxnSpPr/>
          <p:nvPr/>
        </p:nvCxnSpPr>
        <p:spPr>
          <a:xfrm flipV="1">
            <a:off x="163653" y="5532378"/>
            <a:ext cx="401492" cy="1821"/>
          </a:xfrm>
          <a:prstGeom prst="line">
            <a:avLst/>
          </a:prstGeom>
          <a:ln w="38100">
            <a:solidFill>
              <a:srgbClr val="C00000"/>
            </a:solidFill>
            <a:headEnd type="oval"/>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1738490" y="2592563"/>
            <a:ext cx="9691509" cy="3711785"/>
          </a:xfrm>
          <a:prstGeom prst="rect">
            <a:avLst/>
          </a:prstGeom>
          <a:noFill/>
        </p:spPr>
        <p:txBody>
          <a:bodyPr wrap="square" rtlCol="0">
            <a:spAutoFit/>
          </a:bodyPr>
          <a:lstStyle/>
          <a:p>
            <a:pPr marL="171450" indent="-171450">
              <a:lnSpc>
                <a:spcPct val="120000"/>
              </a:lnSpc>
              <a:buFont typeface="Wingdings" panose="05000000000000000000" pitchFamily="2" charset="2"/>
              <a:buChar char="u"/>
            </a:pPr>
            <a:r>
              <a:rPr lang="zh-CN" altLang="en-US" sz="1200" b="1" dirty="0" smtClean="0">
                <a:solidFill>
                  <a:srgbClr val="0070C0"/>
                </a:solidFill>
                <a:latin typeface="+mn-ea"/>
              </a:rPr>
              <a:t>试制准备状态检查过程：</a:t>
            </a:r>
            <a:endParaRPr lang="en-US" altLang="zh-CN" sz="1200" b="1" dirty="0" smtClean="0">
              <a:solidFill>
                <a:srgbClr val="0070C0"/>
              </a:solidFill>
              <a:latin typeface="+mn-ea"/>
            </a:endParaRPr>
          </a:p>
          <a:p>
            <a:pPr marL="171450" indent="-171450">
              <a:lnSpc>
                <a:spcPct val="120000"/>
              </a:lnSpc>
              <a:buFont typeface="Arial" panose="020B0604020202020204" pitchFamily="34" charset="0"/>
              <a:buChar char="•"/>
            </a:pPr>
            <a:r>
              <a:rPr lang="zh-CN" altLang="en-US" sz="1200" dirty="0" smtClean="0">
                <a:solidFill>
                  <a:schemeClr val="tx1">
                    <a:lumMod val="75000"/>
                    <a:lumOff val="25000"/>
                  </a:schemeClr>
                </a:solidFill>
                <a:latin typeface="+mn-ea"/>
              </a:rPr>
              <a:t>为确保试制工作顺利开展，在试制前，试制准备完成后由产品工程师组织品质管理部、制造部、商务部进行试制状态检查（必要时邀请顾客），对检查结果形成的结论，由检查组长（品管）签字确认并归档保存。技术文件的完整性：</a:t>
            </a:r>
            <a:r>
              <a:rPr lang="en-US" altLang="zh-CN" sz="1200" dirty="0" smtClean="0">
                <a:solidFill>
                  <a:schemeClr val="tx1">
                    <a:lumMod val="75000"/>
                    <a:lumOff val="25000"/>
                  </a:schemeClr>
                </a:solidFill>
                <a:latin typeface="+mn-ea"/>
              </a:rPr>
              <a:t>《</a:t>
            </a:r>
            <a:r>
              <a:rPr lang="zh-CN" altLang="en-US" sz="1200" dirty="0" smtClean="0">
                <a:solidFill>
                  <a:schemeClr val="tx1">
                    <a:lumMod val="75000"/>
                    <a:lumOff val="25000"/>
                  </a:schemeClr>
                </a:solidFill>
                <a:latin typeface="+mn-ea"/>
              </a:rPr>
              <a:t>产品生产技术要求</a:t>
            </a:r>
            <a:r>
              <a:rPr lang="en-US" altLang="zh-CN" sz="1200" dirty="0" smtClean="0">
                <a:solidFill>
                  <a:schemeClr val="tx1">
                    <a:lumMod val="75000"/>
                    <a:lumOff val="25000"/>
                  </a:schemeClr>
                </a:solidFill>
                <a:latin typeface="+mn-ea"/>
              </a:rPr>
              <a:t>》</a:t>
            </a:r>
            <a:r>
              <a:rPr lang="zh-CN" altLang="en-US" sz="1200" dirty="0" smtClean="0">
                <a:solidFill>
                  <a:schemeClr val="tx1">
                    <a:lumMod val="75000"/>
                    <a:lumOff val="25000"/>
                  </a:schemeClr>
                </a:solidFill>
                <a:latin typeface="+mn-ea"/>
              </a:rPr>
              <a:t>、生产工艺文件、</a:t>
            </a:r>
            <a:r>
              <a:rPr lang="en-US" altLang="zh-CN" sz="1200" dirty="0" smtClean="0">
                <a:solidFill>
                  <a:schemeClr val="tx1">
                    <a:lumMod val="75000"/>
                    <a:lumOff val="25000"/>
                  </a:schemeClr>
                </a:solidFill>
                <a:latin typeface="+mn-ea"/>
              </a:rPr>
              <a:t>《</a:t>
            </a:r>
            <a:r>
              <a:rPr lang="zh-CN" altLang="en-US" sz="1200" dirty="0" smtClean="0">
                <a:solidFill>
                  <a:schemeClr val="tx1">
                    <a:lumMod val="75000"/>
                    <a:lumOff val="25000"/>
                  </a:schemeClr>
                </a:solidFill>
                <a:latin typeface="+mn-ea"/>
              </a:rPr>
              <a:t>部件规格书</a:t>
            </a:r>
            <a:r>
              <a:rPr lang="en-US" altLang="zh-CN" sz="1200" dirty="0" smtClean="0">
                <a:solidFill>
                  <a:schemeClr val="tx1">
                    <a:lumMod val="75000"/>
                    <a:lumOff val="25000"/>
                  </a:schemeClr>
                </a:solidFill>
                <a:latin typeface="+mn-ea"/>
              </a:rPr>
              <a:t>》</a:t>
            </a:r>
            <a:r>
              <a:rPr lang="zh-CN" altLang="en-US" sz="1200" dirty="0" smtClean="0">
                <a:solidFill>
                  <a:schemeClr val="tx1">
                    <a:lumMod val="75000"/>
                    <a:lumOff val="25000"/>
                  </a:schemeClr>
                </a:solidFill>
                <a:latin typeface="+mn-ea"/>
              </a:rPr>
              <a:t>、兼容性列表、</a:t>
            </a:r>
            <a:r>
              <a:rPr lang="en-US" altLang="zh-CN" sz="1200" dirty="0" smtClean="0">
                <a:solidFill>
                  <a:schemeClr val="tx1">
                    <a:lumMod val="75000"/>
                    <a:lumOff val="25000"/>
                  </a:schemeClr>
                </a:solidFill>
                <a:latin typeface="+mn-ea"/>
              </a:rPr>
              <a:t>BIOS</a:t>
            </a:r>
            <a:r>
              <a:rPr lang="zh-CN" altLang="en-US" sz="1200" dirty="0" smtClean="0">
                <a:solidFill>
                  <a:schemeClr val="tx1">
                    <a:lumMod val="75000"/>
                    <a:lumOff val="25000"/>
                  </a:schemeClr>
                </a:solidFill>
                <a:latin typeface="+mn-ea"/>
              </a:rPr>
              <a:t>及驱动程序、随机资料配置原则等文件是否齐备；</a:t>
            </a:r>
            <a:endParaRPr lang="en-US" altLang="zh-CN" sz="1200" dirty="0" smtClean="0">
              <a:solidFill>
                <a:schemeClr val="tx1">
                  <a:lumMod val="75000"/>
                  <a:lumOff val="25000"/>
                </a:schemeClr>
              </a:solidFill>
              <a:latin typeface="+mn-ea"/>
            </a:endParaRPr>
          </a:p>
          <a:p>
            <a:pPr marL="171450" indent="-171450">
              <a:lnSpc>
                <a:spcPct val="120000"/>
              </a:lnSpc>
              <a:buFont typeface="Wingdings" panose="05000000000000000000" pitchFamily="2" charset="2"/>
              <a:buChar char="u"/>
            </a:pPr>
            <a:r>
              <a:rPr lang="zh-CN" altLang="en-US" sz="1200" b="1" dirty="0" smtClean="0">
                <a:solidFill>
                  <a:srgbClr val="0070C0"/>
                </a:solidFill>
                <a:latin typeface="+mn-ea"/>
              </a:rPr>
              <a:t>检查内容：</a:t>
            </a:r>
            <a:endParaRPr lang="en-US" altLang="zh-CN" sz="1200" dirty="0" smtClean="0">
              <a:solidFill>
                <a:schemeClr val="tx1">
                  <a:lumMod val="75000"/>
                  <a:lumOff val="25000"/>
                </a:schemeClr>
              </a:solidFill>
              <a:latin typeface="+mn-ea"/>
            </a:endParaRPr>
          </a:p>
          <a:p>
            <a:pPr marL="171450" indent="-171450">
              <a:lnSpc>
                <a:spcPct val="120000"/>
              </a:lnSpc>
              <a:buFont typeface="Arial" panose="020B0604020202020204" pitchFamily="34" charset="0"/>
              <a:buChar char="•"/>
            </a:pPr>
            <a:r>
              <a:rPr lang="zh-CN" altLang="en-US" sz="1200" dirty="0" smtClean="0">
                <a:solidFill>
                  <a:schemeClr val="tx1">
                    <a:lumMod val="75000"/>
                    <a:lumOff val="25000"/>
                  </a:schemeClr>
                </a:solidFill>
                <a:latin typeface="+mn-ea"/>
              </a:rPr>
              <a:t>工艺文件的完整性：由产品工程师对</a:t>
            </a:r>
            <a:r>
              <a:rPr lang="en-US" altLang="zh-CN" sz="1200" dirty="0">
                <a:solidFill>
                  <a:schemeClr val="tx1">
                    <a:lumMod val="75000"/>
                    <a:lumOff val="25000"/>
                  </a:schemeClr>
                </a:solidFill>
                <a:latin typeface="+mn-ea"/>
              </a:rPr>
              <a:t>《</a:t>
            </a:r>
            <a:r>
              <a:rPr lang="zh-CN" altLang="en-US" sz="1200" dirty="0">
                <a:solidFill>
                  <a:schemeClr val="tx1">
                    <a:lumMod val="75000"/>
                    <a:lumOff val="25000"/>
                  </a:schemeClr>
                </a:solidFill>
                <a:latin typeface="+mn-ea"/>
              </a:rPr>
              <a:t>产品生产技术要求</a:t>
            </a:r>
            <a:r>
              <a:rPr lang="en-US" altLang="zh-CN" sz="1200" dirty="0" smtClean="0">
                <a:solidFill>
                  <a:schemeClr val="tx1">
                    <a:lumMod val="75000"/>
                    <a:lumOff val="25000"/>
                  </a:schemeClr>
                </a:solidFill>
                <a:latin typeface="+mn-ea"/>
              </a:rPr>
              <a:t>》</a:t>
            </a:r>
            <a:r>
              <a:rPr lang="zh-CN" altLang="en-US" sz="1200" dirty="0" smtClean="0">
                <a:solidFill>
                  <a:schemeClr val="tx1">
                    <a:lumMod val="75000"/>
                    <a:lumOff val="25000"/>
                  </a:schemeClr>
                </a:solidFill>
                <a:latin typeface="+mn-ea"/>
              </a:rPr>
              <a:t>的符合性进行审核；由制造部技术组对各项工艺指导文件是否到位进行落实；</a:t>
            </a:r>
            <a:endParaRPr lang="en-US" altLang="zh-CN" sz="1200" dirty="0" smtClean="0">
              <a:solidFill>
                <a:schemeClr val="tx1">
                  <a:lumMod val="75000"/>
                  <a:lumOff val="25000"/>
                </a:schemeClr>
              </a:solidFill>
              <a:latin typeface="+mn-ea"/>
            </a:endParaRPr>
          </a:p>
          <a:p>
            <a:pPr marL="171450" indent="-171450">
              <a:lnSpc>
                <a:spcPct val="120000"/>
              </a:lnSpc>
              <a:buFont typeface="Arial" panose="020B0604020202020204" pitchFamily="34" charset="0"/>
              <a:buChar char="•"/>
            </a:pPr>
            <a:r>
              <a:rPr lang="zh-CN" altLang="en-US" sz="1200" dirty="0" smtClean="0">
                <a:solidFill>
                  <a:schemeClr val="tx1">
                    <a:lumMod val="75000"/>
                    <a:lumOff val="25000"/>
                  </a:schemeClr>
                </a:solidFill>
                <a:latin typeface="+mn-ea"/>
              </a:rPr>
              <a:t>新产品物料齐备情况：由产品工程师提供新产品部件清单，商务不负责跟踪物料到货情况，确定物料齐备性；</a:t>
            </a:r>
            <a:endParaRPr lang="en-US" altLang="zh-CN" sz="1200" dirty="0" smtClean="0">
              <a:solidFill>
                <a:schemeClr val="tx1">
                  <a:lumMod val="75000"/>
                  <a:lumOff val="25000"/>
                </a:schemeClr>
              </a:solidFill>
              <a:latin typeface="+mn-ea"/>
            </a:endParaRPr>
          </a:p>
          <a:p>
            <a:pPr marL="171450" indent="-171450">
              <a:lnSpc>
                <a:spcPct val="120000"/>
              </a:lnSpc>
              <a:buFont typeface="Arial" panose="020B0604020202020204" pitchFamily="34" charset="0"/>
              <a:buChar char="•"/>
            </a:pPr>
            <a:r>
              <a:rPr lang="zh-CN" altLang="en-US" sz="1200" dirty="0" smtClean="0">
                <a:solidFill>
                  <a:schemeClr val="tx1">
                    <a:lumMod val="75000"/>
                    <a:lumOff val="25000"/>
                  </a:schemeClr>
                </a:solidFill>
                <a:latin typeface="+mn-ea"/>
              </a:rPr>
              <a:t>生产</a:t>
            </a:r>
            <a:r>
              <a:rPr lang="en-US" altLang="zh-CN" sz="1200" dirty="0" smtClean="0">
                <a:solidFill>
                  <a:schemeClr val="tx1">
                    <a:lumMod val="75000"/>
                    <a:lumOff val="25000"/>
                  </a:schemeClr>
                </a:solidFill>
                <a:latin typeface="+mn-ea"/>
              </a:rPr>
              <a:t>BOM</a:t>
            </a:r>
            <a:r>
              <a:rPr lang="zh-CN" altLang="en-US" sz="1200" dirty="0" smtClean="0">
                <a:solidFill>
                  <a:schemeClr val="tx1">
                    <a:lumMod val="75000"/>
                    <a:lumOff val="25000"/>
                  </a:schemeClr>
                </a:solidFill>
                <a:latin typeface="+mn-ea"/>
              </a:rPr>
              <a:t>完成情况：由</a:t>
            </a:r>
            <a:r>
              <a:rPr lang="en-US" altLang="zh-CN" sz="1200" dirty="0" smtClean="0">
                <a:solidFill>
                  <a:schemeClr val="tx1">
                    <a:lumMod val="75000"/>
                    <a:lumOff val="25000"/>
                  </a:schemeClr>
                </a:solidFill>
                <a:latin typeface="+mn-ea"/>
              </a:rPr>
              <a:t>BOM</a:t>
            </a:r>
            <a:r>
              <a:rPr lang="zh-CN" altLang="en-US" sz="1200" dirty="0" smtClean="0">
                <a:solidFill>
                  <a:schemeClr val="tx1">
                    <a:lumMod val="75000"/>
                    <a:lumOff val="25000"/>
                  </a:schemeClr>
                </a:solidFill>
                <a:latin typeface="+mn-ea"/>
              </a:rPr>
              <a:t>工程师在</a:t>
            </a:r>
            <a:r>
              <a:rPr lang="en-US" altLang="zh-CN" sz="1200" dirty="0" smtClean="0">
                <a:solidFill>
                  <a:schemeClr val="tx1">
                    <a:lumMod val="75000"/>
                    <a:lumOff val="25000"/>
                  </a:schemeClr>
                </a:solidFill>
                <a:latin typeface="+mn-ea"/>
              </a:rPr>
              <a:t>ERP</a:t>
            </a:r>
            <a:r>
              <a:rPr lang="zh-CN" altLang="en-US" sz="1200" dirty="0" smtClean="0">
                <a:solidFill>
                  <a:schemeClr val="tx1">
                    <a:lumMod val="75000"/>
                    <a:lumOff val="25000"/>
                  </a:schemeClr>
                </a:solidFill>
                <a:latin typeface="+mn-ea"/>
              </a:rPr>
              <a:t>系统中完后才能所需物料编码及响应机型</a:t>
            </a:r>
            <a:r>
              <a:rPr lang="en-US" altLang="zh-CN" sz="1200" dirty="0" smtClean="0">
                <a:solidFill>
                  <a:schemeClr val="tx1">
                    <a:lumMod val="75000"/>
                    <a:lumOff val="25000"/>
                  </a:schemeClr>
                </a:solidFill>
                <a:latin typeface="+mn-ea"/>
              </a:rPr>
              <a:t>BOM</a:t>
            </a:r>
            <a:r>
              <a:rPr lang="zh-CN" altLang="en-US" sz="1200" dirty="0" smtClean="0">
                <a:solidFill>
                  <a:schemeClr val="tx1">
                    <a:lumMod val="75000"/>
                    <a:lumOff val="25000"/>
                  </a:schemeClr>
                </a:solidFill>
                <a:latin typeface="+mn-ea"/>
              </a:rPr>
              <a:t>的维护工作；</a:t>
            </a:r>
            <a:endParaRPr lang="en-US" altLang="zh-CN" sz="1200" dirty="0" smtClean="0">
              <a:solidFill>
                <a:schemeClr val="tx1">
                  <a:lumMod val="75000"/>
                  <a:lumOff val="25000"/>
                </a:schemeClr>
              </a:solidFill>
              <a:latin typeface="+mn-ea"/>
            </a:endParaRPr>
          </a:p>
          <a:p>
            <a:pPr marL="171450" indent="-171450">
              <a:lnSpc>
                <a:spcPct val="120000"/>
              </a:lnSpc>
              <a:buFont typeface="Arial" panose="020B0604020202020204" pitchFamily="34" charset="0"/>
              <a:buChar char="•"/>
            </a:pPr>
            <a:r>
              <a:rPr lang="zh-CN" altLang="en-US" sz="1200" dirty="0" smtClean="0">
                <a:solidFill>
                  <a:schemeClr val="tx1">
                    <a:lumMod val="75000"/>
                    <a:lumOff val="25000"/>
                  </a:schemeClr>
                </a:solidFill>
                <a:latin typeface="+mn-ea"/>
              </a:rPr>
              <a:t>工装、设备等状态；</a:t>
            </a:r>
            <a:endParaRPr lang="en-US" altLang="zh-CN" sz="1200" dirty="0" smtClean="0">
              <a:solidFill>
                <a:schemeClr val="tx1">
                  <a:lumMod val="75000"/>
                  <a:lumOff val="25000"/>
                </a:schemeClr>
              </a:solidFill>
              <a:latin typeface="+mn-ea"/>
            </a:endParaRPr>
          </a:p>
          <a:p>
            <a:pPr marL="171450" indent="-171450">
              <a:lnSpc>
                <a:spcPct val="120000"/>
              </a:lnSpc>
              <a:buFont typeface="Arial" panose="020B0604020202020204" pitchFamily="34" charset="0"/>
              <a:buChar char="•"/>
            </a:pPr>
            <a:r>
              <a:rPr lang="zh-CN" altLang="en-US" sz="1200" dirty="0" smtClean="0">
                <a:solidFill>
                  <a:schemeClr val="tx1">
                    <a:lumMod val="75000"/>
                    <a:lumOff val="25000"/>
                  </a:schemeClr>
                </a:solidFill>
                <a:latin typeface="+mn-ea"/>
              </a:rPr>
              <a:t>关键岗位人员的培训情况；</a:t>
            </a:r>
            <a:endParaRPr lang="en-US" altLang="zh-CN" sz="1200" dirty="0" smtClean="0">
              <a:solidFill>
                <a:schemeClr val="tx1">
                  <a:lumMod val="75000"/>
                  <a:lumOff val="25000"/>
                </a:schemeClr>
              </a:solidFill>
              <a:latin typeface="+mn-ea"/>
            </a:endParaRPr>
          </a:p>
          <a:p>
            <a:pPr marL="171450" indent="-171450">
              <a:lnSpc>
                <a:spcPct val="120000"/>
              </a:lnSpc>
              <a:buFont typeface="Arial" panose="020B0604020202020204" pitchFamily="34" charset="0"/>
              <a:buChar char="•"/>
            </a:pPr>
            <a:r>
              <a:rPr lang="zh-CN" altLang="en-US" sz="1200" dirty="0">
                <a:solidFill>
                  <a:schemeClr val="tx1">
                    <a:lumMod val="75000"/>
                    <a:lumOff val="25000"/>
                  </a:schemeClr>
                </a:solidFill>
                <a:latin typeface="+mn-ea"/>
              </a:rPr>
              <a:t>首</a:t>
            </a:r>
            <a:r>
              <a:rPr lang="zh-CN" altLang="en-US" sz="1200" dirty="0" smtClean="0">
                <a:solidFill>
                  <a:schemeClr val="tx1">
                    <a:lumMod val="75000"/>
                    <a:lumOff val="25000"/>
                  </a:schemeClr>
                </a:solidFill>
                <a:latin typeface="+mn-ea"/>
              </a:rPr>
              <a:t>件鉴定标准确认</a:t>
            </a:r>
            <a:endParaRPr lang="en-US" altLang="zh-CN" sz="1200" dirty="0" smtClean="0">
              <a:solidFill>
                <a:schemeClr val="tx1">
                  <a:lumMod val="75000"/>
                  <a:lumOff val="25000"/>
                </a:schemeClr>
              </a:solidFill>
              <a:latin typeface="+mn-ea"/>
            </a:endParaRPr>
          </a:p>
          <a:p>
            <a:pPr marL="171450" indent="-171450">
              <a:lnSpc>
                <a:spcPct val="120000"/>
              </a:lnSpc>
              <a:buFont typeface="Wingdings" panose="05000000000000000000" pitchFamily="2" charset="2"/>
              <a:buChar char="u"/>
            </a:pPr>
            <a:r>
              <a:rPr lang="zh-CN" altLang="en-US" sz="1200" b="1" dirty="0">
                <a:solidFill>
                  <a:srgbClr val="0070C0"/>
                </a:solidFill>
                <a:latin typeface="+mn-ea"/>
              </a:rPr>
              <a:t>问题</a:t>
            </a:r>
            <a:r>
              <a:rPr lang="zh-CN" altLang="en-US" sz="1200" b="1" dirty="0" smtClean="0">
                <a:solidFill>
                  <a:srgbClr val="0070C0"/>
                </a:solidFill>
                <a:latin typeface="+mn-ea"/>
              </a:rPr>
              <a:t>处理：</a:t>
            </a:r>
            <a:endParaRPr lang="en-US" altLang="zh-CN" sz="1200" b="1" dirty="0" smtClean="0">
              <a:solidFill>
                <a:srgbClr val="0070C0"/>
              </a:solidFill>
              <a:latin typeface="+mn-ea"/>
            </a:endParaRPr>
          </a:p>
          <a:p>
            <a:pPr marL="171450" indent="-171450">
              <a:lnSpc>
                <a:spcPct val="120000"/>
              </a:lnSpc>
              <a:buFont typeface="Arial" panose="020B0604020202020204" pitchFamily="34" charset="0"/>
              <a:buChar char="•"/>
            </a:pPr>
            <a:r>
              <a:rPr lang="zh-CN" altLang="en-US" sz="1200" dirty="0">
                <a:solidFill>
                  <a:schemeClr val="tx1">
                    <a:lumMod val="75000"/>
                    <a:lumOff val="25000"/>
                  </a:schemeClr>
                </a:solidFill>
                <a:latin typeface="+mn-ea"/>
              </a:rPr>
              <a:t>对于检查中出现的未就绪项，由产品工程师主导推动完成；试制准备状态检查通过后，才能进入试制阶段</a:t>
            </a:r>
            <a:r>
              <a:rPr lang="zh-CN" altLang="en-US" sz="1200" dirty="0" smtClean="0">
                <a:solidFill>
                  <a:schemeClr val="tx1">
                    <a:lumMod val="75000"/>
                    <a:lumOff val="25000"/>
                  </a:schemeClr>
                </a:solidFill>
                <a:latin typeface="+mn-ea"/>
              </a:rPr>
              <a:t>。</a:t>
            </a:r>
            <a:r>
              <a:rPr lang="zh-CN" altLang="en-US" sz="1200" dirty="0">
                <a:solidFill>
                  <a:schemeClr val="tx1">
                    <a:lumMod val="75000"/>
                    <a:lumOff val="25000"/>
                  </a:schemeClr>
                </a:solidFill>
                <a:latin typeface="+mn-ea"/>
              </a:rPr>
              <a:t>对于检查中提出的问题，由检查组长组织协调，限期整改并负责跟踪措施整改结果。</a:t>
            </a:r>
            <a:endParaRPr lang="en-US" altLang="zh-CN" sz="1200" dirty="0">
              <a:solidFill>
                <a:schemeClr val="tx1">
                  <a:lumMod val="75000"/>
                  <a:lumOff val="25000"/>
                </a:schemeClr>
              </a:solidFill>
              <a:latin typeface="+mn-ea"/>
            </a:endParaRPr>
          </a:p>
          <a:p>
            <a:pPr>
              <a:lnSpc>
                <a:spcPct val="120000"/>
              </a:lnSpc>
            </a:pPr>
            <a:endParaRPr lang="en-US" altLang="zh-CN" sz="1200" dirty="0" smtClean="0">
              <a:solidFill>
                <a:schemeClr val="tx1">
                  <a:lumMod val="75000"/>
                  <a:lumOff val="25000"/>
                </a:schemeClr>
              </a:solidFill>
              <a:latin typeface="+mn-ea"/>
            </a:endParaRPr>
          </a:p>
          <a:p>
            <a:pPr>
              <a:lnSpc>
                <a:spcPct val="120000"/>
              </a:lnSpc>
            </a:pPr>
            <a:endParaRPr lang="zh-CN" altLang="en-US" sz="1600" dirty="0" smtClean="0">
              <a:solidFill>
                <a:schemeClr val="tx1">
                  <a:lumMod val="75000"/>
                  <a:lumOff val="25000"/>
                </a:schemeClr>
              </a:solidFill>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1682883926"/>
              </p:ext>
            </p:extLst>
          </p:nvPr>
        </p:nvGraphicFramePr>
        <p:xfrm>
          <a:off x="11058478" y="5407779"/>
          <a:ext cx="914400" cy="828675"/>
        </p:xfrm>
        <a:graphic>
          <a:graphicData uri="http://schemas.openxmlformats.org/presentationml/2006/ole">
            <mc:AlternateContent xmlns:mc="http://schemas.openxmlformats.org/markup-compatibility/2006">
              <mc:Choice xmlns:v="urn:schemas-microsoft-com:vml" Requires="v">
                <p:oleObj spid="_x0000_s2295" name="工作表" showAsIcon="1" r:id="rId4" imgW="914400" imgH="828720" progId="Excel.Sheet.8">
                  <p:embed/>
                </p:oleObj>
              </mc:Choice>
              <mc:Fallback>
                <p:oleObj name="工作表" showAsIcon="1" r:id="rId4" imgW="914400" imgH="828720" progId="Excel.Sheet.8">
                  <p:embed/>
                  <p:pic>
                    <p:nvPicPr>
                      <p:cNvPr id="0" name=""/>
                      <p:cNvPicPr/>
                      <p:nvPr/>
                    </p:nvPicPr>
                    <p:blipFill>
                      <a:blip r:embed="rId5"/>
                      <a:stretch>
                        <a:fillRect/>
                      </a:stretch>
                    </p:blipFill>
                    <p:spPr>
                      <a:xfrm>
                        <a:off x="11058478" y="5407779"/>
                        <a:ext cx="914400" cy="828675"/>
                      </a:xfrm>
                      <a:prstGeom prst="rect">
                        <a:avLst/>
                      </a:prstGeom>
                    </p:spPr>
                  </p:pic>
                </p:oleObj>
              </mc:Fallback>
            </mc:AlternateContent>
          </a:graphicData>
        </a:graphic>
      </p:graphicFrame>
    </p:spTree>
    <p:extLst>
      <p:ext uri="{BB962C8B-B14F-4D97-AF65-F5344CB8AC3E}">
        <p14:creationId xmlns:p14="http://schemas.microsoft.com/office/powerpoint/2010/main" val="266810538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4"/>
          </p:nvPr>
        </p:nvSpPr>
        <p:spPr>
          <a:xfrm>
            <a:off x="277628" y="992362"/>
            <a:ext cx="10515600" cy="405363"/>
          </a:xfrm>
        </p:spPr>
        <p:txBody>
          <a:bodyPr/>
          <a:lstStyle/>
          <a:p>
            <a:pPr>
              <a:buFont typeface="Wingdings" panose="05000000000000000000" pitchFamily="2" charset="2"/>
              <a:buChar char="n"/>
            </a:pPr>
            <a:r>
              <a:rPr lang="en-US" altLang="zh-CN" sz="1800" b="1" dirty="0" smtClean="0">
                <a:latin typeface="+mn-ea"/>
              </a:rPr>
              <a:t>1.3</a:t>
            </a:r>
            <a:r>
              <a:rPr lang="zh-CN" altLang="en-US" sz="1800" b="1" dirty="0" smtClean="0">
                <a:latin typeface="+mn-ea"/>
              </a:rPr>
              <a:t>首件检验</a:t>
            </a:r>
            <a:endParaRPr lang="en-US" altLang="zh-CN" sz="1800" b="1" dirty="0">
              <a:latin typeface="+mn-ea"/>
            </a:endParaRPr>
          </a:p>
          <a:p>
            <a:endParaRPr lang="en-US" altLang="zh-CN" dirty="0" smtClean="0"/>
          </a:p>
          <a:p>
            <a:pPr marL="0" indent="0">
              <a:buNone/>
            </a:pPr>
            <a:endParaRPr lang="zh-CN" altLang="en-US" dirty="0"/>
          </a:p>
        </p:txBody>
      </p:sp>
      <p:sp>
        <p:nvSpPr>
          <p:cNvPr id="4" name="标题 2">
            <a:extLst>
              <a:ext uri="{FF2B5EF4-FFF2-40B4-BE49-F238E27FC236}">
                <a16:creationId xmlns:a16="http://schemas.microsoft.com/office/drawing/2014/main" id="{2B587CB1-41A9-48EF-9229-101563C80EFD}"/>
              </a:ext>
            </a:extLst>
          </p:cNvPr>
          <p:cNvSpPr txBox="1">
            <a:spLocks noGrp="1"/>
          </p:cNvSpPr>
          <p:nvPr>
            <p:ph type="body" sz="quarter" idx="13"/>
          </p:nvPr>
        </p:nvSpPr>
        <p:spPr>
          <a:xfrm>
            <a:off x="0" y="154126"/>
            <a:ext cx="5535428" cy="672075"/>
          </a:xfrm>
          <a:prstGeom prst="rect">
            <a:avLst/>
          </a:prstGeom>
        </p:spPr>
        <p:txBody>
          <a:bodyPr/>
          <a:lstStyle>
            <a:defPPr>
              <a:defRPr lang="zh-CN"/>
            </a:defPPr>
            <a:lvl1pPr algn="ctr">
              <a:spcBef>
                <a:spcPct val="0"/>
              </a:spcBef>
              <a:buNone/>
              <a:defRPr sz="2400" b="1">
                <a:solidFill>
                  <a:schemeClr val="tx1">
                    <a:lumMod val="65000"/>
                    <a:lumOff val="35000"/>
                  </a:schemeClr>
                </a:solidFill>
                <a:latin typeface="微软雅黑" pitchFamily="34" charset="-122"/>
                <a:ea typeface="微软雅黑" pitchFamily="34" charset="-122"/>
              </a:defRPr>
            </a:lvl1pPr>
          </a:lstStyle>
          <a:p>
            <a:pPr defTabSz="1219170"/>
            <a:r>
              <a:rPr lang="zh-CN" altLang="en-US" sz="3200" dirty="0" smtClean="0">
                <a:solidFill>
                  <a:prstClr val="black">
                    <a:lumMod val="65000"/>
                    <a:lumOff val="35000"/>
                  </a:prstClr>
                </a:solidFill>
              </a:rPr>
              <a:t>一、</a:t>
            </a:r>
            <a:r>
              <a:rPr lang="en-US" altLang="zh-CN" sz="3200" dirty="0" smtClean="0">
                <a:solidFill>
                  <a:prstClr val="black">
                    <a:lumMod val="65000"/>
                    <a:lumOff val="35000"/>
                  </a:prstClr>
                </a:solidFill>
              </a:rPr>
              <a:t>L10 </a:t>
            </a:r>
            <a:r>
              <a:rPr lang="zh-CN" altLang="en-US" sz="3200" dirty="0" smtClean="0">
                <a:solidFill>
                  <a:prstClr val="black">
                    <a:lumMod val="65000"/>
                    <a:lumOff val="35000"/>
                  </a:prstClr>
                </a:solidFill>
              </a:rPr>
              <a:t>首件试制</a:t>
            </a:r>
            <a:r>
              <a:rPr lang="en-US" altLang="zh-CN" sz="3200" dirty="0" smtClean="0">
                <a:solidFill>
                  <a:prstClr val="black">
                    <a:lumMod val="65000"/>
                    <a:lumOff val="35000"/>
                  </a:prstClr>
                </a:solidFill>
              </a:rPr>
              <a:t>/</a:t>
            </a:r>
            <a:r>
              <a:rPr lang="zh-CN" altLang="en-US" sz="3200" dirty="0" smtClean="0">
                <a:solidFill>
                  <a:prstClr val="black">
                    <a:lumMod val="65000"/>
                    <a:lumOff val="35000"/>
                  </a:prstClr>
                </a:solidFill>
              </a:rPr>
              <a:t>批量试制</a:t>
            </a:r>
            <a:endParaRPr lang="zh-CN" altLang="en-US" sz="3200" dirty="0">
              <a:solidFill>
                <a:prstClr val="black">
                  <a:lumMod val="65000"/>
                  <a:lumOff val="35000"/>
                </a:prstClr>
              </a:solidFill>
            </a:endParaRPr>
          </a:p>
        </p:txBody>
      </p:sp>
      <p:graphicFrame>
        <p:nvGraphicFramePr>
          <p:cNvPr id="5" name="表格 4"/>
          <p:cNvGraphicFramePr>
            <a:graphicFrameLocks noGrp="1"/>
          </p:cNvGraphicFramePr>
          <p:nvPr>
            <p:extLst>
              <p:ext uri="{D42A27DB-BD31-4B8C-83A1-F6EECF244321}">
                <p14:modId xmlns:p14="http://schemas.microsoft.com/office/powerpoint/2010/main" val="2354475379"/>
              </p:ext>
            </p:extLst>
          </p:nvPr>
        </p:nvGraphicFramePr>
        <p:xfrm>
          <a:off x="1359280" y="1550644"/>
          <a:ext cx="10240537" cy="741680"/>
        </p:xfrm>
        <a:graphic>
          <a:graphicData uri="http://schemas.openxmlformats.org/drawingml/2006/table">
            <a:tbl>
              <a:tblPr firstRow="1" bandRow="1">
                <a:tableStyleId>{21E4AEA4-8DFA-4A89-87EB-49C32662AFE0}</a:tableStyleId>
              </a:tblPr>
              <a:tblGrid>
                <a:gridCol w="1031223">
                  <a:extLst>
                    <a:ext uri="{9D8B030D-6E8A-4147-A177-3AD203B41FA5}">
                      <a16:colId xmlns:a16="http://schemas.microsoft.com/office/drawing/2014/main" val="773509366"/>
                    </a:ext>
                  </a:extLst>
                </a:gridCol>
                <a:gridCol w="2612571">
                  <a:extLst>
                    <a:ext uri="{9D8B030D-6E8A-4147-A177-3AD203B41FA5}">
                      <a16:colId xmlns:a16="http://schemas.microsoft.com/office/drawing/2014/main" val="1193865247"/>
                    </a:ext>
                  </a:extLst>
                </a:gridCol>
                <a:gridCol w="1219960">
                  <a:extLst>
                    <a:ext uri="{9D8B030D-6E8A-4147-A177-3AD203B41FA5}">
                      <a16:colId xmlns:a16="http://schemas.microsoft.com/office/drawing/2014/main" val="869367937"/>
                    </a:ext>
                  </a:extLst>
                </a:gridCol>
                <a:gridCol w="3051595">
                  <a:extLst>
                    <a:ext uri="{9D8B030D-6E8A-4147-A177-3AD203B41FA5}">
                      <a16:colId xmlns:a16="http://schemas.microsoft.com/office/drawing/2014/main" val="99857605"/>
                    </a:ext>
                  </a:extLst>
                </a:gridCol>
                <a:gridCol w="2325188">
                  <a:extLst>
                    <a:ext uri="{9D8B030D-6E8A-4147-A177-3AD203B41FA5}">
                      <a16:colId xmlns:a16="http://schemas.microsoft.com/office/drawing/2014/main" val="1047766596"/>
                    </a:ext>
                  </a:extLst>
                </a:gridCol>
              </a:tblGrid>
              <a:tr h="370840">
                <a:tc>
                  <a:txBody>
                    <a:bodyPr/>
                    <a:lstStyle/>
                    <a:p>
                      <a:r>
                        <a:rPr lang="zh-CN" altLang="en-US" sz="1400" dirty="0" smtClean="0">
                          <a:latin typeface="+mn-ea"/>
                          <a:ea typeface="+mn-ea"/>
                        </a:rPr>
                        <a:t>任务名称</a:t>
                      </a:r>
                      <a:endParaRPr lang="zh-CN" altLang="en-US" sz="1400" dirty="0">
                        <a:latin typeface="+mn-ea"/>
                        <a:ea typeface="+mn-ea"/>
                      </a:endParaRPr>
                    </a:p>
                  </a:txBody>
                  <a:tcPr/>
                </a:tc>
                <a:tc>
                  <a:txBody>
                    <a:bodyPr/>
                    <a:lstStyle/>
                    <a:p>
                      <a:r>
                        <a:rPr lang="zh-CN" altLang="en-US" sz="1400" dirty="0" smtClean="0">
                          <a:latin typeface="+mn-ea"/>
                          <a:ea typeface="+mn-ea"/>
                        </a:rPr>
                        <a:t>启动条件</a:t>
                      </a:r>
                      <a:endParaRPr lang="zh-CN" altLang="en-US" sz="1400" dirty="0">
                        <a:latin typeface="+mn-ea"/>
                        <a:ea typeface="+mn-ea"/>
                      </a:endParaRPr>
                    </a:p>
                  </a:txBody>
                  <a:tcPr/>
                </a:tc>
                <a:tc>
                  <a:txBody>
                    <a:bodyPr/>
                    <a:lstStyle/>
                    <a:p>
                      <a:r>
                        <a:rPr lang="zh-CN" altLang="en-US" sz="1400" dirty="0" smtClean="0">
                          <a:latin typeface="+mn-ea"/>
                          <a:ea typeface="+mn-ea"/>
                        </a:rPr>
                        <a:t>责任人</a:t>
                      </a:r>
                      <a:endParaRPr lang="zh-CN" altLang="en-US" sz="1400" dirty="0">
                        <a:latin typeface="+mn-ea"/>
                        <a:ea typeface="+mn-ea"/>
                      </a:endParaRPr>
                    </a:p>
                  </a:txBody>
                  <a:tcPr/>
                </a:tc>
                <a:tc>
                  <a:txBody>
                    <a:bodyPr/>
                    <a:lstStyle/>
                    <a:p>
                      <a:r>
                        <a:rPr lang="zh-CN" altLang="en-US" sz="1400" dirty="0" smtClean="0">
                          <a:latin typeface="+mn-ea"/>
                          <a:ea typeface="+mn-ea"/>
                        </a:rPr>
                        <a:t>参与人</a:t>
                      </a:r>
                      <a:endParaRPr lang="zh-CN" altLang="en-US" sz="1400" dirty="0">
                        <a:latin typeface="+mn-ea"/>
                        <a:ea typeface="+mn-ea"/>
                      </a:endParaRPr>
                    </a:p>
                  </a:txBody>
                  <a:tcPr/>
                </a:tc>
                <a:tc>
                  <a:txBody>
                    <a:bodyPr/>
                    <a:lstStyle/>
                    <a:p>
                      <a:r>
                        <a:rPr lang="zh-CN" altLang="en-US" sz="1400" dirty="0" smtClean="0">
                          <a:latin typeface="+mn-ea"/>
                          <a:ea typeface="+mn-ea"/>
                        </a:rPr>
                        <a:t>输出物</a:t>
                      </a:r>
                      <a:endParaRPr lang="zh-CN" altLang="en-US" sz="1400" dirty="0">
                        <a:latin typeface="+mn-ea"/>
                        <a:ea typeface="+mn-ea"/>
                      </a:endParaRPr>
                    </a:p>
                  </a:txBody>
                  <a:tcPr/>
                </a:tc>
                <a:extLst>
                  <a:ext uri="{0D108BD9-81ED-4DB2-BD59-A6C34878D82A}">
                    <a16:rowId xmlns:a16="http://schemas.microsoft.com/office/drawing/2014/main" val="3162067804"/>
                  </a:ext>
                </a:extLst>
              </a:tr>
              <a:tr h="370840">
                <a:tc>
                  <a:txBody>
                    <a:bodyPr/>
                    <a:lstStyle/>
                    <a:p>
                      <a:r>
                        <a:rPr lang="zh-CN" altLang="en-US" sz="1400" dirty="0" smtClean="0">
                          <a:latin typeface="+mn-ea"/>
                          <a:ea typeface="+mn-ea"/>
                        </a:rPr>
                        <a:t>首件检验</a:t>
                      </a:r>
                      <a:endParaRPr lang="zh-CN" altLang="en-US" sz="1400" dirty="0">
                        <a:latin typeface="+mn-ea"/>
                        <a:ea typeface="+mn-ea"/>
                      </a:endParaRPr>
                    </a:p>
                  </a:txBody>
                  <a:tcPr/>
                </a:tc>
                <a:tc>
                  <a:txBody>
                    <a:bodyPr/>
                    <a:lstStyle/>
                    <a:p>
                      <a:r>
                        <a:rPr lang="zh-CN" altLang="en-US" sz="1400" dirty="0" smtClean="0">
                          <a:latin typeface="+mn-ea"/>
                          <a:ea typeface="+mn-ea"/>
                        </a:rPr>
                        <a:t>工艺评审及试制状态检查通过</a:t>
                      </a:r>
                      <a:endParaRPr lang="zh-CN" altLang="en-US" sz="1400" dirty="0">
                        <a:latin typeface="+mn-ea"/>
                        <a:ea typeface="+mn-ea"/>
                      </a:endParaRPr>
                    </a:p>
                  </a:txBody>
                  <a:tcPr/>
                </a:tc>
                <a:tc>
                  <a:txBody>
                    <a:bodyPr/>
                    <a:lstStyle/>
                    <a:p>
                      <a:r>
                        <a:rPr lang="zh-CN" altLang="en-US" sz="1400" dirty="0" smtClean="0">
                          <a:solidFill>
                            <a:srgbClr val="0070C0"/>
                          </a:solidFill>
                          <a:latin typeface="+mn-ea"/>
                          <a:ea typeface="+mn-ea"/>
                        </a:rPr>
                        <a:t>制造部</a:t>
                      </a:r>
                      <a:endParaRPr lang="zh-CN" altLang="en-US" sz="1400" dirty="0">
                        <a:solidFill>
                          <a:srgbClr val="0070C0"/>
                        </a:solidFill>
                        <a:latin typeface="+mn-ea"/>
                        <a:ea typeface="+mn-ea"/>
                      </a:endParaRPr>
                    </a:p>
                  </a:txBody>
                  <a:tcPr/>
                </a:tc>
                <a:tc>
                  <a:txBody>
                    <a:bodyPr/>
                    <a:lstStyle/>
                    <a:p>
                      <a:r>
                        <a:rPr lang="zh-CN" altLang="en-US" sz="1400" dirty="0" smtClean="0">
                          <a:latin typeface="+mn-ea"/>
                          <a:ea typeface="+mn-ea"/>
                        </a:rPr>
                        <a:t>产品工程师</a:t>
                      </a:r>
                      <a:endParaRPr lang="zh-CN" altLang="en-US" sz="1400" dirty="0">
                        <a:latin typeface="+mn-ea"/>
                        <a:ea typeface="+mn-ea"/>
                      </a:endParaRPr>
                    </a:p>
                  </a:txBody>
                  <a:tcPr/>
                </a:tc>
                <a:tc>
                  <a:txBody>
                    <a:bodyPr/>
                    <a:lstStyle/>
                    <a:p>
                      <a:r>
                        <a:rPr lang="en-US" altLang="zh-CN" sz="1400" dirty="0" smtClean="0">
                          <a:solidFill>
                            <a:srgbClr val="0070C0"/>
                          </a:solidFill>
                          <a:latin typeface="+mn-ea"/>
                          <a:ea typeface="+mn-ea"/>
                        </a:rPr>
                        <a:t>《</a:t>
                      </a:r>
                      <a:r>
                        <a:rPr lang="zh-CN" altLang="en-US" sz="1400" dirty="0" smtClean="0">
                          <a:solidFill>
                            <a:srgbClr val="0070C0"/>
                          </a:solidFill>
                          <a:latin typeface="+mn-ea"/>
                          <a:ea typeface="+mn-ea"/>
                        </a:rPr>
                        <a:t>首件检验报告</a:t>
                      </a:r>
                      <a:r>
                        <a:rPr lang="en-US" altLang="zh-CN" sz="1400" dirty="0" smtClean="0">
                          <a:solidFill>
                            <a:srgbClr val="0070C0"/>
                          </a:solidFill>
                          <a:latin typeface="+mn-ea"/>
                          <a:ea typeface="+mn-ea"/>
                        </a:rPr>
                        <a:t>》</a:t>
                      </a:r>
                      <a:endParaRPr lang="zh-CN" altLang="en-US" sz="1400" dirty="0">
                        <a:solidFill>
                          <a:srgbClr val="0070C0"/>
                        </a:solidFill>
                        <a:latin typeface="+mn-ea"/>
                        <a:ea typeface="+mn-ea"/>
                      </a:endParaRPr>
                    </a:p>
                  </a:txBody>
                  <a:tcPr/>
                </a:tc>
                <a:extLst>
                  <a:ext uri="{0D108BD9-81ED-4DB2-BD59-A6C34878D82A}">
                    <a16:rowId xmlns:a16="http://schemas.microsoft.com/office/drawing/2014/main" val="2982289352"/>
                  </a:ext>
                </a:extLst>
              </a:tr>
            </a:tbl>
          </a:graphicData>
        </a:graphic>
      </p:graphicFrame>
      <p:sp>
        <p:nvSpPr>
          <p:cNvPr id="10" name="Oval 104"/>
          <p:cNvSpPr/>
          <p:nvPr/>
        </p:nvSpPr>
        <p:spPr>
          <a:xfrm>
            <a:off x="639202" y="4840136"/>
            <a:ext cx="467663" cy="4676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fontScale="92500" lnSpcReduction="10000"/>
          </a:bodyPr>
          <a:lstStyle/>
          <a:p>
            <a:pPr algn="ctr"/>
            <a:r>
              <a:rPr lang="en-US" b="1" dirty="0" smtClean="0"/>
              <a:t>04</a:t>
            </a:r>
            <a:endParaRPr lang="en-US" b="1" dirty="0"/>
          </a:p>
        </p:txBody>
      </p:sp>
      <p:sp>
        <p:nvSpPr>
          <p:cNvPr id="14" name="Oval 147"/>
          <p:cNvSpPr/>
          <p:nvPr/>
        </p:nvSpPr>
        <p:spPr>
          <a:xfrm>
            <a:off x="650582" y="1563886"/>
            <a:ext cx="467663" cy="467665"/>
          </a:xfrm>
          <a:prstGeom prst="ellipse">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6" name="Freeform: Shape 148"/>
          <p:cNvSpPr>
            <a:spLocks/>
          </p:cNvSpPr>
          <p:nvPr/>
        </p:nvSpPr>
        <p:spPr bwMode="auto">
          <a:xfrm>
            <a:off x="744593" y="1660274"/>
            <a:ext cx="294258" cy="273772"/>
          </a:xfrm>
          <a:custGeom>
            <a:avLst/>
            <a:gdLst/>
            <a:ahLst/>
            <a:cxnLst>
              <a:cxn ang="0">
                <a:pos x="13" y="39"/>
              </a:cxn>
              <a:cxn ang="0">
                <a:pos x="8" y="39"/>
              </a:cxn>
              <a:cxn ang="0">
                <a:pos x="0" y="33"/>
              </a:cxn>
              <a:cxn ang="0">
                <a:pos x="5" y="19"/>
              </a:cxn>
              <a:cxn ang="0">
                <a:pos x="15" y="22"/>
              </a:cxn>
              <a:cxn ang="0">
                <a:pos x="20" y="21"/>
              </a:cxn>
              <a:cxn ang="0">
                <a:pos x="20" y="24"/>
              </a:cxn>
              <a:cxn ang="0">
                <a:pos x="23" y="34"/>
              </a:cxn>
              <a:cxn ang="0">
                <a:pos x="13" y="39"/>
              </a:cxn>
              <a:cxn ang="0">
                <a:pos x="15" y="19"/>
              </a:cxn>
              <a:cxn ang="0">
                <a:pos x="5" y="9"/>
              </a:cxn>
              <a:cxn ang="0">
                <a:pos x="15" y="0"/>
              </a:cxn>
              <a:cxn ang="0">
                <a:pos x="25" y="9"/>
              </a:cxn>
              <a:cxn ang="0">
                <a:pos x="15" y="19"/>
              </a:cxn>
              <a:cxn ang="0">
                <a:pos x="53" y="68"/>
              </a:cxn>
              <a:cxn ang="0">
                <a:pos x="20" y="68"/>
              </a:cxn>
              <a:cxn ang="0">
                <a:pos x="10" y="58"/>
              </a:cxn>
              <a:cxn ang="0">
                <a:pos x="23" y="36"/>
              </a:cxn>
              <a:cxn ang="0">
                <a:pos x="37" y="41"/>
              </a:cxn>
              <a:cxn ang="0">
                <a:pos x="50" y="36"/>
              </a:cxn>
              <a:cxn ang="0">
                <a:pos x="64" y="58"/>
              </a:cxn>
              <a:cxn ang="0">
                <a:pos x="53" y="68"/>
              </a:cxn>
              <a:cxn ang="0">
                <a:pos x="37" y="39"/>
              </a:cxn>
              <a:cxn ang="0">
                <a:pos x="22" y="24"/>
              </a:cxn>
              <a:cxn ang="0">
                <a:pos x="37" y="9"/>
              </a:cxn>
              <a:cxn ang="0">
                <a:pos x="51" y="24"/>
              </a:cxn>
              <a:cxn ang="0">
                <a:pos x="37" y="39"/>
              </a:cxn>
              <a:cxn ang="0">
                <a:pos x="59" y="19"/>
              </a:cxn>
              <a:cxn ang="0">
                <a:pos x="49" y="9"/>
              </a:cxn>
              <a:cxn ang="0">
                <a:pos x="59" y="0"/>
              </a:cxn>
              <a:cxn ang="0">
                <a:pos x="68" y="9"/>
              </a:cxn>
              <a:cxn ang="0">
                <a:pos x="59" y="19"/>
              </a:cxn>
              <a:cxn ang="0">
                <a:pos x="66" y="39"/>
              </a:cxn>
              <a:cxn ang="0">
                <a:pos x="61" y="39"/>
              </a:cxn>
              <a:cxn ang="0">
                <a:pos x="51" y="34"/>
              </a:cxn>
              <a:cxn ang="0">
                <a:pos x="54" y="24"/>
              </a:cxn>
              <a:cxn ang="0">
                <a:pos x="54" y="21"/>
              </a:cxn>
              <a:cxn ang="0">
                <a:pos x="59" y="22"/>
              </a:cxn>
              <a:cxn ang="0">
                <a:pos x="69" y="19"/>
              </a:cxn>
              <a:cxn ang="0">
                <a:pos x="73" y="33"/>
              </a:cxn>
              <a:cxn ang="0">
                <a:pos x="66" y="39"/>
              </a:cxn>
            </a:cxnLst>
            <a:rect l="0" t="0" r="r" b="b"/>
            <a:pathLst>
              <a:path w="73" h="68">
                <a:moveTo>
                  <a:pt x="13" y="39"/>
                </a:moveTo>
                <a:cubicBezTo>
                  <a:pt x="8" y="39"/>
                  <a:pt x="8" y="39"/>
                  <a:pt x="8" y="39"/>
                </a:cubicBezTo>
                <a:cubicBezTo>
                  <a:pt x="4" y="39"/>
                  <a:pt x="0" y="37"/>
                  <a:pt x="0" y="33"/>
                </a:cubicBezTo>
                <a:cubicBezTo>
                  <a:pt x="0" y="29"/>
                  <a:pt x="0" y="19"/>
                  <a:pt x="5" y="19"/>
                </a:cubicBezTo>
                <a:cubicBezTo>
                  <a:pt x="6" y="19"/>
                  <a:pt x="10" y="22"/>
                  <a:pt x="15" y="22"/>
                </a:cubicBezTo>
                <a:cubicBezTo>
                  <a:pt x="17" y="22"/>
                  <a:pt x="18" y="22"/>
                  <a:pt x="20" y="21"/>
                </a:cubicBezTo>
                <a:cubicBezTo>
                  <a:pt x="20" y="22"/>
                  <a:pt x="20" y="23"/>
                  <a:pt x="20" y="24"/>
                </a:cubicBezTo>
                <a:cubicBezTo>
                  <a:pt x="20" y="27"/>
                  <a:pt x="21" y="31"/>
                  <a:pt x="23" y="34"/>
                </a:cubicBezTo>
                <a:cubicBezTo>
                  <a:pt x="19" y="34"/>
                  <a:pt x="15" y="36"/>
                  <a:pt x="13" y="39"/>
                </a:cubicBezTo>
                <a:close/>
                <a:moveTo>
                  <a:pt x="15" y="19"/>
                </a:moveTo>
                <a:cubicBezTo>
                  <a:pt x="10" y="19"/>
                  <a:pt x="5" y="15"/>
                  <a:pt x="5" y="9"/>
                </a:cubicBezTo>
                <a:cubicBezTo>
                  <a:pt x="5" y="4"/>
                  <a:pt x="10" y="0"/>
                  <a:pt x="15" y="0"/>
                </a:cubicBezTo>
                <a:cubicBezTo>
                  <a:pt x="20" y="0"/>
                  <a:pt x="25" y="4"/>
                  <a:pt x="25" y="9"/>
                </a:cubicBezTo>
                <a:cubicBezTo>
                  <a:pt x="25" y="15"/>
                  <a:pt x="20" y="19"/>
                  <a:pt x="15" y="19"/>
                </a:cubicBezTo>
                <a:close/>
                <a:moveTo>
                  <a:pt x="53" y="68"/>
                </a:moveTo>
                <a:cubicBezTo>
                  <a:pt x="20" y="68"/>
                  <a:pt x="20" y="68"/>
                  <a:pt x="20" y="68"/>
                </a:cubicBezTo>
                <a:cubicBezTo>
                  <a:pt x="14" y="68"/>
                  <a:pt x="10" y="64"/>
                  <a:pt x="10" y="58"/>
                </a:cubicBezTo>
                <a:cubicBezTo>
                  <a:pt x="10" y="49"/>
                  <a:pt x="12" y="36"/>
                  <a:pt x="23" y="36"/>
                </a:cubicBezTo>
                <a:cubicBezTo>
                  <a:pt x="25" y="36"/>
                  <a:pt x="29" y="41"/>
                  <a:pt x="37" y="41"/>
                </a:cubicBezTo>
                <a:cubicBezTo>
                  <a:pt x="44" y="41"/>
                  <a:pt x="49" y="36"/>
                  <a:pt x="50" y="36"/>
                </a:cubicBezTo>
                <a:cubicBezTo>
                  <a:pt x="62" y="36"/>
                  <a:pt x="64" y="49"/>
                  <a:pt x="64" y="58"/>
                </a:cubicBezTo>
                <a:cubicBezTo>
                  <a:pt x="64" y="64"/>
                  <a:pt x="60" y="68"/>
                  <a:pt x="53" y="68"/>
                </a:cubicBezTo>
                <a:close/>
                <a:moveTo>
                  <a:pt x="37" y="39"/>
                </a:moveTo>
                <a:cubicBezTo>
                  <a:pt x="29" y="39"/>
                  <a:pt x="22" y="32"/>
                  <a:pt x="22" y="24"/>
                </a:cubicBezTo>
                <a:cubicBezTo>
                  <a:pt x="22" y="16"/>
                  <a:pt x="29" y="9"/>
                  <a:pt x="37" y="9"/>
                </a:cubicBezTo>
                <a:cubicBezTo>
                  <a:pt x="45" y="9"/>
                  <a:pt x="51" y="16"/>
                  <a:pt x="51" y="24"/>
                </a:cubicBezTo>
                <a:cubicBezTo>
                  <a:pt x="51" y="32"/>
                  <a:pt x="45" y="39"/>
                  <a:pt x="37" y="39"/>
                </a:cubicBezTo>
                <a:close/>
                <a:moveTo>
                  <a:pt x="59" y="19"/>
                </a:moveTo>
                <a:cubicBezTo>
                  <a:pt x="53" y="19"/>
                  <a:pt x="49" y="15"/>
                  <a:pt x="49" y="9"/>
                </a:cubicBezTo>
                <a:cubicBezTo>
                  <a:pt x="49" y="4"/>
                  <a:pt x="53" y="0"/>
                  <a:pt x="59" y="0"/>
                </a:cubicBezTo>
                <a:cubicBezTo>
                  <a:pt x="64" y="0"/>
                  <a:pt x="68" y="4"/>
                  <a:pt x="68" y="9"/>
                </a:cubicBezTo>
                <a:cubicBezTo>
                  <a:pt x="68" y="15"/>
                  <a:pt x="64" y="19"/>
                  <a:pt x="59" y="19"/>
                </a:cubicBezTo>
                <a:close/>
                <a:moveTo>
                  <a:pt x="66" y="39"/>
                </a:moveTo>
                <a:cubicBezTo>
                  <a:pt x="61" y="39"/>
                  <a:pt x="61" y="39"/>
                  <a:pt x="61" y="39"/>
                </a:cubicBezTo>
                <a:cubicBezTo>
                  <a:pt x="58" y="36"/>
                  <a:pt x="55" y="34"/>
                  <a:pt x="51" y="34"/>
                </a:cubicBezTo>
                <a:cubicBezTo>
                  <a:pt x="53" y="31"/>
                  <a:pt x="54" y="27"/>
                  <a:pt x="54" y="24"/>
                </a:cubicBezTo>
                <a:cubicBezTo>
                  <a:pt x="54" y="23"/>
                  <a:pt x="54" y="22"/>
                  <a:pt x="54" y="21"/>
                </a:cubicBezTo>
                <a:cubicBezTo>
                  <a:pt x="55" y="22"/>
                  <a:pt x="57" y="22"/>
                  <a:pt x="59" y="22"/>
                </a:cubicBezTo>
                <a:cubicBezTo>
                  <a:pt x="64" y="22"/>
                  <a:pt x="68" y="19"/>
                  <a:pt x="69" y="19"/>
                </a:cubicBezTo>
                <a:cubicBezTo>
                  <a:pt x="73" y="19"/>
                  <a:pt x="73" y="29"/>
                  <a:pt x="73" y="33"/>
                </a:cubicBezTo>
                <a:cubicBezTo>
                  <a:pt x="73" y="37"/>
                  <a:pt x="70" y="39"/>
                  <a:pt x="66" y="39"/>
                </a:cubicBezTo>
                <a:close/>
              </a:path>
            </a:pathLst>
          </a:custGeom>
          <a:solidFill>
            <a:srgbClr val="C00000"/>
          </a:solidFill>
          <a:ln w="9525">
            <a:noFill/>
            <a:round/>
            <a:headEnd/>
            <a:tailEnd/>
          </a:ln>
        </p:spPr>
        <p:txBody>
          <a:bodyPr anchor="ctr"/>
          <a:lstStyle/>
          <a:p>
            <a:pPr algn="ctr"/>
            <a:endParaRPr/>
          </a:p>
        </p:txBody>
      </p:sp>
      <p:sp>
        <p:nvSpPr>
          <p:cNvPr id="26" name="文本框 25"/>
          <p:cNvSpPr txBox="1"/>
          <p:nvPr/>
        </p:nvSpPr>
        <p:spPr>
          <a:xfrm>
            <a:off x="1359279" y="2529744"/>
            <a:ext cx="10240537" cy="1865126"/>
          </a:xfrm>
          <a:prstGeom prst="rect">
            <a:avLst/>
          </a:prstGeom>
          <a:noFill/>
        </p:spPr>
        <p:txBody>
          <a:bodyPr wrap="square" rtlCol="0">
            <a:spAutoFit/>
          </a:bodyPr>
          <a:lstStyle/>
          <a:p>
            <a:pPr marL="171450" indent="-171450">
              <a:lnSpc>
                <a:spcPct val="120000"/>
              </a:lnSpc>
              <a:buFont typeface="Wingdings" panose="05000000000000000000" pitchFamily="2" charset="2"/>
              <a:buChar char="u"/>
            </a:pPr>
            <a:r>
              <a:rPr lang="zh-CN" altLang="en-US" sz="1200" b="1" dirty="0" smtClean="0">
                <a:solidFill>
                  <a:srgbClr val="0070C0"/>
                </a:solidFill>
                <a:latin typeface="+mn-ea"/>
              </a:rPr>
              <a:t>首件检验过程：</a:t>
            </a:r>
            <a:endParaRPr lang="en-US" altLang="zh-CN" sz="1200" b="1" dirty="0" smtClean="0">
              <a:solidFill>
                <a:srgbClr val="0070C0"/>
              </a:solidFill>
              <a:latin typeface="+mn-ea"/>
            </a:endParaRPr>
          </a:p>
          <a:p>
            <a:pPr marL="171450" indent="-171450">
              <a:lnSpc>
                <a:spcPct val="120000"/>
              </a:lnSpc>
              <a:buFont typeface="Wingdings" panose="05000000000000000000" pitchFamily="2" charset="2"/>
              <a:buChar char="ü"/>
            </a:pPr>
            <a:r>
              <a:rPr lang="zh-CN" altLang="en-US" sz="1200" dirty="0" smtClean="0">
                <a:solidFill>
                  <a:schemeClr val="tx1">
                    <a:lumMod val="75000"/>
                    <a:lumOff val="25000"/>
                  </a:schemeClr>
                </a:solidFill>
                <a:latin typeface="+mn-ea"/>
              </a:rPr>
              <a:t>在新品试制前，产品工程师应提供完成的产品</a:t>
            </a:r>
            <a:r>
              <a:rPr lang="en-US" altLang="zh-CN" sz="1200" dirty="0" smtClean="0">
                <a:solidFill>
                  <a:schemeClr val="tx1">
                    <a:lumMod val="75000"/>
                    <a:lumOff val="25000"/>
                  </a:schemeClr>
                </a:solidFill>
                <a:latin typeface="+mn-ea"/>
              </a:rPr>
              <a:t>BOM</a:t>
            </a:r>
            <a:r>
              <a:rPr lang="zh-CN" altLang="en-US" sz="1200" dirty="0" smtClean="0">
                <a:solidFill>
                  <a:schemeClr val="tx1">
                    <a:lumMod val="75000"/>
                    <a:lumOff val="25000"/>
                  </a:schemeClr>
                </a:solidFill>
                <a:latin typeface="+mn-ea"/>
              </a:rPr>
              <a:t>，由制造部产线人员按生产工艺文件和正常产品生产流程进行操作，首先进行首批机器的投产，制造部技术组确认产线操作与生产指导文件的符合性和合理性。完成</a:t>
            </a:r>
            <a:r>
              <a:rPr lang="zh-CN" altLang="en-US" sz="1200" dirty="0">
                <a:solidFill>
                  <a:schemeClr val="tx1">
                    <a:lumMod val="75000"/>
                    <a:lumOff val="25000"/>
                  </a:schemeClr>
                </a:solidFill>
                <a:latin typeface="+mn-ea"/>
              </a:rPr>
              <a:t>首</a:t>
            </a:r>
            <a:r>
              <a:rPr lang="zh-CN" altLang="en-US" sz="1200" dirty="0" smtClean="0">
                <a:solidFill>
                  <a:schemeClr val="tx1">
                    <a:lumMod val="75000"/>
                    <a:lumOff val="25000"/>
                  </a:schemeClr>
                </a:solidFill>
                <a:latin typeface="+mn-ea"/>
              </a:rPr>
              <a:t>台机器装配后，首先由制造部进行检验，检验通过则输出</a:t>
            </a:r>
            <a:r>
              <a:rPr lang="en-US" altLang="zh-CN" sz="1200" dirty="0" smtClean="0">
                <a:solidFill>
                  <a:schemeClr val="tx1">
                    <a:lumMod val="75000"/>
                    <a:lumOff val="25000"/>
                  </a:schemeClr>
                </a:solidFill>
                <a:latin typeface="+mn-ea"/>
              </a:rPr>
              <a:t>《</a:t>
            </a:r>
            <a:r>
              <a:rPr lang="zh-CN" altLang="en-US" sz="1200" dirty="0" smtClean="0">
                <a:solidFill>
                  <a:schemeClr val="tx1">
                    <a:lumMod val="75000"/>
                    <a:lumOff val="25000"/>
                  </a:schemeClr>
                </a:solidFill>
                <a:latin typeface="+mn-ea"/>
              </a:rPr>
              <a:t>首件检验报告</a:t>
            </a:r>
            <a:r>
              <a:rPr lang="en-US" altLang="zh-CN" sz="1200" dirty="0" smtClean="0">
                <a:solidFill>
                  <a:schemeClr val="tx1">
                    <a:lumMod val="75000"/>
                    <a:lumOff val="25000"/>
                  </a:schemeClr>
                </a:solidFill>
                <a:latin typeface="+mn-ea"/>
              </a:rPr>
              <a:t>》</a:t>
            </a:r>
            <a:r>
              <a:rPr lang="zh-CN" altLang="en-US" sz="1200" dirty="0" smtClean="0">
                <a:solidFill>
                  <a:schemeClr val="tx1">
                    <a:lumMod val="75000"/>
                    <a:lumOff val="25000"/>
                  </a:schemeClr>
                </a:solidFill>
                <a:latin typeface="+mn-ea"/>
              </a:rPr>
              <a:t>。</a:t>
            </a:r>
            <a:endParaRPr lang="en-US" altLang="zh-CN" sz="1200" dirty="0" smtClean="0">
              <a:solidFill>
                <a:schemeClr val="tx1">
                  <a:lumMod val="75000"/>
                  <a:lumOff val="25000"/>
                </a:schemeClr>
              </a:solidFill>
              <a:latin typeface="+mn-ea"/>
            </a:endParaRPr>
          </a:p>
          <a:p>
            <a:pPr marL="285750" indent="-285750">
              <a:lnSpc>
                <a:spcPct val="120000"/>
              </a:lnSpc>
              <a:buFont typeface="Wingdings" panose="05000000000000000000" pitchFamily="2" charset="2"/>
              <a:buChar char="u"/>
            </a:pPr>
            <a:r>
              <a:rPr lang="zh-CN" altLang="en-US" sz="1200" b="1" dirty="0" smtClean="0">
                <a:solidFill>
                  <a:srgbClr val="0070C0"/>
                </a:solidFill>
                <a:latin typeface="+mn-ea"/>
              </a:rPr>
              <a:t>问题处理：</a:t>
            </a:r>
            <a:endParaRPr lang="en-US" altLang="zh-CN" sz="1200" b="1" dirty="0" smtClean="0">
              <a:solidFill>
                <a:srgbClr val="0070C0"/>
              </a:solidFill>
              <a:latin typeface="+mn-ea"/>
            </a:endParaRPr>
          </a:p>
          <a:p>
            <a:pPr marL="171450" indent="-171450">
              <a:lnSpc>
                <a:spcPct val="120000"/>
              </a:lnSpc>
              <a:buFont typeface="Arial" panose="020B0604020202020204" pitchFamily="34" charset="0"/>
              <a:buChar char="•"/>
            </a:pPr>
            <a:r>
              <a:rPr lang="zh-CN" altLang="en-US" sz="1200" dirty="0" smtClean="0">
                <a:solidFill>
                  <a:schemeClr val="tx1">
                    <a:lumMod val="75000"/>
                    <a:lumOff val="25000"/>
                  </a:schemeClr>
                </a:solidFill>
                <a:latin typeface="+mn-ea"/>
              </a:rPr>
              <a:t>若</a:t>
            </a:r>
            <a:r>
              <a:rPr lang="zh-CN" altLang="en-US" sz="1200" dirty="0">
                <a:solidFill>
                  <a:schemeClr val="tx1">
                    <a:lumMod val="75000"/>
                    <a:lumOff val="25000"/>
                  </a:schemeClr>
                </a:solidFill>
                <a:latin typeface="+mn-ea"/>
              </a:rPr>
              <a:t>产线</a:t>
            </a:r>
            <a:r>
              <a:rPr lang="zh-CN" altLang="en-US" sz="1200" dirty="0" smtClean="0">
                <a:solidFill>
                  <a:schemeClr val="tx1">
                    <a:lumMod val="75000"/>
                    <a:lumOff val="25000"/>
                  </a:schemeClr>
                </a:solidFill>
                <a:latin typeface="+mn-ea"/>
              </a:rPr>
              <a:t>操作生产与</a:t>
            </a:r>
            <a:r>
              <a:rPr lang="zh-CN" altLang="en-US" sz="1200" dirty="0">
                <a:solidFill>
                  <a:schemeClr val="tx1">
                    <a:lumMod val="75000"/>
                    <a:lumOff val="25000"/>
                  </a:schemeClr>
                </a:solidFill>
                <a:latin typeface="+mn-ea"/>
              </a:rPr>
              <a:t>指导不符，应责令整改或重新培训；</a:t>
            </a:r>
            <a:endParaRPr lang="en-US" altLang="zh-CN" sz="1200" dirty="0">
              <a:solidFill>
                <a:schemeClr val="tx1">
                  <a:lumMod val="75000"/>
                  <a:lumOff val="25000"/>
                </a:schemeClr>
              </a:solidFill>
              <a:latin typeface="+mn-ea"/>
            </a:endParaRPr>
          </a:p>
          <a:p>
            <a:pPr marL="171450" indent="-171450">
              <a:lnSpc>
                <a:spcPct val="120000"/>
              </a:lnSpc>
              <a:buFont typeface="Arial" panose="020B0604020202020204" pitchFamily="34" charset="0"/>
              <a:buChar char="•"/>
            </a:pPr>
            <a:r>
              <a:rPr lang="zh-CN" altLang="en-US" sz="1200" dirty="0">
                <a:solidFill>
                  <a:schemeClr val="tx1">
                    <a:lumMod val="75000"/>
                    <a:lumOff val="25000"/>
                  </a:schemeClr>
                </a:solidFill>
                <a:latin typeface="+mn-ea"/>
              </a:rPr>
              <a:t>若</a:t>
            </a:r>
            <a:r>
              <a:rPr lang="zh-CN" altLang="en-US" sz="1200" dirty="0" smtClean="0">
                <a:solidFill>
                  <a:schemeClr val="tx1">
                    <a:lumMod val="75000"/>
                    <a:lumOff val="25000"/>
                  </a:schemeClr>
                </a:solidFill>
                <a:latin typeface="+mn-ea"/>
              </a:rPr>
              <a:t>发现</a:t>
            </a:r>
            <a:r>
              <a:rPr lang="zh-CN" altLang="en-US" sz="1200" dirty="0">
                <a:solidFill>
                  <a:schemeClr val="tx1">
                    <a:lumMod val="75000"/>
                    <a:lumOff val="25000"/>
                  </a:schemeClr>
                </a:solidFill>
                <a:latin typeface="+mn-ea"/>
              </a:rPr>
              <a:t>生产</a:t>
            </a:r>
            <a:r>
              <a:rPr lang="zh-CN" altLang="en-US" sz="1200" dirty="0" smtClean="0">
                <a:solidFill>
                  <a:schemeClr val="tx1">
                    <a:lumMod val="75000"/>
                    <a:lumOff val="25000"/>
                  </a:schemeClr>
                </a:solidFill>
                <a:latin typeface="+mn-ea"/>
              </a:rPr>
              <a:t>指导</a:t>
            </a:r>
            <a:r>
              <a:rPr lang="zh-CN" altLang="en-US" sz="1200" dirty="0">
                <a:solidFill>
                  <a:schemeClr val="tx1">
                    <a:lumMod val="75000"/>
                    <a:lumOff val="25000"/>
                  </a:schemeClr>
                </a:solidFill>
                <a:latin typeface="+mn-ea"/>
              </a:rPr>
              <a:t>不合理，需要启动更改，更改结果需经产品经理确认；</a:t>
            </a:r>
            <a:endParaRPr lang="en-US" altLang="zh-CN" sz="1200" dirty="0">
              <a:solidFill>
                <a:schemeClr val="tx1">
                  <a:lumMod val="75000"/>
                  <a:lumOff val="25000"/>
                </a:schemeClr>
              </a:solidFill>
              <a:latin typeface="+mn-ea"/>
            </a:endParaRPr>
          </a:p>
          <a:p>
            <a:pPr marL="171450" indent="-171450">
              <a:lnSpc>
                <a:spcPct val="120000"/>
              </a:lnSpc>
              <a:buFont typeface="Arial" panose="020B0604020202020204" pitchFamily="34" charset="0"/>
              <a:buChar char="•"/>
            </a:pPr>
            <a:r>
              <a:rPr lang="zh-CN" altLang="en-US" sz="1200" dirty="0" smtClean="0">
                <a:solidFill>
                  <a:schemeClr val="tx1">
                    <a:lumMod val="75000"/>
                    <a:lumOff val="25000"/>
                  </a:schemeClr>
                </a:solidFill>
                <a:latin typeface="+mn-ea"/>
              </a:rPr>
              <a:t>如问题只需生产指导更改解决，</a:t>
            </a:r>
            <a:r>
              <a:rPr lang="zh-CN" altLang="en-US" sz="1200" dirty="0">
                <a:solidFill>
                  <a:schemeClr val="tx1">
                    <a:lumMod val="75000"/>
                    <a:lumOff val="25000"/>
                  </a:schemeClr>
                </a:solidFill>
                <a:latin typeface="+mn-ea"/>
              </a:rPr>
              <a:t>不影响产品试制过程的继续进行及试生产通过与否的结论</a:t>
            </a:r>
            <a:r>
              <a:rPr lang="zh-CN" altLang="en-US" sz="1200" dirty="0" smtClean="0">
                <a:solidFill>
                  <a:schemeClr val="tx1">
                    <a:lumMod val="75000"/>
                    <a:lumOff val="25000"/>
                  </a:schemeClr>
                </a:solidFill>
                <a:latin typeface="+mn-ea"/>
              </a:rPr>
              <a:t>。</a:t>
            </a:r>
            <a:endParaRPr lang="en-US" altLang="zh-CN" sz="1200" dirty="0" smtClean="0">
              <a:solidFill>
                <a:schemeClr val="tx1">
                  <a:lumMod val="75000"/>
                  <a:lumOff val="25000"/>
                </a:schemeClr>
              </a:solidFill>
              <a:latin typeface="+mn-ea"/>
            </a:endParaRPr>
          </a:p>
          <a:p>
            <a:pPr marL="171450" indent="-171450">
              <a:lnSpc>
                <a:spcPct val="120000"/>
              </a:lnSpc>
              <a:buFont typeface="Arial" panose="020B0604020202020204" pitchFamily="34" charset="0"/>
              <a:buChar char="•"/>
            </a:pPr>
            <a:r>
              <a:rPr lang="zh-CN" altLang="en-US" sz="1200" dirty="0">
                <a:solidFill>
                  <a:schemeClr val="tx1">
                    <a:lumMod val="75000"/>
                    <a:lumOff val="25000"/>
                  </a:schemeClr>
                </a:solidFill>
                <a:latin typeface="+mn-ea"/>
              </a:rPr>
              <a:t>如</a:t>
            </a:r>
            <a:r>
              <a:rPr lang="zh-CN" altLang="en-US" sz="1200" dirty="0" smtClean="0">
                <a:solidFill>
                  <a:schemeClr val="tx1">
                    <a:lumMod val="75000"/>
                    <a:lumOff val="25000"/>
                  </a:schemeClr>
                </a:solidFill>
                <a:latin typeface="+mn-ea"/>
              </a:rPr>
              <a:t>有严重问题需研发端解决及解决周期较长，则无法继续进行试制。</a:t>
            </a:r>
            <a:endParaRPr lang="en-US" altLang="zh-CN" sz="1200" dirty="0" smtClean="0">
              <a:solidFill>
                <a:schemeClr val="tx1">
                  <a:lumMod val="75000"/>
                  <a:lumOff val="25000"/>
                </a:schemeClr>
              </a:solidFill>
              <a:latin typeface="+mn-ea"/>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3473828713"/>
              </p:ext>
            </p:extLst>
          </p:nvPr>
        </p:nvGraphicFramePr>
        <p:xfrm>
          <a:off x="1929215" y="4726554"/>
          <a:ext cx="914400" cy="828675"/>
        </p:xfrm>
        <a:graphic>
          <a:graphicData uri="http://schemas.openxmlformats.org/presentationml/2006/ole">
            <mc:AlternateContent xmlns:mc="http://schemas.openxmlformats.org/markup-compatibility/2006">
              <mc:Choice xmlns:v="urn:schemas-microsoft-com:vml" Requires="v">
                <p:oleObj spid="_x0000_s3302" name="Document" showAsIcon="1" r:id="rId4" imgW="914400" imgH="828720" progId="Word.Document.8">
                  <p:embed/>
                </p:oleObj>
              </mc:Choice>
              <mc:Fallback>
                <p:oleObj name="Document" showAsIcon="1" r:id="rId4" imgW="914400" imgH="828720" progId="Word.Document.8">
                  <p:embed/>
                  <p:pic>
                    <p:nvPicPr>
                      <p:cNvPr id="0" name=""/>
                      <p:cNvPicPr/>
                      <p:nvPr/>
                    </p:nvPicPr>
                    <p:blipFill>
                      <a:blip r:embed="rId5"/>
                      <a:stretch>
                        <a:fillRect/>
                      </a:stretch>
                    </p:blipFill>
                    <p:spPr>
                      <a:xfrm>
                        <a:off x="1929215" y="4726554"/>
                        <a:ext cx="914400" cy="828675"/>
                      </a:xfrm>
                      <a:prstGeom prst="rect">
                        <a:avLst/>
                      </a:prstGeom>
                    </p:spPr>
                  </p:pic>
                </p:oleObj>
              </mc:Fallback>
            </mc:AlternateContent>
          </a:graphicData>
        </a:graphic>
      </p:graphicFrame>
      <p:sp>
        <p:nvSpPr>
          <p:cNvPr id="15" name="Arc 125"/>
          <p:cNvSpPr/>
          <p:nvPr/>
        </p:nvSpPr>
        <p:spPr>
          <a:xfrm rot="5400000" flipV="1">
            <a:off x="1387240" y="4712086"/>
            <a:ext cx="1083950" cy="526607"/>
          </a:xfrm>
          <a:prstGeom prst="arc">
            <a:avLst/>
          </a:prstGeom>
          <a:ln w="38100">
            <a:solidFill>
              <a:srgbClr val="C00000"/>
            </a:solidFill>
            <a:headEnd type="none"/>
            <a:tailEnd type="oval"/>
          </a:ln>
        </p:spPr>
        <p:style>
          <a:lnRef idx="1">
            <a:schemeClr val="accent1"/>
          </a:lnRef>
          <a:fillRef idx="0">
            <a:schemeClr val="accent1"/>
          </a:fillRef>
          <a:effectRef idx="0">
            <a:schemeClr val="accent1"/>
          </a:effectRef>
          <a:fontRef idx="minor">
            <a:schemeClr val="tx1"/>
          </a:fontRef>
        </p:style>
        <p:txBody>
          <a:bodyPr anchor="ctr"/>
          <a:lstStyle/>
          <a:p>
            <a:pPr algn="ctr"/>
            <a:endParaRPr/>
          </a:p>
        </p:txBody>
      </p:sp>
      <p:cxnSp>
        <p:nvCxnSpPr>
          <p:cNvPr id="19" name="Straight Connector 126"/>
          <p:cNvCxnSpPr/>
          <p:nvPr/>
        </p:nvCxnSpPr>
        <p:spPr>
          <a:xfrm>
            <a:off x="1088615" y="4976200"/>
            <a:ext cx="584174" cy="65"/>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24"/>
          <p:cNvCxnSpPr/>
          <p:nvPr/>
        </p:nvCxnSpPr>
        <p:spPr>
          <a:xfrm>
            <a:off x="842587" y="2014571"/>
            <a:ext cx="12250" cy="2810329"/>
          </a:xfrm>
          <a:prstGeom prst="line">
            <a:avLst/>
          </a:prstGeom>
          <a:ln w="38100">
            <a:solidFill>
              <a:srgbClr val="C00000"/>
            </a:solidFill>
            <a:headEnd type="none"/>
          </a:ln>
        </p:spPr>
        <p:style>
          <a:lnRef idx="1">
            <a:schemeClr val="accent1"/>
          </a:lnRef>
          <a:fillRef idx="0">
            <a:schemeClr val="accent1"/>
          </a:fillRef>
          <a:effectRef idx="0">
            <a:schemeClr val="accent1"/>
          </a:effectRef>
          <a:fontRef idx="minor">
            <a:schemeClr val="tx1"/>
          </a:fontRef>
        </p:style>
      </p:cxnSp>
      <p:sp>
        <p:nvSpPr>
          <p:cNvPr id="21" name="Arc 114"/>
          <p:cNvSpPr/>
          <p:nvPr/>
        </p:nvSpPr>
        <p:spPr>
          <a:xfrm rot="5400000" flipV="1">
            <a:off x="546596" y="4816143"/>
            <a:ext cx="616481" cy="612495"/>
          </a:xfrm>
          <a:prstGeom prst="arc">
            <a:avLst/>
          </a:prstGeom>
          <a:ln w="38100">
            <a:solidFill>
              <a:srgbClr val="C00000"/>
            </a:solidFill>
            <a:headEnd type="none"/>
            <a:tailEnd type="oval"/>
          </a:ln>
        </p:spPr>
        <p:style>
          <a:lnRef idx="1">
            <a:schemeClr val="accent1"/>
          </a:lnRef>
          <a:fillRef idx="0">
            <a:schemeClr val="accent1"/>
          </a:fillRef>
          <a:effectRef idx="0">
            <a:schemeClr val="accent1"/>
          </a:effectRef>
          <a:fontRef idx="minor">
            <a:schemeClr val="tx1"/>
          </a:fontRef>
        </p:style>
        <p:txBody>
          <a:bodyPr anchor="ctr"/>
          <a:lstStyle/>
          <a:p>
            <a:pPr algn="ctr"/>
            <a:endParaRPr/>
          </a:p>
        </p:txBody>
      </p:sp>
      <p:cxnSp>
        <p:nvCxnSpPr>
          <p:cNvPr id="22" name="Straight Connector 115"/>
          <p:cNvCxnSpPr/>
          <p:nvPr/>
        </p:nvCxnSpPr>
        <p:spPr>
          <a:xfrm flipV="1">
            <a:off x="175904" y="5140892"/>
            <a:ext cx="401492" cy="1821"/>
          </a:xfrm>
          <a:prstGeom prst="line">
            <a:avLst/>
          </a:prstGeom>
          <a:ln w="38100">
            <a:solidFill>
              <a:srgbClr val="C00000"/>
            </a:solidFill>
            <a:head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539843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4"/>
          </p:nvPr>
        </p:nvSpPr>
        <p:spPr>
          <a:xfrm>
            <a:off x="277628" y="992362"/>
            <a:ext cx="10515600" cy="405363"/>
          </a:xfrm>
        </p:spPr>
        <p:txBody>
          <a:bodyPr/>
          <a:lstStyle/>
          <a:p>
            <a:pPr>
              <a:buFont typeface="Wingdings" panose="05000000000000000000" pitchFamily="2" charset="2"/>
              <a:buChar char="n"/>
            </a:pPr>
            <a:r>
              <a:rPr lang="en-US" altLang="zh-CN" sz="1800" b="1" dirty="0" smtClean="0">
                <a:latin typeface="+mn-ea"/>
              </a:rPr>
              <a:t>1.4</a:t>
            </a:r>
            <a:r>
              <a:rPr lang="zh-CN" altLang="en-US" sz="1800" b="1" dirty="0" smtClean="0">
                <a:latin typeface="+mn-ea"/>
              </a:rPr>
              <a:t>首件鉴定</a:t>
            </a:r>
            <a:endParaRPr lang="en-US" altLang="zh-CN" sz="1800" b="1" dirty="0">
              <a:latin typeface="+mn-ea"/>
            </a:endParaRPr>
          </a:p>
          <a:p>
            <a:endParaRPr lang="en-US" altLang="zh-CN" dirty="0" smtClean="0"/>
          </a:p>
          <a:p>
            <a:pPr marL="0" indent="0">
              <a:buNone/>
            </a:pPr>
            <a:endParaRPr lang="zh-CN" altLang="en-US" dirty="0"/>
          </a:p>
        </p:txBody>
      </p:sp>
      <p:sp>
        <p:nvSpPr>
          <p:cNvPr id="4" name="标题 2">
            <a:extLst>
              <a:ext uri="{FF2B5EF4-FFF2-40B4-BE49-F238E27FC236}">
                <a16:creationId xmlns:a16="http://schemas.microsoft.com/office/drawing/2014/main" id="{2B587CB1-41A9-48EF-9229-101563C80EFD}"/>
              </a:ext>
            </a:extLst>
          </p:cNvPr>
          <p:cNvSpPr txBox="1">
            <a:spLocks noGrp="1"/>
          </p:cNvSpPr>
          <p:nvPr>
            <p:ph type="body" sz="quarter" idx="13"/>
          </p:nvPr>
        </p:nvSpPr>
        <p:spPr>
          <a:xfrm>
            <a:off x="0" y="154126"/>
            <a:ext cx="5535428" cy="672075"/>
          </a:xfrm>
          <a:prstGeom prst="rect">
            <a:avLst/>
          </a:prstGeom>
        </p:spPr>
        <p:txBody>
          <a:bodyPr/>
          <a:lstStyle>
            <a:defPPr>
              <a:defRPr lang="zh-CN"/>
            </a:defPPr>
            <a:lvl1pPr algn="ctr">
              <a:spcBef>
                <a:spcPct val="0"/>
              </a:spcBef>
              <a:buNone/>
              <a:defRPr sz="2400" b="1">
                <a:solidFill>
                  <a:schemeClr val="tx1">
                    <a:lumMod val="65000"/>
                    <a:lumOff val="35000"/>
                  </a:schemeClr>
                </a:solidFill>
                <a:latin typeface="微软雅黑" pitchFamily="34" charset="-122"/>
                <a:ea typeface="微软雅黑" pitchFamily="34" charset="-122"/>
              </a:defRPr>
            </a:lvl1pPr>
          </a:lstStyle>
          <a:p>
            <a:pPr defTabSz="1219170"/>
            <a:r>
              <a:rPr lang="zh-CN" altLang="en-US" sz="3200" dirty="0" smtClean="0">
                <a:solidFill>
                  <a:prstClr val="black">
                    <a:lumMod val="65000"/>
                    <a:lumOff val="35000"/>
                  </a:prstClr>
                </a:solidFill>
              </a:rPr>
              <a:t>一、</a:t>
            </a:r>
            <a:r>
              <a:rPr lang="en-US" altLang="zh-CN" sz="3200" dirty="0" smtClean="0">
                <a:solidFill>
                  <a:prstClr val="black">
                    <a:lumMod val="65000"/>
                    <a:lumOff val="35000"/>
                  </a:prstClr>
                </a:solidFill>
              </a:rPr>
              <a:t>L10 </a:t>
            </a:r>
            <a:r>
              <a:rPr lang="zh-CN" altLang="en-US" sz="3200" dirty="0" smtClean="0">
                <a:solidFill>
                  <a:prstClr val="black">
                    <a:lumMod val="65000"/>
                    <a:lumOff val="35000"/>
                  </a:prstClr>
                </a:solidFill>
              </a:rPr>
              <a:t>首件试制</a:t>
            </a:r>
            <a:r>
              <a:rPr lang="en-US" altLang="zh-CN" sz="3200" dirty="0" smtClean="0">
                <a:solidFill>
                  <a:prstClr val="black">
                    <a:lumMod val="65000"/>
                    <a:lumOff val="35000"/>
                  </a:prstClr>
                </a:solidFill>
              </a:rPr>
              <a:t>/</a:t>
            </a:r>
            <a:r>
              <a:rPr lang="zh-CN" altLang="en-US" sz="3200" dirty="0" smtClean="0">
                <a:solidFill>
                  <a:prstClr val="black">
                    <a:lumMod val="65000"/>
                    <a:lumOff val="35000"/>
                  </a:prstClr>
                </a:solidFill>
              </a:rPr>
              <a:t>批量试制</a:t>
            </a:r>
            <a:endParaRPr lang="zh-CN" altLang="en-US" sz="3200" dirty="0">
              <a:solidFill>
                <a:prstClr val="black">
                  <a:lumMod val="65000"/>
                  <a:lumOff val="35000"/>
                </a:prstClr>
              </a:solidFill>
            </a:endParaRPr>
          </a:p>
        </p:txBody>
      </p:sp>
      <p:graphicFrame>
        <p:nvGraphicFramePr>
          <p:cNvPr id="5" name="表格 4"/>
          <p:cNvGraphicFramePr>
            <a:graphicFrameLocks noGrp="1"/>
          </p:cNvGraphicFramePr>
          <p:nvPr>
            <p:extLst>
              <p:ext uri="{D42A27DB-BD31-4B8C-83A1-F6EECF244321}">
                <p14:modId xmlns:p14="http://schemas.microsoft.com/office/powerpoint/2010/main" val="280512559"/>
              </p:ext>
            </p:extLst>
          </p:nvPr>
        </p:nvGraphicFramePr>
        <p:xfrm>
          <a:off x="1364245" y="1451246"/>
          <a:ext cx="10447251" cy="889000"/>
        </p:xfrm>
        <a:graphic>
          <a:graphicData uri="http://schemas.openxmlformats.org/drawingml/2006/table">
            <a:tbl>
              <a:tblPr firstRow="1" bandRow="1">
                <a:tableStyleId>{21E4AEA4-8DFA-4A89-87EB-49C32662AFE0}</a:tableStyleId>
              </a:tblPr>
              <a:tblGrid>
                <a:gridCol w="1052039">
                  <a:extLst>
                    <a:ext uri="{9D8B030D-6E8A-4147-A177-3AD203B41FA5}">
                      <a16:colId xmlns:a16="http://schemas.microsoft.com/office/drawing/2014/main" val="773509366"/>
                    </a:ext>
                  </a:extLst>
                </a:gridCol>
                <a:gridCol w="2665308">
                  <a:extLst>
                    <a:ext uri="{9D8B030D-6E8A-4147-A177-3AD203B41FA5}">
                      <a16:colId xmlns:a16="http://schemas.microsoft.com/office/drawing/2014/main" val="1193865247"/>
                    </a:ext>
                  </a:extLst>
                </a:gridCol>
                <a:gridCol w="1244586">
                  <a:extLst>
                    <a:ext uri="{9D8B030D-6E8A-4147-A177-3AD203B41FA5}">
                      <a16:colId xmlns:a16="http://schemas.microsoft.com/office/drawing/2014/main" val="869367937"/>
                    </a:ext>
                  </a:extLst>
                </a:gridCol>
                <a:gridCol w="3113194">
                  <a:extLst>
                    <a:ext uri="{9D8B030D-6E8A-4147-A177-3AD203B41FA5}">
                      <a16:colId xmlns:a16="http://schemas.microsoft.com/office/drawing/2014/main" val="99857605"/>
                    </a:ext>
                  </a:extLst>
                </a:gridCol>
                <a:gridCol w="2372124">
                  <a:extLst>
                    <a:ext uri="{9D8B030D-6E8A-4147-A177-3AD203B41FA5}">
                      <a16:colId xmlns:a16="http://schemas.microsoft.com/office/drawing/2014/main" val="1047766596"/>
                    </a:ext>
                  </a:extLst>
                </a:gridCol>
              </a:tblGrid>
              <a:tr h="370840">
                <a:tc>
                  <a:txBody>
                    <a:bodyPr/>
                    <a:lstStyle/>
                    <a:p>
                      <a:r>
                        <a:rPr lang="zh-CN" altLang="en-US" sz="1400" dirty="0" smtClean="0">
                          <a:latin typeface="+mn-ea"/>
                          <a:ea typeface="+mn-ea"/>
                        </a:rPr>
                        <a:t>任务名称</a:t>
                      </a:r>
                      <a:endParaRPr lang="zh-CN" altLang="en-US" sz="1400" dirty="0">
                        <a:latin typeface="+mn-ea"/>
                        <a:ea typeface="+mn-ea"/>
                      </a:endParaRPr>
                    </a:p>
                  </a:txBody>
                  <a:tcPr/>
                </a:tc>
                <a:tc>
                  <a:txBody>
                    <a:bodyPr/>
                    <a:lstStyle/>
                    <a:p>
                      <a:r>
                        <a:rPr lang="zh-CN" altLang="en-US" sz="1400" dirty="0" smtClean="0">
                          <a:latin typeface="+mn-ea"/>
                          <a:ea typeface="+mn-ea"/>
                        </a:rPr>
                        <a:t>启动条件</a:t>
                      </a:r>
                      <a:endParaRPr lang="zh-CN" altLang="en-US" sz="1400" dirty="0">
                        <a:latin typeface="+mn-ea"/>
                        <a:ea typeface="+mn-ea"/>
                      </a:endParaRPr>
                    </a:p>
                  </a:txBody>
                  <a:tcPr/>
                </a:tc>
                <a:tc>
                  <a:txBody>
                    <a:bodyPr/>
                    <a:lstStyle/>
                    <a:p>
                      <a:r>
                        <a:rPr lang="zh-CN" altLang="en-US" sz="1400" dirty="0" smtClean="0">
                          <a:latin typeface="+mn-ea"/>
                          <a:ea typeface="+mn-ea"/>
                        </a:rPr>
                        <a:t>责任人</a:t>
                      </a:r>
                      <a:endParaRPr lang="zh-CN" altLang="en-US" sz="1400" dirty="0">
                        <a:latin typeface="+mn-ea"/>
                        <a:ea typeface="+mn-ea"/>
                      </a:endParaRPr>
                    </a:p>
                  </a:txBody>
                  <a:tcPr/>
                </a:tc>
                <a:tc>
                  <a:txBody>
                    <a:bodyPr/>
                    <a:lstStyle/>
                    <a:p>
                      <a:r>
                        <a:rPr lang="zh-CN" altLang="en-US" sz="1400" dirty="0" smtClean="0">
                          <a:latin typeface="+mn-ea"/>
                          <a:ea typeface="+mn-ea"/>
                        </a:rPr>
                        <a:t>参与人</a:t>
                      </a:r>
                      <a:endParaRPr lang="zh-CN" altLang="en-US" sz="1400" dirty="0">
                        <a:latin typeface="+mn-ea"/>
                        <a:ea typeface="+mn-ea"/>
                      </a:endParaRPr>
                    </a:p>
                  </a:txBody>
                  <a:tcPr/>
                </a:tc>
                <a:tc>
                  <a:txBody>
                    <a:bodyPr/>
                    <a:lstStyle/>
                    <a:p>
                      <a:r>
                        <a:rPr lang="zh-CN" altLang="en-US" sz="1400" dirty="0" smtClean="0">
                          <a:latin typeface="+mn-ea"/>
                          <a:ea typeface="+mn-ea"/>
                        </a:rPr>
                        <a:t>输出物</a:t>
                      </a:r>
                      <a:endParaRPr lang="zh-CN" altLang="en-US" sz="1400" dirty="0">
                        <a:latin typeface="+mn-ea"/>
                        <a:ea typeface="+mn-ea"/>
                      </a:endParaRPr>
                    </a:p>
                  </a:txBody>
                  <a:tcPr/>
                </a:tc>
                <a:extLst>
                  <a:ext uri="{0D108BD9-81ED-4DB2-BD59-A6C34878D82A}">
                    <a16:rowId xmlns:a16="http://schemas.microsoft.com/office/drawing/2014/main" val="3162067804"/>
                  </a:ext>
                </a:extLst>
              </a:tr>
              <a:tr h="370840">
                <a:tc>
                  <a:txBody>
                    <a:bodyPr/>
                    <a:lstStyle/>
                    <a:p>
                      <a:r>
                        <a:rPr lang="zh-CN" altLang="en-US" sz="1400" dirty="0" smtClean="0">
                          <a:latin typeface="+mn-ea"/>
                          <a:ea typeface="+mn-ea"/>
                        </a:rPr>
                        <a:t>首件鉴定</a:t>
                      </a:r>
                      <a:endParaRPr lang="zh-CN" altLang="en-US" sz="1400" dirty="0">
                        <a:latin typeface="+mn-ea"/>
                        <a:ea typeface="+mn-ea"/>
                      </a:endParaRPr>
                    </a:p>
                  </a:txBody>
                  <a:tcPr/>
                </a:tc>
                <a:tc>
                  <a:txBody>
                    <a:bodyPr/>
                    <a:lstStyle/>
                    <a:p>
                      <a:r>
                        <a:rPr lang="en-US" altLang="zh-CN" sz="1400" dirty="0" smtClean="0">
                          <a:solidFill>
                            <a:schemeClr val="tx1"/>
                          </a:solidFill>
                          <a:latin typeface="+mn-ea"/>
                          <a:ea typeface="+mn-ea"/>
                        </a:rPr>
                        <a:t>《</a:t>
                      </a:r>
                      <a:r>
                        <a:rPr lang="zh-CN" altLang="en-US" sz="1400" dirty="0" smtClean="0">
                          <a:solidFill>
                            <a:schemeClr val="tx1"/>
                          </a:solidFill>
                          <a:latin typeface="+mn-ea"/>
                          <a:ea typeface="+mn-ea"/>
                        </a:rPr>
                        <a:t>首件检验报告</a:t>
                      </a:r>
                      <a:r>
                        <a:rPr lang="en-US" altLang="zh-CN" sz="1400" dirty="0" smtClean="0">
                          <a:solidFill>
                            <a:schemeClr val="tx1"/>
                          </a:solidFill>
                          <a:latin typeface="+mn-ea"/>
                          <a:ea typeface="+mn-ea"/>
                        </a:rPr>
                        <a:t>》</a:t>
                      </a:r>
                      <a:r>
                        <a:rPr lang="zh-CN" altLang="en-US" sz="1400" dirty="0" smtClean="0">
                          <a:solidFill>
                            <a:schemeClr val="tx1"/>
                          </a:solidFill>
                          <a:latin typeface="+mn-ea"/>
                          <a:ea typeface="+mn-ea"/>
                        </a:rPr>
                        <a:t>输出后</a:t>
                      </a:r>
                      <a:endParaRPr lang="zh-CN" altLang="en-US" sz="1400" dirty="0">
                        <a:solidFill>
                          <a:schemeClr val="tx1"/>
                        </a:solidFill>
                        <a:latin typeface="+mn-ea"/>
                        <a:ea typeface="+mn-ea"/>
                      </a:endParaRPr>
                    </a:p>
                  </a:txBody>
                  <a:tcPr/>
                </a:tc>
                <a:tc>
                  <a:txBody>
                    <a:bodyPr/>
                    <a:lstStyle/>
                    <a:p>
                      <a:r>
                        <a:rPr lang="zh-CN" altLang="en-US" sz="1400" dirty="0" smtClean="0">
                          <a:solidFill>
                            <a:srgbClr val="0070C0"/>
                          </a:solidFill>
                          <a:latin typeface="+mn-ea"/>
                          <a:ea typeface="+mn-ea"/>
                        </a:rPr>
                        <a:t>品质管理部</a:t>
                      </a:r>
                      <a:endParaRPr lang="zh-CN" altLang="en-US" sz="1400" dirty="0">
                        <a:solidFill>
                          <a:srgbClr val="0070C0"/>
                        </a:solidFill>
                        <a:latin typeface="+mn-ea"/>
                        <a:ea typeface="+mn-ea"/>
                      </a:endParaRPr>
                    </a:p>
                  </a:txBody>
                  <a:tcPr/>
                </a:tc>
                <a:tc>
                  <a:txBody>
                    <a:bodyPr/>
                    <a:lstStyle/>
                    <a:p>
                      <a:r>
                        <a:rPr lang="zh-CN" altLang="en-US" sz="1400" dirty="0" smtClean="0">
                          <a:latin typeface="+mn-ea"/>
                          <a:ea typeface="+mn-ea"/>
                        </a:rPr>
                        <a:t>制造部 产品工程师 （顾客要求时需邀请顾客）</a:t>
                      </a:r>
                      <a:endParaRPr lang="zh-CN" altLang="en-US" sz="1400" dirty="0">
                        <a:latin typeface="+mn-ea"/>
                        <a:ea typeface="+mn-ea"/>
                      </a:endParaRPr>
                    </a:p>
                  </a:txBody>
                  <a:tcPr/>
                </a:tc>
                <a:tc>
                  <a:txBody>
                    <a:bodyPr/>
                    <a:lstStyle/>
                    <a:p>
                      <a:r>
                        <a:rPr lang="en-US" altLang="zh-CN" sz="1400" dirty="0" smtClean="0">
                          <a:solidFill>
                            <a:srgbClr val="0070C0"/>
                          </a:solidFill>
                          <a:latin typeface="+mn-ea"/>
                          <a:ea typeface="+mn-ea"/>
                        </a:rPr>
                        <a:t>《</a:t>
                      </a:r>
                      <a:r>
                        <a:rPr lang="en-US" altLang="zh-CN" sz="1400" u="none" strike="noStrike" dirty="0" smtClean="0">
                          <a:solidFill>
                            <a:srgbClr val="0070C0"/>
                          </a:solidFill>
                          <a:effectLst/>
                          <a:latin typeface="+mn-ea"/>
                          <a:ea typeface="+mn-ea"/>
                        </a:rPr>
                        <a:t>QR-D-H-005-007</a:t>
                      </a:r>
                      <a:r>
                        <a:rPr lang="zh-CN" altLang="en-US" sz="1400" dirty="0" smtClean="0">
                          <a:solidFill>
                            <a:srgbClr val="0070C0"/>
                          </a:solidFill>
                          <a:latin typeface="+mn-ea"/>
                          <a:ea typeface="+mn-ea"/>
                        </a:rPr>
                        <a:t>首件鉴定报告</a:t>
                      </a:r>
                      <a:r>
                        <a:rPr lang="en-US" altLang="zh-CN" sz="1400" dirty="0" smtClean="0">
                          <a:solidFill>
                            <a:srgbClr val="0070C0"/>
                          </a:solidFill>
                          <a:latin typeface="+mn-ea"/>
                          <a:ea typeface="+mn-ea"/>
                        </a:rPr>
                        <a:t>》</a:t>
                      </a:r>
                      <a:endParaRPr lang="zh-CN" altLang="en-US" sz="1400" dirty="0">
                        <a:solidFill>
                          <a:srgbClr val="0070C0"/>
                        </a:solidFill>
                        <a:latin typeface="+mn-ea"/>
                        <a:ea typeface="+mn-ea"/>
                      </a:endParaRPr>
                    </a:p>
                  </a:txBody>
                  <a:tcPr/>
                </a:tc>
                <a:extLst>
                  <a:ext uri="{0D108BD9-81ED-4DB2-BD59-A6C34878D82A}">
                    <a16:rowId xmlns:a16="http://schemas.microsoft.com/office/drawing/2014/main" val="2982289352"/>
                  </a:ext>
                </a:extLst>
              </a:tr>
            </a:tbl>
          </a:graphicData>
        </a:graphic>
      </p:graphicFrame>
      <p:sp>
        <p:nvSpPr>
          <p:cNvPr id="10" name="Oval 104"/>
          <p:cNvSpPr/>
          <p:nvPr/>
        </p:nvSpPr>
        <p:spPr>
          <a:xfrm>
            <a:off x="805019" y="5435945"/>
            <a:ext cx="467663" cy="467665"/>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fontScale="92500" lnSpcReduction="10000"/>
          </a:bodyPr>
          <a:lstStyle/>
          <a:p>
            <a:pPr algn="ctr"/>
            <a:r>
              <a:rPr lang="en-US" b="1" dirty="0" smtClean="0"/>
              <a:t>05</a:t>
            </a:r>
            <a:endParaRPr lang="en-US" b="1" dirty="0"/>
          </a:p>
        </p:txBody>
      </p:sp>
      <p:sp>
        <p:nvSpPr>
          <p:cNvPr id="11" name="Arc 125"/>
          <p:cNvSpPr/>
          <p:nvPr/>
        </p:nvSpPr>
        <p:spPr>
          <a:xfrm rot="5400000" flipV="1">
            <a:off x="1431244" y="5214821"/>
            <a:ext cx="1042876" cy="715878"/>
          </a:xfrm>
          <a:prstGeom prst="arc">
            <a:avLst/>
          </a:prstGeom>
          <a:noFill/>
          <a:ln w="38100">
            <a:solidFill>
              <a:srgbClr val="C00000"/>
            </a:solidFill>
            <a:headEnd type="none"/>
            <a:tailEnd type="oval"/>
          </a:ln>
        </p:spPr>
        <p:style>
          <a:lnRef idx="1">
            <a:schemeClr val="accent1"/>
          </a:lnRef>
          <a:fillRef idx="0">
            <a:schemeClr val="accent1"/>
          </a:fillRef>
          <a:effectRef idx="0">
            <a:schemeClr val="accent1"/>
          </a:effectRef>
          <a:fontRef idx="minor">
            <a:schemeClr val="tx1"/>
          </a:fontRef>
        </p:style>
        <p:txBody>
          <a:bodyPr anchor="ctr"/>
          <a:lstStyle/>
          <a:p>
            <a:pPr algn="ctr"/>
            <a:endParaRPr/>
          </a:p>
        </p:txBody>
      </p:sp>
      <p:cxnSp>
        <p:nvCxnSpPr>
          <p:cNvPr id="12" name="Straight Connector 126"/>
          <p:cNvCxnSpPr/>
          <p:nvPr/>
        </p:nvCxnSpPr>
        <p:spPr>
          <a:xfrm>
            <a:off x="1202234" y="5560235"/>
            <a:ext cx="370088" cy="12525"/>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4"/>
          <p:cNvCxnSpPr>
            <a:stCxn id="14" idx="4"/>
          </p:cNvCxnSpPr>
          <p:nvPr/>
        </p:nvCxnSpPr>
        <p:spPr>
          <a:xfrm>
            <a:off x="944200" y="2007015"/>
            <a:ext cx="75606" cy="3428930"/>
          </a:xfrm>
          <a:prstGeom prst="line">
            <a:avLst/>
          </a:prstGeom>
          <a:ln w="38100">
            <a:solidFill>
              <a:schemeClr val="accent2"/>
            </a:solidFill>
            <a:headEnd type="none"/>
          </a:ln>
        </p:spPr>
        <p:style>
          <a:lnRef idx="1">
            <a:schemeClr val="accent1"/>
          </a:lnRef>
          <a:fillRef idx="0">
            <a:schemeClr val="accent1"/>
          </a:fillRef>
          <a:effectRef idx="0">
            <a:schemeClr val="accent1"/>
          </a:effectRef>
          <a:fontRef idx="minor">
            <a:schemeClr val="tx1"/>
          </a:fontRef>
        </p:style>
      </p:cxnSp>
      <p:sp>
        <p:nvSpPr>
          <p:cNvPr id="14" name="Oval 147"/>
          <p:cNvSpPr/>
          <p:nvPr/>
        </p:nvSpPr>
        <p:spPr>
          <a:xfrm>
            <a:off x="698857" y="1570087"/>
            <a:ext cx="490686" cy="436928"/>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6" name="Freeform: Shape 148"/>
          <p:cNvSpPr>
            <a:spLocks/>
          </p:cNvSpPr>
          <p:nvPr/>
        </p:nvSpPr>
        <p:spPr bwMode="auto">
          <a:xfrm>
            <a:off x="790214" y="1640917"/>
            <a:ext cx="294258" cy="273772"/>
          </a:xfrm>
          <a:custGeom>
            <a:avLst/>
            <a:gdLst/>
            <a:ahLst/>
            <a:cxnLst>
              <a:cxn ang="0">
                <a:pos x="13" y="39"/>
              </a:cxn>
              <a:cxn ang="0">
                <a:pos x="8" y="39"/>
              </a:cxn>
              <a:cxn ang="0">
                <a:pos x="0" y="33"/>
              </a:cxn>
              <a:cxn ang="0">
                <a:pos x="5" y="19"/>
              </a:cxn>
              <a:cxn ang="0">
                <a:pos x="15" y="22"/>
              </a:cxn>
              <a:cxn ang="0">
                <a:pos x="20" y="21"/>
              </a:cxn>
              <a:cxn ang="0">
                <a:pos x="20" y="24"/>
              </a:cxn>
              <a:cxn ang="0">
                <a:pos x="23" y="34"/>
              </a:cxn>
              <a:cxn ang="0">
                <a:pos x="13" y="39"/>
              </a:cxn>
              <a:cxn ang="0">
                <a:pos x="15" y="19"/>
              </a:cxn>
              <a:cxn ang="0">
                <a:pos x="5" y="9"/>
              </a:cxn>
              <a:cxn ang="0">
                <a:pos x="15" y="0"/>
              </a:cxn>
              <a:cxn ang="0">
                <a:pos x="25" y="9"/>
              </a:cxn>
              <a:cxn ang="0">
                <a:pos x="15" y="19"/>
              </a:cxn>
              <a:cxn ang="0">
                <a:pos x="53" y="68"/>
              </a:cxn>
              <a:cxn ang="0">
                <a:pos x="20" y="68"/>
              </a:cxn>
              <a:cxn ang="0">
                <a:pos x="10" y="58"/>
              </a:cxn>
              <a:cxn ang="0">
                <a:pos x="23" y="36"/>
              </a:cxn>
              <a:cxn ang="0">
                <a:pos x="37" y="41"/>
              </a:cxn>
              <a:cxn ang="0">
                <a:pos x="50" y="36"/>
              </a:cxn>
              <a:cxn ang="0">
                <a:pos x="64" y="58"/>
              </a:cxn>
              <a:cxn ang="0">
                <a:pos x="53" y="68"/>
              </a:cxn>
              <a:cxn ang="0">
                <a:pos x="37" y="39"/>
              </a:cxn>
              <a:cxn ang="0">
                <a:pos x="22" y="24"/>
              </a:cxn>
              <a:cxn ang="0">
                <a:pos x="37" y="9"/>
              </a:cxn>
              <a:cxn ang="0">
                <a:pos x="51" y="24"/>
              </a:cxn>
              <a:cxn ang="0">
                <a:pos x="37" y="39"/>
              </a:cxn>
              <a:cxn ang="0">
                <a:pos x="59" y="19"/>
              </a:cxn>
              <a:cxn ang="0">
                <a:pos x="49" y="9"/>
              </a:cxn>
              <a:cxn ang="0">
                <a:pos x="59" y="0"/>
              </a:cxn>
              <a:cxn ang="0">
                <a:pos x="68" y="9"/>
              </a:cxn>
              <a:cxn ang="0">
                <a:pos x="59" y="19"/>
              </a:cxn>
              <a:cxn ang="0">
                <a:pos x="66" y="39"/>
              </a:cxn>
              <a:cxn ang="0">
                <a:pos x="61" y="39"/>
              </a:cxn>
              <a:cxn ang="0">
                <a:pos x="51" y="34"/>
              </a:cxn>
              <a:cxn ang="0">
                <a:pos x="54" y="24"/>
              </a:cxn>
              <a:cxn ang="0">
                <a:pos x="54" y="21"/>
              </a:cxn>
              <a:cxn ang="0">
                <a:pos x="59" y="22"/>
              </a:cxn>
              <a:cxn ang="0">
                <a:pos x="69" y="19"/>
              </a:cxn>
              <a:cxn ang="0">
                <a:pos x="73" y="33"/>
              </a:cxn>
              <a:cxn ang="0">
                <a:pos x="66" y="39"/>
              </a:cxn>
            </a:cxnLst>
            <a:rect l="0" t="0" r="r" b="b"/>
            <a:pathLst>
              <a:path w="73" h="68">
                <a:moveTo>
                  <a:pt x="13" y="39"/>
                </a:moveTo>
                <a:cubicBezTo>
                  <a:pt x="8" y="39"/>
                  <a:pt x="8" y="39"/>
                  <a:pt x="8" y="39"/>
                </a:cubicBezTo>
                <a:cubicBezTo>
                  <a:pt x="4" y="39"/>
                  <a:pt x="0" y="37"/>
                  <a:pt x="0" y="33"/>
                </a:cubicBezTo>
                <a:cubicBezTo>
                  <a:pt x="0" y="29"/>
                  <a:pt x="0" y="19"/>
                  <a:pt x="5" y="19"/>
                </a:cubicBezTo>
                <a:cubicBezTo>
                  <a:pt x="6" y="19"/>
                  <a:pt x="10" y="22"/>
                  <a:pt x="15" y="22"/>
                </a:cubicBezTo>
                <a:cubicBezTo>
                  <a:pt x="17" y="22"/>
                  <a:pt x="18" y="22"/>
                  <a:pt x="20" y="21"/>
                </a:cubicBezTo>
                <a:cubicBezTo>
                  <a:pt x="20" y="22"/>
                  <a:pt x="20" y="23"/>
                  <a:pt x="20" y="24"/>
                </a:cubicBezTo>
                <a:cubicBezTo>
                  <a:pt x="20" y="27"/>
                  <a:pt x="21" y="31"/>
                  <a:pt x="23" y="34"/>
                </a:cubicBezTo>
                <a:cubicBezTo>
                  <a:pt x="19" y="34"/>
                  <a:pt x="15" y="36"/>
                  <a:pt x="13" y="39"/>
                </a:cubicBezTo>
                <a:close/>
                <a:moveTo>
                  <a:pt x="15" y="19"/>
                </a:moveTo>
                <a:cubicBezTo>
                  <a:pt x="10" y="19"/>
                  <a:pt x="5" y="15"/>
                  <a:pt x="5" y="9"/>
                </a:cubicBezTo>
                <a:cubicBezTo>
                  <a:pt x="5" y="4"/>
                  <a:pt x="10" y="0"/>
                  <a:pt x="15" y="0"/>
                </a:cubicBezTo>
                <a:cubicBezTo>
                  <a:pt x="20" y="0"/>
                  <a:pt x="25" y="4"/>
                  <a:pt x="25" y="9"/>
                </a:cubicBezTo>
                <a:cubicBezTo>
                  <a:pt x="25" y="15"/>
                  <a:pt x="20" y="19"/>
                  <a:pt x="15" y="19"/>
                </a:cubicBezTo>
                <a:close/>
                <a:moveTo>
                  <a:pt x="53" y="68"/>
                </a:moveTo>
                <a:cubicBezTo>
                  <a:pt x="20" y="68"/>
                  <a:pt x="20" y="68"/>
                  <a:pt x="20" y="68"/>
                </a:cubicBezTo>
                <a:cubicBezTo>
                  <a:pt x="14" y="68"/>
                  <a:pt x="10" y="64"/>
                  <a:pt x="10" y="58"/>
                </a:cubicBezTo>
                <a:cubicBezTo>
                  <a:pt x="10" y="49"/>
                  <a:pt x="12" y="36"/>
                  <a:pt x="23" y="36"/>
                </a:cubicBezTo>
                <a:cubicBezTo>
                  <a:pt x="25" y="36"/>
                  <a:pt x="29" y="41"/>
                  <a:pt x="37" y="41"/>
                </a:cubicBezTo>
                <a:cubicBezTo>
                  <a:pt x="44" y="41"/>
                  <a:pt x="49" y="36"/>
                  <a:pt x="50" y="36"/>
                </a:cubicBezTo>
                <a:cubicBezTo>
                  <a:pt x="62" y="36"/>
                  <a:pt x="64" y="49"/>
                  <a:pt x="64" y="58"/>
                </a:cubicBezTo>
                <a:cubicBezTo>
                  <a:pt x="64" y="64"/>
                  <a:pt x="60" y="68"/>
                  <a:pt x="53" y="68"/>
                </a:cubicBezTo>
                <a:close/>
                <a:moveTo>
                  <a:pt x="37" y="39"/>
                </a:moveTo>
                <a:cubicBezTo>
                  <a:pt x="29" y="39"/>
                  <a:pt x="22" y="32"/>
                  <a:pt x="22" y="24"/>
                </a:cubicBezTo>
                <a:cubicBezTo>
                  <a:pt x="22" y="16"/>
                  <a:pt x="29" y="9"/>
                  <a:pt x="37" y="9"/>
                </a:cubicBezTo>
                <a:cubicBezTo>
                  <a:pt x="45" y="9"/>
                  <a:pt x="51" y="16"/>
                  <a:pt x="51" y="24"/>
                </a:cubicBezTo>
                <a:cubicBezTo>
                  <a:pt x="51" y="32"/>
                  <a:pt x="45" y="39"/>
                  <a:pt x="37" y="39"/>
                </a:cubicBezTo>
                <a:close/>
                <a:moveTo>
                  <a:pt x="59" y="19"/>
                </a:moveTo>
                <a:cubicBezTo>
                  <a:pt x="53" y="19"/>
                  <a:pt x="49" y="15"/>
                  <a:pt x="49" y="9"/>
                </a:cubicBezTo>
                <a:cubicBezTo>
                  <a:pt x="49" y="4"/>
                  <a:pt x="53" y="0"/>
                  <a:pt x="59" y="0"/>
                </a:cubicBezTo>
                <a:cubicBezTo>
                  <a:pt x="64" y="0"/>
                  <a:pt x="68" y="4"/>
                  <a:pt x="68" y="9"/>
                </a:cubicBezTo>
                <a:cubicBezTo>
                  <a:pt x="68" y="15"/>
                  <a:pt x="64" y="19"/>
                  <a:pt x="59" y="19"/>
                </a:cubicBezTo>
                <a:close/>
                <a:moveTo>
                  <a:pt x="66" y="39"/>
                </a:moveTo>
                <a:cubicBezTo>
                  <a:pt x="61" y="39"/>
                  <a:pt x="61" y="39"/>
                  <a:pt x="61" y="39"/>
                </a:cubicBezTo>
                <a:cubicBezTo>
                  <a:pt x="58" y="36"/>
                  <a:pt x="55" y="34"/>
                  <a:pt x="51" y="34"/>
                </a:cubicBezTo>
                <a:cubicBezTo>
                  <a:pt x="53" y="31"/>
                  <a:pt x="54" y="27"/>
                  <a:pt x="54" y="24"/>
                </a:cubicBezTo>
                <a:cubicBezTo>
                  <a:pt x="54" y="23"/>
                  <a:pt x="54" y="22"/>
                  <a:pt x="54" y="21"/>
                </a:cubicBezTo>
                <a:cubicBezTo>
                  <a:pt x="55" y="22"/>
                  <a:pt x="57" y="22"/>
                  <a:pt x="59" y="22"/>
                </a:cubicBezTo>
                <a:cubicBezTo>
                  <a:pt x="64" y="22"/>
                  <a:pt x="68" y="19"/>
                  <a:pt x="69" y="19"/>
                </a:cubicBezTo>
                <a:cubicBezTo>
                  <a:pt x="73" y="19"/>
                  <a:pt x="73" y="29"/>
                  <a:pt x="73" y="33"/>
                </a:cubicBezTo>
                <a:cubicBezTo>
                  <a:pt x="73" y="37"/>
                  <a:pt x="70" y="39"/>
                  <a:pt x="66" y="39"/>
                </a:cubicBezTo>
                <a:close/>
              </a:path>
            </a:pathLst>
          </a:custGeom>
          <a:solidFill>
            <a:schemeClr val="accent2"/>
          </a:solidFill>
          <a:ln w="9525">
            <a:noFill/>
            <a:round/>
            <a:headEnd/>
            <a:tailEnd/>
          </a:ln>
        </p:spPr>
        <p:txBody>
          <a:bodyPr anchor="ctr"/>
          <a:lstStyle/>
          <a:p>
            <a:pPr algn="ctr"/>
            <a:endParaRPr/>
          </a:p>
        </p:txBody>
      </p:sp>
      <p:sp>
        <p:nvSpPr>
          <p:cNvPr id="17" name="Arc 114"/>
          <p:cNvSpPr/>
          <p:nvPr/>
        </p:nvSpPr>
        <p:spPr>
          <a:xfrm rot="5400000" flipV="1">
            <a:off x="749757" y="5379521"/>
            <a:ext cx="616481" cy="612495"/>
          </a:xfrm>
          <a:prstGeom prst="arc">
            <a:avLst/>
          </a:prstGeom>
          <a:ln w="38100">
            <a:solidFill>
              <a:srgbClr val="C00000"/>
            </a:solidFill>
            <a:headEnd type="none"/>
            <a:tailEnd type="oval"/>
          </a:ln>
        </p:spPr>
        <p:style>
          <a:lnRef idx="1">
            <a:schemeClr val="accent1"/>
          </a:lnRef>
          <a:fillRef idx="0">
            <a:schemeClr val="accent1"/>
          </a:fillRef>
          <a:effectRef idx="0">
            <a:schemeClr val="accent1"/>
          </a:effectRef>
          <a:fontRef idx="minor">
            <a:schemeClr val="tx1"/>
          </a:fontRef>
        </p:style>
        <p:txBody>
          <a:bodyPr anchor="ctr"/>
          <a:lstStyle/>
          <a:p>
            <a:pPr algn="ctr"/>
            <a:endParaRPr/>
          </a:p>
        </p:txBody>
      </p:sp>
      <p:cxnSp>
        <p:nvCxnSpPr>
          <p:cNvPr id="18" name="Straight Connector 115"/>
          <p:cNvCxnSpPr/>
          <p:nvPr/>
        </p:nvCxnSpPr>
        <p:spPr>
          <a:xfrm flipV="1">
            <a:off x="350258" y="5685769"/>
            <a:ext cx="401492" cy="1821"/>
          </a:xfrm>
          <a:prstGeom prst="line">
            <a:avLst/>
          </a:prstGeom>
          <a:ln w="38100">
            <a:solidFill>
              <a:srgbClr val="C00000"/>
            </a:solidFill>
            <a:headEnd type="oval"/>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1556695" y="2393767"/>
            <a:ext cx="10254800" cy="3416320"/>
          </a:xfrm>
          <a:prstGeom prst="rect">
            <a:avLst/>
          </a:prstGeom>
          <a:noFill/>
        </p:spPr>
        <p:txBody>
          <a:bodyPr wrap="square" rtlCol="0">
            <a:spAutoFit/>
          </a:bodyPr>
          <a:lstStyle/>
          <a:p>
            <a:pPr marL="171450" indent="-171450">
              <a:lnSpc>
                <a:spcPct val="120000"/>
              </a:lnSpc>
              <a:buFont typeface="Wingdings" panose="05000000000000000000" pitchFamily="2" charset="2"/>
              <a:buChar char="l"/>
            </a:pPr>
            <a:r>
              <a:rPr lang="zh-CN" altLang="en-US" sz="1200" b="1" dirty="0" smtClean="0">
                <a:solidFill>
                  <a:srgbClr val="0070C0"/>
                </a:solidFill>
                <a:latin typeface="+mn-ea"/>
              </a:rPr>
              <a:t>主要过程</a:t>
            </a:r>
            <a:endParaRPr lang="en-US" altLang="zh-CN" sz="1200" b="1" dirty="0" smtClean="0">
              <a:solidFill>
                <a:srgbClr val="0070C0"/>
              </a:solidFill>
              <a:latin typeface="+mn-ea"/>
            </a:endParaRPr>
          </a:p>
          <a:p>
            <a:pPr marL="171450" indent="-171450">
              <a:lnSpc>
                <a:spcPct val="120000"/>
              </a:lnSpc>
              <a:buFont typeface="Wingdings" panose="05000000000000000000" pitchFamily="2" charset="2"/>
              <a:buChar char="Ø"/>
            </a:pPr>
            <a:r>
              <a:rPr lang="zh-CN" altLang="en-US" sz="1200" dirty="0" smtClean="0">
                <a:solidFill>
                  <a:schemeClr val="tx1">
                    <a:lumMod val="75000"/>
                    <a:lumOff val="25000"/>
                  </a:schemeClr>
                </a:solidFill>
                <a:latin typeface="+mn-ea"/>
              </a:rPr>
              <a:t>制造部完成首台机器装配后，首先由制造部进行检验，检验通过并且形成</a:t>
            </a:r>
            <a:r>
              <a:rPr lang="en-US" altLang="zh-CN" sz="1200" dirty="0" smtClean="0">
                <a:solidFill>
                  <a:schemeClr val="tx1">
                    <a:lumMod val="75000"/>
                    <a:lumOff val="25000"/>
                  </a:schemeClr>
                </a:solidFill>
                <a:latin typeface="+mn-ea"/>
              </a:rPr>
              <a:t>《</a:t>
            </a:r>
            <a:r>
              <a:rPr lang="zh-CN" altLang="en-US" sz="1200" dirty="0" smtClean="0">
                <a:solidFill>
                  <a:schemeClr val="tx1">
                    <a:lumMod val="75000"/>
                    <a:lumOff val="25000"/>
                  </a:schemeClr>
                </a:solidFill>
                <a:latin typeface="+mn-ea"/>
              </a:rPr>
              <a:t>首件检验报告</a:t>
            </a:r>
            <a:r>
              <a:rPr lang="en-US" altLang="zh-CN" sz="1200" dirty="0" smtClean="0">
                <a:solidFill>
                  <a:schemeClr val="tx1">
                    <a:lumMod val="75000"/>
                    <a:lumOff val="25000"/>
                  </a:schemeClr>
                </a:solidFill>
                <a:latin typeface="+mn-ea"/>
              </a:rPr>
              <a:t>》</a:t>
            </a:r>
            <a:r>
              <a:rPr lang="zh-CN" altLang="en-US" sz="1200" dirty="0" smtClean="0">
                <a:solidFill>
                  <a:schemeClr val="tx1">
                    <a:lumMod val="75000"/>
                    <a:lumOff val="25000"/>
                  </a:schemeClr>
                </a:solidFill>
                <a:latin typeface="+mn-ea"/>
              </a:rPr>
              <a:t>后，应由品质管理部主导进行首件鉴定。</a:t>
            </a:r>
            <a:endParaRPr lang="en-US" altLang="zh-CN" sz="1200" dirty="0" smtClean="0">
              <a:solidFill>
                <a:schemeClr val="tx1">
                  <a:lumMod val="75000"/>
                  <a:lumOff val="25000"/>
                </a:schemeClr>
              </a:solidFill>
              <a:latin typeface="+mn-ea"/>
            </a:endParaRPr>
          </a:p>
          <a:p>
            <a:pPr marL="171450" indent="-171450">
              <a:lnSpc>
                <a:spcPct val="120000"/>
              </a:lnSpc>
              <a:buFont typeface="Wingdings" panose="05000000000000000000" pitchFamily="2" charset="2"/>
              <a:buChar char="Ø"/>
            </a:pPr>
            <a:r>
              <a:rPr lang="zh-CN" altLang="en-US" sz="1200" dirty="0">
                <a:solidFill>
                  <a:schemeClr val="tx1">
                    <a:lumMod val="75000"/>
                    <a:lumOff val="25000"/>
                  </a:schemeClr>
                </a:solidFill>
                <a:latin typeface="+mn-ea"/>
              </a:rPr>
              <a:t>首</a:t>
            </a:r>
            <a:r>
              <a:rPr lang="zh-CN" altLang="en-US" sz="1200" dirty="0" smtClean="0">
                <a:solidFill>
                  <a:schemeClr val="tx1">
                    <a:lumMod val="75000"/>
                    <a:lumOff val="25000"/>
                  </a:schemeClr>
                </a:solidFill>
                <a:latin typeface="+mn-ea"/>
              </a:rPr>
              <a:t>件鉴定工作遵循品质管理部首件鉴定的要求执行。首件鉴定通过并且形成</a:t>
            </a:r>
            <a:r>
              <a:rPr lang="en-US" altLang="zh-CN" sz="1200" dirty="0" smtClean="0">
                <a:solidFill>
                  <a:schemeClr val="tx1">
                    <a:lumMod val="75000"/>
                    <a:lumOff val="25000"/>
                  </a:schemeClr>
                </a:solidFill>
                <a:latin typeface="+mn-ea"/>
              </a:rPr>
              <a:t>《</a:t>
            </a:r>
            <a:r>
              <a:rPr lang="zh-CN" altLang="en-US" sz="1200" dirty="0" smtClean="0">
                <a:solidFill>
                  <a:schemeClr val="tx1">
                    <a:lumMod val="75000"/>
                    <a:lumOff val="25000"/>
                  </a:schemeClr>
                </a:solidFill>
                <a:latin typeface="+mn-ea"/>
              </a:rPr>
              <a:t>首件鉴定报告</a:t>
            </a:r>
            <a:r>
              <a:rPr lang="en-US" altLang="zh-CN" sz="1200" dirty="0" smtClean="0">
                <a:solidFill>
                  <a:schemeClr val="tx1">
                    <a:lumMod val="75000"/>
                    <a:lumOff val="25000"/>
                  </a:schemeClr>
                </a:solidFill>
                <a:latin typeface="+mn-ea"/>
              </a:rPr>
              <a:t>》</a:t>
            </a:r>
            <a:r>
              <a:rPr lang="zh-CN" altLang="en-US" sz="1200" dirty="0" smtClean="0">
                <a:solidFill>
                  <a:schemeClr val="tx1">
                    <a:lumMod val="75000"/>
                    <a:lumOff val="25000"/>
                  </a:schemeClr>
                </a:solidFill>
                <a:latin typeface="+mn-ea"/>
              </a:rPr>
              <a:t>后，如无遗留问题，即认为生产鉴定完成，</a:t>
            </a:r>
            <a:r>
              <a:rPr lang="zh-CN" altLang="en-US" sz="1200" dirty="0" smtClean="0">
                <a:solidFill>
                  <a:srgbClr val="FF0000"/>
                </a:solidFill>
                <a:latin typeface="+mn-ea"/>
              </a:rPr>
              <a:t>生产鉴定后的各类工艺、工装一般情况下不应更改</a:t>
            </a:r>
            <a:r>
              <a:rPr lang="zh-CN" altLang="en-US" sz="1200" dirty="0" smtClean="0">
                <a:solidFill>
                  <a:schemeClr val="tx1">
                    <a:lumMod val="75000"/>
                    <a:lumOff val="25000"/>
                  </a:schemeClr>
                </a:solidFill>
                <a:latin typeface="+mn-ea"/>
              </a:rPr>
              <a:t>，若确定更改，则应该对更改内容进行验证和评审，并</a:t>
            </a:r>
            <a:r>
              <a:rPr lang="zh-CN" altLang="en-US" sz="1200" dirty="0">
                <a:solidFill>
                  <a:schemeClr val="tx1">
                    <a:lumMod val="75000"/>
                    <a:lumOff val="25000"/>
                  </a:schemeClr>
                </a:solidFill>
                <a:latin typeface="+mn-ea"/>
              </a:rPr>
              <a:t>征</a:t>
            </a:r>
            <a:r>
              <a:rPr lang="zh-CN" altLang="en-US" sz="1200" dirty="0" smtClean="0">
                <a:solidFill>
                  <a:schemeClr val="tx1">
                    <a:lumMod val="75000"/>
                    <a:lumOff val="25000"/>
                  </a:schemeClr>
                </a:solidFill>
                <a:latin typeface="+mn-ea"/>
              </a:rPr>
              <a:t>得顾客的同意。</a:t>
            </a:r>
            <a:endParaRPr lang="en-US" altLang="zh-CN" sz="1200" dirty="0" smtClean="0">
              <a:solidFill>
                <a:schemeClr val="tx1">
                  <a:lumMod val="75000"/>
                  <a:lumOff val="25000"/>
                </a:schemeClr>
              </a:solidFill>
              <a:latin typeface="+mn-ea"/>
            </a:endParaRPr>
          </a:p>
          <a:p>
            <a:pPr marL="171450" indent="-171450">
              <a:lnSpc>
                <a:spcPct val="120000"/>
              </a:lnSpc>
              <a:buFont typeface="Wingdings" panose="05000000000000000000" pitchFamily="2" charset="2"/>
              <a:buChar char="l"/>
            </a:pPr>
            <a:r>
              <a:rPr lang="zh-CN" altLang="en-US" sz="1200" b="1" dirty="0" smtClean="0">
                <a:solidFill>
                  <a:srgbClr val="0070C0"/>
                </a:solidFill>
                <a:latin typeface="+mn-ea"/>
              </a:rPr>
              <a:t>主要内容：</a:t>
            </a:r>
            <a:endParaRPr lang="en-US" altLang="zh-CN" sz="1200" b="1" dirty="0" smtClean="0">
              <a:solidFill>
                <a:srgbClr val="0070C0"/>
              </a:solidFill>
              <a:latin typeface="+mn-ea"/>
            </a:endParaRPr>
          </a:p>
          <a:p>
            <a:pPr marL="171450" indent="-171450">
              <a:lnSpc>
                <a:spcPct val="120000"/>
              </a:lnSpc>
              <a:buFont typeface="Arial" panose="020B0604020202020204" pitchFamily="34" charset="0"/>
              <a:buChar char="•"/>
            </a:pPr>
            <a:r>
              <a:rPr lang="zh-CN" altLang="en-US" sz="1200" dirty="0">
                <a:solidFill>
                  <a:schemeClr val="tx1">
                    <a:lumMod val="75000"/>
                    <a:lumOff val="25000"/>
                  </a:schemeClr>
                </a:solidFill>
                <a:latin typeface="+mn-ea"/>
              </a:rPr>
              <a:t>首</a:t>
            </a:r>
            <a:r>
              <a:rPr lang="zh-CN" altLang="en-US" sz="1200" dirty="0" smtClean="0">
                <a:solidFill>
                  <a:schemeClr val="tx1">
                    <a:lumMod val="75000"/>
                    <a:lumOff val="25000"/>
                  </a:schemeClr>
                </a:solidFill>
                <a:latin typeface="+mn-ea"/>
              </a:rPr>
              <a:t>件产品与设计要求的符合性；</a:t>
            </a:r>
            <a:endParaRPr lang="en-US" altLang="zh-CN" sz="1200" dirty="0" smtClean="0">
              <a:solidFill>
                <a:schemeClr val="tx1">
                  <a:lumMod val="75000"/>
                  <a:lumOff val="25000"/>
                </a:schemeClr>
              </a:solidFill>
              <a:latin typeface="+mn-ea"/>
            </a:endParaRPr>
          </a:p>
          <a:p>
            <a:pPr marL="171450" indent="-171450">
              <a:lnSpc>
                <a:spcPct val="120000"/>
              </a:lnSpc>
              <a:buFont typeface="Arial" panose="020B0604020202020204" pitchFamily="34" charset="0"/>
              <a:buChar char="•"/>
            </a:pPr>
            <a:r>
              <a:rPr lang="zh-CN" altLang="en-US" sz="1200" dirty="0" smtClean="0">
                <a:solidFill>
                  <a:schemeClr val="tx1">
                    <a:lumMod val="75000"/>
                    <a:lumOff val="25000"/>
                  </a:schemeClr>
                </a:solidFill>
                <a:latin typeface="+mn-ea"/>
              </a:rPr>
              <a:t>设计文件（生产指导文件、</a:t>
            </a:r>
            <a:r>
              <a:rPr lang="en-US" altLang="zh-CN" sz="1200" dirty="0" smtClean="0">
                <a:solidFill>
                  <a:schemeClr val="tx1">
                    <a:lumMod val="75000"/>
                    <a:lumOff val="25000"/>
                  </a:schemeClr>
                </a:solidFill>
                <a:latin typeface="+mn-ea"/>
              </a:rPr>
              <a:t>BOM</a:t>
            </a:r>
            <a:r>
              <a:rPr lang="zh-CN" altLang="en-US" sz="1200" dirty="0" smtClean="0">
                <a:solidFill>
                  <a:schemeClr val="tx1">
                    <a:lumMod val="75000"/>
                    <a:lumOff val="25000"/>
                  </a:schemeClr>
                </a:solidFill>
                <a:latin typeface="+mn-ea"/>
              </a:rPr>
              <a:t>等）的有效性；</a:t>
            </a:r>
            <a:endParaRPr lang="en-US" altLang="zh-CN" sz="1200" dirty="0" smtClean="0">
              <a:solidFill>
                <a:schemeClr val="tx1">
                  <a:lumMod val="75000"/>
                  <a:lumOff val="25000"/>
                </a:schemeClr>
              </a:solidFill>
              <a:latin typeface="+mn-ea"/>
            </a:endParaRPr>
          </a:p>
          <a:p>
            <a:pPr marL="171450" indent="-171450">
              <a:lnSpc>
                <a:spcPct val="120000"/>
              </a:lnSpc>
              <a:buFont typeface="Arial" panose="020B0604020202020204" pitchFamily="34" charset="0"/>
              <a:buChar char="•"/>
            </a:pPr>
            <a:r>
              <a:rPr lang="zh-CN" altLang="en-US" sz="1200" dirty="0" smtClean="0">
                <a:solidFill>
                  <a:schemeClr val="tx1">
                    <a:lumMod val="75000"/>
                    <a:lumOff val="25000"/>
                  </a:schemeClr>
                </a:solidFill>
                <a:latin typeface="+mn-ea"/>
              </a:rPr>
              <a:t>加工设备、检验设备具有有效性、准确性；</a:t>
            </a:r>
            <a:endParaRPr lang="en-US" altLang="zh-CN" sz="1200" dirty="0" smtClean="0">
              <a:solidFill>
                <a:schemeClr val="tx1">
                  <a:lumMod val="75000"/>
                  <a:lumOff val="25000"/>
                </a:schemeClr>
              </a:solidFill>
              <a:latin typeface="+mn-ea"/>
            </a:endParaRPr>
          </a:p>
          <a:p>
            <a:pPr marL="171450" indent="-171450">
              <a:lnSpc>
                <a:spcPct val="120000"/>
              </a:lnSpc>
              <a:buFont typeface="Arial" panose="020B0604020202020204" pitchFamily="34" charset="0"/>
              <a:buChar char="•"/>
            </a:pPr>
            <a:r>
              <a:rPr lang="zh-CN" altLang="en-US" sz="1200" dirty="0" smtClean="0">
                <a:solidFill>
                  <a:schemeClr val="tx1">
                    <a:lumMod val="75000"/>
                    <a:lumOff val="25000"/>
                  </a:schemeClr>
                </a:solidFill>
                <a:latin typeface="+mn-ea"/>
              </a:rPr>
              <a:t>操作人员和检验技术水平；</a:t>
            </a:r>
            <a:endParaRPr lang="en-US" altLang="zh-CN" sz="1200" dirty="0" smtClean="0">
              <a:solidFill>
                <a:schemeClr val="tx1">
                  <a:lumMod val="75000"/>
                  <a:lumOff val="25000"/>
                </a:schemeClr>
              </a:solidFill>
              <a:latin typeface="+mn-ea"/>
            </a:endParaRPr>
          </a:p>
          <a:p>
            <a:pPr marL="171450" indent="-171450">
              <a:lnSpc>
                <a:spcPct val="120000"/>
              </a:lnSpc>
              <a:buFont typeface="Arial" panose="020B0604020202020204" pitchFamily="34" charset="0"/>
              <a:buChar char="•"/>
            </a:pPr>
            <a:r>
              <a:rPr lang="zh-CN" altLang="en-US" sz="1200" dirty="0" smtClean="0">
                <a:solidFill>
                  <a:schemeClr val="tx1">
                    <a:lumMod val="75000"/>
                    <a:lumOff val="25000"/>
                  </a:schemeClr>
                </a:solidFill>
                <a:latin typeface="+mn-ea"/>
              </a:rPr>
              <a:t>质量原始记录完整性。</a:t>
            </a:r>
            <a:endParaRPr lang="en-US" altLang="zh-CN" sz="1200" dirty="0" smtClean="0">
              <a:solidFill>
                <a:schemeClr val="tx1">
                  <a:lumMod val="75000"/>
                  <a:lumOff val="25000"/>
                </a:schemeClr>
              </a:solidFill>
              <a:latin typeface="+mn-ea"/>
            </a:endParaRPr>
          </a:p>
          <a:p>
            <a:pPr marL="171450" indent="-171450">
              <a:lnSpc>
                <a:spcPct val="120000"/>
              </a:lnSpc>
              <a:buFont typeface="Wingdings" panose="05000000000000000000" pitchFamily="2" charset="2"/>
              <a:buChar char="l"/>
            </a:pPr>
            <a:r>
              <a:rPr lang="zh-CN" altLang="en-US" sz="1200" b="1" dirty="0" smtClean="0">
                <a:solidFill>
                  <a:srgbClr val="0070C0"/>
                </a:solidFill>
                <a:latin typeface="+mn-ea"/>
              </a:rPr>
              <a:t>问题处理：</a:t>
            </a:r>
            <a:endParaRPr lang="en-US" altLang="zh-CN" sz="1200" b="1" dirty="0" smtClean="0">
              <a:solidFill>
                <a:srgbClr val="0070C0"/>
              </a:solidFill>
              <a:latin typeface="+mn-ea"/>
            </a:endParaRPr>
          </a:p>
          <a:p>
            <a:pPr marL="171450" indent="-171450">
              <a:lnSpc>
                <a:spcPct val="120000"/>
              </a:lnSpc>
              <a:buFont typeface="Arial" panose="020B0604020202020204" pitchFamily="34" charset="0"/>
              <a:buChar char="•"/>
            </a:pPr>
            <a:r>
              <a:rPr lang="zh-CN" altLang="en-US" sz="1200" dirty="0" smtClean="0">
                <a:solidFill>
                  <a:schemeClr val="tx1">
                    <a:lumMod val="75000"/>
                    <a:lumOff val="25000"/>
                  </a:schemeClr>
                </a:solidFill>
                <a:latin typeface="+mn-ea"/>
              </a:rPr>
              <a:t>首件鉴定未通过时，由</a:t>
            </a:r>
            <a:r>
              <a:rPr lang="zh-CN" altLang="en-US" sz="1200" dirty="0" smtClean="0">
                <a:solidFill>
                  <a:schemeClr val="tx1">
                    <a:lumMod val="75000"/>
                    <a:lumOff val="25000"/>
                  </a:schemeClr>
                </a:solidFill>
                <a:latin typeface="+mn-ea"/>
              </a:rPr>
              <a:t>产品工程师主导</a:t>
            </a:r>
            <a:r>
              <a:rPr lang="zh-CN" altLang="en-US" sz="1200" dirty="0" smtClean="0">
                <a:solidFill>
                  <a:schemeClr val="tx1">
                    <a:lumMod val="75000"/>
                    <a:lumOff val="25000"/>
                  </a:schemeClr>
                </a:solidFill>
                <a:latin typeface="+mn-ea"/>
              </a:rPr>
              <a:t>与制造部、品管部应对存在的问题进行分析，形成纠正措施，</a:t>
            </a:r>
            <a:r>
              <a:rPr lang="zh-CN" altLang="en-US" sz="1200" dirty="0" smtClean="0">
                <a:solidFill>
                  <a:schemeClr val="tx1">
                    <a:lumMod val="75000"/>
                    <a:lumOff val="25000"/>
                  </a:schemeClr>
                </a:solidFill>
                <a:latin typeface="+mn-ea"/>
              </a:rPr>
              <a:t>重新指导首</a:t>
            </a:r>
            <a:r>
              <a:rPr lang="zh-CN" altLang="en-US" sz="1200" dirty="0" smtClean="0">
                <a:solidFill>
                  <a:schemeClr val="tx1">
                    <a:lumMod val="75000"/>
                    <a:lumOff val="25000"/>
                  </a:schemeClr>
                </a:solidFill>
                <a:latin typeface="+mn-ea"/>
              </a:rPr>
              <a:t>件并再次进行首件鉴定。</a:t>
            </a:r>
            <a:endParaRPr lang="en-US" altLang="zh-CN" sz="1200" dirty="0" smtClean="0">
              <a:solidFill>
                <a:schemeClr val="tx1">
                  <a:lumMod val="75000"/>
                  <a:lumOff val="25000"/>
                </a:schemeClr>
              </a:solidFill>
              <a:latin typeface="+mn-ea"/>
            </a:endParaRPr>
          </a:p>
          <a:p>
            <a:pPr marL="171450" indent="-171450">
              <a:lnSpc>
                <a:spcPct val="120000"/>
              </a:lnSpc>
              <a:buFont typeface="Arial" panose="020B0604020202020204" pitchFamily="34" charset="0"/>
              <a:buChar char="•"/>
            </a:pPr>
            <a:r>
              <a:rPr lang="zh-CN" altLang="en-US" sz="1200" dirty="0" smtClean="0">
                <a:solidFill>
                  <a:schemeClr val="tx1">
                    <a:lumMod val="75000"/>
                    <a:lumOff val="25000"/>
                  </a:schemeClr>
                </a:solidFill>
                <a:latin typeface="+mn-ea"/>
              </a:rPr>
              <a:t>试制过程中出现的问题，如由</a:t>
            </a:r>
            <a:r>
              <a:rPr lang="en-US" altLang="zh-CN" sz="1200" dirty="0" smtClean="0">
                <a:solidFill>
                  <a:schemeClr val="tx1">
                    <a:lumMod val="75000"/>
                    <a:lumOff val="25000"/>
                  </a:schemeClr>
                </a:solidFill>
                <a:latin typeface="+mn-ea"/>
              </a:rPr>
              <a:t>《</a:t>
            </a:r>
            <a:r>
              <a:rPr lang="zh-CN" altLang="en-US" sz="1200" dirty="0" smtClean="0">
                <a:solidFill>
                  <a:schemeClr val="tx1">
                    <a:lumMod val="75000"/>
                    <a:lumOff val="25000"/>
                  </a:schemeClr>
                </a:solidFill>
                <a:latin typeface="+mn-ea"/>
              </a:rPr>
              <a:t>产品生产技术要求</a:t>
            </a:r>
            <a:r>
              <a:rPr lang="en-US" altLang="zh-CN" sz="1200" dirty="0" smtClean="0">
                <a:solidFill>
                  <a:schemeClr val="tx1">
                    <a:lumMod val="75000"/>
                    <a:lumOff val="25000"/>
                  </a:schemeClr>
                </a:solidFill>
                <a:latin typeface="+mn-ea"/>
              </a:rPr>
              <a:t>》</a:t>
            </a:r>
            <a:r>
              <a:rPr lang="zh-CN" altLang="en-US" sz="1200" dirty="0" smtClean="0">
                <a:solidFill>
                  <a:schemeClr val="tx1">
                    <a:lumMod val="75000"/>
                    <a:lumOff val="25000"/>
                  </a:schemeClr>
                </a:solidFill>
                <a:latin typeface="+mn-ea"/>
              </a:rPr>
              <a:t>引起的，应责事业部产品工程师限期整改，整改完成后方可通过。短时间内无法提供解决方案的，本次试制结论为“不通过”。</a:t>
            </a:r>
            <a:endParaRPr lang="en-US" altLang="zh-CN" sz="1200" dirty="0" smtClean="0">
              <a:solidFill>
                <a:schemeClr val="tx1">
                  <a:lumMod val="75000"/>
                  <a:lumOff val="25000"/>
                </a:schemeClr>
              </a:solidFill>
              <a:latin typeface="+mn-ea"/>
            </a:endParaRPr>
          </a:p>
          <a:p>
            <a:pPr marL="171450" indent="-171450">
              <a:lnSpc>
                <a:spcPct val="120000"/>
              </a:lnSpc>
              <a:buFont typeface="Arial" panose="020B0604020202020204" pitchFamily="34" charset="0"/>
              <a:buChar char="•"/>
            </a:pPr>
            <a:r>
              <a:rPr lang="zh-CN" altLang="en-US" sz="1200" dirty="0" smtClean="0">
                <a:solidFill>
                  <a:schemeClr val="tx1">
                    <a:lumMod val="75000"/>
                    <a:lumOff val="25000"/>
                  </a:schemeClr>
                </a:solidFill>
                <a:latin typeface="+mn-ea"/>
              </a:rPr>
              <a:t>如由生产工艺引起，由制造部进行整改，整改结果需由产品工程师确认。</a:t>
            </a:r>
            <a:endParaRPr lang="en-US" altLang="zh-CN" sz="1200" dirty="0" smtClean="0">
              <a:solidFill>
                <a:schemeClr val="tx1">
                  <a:lumMod val="75000"/>
                  <a:lumOff val="25000"/>
                </a:schemeClr>
              </a:solidFill>
              <a:latin typeface="+mn-ea"/>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2100406651"/>
              </p:ext>
            </p:extLst>
          </p:nvPr>
        </p:nvGraphicFramePr>
        <p:xfrm>
          <a:off x="10536543" y="3535903"/>
          <a:ext cx="914400" cy="828675"/>
        </p:xfrm>
        <a:graphic>
          <a:graphicData uri="http://schemas.openxmlformats.org/presentationml/2006/ole">
            <mc:AlternateContent xmlns:mc="http://schemas.openxmlformats.org/markup-compatibility/2006">
              <mc:Choice xmlns:v="urn:schemas-microsoft-com:vml" Requires="v">
                <p:oleObj spid="_x0000_s4315" name="文档" showAsIcon="1" r:id="rId4" imgW="914400" imgH="828720" progId="Word.Document.12">
                  <p:embed/>
                </p:oleObj>
              </mc:Choice>
              <mc:Fallback>
                <p:oleObj name="文档" showAsIcon="1" r:id="rId4" imgW="914400" imgH="828720" progId="Word.Document.12">
                  <p:embed/>
                  <p:pic>
                    <p:nvPicPr>
                      <p:cNvPr id="0" name=""/>
                      <p:cNvPicPr/>
                      <p:nvPr/>
                    </p:nvPicPr>
                    <p:blipFill>
                      <a:blip r:embed="rId5"/>
                      <a:stretch>
                        <a:fillRect/>
                      </a:stretch>
                    </p:blipFill>
                    <p:spPr>
                      <a:xfrm>
                        <a:off x="10536543" y="3535903"/>
                        <a:ext cx="914400" cy="828675"/>
                      </a:xfrm>
                      <a:prstGeom prst="rect">
                        <a:avLst/>
                      </a:prstGeom>
                    </p:spPr>
                  </p:pic>
                </p:oleObj>
              </mc:Fallback>
            </mc:AlternateContent>
          </a:graphicData>
        </a:graphic>
      </p:graphicFrame>
      <p:sp>
        <p:nvSpPr>
          <p:cNvPr id="6" name="椭圆 5"/>
          <p:cNvSpPr/>
          <p:nvPr/>
        </p:nvSpPr>
        <p:spPr>
          <a:xfrm>
            <a:off x="7148429" y="3402170"/>
            <a:ext cx="2988527" cy="913434"/>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7" name="文本框 6"/>
          <p:cNvSpPr txBox="1"/>
          <p:nvPr/>
        </p:nvSpPr>
        <p:spPr>
          <a:xfrm>
            <a:off x="7564740" y="3576942"/>
            <a:ext cx="2155903" cy="535531"/>
          </a:xfrm>
          <a:prstGeom prst="rect">
            <a:avLst/>
          </a:prstGeom>
          <a:noFill/>
        </p:spPr>
        <p:txBody>
          <a:bodyPr wrap="square" rtlCol="0">
            <a:spAutoFit/>
          </a:bodyPr>
          <a:lstStyle/>
          <a:p>
            <a:pPr>
              <a:lnSpc>
                <a:spcPct val="120000"/>
              </a:lnSpc>
            </a:pPr>
            <a:r>
              <a:rPr lang="zh-CN" altLang="en-US" sz="1200" b="1" dirty="0" smtClean="0">
                <a:solidFill>
                  <a:schemeClr val="bg1"/>
                </a:solidFill>
              </a:rPr>
              <a:t>首件鉴定是鉴定的整个生产过程，包含老化测试</a:t>
            </a:r>
          </a:p>
        </p:txBody>
      </p:sp>
      <p:sp>
        <p:nvSpPr>
          <p:cNvPr id="8" name="椭圆 7"/>
          <p:cNvSpPr/>
          <p:nvPr/>
        </p:nvSpPr>
        <p:spPr>
          <a:xfrm>
            <a:off x="7348654" y="4315604"/>
            <a:ext cx="780585" cy="167186"/>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9" name="椭圆 8"/>
          <p:cNvSpPr/>
          <p:nvPr/>
        </p:nvSpPr>
        <p:spPr>
          <a:xfrm>
            <a:off x="7270595" y="4594302"/>
            <a:ext cx="294145" cy="66908"/>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7380573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4"/>
          </p:nvPr>
        </p:nvSpPr>
        <p:spPr>
          <a:xfrm>
            <a:off x="277628" y="992362"/>
            <a:ext cx="10515600" cy="405363"/>
          </a:xfrm>
        </p:spPr>
        <p:txBody>
          <a:bodyPr/>
          <a:lstStyle/>
          <a:p>
            <a:pPr>
              <a:buFont typeface="Wingdings" panose="05000000000000000000" pitchFamily="2" charset="2"/>
              <a:buChar char="n"/>
            </a:pPr>
            <a:r>
              <a:rPr lang="en-US" altLang="zh-CN" sz="1800" b="1" dirty="0" smtClean="0">
                <a:latin typeface="+mn-ea"/>
              </a:rPr>
              <a:t>1.5</a:t>
            </a:r>
            <a:r>
              <a:rPr lang="zh-CN" altLang="en-US" sz="1800" b="1" dirty="0" smtClean="0">
                <a:latin typeface="+mn-ea"/>
              </a:rPr>
              <a:t>批量试制</a:t>
            </a:r>
            <a:endParaRPr lang="en-US" altLang="zh-CN" dirty="0" smtClean="0"/>
          </a:p>
          <a:p>
            <a:pPr marL="0" indent="0">
              <a:buNone/>
            </a:pPr>
            <a:endParaRPr lang="zh-CN" altLang="en-US" dirty="0"/>
          </a:p>
        </p:txBody>
      </p:sp>
      <p:sp>
        <p:nvSpPr>
          <p:cNvPr id="4" name="标题 2">
            <a:extLst>
              <a:ext uri="{FF2B5EF4-FFF2-40B4-BE49-F238E27FC236}">
                <a16:creationId xmlns:a16="http://schemas.microsoft.com/office/drawing/2014/main" id="{2B587CB1-41A9-48EF-9229-101563C80EFD}"/>
              </a:ext>
            </a:extLst>
          </p:cNvPr>
          <p:cNvSpPr txBox="1">
            <a:spLocks noGrp="1"/>
          </p:cNvSpPr>
          <p:nvPr>
            <p:ph type="body" sz="quarter" idx="13"/>
          </p:nvPr>
        </p:nvSpPr>
        <p:spPr>
          <a:xfrm>
            <a:off x="0" y="154126"/>
            <a:ext cx="5535428" cy="672075"/>
          </a:xfrm>
          <a:prstGeom prst="rect">
            <a:avLst/>
          </a:prstGeom>
        </p:spPr>
        <p:txBody>
          <a:bodyPr/>
          <a:lstStyle>
            <a:defPPr>
              <a:defRPr lang="zh-CN"/>
            </a:defPPr>
            <a:lvl1pPr algn="ctr">
              <a:spcBef>
                <a:spcPct val="0"/>
              </a:spcBef>
              <a:buNone/>
              <a:defRPr sz="2400" b="1">
                <a:solidFill>
                  <a:schemeClr val="tx1">
                    <a:lumMod val="65000"/>
                    <a:lumOff val="35000"/>
                  </a:schemeClr>
                </a:solidFill>
                <a:latin typeface="微软雅黑" pitchFamily="34" charset="-122"/>
                <a:ea typeface="微软雅黑" pitchFamily="34" charset="-122"/>
              </a:defRPr>
            </a:lvl1pPr>
          </a:lstStyle>
          <a:p>
            <a:pPr defTabSz="1219170"/>
            <a:r>
              <a:rPr lang="zh-CN" altLang="en-US" sz="3200" dirty="0" smtClean="0">
                <a:solidFill>
                  <a:prstClr val="black">
                    <a:lumMod val="65000"/>
                    <a:lumOff val="35000"/>
                  </a:prstClr>
                </a:solidFill>
              </a:rPr>
              <a:t>一、</a:t>
            </a:r>
            <a:r>
              <a:rPr lang="en-US" altLang="zh-CN" sz="3200" dirty="0" smtClean="0">
                <a:solidFill>
                  <a:prstClr val="black">
                    <a:lumMod val="65000"/>
                    <a:lumOff val="35000"/>
                  </a:prstClr>
                </a:solidFill>
              </a:rPr>
              <a:t>L10 </a:t>
            </a:r>
            <a:r>
              <a:rPr lang="zh-CN" altLang="en-US" sz="3200" dirty="0" smtClean="0">
                <a:solidFill>
                  <a:prstClr val="black">
                    <a:lumMod val="65000"/>
                    <a:lumOff val="35000"/>
                  </a:prstClr>
                </a:solidFill>
              </a:rPr>
              <a:t>首件试制</a:t>
            </a:r>
            <a:r>
              <a:rPr lang="en-US" altLang="zh-CN" sz="3200" dirty="0" smtClean="0">
                <a:solidFill>
                  <a:prstClr val="black">
                    <a:lumMod val="65000"/>
                    <a:lumOff val="35000"/>
                  </a:prstClr>
                </a:solidFill>
              </a:rPr>
              <a:t>/</a:t>
            </a:r>
            <a:r>
              <a:rPr lang="zh-CN" altLang="en-US" sz="3200" dirty="0" smtClean="0">
                <a:solidFill>
                  <a:prstClr val="black">
                    <a:lumMod val="65000"/>
                    <a:lumOff val="35000"/>
                  </a:prstClr>
                </a:solidFill>
              </a:rPr>
              <a:t>批量试制</a:t>
            </a:r>
            <a:endParaRPr lang="zh-CN" altLang="en-US" sz="3200" dirty="0">
              <a:solidFill>
                <a:prstClr val="black">
                  <a:lumMod val="65000"/>
                  <a:lumOff val="35000"/>
                </a:prstClr>
              </a:solidFill>
            </a:endParaRPr>
          </a:p>
        </p:txBody>
      </p:sp>
      <p:graphicFrame>
        <p:nvGraphicFramePr>
          <p:cNvPr id="5" name="表格 4"/>
          <p:cNvGraphicFramePr>
            <a:graphicFrameLocks noGrp="1"/>
          </p:cNvGraphicFramePr>
          <p:nvPr>
            <p:extLst>
              <p:ext uri="{D42A27DB-BD31-4B8C-83A1-F6EECF244321}">
                <p14:modId xmlns:p14="http://schemas.microsoft.com/office/powerpoint/2010/main" val="3208169548"/>
              </p:ext>
            </p:extLst>
          </p:nvPr>
        </p:nvGraphicFramePr>
        <p:xfrm>
          <a:off x="1359280" y="1550644"/>
          <a:ext cx="10371803" cy="889000"/>
        </p:xfrm>
        <a:graphic>
          <a:graphicData uri="http://schemas.openxmlformats.org/drawingml/2006/table">
            <a:tbl>
              <a:tblPr firstRow="1" bandRow="1">
                <a:tableStyleId>{21E4AEA4-8DFA-4A89-87EB-49C32662AFE0}</a:tableStyleId>
              </a:tblPr>
              <a:tblGrid>
                <a:gridCol w="1044441">
                  <a:extLst>
                    <a:ext uri="{9D8B030D-6E8A-4147-A177-3AD203B41FA5}">
                      <a16:colId xmlns:a16="http://schemas.microsoft.com/office/drawing/2014/main" val="773509366"/>
                    </a:ext>
                  </a:extLst>
                </a:gridCol>
                <a:gridCol w="2646060">
                  <a:extLst>
                    <a:ext uri="{9D8B030D-6E8A-4147-A177-3AD203B41FA5}">
                      <a16:colId xmlns:a16="http://schemas.microsoft.com/office/drawing/2014/main" val="1193865247"/>
                    </a:ext>
                  </a:extLst>
                </a:gridCol>
                <a:gridCol w="1235598">
                  <a:extLst>
                    <a:ext uri="{9D8B030D-6E8A-4147-A177-3AD203B41FA5}">
                      <a16:colId xmlns:a16="http://schemas.microsoft.com/office/drawing/2014/main" val="869367937"/>
                    </a:ext>
                  </a:extLst>
                </a:gridCol>
                <a:gridCol w="3090711">
                  <a:extLst>
                    <a:ext uri="{9D8B030D-6E8A-4147-A177-3AD203B41FA5}">
                      <a16:colId xmlns:a16="http://schemas.microsoft.com/office/drawing/2014/main" val="99857605"/>
                    </a:ext>
                  </a:extLst>
                </a:gridCol>
                <a:gridCol w="2354993">
                  <a:extLst>
                    <a:ext uri="{9D8B030D-6E8A-4147-A177-3AD203B41FA5}">
                      <a16:colId xmlns:a16="http://schemas.microsoft.com/office/drawing/2014/main" val="1047766596"/>
                    </a:ext>
                  </a:extLst>
                </a:gridCol>
              </a:tblGrid>
              <a:tr h="370840">
                <a:tc>
                  <a:txBody>
                    <a:bodyPr/>
                    <a:lstStyle/>
                    <a:p>
                      <a:r>
                        <a:rPr lang="zh-CN" altLang="en-US" sz="1400" dirty="0" smtClean="0">
                          <a:latin typeface="+mn-ea"/>
                          <a:ea typeface="+mn-ea"/>
                        </a:rPr>
                        <a:t>任务名称</a:t>
                      </a:r>
                      <a:endParaRPr lang="zh-CN" altLang="en-US" sz="1400" dirty="0">
                        <a:latin typeface="+mn-ea"/>
                        <a:ea typeface="+mn-ea"/>
                      </a:endParaRPr>
                    </a:p>
                  </a:txBody>
                  <a:tcPr/>
                </a:tc>
                <a:tc>
                  <a:txBody>
                    <a:bodyPr/>
                    <a:lstStyle/>
                    <a:p>
                      <a:r>
                        <a:rPr lang="zh-CN" altLang="en-US" sz="1400" dirty="0" smtClean="0">
                          <a:latin typeface="+mn-ea"/>
                          <a:ea typeface="+mn-ea"/>
                        </a:rPr>
                        <a:t>启动条件</a:t>
                      </a:r>
                      <a:endParaRPr lang="zh-CN" altLang="en-US" sz="1400" dirty="0">
                        <a:latin typeface="+mn-ea"/>
                        <a:ea typeface="+mn-ea"/>
                      </a:endParaRPr>
                    </a:p>
                  </a:txBody>
                  <a:tcPr/>
                </a:tc>
                <a:tc>
                  <a:txBody>
                    <a:bodyPr/>
                    <a:lstStyle/>
                    <a:p>
                      <a:r>
                        <a:rPr lang="zh-CN" altLang="en-US" sz="1400" dirty="0" smtClean="0">
                          <a:latin typeface="+mn-ea"/>
                          <a:ea typeface="+mn-ea"/>
                        </a:rPr>
                        <a:t>责任人</a:t>
                      </a:r>
                      <a:endParaRPr lang="zh-CN" altLang="en-US" sz="1400" dirty="0">
                        <a:latin typeface="+mn-ea"/>
                        <a:ea typeface="+mn-ea"/>
                      </a:endParaRPr>
                    </a:p>
                  </a:txBody>
                  <a:tcPr/>
                </a:tc>
                <a:tc>
                  <a:txBody>
                    <a:bodyPr/>
                    <a:lstStyle/>
                    <a:p>
                      <a:r>
                        <a:rPr lang="zh-CN" altLang="en-US" sz="1400" dirty="0" smtClean="0">
                          <a:latin typeface="+mn-ea"/>
                          <a:ea typeface="+mn-ea"/>
                        </a:rPr>
                        <a:t>参与人</a:t>
                      </a:r>
                      <a:endParaRPr lang="zh-CN" altLang="en-US" sz="1400" dirty="0">
                        <a:latin typeface="+mn-ea"/>
                        <a:ea typeface="+mn-ea"/>
                      </a:endParaRPr>
                    </a:p>
                  </a:txBody>
                  <a:tcPr/>
                </a:tc>
                <a:tc>
                  <a:txBody>
                    <a:bodyPr/>
                    <a:lstStyle/>
                    <a:p>
                      <a:r>
                        <a:rPr lang="zh-CN" altLang="en-US" sz="1400" dirty="0" smtClean="0">
                          <a:latin typeface="+mn-ea"/>
                          <a:ea typeface="+mn-ea"/>
                        </a:rPr>
                        <a:t>输出物</a:t>
                      </a:r>
                      <a:endParaRPr lang="zh-CN" altLang="en-US" sz="1400" dirty="0">
                        <a:latin typeface="+mn-ea"/>
                        <a:ea typeface="+mn-ea"/>
                      </a:endParaRPr>
                    </a:p>
                  </a:txBody>
                  <a:tcPr/>
                </a:tc>
                <a:extLst>
                  <a:ext uri="{0D108BD9-81ED-4DB2-BD59-A6C34878D82A}">
                    <a16:rowId xmlns:a16="http://schemas.microsoft.com/office/drawing/2014/main" val="3162067804"/>
                  </a:ext>
                </a:extLst>
              </a:tr>
              <a:tr h="370840">
                <a:tc>
                  <a:txBody>
                    <a:bodyPr/>
                    <a:lstStyle/>
                    <a:p>
                      <a:r>
                        <a:rPr lang="zh-CN" altLang="en-US" sz="1400" dirty="0" smtClean="0">
                          <a:latin typeface="+mn-ea"/>
                          <a:ea typeface="+mn-ea"/>
                        </a:rPr>
                        <a:t>批量试制</a:t>
                      </a:r>
                      <a:endParaRPr lang="zh-CN" altLang="en-US" sz="1400" dirty="0">
                        <a:latin typeface="+mn-ea"/>
                        <a:ea typeface="+mn-ea"/>
                      </a:endParaRPr>
                    </a:p>
                  </a:txBody>
                  <a:tcPr/>
                </a:tc>
                <a:tc>
                  <a:txBody>
                    <a:bodyPr/>
                    <a:lstStyle/>
                    <a:p>
                      <a:r>
                        <a:rPr lang="zh-CN" altLang="en-US" sz="1400" dirty="0" smtClean="0">
                          <a:solidFill>
                            <a:schemeClr val="tx1"/>
                          </a:solidFill>
                          <a:latin typeface="+mn-ea"/>
                          <a:ea typeface="+mn-ea"/>
                        </a:rPr>
                        <a:t>首件鉴定通过后</a:t>
                      </a:r>
                      <a:endParaRPr lang="zh-CN" altLang="en-US" sz="1400" dirty="0">
                        <a:solidFill>
                          <a:schemeClr val="tx1"/>
                        </a:solidFill>
                        <a:latin typeface="+mn-ea"/>
                        <a:ea typeface="+mn-ea"/>
                      </a:endParaRPr>
                    </a:p>
                  </a:txBody>
                  <a:tcPr/>
                </a:tc>
                <a:tc>
                  <a:txBody>
                    <a:bodyPr/>
                    <a:lstStyle/>
                    <a:p>
                      <a:r>
                        <a:rPr lang="zh-CN" altLang="en-US" sz="1400" dirty="0" smtClean="0">
                          <a:solidFill>
                            <a:srgbClr val="0070C0"/>
                          </a:solidFill>
                          <a:latin typeface="+mn-ea"/>
                          <a:ea typeface="+mn-ea"/>
                        </a:rPr>
                        <a:t>品质管理部</a:t>
                      </a:r>
                      <a:endParaRPr lang="zh-CN" altLang="en-US" sz="1400" dirty="0">
                        <a:solidFill>
                          <a:srgbClr val="0070C0"/>
                        </a:solidFill>
                        <a:latin typeface="+mn-ea"/>
                        <a:ea typeface="+mn-ea"/>
                      </a:endParaRPr>
                    </a:p>
                  </a:txBody>
                  <a:tcPr/>
                </a:tc>
                <a:tc>
                  <a:txBody>
                    <a:bodyPr/>
                    <a:lstStyle/>
                    <a:p>
                      <a:r>
                        <a:rPr lang="zh-CN" altLang="en-US" sz="1400" dirty="0" smtClean="0">
                          <a:latin typeface="+mn-ea"/>
                          <a:ea typeface="+mn-ea"/>
                        </a:rPr>
                        <a:t>制造部、产品工程师</a:t>
                      </a:r>
                      <a:endParaRPr lang="zh-CN" altLang="en-US" sz="1400" dirty="0">
                        <a:latin typeface="+mn-ea"/>
                        <a:ea typeface="+mn-ea"/>
                      </a:endParaRPr>
                    </a:p>
                  </a:txBody>
                  <a:tcPr/>
                </a:tc>
                <a:tc>
                  <a:txBody>
                    <a:bodyPr/>
                    <a:lstStyle/>
                    <a:p>
                      <a:r>
                        <a:rPr lang="en-US" altLang="zh-CN" sz="1400" dirty="0" smtClean="0">
                          <a:solidFill>
                            <a:srgbClr val="0070C0"/>
                          </a:solidFill>
                          <a:latin typeface="+mn-ea"/>
                          <a:ea typeface="+mn-ea"/>
                        </a:rPr>
                        <a:t>《Q</a:t>
                      </a:r>
                      <a:r>
                        <a:rPr lang="en-US" altLang="zh-CN" sz="1400" u="none" strike="noStrike" dirty="0" smtClean="0">
                          <a:solidFill>
                            <a:srgbClr val="0070C0"/>
                          </a:solidFill>
                          <a:effectLst/>
                          <a:latin typeface="+mn-ea"/>
                          <a:ea typeface="+mn-ea"/>
                        </a:rPr>
                        <a:t>R-D-H-005-008</a:t>
                      </a:r>
                      <a:r>
                        <a:rPr lang="zh-CN" altLang="en-US" sz="1400" dirty="0" smtClean="0">
                          <a:solidFill>
                            <a:srgbClr val="0070C0"/>
                          </a:solidFill>
                          <a:latin typeface="+mn-ea"/>
                          <a:ea typeface="+mn-ea"/>
                        </a:rPr>
                        <a:t>试生产报告</a:t>
                      </a:r>
                      <a:r>
                        <a:rPr lang="en-US" altLang="zh-CN" sz="1400" dirty="0" smtClean="0">
                          <a:solidFill>
                            <a:srgbClr val="0070C0"/>
                          </a:solidFill>
                          <a:latin typeface="+mn-ea"/>
                          <a:ea typeface="+mn-ea"/>
                        </a:rPr>
                        <a:t>》</a:t>
                      </a:r>
                      <a:endParaRPr lang="zh-CN" altLang="en-US" sz="1400" dirty="0">
                        <a:solidFill>
                          <a:srgbClr val="0070C0"/>
                        </a:solidFill>
                        <a:latin typeface="+mn-ea"/>
                        <a:ea typeface="+mn-ea"/>
                      </a:endParaRPr>
                    </a:p>
                  </a:txBody>
                  <a:tcPr/>
                </a:tc>
                <a:extLst>
                  <a:ext uri="{0D108BD9-81ED-4DB2-BD59-A6C34878D82A}">
                    <a16:rowId xmlns:a16="http://schemas.microsoft.com/office/drawing/2014/main" val="2982289352"/>
                  </a:ext>
                </a:extLst>
              </a:tr>
            </a:tbl>
          </a:graphicData>
        </a:graphic>
      </p:graphicFrame>
      <p:sp>
        <p:nvSpPr>
          <p:cNvPr id="10" name="Oval 104"/>
          <p:cNvSpPr/>
          <p:nvPr/>
        </p:nvSpPr>
        <p:spPr>
          <a:xfrm>
            <a:off x="701981" y="4580317"/>
            <a:ext cx="467663" cy="467665"/>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fontScale="92500" lnSpcReduction="10000"/>
          </a:bodyPr>
          <a:lstStyle/>
          <a:p>
            <a:pPr algn="ctr"/>
            <a:r>
              <a:rPr lang="en-US" b="1" dirty="0" smtClean="0"/>
              <a:t>06</a:t>
            </a:r>
            <a:endParaRPr lang="en-US" b="1" dirty="0"/>
          </a:p>
        </p:txBody>
      </p:sp>
      <p:sp>
        <p:nvSpPr>
          <p:cNvPr id="11" name="Arc 125"/>
          <p:cNvSpPr/>
          <p:nvPr/>
        </p:nvSpPr>
        <p:spPr>
          <a:xfrm rot="5400000" flipV="1">
            <a:off x="2020552" y="4298315"/>
            <a:ext cx="226019" cy="790026"/>
          </a:xfrm>
          <a:prstGeom prst="arc">
            <a:avLst/>
          </a:prstGeom>
          <a:ln w="38100">
            <a:solidFill>
              <a:schemeClr val="accent2"/>
            </a:solidFill>
            <a:headEnd type="none"/>
            <a:tailEnd type="oval"/>
          </a:ln>
        </p:spPr>
        <p:style>
          <a:lnRef idx="1">
            <a:schemeClr val="accent1"/>
          </a:lnRef>
          <a:fillRef idx="0">
            <a:schemeClr val="accent1"/>
          </a:fillRef>
          <a:effectRef idx="0">
            <a:schemeClr val="accent1"/>
          </a:effectRef>
          <a:fontRef idx="minor">
            <a:schemeClr val="tx1"/>
          </a:fontRef>
        </p:style>
        <p:txBody>
          <a:bodyPr anchor="ctr"/>
          <a:lstStyle/>
          <a:p>
            <a:pPr algn="ctr"/>
            <a:endParaRPr/>
          </a:p>
        </p:txBody>
      </p:sp>
      <p:cxnSp>
        <p:nvCxnSpPr>
          <p:cNvPr id="12" name="Straight Connector 126"/>
          <p:cNvCxnSpPr/>
          <p:nvPr/>
        </p:nvCxnSpPr>
        <p:spPr>
          <a:xfrm>
            <a:off x="1105409" y="4704608"/>
            <a:ext cx="630937" cy="877"/>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Straight Connector 124"/>
          <p:cNvCxnSpPr/>
          <p:nvPr/>
        </p:nvCxnSpPr>
        <p:spPr>
          <a:xfrm>
            <a:off x="853721" y="2042425"/>
            <a:ext cx="38567" cy="2548767"/>
          </a:xfrm>
          <a:prstGeom prst="line">
            <a:avLst/>
          </a:prstGeom>
          <a:ln w="38100">
            <a:solidFill>
              <a:srgbClr val="C00000"/>
            </a:solidFill>
            <a:headEnd type="none"/>
          </a:ln>
        </p:spPr>
        <p:style>
          <a:lnRef idx="1">
            <a:schemeClr val="accent1"/>
          </a:lnRef>
          <a:fillRef idx="0">
            <a:schemeClr val="accent1"/>
          </a:fillRef>
          <a:effectRef idx="0">
            <a:schemeClr val="accent1"/>
          </a:effectRef>
          <a:fontRef idx="minor">
            <a:schemeClr val="tx1"/>
          </a:fontRef>
        </p:style>
      </p:cxnSp>
      <p:sp>
        <p:nvSpPr>
          <p:cNvPr id="14" name="Oval 147"/>
          <p:cNvSpPr/>
          <p:nvPr/>
        </p:nvSpPr>
        <p:spPr>
          <a:xfrm>
            <a:off x="650582" y="1563886"/>
            <a:ext cx="467663" cy="467665"/>
          </a:xfrm>
          <a:prstGeom prst="ellipse">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6" name="Freeform: Shape 148"/>
          <p:cNvSpPr>
            <a:spLocks/>
          </p:cNvSpPr>
          <p:nvPr/>
        </p:nvSpPr>
        <p:spPr bwMode="auto">
          <a:xfrm>
            <a:off x="744593" y="1660274"/>
            <a:ext cx="294258" cy="273772"/>
          </a:xfrm>
          <a:custGeom>
            <a:avLst/>
            <a:gdLst/>
            <a:ahLst/>
            <a:cxnLst>
              <a:cxn ang="0">
                <a:pos x="13" y="39"/>
              </a:cxn>
              <a:cxn ang="0">
                <a:pos x="8" y="39"/>
              </a:cxn>
              <a:cxn ang="0">
                <a:pos x="0" y="33"/>
              </a:cxn>
              <a:cxn ang="0">
                <a:pos x="5" y="19"/>
              </a:cxn>
              <a:cxn ang="0">
                <a:pos x="15" y="22"/>
              </a:cxn>
              <a:cxn ang="0">
                <a:pos x="20" y="21"/>
              </a:cxn>
              <a:cxn ang="0">
                <a:pos x="20" y="24"/>
              </a:cxn>
              <a:cxn ang="0">
                <a:pos x="23" y="34"/>
              </a:cxn>
              <a:cxn ang="0">
                <a:pos x="13" y="39"/>
              </a:cxn>
              <a:cxn ang="0">
                <a:pos x="15" y="19"/>
              </a:cxn>
              <a:cxn ang="0">
                <a:pos x="5" y="9"/>
              </a:cxn>
              <a:cxn ang="0">
                <a:pos x="15" y="0"/>
              </a:cxn>
              <a:cxn ang="0">
                <a:pos x="25" y="9"/>
              </a:cxn>
              <a:cxn ang="0">
                <a:pos x="15" y="19"/>
              </a:cxn>
              <a:cxn ang="0">
                <a:pos x="53" y="68"/>
              </a:cxn>
              <a:cxn ang="0">
                <a:pos x="20" y="68"/>
              </a:cxn>
              <a:cxn ang="0">
                <a:pos x="10" y="58"/>
              </a:cxn>
              <a:cxn ang="0">
                <a:pos x="23" y="36"/>
              </a:cxn>
              <a:cxn ang="0">
                <a:pos x="37" y="41"/>
              </a:cxn>
              <a:cxn ang="0">
                <a:pos x="50" y="36"/>
              </a:cxn>
              <a:cxn ang="0">
                <a:pos x="64" y="58"/>
              </a:cxn>
              <a:cxn ang="0">
                <a:pos x="53" y="68"/>
              </a:cxn>
              <a:cxn ang="0">
                <a:pos x="37" y="39"/>
              </a:cxn>
              <a:cxn ang="0">
                <a:pos x="22" y="24"/>
              </a:cxn>
              <a:cxn ang="0">
                <a:pos x="37" y="9"/>
              </a:cxn>
              <a:cxn ang="0">
                <a:pos x="51" y="24"/>
              </a:cxn>
              <a:cxn ang="0">
                <a:pos x="37" y="39"/>
              </a:cxn>
              <a:cxn ang="0">
                <a:pos x="59" y="19"/>
              </a:cxn>
              <a:cxn ang="0">
                <a:pos x="49" y="9"/>
              </a:cxn>
              <a:cxn ang="0">
                <a:pos x="59" y="0"/>
              </a:cxn>
              <a:cxn ang="0">
                <a:pos x="68" y="9"/>
              </a:cxn>
              <a:cxn ang="0">
                <a:pos x="59" y="19"/>
              </a:cxn>
              <a:cxn ang="0">
                <a:pos x="66" y="39"/>
              </a:cxn>
              <a:cxn ang="0">
                <a:pos x="61" y="39"/>
              </a:cxn>
              <a:cxn ang="0">
                <a:pos x="51" y="34"/>
              </a:cxn>
              <a:cxn ang="0">
                <a:pos x="54" y="24"/>
              </a:cxn>
              <a:cxn ang="0">
                <a:pos x="54" y="21"/>
              </a:cxn>
              <a:cxn ang="0">
                <a:pos x="59" y="22"/>
              </a:cxn>
              <a:cxn ang="0">
                <a:pos x="69" y="19"/>
              </a:cxn>
              <a:cxn ang="0">
                <a:pos x="73" y="33"/>
              </a:cxn>
              <a:cxn ang="0">
                <a:pos x="66" y="39"/>
              </a:cxn>
            </a:cxnLst>
            <a:rect l="0" t="0" r="r" b="b"/>
            <a:pathLst>
              <a:path w="73" h="68">
                <a:moveTo>
                  <a:pt x="13" y="39"/>
                </a:moveTo>
                <a:cubicBezTo>
                  <a:pt x="8" y="39"/>
                  <a:pt x="8" y="39"/>
                  <a:pt x="8" y="39"/>
                </a:cubicBezTo>
                <a:cubicBezTo>
                  <a:pt x="4" y="39"/>
                  <a:pt x="0" y="37"/>
                  <a:pt x="0" y="33"/>
                </a:cubicBezTo>
                <a:cubicBezTo>
                  <a:pt x="0" y="29"/>
                  <a:pt x="0" y="19"/>
                  <a:pt x="5" y="19"/>
                </a:cubicBezTo>
                <a:cubicBezTo>
                  <a:pt x="6" y="19"/>
                  <a:pt x="10" y="22"/>
                  <a:pt x="15" y="22"/>
                </a:cubicBezTo>
                <a:cubicBezTo>
                  <a:pt x="17" y="22"/>
                  <a:pt x="18" y="22"/>
                  <a:pt x="20" y="21"/>
                </a:cubicBezTo>
                <a:cubicBezTo>
                  <a:pt x="20" y="22"/>
                  <a:pt x="20" y="23"/>
                  <a:pt x="20" y="24"/>
                </a:cubicBezTo>
                <a:cubicBezTo>
                  <a:pt x="20" y="27"/>
                  <a:pt x="21" y="31"/>
                  <a:pt x="23" y="34"/>
                </a:cubicBezTo>
                <a:cubicBezTo>
                  <a:pt x="19" y="34"/>
                  <a:pt x="15" y="36"/>
                  <a:pt x="13" y="39"/>
                </a:cubicBezTo>
                <a:close/>
                <a:moveTo>
                  <a:pt x="15" y="19"/>
                </a:moveTo>
                <a:cubicBezTo>
                  <a:pt x="10" y="19"/>
                  <a:pt x="5" y="15"/>
                  <a:pt x="5" y="9"/>
                </a:cubicBezTo>
                <a:cubicBezTo>
                  <a:pt x="5" y="4"/>
                  <a:pt x="10" y="0"/>
                  <a:pt x="15" y="0"/>
                </a:cubicBezTo>
                <a:cubicBezTo>
                  <a:pt x="20" y="0"/>
                  <a:pt x="25" y="4"/>
                  <a:pt x="25" y="9"/>
                </a:cubicBezTo>
                <a:cubicBezTo>
                  <a:pt x="25" y="15"/>
                  <a:pt x="20" y="19"/>
                  <a:pt x="15" y="19"/>
                </a:cubicBezTo>
                <a:close/>
                <a:moveTo>
                  <a:pt x="53" y="68"/>
                </a:moveTo>
                <a:cubicBezTo>
                  <a:pt x="20" y="68"/>
                  <a:pt x="20" y="68"/>
                  <a:pt x="20" y="68"/>
                </a:cubicBezTo>
                <a:cubicBezTo>
                  <a:pt x="14" y="68"/>
                  <a:pt x="10" y="64"/>
                  <a:pt x="10" y="58"/>
                </a:cubicBezTo>
                <a:cubicBezTo>
                  <a:pt x="10" y="49"/>
                  <a:pt x="12" y="36"/>
                  <a:pt x="23" y="36"/>
                </a:cubicBezTo>
                <a:cubicBezTo>
                  <a:pt x="25" y="36"/>
                  <a:pt x="29" y="41"/>
                  <a:pt x="37" y="41"/>
                </a:cubicBezTo>
                <a:cubicBezTo>
                  <a:pt x="44" y="41"/>
                  <a:pt x="49" y="36"/>
                  <a:pt x="50" y="36"/>
                </a:cubicBezTo>
                <a:cubicBezTo>
                  <a:pt x="62" y="36"/>
                  <a:pt x="64" y="49"/>
                  <a:pt x="64" y="58"/>
                </a:cubicBezTo>
                <a:cubicBezTo>
                  <a:pt x="64" y="64"/>
                  <a:pt x="60" y="68"/>
                  <a:pt x="53" y="68"/>
                </a:cubicBezTo>
                <a:close/>
                <a:moveTo>
                  <a:pt x="37" y="39"/>
                </a:moveTo>
                <a:cubicBezTo>
                  <a:pt x="29" y="39"/>
                  <a:pt x="22" y="32"/>
                  <a:pt x="22" y="24"/>
                </a:cubicBezTo>
                <a:cubicBezTo>
                  <a:pt x="22" y="16"/>
                  <a:pt x="29" y="9"/>
                  <a:pt x="37" y="9"/>
                </a:cubicBezTo>
                <a:cubicBezTo>
                  <a:pt x="45" y="9"/>
                  <a:pt x="51" y="16"/>
                  <a:pt x="51" y="24"/>
                </a:cubicBezTo>
                <a:cubicBezTo>
                  <a:pt x="51" y="32"/>
                  <a:pt x="45" y="39"/>
                  <a:pt x="37" y="39"/>
                </a:cubicBezTo>
                <a:close/>
                <a:moveTo>
                  <a:pt x="59" y="19"/>
                </a:moveTo>
                <a:cubicBezTo>
                  <a:pt x="53" y="19"/>
                  <a:pt x="49" y="15"/>
                  <a:pt x="49" y="9"/>
                </a:cubicBezTo>
                <a:cubicBezTo>
                  <a:pt x="49" y="4"/>
                  <a:pt x="53" y="0"/>
                  <a:pt x="59" y="0"/>
                </a:cubicBezTo>
                <a:cubicBezTo>
                  <a:pt x="64" y="0"/>
                  <a:pt x="68" y="4"/>
                  <a:pt x="68" y="9"/>
                </a:cubicBezTo>
                <a:cubicBezTo>
                  <a:pt x="68" y="15"/>
                  <a:pt x="64" y="19"/>
                  <a:pt x="59" y="19"/>
                </a:cubicBezTo>
                <a:close/>
                <a:moveTo>
                  <a:pt x="66" y="39"/>
                </a:moveTo>
                <a:cubicBezTo>
                  <a:pt x="61" y="39"/>
                  <a:pt x="61" y="39"/>
                  <a:pt x="61" y="39"/>
                </a:cubicBezTo>
                <a:cubicBezTo>
                  <a:pt x="58" y="36"/>
                  <a:pt x="55" y="34"/>
                  <a:pt x="51" y="34"/>
                </a:cubicBezTo>
                <a:cubicBezTo>
                  <a:pt x="53" y="31"/>
                  <a:pt x="54" y="27"/>
                  <a:pt x="54" y="24"/>
                </a:cubicBezTo>
                <a:cubicBezTo>
                  <a:pt x="54" y="23"/>
                  <a:pt x="54" y="22"/>
                  <a:pt x="54" y="21"/>
                </a:cubicBezTo>
                <a:cubicBezTo>
                  <a:pt x="55" y="22"/>
                  <a:pt x="57" y="22"/>
                  <a:pt x="59" y="22"/>
                </a:cubicBezTo>
                <a:cubicBezTo>
                  <a:pt x="64" y="22"/>
                  <a:pt x="68" y="19"/>
                  <a:pt x="69" y="19"/>
                </a:cubicBezTo>
                <a:cubicBezTo>
                  <a:pt x="73" y="19"/>
                  <a:pt x="73" y="29"/>
                  <a:pt x="73" y="33"/>
                </a:cubicBezTo>
                <a:cubicBezTo>
                  <a:pt x="73" y="37"/>
                  <a:pt x="70" y="39"/>
                  <a:pt x="66" y="39"/>
                </a:cubicBezTo>
                <a:close/>
              </a:path>
            </a:pathLst>
          </a:custGeom>
          <a:solidFill>
            <a:schemeClr val="accent2"/>
          </a:solidFill>
          <a:ln w="9525">
            <a:noFill/>
            <a:round/>
            <a:headEnd/>
            <a:tailEnd/>
          </a:ln>
        </p:spPr>
        <p:txBody>
          <a:bodyPr anchor="ctr"/>
          <a:lstStyle/>
          <a:p>
            <a:pPr algn="ctr"/>
            <a:endParaRPr/>
          </a:p>
        </p:txBody>
      </p:sp>
      <p:sp>
        <p:nvSpPr>
          <p:cNvPr id="17" name="Arc 114"/>
          <p:cNvSpPr/>
          <p:nvPr/>
        </p:nvSpPr>
        <p:spPr>
          <a:xfrm rot="5400000" flipV="1">
            <a:off x="648589" y="4507903"/>
            <a:ext cx="616481" cy="612495"/>
          </a:xfrm>
          <a:prstGeom prst="arc">
            <a:avLst/>
          </a:prstGeom>
          <a:ln w="38100">
            <a:solidFill>
              <a:srgbClr val="C00000"/>
            </a:solidFill>
            <a:headEnd type="none"/>
            <a:tailEnd type="oval"/>
          </a:ln>
        </p:spPr>
        <p:style>
          <a:lnRef idx="1">
            <a:schemeClr val="accent1"/>
          </a:lnRef>
          <a:fillRef idx="0">
            <a:schemeClr val="accent1"/>
          </a:fillRef>
          <a:effectRef idx="0">
            <a:schemeClr val="accent1"/>
          </a:effectRef>
          <a:fontRef idx="minor">
            <a:schemeClr val="tx1"/>
          </a:fontRef>
        </p:style>
        <p:txBody>
          <a:bodyPr anchor="ctr"/>
          <a:lstStyle/>
          <a:p>
            <a:pPr algn="ctr"/>
            <a:endParaRPr/>
          </a:p>
        </p:txBody>
      </p:sp>
      <p:cxnSp>
        <p:nvCxnSpPr>
          <p:cNvPr id="18" name="Straight Connector 115"/>
          <p:cNvCxnSpPr/>
          <p:nvPr/>
        </p:nvCxnSpPr>
        <p:spPr>
          <a:xfrm flipV="1">
            <a:off x="253433" y="4830142"/>
            <a:ext cx="401492" cy="1821"/>
          </a:xfrm>
          <a:prstGeom prst="line">
            <a:avLst/>
          </a:prstGeom>
          <a:ln w="38100">
            <a:solidFill>
              <a:srgbClr val="C00000"/>
            </a:solidFill>
            <a:headEnd type="oval"/>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1867612" y="2619326"/>
            <a:ext cx="9863471" cy="2086725"/>
          </a:xfrm>
          <a:prstGeom prst="rect">
            <a:avLst/>
          </a:prstGeom>
          <a:noFill/>
        </p:spPr>
        <p:txBody>
          <a:bodyPr wrap="square" rtlCol="0">
            <a:spAutoFit/>
          </a:bodyPr>
          <a:lstStyle/>
          <a:p>
            <a:pPr marL="171450" indent="-171450">
              <a:lnSpc>
                <a:spcPct val="120000"/>
              </a:lnSpc>
              <a:buFont typeface="Wingdings" panose="05000000000000000000" pitchFamily="2" charset="2"/>
              <a:buChar char="u"/>
            </a:pPr>
            <a:r>
              <a:rPr lang="zh-CN" altLang="en-US" sz="1200" b="1" dirty="0" smtClean="0">
                <a:solidFill>
                  <a:srgbClr val="0070C0"/>
                </a:solidFill>
                <a:latin typeface="+mn-ea"/>
              </a:rPr>
              <a:t>过程概述：</a:t>
            </a:r>
            <a:endParaRPr lang="en-US" altLang="zh-CN" sz="1200" b="1" dirty="0" smtClean="0">
              <a:solidFill>
                <a:srgbClr val="0070C0"/>
              </a:solidFill>
              <a:latin typeface="+mn-ea"/>
            </a:endParaRPr>
          </a:p>
          <a:p>
            <a:pPr marL="171450" indent="-171450">
              <a:lnSpc>
                <a:spcPct val="120000"/>
              </a:lnSpc>
              <a:buFont typeface="Arial" panose="020B0604020202020204" pitchFamily="34" charset="0"/>
              <a:buChar char="•"/>
            </a:pPr>
            <a:r>
              <a:rPr lang="zh-CN" altLang="en-US" sz="1200" dirty="0" smtClean="0">
                <a:solidFill>
                  <a:schemeClr val="tx1">
                    <a:lumMod val="75000"/>
                    <a:lumOff val="25000"/>
                  </a:schemeClr>
                </a:solidFill>
                <a:latin typeface="+mn-ea"/>
              </a:rPr>
              <a:t>在首件鉴定通过后，制造部按照生产订单数量完成首批采购申请中的其他机器的装配及老化测试流程。批量试制应该按照完善后的</a:t>
            </a:r>
            <a:r>
              <a:rPr lang="en-US" altLang="zh-CN" sz="1200" dirty="0" smtClean="0">
                <a:solidFill>
                  <a:schemeClr val="tx1">
                    <a:lumMod val="75000"/>
                    <a:lumOff val="25000"/>
                  </a:schemeClr>
                </a:solidFill>
                <a:latin typeface="+mn-ea"/>
              </a:rPr>
              <a:t>《</a:t>
            </a:r>
            <a:r>
              <a:rPr lang="zh-CN" altLang="en-US" sz="1200" dirty="0" smtClean="0">
                <a:solidFill>
                  <a:schemeClr val="tx1">
                    <a:lumMod val="75000"/>
                    <a:lumOff val="25000"/>
                  </a:schemeClr>
                </a:solidFill>
                <a:latin typeface="+mn-ea"/>
              </a:rPr>
              <a:t>生产技术要求</a:t>
            </a:r>
            <a:r>
              <a:rPr lang="en-US" altLang="zh-CN" sz="1200" dirty="0" smtClean="0">
                <a:solidFill>
                  <a:schemeClr val="tx1">
                    <a:lumMod val="75000"/>
                    <a:lumOff val="25000"/>
                  </a:schemeClr>
                </a:solidFill>
                <a:latin typeface="+mn-ea"/>
              </a:rPr>
              <a:t>》</a:t>
            </a:r>
            <a:r>
              <a:rPr lang="zh-CN" altLang="en-US" sz="1200" dirty="0" smtClean="0">
                <a:solidFill>
                  <a:schemeClr val="tx1">
                    <a:lumMod val="75000"/>
                    <a:lumOff val="25000"/>
                  </a:schemeClr>
                </a:solidFill>
                <a:latin typeface="+mn-ea"/>
              </a:rPr>
              <a:t>或生产工艺文件进行产品小批量试制。</a:t>
            </a:r>
            <a:endParaRPr lang="en-US" altLang="zh-CN" sz="1200" dirty="0" smtClean="0">
              <a:solidFill>
                <a:schemeClr val="tx1">
                  <a:lumMod val="75000"/>
                  <a:lumOff val="25000"/>
                </a:schemeClr>
              </a:solidFill>
              <a:latin typeface="+mn-ea"/>
            </a:endParaRPr>
          </a:p>
          <a:p>
            <a:pPr marL="171450" indent="-171450">
              <a:lnSpc>
                <a:spcPct val="120000"/>
              </a:lnSpc>
              <a:buFont typeface="Wingdings" panose="05000000000000000000" pitchFamily="2" charset="2"/>
              <a:buChar char="u"/>
            </a:pPr>
            <a:r>
              <a:rPr lang="zh-CN" altLang="en-US" sz="1200" b="1" dirty="0" smtClean="0">
                <a:solidFill>
                  <a:srgbClr val="0070C0"/>
                </a:solidFill>
                <a:latin typeface="+mn-ea"/>
              </a:rPr>
              <a:t>问题处理原则：</a:t>
            </a:r>
            <a:endParaRPr lang="en-US" altLang="zh-CN" sz="1200" b="1" dirty="0" smtClean="0">
              <a:solidFill>
                <a:srgbClr val="0070C0"/>
              </a:solidFill>
              <a:latin typeface="+mn-ea"/>
            </a:endParaRPr>
          </a:p>
          <a:p>
            <a:pPr marL="171450" indent="-171450">
              <a:lnSpc>
                <a:spcPct val="120000"/>
              </a:lnSpc>
              <a:buFont typeface="Arial" panose="020B0604020202020204" pitchFamily="34" charset="0"/>
              <a:buChar char="•"/>
            </a:pPr>
            <a:r>
              <a:rPr lang="zh-CN" altLang="en-US" sz="1200" dirty="0" smtClean="0">
                <a:solidFill>
                  <a:schemeClr val="tx1">
                    <a:lumMod val="75000"/>
                    <a:lumOff val="25000"/>
                  </a:schemeClr>
                </a:solidFill>
                <a:latin typeface="+mn-ea"/>
              </a:rPr>
              <a:t>批量试制未通过时，由产品经理主导与制造部、品管部应对存在问题进行分析，形成纠正措施。整改方案导入后安排重新试生产；</a:t>
            </a:r>
            <a:endParaRPr lang="en-US" altLang="zh-CN" sz="1200" dirty="0" smtClean="0">
              <a:solidFill>
                <a:schemeClr val="tx1">
                  <a:lumMod val="75000"/>
                  <a:lumOff val="25000"/>
                </a:schemeClr>
              </a:solidFill>
              <a:latin typeface="+mn-ea"/>
            </a:endParaRPr>
          </a:p>
          <a:p>
            <a:pPr marL="171450" indent="-171450">
              <a:lnSpc>
                <a:spcPct val="120000"/>
              </a:lnSpc>
              <a:buFont typeface="Arial" panose="020B0604020202020204" pitchFamily="34" charset="0"/>
              <a:buChar char="•"/>
            </a:pPr>
            <a:r>
              <a:rPr lang="zh-CN" altLang="en-US" sz="1200" dirty="0" smtClean="0">
                <a:solidFill>
                  <a:schemeClr val="tx1">
                    <a:lumMod val="75000"/>
                    <a:lumOff val="25000"/>
                  </a:schemeClr>
                </a:solidFill>
                <a:latin typeface="+mn-ea"/>
              </a:rPr>
              <a:t>问题如由</a:t>
            </a:r>
            <a:r>
              <a:rPr lang="en-US" altLang="zh-CN" sz="1200" dirty="0" smtClean="0">
                <a:solidFill>
                  <a:schemeClr val="tx1">
                    <a:lumMod val="75000"/>
                    <a:lumOff val="25000"/>
                  </a:schemeClr>
                </a:solidFill>
                <a:latin typeface="+mn-ea"/>
              </a:rPr>
              <a:t>《</a:t>
            </a:r>
            <a:r>
              <a:rPr lang="zh-CN" altLang="en-US" sz="1200" dirty="0" smtClean="0">
                <a:solidFill>
                  <a:schemeClr val="tx1">
                    <a:lumMod val="75000"/>
                    <a:lumOff val="25000"/>
                  </a:schemeClr>
                </a:solidFill>
                <a:latin typeface="+mn-ea"/>
              </a:rPr>
              <a:t>产品技术要求</a:t>
            </a:r>
            <a:r>
              <a:rPr lang="en-US" altLang="zh-CN" sz="1200" dirty="0" smtClean="0">
                <a:solidFill>
                  <a:schemeClr val="tx1">
                    <a:lumMod val="75000"/>
                    <a:lumOff val="25000"/>
                  </a:schemeClr>
                </a:solidFill>
                <a:latin typeface="+mn-ea"/>
              </a:rPr>
              <a:t>》</a:t>
            </a:r>
            <a:r>
              <a:rPr lang="zh-CN" altLang="en-US" sz="1200" dirty="0" smtClean="0">
                <a:solidFill>
                  <a:schemeClr val="tx1">
                    <a:lumMod val="75000"/>
                    <a:lumOff val="25000"/>
                  </a:schemeClr>
                </a:solidFill>
                <a:latin typeface="+mn-ea"/>
              </a:rPr>
              <a:t>引起的，应由产品工程师限期整改，整改后方可通过。短时间内无法提供解决方案的，本次试制结论为“不通过”；</a:t>
            </a:r>
            <a:endParaRPr lang="en-US" altLang="zh-CN" sz="1200" dirty="0" smtClean="0">
              <a:solidFill>
                <a:schemeClr val="tx1">
                  <a:lumMod val="75000"/>
                  <a:lumOff val="25000"/>
                </a:schemeClr>
              </a:solidFill>
              <a:latin typeface="+mn-ea"/>
            </a:endParaRPr>
          </a:p>
          <a:p>
            <a:pPr marL="171450" indent="-171450">
              <a:lnSpc>
                <a:spcPct val="120000"/>
              </a:lnSpc>
              <a:buFont typeface="Arial" panose="020B0604020202020204" pitchFamily="34" charset="0"/>
              <a:buChar char="•"/>
            </a:pPr>
            <a:r>
              <a:rPr lang="zh-CN" altLang="en-US" sz="1200" dirty="0" smtClean="0">
                <a:solidFill>
                  <a:schemeClr val="tx1">
                    <a:lumMod val="75000"/>
                    <a:lumOff val="25000"/>
                  </a:schemeClr>
                </a:solidFill>
                <a:latin typeface="+mn-ea"/>
              </a:rPr>
              <a:t>问题如由生产工艺引起的，由制造部进行整改，整改结果需由产品工程师确认。</a:t>
            </a:r>
            <a:endParaRPr lang="en-US" altLang="zh-CN" sz="1200" dirty="0" smtClean="0">
              <a:solidFill>
                <a:schemeClr val="tx1">
                  <a:lumMod val="75000"/>
                  <a:lumOff val="25000"/>
                </a:schemeClr>
              </a:solidFill>
              <a:latin typeface="+mn-ea"/>
            </a:endParaRPr>
          </a:p>
          <a:p>
            <a:pPr marL="285750" indent="-285750">
              <a:lnSpc>
                <a:spcPct val="120000"/>
              </a:lnSpc>
              <a:buFont typeface="Wingdings" panose="05000000000000000000" pitchFamily="2" charset="2"/>
              <a:buChar char="u"/>
            </a:pPr>
            <a:r>
              <a:rPr lang="zh-CN" altLang="en-US" sz="1200" b="1" dirty="0" smtClean="0">
                <a:solidFill>
                  <a:srgbClr val="0070C0"/>
                </a:solidFill>
                <a:latin typeface="+mn-ea"/>
              </a:rPr>
              <a:t>报告输出</a:t>
            </a:r>
            <a:endParaRPr lang="en-US" altLang="zh-CN" sz="1200" b="1" dirty="0" smtClean="0">
              <a:solidFill>
                <a:srgbClr val="0070C0"/>
              </a:solidFill>
              <a:latin typeface="+mn-ea"/>
            </a:endParaRPr>
          </a:p>
          <a:p>
            <a:pPr marL="285750" indent="-285750">
              <a:lnSpc>
                <a:spcPct val="120000"/>
              </a:lnSpc>
              <a:buFont typeface="Arial" panose="020B0604020202020204" pitchFamily="34" charset="0"/>
              <a:buChar char="•"/>
            </a:pPr>
            <a:r>
              <a:rPr lang="zh-CN" altLang="en-US" sz="1200" dirty="0">
                <a:latin typeface="+mn-ea"/>
              </a:rPr>
              <a:t>在批量试制完成后，则由制造部 品质管理部在</a:t>
            </a:r>
            <a:r>
              <a:rPr lang="en-US" altLang="zh-CN" sz="1200" dirty="0">
                <a:latin typeface="+mn-ea"/>
              </a:rPr>
              <a:t>2</a:t>
            </a:r>
            <a:r>
              <a:rPr lang="zh-CN" altLang="en-US" sz="1200" dirty="0">
                <a:latin typeface="+mn-ea"/>
              </a:rPr>
              <a:t>个工作日内将</a:t>
            </a:r>
            <a:r>
              <a:rPr lang="en-US" altLang="zh-CN" sz="1200" dirty="0">
                <a:latin typeface="+mn-ea"/>
              </a:rPr>
              <a:t>《</a:t>
            </a:r>
            <a:r>
              <a:rPr lang="zh-CN" altLang="en-US" sz="1200" dirty="0">
                <a:latin typeface="+mn-ea"/>
              </a:rPr>
              <a:t>试生产报告</a:t>
            </a:r>
            <a:r>
              <a:rPr lang="en-US" altLang="zh-CN" sz="1200" dirty="0">
                <a:latin typeface="+mn-ea"/>
              </a:rPr>
              <a:t>》</a:t>
            </a:r>
            <a:r>
              <a:rPr lang="zh-CN" altLang="en-US" sz="1200" dirty="0">
                <a:latin typeface="+mn-ea"/>
              </a:rPr>
              <a:t>反馈给产品工程师</a:t>
            </a:r>
            <a:r>
              <a:rPr lang="zh-CN" altLang="en-US" sz="1200" dirty="0" smtClean="0">
                <a:latin typeface="+mn-ea"/>
              </a:rPr>
              <a:t>。</a:t>
            </a:r>
            <a:endParaRPr lang="en-US" altLang="zh-CN" sz="1200" dirty="0">
              <a:latin typeface="+mn-ea"/>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3400715401"/>
              </p:ext>
            </p:extLst>
          </p:nvPr>
        </p:nvGraphicFramePr>
        <p:xfrm>
          <a:off x="10188195" y="4704608"/>
          <a:ext cx="1688757" cy="1083943"/>
        </p:xfrm>
        <a:graphic>
          <a:graphicData uri="http://schemas.openxmlformats.org/presentationml/2006/ole">
            <mc:AlternateContent xmlns:mc="http://schemas.openxmlformats.org/markup-compatibility/2006">
              <mc:Choice xmlns:v="urn:schemas-microsoft-com:vml" Requires="v">
                <p:oleObj spid="_x0000_s5331" name="Document" showAsIcon="1" r:id="rId4" imgW="914400" imgH="828720" progId="Word.Document.8">
                  <p:embed/>
                </p:oleObj>
              </mc:Choice>
              <mc:Fallback>
                <p:oleObj name="Document" showAsIcon="1" r:id="rId4" imgW="914400" imgH="828720" progId="Word.Document.8">
                  <p:embed/>
                  <p:pic>
                    <p:nvPicPr>
                      <p:cNvPr id="0" name=""/>
                      <p:cNvPicPr/>
                      <p:nvPr/>
                    </p:nvPicPr>
                    <p:blipFill>
                      <a:blip r:embed="rId5"/>
                      <a:stretch>
                        <a:fillRect/>
                      </a:stretch>
                    </p:blipFill>
                    <p:spPr>
                      <a:xfrm>
                        <a:off x="10188195" y="4704608"/>
                        <a:ext cx="1688757" cy="1083943"/>
                      </a:xfrm>
                      <a:prstGeom prst="rect">
                        <a:avLst/>
                      </a:prstGeom>
                    </p:spPr>
                  </p:pic>
                </p:oleObj>
              </mc:Fallback>
            </mc:AlternateContent>
          </a:graphicData>
        </a:graphic>
      </p:graphicFrame>
      <p:sp>
        <p:nvSpPr>
          <p:cNvPr id="2" name="圆角矩形 1"/>
          <p:cNvSpPr/>
          <p:nvPr/>
        </p:nvSpPr>
        <p:spPr>
          <a:xfrm>
            <a:off x="2160804" y="4806338"/>
            <a:ext cx="8176376" cy="118555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zh-CN" altLang="en-US"/>
          </a:p>
        </p:txBody>
      </p:sp>
      <p:sp>
        <p:nvSpPr>
          <p:cNvPr id="7" name="文本框 6"/>
          <p:cNvSpPr txBox="1"/>
          <p:nvPr/>
        </p:nvSpPr>
        <p:spPr>
          <a:xfrm>
            <a:off x="2528575" y="5033310"/>
            <a:ext cx="7201476" cy="609398"/>
          </a:xfrm>
          <a:prstGeom prst="rect">
            <a:avLst/>
          </a:prstGeom>
          <a:noFill/>
        </p:spPr>
        <p:txBody>
          <a:bodyPr wrap="square" rtlCol="0">
            <a:spAutoFit/>
          </a:bodyPr>
          <a:lstStyle/>
          <a:p>
            <a:pPr>
              <a:lnSpc>
                <a:spcPct val="120000"/>
              </a:lnSpc>
            </a:pPr>
            <a:r>
              <a:rPr lang="zh-CN" altLang="en-US" sz="1400" b="1" dirty="0" smtClean="0"/>
              <a:t>提示：</a:t>
            </a:r>
            <a:r>
              <a:rPr lang="zh-CN" altLang="en-US" sz="1400" dirty="0" smtClean="0">
                <a:solidFill>
                  <a:schemeClr val="tx1">
                    <a:lumMod val="75000"/>
                    <a:lumOff val="25000"/>
                  </a:schemeClr>
                </a:solidFill>
              </a:rPr>
              <a:t>批量老化测试中出现问题，一般需项目组研发端分析解决，项目经理应关注试生产中出现的问题，参与相关问题讨论会议，并协助协调项目组内相关资源解决问题，</a:t>
            </a:r>
          </a:p>
        </p:txBody>
      </p:sp>
    </p:spTree>
    <p:extLst>
      <p:ext uri="{BB962C8B-B14F-4D97-AF65-F5344CB8AC3E}">
        <p14:creationId xmlns:p14="http://schemas.microsoft.com/office/powerpoint/2010/main" val="86871477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2">
            <a:extLst>
              <a:ext uri="{FF2B5EF4-FFF2-40B4-BE49-F238E27FC236}">
                <a16:creationId xmlns:a16="http://schemas.microsoft.com/office/drawing/2014/main" id="{2B587CB1-41A9-48EF-9229-101563C80EFD}"/>
              </a:ext>
            </a:extLst>
          </p:cNvPr>
          <p:cNvSpPr txBox="1">
            <a:spLocks/>
          </p:cNvSpPr>
          <p:nvPr/>
        </p:nvSpPr>
        <p:spPr>
          <a:xfrm>
            <a:off x="0" y="177135"/>
            <a:ext cx="3067724" cy="832388"/>
          </a:xfrm>
          <a:prstGeom prst="rect">
            <a:avLst/>
          </a:prstGeom>
        </p:spPr>
        <p:txBody>
          <a:bodyPr/>
          <a:lstStyle>
            <a:defPPr>
              <a:defRPr lang="zh-CN"/>
            </a:defPPr>
            <a:lvl1pPr algn="ctr">
              <a:spcBef>
                <a:spcPct val="0"/>
              </a:spcBef>
              <a:buNone/>
              <a:defRPr sz="2400" b="1">
                <a:solidFill>
                  <a:schemeClr val="tx1">
                    <a:lumMod val="65000"/>
                    <a:lumOff val="35000"/>
                  </a:schemeClr>
                </a:solidFill>
                <a:latin typeface="微软雅黑" pitchFamily="34" charset="-122"/>
                <a:ea typeface="微软雅黑" pitchFamily="34" charset="-122"/>
              </a:defRPr>
            </a:lvl1pPr>
          </a:lstStyle>
          <a:p>
            <a:pPr marL="0" marR="0" lvl="0" indent="0" algn="ctr" defTabSz="1219170" rtl="0" eaLnBrk="1" fontAlgn="auto" latinLnBrk="0" hangingPunct="1">
              <a:lnSpc>
                <a:spcPct val="100000"/>
              </a:lnSpc>
              <a:spcBef>
                <a:spcPct val="0"/>
              </a:spcBef>
              <a:spcAft>
                <a:spcPts val="0"/>
              </a:spcAft>
              <a:buClrTx/>
              <a:buSzTx/>
              <a:buFontTx/>
              <a:buNone/>
              <a:tabLst/>
              <a:defRPr/>
            </a:pPr>
            <a:r>
              <a:rPr kumimoji="0" lang="zh-CN" altLang="en-US" sz="3200" b="1" i="0" u="none" strike="noStrike" kern="1200" cap="none"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rPr>
              <a:t>二</a:t>
            </a:r>
            <a:r>
              <a:rPr kumimoji="0" lang="zh-CN" altLang="en-US" sz="3200" b="1" i="0" u="none" strike="noStrike" kern="1200" cap="none" spc="0" normalizeH="0" baseline="0" noProof="0" dirty="0" smtClean="0">
                <a:ln>
                  <a:noFill/>
                </a:ln>
                <a:solidFill>
                  <a:prstClr val="black">
                    <a:lumMod val="65000"/>
                    <a:lumOff val="35000"/>
                  </a:prstClr>
                </a:solidFill>
                <a:effectLst/>
                <a:uLnTx/>
                <a:uFillTx/>
                <a:latin typeface="微软雅黑" pitchFamily="34" charset="-122"/>
                <a:ea typeface="微软雅黑" pitchFamily="34" charset="-122"/>
                <a:cs typeface="+mn-cs"/>
              </a:rPr>
              <a:t>、</a:t>
            </a:r>
            <a:r>
              <a:rPr kumimoji="0" lang="en-US" altLang="zh-CN" sz="3200" b="1" i="0" u="none" strike="noStrike" kern="1200" cap="none" spc="0" normalizeH="0" baseline="0" noProof="0" dirty="0" smtClean="0">
                <a:ln>
                  <a:noFill/>
                </a:ln>
                <a:solidFill>
                  <a:prstClr val="black">
                    <a:lumMod val="65000"/>
                    <a:lumOff val="35000"/>
                  </a:prstClr>
                </a:solidFill>
                <a:effectLst/>
                <a:uLnTx/>
                <a:uFillTx/>
                <a:latin typeface="微软雅黑" pitchFamily="34" charset="-122"/>
                <a:ea typeface="微软雅黑" pitchFamily="34" charset="-122"/>
                <a:cs typeface="+mn-cs"/>
              </a:rPr>
              <a:t>L11 PVT</a:t>
            </a:r>
            <a:endParaRPr kumimoji="0" lang="zh-CN" altLang="en-US" sz="3200" b="1" i="0" u="none" strike="noStrike" kern="1200" cap="none"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endParaRPr>
          </a:p>
        </p:txBody>
      </p:sp>
      <p:sp>
        <p:nvSpPr>
          <p:cNvPr id="3" name="Rectangle 3">
            <a:extLst>
              <a:ext uri="{FF2B5EF4-FFF2-40B4-BE49-F238E27FC236}">
                <a16:creationId xmlns:a16="http://schemas.microsoft.com/office/drawing/2014/main" id="{FA07C651-B856-4405-9E2A-D4B3064DAEAF}"/>
              </a:ext>
            </a:extLst>
          </p:cNvPr>
          <p:cNvSpPr txBox="1">
            <a:spLocks noChangeArrowheads="1"/>
          </p:cNvSpPr>
          <p:nvPr/>
        </p:nvSpPr>
        <p:spPr bwMode="auto">
          <a:xfrm>
            <a:off x="682113" y="1009523"/>
            <a:ext cx="10907601" cy="832388"/>
          </a:xfrm>
          <a:prstGeom prst="rect">
            <a:avLst/>
          </a:prstGeom>
          <a:solidFill>
            <a:schemeClr val="bg1">
              <a:lumMod val="85000"/>
            </a:schemeClr>
          </a:solidFill>
          <a:scene3d>
            <a:camera prst="orthographicFront"/>
            <a:lightRig rig="threePt" dir="t"/>
          </a:scene3d>
          <a:sp3d>
            <a:bevelT/>
          </a:sp3d>
          <a:extLst/>
        </p:spPr>
        <p:txBody>
          <a:bodyPr vert="horz" wrap="square" lIns="121920" tIns="60960" rIns="121920" bIns="60960" numCol="1" anchor="t" anchorCtr="0" compatLnSpc="1">
            <a:prstTxWarp prst="textNoShape">
              <a:avLst/>
            </a:prstTxWarp>
          </a:bodyPr>
          <a:lstStyle>
            <a:lvl1pPr marL="342900" indent="-342900" algn="l" defTabSz="912813" rtl="0" eaLnBrk="0" fontAlgn="base" hangingPunct="0">
              <a:spcBef>
                <a:spcPct val="20000"/>
              </a:spcBef>
              <a:spcAft>
                <a:spcPct val="0"/>
              </a:spcAft>
              <a:buChar char="•"/>
              <a:defRPr sz="3000">
                <a:solidFill>
                  <a:schemeClr val="tx1"/>
                </a:solidFill>
                <a:latin typeface="+mn-lt"/>
                <a:ea typeface="+mn-ea"/>
                <a:cs typeface="+mn-cs"/>
              </a:defRPr>
            </a:lvl1pPr>
            <a:lvl2pPr marL="741363" indent="-285750" algn="l" defTabSz="912813" rtl="0" eaLnBrk="0" fontAlgn="base" hangingPunct="0">
              <a:spcBef>
                <a:spcPct val="20000"/>
              </a:spcBef>
              <a:spcAft>
                <a:spcPct val="0"/>
              </a:spcAft>
              <a:buChar char="–"/>
              <a:defRPr sz="2800">
                <a:solidFill>
                  <a:schemeClr val="tx1"/>
                </a:solidFill>
                <a:latin typeface="+mj-lt"/>
                <a:ea typeface="+mj-ea"/>
              </a:defRPr>
            </a:lvl2pPr>
            <a:lvl3pPr marL="1139825" indent="-227013" algn="l" defTabSz="912813" rtl="0" eaLnBrk="0" fontAlgn="base" hangingPunct="0">
              <a:spcBef>
                <a:spcPct val="20000"/>
              </a:spcBef>
              <a:spcAft>
                <a:spcPct val="0"/>
              </a:spcAft>
              <a:buChar char="•"/>
              <a:defRPr sz="2400">
                <a:solidFill>
                  <a:schemeClr val="tx1"/>
                </a:solidFill>
                <a:latin typeface="+mj-lt"/>
                <a:ea typeface="+mj-ea"/>
              </a:defRPr>
            </a:lvl3pPr>
            <a:lvl4pPr marL="1595438" indent="-227013" algn="l" defTabSz="912813" rtl="0" eaLnBrk="0" fontAlgn="base" hangingPunct="0">
              <a:spcBef>
                <a:spcPct val="20000"/>
              </a:spcBef>
              <a:spcAft>
                <a:spcPct val="0"/>
              </a:spcAft>
              <a:buChar char="–"/>
              <a:defRPr sz="2000">
                <a:solidFill>
                  <a:schemeClr val="tx1"/>
                </a:solidFill>
                <a:latin typeface="+mj-lt"/>
                <a:ea typeface="+mj-ea"/>
              </a:defRPr>
            </a:lvl4pPr>
            <a:lvl5pPr marL="2052638" indent="-227013" algn="l" defTabSz="912813" rtl="0" eaLnBrk="0" fontAlgn="base" hangingPunct="0">
              <a:spcBef>
                <a:spcPct val="20000"/>
              </a:spcBef>
              <a:spcAft>
                <a:spcPct val="0"/>
              </a:spcAft>
              <a:buChar char="»"/>
              <a:defRPr sz="2000">
                <a:solidFill>
                  <a:schemeClr val="tx1"/>
                </a:solidFill>
                <a:latin typeface="+mj-lt"/>
                <a:ea typeface="+mj-ea"/>
              </a:defRPr>
            </a:lvl5pPr>
            <a:lvl6pPr marL="2509838" indent="-227013" algn="l" defTabSz="912813" rtl="0" fontAlgn="base">
              <a:spcBef>
                <a:spcPct val="20000"/>
              </a:spcBef>
              <a:spcAft>
                <a:spcPct val="0"/>
              </a:spcAft>
              <a:buChar char="»"/>
              <a:defRPr sz="2000">
                <a:solidFill>
                  <a:schemeClr val="tx1"/>
                </a:solidFill>
                <a:latin typeface="+mj-lt"/>
                <a:ea typeface="+mj-ea"/>
              </a:defRPr>
            </a:lvl6pPr>
            <a:lvl7pPr marL="2967038" indent="-227013" algn="l" defTabSz="912813" rtl="0" fontAlgn="base">
              <a:spcBef>
                <a:spcPct val="20000"/>
              </a:spcBef>
              <a:spcAft>
                <a:spcPct val="0"/>
              </a:spcAft>
              <a:buChar char="»"/>
              <a:defRPr sz="2000">
                <a:solidFill>
                  <a:schemeClr val="tx1"/>
                </a:solidFill>
                <a:latin typeface="+mj-lt"/>
                <a:ea typeface="+mj-ea"/>
              </a:defRPr>
            </a:lvl7pPr>
            <a:lvl8pPr marL="3424238" indent="-227013" algn="l" defTabSz="912813" rtl="0" fontAlgn="base">
              <a:spcBef>
                <a:spcPct val="20000"/>
              </a:spcBef>
              <a:spcAft>
                <a:spcPct val="0"/>
              </a:spcAft>
              <a:buChar char="»"/>
              <a:defRPr sz="2000">
                <a:solidFill>
                  <a:schemeClr val="tx1"/>
                </a:solidFill>
                <a:latin typeface="+mj-lt"/>
                <a:ea typeface="+mj-ea"/>
              </a:defRPr>
            </a:lvl8pPr>
            <a:lvl9pPr marL="3881438" indent="-227013" algn="l" defTabSz="912813" rtl="0" fontAlgn="base">
              <a:spcBef>
                <a:spcPct val="20000"/>
              </a:spcBef>
              <a:spcAft>
                <a:spcPct val="0"/>
              </a:spcAft>
              <a:buChar char="»"/>
              <a:defRPr sz="2000">
                <a:solidFill>
                  <a:schemeClr val="tx1"/>
                </a:solidFill>
                <a:latin typeface="+mj-lt"/>
                <a:ea typeface="+mj-ea"/>
              </a:defRPr>
            </a:lvl9pPr>
          </a:lstStyle>
          <a:p>
            <a:pPr marL="844529" marR="0" lvl="1" indent="0" algn="l" defTabSz="1217054" rtl="0" eaLnBrk="0" fontAlgn="base" latinLnBrk="0" hangingPunct="0">
              <a:lnSpc>
                <a:spcPct val="120000"/>
              </a:lnSpc>
              <a:spcBef>
                <a:spcPct val="50000"/>
              </a:spcBef>
              <a:spcAft>
                <a:spcPct val="0"/>
              </a:spcAft>
              <a:buClrTx/>
              <a:buSzTx/>
              <a:buFontTx/>
              <a:buNone/>
              <a:tabLst/>
              <a:defRPr/>
            </a:pPr>
            <a:r>
              <a:rPr kumimoji="0" lang="en-US" altLang="zh-CN" sz="1400" b="1" i="0" u="none" strike="noStrike" kern="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PVT</a:t>
            </a:r>
            <a:r>
              <a:rPr kumimoji="0" lang="zh-CN" altLang="en-US" sz="1400" b="1" i="0" u="none" strike="noStrike" kern="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的准入条件</a:t>
            </a:r>
            <a:r>
              <a:rPr kumimoji="0" lang="zh-CN" altLang="en-US" sz="1400" b="0" i="0" u="none" strike="noStrike" kern="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en-US" altLang="zh-CN" sz="1400" b="0" i="0" u="none" strike="noStrike" kern="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DVT</a:t>
            </a:r>
            <a:r>
              <a:rPr kumimoji="0" lang="zh-CN" altLang="en-US" sz="1400" b="0" i="0" u="none" strike="noStrike" kern="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测试完成，并通过</a:t>
            </a:r>
            <a:r>
              <a:rPr kumimoji="0" lang="en-US" altLang="zh-CN" sz="1400" b="0" i="0" u="none" strike="noStrike" kern="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MR3 PVT</a:t>
            </a:r>
            <a:r>
              <a:rPr kumimoji="0" lang="zh-CN" altLang="en-US" sz="1400" b="0" i="0" u="none" strike="noStrike" kern="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阶段准入评审</a:t>
            </a:r>
            <a:r>
              <a:rPr kumimoji="0" lang="en-US" altLang="zh-CN" sz="1400" b="0" i="0" u="none" strike="noStrike" kern="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lang="en-US" altLang="zh-CN" sz="1400" kern="0" dirty="0" smtClean="0">
                <a:solidFill>
                  <a:prstClr val="black"/>
                </a:solidFill>
                <a:latin typeface="微软雅黑" panose="020B0503020204020204" pitchFamily="34" charset="-122"/>
                <a:ea typeface="微软雅黑" panose="020B0503020204020204" pitchFamily="34" charset="-122"/>
              </a:rPr>
              <a:t>DI</a:t>
            </a:r>
            <a:r>
              <a:rPr lang="zh-CN" altLang="en-US" sz="1400" kern="0" dirty="0" smtClean="0">
                <a:solidFill>
                  <a:prstClr val="black"/>
                </a:solidFill>
                <a:latin typeface="微软雅黑" panose="020B0503020204020204" pitchFamily="34" charset="-122"/>
                <a:ea typeface="微软雅黑" panose="020B0503020204020204" pitchFamily="34" charset="-122"/>
              </a:rPr>
              <a:t>值按照质量策划要求为准</a:t>
            </a:r>
            <a:r>
              <a:rPr kumimoji="0" lang="en-US" altLang="zh-CN" sz="1400" b="0" i="0" u="none" strike="noStrike" kern="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a:t>
            </a:r>
          </a:p>
          <a:p>
            <a:pPr marL="844529" marR="0" lvl="1" indent="0" algn="l" defTabSz="1217054" rtl="0" eaLnBrk="0" fontAlgn="base" latinLnBrk="0" hangingPunct="0">
              <a:lnSpc>
                <a:spcPct val="120000"/>
              </a:lnSpc>
              <a:spcBef>
                <a:spcPct val="50000"/>
              </a:spcBef>
              <a:spcAft>
                <a:spcPct val="0"/>
              </a:spcAft>
              <a:buClrTx/>
              <a:buSzTx/>
              <a:buFontTx/>
              <a:buNone/>
              <a:tabLst/>
              <a:defRPr/>
            </a:pPr>
            <a:r>
              <a:rPr kumimoji="0" lang="en-US" altLang="zh-CN" sz="1400" b="1" i="0" u="none" strike="noStrike" kern="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PVT</a:t>
            </a:r>
            <a:r>
              <a:rPr kumimoji="0" lang="zh-CN" altLang="en-US" sz="1400" b="1" i="0" u="none" strike="noStrike" kern="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阶段测试内容：</a:t>
            </a:r>
            <a:r>
              <a:rPr kumimoji="0" lang="en-US" altLang="zh-CN" sz="1400" b="0" i="0" u="none" strike="noStrike" kern="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SIT</a:t>
            </a:r>
            <a:r>
              <a:rPr kumimoji="0" lang="zh-CN" altLang="en-US" sz="1400" b="0" i="0" u="none" strike="noStrike" kern="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、可靠性，测试周期一般为</a:t>
            </a:r>
            <a:r>
              <a:rPr kumimoji="0" lang="en-US" altLang="zh-CN" sz="1400" b="0" i="0" u="none" strike="noStrike" kern="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6W</a:t>
            </a:r>
            <a:r>
              <a:rPr kumimoji="0" lang="zh-CN" altLang="en-US" sz="1400" b="0" i="0" u="none" strike="noStrike" kern="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，根据不同项目状态 调整测试周期。</a:t>
            </a:r>
            <a:endParaRPr kumimoji="0" lang="zh-CN" altLang="en-US" sz="14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 name="Freeform: Shape 15"/>
          <p:cNvSpPr>
            <a:spLocks/>
          </p:cNvSpPr>
          <p:nvPr/>
        </p:nvSpPr>
        <p:spPr bwMode="auto">
          <a:xfrm>
            <a:off x="794655" y="1112240"/>
            <a:ext cx="562707" cy="573341"/>
          </a:xfrm>
          <a:custGeom>
            <a:avLst/>
            <a:gdLst/>
            <a:ahLst/>
            <a:cxnLst>
              <a:cxn ang="0">
                <a:pos x="55" y="44"/>
              </a:cxn>
              <a:cxn ang="0">
                <a:pos x="44" y="55"/>
              </a:cxn>
              <a:cxn ang="0">
                <a:pos x="10" y="55"/>
              </a:cxn>
              <a:cxn ang="0">
                <a:pos x="0" y="44"/>
              </a:cxn>
              <a:cxn ang="0">
                <a:pos x="0" y="10"/>
              </a:cxn>
              <a:cxn ang="0">
                <a:pos x="10" y="0"/>
              </a:cxn>
              <a:cxn ang="0">
                <a:pos x="44" y="0"/>
              </a:cxn>
              <a:cxn ang="0">
                <a:pos x="55" y="10"/>
              </a:cxn>
              <a:cxn ang="0">
                <a:pos x="55" y="44"/>
              </a:cxn>
              <a:cxn ang="0">
                <a:pos x="46" y="20"/>
              </a:cxn>
              <a:cxn ang="0">
                <a:pos x="46" y="17"/>
              </a:cxn>
              <a:cxn ang="0">
                <a:pos x="42" y="13"/>
              </a:cxn>
              <a:cxn ang="0">
                <a:pos x="39" y="13"/>
              </a:cxn>
              <a:cxn ang="0">
                <a:pos x="23" y="30"/>
              </a:cxn>
              <a:cxn ang="0">
                <a:pos x="15" y="22"/>
              </a:cxn>
              <a:cxn ang="0">
                <a:pos x="12" y="22"/>
              </a:cxn>
              <a:cxn ang="0">
                <a:pos x="8" y="26"/>
              </a:cxn>
              <a:cxn ang="0">
                <a:pos x="8" y="29"/>
              </a:cxn>
              <a:cxn ang="0">
                <a:pos x="21" y="42"/>
              </a:cxn>
              <a:cxn ang="0">
                <a:pos x="24" y="42"/>
              </a:cxn>
              <a:cxn ang="0">
                <a:pos x="46" y="20"/>
              </a:cxn>
            </a:cxnLst>
            <a:rect l="0" t="0" r="r" b="b"/>
            <a:pathLst>
              <a:path w="55" h="55">
                <a:moveTo>
                  <a:pt x="55" y="44"/>
                </a:moveTo>
                <a:cubicBezTo>
                  <a:pt x="55" y="50"/>
                  <a:pt x="50" y="55"/>
                  <a:pt x="44" y="55"/>
                </a:cubicBezTo>
                <a:cubicBezTo>
                  <a:pt x="10" y="55"/>
                  <a:pt x="10" y="55"/>
                  <a:pt x="10" y="55"/>
                </a:cubicBezTo>
                <a:cubicBezTo>
                  <a:pt x="4" y="55"/>
                  <a:pt x="0" y="50"/>
                  <a:pt x="0" y="44"/>
                </a:cubicBezTo>
                <a:cubicBezTo>
                  <a:pt x="0" y="10"/>
                  <a:pt x="0" y="10"/>
                  <a:pt x="0" y="10"/>
                </a:cubicBezTo>
                <a:cubicBezTo>
                  <a:pt x="0" y="5"/>
                  <a:pt x="4" y="0"/>
                  <a:pt x="10" y="0"/>
                </a:cubicBezTo>
                <a:cubicBezTo>
                  <a:pt x="44" y="0"/>
                  <a:pt x="44" y="0"/>
                  <a:pt x="44" y="0"/>
                </a:cubicBezTo>
                <a:cubicBezTo>
                  <a:pt x="50" y="0"/>
                  <a:pt x="55" y="5"/>
                  <a:pt x="55" y="10"/>
                </a:cubicBezTo>
                <a:lnTo>
                  <a:pt x="55" y="44"/>
                </a:lnTo>
                <a:close/>
                <a:moveTo>
                  <a:pt x="46" y="20"/>
                </a:moveTo>
                <a:cubicBezTo>
                  <a:pt x="47" y="19"/>
                  <a:pt x="47" y="17"/>
                  <a:pt x="46" y="17"/>
                </a:cubicBezTo>
                <a:cubicBezTo>
                  <a:pt x="42" y="13"/>
                  <a:pt x="42" y="13"/>
                  <a:pt x="42" y="13"/>
                </a:cubicBezTo>
                <a:cubicBezTo>
                  <a:pt x="42" y="12"/>
                  <a:pt x="40" y="12"/>
                  <a:pt x="39" y="13"/>
                </a:cubicBezTo>
                <a:cubicBezTo>
                  <a:pt x="23" y="30"/>
                  <a:pt x="23" y="30"/>
                  <a:pt x="23" y="30"/>
                </a:cubicBezTo>
                <a:cubicBezTo>
                  <a:pt x="15" y="22"/>
                  <a:pt x="15" y="22"/>
                  <a:pt x="15" y="22"/>
                </a:cubicBezTo>
                <a:cubicBezTo>
                  <a:pt x="14" y="21"/>
                  <a:pt x="13" y="21"/>
                  <a:pt x="12" y="22"/>
                </a:cubicBezTo>
                <a:cubicBezTo>
                  <a:pt x="8" y="26"/>
                  <a:pt x="8" y="26"/>
                  <a:pt x="8" y="26"/>
                </a:cubicBezTo>
                <a:cubicBezTo>
                  <a:pt x="7" y="27"/>
                  <a:pt x="7" y="28"/>
                  <a:pt x="8" y="29"/>
                </a:cubicBezTo>
                <a:cubicBezTo>
                  <a:pt x="21" y="42"/>
                  <a:pt x="21" y="42"/>
                  <a:pt x="21" y="42"/>
                </a:cubicBezTo>
                <a:cubicBezTo>
                  <a:pt x="22" y="43"/>
                  <a:pt x="23" y="43"/>
                  <a:pt x="24" y="42"/>
                </a:cubicBezTo>
                <a:lnTo>
                  <a:pt x="46" y="20"/>
                </a:lnTo>
                <a:close/>
              </a:path>
            </a:pathLst>
          </a:custGeom>
          <a:solidFill>
            <a:srgbClr val="C00000"/>
          </a:solidFill>
          <a:ln w="9525">
            <a:noFill/>
            <a:round/>
            <a:headEnd/>
            <a:tailE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微软雅黑"/>
              <a:cs typeface="+mn-cs"/>
            </a:endParaRPr>
          </a:p>
        </p:txBody>
      </p:sp>
      <p:sp>
        <p:nvSpPr>
          <p:cNvPr id="5" name="矩形 4"/>
          <p:cNvSpPr/>
          <p:nvPr/>
        </p:nvSpPr>
        <p:spPr>
          <a:xfrm>
            <a:off x="794655" y="2674299"/>
            <a:ext cx="3678014" cy="3268587"/>
          </a:xfrm>
          <a:prstGeom prst="rect">
            <a:avLst/>
          </a:prstGeom>
          <a:solidFill>
            <a:schemeClr val="bg1">
              <a:lumMod val="95000"/>
            </a:schemeClr>
          </a:solidFill>
        </p:spPr>
        <p:txBody>
          <a:bodyPr wrap="square">
            <a:spAutoFit/>
          </a:bodyPr>
          <a:lstStyle/>
          <a:p>
            <a:pPr marL="0" marR="0" lvl="0" indent="0" algn="l" defTabSz="914400" rtl="0" eaLnBrk="0" fontAlgn="ctr" latinLnBrk="0" hangingPunct="0">
              <a:lnSpc>
                <a:spcPct val="100000"/>
              </a:lnSpc>
              <a:spcBef>
                <a:spcPct val="20000"/>
              </a:spcBef>
              <a:spcAft>
                <a:spcPct val="0"/>
              </a:spcAft>
              <a:buClr>
                <a:srgbClr val="FF0000"/>
              </a:buClr>
              <a:buSzTx/>
              <a:buFontTx/>
              <a:buNone/>
              <a:tabLst/>
              <a:defRPr/>
            </a:pPr>
            <a:r>
              <a:rPr kumimoji="0" lang="en-US" altLang="zh-CN" sz="1200" b="0" i="0" u="none" strike="noStrike" kern="1200" cap="none" spc="0" normalizeH="0" baseline="0" noProof="0" dirty="0" smtClean="0">
                <a:ln>
                  <a:noFill/>
                </a:ln>
                <a:solidFill>
                  <a:prstClr val="black"/>
                </a:solidFill>
                <a:effectLst/>
                <a:uLnTx/>
                <a:uFillTx/>
                <a:latin typeface="微软雅黑" pitchFamily="34" charset="-122"/>
                <a:ea typeface="微软雅黑" pitchFamily="34" charset="-122"/>
                <a:cs typeface="+mn-cs"/>
              </a:rPr>
              <a:t>1</a:t>
            </a:r>
            <a:r>
              <a:rPr kumimoji="0" lang="en-US" altLang="zh-CN" sz="12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a:t>
            </a:r>
            <a:r>
              <a:rPr kumimoji="0" lang="zh-CN" altLang="en-US" sz="1200" b="0" i="0" u="none" strike="noStrike" kern="1200" cap="none" spc="0" normalizeH="0" baseline="0" noProof="0" dirty="0" smtClean="0">
                <a:ln>
                  <a:noFill/>
                </a:ln>
                <a:solidFill>
                  <a:prstClr val="black"/>
                </a:solidFill>
                <a:effectLst/>
                <a:uLnTx/>
                <a:uFillTx/>
                <a:latin typeface="微软雅黑" pitchFamily="34" charset="-122"/>
                <a:ea typeface="微软雅黑" pitchFamily="34" charset="-122"/>
                <a:cs typeface="+mn-cs"/>
              </a:rPr>
              <a:t>前各阶段</a:t>
            </a:r>
            <a:r>
              <a:rPr kumimoji="0" lang="en-US" altLang="zh-CN" sz="1200" b="0" i="0" u="none" strike="noStrike" kern="1200" cap="none" spc="0" normalizeH="0" baseline="0" noProof="0" dirty="0" smtClean="0">
                <a:ln>
                  <a:noFill/>
                </a:ln>
                <a:solidFill>
                  <a:prstClr val="black"/>
                </a:solidFill>
                <a:effectLst/>
                <a:uLnTx/>
                <a:uFillTx/>
                <a:latin typeface="微软雅黑" pitchFamily="34" charset="-122"/>
                <a:ea typeface="微软雅黑" pitchFamily="34" charset="-122"/>
                <a:cs typeface="+mn-cs"/>
              </a:rPr>
              <a:t>TR</a:t>
            </a:r>
            <a:r>
              <a:rPr kumimoji="0" lang="zh-CN" altLang="en-US" sz="1200" b="0" i="0" u="none" strike="noStrike" kern="1200" cap="none" spc="0" normalizeH="0" baseline="0" noProof="0" dirty="0" smtClean="0">
                <a:ln>
                  <a:noFill/>
                </a:ln>
                <a:solidFill>
                  <a:prstClr val="black"/>
                </a:solidFill>
                <a:effectLst/>
                <a:uLnTx/>
                <a:uFillTx/>
                <a:latin typeface="微软雅黑" pitchFamily="34" charset="-122"/>
                <a:ea typeface="微软雅黑" pitchFamily="34" charset="-122"/>
                <a:cs typeface="+mn-cs"/>
              </a:rPr>
              <a:t>评审回溯</a:t>
            </a:r>
            <a:r>
              <a:rPr kumimoji="0" lang="en-US" altLang="zh-CN" sz="1200" b="0" i="0" u="none" strike="noStrike" kern="1200" cap="none" spc="0" normalizeH="0" baseline="0" noProof="0" dirty="0" smtClean="0">
                <a:ln>
                  <a:noFill/>
                </a:ln>
                <a:solidFill>
                  <a:prstClr val="black"/>
                </a:solidFill>
                <a:effectLst/>
                <a:uLnTx/>
                <a:uFillTx/>
                <a:latin typeface="微软雅黑" pitchFamily="34" charset="-122"/>
                <a:ea typeface="微软雅黑" pitchFamily="34" charset="-122"/>
                <a:cs typeface="+mn-cs"/>
              </a:rPr>
              <a:t>(DVT</a:t>
            </a:r>
            <a:r>
              <a:rPr kumimoji="0" lang="zh-CN" altLang="en-US" sz="1200" b="0" i="0" u="none" strike="noStrike" kern="1200" cap="none" spc="0" normalizeH="0" baseline="0" noProof="0" dirty="0" smtClean="0">
                <a:ln>
                  <a:noFill/>
                </a:ln>
                <a:solidFill>
                  <a:prstClr val="black"/>
                </a:solidFill>
                <a:effectLst/>
                <a:uLnTx/>
                <a:uFillTx/>
                <a:latin typeface="微软雅黑" pitchFamily="34" charset="-122"/>
                <a:ea typeface="微软雅黑" pitchFamily="34" charset="-122"/>
                <a:cs typeface="+mn-cs"/>
              </a:rPr>
              <a:t>报告，只提取遗留问题）</a:t>
            </a:r>
            <a:endParaRPr kumimoji="0" lang="en-US" altLang="zh-CN" sz="1200" b="0" i="0" u="none" strike="noStrike" kern="1200" cap="none" spc="0" normalizeH="0" baseline="0" noProof="0" dirty="0" smtClean="0">
              <a:ln>
                <a:noFill/>
              </a:ln>
              <a:solidFill>
                <a:prstClr val="black"/>
              </a:solidFill>
              <a:effectLst/>
              <a:uLnTx/>
              <a:uFillTx/>
              <a:latin typeface="微软雅黑" pitchFamily="34" charset="-122"/>
              <a:ea typeface="微软雅黑" pitchFamily="34" charset="-122"/>
              <a:cs typeface="+mn-cs"/>
            </a:endParaRPr>
          </a:p>
          <a:p>
            <a:pPr marL="171450" marR="0" lvl="0" indent="-171450" algn="l" defTabSz="914400" rtl="0" eaLnBrk="0" fontAlgn="ctr" latinLnBrk="0" hangingPunct="0">
              <a:lnSpc>
                <a:spcPct val="100000"/>
              </a:lnSpc>
              <a:spcBef>
                <a:spcPct val="20000"/>
              </a:spcBef>
              <a:spcAft>
                <a:spcPct val="0"/>
              </a:spcAft>
              <a:buClr>
                <a:srgbClr val="FF0000"/>
              </a:buClr>
              <a:buSzTx/>
              <a:buFont typeface="Arial" panose="020B0604020202020204" pitchFamily="34" charset="0"/>
              <a:buChar char="•"/>
              <a:tabLst/>
              <a:defRPr/>
            </a:pPr>
            <a:r>
              <a:rPr kumimoji="0" lang="en-US" altLang="zh-CN" sz="1200" b="0" i="0" u="none" strike="noStrike" kern="1200" cap="none" spc="0" normalizeH="0" baseline="0" noProof="0" dirty="0" smtClean="0">
                <a:ln>
                  <a:noFill/>
                </a:ln>
                <a:solidFill>
                  <a:prstClr val="black"/>
                </a:solidFill>
                <a:effectLst/>
                <a:uLnTx/>
                <a:uFillTx/>
                <a:latin typeface="微软雅黑" pitchFamily="34" charset="-122"/>
                <a:ea typeface="微软雅黑" pitchFamily="34" charset="-122"/>
                <a:cs typeface="+mn-cs"/>
              </a:rPr>
              <a:t>TR</a:t>
            </a:r>
            <a:r>
              <a:rPr kumimoji="0" lang="zh-CN" altLang="en-US" sz="1200" b="0" i="0" u="none" strike="noStrike" kern="1200" cap="none" spc="0" normalizeH="0" baseline="0" noProof="0" dirty="0" smtClean="0">
                <a:ln>
                  <a:noFill/>
                </a:ln>
                <a:solidFill>
                  <a:prstClr val="black"/>
                </a:solidFill>
                <a:effectLst/>
                <a:uLnTx/>
                <a:uFillTx/>
                <a:latin typeface="微软雅黑" pitchFamily="34" charset="-122"/>
                <a:ea typeface="微软雅黑" pitchFamily="34" charset="-122"/>
                <a:cs typeface="+mn-cs"/>
              </a:rPr>
              <a:t>技术评审无</a:t>
            </a:r>
            <a:r>
              <a:rPr kumimoji="0" lang="zh-CN" altLang="en-US" sz="12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发现关键风险、问题</a:t>
            </a:r>
            <a:r>
              <a:rPr kumimoji="0" lang="zh-CN" altLang="en-US" sz="1200" b="0" i="0" u="none" strike="noStrike" kern="1200" cap="none" spc="0" normalizeH="0" baseline="0" noProof="0" dirty="0" smtClean="0">
                <a:ln>
                  <a:noFill/>
                </a:ln>
                <a:solidFill>
                  <a:prstClr val="black"/>
                </a:solidFill>
                <a:effectLst/>
                <a:uLnTx/>
                <a:uFillTx/>
                <a:latin typeface="微软雅黑" pitchFamily="34" charset="-122"/>
                <a:ea typeface="微软雅黑" pitchFamily="34" charset="-122"/>
                <a:cs typeface="+mn-cs"/>
              </a:rPr>
              <a:t>，制定</a:t>
            </a:r>
            <a:r>
              <a:rPr kumimoji="0" lang="zh-CN" altLang="en-US" sz="12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了有效的行动</a:t>
            </a:r>
            <a:r>
              <a:rPr kumimoji="0" lang="zh-CN" altLang="en-US" sz="1200" b="0" i="0" u="none" strike="noStrike" kern="1200" cap="none" spc="0" normalizeH="0" baseline="0" noProof="0" dirty="0" smtClean="0">
                <a:ln>
                  <a:noFill/>
                </a:ln>
                <a:solidFill>
                  <a:prstClr val="black"/>
                </a:solidFill>
                <a:effectLst/>
                <a:uLnTx/>
                <a:uFillTx/>
                <a:latin typeface="微软雅黑" pitchFamily="34" charset="-122"/>
                <a:ea typeface="微软雅黑" pitchFamily="34" charset="-122"/>
                <a:cs typeface="+mn-cs"/>
              </a:rPr>
              <a:t>计划；</a:t>
            </a:r>
            <a:endParaRPr kumimoji="0" lang="en-US" altLang="zh-CN" sz="1200" b="0" i="0" u="none" strike="noStrike" kern="1200" cap="none" spc="0" normalizeH="0" baseline="0" noProof="0" dirty="0" smtClean="0">
              <a:ln>
                <a:noFill/>
              </a:ln>
              <a:solidFill>
                <a:prstClr val="black"/>
              </a:solidFill>
              <a:effectLst/>
              <a:uLnTx/>
              <a:uFillTx/>
              <a:latin typeface="微软雅黑" pitchFamily="34" charset="-122"/>
              <a:ea typeface="微软雅黑" pitchFamily="34" charset="-122"/>
              <a:cs typeface="+mn-cs"/>
            </a:endParaRPr>
          </a:p>
          <a:p>
            <a:pPr marL="0" marR="0" lvl="0" indent="0" algn="l" defTabSz="914400" rtl="0" eaLnBrk="0" fontAlgn="ctr" latinLnBrk="0" hangingPunct="0">
              <a:lnSpc>
                <a:spcPct val="100000"/>
              </a:lnSpc>
              <a:spcBef>
                <a:spcPct val="20000"/>
              </a:spcBef>
              <a:spcAft>
                <a:spcPct val="0"/>
              </a:spcAft>
              <a:buClr>
                <a:srgbClr val="FF0000"/>
              </a:buClr>
              <a:buSzTx/>
              <a:buFontTx/>
              <a:buNone/>
              <a:tabLst/>
              <a:defRPr/>
            </a:pPr>
            <a:r>
              <a:rPr kumimoji="0" lang="en-US" altLang="zh-CN" sz="1200" b="0" i="0" u="none" strike="noStrike" kern="1200" cap="none" spc="0" normalizeH="0" baseline="0" noProof="0" dirty="0" smtClean="0">
                <a:ln>
                  <a:noFill/>
                </a:ln>
                <a:solidFill>
                  <a:prstClr val="black"/>
                </a:solidFill>
                <a:effectLst/>
                <a:uLnTx/>
                <a:uFillTx/>
                <a:latin typeface="微软雅黑" pitchFamily="34" charset="-122"/>
                <a:ea typeface="微软雅黑" pitchFamily="34" charset="-122"/>
                <a:cs typeface="+mn-cs"/>
              </a:rPr>
              <a:t>2</a:t>
            </a:r>
            <a:r>
              <a:rPr kumimoji="0" lang="en-US" altLang="zh-CN" sz="12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a:t>
            </a:r>
            <a:r>
              <a:rPr kumimoji="0" lang="zh-CN" altLang="en-US" sz="1200" b="0" i="0" u="none" strike="noStrike" kern="1200" cap="none" spc="0" normalizeH="0" baseline="0" noProof="0" dirty="0" smtClean="0">
                <a:ln>
                  <a:noFill/>
                </a:ln>
                <a:solidFill>
                  <a:prstClr val="black"/>
                </a:solidFill>
                <a:effectLst/>
                <a:uLnTx/>
                <a:uFillTx/>
                <a:latin typeface="微软雅黑" pitchFamily="34" charset="-122"/>
                <a:ea typeface="微软雅黑" pitchFamily="34" charset="-122"/>
                <a:cs typeface="+mn-cs"/>
              </a:rPr>
              <a:t>前各阶段计划执行情况与偏差分析；</a:t>
            </a:r>
            <a:endParaRPr kumimoji="0" lang="en-US" altLang="zh-CN" sz="1200" b="0" i="0" u="none" strike="noStrike" kern="1200" cap="none" spc="0" normalizeH="0" baseline="0" noProof="0" dirty="0" smtClean="0">
              <a:ln>
                <a:noFill/>
              </a:ln>
              <a:solidFill>
                <a:prstClr val="black"/>
              </a:solidFill>
              <a:effectLst/>
              <a:uLnTx/>
              <a:uFillTx/>
              <a:latin typeface="微软雅黑" pitchFamily="34" charset="-122"/>
              <a:ea typeface="微软雅黑" pitchFamily="34" charset="-122"/>
              <a:cs typeface="+mn-cs"/>
            </a:endParaRPr>
          </a:p>
          <a:p>
            <a:pPr marL="0" marR="0" lvl="0" indent="0" algn="l" defTabSz="914400" rtl="0" eaLnBrk="0" fontAlgn="ctr" latinLnBrk="0" hangingPunct="0">
              <a:lnSpc>
                <a:spcPct val="100000"/>
              </a:lnSpc>
              <a:spcBef>
                <a:spcPct val="20000"/>
              </a:spcBef>
              <a:spcAft>
                <a:spcPct val="0"/>
              </a:spcAft>
              <a:buClr>
                <a:srgbClr val="FF0000"/>
              </a:buClr>
              <a:buSzTx/>
              <a:buFontTx/>
              <a:buNone/>
              <a:tabLst/>
              <a:defRPr/>
            </a:pPr>
            <a:r>
              <a:rPr kumimoji="0" lang="en-US" altLang="zh-CN" sz="1200" b="0" i="0" u="none" strike="noStrike" kern="1200" cap="none" spc="0" normalizeH="0" baseline="0" noProof="0" dirty="0" smtClean="0">
                <a:ln>
                  <a:noFill/>
                </a:ln>
                <a:solidFill>
                  <a:prstClr val="black"/>
                </a:solidFill>
                <a:effectLst/>
                <a:uLnTx/>
                <a:uFillTx/>
                <a:latin typeface="微软雅黑" pitchFamily="34" charset="-122"/>
                <a:ea typeface="微软雅黑" pitchFamily="34" charset="-122"/>
                <a:cs typeface="+mn-cs"/>
              </a:rPr>
              <a:t>3. PVT</a:t>
            </a:r>
            <a:r>
              <a:rPr kumimoji="0" lang="zh-CN" altLang="en-US" sz="1200" b="0" i="0" u="none" strike="noStrike" kern="1200" cap="none" spc="0" normalizeH="0" baseline="0" noProof="0" dirty="0" smtClean="0">
                <a:ln>
                  <a:noFill/>
                </a:ln>
                <a:solidFill>
                  <a:prstClr val="black"/>
                </a:solidFill>
                <a:effectLst/>
                <a:uLnTx/>
                <a:uFillTx/>
                <a:latin typeface="微软雅黑" pitchFamily="34" charset="-122"/>
                <a:ea typeface="微软雅黑" pitchFamily="34" charset="-122"/>
                <a:cs typeface="+mn-cs"/>
              </a:rPr>
              <a:t>阶段计划，项目计划书更新至最新版</a:t>
            </a:r>
            <a:endParaRPr kumimoji="0" lang="en-US" altLang="zh-CN" sz="1200" b="0" i="0" u="none" strike="noStrike" kern="1200" cap="none" spc="0" normalizeH="0" baseline="0" noProof="0" dirty="0" smtClean="0">
              <a:ln>
                <a:noFill/>
              </a:ln>
              <a:solidFill>
                <a:prstClr val="black"/>
              </a:solidFill>
              <a:effectLst/>
              <a:uLnTx/>
              <a:uFillTx/>
              <a:latin typeface="微软雅黑" pitchFamily="34" charset="-122"/>
              <a:ea typeface="微软雅黑" pitchFamily="34" charset="-122"/>
              <a:cs typeface="+mn-cs"/>
            </a:endParaRPr>
          </a:p>
          <a:p>
            <a:pPr marL="171450" marR="0" lvl="0" indent="-171450" algn="l" defTabSz="914400" rtl="0" eaLnBrk="0" fontAlgn="ctr" latinLnBrk="0" hangingPunct="0">
              <a:lnSpc>
                <a:spcPct val="100000"/>
              </a:lnSpc>
              <a:spcBef>
                <a:spcPct val="20000"/>
              </a:spcBef>
              <a:spcAft>
                <a:spcPct val="0"/>
              </a:spcAft>
              <a:buClr>
                <a:srgbClr val="FF0000"/>
              </a:buClr>
              <a:buSzTx/>
              <a:buFont typeface="Arial" panose="020B0604020202020204" pitchFamily="34" charset="0"/>
              <a:buChar char="•"/>
              <a:tabLst/>
              <a:defRPr/>
            </a:pPr>
            <a:r>
              <a:rPr kumimoji="0" lang="zh-CN" altLang="en-US" sz="1200" b="0" i="0" u="none" strike="noStrike" kern="1200" cap="none" spc="0" normalizeH="0" baseline="0" noProof="0" dirty="0" smtClean="0">
                <a:ln>
                  <a:noFill/>
                </a:ln>
                <a:solidFill>
                  <a:prstClr val="black"/>
                </a:solidFill>
                <a:effectLst/>
                <a:uLnTx/>
                <a:uFillTx/>
                <a:latin typeface="微软雅黑" pitchFamily="34" charset="-122"/>
                <a:ea typeface="微软雅黑" pitchFamily="34" charset="-122"/>
                <a:cs typeface="+mn-cs"/>
              </a:rPr>
              <a:t>项目变更得到</a:t>
            </a:r>
            <a:r>
              <a:rPr kumimoji="0" lang="zh-CN" altLang="en-US" sz="12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了</a:t>
            </a:r>
            <a:r>
              <a:rPr kumimoji="0" lang="zh-CN" altLang="en-US" sz="1200" b="0" i="0" u="none" strike="noStrike" kern="1200" cap="none" spc="0" normalizeH="0" baseline="0" noProof="0" dirty="0" smtClean="0">
                <a:ln>
                  <a:noFill/>
                </a:ln>
                <a:solidFill>
                  <a:prstClr val="black"/>
                </a:solidFill>
                <a:effectLst/>
                <a:uLnTx/>
                <a:uFillTx/>
                <a:latin typeface="微软雅黑" pitchFamily="34" charset="-122"/>
                <a:ea typeface="微软雅黑" pitchFamily="34" charset="-122"/>
                <a:cs typeface="+mn-cs"/>
              </a:rPr>
              <a:t>控制；</a:t>
            </a:r>
            <a:endParaRPr kumimoji="0" lang="en-US" altLang="zh-CN" sz="1200" b="0" i="0" u="none" strike="noStrike" kern="1200" cap="none" spc="0" normalizeH="0" baseline="0" noProof="0" dirty="0" smtClean="0">
              <a:ln>
                <a:noFill/>
              </a:ln>
              <a:solidFill>
                <a:prstClr val="black"/>
              </a:solidFill>
              <a:effectLst/>
              <a:uLnTx/>
              <a:uFillTx/>
              <a:latin typeface="微软雅黑" pitchFamily="34" charset="-122"/>
              <a:ea typeface="微软雅黑" pitchFamily="34" charset="-122"/>
              <a:cs typeface="+mn-cs"/>
            </a:endParaRPr>
          </a:p>
          <a:p>
            <a:pPr marL="171450" marR="0" lvl="0" indent="-171450" algn="l" defTabSz="914400" rtl="0" eaLnBrk="0" fontAlgn="ctr" latinLnBrk="0" hangingPunct="0">
              <a:lnSpc>
                <a:spcPct val="100000"/>
              </a:lnSpc>
              <a:spcBef>
                <a:spcPct val="20000"/>
              </a:spcBef>
              <a:spcAft>
                <a:spcPct val="0"/>
              </a:spcAft>
              <a:buClr>
                <a:srgbClr val="FF0000"/>
              </a:buClr>
              <a:buSzTx/>
              <a:buFont typeface="Arial" panose="020B0604020202020204" pitchFamily="34" charset="0"/>
              <a:buChar char="•"/>
              <a:tabLst/>
              <a:defRPr/>
            </a:pPr>
            <a:r>
              <a:rPr kumimoji="0" lang="zh-CN" altLang="en-US" sz="1200" b="0" i="0" u="none" strike="noStrike" kern="1200" cap="none" spc="0" normalizeH="0" baseline="0" noProof="0" dirty="0" smtClean="0">
                <a:ln>
                  <a:noFill/>
                </a:ln>
                <a:solidFill>
                  <a:prstClr val="black"/>
                </a:solidFill>
                <a:effectLst/>
                <a:uLnTx/>
                <a:uFillTx/>
                <a:latin typeface="微软雅黑" pitchFamily="34" charset="-122"/>
                <a:ea typeface="微软雅黑" pitchFamily="34" charset="-122"/>
                <a:cs typeface="+mn-cs"/>
              </a:rPr>
              <a:t>详细</a:t>
            </a:r>
            <a:r>
              <a:rPr kumimoji="0" lang="zh-CN" altLang="en-US" sz="12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的项目进度</a:t>
            </a:r>
            <a:r>
              <a:rPr kumimoji="0" lang="zh-CN" altLang="en-US" sz="1200" b="0" i="0" u="none" strike="noStrike" kern="1200" cap="none" spc="0" normalizeH="0" baseline="0" noProof="0" dirty="0" smtClean="0">
                <a:ln>
                  <a:noFill/>
                </a:ln>
                <a:solidFill>
                  <a:prstClr val="black"/>
                </a:solidFill>
                <a:effectLst/>
                <a:uLnTx/>
                <a:uFillTx/>
                <a:latin typeface="微软雅黑" pitchFamily="34" charset="-122"/>
                <a:ea typeface="微软雅黑" pitchFamily="34" charset="-122"/>
                <a:cs typeface="+mn-cs"/>
              </a:rPr>
              <a:t>计划可指导后续工作，</a:t>
            </a:r>
            <a:r>
              <a:rPr kumimoji="0" lang="zh-CN" altLang="en-US" sz="12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并建立</a:t>
            </a:r>
            <a:r>
              <a:rPr kumimoji="0" lang="zh-CN" altLang="en-US" sz="1200" b="0" i="0" u="none" strike="noStrike" kern="1200" cap="none" spc="0" normalizeH="0" baseline="0" noProof="0" dirty="0" smtClean="0">
                <a:ln>
                  <a:noFill/>
                </a:ln>
                <a:solidFill>
                  <a:prstClr val="black"/>
                </a:solidFill>
                <a:effectLst/>
                <a:uLnTx/>
                <a:uFillTx/>
                <a:latin typeface="微软雅黑" pitchFamily="34" charset="-122"/>
                <a:ea typeface="微软雅黑" pitchFamily="34" charset="-122"/>
                <a:cs typeface="+mn-cs"/>
              </a:rPr>
              <a:t>基准；</a:t>
            </a:r>
            <a:endParaRPr kumimoji="0" lang="en-US" altLang="zh-CN" sz="1200" b="0" i="0" u="none" strike="noStrike" kern="1200" cap="none" spc="0" normalizeH="0" baseline="0" noProof="0" dirty="0" smtClean="0">
              <a:ln>
                <a:noFill/>
              </a:ln>
              <a:solidFill>
                <a:prstClr val="black"/>
              </a:solidFill>
              <a:effectLst/>
              <a:uLnTx/>
              <a:uFillTx/>
              <a:latin typeface="微软雅黑" pitchFamily="34" charset="-122"/>
              <a:ea typeface="微软雅黑" pitchFamily="34" charset="-122"/>
              <a:cs typeface="+mn-cs"/>
            </a:endParaRPr>
          </a:p>
          <a:p>
            <a:pPr marL="0" marR="0" lvl="0" indent="0" algn="l" defTabSz="914400" rtl="0" eaLnBrk="0" fontAlgn="ctr" latinLnBrk="0" hangingPunct="0">
              <a:lnSpc>
                <a:spcPct val="100000"/>
              </a:lnSpc>
              <a:spcBef>
                <a:spcPct val="20000"/>
              </a:spcBef>
              <a:spcAft>
                <a:spcPct val="0"/>
              </a:spcAft>
              <a:buClr>
                <a:srgbClr val="FF0000"/>
              </a:buClr>
              <a:buSzTx/>
              <a:buFontTx/>
              <a:buNone/>
              <a:tabLst/>
              <a:defRPr/>
            </a:pPr>
            <a:r>
              <a:rPr kumimoji="0" lang="en-US" altLang="zh-CN" sz="12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mn-cs"/>
              </a:rPr>
              <a:t>4</a:t>
            </a:r>
            <a:r>
              <a:rPr kumimoji="0" lang="en-US" altLang="zh-CN" sz="1200" b="0" i="0" u="none" strike="noStrike" kern="1200" cap="none" spc="0" normalizeH="0" baseline="0" noProof="0" dirty="0" smtClean="0">
                <a:ln>
                  <a:noFill/>
                </a:ln>
                <a:solidFill>
                  <a:prstClr val="black"/>
                </a:solidFill>
                <a:effectLst/>
                <a:uLnTx/>
                <a:uFillTx/>
                <a:latin typeface="微软雅黑" pitchFamily="34" charset="-122"/>
                <a:ea typeface="微软雅黑" pitchFamily="34" charset="-122"/>
                <a:cs typeface="+mn-cs"/>
              </a:rPr>
              <a:t>. </a:t>
            </a:r>
            <a:r>
              <a:rPr kumimoji="0" lang="zh-CN" altLang="en-US" sz="1200" b="0" i="0" u="none" strike="noStrike" kern="1200" cap="none" spc="0" normalizeH="0" baseline="0" noProof="0" dirty="0" smtClean="0">
                <a:ln>
                  <a:noFill/>
                </a:ln>
                <a:solidFill>
                  <a:prstClr val="black"/>
                </a:solidFill>
                <a:effectLst/>
                <a:uLnTx/>
                <a:uFillTx/>
                <a:latin typeface="微软雅黑" pitchFamily="34" charset="-122"/>
                <a:ea typeface="微软雅黑" pitchFamily="34" charset="-122"/>
                <a:cs typeface="+mn-cs"/>
              </a:rPr>
              <a:t>试制已完成，并输出报告。</a:t>
            </a:r>
            <a:endParaRPr kumimoji="0" lang="en-US" altLang="zh-CN" sz="1200" b="0" i="0" u="none" strike="noStrike" kern="1200" cap="none" spc="0" normalizeH="0" baseline="0" noProof="0" dirty="0" smtClean="0">
              <a:ln>
                <a:noFill/>
              </a:ln>
              <a:solidFill>
                <a:prstClr val="black"/>
              </a:solidFill>
              <a:effectLst/>
              <a:uLnTx/>
              <a:uFillTx/>
              <a:latin typeface="微软雅黑" pitchFamily="34" charset="-122"/>
              <a:ea typeface="微软雅黑" pitchFamily="34" charset="-122"/>
              <a:cs typeface="+mn-cs"/>
            </a:endParaRPr>
          </a:p>
          <a:p>
            <a:pPr marL="0" marR="0" lvl="0" indent="0" algn="l" defTabSz="914400" rtl="0" eaLnBrk="0" fontAlgn="ctr" latinLnBrk="0" hangingPunct="0">
              <a:lnSpc>
                <a:spcPct val="100000"/>
              </a:lnSpc>
              <a:spcBef>
                <a:spcPct val="20000"/>
              </a:spcBef>
              <a:spcAft>
                <a:spcPct val="0"/>
              </a:spcAft>
              <a:buClr>
                <a:srgbClr val="FF0000"/>
              </a:buClr>
              <a:buSzTx/>
              <a:buFontTx/>
              <a:buNone/>
              <a:tabLst/>
              <a:defRPr/>
            </a:pPr>
            <a:endParaRPr lang="en-US" altLang="zh-CN" sz="1200" dirty="0">
              <a:solidFill>
                <a:prstClr val="black"/>
              </a:solidFill>
              <a:latin typeface="微软雅黑" pitchFamily="34" charset="-122"/>
              <a:ea typeface="微软雅黑" pitchFamily="34" charset="-122"/>
            </a:endParaRPr>
          </a:p>
          <a:p>
            <a:pPr marL="0" marR="0" lvl="0" indent="0" algn="l" defTabSz="914400" rtl="0" eaLnBrk="0" fontAlgn="ctr" latinLnBrk="0" hangingPunct="0">
              <a:lnSpc>
                <a:spcPct val="100000"/>
              </a:lnSpc>
              <a:spcBef>
                <a:spcPct val="20000"/>
              </a:spcBef>
              <a:spcAft>
                <a:spcPct val="0"/>
              </a:spcAft>
              <a:buClr>
                <a:srgbClr val="FF0000"/>
              </a:buClr>
              <a:buSzTx/>
              <a:buFontTx/>
              <a:buNone/>
              <a:tabLst/>
              <a:defRPr/>
            </a:pPr>
            <a:endParaRPr kumimoji="0" lang="en-US" altLang="zh-CN" sz="1200" b="0" i="0" u="none" strike="noStrike" kern="1200" cap="none" spc="0" normalizeH="0" baseline="0" noProof="0" dirty="0" smtClean="0">
              <a:ln>
                <a:noFill/>
              </a:ln>
              <a:solidFill>
                <a:prstClr val="black"/>
              </a:solidFill>
              <a:effectLst/>
              <a:uLnTx/>
              <a:uFillTx/>
              <a:latin typeface="微软雅黑" pitchFamily="34" charset="-122"/>
              <a:ea typeface="微软雅黑" pitchFamily="34" charset="-122"/>
              <a:cs typeface="+mn-cs"/>
            </a:endParaRPr>
          </a:p>
          <a:p>
            <a:pPr marL="0" marR="0" lvl="0" indent="0" algn="l" defTabSz="914400" rtl="0" eaLnBrk="0" fontAlgn="ctr" latinLnBrk="0" hangingPunct="0">
              <a:lnSpc>
                <a:spcPct val="100000"/>
              </a:lnSpc>
              <a:spcBef>
                <a:spcPct val="20000"/>
              </a:spcBef>
              <a:spcAft>
                <a:spcPct val="0"/>
              </a:spcAft>
              <a:buClr>
                <a:srgbClr val="FF0000"/>
              </a:buClr>
              <a:buSzTx/>
              <a:buFontTx/>
              <a:buNone/>
              <a:tabLst/>
              <a:defRPr/>
            </a:pPr>
            <a:endParaRPr lang="en-US" altLang="zh-CN" sz="1200" dirty="0">
              <a:solidFill>
                <a:prstClr val="black"/>
              </a:solidFill>
              <a:latin typeface="微软雅黑" pitchFamily="34" charset="-122"/>
              <a:ea typeface="微软雅黑" pitchFamily="34" charset="-122"/>
            </a:endParaRPr>
          </a:p>
          <a:p>
            <a:pPr marL="0" marR="0" lvl="0" indent="0" algn="l" defTabSz="914400" rtl="0" eaLnBrk="0" fontAlgn="ctr" latinLnBrk="0" hangingPunct="0">
              <a:lnSpc>
                <a:spcPct val="100000"/>
              </a:lnSpc>
              <a:spcBef>
                <a:spcPct val="20000"/>
              </a:spcBef>
              <a:spcAft>
                <a:spcPct val="0"/>
              </a:spcAft>
              <a:buClr>
                <a:srgbClr val="FF0000"/>
              </a:buClr>
              <a:buSzTx/>
              <a:buFontTx/>
              <a:buNone/>
              <a:tabLst/>
              <a:defRPr/>
            </a:pPr>
            <a:endParaRPr kumimoji="0" lang="en-US" altLang="zh-CN" sz="1200" b="0" i="0" u="none" strike="noStrike" kern="1200" cap="none" spc="0" normalizeH="0" baseline="0" noProof="0" dirty="0" smtClean="0">
              <a:ln>
                <a:noFill/>
              </a:ln>
              <a:solidFill>
                <a:prstClr val="black"/>
              </a:solidFill>
              <a:effectLst/>
              <a:uLnTx/>
              <a:uFillTx/>
              <a:latin typeface="微软雅黑" pitchFamily="34" charset="-122"/>
              <a:ea typeface="微软雅黑" pitchFamily="34" charset="-122"/>
              <a:cs typeface="+mn-cs"/>
            </a:endParaRPr>
          </a:p>
          <a:p>
            <a:pPr marL="0" marR="0" lvl="0" indent="0" algn="l" defTabSz="914400" rtl="0" eaLnBrk="0" fontAlgn="ctr" latinLnBrk="0" hangingPunct="0">
              <a:lnSpc>
                <a:spcPct val="100000"/>
              </a:lnSpc>
              <a:spcBef>
                <a:spcPct val="20000"/>
              </a:spcBef>
              <a:spcAft>
                <a:spcPct val="0"/>
              </a:spcAft>
              <a:buClr>
                <a:srgbClr val="FF0000"/>
              </a:buClr>
              <a:buSzTx/>
              <a:buFontTx/>
              <a:buNone/>
              <a:tabLst/>
              <a:defRPr/>
            </a:pPr>
            <a:endParaRPr lang="en-US" altLang="zh-CN" sz="1200" dirty="0">
              <a:solidFill>
                <a:prstClr val="black"/>
              </a:solidFill>
              <a:latin typeface="微软雅黑" pitchFamily="34" charset="-122"/>
              <a:ea typeface="微软雅黑" pitchFamily="34" charset="-122"/>
            </a:endParaRPr>
          </a:p>
        </p:txBody>
      </p:sp>
      <p:sp>
        <p:nvSpPr>
          <p:cNvPr id="2" name="圆角矩形 1"/>
          <p:cNvSpPr/>
          <p:nvPr/>
        </p:nvSpPr>
        <p:spPr>
          <a:xfrm>
            <a:off x="682113" y="2053627"/>
            <a:ext cx="3166138" cy="477835"/>
          </a:xfrm>
          <a:prstGeom prst="roundRect">
            <a:avLst/>
          </a:prstGeom>
          <a:solidFill>
            <a:schemeClr val="bg1">
              <a:lumMod val="85000"/>
            </a:schemeClr>
          </a:solidFill>
          <a:ln>
            <a:solidFill>
              <a:schemeClr val="bg1">
                <a:lumMod val="85000"/>
              </a:schemeClr>
            </a:solidFill>
          </a:ln>
          <a:effectLst>
            <a:reflection blurRad="6350" stA="50000" endA="300" endPos="55000" dir="5400000" sy="-100000" algn="bl" rotWithShape="0"/>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a:cs typeface="+mn-cs"/>
            </a:endParaRPr>
          </a:p>
        </p:txBody>
      </p:sp>
      <p:sp>
        <p:nvSpPr>
          <p:cNvPr id="10" name="Freeform: Shape 4"/>
          <p:cNvSpPr>
            <a:spLocks/>
          </p:cNvSpPr>
          <p:nvPr/>
        </p:nvSpPr>
        <p:spPr bwMode="auto">
          <a:xfrm>
            <a:off x="904682" y="2122506"/>
            <a:ext cx="342652" cy="340075"/>
          </a:xfrm>
          <a:custGeom>
            <a:avLst/>
            <a:gdLst/>
            <a:ahLst/>
            <a:cxnLst>
              <a:cxn ang="0">
                <a:pos x="33" y="1"/>
              </a:cxn>
              <a:cxn ang="0">
                <a:pos x="22" y="1"/>
              </a:cxn>
              <a:cxn ang="0">
                <a:pos x="0" y="28"/>
              </a:cxn>
              <a:cxn ang="0">
                <a:pos x="22" y="55"/>
              </a:cxn>
              <a:cxn ang="0">
                <a:pos x="33" y="55"/>
              </a:cxn>
              <a:cxn ang="0">
                <a:pos x="56" y="28"/>
              </a:cxn>
              <a:cxn ang="0">
                <a:pos x="20" y="7"/>
              </a:cxn>
              <a:cxn ang="0">
                <a:pos x="10" y="14"/>
              </a:cxn>
              <a:cxn ang="0">
                <a:pos x="7" y="19"/>
              </a:cxn>
              <a:cxn ang="0">
                <a:pos x="11" y="25"/>
              </a:cxn>
              <a:cxn ang="0">
                <a:pos x="7" y="19"/>
              </a:cxn>
              <a:cxn ang="0">
                <a:pos x="5" y="30"/>
              </a:cxn>
              <a:cxn ang="0">
                <a:pos x="12" y="36"/>
              </a:cxn>
              <a:cxn ang="0">
                <a:pos x="9" y="41"/>
              </a:cxn>
              <a:cxn ang="0">
                <a:pos x="20" y="49"/>
              </a:cxn>
              <a:cxn ang="0">
                <a:pos x="25" y="46"/>
              </a:cxn>
              <a:cxn ang="0">
                <a:pos x="25" y="41"/>
              </a:cxn>
              <a:cxn ang="0">
                <a:pos x="25" y="36"/>
              </a:cxn>
              <a:cxn ang="0">
                <a:pos x="16" y="30"/>
              </a:cxn>
              <a:cxn ang="0">
                <a:pos x="25" y="36"/>
              </a:cxn>
              <a:cxn ang="0">
                <a:pos x="16" y="25"/>
              </a:cxn>
              <a:cxn ang="0">
                <a:pos x="25" y="19"/>
              </a:cxn>
              <a:cxn ang="0">
                <a:pos x="25" y="14"/>
              </a:cxn>
              <a:cxn ang="0">
                <a:pos x="25" y="10"/>
              </a:cxn>
              <a:cxn ang="0">
                <a:pos x="48" y="19"/>
              </a:cxn>
              <a:cxn ang="0">
                <a:pos x="45" y="25"/>
              </a:cxn>
              <a:cxn ang="0">
                <a:pos x="48" y="19"/>
              </a:cxn>
              <a:cxn ang="0">
                <a:pos x="41" y="14"/>
              </a:cxn>
              <a:cxn ang="0">
                <a:pos x="45" y="14"/>
              </a:cxn>
              <a:cxn ang="0">
                <a:pos x="34" y="14"/>
              </a:cxn>
              <a:cxn ang="0">
                <a:pos x="30" y="10"/>
              </a:cxn>
              <a:cxn ang="0">
                <a:pos x="38" y="19"/>
              </a:cxn>
              <a:cxn ang="0">
                <a:pos x="30" y="25"/>
              </a:cxn>
              <a:cxn ang="0">
                <a:pos x="30" y="30"/>
              </a:cxn>
              <a:cxn ang="0">
                <a:pos x="38" y="36"/>
              </a:cxn>
              <a:cxn ang="0">
                <a:pos x="30" y="30"/>
              </a:cxn>
              <a:cxn ang="0">
                <a:pos x="30" y="41"/>
              </a:cxn>
              <a:cxn ang="0">
                <a:pos x="30" y="46"/>
              </a:cxn>
              <a:cxn ang="0">
                <a:pos x="41" y="41"/>
              </a:cxn>
              <a:cxn ang="0">
                <a:pos x="35" y="49"/>
              </a:cxn>
              <a:cxn ang="0">
                <a:pos x="45" y="30"/>
              </a:cxn>
              <a:cxn ang="0">
                <a:pos x="49" y="36"/>
              </a:cxn>
            </a:cxnLst>
            <a:rect l="0" t="0" r="r" b="b"/>
            <a:pathLst>
              <a:path w="56" h="56">
                <a:moveTo>
                  <a:pt x="46" y="7"/>
                </a:moveTo>
                <a:cubicBezTo>
                  <a:pt x="42" y="4"/>
                  <a:pt x="38" y="1"/>
                  <a:pt x="33" y="1"/>
                </a:cubicBezTo>
                <a:cubicBezTo>
                  <a:pt x="31" y="0"/>
                  <a:pt x="30" y="0"/>
                  <a:pt x="28" y="0"/>
                </a:cubicBezTo>
                <a:cubicBezTo>
                  <a:pt x="26" y="0"/>
                  <a:pt x="24" y="0"/>
                  <a:pt x="22" y="1"/>
                </a:cubicBezTo>
                <a:cubicBezTo>
                  <a:pt x="17" y="1"/>
                  <a:pt x="13" y="4"/>
                  <a:pt x="10" y="7"/>
                </a:cubicBezTo>
                <a:cubicBezTo>
                  <a:pt x="3" y="12"/>
                  <a:pt x="0" y="19"/>
                  <a:pt x="0" y="28"/>
                </a:cubicBezTo>
                <a:cubicBezTo>
                  <a:pt x="0" y="37"/>
                  <a:pt x="3" y="44"/>
                  <a:pt x="10" y="49"/>
                </a:cubicBezTo>
                <a:cubicBezTo>
                  <a:pt x="13" y="52"/>
                  <a:pt x="17" y="55"/>
                  <a:pt x="22" y="55"/>
                </a:cubicBezTo>
                <a:cubicBezTo>
                  <a:pt x="24" y="56"/>
                  <a:pt x="26" y="56"/>
                  <a:pt x="28" y="56"/>
                </a:cubicBezTo>
                <a:cubicBezTo>
                  <a:pt x="30" y="56"/>
                  <a:pt x="31" y="56"/>
                  <a:pt x="33" y="55"/>
                </a:cubicBezTo>
                <a:cubicBezTo>
                  <a:pt x="38" y="55"/>
                  <a:pt x="42" y="52"/>
                  <a:pt x="46" y="49"/>
                </a:cubicBezTo>
                <a:cubicBezTo>
                  <a:pt x="52" y="44"/>
                  <a:pt x="56" y="37"/>
                  <a:pt x="56" y="28"/>
                </a:cubicBezTo>
                <a:cubicBezTo>
                  <a:pt x="56" y="19"/>
                  <a:pt x="52" y="12"/>
                  <a:pt x="46" y="7"/>
                </a:cubicBezTo>
                <a:close/>
                <a:moveTo>
                  <a:pt x="20" y="7"/>
                </a:moveTo>
                <a:cubicBezTo>
                  <a:pt x="18" y="9"/>
                  <a:pt x="16" y="11"/>
                  <a:pt x="14" y="14"/>
                </a:cubicBezTo>
                <a:cubicBezTo>
                  <a:pt x="10" y="14"/>
                  <a:pt x="10" y="14"/>
                  <a:pt x="10" y="14"/>
                </a:cubicBezTo>
                <a:cubicBezTo>
                  <a:pt x="13" y="11"/>
                  <a:pt x="16" y="8"/>
                  <a:pt x="20" y="7"/>
                </a:cubicBezTo>
                <a:close/>
                <a:moveTo>
                  <a:pt x="7" y="19"/>
                </a:moveTo>
                <a:cubicBezTo>
                  <a:pt x="12" y="19"/>
                  <a:pt x="12" y="19"/>
                  <a:pt x="12" y="19"/>
                </a:cubicBezTo>
                <a:cubicBezTo>
                  <a:pt x="11" y="21"/>
                  <a:pt x="11" y="23"/>
                  <a:pt x="11" y="25"/>
                </a:cubicBezTo>
                <a:cubicBezTo>
                  <a:pt x="5" y="25"/>
                  <a:pt x="5" y="25"/>
                  <a:pt x="5" y="25"/>
                </a:cubicBezTo>
                <a:cubicBezTo>
                  <a:pt x="6" y="23"/>
                  <a:pt x="6" y="21"/>
                  <a:pt x="7" y="19"/>
                </a:cubicBezTo>
                <a:close/>
                <a:moveTo>
                  <a:pt x="6" y="36"/>
                </a:moveTo>
                <a:cubicBezTo>
                  <a:pt x="6" y="34"/>
                  <a:pt x="5" y="32"/>
                  <a:pt x="5" y="30"/>
                </a:cubicBezTo>
                <a:cubicBezTo>
                  <a:pt x="11" y="30"/>
                  <a:pt x="11" y="30"/>
                  <a:pt x="11" y="30"/>
                </a:cubicBezTo>
                <a:cubicBezTo>
                  <a:pt x="11" y="32"/>
                  <a:pt x="11" y="34"/>
                  <a:pt x="12" y="36"/>
                </a:cubicBezTo>
                <a:lnTo>
                  <a:pt x="6" y="36"/>
                </a:lnTo>
                <a:close/>
                <a:moveTo>
                  <a:pt x="9" y="41"/>
                </a:moveTo>
                <a:cubicBezTo>
                  <a:pt x="14" y="41"/>
                  <a:pt x="14" y="41"/>
                  <a:pt x="14" y="41"/>
                </a:cubicBezTo>
                <a:cubicBezTo>
                  <a:pt x="16" y="44"/>
                  <a:pt x="18" y="47"/>
                  <a:pt x="20" y="49"/>
                </a:cubicBezTo>
                <a:cubicBezTo>
                  <a:pt x="16" y="48"/>
                  <a:pt x="12" y="45"/>
                  <a:pt x="9" y="41"/>
                </a:cubicBezTo>
                <a:close/>
                <a:moveTo>
                  <a:pt x="25" y="46"/>
                </a:moveTo>
                <a:cubicBezTo>
                  <a:pt x="23" y="45"/>
                  <a:pt x="22" y="43"/>
                  <a:pt x="20" y="41"/>
                </a:cubicBezTo>
                <a:cubicBezTo>
                  <a:pt x="25" y="41"/>
                  <a:pt x="25" y="41"/>
                  <a:pt x="25" y="41"/>
                </a:cubicBezTo>
                <a:lnTo>
                  <a:pt x="25" y="46"/>
                </a:lnTo>
                <a:close/>
                <a:moveTo>
                  <a:pt x="25" y="36"/>
                </a:moveTo>
                <a:cubicBezTo>
                  <a:pt x="17" y="36"/>
                  <a:pt x="17" y="36"/>
                  <a:pt x="17" y="36"/>
                </a:cubicBezTo>
                <a:cubicBezTo>
                  <a:pt x="17" y="34"/>
                  <a:pt x="16" y="32"/>
                  <a:pt x="16" y="30"/>
                </a:cubicBezTo>
                <a:cubicBezTo>
                  <a:pt x="25" y="30"/>
                  <a:pt x="25" y="30"/>
                  <a:pt x="25" y="30"/>
                </a:cubicBezTo>
                <a:lnTo>
                  <a:pt x="25" y="36"/>
                </a:lnTo>
                <a:close/>
                <a:moveTo>
                  <a:pt x="25" y="25"/>
                </a:moveTo>
                <a:cubicBezTo>
                  <a:pt x="16" y="25"/>
                  <a:pt x="16" y="25"/>
                  <a:pt x="16" y="25"/>
                </a:cubicBezTo>
                <a:cubicBezTo>
                  <a:pt x="17" y="23"/>
                  <a:pt x="17" y="21"/>
                  <a:pt x="18" y="19"/>
                </a:cubicBezTo>
                <a:cubicBezTo>
                  <a:pt x="25" y="19"/>
                  <a:pt x="25" y="19"/>
                  <a:pt x="25" y="19"/>
                </a:cubicBezTo>
                <a:lnTo>
                  <a:pt x="25" y="25"/>
                </a:lnTo>
                <a:close/>
                <a:moveTo>
                  <a:pt x="25" y="14"/>
                </a:moveTo>
                <a:cubicBezTo>
                  <a:pt x="21" y="14"/>
                  <a:pt x="21" y="14"/>
                  <a:pt x="21" y="14"/>
                </a:cubicBezTo>
                <a:cubicBezTo>
                  <a:pt x="22" y="12"/>
                  <a:pt x="23" y="11"/>
                  <a:pt x="25" y="10"/>
                </a:cubicBezTo>
                <a:lnTo>
                  <a:pt x="25" y="14"/>
                </a:lnTo>
                <a:close/>
                <a:moveTo>
                  <a:pt x="48" y="19"/>
                </a:moveTo>
                <a:cubicBezTo>
                  <a:pt x="49" y="21"/>
                  <a:pt x="50" y="23"/>
                  <a:pt x="50" y="25"/>
                </a:cubicBezTo>
                <a:cubicBezTo>
                  <a:pt x="45" y="25"/>
                  <a:pt x="45" y="25"/>
                  <a:pt x="45" y="25"/>
                </a:cubicBezTo>
                <a:cubicBezTo>
                  <a:pt x="44" y="23"/>
                  <a:pt x="44" y="21"/>
                  <a:pt x="43" y="19"/>
                </a:cubicBezTo>
                <a:lnTo>
                  <a:pt x="48" y="19"/>
                </a:lnTo>
                <a:close/>
                <a:moveTo>
                  <a:pt x="45" y="14"/>
                </a:moveTo>
                <a:cubicBezTo>
                  <a:pt x="41" y="14"/>
                  <a:pt x="41" y="14"/>
                  <a:pt x="41" y="14"/>
                </a:cubicBezTo>
                <a:cubicBezTo>
                  <a:pt x="39" y="11"/>
                  <a:pt x="37" y="9"/>
                  <a:pt x="35" y="7"/>
                </a:cubicBezTo>
                <a:cubicBezTo>
                  <a:pt x="39" y="8"/>
                  <a:pt x="42" y="11"/>
                  <a:pt x="45" y="14"/>
                </a:cubicBezTo>
                <a:close/>
                <a:moveTo>
                  <a:pt x="30" y="10"/>
                </a:moveTo>
                <a:cubicBezTo>
                  <a:pt x="32" y="11"/>
                  <a:pt x="33" y="12"/>
                  <a:pt x="34" y="14"/>
                </a:cubicBezTo>
                <a:cubicBezTo>
                  <a:pt x="30" y="14"/>
                  <a:pt x="30" y="14"/>
                  <a:pt x="30" y="14"/>
                </a:cubicBezTo>
                <a:lnTo>
                  <a:pt x="30" y="10"/>
                </a:lnTo>
                <a:close/>
                <a:moveTo>
                  <a:pt x="30" y="19"/>
                </a:moveTo>
                <a:cubicBezTo>
                  <a:pt x="38" y="19"/>
                  <a:pt x="38" y="19"/>
                  <a:pt x="38" y="19"/>
                </a:cubicBezTo>
                <a:cubicBezTo>
                  <a:pt x="38" y="21"/>
                  <a:pt x="39" y="23"/>
                  <a:pt x="39" y="25"/>
                </a:cubicBezTo>
                <a:cubicBezTo>
                  <a:pt x="30" y="25"/>
                  <a:pt x="30" y="25"/>
                  <a:pt x="30" y="25"/>
                </a:cubicBezTo>
                <a:lnTo>
                  <a:pt x="30" y="19"/>
                </a:lnTo>
                <a:close/>
                <a:moveTo>
                  <a:pt x="30" y="30"/>
                </a:moveTo>
                <a:cubicBezTo>
                  <a:pt x="39" y="30"/>
                  <a:pt x="39" y="30"/>
                  <a:pt x="39" y="30"/>
                </a:cubicBezTo>
                <a:cubicBezTo>
                  <a:pt x="39" y="32"/>
                  <a:pt x="39" y="34"/>
                  <a:pt x="38" y="36"/>
                </a:cubicBezTo>
                <a:cubicBezTo>
                  <a:pt x="30" y="36"/>
                  <a:pt x="30" y="36"/>
                  <a:pt x="30" y="36"/>
                </a:cubicBezTo>
                <a:lnTo>
                  <a:pt x="30" y="30"/>
                </a:lnTo>
                <a:close/>
                <a:moveTo>
                  <a:pt x="30" y="46"/>
                </a:moveTo>
                <a:cubicBezTo>
                  <a:pt x="30" y="41"/>
                  <a:pt x="30" y="41"/>
                  <a:pt x="30" y="41"/>
                </a:cubicBezTo>
                <a:cubicBezTo>
                  <a:pt x="35" y="41"/>
                  <a:pt x="35" y="41"/>
                  <a:pt x="35" y="41"/>
                </a:cubicBezTo>
                <a:cubicBezTo>
                  <a:pt x="34" y="43"/>
                  <a:pt x="32" y="45"/>
                  <a:pt x="30" y="46"/>
                </a:cubicBezTo>
                <a:close/>
                <a:moveTo>
                  <a:pt x="35" y="49"/>
                </a:moveTo>
                <a:cubicBezTo>
                  <a:pt x="38" y="47"/>
                  <a:pt x="40" y="44"/>
                  <a:pt x="41" y="41"/>
                </a:cubicBezTo>
                <a:cubicBezTo>
                  <a:pt x="46" y="41"/>
                  <a:pt x="46" y="41"/>
                  <a:pt x="46" y="41"/>
                </a:cubicBezTo>
                <a:cubicBezTo>
                  <a:pt x="43" y="45"/>
                  <a:pt x="39" y="48"/>
                  <a:pt x="35" y="49"/>
                </a:cubicBezTo>
                <a:close/>
                <a:moveTo>
                  <a:pt x="44" y="36"/>
                </a:moveTo>
                <a:cubicBezTo>
                  <a:pt x="44" y="34"/>
                  <a:pt x="44" y="32"/>
                  <a:pt x="45" y="30"/>
                </a:cubicBezTo>
                <a:cubicBezTo>
                  <a:pt x="50" y="30"/>
                  <a:pt x="50" y="30"/>
                  <a:pt x="50" y="30"/>
                </a:cubicBezTo>
                <a:cubicBezTo>
                  <a:pt x="50" y="32"/>
                  <a:pt x="49" y="34"/>
                  <a:pt x="49" y="36"/>
                </a:cubicBezTo>
                <a:lnTo>
                  <a:pt x="44" y="36"/>
                </a:lnTo>
                <a:close/>
              </a:path>
            </a:pathLst>
          </a:custGeom>
          <a:solidFill>
            <a:srgbClr val="C00000"/>
          </a:solidFill>
          <a:ln w="9525">
            <a:solidFill>
              <a:schemeClr val="bg1"/>
            </a:solidFill>
            <a:round/>
            <a:headEnd/>
            <a:tailEn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微软雅黑"/>
              <a:cs typeface="+mn-cs"/>
            </a:endParaRPr>
          </a:p>
        </p:txBody>
      </p:sp>
      <p:sp>
        <p:nvSpPr>
          <p:cNvPr id="11" name="文本框 10"/>
          <p:cNvSpPr txBox="1"/>
          <p:nvPr/>
        </p:nvSpPr>
        <p:spPr>
          <a:xfrm>
            <a:off x="1357362" y="2111023"/>
            <a:ext cx="2044312" cy="35086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1400" b="0" i="0" u="none" strike="noStrike" kern="1200" cap="none" spc="0" normalizeH="0" baseline="0" noProof="0" dirty="0" smtClean="0">
                <a:ln>
                  <a:noFill/>
                </a:ln>
                <a:solidFill>
                  <a:prstClr val="black">
                    <a:lumMod val="75000"/>
                    <a:lumOff val="25000"/>
                  </a:prstClr>
                </a:solidFill>
                <a:effectLst/>
                <a:uLnTx/>
                <a:uFillTx/>
                <a:latin typeface="微软雅黑"/>
                <a:ea typeface="微软雅黑"/>
                <a:cs typeface="+mn-cs"/>
              </a:rPr>
              <a:t>MR3 </a:t>
            </a:r>
            <a:r>
              <a:rPr kumimoji="0" lang="zh-CN" altLang="en-US" sz="1400" b="0" i="0" u="none" strike="noStrike" kern="1200" cap="none" spc="0" normalizeH="0" baseline="0" noProof="0" dirty="0" smtClean="0">
                <a:ln>
                  <a:noFill/>
                </a:ln>
                <a:solidFill>
                  <a:prstClr val="black">
                    <a:lumMod val="75000"/>
                    <a:lumOff val="25000"/>
                  </a:prstClr>
                </a:solidFill>
                <a:effectLst/>
                <a:uLnTx/>
                <a:uFillTx/>
                <a:latin typeface="微软雅黑"/>
                <a:ea typeface="微软雅黑"/>
                <a:cs typeface="+mn-cs"/>
              </a:rPr>
              <a:t>管理评审要素</a:t>
            </a:r>
          </a:p>
        </p:txBody>
      </p:sp>
      <p:sp>
        <p:nvSpPr>
          <p:cNvPr id="12" name="圆角矩形 11"/>
          <p:cNvSpPr/>
          <p:nvPr/>
        </p:nvSpPr>
        <p:spPr>
          <a:xfrm>
            <a:off x="6371433" y="2006279"/>
            <a:ext cx="3166138" cy="477835"/>
          </a:xfrm>
          <a:prstGeom prst="roundRect">
            <a:avLst/>
          </a:prstGeom>
          <a:solidFill>
            <a:schemeClr val="bg1">
              <a:lumMod val="85000"/>
            </a:schemeClr>
          </a:solidFill>
          <a:ln>
            <a:solidFill>
              <a:schemeClr val="bg1">
                <a:lumMod val="85000"/>
              </a:schemeClr>
            </a:solidFill>
          </a:ln>
          <a:effectLst>
            <a:reflection blurRad="6350" stA="50000" endA="300" endPos="55000" dir="5400000" sy="-100000" algn="bl" rotWithShape="0"/>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微软雅黑"/>
              <a:cs typeface="+mn-cs"/>
            </a:endParaRPr>
          </a:p>
        </p:txBody>
      </p:sp>
      <p:sp>
        <p:nvSpPr>
          <p:cNvPr id="13" name="文本框 12"/>
          <p:cNvSpPr txBox="1"/>
          <p:nvPr/>
        </p:nvSpPr>
        <p:spPr>
          <a:xfrm>
            <a:off x="6876086" y="2060740"/>
            <a:ext cx="2044312" cy="32893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lang="zh-CN" altLang="en-US" sz="1400" dirty="0">
                <a:solidFill>
                  <a:prstClr val="black">
                    <a:lumMod val="75000"/>
                    <a:lumOff val="25000"/>
                  </a:prstClr>
                </a:solidFill>
                <a:latin typeface="微软雅黑"/>
                <a:ea typeface="微软雅黑"/>
              </a:rPr>
              <a:t>裁剪</a:t>
            </a:r>
            <a:r>
              <a:rPr kumimoji="0" lang="zh-CN" altLang="en-US" sz="1400" b="0" i="0" u="none" strike="noStrike" kern="1200" cap="none" spc="0" normalizeH="0" baseline="0" noProof="0" dirty="0" smtClean="0">
                <a:ln>
                  <a:noFill/>
                </a:ln>
                <a:solidFill>
                  <a:prstClr val="black">
                    <a:lumMod val="75000"/>
                    <a:lumOff val="25000"/>
                  </a:prstClr>
                </a:solidFill>
                <a:effectLst/>
                <a:uLnTx/>
                <a:uFillTx/>
                <a:latin typeface="微软雅黑"/>
                <a:ea typeface="微软雅黑"/>
                <a:cs typeface="+mn-cs"/>
              </a:rPr>
              <a:t>原则</a:t>
            </a:r>
          </a:p>
        </p:txBody>
      </p:sp>
      <p:sp>
        <p:nvSpPr>
          <p:cNvPr id="15" name="任意多边形 30" title="HBOw5gySgy"/>
          <p:cNvSpPr>
            <a:spLocks/>
          </p:cNvSpPr>
          <p:nvPr/>
        </p:nvSpPr>
        <p:spPr bwMode="auto">
          <a:xfrm>
            <a:off x="6456081" y="1990603"/>
            <a:ext cx="420005" cy="454984"/>
          </a:xfrm>
          <a:custGeom>
            <a:avLst/>
            <a:gdLst>
              <a:gd name="connsiteX0" fmla="*/ 179388 w 268288"/>
              <a:gd name="connsiteY0" fmla="*/ 166688 h 338138"/>
              <a:gd name="connsiteX1" fmla="*/ 203200 w 268288"/>
              <a:gd name="connsiteY1" fmla="*/ 190443 h 338138"/>
              <a:gd name="connsiteX2" fmla="*/ 203200 w 268288"/>
              <a:gd name="connsiteY2" fmla="*/ 252471 h 338138"/>
              <a:gd name="connsiteX3" fmla="*/ 179388 w 268288"/>
              <a:gd name="connsiteY3" fmla="*/ 276226 h 338138"/>
              <a:gd name="connsiteX4" fmla="*/ 155575 w 268288"/>
              <a:gd name="connsiteY4" fmla="*/ 252471 h 338138"/>
              <a:gd name="connsiteX5" fmla="*/ 155575 w 268288"/>
              <a:gd name="connsiteY5" fmla="*/ 190443 h 338138"/>
              <a:gd name="connsiteX6" fmla="*/ 179388 w 268288"/>
              <a:gd name="connsiteY6" fmla="*/ 166688 h 338138"/>
              <a:gd name="connsiteX7" fmla="*/ 179388 w 268288"/>
              <a:gd name="connsiteY7" fmla="*/ 150813 h 338138"/>
              <a:gd name="connsiteX8" fmla="*/ 139700 w 268288"/>
              <a:gd name="connsiteY8" fmla="*/ 190427 h 338138"/>
              <a:gd name="connsiteX9" fmla="*/ 139700 w 268288"/>
              <a:gd name="connsiteY9" fmla="*/ 252488 h 338138"/>
              <a:gd name="connsiteX10" fmla="*/ 179388 w 268288"/>
              <a:gd name="connsiteY10" fmla="*/ 292101 h 338138"/>
              <a:gd name="connsiteX11" fmla="*/ 219075 w 268288"/>
              <a:gd name="connsiteY11" fmla="*/ 252488 h 338138"/>
              <a:gd name="connsiteX12" fmla="*/ 219075 w 268288"/>
              <a:gd name="connsiteY12" fmla="*/ 190427 h 338138"/>
              <a:gd name="connsiteX13" fmla="*/ 179388 w 268288"/>
              <a:gd name="connsiteY13" fmla="*/ 150813 h 338138"/>
              <a:gd name="connsiteX14" fmla="*/ 57120 w 268288"/>
              <a:gd name="connsiteY14" fmla="*/ 150813 h 338138"/>
              <a:gd name="connsiteX15" fmla="*/ 49212 w 268288"/>
              <a:gd name="connsiteY15" fmla="*/ 158705 h 338138"/>
              <a:gd name="connsiteX16" fmla="*/ 57120 w 268288"/>
              <a:gd name="connsiteY16" fmla="*/ 166597 h 338138"/>
              <a:gd name="connsiteX17" fmla="*/ 80842 w 268288"/>
              <a:gd name="connsiteY17" fmla="*/ 166597 h 338138"/>
              <a:gd name="connsiteX18" fmla="*/ 103247 w 268288"/>
              <a:gd name="connsiteY18" fmla="*/ 188959 h 338138"/>
              <a:gd name="connsiteX19" fmla="*/ 103247 w 268288"/>
              <a:gd name="connsiteY19" fmla="*/ 190274 h 338138"/>
              <a:gd name="connsiteX20" fmla="*/ 80842 w 268288"/>
              <a:gd name="connsiteY20" fmla="*/ 212635 h 338138"/>
              <a:gd name="connsiteX21" fmla="*/ 57120 w 268288"/>
              <a:gd name="connsiteY21" fmla="*/ 212635 h 338138"/>
              <a:gd name="connsiteX22" fmla="*/ 49212 w 268288"/>
              <a:gd name="connsiteY22" fmla="*/ 220527 h 338138"/>
              <a:gd name="connsiteX23" fmla="*/ 57120 w 268288"/>
              <a:gd name="connsiteY23" fmla="*/ 228419 h 338138"/>
              <a:gd name="connsiteX24" fmla="*/ 80842 w 268288"/>
              <a:gd name="connsiteY24" fmla="*/ 228419 h 338138"/>
              <a:gd name="connsiteX25" fmla="*/ 103247 w 268288"/>
              <a:gd name="connsiteY25" fmla="*/ 250781 h 338138"/>
              <a:gd name="connsiteX26" fmla="*/ 80842 w 268288"/>
              <a:gd name="connsiteY26" fmla="*/ 273142 h 338138"/>
              <a:gd name="connsiteX27" fmla="*/ 57120 w 268288"/>
              <a:gd name="connsiteY27" fmla="*/ 273142 h 338138"/>
              <a:gd name="connsiteX28" fmla="*/ 49212 w 268288"/>
              <a:gd name="connsiteY28" fmla="*/ 281034 h 338138"/>
              <a:gd name="connsiteX29" fmla="*/ 57120 w 268288"/>
              <a:gd name="connsiteY29" fmla="*/ 288926 h 338138"/>
              <a:gd name="connsiteX30" fmla="*/ 80842 w 268288"/>
              <a:gd name="connsiteY30" fmla="*/ 288926 h 338138"/>
              <a:gd name="connsiteX31" fmla="*/ 119062 w 268288"/>
              <a:gd name="connsiteY31" fmla="*/ 250781 h 338138"/>
              <a:gd name="connsiteX32" fmla="*/ 103247 w 268288"/>
              <a:gd name="connsiteY32" fmla="*/ 220527 h 338138"/>
              <a:gd name="connsiteX33" fmla="*/ 119062 w 268288"/>
              <a:gd name="connsiteY33" fmla="*/ 190274 h 338138"/>
              <a:gd name="connsiteX34" fmla="*/ 119062 w 268288"/>
              <a:gd name="connsiteY34" fmla="*/ 188959 h 338138"/>
              <a:gd name="connsiteX35" fmla="*/ 80842 w 268288"/>
              <a:gd name="connsiteY35" fmla="*/ 150813 h 338138"/>
              <a:gd name="connsiteX36" fmla="*/ 57120 w 268288"/>
              <a:gd name="connsiteY36" fmla="*/ 150813 h 338138"/>
              <a:gd name="connsiteX37" fmla="*/ 46099 w 268288"/>
              <a:gd name="connsiteY37" fmla="*/ 47625 h 338138"/>
              <a:gd name="connsiteX38" fmla="*/ 15875 w 268288"/>
              <a:gd name="connsiteY38" fmla="*/ 79629 h 338138"/>
              <a:gd name="connsiteX39" fmla="*/ 15875 w 268288"/>
              <a:gd name="connsiteY39" fmla="*/ 114300 h 338138"/>
              <a:gd name="connsiteX40" fmla="*/ 252413 w 268288"/>
              <a:gd name="connsiteY40" fmla="*/ 114300 h 338138"/>
              <a:gd name="connsiteX41" fmla="*/ 252413 w 268288"/>
              <a:gd name="connsiteY41" fmla="*/ 79629 h 338138"/>
              <a:gd name="connsiteX42" fmla="*/ 222189 w 268288"/>
              <a:gd name="connsiteY42" fmla="*/ 47625 h 338138"/>
              <a:gd name="connsiteX43" fmla="*/ 210362 w 268288"/>
              <a:gd name="connsiteY43" fmla="*/ 47625 h 338138"/>
              <a:gd name="connsiteX44" fmla="*/ 210362 w 268288"/>
              <a:gd name="connsiteY44" fmla="*/ 71628 h 338138"/>
              <a:gd name="connsiteX45" fmla="*/ 202477 w 268288"/>
              <a:gd name="connsiteY45" fmla="*/ 79629 h 338138"/>
              <a:gd name="connsiteX46" fmla="*/ 194593 w 268288"/>
              <a:gd name="connsiteY46" fmla="*/ 71628 h 338138"/>
              <a:gd name="connsiteX47" fmla="*/ 194593 w 268288"/>
              <a:gd name="connsiteY47" fmla="*/ 47625 h 338138"/>
              <a:gd name="connsiteX48" fmla="*/ 73696 w 268288"/>
              <a:gd name="connsiteY48" fmla="*/ 47625 h 338138"/>
              <a:gd name="connsiteX49" fmla="*/ 73696 w 268288"/>
              <a:gd name="connsiteY49" fmla="*/ 71628 h 338138"/>
              <a:gd name="connsiteX50" fmla="*/ 65811 w 268288"/>
              <a:gd name="connsiteY50" fmla="*/ 79629 h 338138"/>
              <a:gd name="connsiteX51" fmla="*/ 57926 w 268288"/>
              <a:gd name="connsiteY51" fmla="*/ 71628 h 338138"/>
              <a:gd name="connsiteX52" fmla="*/ 57926 w 268288"/>
              <a:gd name="connsiteY52" fmla="*/ 47625 h 338138"/>
              <a:gd name="connsiteX53" fmla="*/ 46099 w 268288"/>
              <a:gd name="connsiteY53" fmla="*/ 47625 h 338138"/>
              <a:gd name="connsiteX54" fmla="*/ 65757 w 268288"/>
              <a:gd name="connsiteY54" fmla="*/ 0 h 338138"/>
              <a:gd name="connsiteX55" fmla="*/ 73648 w 268288"/>
              <a:gd name="connsiteY55" fmla="*/ 7925 h 338138"/>
              <a:gd name="connsiteX56" fmla="*/ 73648 w 268288"/>
              <a:gd name="connsiteY56" fmla="*/ 31700 h 338138"/>
              <a:gd name="connsiteX57" fmla="*/ 194640 w 268288"/>
              <a:gd name="connsiteY57" fmla="*/ 31700 h 338138"/>
              <a:gd name="connsiteX58" fmla="*/ 194640 w 268288"/>
              <a:gd name="connsiteY58" fmla="*/ 7925 h 338138"/>
              <a:gd name="connsiteX59" fmla="*/ 202531 w 268288"/>
              <a:gd name="connsiteY59" fmla="*/ 0 h 338138"/>
              <a:gd name="connsiteX60" fmla="*/ 210422 w 268288"/>
              <a:gd name="connsiteY60" fmla="*/ 7925 h 338138"/>
              <a:gd name="connsiteX61" fmla="*/ 210422 w 268288"/>
              <a:gd name="connsiteY61" fmla="*/ 31700 h 338138"/>
              <a:gd name="connsiteX62" fmla="*/ 222258 w 268288"/>
              <a:gd name="connsiteY62" fmla="*/ 31700 h 338138"/>
              <a:gd name="connsiteX63" fmla="*/ 268288 w 268288"/>
              <a:gd name="connsiteY63" fmla="*/ 79251 h 338138"/>
              <a:gd name="connsiteX64" fmla="*/ 268288 w 268288"/>
              <a:gd name="connsiteY64" fmla="*/ 290587 h 338138"/>
              <a:gd name="connsiteX65" fmla="*/ 222258 w 268288"/>
              <a:gd name="connsiteY65" fmla="*/ 338138 h 338138"/>
              <a:gd name="connsiteX66" fmla="*/ 46030 w 268288"/>
              <a:gd name="connsiteY66" fmla="*/ 338138 h 338138"/>
              <a:gd name="connsiteX67" fmla="*/ 0 w 268288"/>
              <a:gd name="connsiteY67" fmla="*/ 290587 h 338138"/>
              <a:gd name="connsiteX68" fmla="*/ 0 w 268288"/>
              <a:gd name="connsiteY68" fmla="*/ 79251 h 338138"/>
              <a:gd name="connsiteX69" fmla="*/ 46030 w 268288"/>
              <a:gd name="connsiteY69" fmla="*/ 31700 h 338138"/>
              <a:gd name="connsiteX70" fmla="*/ 57866 w 268288"/>
              <a:gd name="connsiteY70" fmla="*/ 31700 h 338138"/>
              <a:gd name="connsiteX71" fmla="*/ 57866 w 268288"/>
              <a:gd name="connsiteY71" fmla="*/ 7925 h 338138"/>
              <a:gd name="connsiteX72" fmla="*/ 65757 w 268288"/>
              <a:gd name="connsiteY72"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268288" h="338138">
                <a:moveTo>
                  <a:pt x="179388" y="166688"/>
                </a:moveTo>
                <a:cubicBezTo>
                  <a:pt x="192617" y="166688"/>
                  <a:pt x="203200" y="177246"/>
                  <a:pt x="203200" y="190443"/>
                </a:cubicBezTo>
                <a:cubicBezTo>
                  <a:pt x="203200" y="252471"/>
                  <a:pt x="203200" y="252471"/>
                  <a:pt x="203200" y="252471"/>
                </a:cubicBezTo>
                <a:cubicBezTo>
                  <a:pt x="203200" y="265668"/>
                  <a:pt x="192617" y="276226"/>
                  <a:pt x="179388" y="276226"/>
                </a:cubicBezTo>
                <a:cubicBezTo>
                  <a:pt x="166158" y="276226"/>
                  <a:pt x="155575" y="265668"/>
                  <a:pt x="155575" y="252471"/>
                </a:cubicBezTo>
                <a:cubicBezTo>
                  <a:pt x="155575" y="190443"/>
                  <a:pt x="155575" y="190443"/>
                  <a:pt x="155575" y="190443"/>
                </a:cubicBezTo>
                <a:cubicBezTo>
                  <a:pt x="155575" y="177246"/>
                  <a:pt x="166158" y="166688"/>
                  <a:pt x="179388" y="166688"/>
                </a:cubicBezTo>
                <a:close/>
                <a:moveTo>
                  <a:pt x="179388" y="150813"/>
                </a:moveTo>
                <a:cubicBezTo>
                  <a:pt x="158221" y="150813"/>
                  <a:pt x="139700" y="169299"/>
                  <a:pt x="139700" y="190427"/>
                </a:cubicBezTo>
                <a:cubicBezTo>
                  <a:pt x="139700" y="252488"/>
                  <a:pt x="139700" y="252488"/>
                  <a:pt x="139700" y="252488"/>
                </a:cubicBezTo>
                <a:cubicBezTo>
                  <a:pt x="139700" y="273615"/>
                  <a:pt x="158221" y="292101"/>
                  <a:pt x="179388" y="292101"/>
                </a:cubicBezTo>
                <a:cubicBezTo>
                  <a:pt x="201877" y="292101"/>
                  <a:pt x="219075" y="273615"/>
                  <a:pt x="219075" y="252488"/>
                </a:cubicBezTo>
                <a:lnTo>
                  <a:pt x="219075" y="190427"/>
                </a:lnTo>
                <a:cubicBezTo>
                  <a:pt x="219075" y="169299"/>
                  <a:pt x="201877" y="150813"/>
                  <a:pt x="179388" y="150813"/>
                </a:cubicBezTo>
                <a:close/>
                <a:moveTo>
                  <a:pt x="57120" y="150813"/>
                </a:moveTo>
                <a:cubicBezTo>
                  <a:pt x="51848" y="150813"/>
                  <a:pt x="49212" y="154759"/>
                  <a:pt x="49212" y="158705"/>
                </a:cubicBezTo>
                <a:cubicBezTo>
                  <a:pt x="49212" y="163967"/>
                  <a:pt x="51848" y="166597"/>
                  <a:pt x="57120" y="166597"/>
                </a:cubicBezTo>
                <a:cubicBezTo>
                  <a:pt x="80842" y="166597"/>
                  <a:pt x="80842" y="166597"/>
                  <a:pt x="80842" y="166597"/>
                </a:cubicBezTo>
                <a:cubicBezTo>
                  <a:pt x="92704" y="166597"/>
                  <a:pt x="103247" y="177120"/>
                  <a:pt x="103247" y="188959"/>
                </a:cubicBezTo>
                <a:cubicBezTo>
                  <a:pt x="103247" y="190274"/>
                  <a:pt x="103247" y="190274"/>
                  <a:pt x="103247" y="190274"/>
                </a:cubicBezTo>
                <a:cubicBezTo>
                  <a:pt x="103247" y="202112"/>
                  <a:pt x="92704" y="212635"/>
                  <a:pt x="80842" y="212635"/>
                </a:cubicBezTo>
                <a:cubicBezTo>
                  <a:pt x="57120" y="212635"/>
                  <a:pt x="57120" y="212635"/>
                  <a:pt x="57120" y="212635"/>
                </a:cubicBezTo>
                <a:cubicBezTo>
                  <a:pt x="51848" y="212635"/>
                  <a:pt x="49212" y="215266"/>
                  <a:pt x="49212" y="220527"/>
                </a:cubicBezTo>
                <a:cubicBezTo>
                  <a:pt x="49212" y="224473"/>
                  <a:pt x="51848" y="228419"/>
                  <a:pt x="57120" y="228419"/>
                </a:cubicBezTo>
                <a:cubicBezTo>
                  <a:pt x="80842" y="228419"/>
                  <a:pt x="80842" y="228419"/>
                  <a:pt x="80842" y="228419"/>
                </a:cubicBezTo>
                <a:cubicBezTo>
                  <a:pt x="92704" y="228419"/>
                  <a:pt x="103247" y="237627"/>
                  <a:pt x="103247" y="250781"/>
                </a:cubicBezTo>
                <a:cubicBezTo>
                  <a:pt x="103247" y="263934"/>
                  <a:pt x="92704" y="273142"/>
                  <a:pt x="80842" y="273142"/>
                </a:cubicBezTo>
                <a:cubicBezTo>
                  <a:pt x="57120" y="273142"/>
                  <a:pt x="57120" y="273142"/>
                  <a:pt x="57120" y="273142"/>
                </a:cubicBezTo>
                <a:cubicBezTo>
                  <a:pt x="51848" y="273142"/>
                  <a:pt x="49212" y="277088"/>
                  <a:pt x="49212" y="281034"/>
                </a:cubicBezTo>
                <a:cubicBezTo>
                  <a:pt x="49212" y="284980"/>
                  <a:pt x="51848" y="288926"/>
                  <a:pt x="57120" y="288926"/>
                </a:cubicBezTo>
                <a:cubicBezTo>
                  <a:pt x="80842" y="288926"/>
                  <a:pt x="80842" y="288926"/>
                  <a:pt x="80842" y="288926"/>
                </a:cubicBezTo>
                <a:cubicBezTo>
                  <a:pt x="101929" y="288926"/>
                  <a:pt x="119062" y="271826"/>
                  <a:pt x="119062" y="250781"/>
                </a:cubicBezTo>
                <a:cubicBezTo>
                  <a:pt x="119062" y="237627"/>
                  <a:pt x="112473" y="227104"/>
                  <a:pt x="103247" y="220527"/>
                </a:cubicBezTo>
                <a:cubicBezTo>
                  <a:pt x="112473" y="212635"/>
                  <a:pt x="119062" y="202112"/>
                  <a:pt x="119062" y="190274"/>
                </a:cubicBezTo>
                <a:lnTo>
                  <a:pt x="119062" y="188959"/>
                </a:lnTo>
                <a:cubicBezTo>
                  <a:pt x="119062" y="167913"/>
                  <a:pt x="101929" y="150813"/>
                  <a:pt x="80842" y="150813"/>
                </a:cubicBezTo>
                <a:cubicBezTo>
                  <a:pt x="57120" y="150813"/>
                  <a:pt x="57120" y="150813"/>
                  <a:pt x="57120" y="150813"/>
                </a:cubicBezTo>
                <a:close/>
                <a:moveTo>
                  <a:pt x="46099" y="47625"/>
                </a:moveTo>
                <a:cubicBezTo>
                  <a:pt x="29016" y="47625"/>
                  <a:pt x="15875" y="62294"/>
                  <a:pt x="15875" y="79629"/>
                </a:cubicBezTo>
                <a:cubicBezTo>
                  <a:pt x="15875" y="114300"/>
                  <a:pt x="15875" y="114300"/>
                  <a:pt x="15875" y="114300"/>
                </a:cubicBezTo>
                <a:cubicBezTo>
                  <a:pt x="252413" y="114300"/>
                  <a:pt x="252413" y="114300"/>
                  <a:pt x="252413" y="114300"/>
                </a:cubicBezTo>
                <a:lnTo>
                  <a:pt x="252413" y="79629"/>
                </a:lnTo>
                <a:cubicBezTo>
                  <a:pt x="252413" y="62294"/>
                  <a:pt x="239272" y="47625"/>
                  <a:pt x="222189" y="47625"/>
                </a:cubicBezTo>
                <a:cubicBezTo>
                  <a:pt x="210362" y="47625"/>
                  <a:pt x="210362" y="47625"/>
                  <a:pt x="210362" y="47625"/>
                </a:cubicBezTo>
                <a:cubicBezTo>
                  <a:pt x="210362" y="71628"/>
                  <a:pt x="210362" y="71628"/>
                  <a:pt x="210362" y="71628"/>
                </a:cubicBezTo>
                <a:cubicBezTo>
                  <a:pt x="210362" y="75629"/>
                  <a:pt x="206420" y="79629"/>
                  <a:pt x="202477" y="79629"/>
                </a:cubicBezTo>
                <a:cubicBezTo>
                  <a:pt x="197221" y="79629"/>
                  <a:pt x="194593" y="75629"/>
                  <a:pt x="194593" y="71628"/>
                </a:cubicBezTo>
                <a:cubicBezTo>
                  <a:pt x="194593" y="47625"/>
                  <a:pt x="194593" y="47625"/>
                  <a:pt x="194593" y="47625"/>
                </a:cubicBezTo>
                <a:cubicBezTo>
                  <a:pt x="73696" y="47625"/>
                  <a:pt x="73696" y="47625"/>
                  <a:pt x="73696" y="47625"/>
                </a:cubicBezTo>
                <a:cubicBezTo>
                  <a:pt x="73696" y="71628"/>
                  <a:pt x="73696" y="71628"/>
                  <a:pt x="73696" y="71628"/>
                </a:cubicBezTo>
                <a:cubicBezTo>
                  <a:pt x="73696" y="75629"/>
                  <a:pt x="71067" y="79629"/>
                  <a:pt x="65811" y="79629"/>
                </a:cubicBezTo>
                <a:cubicBezTo>
                  <a:pt x="61869" y="79629"/>
                  <a:pt x="57926" y="75629"/>
                  <a:pt x="57926" y="71628"/>
                </a:cubicBezTo>
                <a:cubicBezTo>
                  <a:pt x="57926" y="47625"/>
                  <a:pt x="57926" y="47625"/>
                  <a:pt x="57926" y="47625"/>
                </a:cubicBezTo>
                <a:cubicBezTo>
                  <a:pt x="46099" y="47625"/>
                  <a:pt x="46099" y="47625"/>
                  <a:pt x="46099" y="47625"/>
                </a:cubicBezTo>
                <a:close/>
                <a:moveTo>
                  <a:pt x="65757" y="0"/>
                </a:moveTo>
                <a:cubicBezTo>
                  <a:pt x="71018" y="0"/>
                  <a:pt x="73648" y="3962"/>
                  <a:pt x="73648" y="7925"/>
                </a:cubicBezTo>
                <a:cubicBezTo>
                  <a:pt x="73648" y="31700"/>
                  <a:pt x="73648" y="31700"/>
                  <a:pt x="73648" y="31700"/>
                </a:cubicBezTo>
                <a:cubicBezTo>
                  <a:pt x="194640" y="31700"/>
                  <a:pt x="194640" y="31700"/>
                  <a:pt x="194640" y="31700"/>
                </a:cubicBezTo>
                <a:cubicBezTo>
                  <a:pt x="194640" y="7925"/>
                  <a:pt x="194640" y="7925"/>
                  <a:pt x="194640" y="7925"/>
                </a:cubicBezTo>
                <a:cubicBezTo>
                  <a:pt x="194640" y="3962"/>
                  <a:pt x="197271" y="0"/>
                  <a:pt x="202531" y="0"/>
                </a:cubicBezTo>
                <a:cubicBezTo>
                  <a:pt x="206477" y="0"/>
                  <a:pt x="210422" y="3962"/>
                  <a:pt x="210422" y="7925"/>
                </a:cubicBezTo>
                <a:cubicBezTo>
                  <a:pt x="210422" y="31700"/>
                  <a:pt x="210422" y="31700"/>
                  <a:pt x="210422" y="31700"/>
                </a:cubicBezTo>
                <a:cubicBezTo>
                  <a:pt x="222258" y="31700"/>
                  <a:pt x="222258" y="31700"/>
                  <a:pt x="222258" y="31700"/>
                </a:cubicBezTo>
                <a:cubicBezTo>
                  <a:pt x="247246" y="31700"/>
                  <a:pt x="268288" y="52834"/>
                  <a:pt x="268288" y="79251"/>
                </a:cubicBezTo>
                <a:cubicBezTo>
                  <a:pt x="268288" y="290587"/>
                  <a:pt x="268288" y="290587"/>
                  <a:pt x="268288" y="290587"/>
                </a:cubicBezTo>
                <a:cubicBezTo>
                  <a:pt x="268288" y="317005"/>
                  <a:pt x="247246" y="338138"/>
                  <a:pt x="222258" y="338138"/>
                </a:cubicBezTo>
                <a:cubicBezTo>
                  <a:pt x="46030" y="338138"/>
                  <a:pt x="46030" y="338138"/>
                  <a:pt x="46030" y="338138"/>
                </a:cubicBezTo>
                <a:cubicBezTo>
                  <a:pt x="21042" y="338138"/>
                  <a:pt x="0" y="317005"/>
                  <a:pt x="0" y="290587"/>
                </a:cubicBezTo>
                <a:cubicBezTo>
                  <a:pt x="0" y="79251"/>
                  <a:pt x="0" y="79251"/>
                  <a:pt x="0" y="79251"/>
                </a:cubicBezTo>
                <a:cubicBezTo>
                  <a:pt x="0" y="52834"/>
                  <a:pt x="21042" y="31700"/>
                  <a:pt x="46030" y="31700"/>
                </a:cubicBezTo>
                <a:cubicBezTo>
                  <a:pt x="57866" y="31700"/>
                  <a:pt x="57866" y="31700"/>
                  <a:pt x="57866" y="31700"/>
                </a:cubicBezTo>
                <a:cubicBezTo>
                  <a:pt x="57866" y="7925"/>
                  <a:pt x="57866" y="7925"/>
                  <a:pt x="57866" y="7925"/>
                </a:cubicBezTo>
                <a:cubicBezTo>
                  <a:pt x="57866" y="3962"/>
                  <a:pt x="61812" y="0"/>
                  <a:pt x="65757" y="0"/>
                </a:cubicBezTo>
                <a:close/>
              </a:path>
            </a:pathLst>
          </a:custGeom>
          <a:solidFill>
            <a:srgbClr val="C00000"/>
          </a:solidFill>
          <a:ln>
            <a:solidFill>
              <a:srgbClr val="C00000"/>
            </a:solidFill>
          </a:ln>
          <a:ex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微软雅黑"/>
              <a:cs typeface="+mn-cs"/>
            </a:endParaRPr>
          </a:p>
        </p:txBody>
      </p:sp>
      <p:sp>
        <p:nvSpPr>
          <p:cNvPr id="19" name="文本框 18"/>
          <p:cNvSpPr txBox="1"/>
          <p:nvPr/>
        </p:nvSpPr>
        <p:spPr>
          <a:xfrm>
            <a:off x="10231111" y="2972344"/>
            <a:ext cx="1701631" cy="2862322"/>
          </a:xfrm>
          <a:prstGeom prst="rect">
            <a:avLst/>
          </a:prstGeom>
          <a:noFill/>
        </p:spPr>
        <p:txBody>
          <a:bodyPr wrap="square" rtlCol="0">
            <a:spAutoFit/>
          </a:bodyPr>
          <a:lstStyle/>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altLang="zh-CN" sz="1000" b="0" i="0" u="none" strike="noStrike" kern="1200" cap="none" spc="0" normalizeH="0" baseline="0" noProof="0" dirty="0" smtClean="0">
                <a:ln>
                  <a:noFill/>
                </a:ln>
                <a:solidFill>
                  <a:prstClr val="black">
                    <a:lumMod val="75000"/>
                    <a:lumOff val="25000"/>
                  </a:prstClr>
                </a:solidFill>
                <a:effectLst/>
                <a:uLnTx/>
                <a:uFillTx/>
                <a:latin typeface="微软雅黑"/>
                <a:ea typeface="微软雅黑"/>
                <a:cs typeface="+mn-cs"/>
              </a:rPr>
              <a:t>M-</a:t>
            </a:r>
            <a:r>
              <a:rPr kumimoji="0" lang="zh-CN" altLang="en-US" sz="1000" b="0" i="0" u="none" strike="noStrike" kern="1200" cap="none" spc="0" normalizeH="0" baseline="0" noProof="0" dirty="0" smtClean="0">
                <a:ln>
                  <a:noFill/>
                </a:ln>
                <a:solidFill>
                  <a:prstClr val="black">
                    <a:lumMod val="75000"/>
                    <a:lumOff val="25000"/>
                  </a:prstClr>
                </a:solidFill>
                <a:effectLst/>
                <a:uLnTx/>
                <a:uFillTx/>
                <a:latin typeface="微软雅黑"/>
                <a:ea typeface="微软雅黑"/>
                <a:cs typeface="+mn-cs"/>
              </a:rPr>
              <a:t>强制：必须执行</a:t>
            </a:r>
            <a:endParaRPr kumimoji="0" lang="en-US" altLang="zh-CN" sz="1000" b="0" i="0" u="none" strike="noStrike" kern="1200" cap="none" spc="0" normalizeH="0" baseline="0" noProof="0" dirty="0" smtClean="0">
              <a:ln>
                <a:noFill/>
              </a:ln>
              <a:solidFill>
                <a:prstClr val="black">
                  <a:lumMod val="75000"/>
                  <a:lumOff val="25000"/>
                </a:prstClr>
              </a:solidFill>
              <a:effectLst/>
              <a:uLnTx/>
              <a:uFillTx/>
              <a:latin typeface="微软雅黑"/>
              <a:ea typeface="微软雅黑"/>
              <a:cs typeface="+mn-cs"/>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altLang="zh-CN" sz="1000" b="0" i="0" u="none" strike="noStrike" kern="1200" cap="none" spc="0" normalizeH="0" baseline="0" noProof="0" dirty="0" smtClean="0">
                <a:ln>
                  <a:noFill/>
                </a:ln>
                <a:solidFill>
                  <a:prstClr val="black">
                    <a:lumMod val="75000"/>
                    <a:lumOff val="25000"/>
                  </a:prstClr>
                </a:solidFill>
                <a:effectLst/>
                <a:uLnTx/>
                <a:uFillTx/>
                <a:latin typeface="微软雅黑"/>
                <a:ea typeface="微软雅黑"/>
                <a:cs typeface="+mn-cs"/>
              </a:rPr>
              <a:t>R-</a:t>
            </a:r>
            <a:r>
              <a:rPr kumimoji="0" lang="zh-CN" altLang="en-US" sz="1000" b="0" i="0" u="none" strike="noStrike" kern="1200" cap="none" spc="0" normalizeH="0" baseline="0" noProof="0" dirty="0" smtClean="0">
                <a:ln>
                  <a:noFill/>
                </a:ln>
                <a:solidFill>
                  <a:prstClr val="black">
                    <a:lumMod val="75000"/>
                    <a:lumOff val="25000"/>
                  </a:prstClr>
                </a:solidFill>
                <a:effectLst/>
                <a:uLnTx/>
                <a:uFillTx/>
                <a:latin typeface="微软雅黑"/>
                <a:ea typeface="微软雅黑"/>
                <a:cs typeface="+mn-cs"/>
              </a:rPr>
              <a:t>建议：推荐执行，需给出剪裁原因</a:t>
            </a:r>
            <a:endParaRPr kumimoji="0" lang="en-US" altLang="zh-CN" sz="1000" b="0" i="0" u="none" strike="noStrike" kern="1200" cap="none" spc="0" normalizeH="0" baseline="0" noProof="0" dirty="0" smtClean="0">
              <a:ln>
                <a:noFill/>
              </a:ln>
              <a:solidFill>
                <a:prstClr val="black">
                  <a:lumMod val="75000"/>
                  <a:lumOff val="25000"/>
                </a:prstClr>
              </a:solidFill>
              <a:effectLst/>
              <a:uLnTx/>
              <a:uFillTx/>
              <a:latin typeface="微软雅黑"/>
              <a:ea typeface="微软雅黑"/>
              <a:cs typeface="+mn-cs"/>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000" b="0" i="0" u="none" strike="noStrike" kern="1200" cap="none" spc="0" normalizeH="0" baseline="0" noProof="0" dirty="0">
                <a:ln>
                  <a:noFill/>
                </a:ln>
                <a:solidFill>
                  <a:prstClr val="black">
                    <a:lumMod val="75000"/>
                    <a:lumOff val="25000"/>
                  </a:prstClr>
                </a:solidFill>
                <a:effectLst/>
                <a:uLnTx/>
                <a:uFillTx/>
                <a:latin typeface="微软雅黑"/>
                <a:ea typeface="微软雅黑"/>
                <a:cs typeface="+mn-cs"/>
              </a:rPr>
              <a:t>无</a:t>
            </a:r>
            <a:r>
              <a:rPr kumimoji="0" lang="zh-CN" altLang="en-US" sz="1000" b="0" i="0" u="none" strike="noStrike" kern="1200" cap="none" spc="0" normalizeH="0" baseline="0" noProof="0" dirty="0" smtClean="0">
                <a:ln>
                  <a:noFill/>
                </a:ln>
                <a:solidFill>
                  <a:prstClr val="black">
                    <a:lumMod val="75000"/>
                    <a:lumOff val="25000"/>
                  </a:prstClr>
                </a:solidFill>
                <a:effectLst/>
                <a:uLnTx/>
                <a:uFillTx/>
                <a:latin typeface="微软雅黑"/>
                <a:ea typeface="微软雅黑"/>
                <a:cs typeface="+mn-cs"/>
              </a:rPr>
              <a:t>标识</a:t>
            </a:r>
            <a:r>
              <a:rPr kumimoji="0" lang="en-US" altLang="zh-CN" sz="1000" b="0" i="0" u="none" strike="noStrike" kern="1200" cap="none" spc="0" normalizeH="0" baseline="0" noProof="0" dirty="0" smtClean="0">
                <a:ln>
                  <a:noFill/>
                </a:ln>
                <a:solidFill>
                  <a:prstClr val="black">
                    <a:lumMod val="75000"/>
                    <a:lumOff val="25000"/>
                  </a:prstClr>
                </a:solidFill>
                <a:effectLst/>
                <a:uLnTx/>
                <a:uFillTx/>
                <a:latin typeface="微软雅黑"/>
                <a:ea typeface="微软雅黑"/>
                <a:cs typeface="+mn-cs"/>
              </a:rPr>
              <a:t>:</a:t>
            </a:r>
            <a:r>
              <a:rPr kumimoji="0" lang="zh-CN" altLang="en-US" sz="1000" b="0" i="0" u="none" strike="noStrike" kern="1200" cap="none" spc="0" normalizeH="0" baseline="0" noProof="0" dirty="0" smtClean="0">
                <a:ln>
                  <a:noFill/>
                </a:ln>
                <a:solidFill>
                  <a:prstClr val="black">
                    <a:lumMod val="75000"/>
                    <a:lumOff val="25000"/>
                  </a:prstClr>
                </a:solidFill>
                <a:effectLst/>
                <a:uLnTx/>
                <a:uFillTx/>
                <a:latin typeface="微软雅黑"/>
                <a:ea typeface="微软雅黑"/>
                <a:cs typeface="+mn-cs"/>
              </a:rPr>
              <a:t>可直接剪裁</a:t>
            </a:r>
            <a:endParaRPr kumimoji="0" lang="en-US" altLang="zh-CN" sz="1000" b="0" i="0" u="none" strike="noStrike" kern="1200" cap="none" spc="0" normalizeH="0" baseline="0" noProof="0" dirty="0" smtClean="0">
              <a:ln>
                <a:noFill/>
              </a:ln>
              <a:solidFill>
                <a:prstClr val="black">
                  <a:lumMod val="75000"/>
                  <a:lumOff val="25000"/>
                </a:prstClr>
              </a:solidFill>
              <a:effectLst/>
              <a:uLnTx/>
              <a:uFillTx/>
              <a:latin typeface="微软雅黑"/>
              <a:ea typeface="微软雅黑"/>
              <a:cs typeface="+mn-cs"/>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000" b="0" i="0" u="none" strike="noStrike" kern="1200" cap="none" spc="0" normalizeH="0" baseline="0" noProof="0" dirty="0" smtClean="0">
                <a:ln>
                  <a:noFill/>
                </a:ln>
                <a:solidFill>
                  <a:prstClr val="black">
                    <a:lumMod val="75000"/>
                    <a:lumOff val="25000"/>
                  </a:prstClr>
                </a:solidFill>
                <a:effectLst/>
                <a:uLnTx/>
                <a:uFillTx/>
                <a:latin typeface="微软雅黑"/>
                <a:ea typeface="微软雅黑"/>
                <a:cs typeface="+mn-cs"/>
              </a:rPr>
              <a:t>适用性剪裁：项目范围内不涵盖某类活动，则可以剪裁硬件产品设计开发流程中的相应活动</a:t>
            </a:r>
            <a:endParaRPr kumimoji="0" lang="en-US" altLang="zh-CN" sz="1000" b="0" i="0" u="none" strike="noStrike" kern="1200" cap="none" spc="0" normalizeH="0" baseline="0" noProof="0" dirty="0" smtClean="0">
              <a:ln>
                <a:noFill/>
              </a:ln>
              <a:solidFill>
                <a:prstClr val="black">
                  <a:lumMod val="75000"/>
                  <a:lumOff val="25000"/>
                </a:prstClr>
              </a:solidFill>
              <a:effectLst/>
              <a:uLnTx/>
              <a:uFillTx/>
              <a:latin typeface="微软雅黑"/>
              <a:ea typeface="微软雅黑"/>
              <a:cs typeface="+mn-cs"/>
            </a:endParaRPr>
          </a:p>
          <a:p>
            <a:pPr marL="285750" indent="-285750">
              <a:lnSpc>
                <a:spcPct val="120000"/>
              </a:lnSpc>
              <a:buFont typeface="Arial" panose="020B0604020202020204" pitchFamily="34" charset="0"/>
              <a:buChar char="•"/>
              <a:defRPr/>
            </a:pPr>
            <a:r>
              <a:rPr lang="zh-CN" altLang="en-US" sz="1000" dirty="0">
                <a:cs typeface="+mn-ea"/>
                <a:sym typeface="+mn-lt"/>
              </a:rPr>
              <a:t>适用性裁剪：项目范围内不涵盖某类活动，则可以裁剪硬件产品设计开发流程中的相应活动。</a:t>
            </a: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endParaRPr kumimoji="0" lang="zh-CN" altLang="en-US" sz="1000" b="0" i="0" u="none" strike="noStrike" kern="1200" cap="none" spc="0" normalizeH="0" baseline="0" noProof="0" dirty="0" smtClean="0">
              <a:ln>
                <a:noFill/>
              </a:ln>
              <a:solidFill>
                <a:prstClr val="black">
                  <a:lumMod val="75000"/>
                  <a:lumOff val="25000"/>
                </a:prstClr>
              </a:solidFill>
              <a:effectLst/>
              <a:uLnTx/>
              <a:uFillTx/>
              <a:latin typeface="微软雅黑"/>
              <a:ea typeface="微软雅黑"/>
              <a:cs typeface="+mn-cs"/>
            </a:endParaRPr>
          </a:p>
        </p:txBody>
      </p:sp>
      <p:graphicFrame>
        <p:nvGraphicFramePr>
          <p:cNvPr id="14" name="表格 13">
            <a:extLst>
              <a:ext uri="{FF2B5EF4-FFF2-40B4-BE49-F238E27FC236}">
                <a16:creationId xmlns:a16="http://schemas.microsoft.com/office/drawing/2014/main" id="{E169FA72-FCA5-43A8-8353-FAB004E1C8F1}"/>
              </a:ext>
            </a:extLst>
          </p:cNvPr>
          <p:cNvGraphicFramePr>
            <a:graphicFrameLocks noGrp="1"/>
          </p:cNvGraphicFramePr>
          <p:nvPr>
            <p:extLst>
              <p:ext uri="{D42A27DB-BD31-4B8C-83A1-F6EECF244321}">
                <p14:modId xmlns:p14="http://schemas.microsoft.com/office/powerpoint/2010/main" val="3628283408"/>
              </p:ext>
            </p:extLst>
          </p:nvPr>
        </p:nvGraphicFramePr>
        <p:xfrm>
          <a:off x="6456081" y="2594279"/>
          <a:ext cx="4034119" cy="3618452"/>
        </p:xfrm>
        <a:graphic>
          <a:graphicData uri="http://schemas.openxmlformats.org/drawingml/2006/table">
            <a:tbl>
              <a:tblPr>
                <a:tableStyleId>{5C22544A-7EE6-4342-B048-85BDC9FD1C3A}</a:tableStyleId>
              </a:tblPr>
              <a:tblGrid>
                <a:gridCol w="1378159">
                  <a:extLst>
                    <a:ext uri="{9D8B030D-6E8A-4147-A177-3AD203B41FA5}">
                      <a16:colId xmlns:a16="http://schemas.microsoft.com/office/drawing/2014/main" val="1596446604"/>
                    </a:ext>
                  </a:extLst>
                </a:gridCol>
                <a:gridCol w="885320">
                  <a:extLst>
                    <a:ext uri="{9D8B030D-6E8A-4147-A177-3AD203B41FA5}">
                      <a16:colId xmlns:a16="http://schemas.microsoft.com/office/drawing/2014/main" val="1703656589"/>
                    </a:ext>
                  </a:extLst>
                </a:gridCol>
                <a:gridCol w="885320">
                  <a:extLst>
                    <a:ext uri="{9D8B030D-6E8A-4147-A177-3AD203B41FA5}">
                      <a16:colId xmlns:a16="http://schemas.microsoft.com/office/drawing/2014/main" val="2930228736"/>
                    </a:ext>
                  </a:extLst>
                </a:gridCol>
                <a:gridCol w="885320">
                  <a:extLst>
                    <a:ext uri="{9D8B030D-6E8A-4147-A177-3AD203B41FA5}">
                      <a16:colId xmlns:a16="http://schemas.microsoft.com/office/drawing/2014/main" val="153241940"/>
                    </a:ext>
                  </a:extLst>
                </a:gridCol>
              </a:tblGrid>
              <a:tr h="0">
                <a:tc rowSpan="3">
                  <a:txBody>
                    <a:bodyPr/>
                    <a:lstStyle/>
                    <a:p>
                      <a:pPr algn="l" fontAlgn="ctr"/>
                      <a:r>
                        <a:rPr lang="zh-CN" altLang="en-US" sz="1100" b="1" u="none" strike="noStrike" dirty="0">
                          <a:effectLst/>
                          <a:latin typeface="+mn-lt"/>
                          <a:ea typeface="+mn-ea"/>
                          <a:cs typeface="+mn-ea"/>
                          <a:sym typeface="+mn-lt"/>
                        </a:rPr>
                        <a:t>         </a:t>
                      </a:r>
                      <a:r>
                        <a:rPr lang="zh-CN" altLang="en-US" sz="1100" b="1" u="none" strike="noStrike" dirty="0">
                          <a:solidFill>
                            <a:schemeClr val="bg1"/>
                          </a:solidFill>
                          <a:effectLst/>
                          <a:latin typeface="+mn-lt"/>
                          <a:ea typeface="+mn-ea"/>
                          <a:cs typeface="+mn-ea"/>
                          <a:sym typeface="+mn-lt"/>
                        </a:rPr>
                        <a:t>开发阶段</a:t>
                      </a:r>
                      <a:r>
                        <a:rPr lang="zh-CN" altLang="en-US" sz="1100" b="1" u="none" strike="noStrike" dirty="0">
                          <a:effectLst/>
                          <a:latin typeface="+mn-lt"/>
                          <a:ea typeface="+mn-ea"/>
                          <a:cs typeface="+mn-ea"/>
                          <a:sym typeface="+mn-lt"/>
                        </a:rPr>
                        <a:t/>
                      </a:r>
                      <a:br>
                        <a:rPr lang="zh-CN" altLang="en-US" sz="1100" b="1" u="none" strike="noStrike" dirty="0">
                          <a:effectLst/>
                          <a:latin typeface="+mn-lt"/>
                          <a:ea typeface="+mn-ea"/>
                          <a:cs typeface="+mn-ea"/>
                          <a:sym typeface="+mn-lt"/>
                        </a:rPr>
                      </a:br>
                      <a:r>
                        <a:rPr lang="zh-CN" altLang="en-US" sz="1100" b="1" u="none" strike="noStrike" dirty="0">
                          <a:effectLst/>
                          <a:latin typeface="+mn-lt"/>
                          <a:ea typeface="+mn-ea"/>
                          <a:cs typeface="+mn-ea"/>
                          <a:sym typeface="+mn-lt"/>
                        </a:rPr>
                        <a:t>   </a:t>
                      </a:r>
                      <a:endParaRPr lang="en-US" altLang="zh-CN" sz="1100" b="1" u="none" strike="noStrike" dirty="0">
                        <a:effectLst/>
                        <a:latin typeface="+mn-lt"/>
                        <a:ea typeface="+mn-ea"/>
                        <a:cs typeface="+mn-ea"/>
                        <a:sym typeface="+mn-lt"/>
                      </a:endParaRPr>
                    </a:p>
                    <a:p>
                      <a:pPr algn="l" fontAlgn="ctr"/>
                      <a:endParaRPr lang="en-US" altLang="zh-CN" sz="1100" b="1" u="none" strike="noStrike" dirty="0">
                        <a:effectLst/>
                        <a:latin typeface="+mn-lt"/>
                        <a:ea typeface="+mn-ea"/>
                        <a:cs typeface="+mn-ea"/>
                        <a:sym typeface="+mn-lt"/>
                      </a:endParaRPr>
                    </a:p>
                    <a:p>
                      <a:pPr algn="l" fontAlgn="ctr"/>
                      <a:r>
                        <a:rPr lang="zh-CN" altLang="en-US" sz="1100" b="1" u="none" strike="noStrike" dirty="0">
                          <a:solidFill>
                            <a:schemeClr val="bg1"/>
                          </a:solidFill>
                          <a:effectLst/>
                          <a:latin typeface="+mn-lt"/>
                          <a:ea typeface="+mn-ea"/>
                          <a:cs typeface="+mn-ea"/>
                          <a:sym typeface="+mn-lt"/>
                        </a:rPr>
                        <a:t>   项目类别</a:t>
                      </a:r>
                      <a:endParaRPr lang="zh-CN" altLang="en-US" sz="1100" b="1" i="0" u="none" strike="noStrike" dirty="0">
                        <a:solidFill>
                          <a:schemeClr val="bg1"/>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504D"/>
                    </a:solidFill>
                  </a:tcPr>
                </a:tc>
                <a:tc>
                  <a:txBody>
                    <a:bodyPr/>
                    <a:lstStyle/>
                    <a:p>
                      <a:pPr algn="ctr" fontAlgn="ctr"/>
                      <a:r>
                        <a:rPr lang="en-US" sz="1000" u="none" strike="noStrike" dirty="0">
                          <a:effectLst/>
                          <a:latin typeface="+mn-lt"/>
                          <a:ea typeface="+mn-ea"/>
                          <a:cs typeface="+mn-ea"/>
                          <a:sym typeface="+mn-lt"/>
                        </a:rPr>
                        <a:t>L10</a:t>
                      </a:r>
                      <a:endParaRPr lang="en-US" sz="1000" b="1"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E9E9"/>
                    </a:solidFill>
                  </a:tcPr>
                </a:tc>
                <a:tc>
                  <a:txBody>
                    <a:bodyPr/>
                    <a:lstStyle/>
                    <a:p>
                      <a:pPr algn="ctr" fontAlgn="ctr"/>
                      <a:r>
                        <a:rPr lang="en-US" sz="1000" u="none" strike="noStrike" dirty="0">
                          <a:effectLst/>
                          <a:latin typeface="+mn-lt"/>
                          <a:ea typeface="+mn-ea"/>
                          <a:cs typeface="+mn-ea"/>
                          <a:sym typeface="+mn-lt"/>
                        </a:rPr>
                        <a:t>L11</a:t>
                      </a:r>
                      <a:endParaRPr lang="en-US" sz="1000" b="1"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E9E9"/>
                    </a:solidFill>
                  </a:tcPr>
                </a:tc>
                <a:tc>
                  <a:txBody>
                    <a:bodyPr/>
                    <a:lstStyle/>
                    <a:p>
                      <a:pPr algn="ctr" fontAlgn="ctr"/>
                      <a:r>
                        <a:rPr lang="en-US" sz="1000" u="none" strike="noStrike" dirty="0">
                          <a:effectLst/>
                          <a:latin typeface="+mn-lt"/>
                          <a:ea typeface="+mn-ea"/>
                          <a:cs typeface="+mn-ea"/>
                          <a:sym typeface="+mn-lt"/>
                        </a:rPr>
                        <a:t>L12</a:t>
                      </a:r>
                      <a:endParaRPr lang="en-US" sz="1000" b="1"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E9E9"/>
                    </a:solidFill>
                  </a:tcPr>
                </a:tc>
                <a:extLst>
                  <a:ext uri="{0D108BD9-81ED-4DB2-BD59-A6C34878D82A}">
                    <a16:rowId xmlns:a16="http://schemas.microsoft.com/office/drawing/2014/main" val="1748448786"/>
                  </a:ext>
                </a:extLst>
              </a:tr>
              <a:tr h="218523">
                <a:tc vMerge="1">
                  <a:txBody>
                    <a:bodyPr/>
                    <a:lstStyle/>
                    <a:p>
                      <a:endParaRPr lang="zh-CN" altLang="en-US"/>
                    </a:p>
                  </a:txBody>
                  <a:tcPr/>
                </a:tc>
                <a:tc gridSpan="3">
                  <a:txBody>
                    <a:bodyPr/>
                    <a:lstStyle/>
                    <a:p>
                      <a:pPr algn="ctr" fontAlgn="ctr"/>
                      <a:r>
                        <a:rPr lang="en-US" sz="1050" b="1" u="none" strike="noStrike" dirty="0">
                          <a:solidFill>
                            <a:schemeClr val="bg1"/>
                          </a:solidFill>
                          <a:effectLst/>
                          <a:latin typeface="+mn-lt"/>
                          <a:ea typeface="+mn-ea"/>
                          <a:cs typeface="+mn-ea"/>
                          <a:sym typeface="+mn-lt"/>
                        </a:rPr>
                        <a:t>M4 </a:t>
                      </a:r>
                      <a:r>
                        <a:rPr lang="zh-CN" altLang="en-US" sz="1050" b="1" u="none" strike="noStrike" dirty="0">
                          <a:solidFill>
                            <a:schemeClr val="bg1"/>
                          </a:solidFill>
                          <a:effectLst/>
                          <a:latin typeface="+mn-lt"/>
                          <a:ea typeface="+mn-ea"/>
                          <a:cs typeface="+mn-ea"/>
                          <a:sym typeface="+mn-lt"/>
                        </a:rPr>
                        <a:t>试制阶段</a:t>
                      </a:r>
                      <a:r>
                        <a:rPr lang="en-US" altLang="zh-CN" sz="1050" b="1" u="none" strike="noStrike" dirty="0">
                          <a:solidFill>
                            <a:schemeClr val="bg1"/>
                          </a:solidFill>
                          <a:effectLst/>
                          <a:latin typeface="+mn-lt"/>
                          <a:ea typeface="+mn-ea"/>
                          <a:cs typeface="+mn-ea"/>
                          <a:sym typeface="+mn-lt"/>
                        </a:rPr>
                        <a:t>(3M)</a:t>
                      </a:r>
                      <a:endParaRPr lang="zh-CN" altLang="en-US" sz="1050" b="1" i="0" u="none" strike="noStrike" dirty="0">
                        <a:solidFill>
                          <a:schemeClr val="bg1"/>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504D"/>
                    </a:solidFill>
                  </a:tcPr>
                </a:tc>
                <a:tc hMerge="1">
                  <a:txBody>
                    <a:bodyPr/>
                    <a:lstStyle/>
                    <a:p>
                      <a:endParaRPr lang="zh-CN" altLang="en-US"/>
                    </a:p>
                  </a:txBody>
                  <a:tcPr/>
                </a:tc>
                <a:tc hMerge="1">
                  <a:txBody>
                    <a:bodyPr/>
                    <a:lstStyle/>
                    <a:p>
                      <a:endParaRPr lang="zh-CN" alt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582629699"/>
                  </a:ext>
                </a:extLst>
              </a:tr>
              <a:tr h="452966">
                <a:tc vMerge="1">
                  <a:txBody>
                    <a:bodyPr/>
                    <a:lstStyle/>
                    <a:p>
                      <a:endParaRPr lang="zh-CN" altLang="en-US"/>
                    </a:p>
                  </a:txBody>
                  <a:tcPr/>
                </a:tc>
                <a:tc>
                  <a:txBody>
                    <a:bodyPr/>
                    <a:lstStyle/>
                    <a:p>
                      <a:pPr algn="ctr" fontAlgn="ctr"/>
                      <a:r>
                        <a:rPr lang="zh-CN" altLang="en-US" sz="1100" u="none" strike="noStrike" dirty="0">
                          <a:effectLst/>
                          <a:latin typeface="+mn-lt"/>
                          <a:ea typeface="+mn-ea"/>
                          <a:cs typeface="+mn-ea"/>
                          <a:sym typeface="+mn-lt"/>
                        </a:rPr>
                        <a:t>首件试制</a:t>
                      </a:r>
                      <a:r>
                        <a:rPr lang="en-US" altLang="zh-CN" sz="1100" u="none" strike="noStrike" dirty="0">
                          <a:effectLst/>
                          <a:latin typeface="+mn-lt"/>
                          <a:ea typeface="+mn-ea"/>
                          <a:cs typeface="+mn-ea"/>
                          <a:sym typeface="+mn-lt"/>
                        </a:rPr>
                        <a:t>/</a:t>
                      </a:r>
                      <a:r>
                        <a:rPr lang="zh-CN" altLang="en-US" sz="1100" u="none" strike="noStrike" dirty="0">
                          <a:effectLst/>
                          <a:latin typeface="+mn-lt"/>
                          <a:ea typeface="+mn-ea"/>
                          <a:cs typeface="+mn-ea"/>
                          <a:sym typeface="+mn-lt"/>
                        </a:rPr>
                        <a:t>批量试制</a:t>
                      </a:r>
                      <a:endParaRPr lang="zh-CN" altLang="en-US" sz="1100" b="1"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E9E9"/>
                    </a:solidFill>
                  </a:tcPr>
                </a:tc>
                <a:tc>
                  <a:txBody>
                    <a:bodyPr/>
                    <a:lstStyle/>
                    <a:p>
                      <a:pPr algn="ctr" fontAlgn="ctr"/>
                      <a:r>
                        <a:rPr lang="en-US" sz="1100" u="none" strike="noStrike" dirty="0">
                          <a:effectLst/>
                          <a:latin typeface="+mn-lt"/>
                          <a:ea typeface="+mn-ea"/>
                          <a:cs typeface="+mn-ea"/>
                          <a:sym typeface="+mn-lt"/>
                        </a:rPr>
                        <a:t>PVT</a:t>
                      </a:r>
                      <a:endParaRPr lang="en-US" sz="1100" b="1"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E9E9"/>
                    </a:solidFill>
                  </a:tcPr>
                </a:tc>
                <a:tc>
                  <a:txBody>
                    <a:bodyPr/>
                    <a:lstStyle/>
                    <a:p>
                      <a:pPr algn="ctr" fontAlgn="ctr"/>
                      <a:r>
                        <a:rPr lang="zh-CN" altLang="en-US" sz="1100" u="none" strike="noStrike" dirty="0">
                          <a:effectLst/>
                          <a:latin typeface="+mn-lt"/>
                          <a:ea typeface="+mn-ea"/>
                          <a:cs typeface="+mn-ea"/>
                          <a:sym typeface="+mn-lt"/>
                        </a:rPr>
                        <a:t>批量测试</a:t>
                      </a:r>
                      <a:endParaRPr lang="zh-CN" altLang="en-US" sz="1100" b="1"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E9E9"/>
                    </a:solidFill>
                  </a:tcPr>
                </a:tc>
                <a:extLst>
                  <a:ext uri="{0D108BD9-81ED-4DB2-BD59-A6C34878D82A}">
                    <a16:rowId xmlns:a16="http://schemas.microsoft.com/office/drawing/2014/main" val="1016084425"/>
                  </a:ext>
                </a:extLst>
              </a:tr>
              <a:tr h="218523">
                <a:tc>
                  <a:txBody>
                    <a:bodyPr/>
                    <a:lstStyle/>
                    <a:p>
                      <a:pPr algn="ctr" fontAlgn="ctr"/>
                      <a:r>
                        <a:rPr lang="zh-CN" altLang="en-US" sz="1050" b="0" u="none" strike="noStrike" dirty="0">
                          <a:effectLst/>
                          <a:latin typeface="+mn-lt"/>
                          <a:ea typeface="+mn-ea"/>
                          <a:cs typeface="+mn-ea"/>
                          <a:sym typeface="+mn-lt"/>
                        </a:rPr>
                        <a:t>新品开发类</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E9E9"/>
                    </a:solidFill>
                  </a:tcPr>
                </a:tc>
                <a:tc>
                  <a:txBody>
                    <a:bodyPr/>
                    <a:lstStyle/>
                    <a:p>
                      <a:pPr algn="ctr" fontAlgn="ctr"/>
                      <a:r>
                        <a:rPr lang="en-US" altLang="zh-CN" sz="1050" b="0" i="0" u="none" strike="noStrike" dirty="0">
                          <a:solidFill>
                            <a:srgbClr val="000000"/>
                          </a:solidFill>
                          <a:effectLst/>
                          <a:latin typeface="+mn-lt"/>
                          <a:ea typeface="+mn-ea"/>
                          <a:cs typeface="+mn-ea"/>
                          <a:sym typeface="+mn-lt"/>
                        </a:rPr>
                        <a:t>M-0.5</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050" b="0" i="0" u="none" strike="noStrike" dirty="0">
                          <a:solidFill>
                            <a:srgbClr val="000000"/>
                          </a:solidFill>
                          <a:effectLst/>
                          <a:latin typeface="+mn-lt"/>
                          <a:ea typeface="+mn-ea"/>
                          <a:cs typeface="+mn-ea"/>
                          <a:sym typeface="+mn-lt"/>
                        </a:rPr>
                        <a:t>M-6</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050" b="0" i="0" u="none" strike="noStrike" dirty="0">
                          <a:solidFill>
                            <a:srgbClr val="000000"/>
                          </a:solidFill>
                          <a:effectLst/>
                          <a:latin typeface="+mn-lt"/>
                          <a:ea typeface="+mn-ea"/>
                          <a:cs typeface="+mn-ea"/>
                          <a:sym typeface="+mn-lt"/>
                        </a:rPr>
                        <a:t>M-6</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84363024"/>
                  </a:ext>
                </a:extLst>
              </a:tr>
              <a:tr h="218523">
                <a:tc>
                  <a:txBody>
                    <a:bodyPr/>
                    <a:lstStyle/>
                    <a:p>
                      <a:pPr algn="ctr" fontAlgn="ctr"/>
                      <a:r>
                        <a:rPr lang="en-US" sz="1050" b="0" u="none" strike="noStrike" dirty="0">
                          <a:effectLst/>
                          <a:latin typeface="+mn-lt"/>
                          <a:ea typeface="+mn-ea"/>
                          <a:cs typeface="+mn-ea"/>
                          <a:sym typeface="+mn-lt"/>
                        </a:rPr>
                        <a:t>OEM</a:t>
                      </a:r>
                      <a:r>
                        <a:rPr lang="zh-CN" altLang="en-US" sz="1050" b="0" u="none" strike="noStrike" dirty="0">
                          <a:effectLst/>
                          <a:latin typeface="+mn-lt"/>
                          <a:ea typeface="+mn-ea"/>
                          <a:cs typeface="+mn-ea"/>
                          <a:sym typeface="+mn-lt"/>
                        </a:rPr>
                        <a:t>类（整机）</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E9E9"/>
                    </a:solidFill>
                  </a:tcPr>
                </a:tc>
                <a:tc>
                  <a:txBody>
                    <a:bodyPr/>
                    <a:lstStyle/>
                    <a:p>
                      <a:pPr algn="ctr" fontAlgn="ctr"/>
                      <a:r>
                        <a:rPr lang="en-US" altLang="zh-CN" sz="1050" b="0" i="0" u="none" strike="noStrike" dirty="0">
                          <a:solidFill>
                            <a:srgbClr val="000000"/>
                          </a:solidFill>
                          <a:effectLst/>
                          <a:latin typeface="+mn-lt"/>
                          <a:ea typeface="+mn-ea"/>
                          <a:cs typeface="+mn-ea"/>
                          <a:sym typeface="+mn-lt"/>
                        </a:rPr>
                        <a:t>M</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050" b="0" i="0" u="none" strike="noStrike" dirty="0">
                          <a:solidFill>
                            <a:srgbClr val="000000"/>
                          </a:solidFill>
                          <a:effectLst/>
                          <a:latin typeface="+mn-lt"/>
                          <a:ea typeface="+mn-ea"/>
                          <a:cs typeface="+mn-ea"/>
                          <a:sym typeface="+mn-lt"/>
                        </a:rPr>
                        <a:t>M</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5240392"/>
                  </a:ext>
                </a:extLst>
              </a:tr>
              <a:tr h="218523">
                <a:tc>
                  <a:txBody>
                    <a:bodyPr/>
                    <a:lstStyle/>
                    <a:p>
                      <a:pPr algn="ctr" fontAlgn="ctr"/>
                      <a:r>
                        <a:rPr lang="en-US" altLang="zh-CN" sz="1050" b="0" i="0" u="none" strike="noStrike" dirty="0">
                          <a:solidFill>
                            <a:srgbClr val="000000"/>
                          </a:solidFill>
                          <a:effectLst/>
                          <a:latin typeface="+mn-lt"/>
                          <a:ea typeface="+mn-ea"/>
                          <a:cs typeface="+mn-ea"/>
                          <a:sym typeface="+mn-lt"/>
                        </a:rPr>
                        <a:t>OEM</a:t>
                      </a:r>
                      <a:r>
                        <a:rPr lang="zh-CN" altLang="en-US" sz="1050" b="0" i="0" u="none" strike="noStrike" dirty="0">
                          <a:solidFill>
                            <a:srgbClr val="000000"/>
                          </a:solidFill>
                          <a:effectLst/>
                          <a:latin typeface="+mn-lt"/>
                          <a:ea typeface="+mn-ea"/>
                          <a:cs typeface="+mn-ea"/>
                          <a:sym typeface="+mn-lt"/>
                        </a:rPr>
                        <a:t>类（主板）</a:t>
                      </a: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E9E9"/>
                    </a:solidFill>
                  </a:tcPr>
                </a:tc>
                <a:tc>
                  <a:txBody>
                    <a:bodyPr/>
                    <a:lstStyle/>
                    <a:p>
                      <a:pPr algn="ctr" fontAlgn="ctr"/>
                      <a:r>
                        <a:rPr lang="en-US" altLang="zh-CN" sz="1050" b="0" i="0" u="none" strike="noStrike" dirty="0">
                          <a:solidFill>
                            <a:srgbClr val="000000"/>
                          </a:solidFill>
                          <a:effectLst/>
                          <a:latin typeface="+mn-lt"/>
                          <a:ea typeface="+mn-ea"/>
                          <a:cs typeface="+mn-ea"/>
                          <a:sym typeface="+mn-lt"/>
                        </a:rPr>
                        <a:t>M</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050" b="0" i="0" u="none" strike="noStrike" dirty="0">
                          <a:solidFill>
                            <a:srgbClr val="000000"/>
                          </a:solidFill>
                          <a:effectLst/>
                          <a:latin typeface="+mn-lt"/>
                          <a:ea typeface="+mn-ea"/>
                          <a:cs typeface="+mn-ea"/>
                          <a:sym typeface="+mn-lt"/>
                        </a:rPr>
                        <a:t>M</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97037746"/>
                  </a:ext>
                </a:extLst>
              </a:tr>
              <a:tr h="218523">
                <a:tc>
                  <a:txBody>
                    <a:bodyPr/>
                    <a:lstStyle/>
                    <a:p>
                      <a:pPr algn="ctr" fontAlgn="ctr"/>
                      <a:r>
                        <a:rPr lang="zh-CN" altLang="en-US" sz="1050" b="0" i="0" u="none" strike="noStrike" dirty="0">
                          <a:solidFill>
                            <a:srgbClr val="000000"/>
                          </a:solidFill>
                          <a:effectLst/>
                          <a:latin typeface="+mn-lt"/>
                          <a:ea typeface="+mn-ea"/>
                          <a:cs typeface="+mn-ea"/>
                          <a:sym typeface="+mn-lt"/>
                        </a:rPr>
                        <a:t>产品升级类</a:t>
                      </a: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E9E9"/>
                    </a:solidFill>
                  </a:tcPr>
                </a:tc>
                <a:tc>
                  <a:txBody>
                    <a:bodyPr/>
                    <a:lstStyle/>
                    <a:p>
                      <a:pPr algn="ctr" fontAlgn="ctr"/>
                      <a:r>
                        <a:rPr lang="en-US" altLang="zh-CN" sz="1050" b="0" i="0" u="none" strike="noStrike" dirty="0">
                          <a:solidFill>
                            <a:srgbClr val="000000"/>
                          </a:solidFill>
                          <a:effectLst/>
                          <a:latin typeface="+mn-lt"/>
                          <a:ea typeface="+mn-ea"/>
                          <a:cs typeface="+mn-ea"/>
                          <a:sym typeface="+mn-lt"/>
                        </a:rPr>
                        <a:t>R</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050" b="0" i="0" u="none" strike="noStrike" dirty="0">
                          <a:solidFill>
                            <a:srgbClr val="000000"/>
                          </a:solidFill>
                          <a:effectLst/>
                          <a:latin typeface="+mn-lt"/>
                          <a:ea typeface="+mn-ea"/>
                          <a:cs typeface="+mn-ea"/>
                          <a:sym typeface="+mn-lt"/>
                        </a:rPr>
                        <a:t>M</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0447076"/>
                  </a:ext>
                </a:extLst>
              </a:tr>
              <a:tr h="218523">
                <a:tc>
                  <a:txBody>
                    <a:bodyPr/>
                    <a:lstStyle/>
                    <a:p>
                      <a:pPr algn="ctr" fontAlgn="ctr"/>
                      <a:r>
                        <a:rPr lang="zh-CN" altLang="en-US" sz="1050" b="0" u="none" strike="noStrike" dirty="0">
                          <a:effectLst/>
                          <a:latin typeface="+mn-lt"/>
                          <a:ea typeface="+mn-ea"/>
                          <a:cs typeface="+mn-ea"/>
                          <a:sym typeface="+mn-lt"/>
                        </a:rPr>
                        <a:t>定制升级类</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E9E9"/>
                    </a:solidFill>
                  </a:tcPr>
                </a:tc>
                <a:tc>
                  <a:txBody>
                    <a:bodyPr/>
                    <a:lstStyle/>
                    <a:p>
                      <a:pPr algn="ctr" fontAlgn="ctr"/>
                      <a:r>
                        <a:rPr lang="en-US" altLang="zh-CN" sz="1050" b="0" i="0" u="none" strike="noStrike" dirty="0">
                          <a:solidFill>
                            <a:srgbClr val="000000"/>
                          </a:solidFill>
                          <a:effectLst/>
                          <a:latin typeface="+mn-lt"/>
                          <a:ea typeface="+mn-ea"/>
                          <a:cs typeface="+mn-ea"/>
                          <a:sym typeface="+mn-lt"/>
                        </a:rPr>
                        <a:t>R</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050" b="0" i="0" u="none" strike="noStrike" dirty="0">
                          <a:solidFill>
                            <a:srgbClr val="000000"/>
                          </a:solidFill>
                          <a:effectLst/>
                          <a:latin typeface="+mn-lt"/>
                          <a:ea typeface="+mn-ea"/>
                          <a:cs typeface="+mn-ea"/>
                          <a:sym typeface="+mn-lt"/>
                        </a:rPr>
                        <a:t>R</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050" b="0" i="0" u="none" strike="noStrike">
                          <a:solidFill>
                            <a:srgbClr val="000000"/>
                          </a:solidFill>
                          <a:effectLst/>
                          <a:latin typeface="+mn-lt"/>
                          <a:ea typeface="+mn-ea"/>
                          <a:cs typeface="+mn-ea"/>
                          <a:sym typeface="+mn-lt"/>
                        </a:rPr>
                        <a:t>R</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575049"/>
                  </a:ext>
                </a:extLst>
              </a:tr>
              <a:tr h="218523">
                <a:tc>
                  <a:txBody>
                    <a:bodyPr/>
                    <a:lstStyle/>
                    <a:p>
                      <a:pPr algn="ctr" fontAlgn="ctr"/>
                      <a:r>
                        <a:rPr lang="zh-CN" altLang="en-US" sz="1050" b="0" i="0" u="none" strike="noStrike" dirty="0">
                          <a:solidFill>
                            <a:srgbClr val="000000"/>
                          </a:solidFill>
                          <a:effectLst/>
                          <a:latin typeface="+mn-lt"/>
                          <a:ea typeface="+mn-ea"/>
                          <a:cs typeface="+mn-ea"/>
                          <a:sym typeface="+mn-lt"/>
                        </a:rPr>
                        <a:t>定制产品类</a:t>
                      </a: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E9E9"/>
                    </a:solidFill>
                  </a:tcPr>
                </a:tc>
                <a:tc>
                  <a:txBody>
                    <a:bodyPr/>
                    <a:lstStyle/>
                    <a:p>
                      <a:pPr algn="ctr" fontAlgn="ctr"/>
                      <a:r>
                        <a:rPr lang="en-US" altLang="zh-CN" sz="1050" b="0" i="0" u="none" strike="noStrike" dirty="0">
                          <a:solidFill>
                            <a:srgbClr val="000000"/>
                          </a:solidFill>
                          <a:effectLst/>
                          <a:latin typeface="+mn-lt"/>
                          <a:ea typeface="+mn-ea"/>
                          <a:cs typeface="+mn-ea"/>
                          <a:sym typeface="+mn-lt"/>
                        </a:rPr>
                        <a:t>M</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050" b="0" i="0" u="none" strike="noStrike" dirty="0">
                          <a:solidFill>
                            <a:srgbClr val="000000"/>
                          </a:solidFill>
                          <a:effectLst/>
                          <a:latin typeface="+mn-lt"/>
                          <a:ea typeface="+mn-ea"/>
                          <a:cs typeface="+mn-ea"/>
                          <a:sym typeface="+mn-lt"/>
                        </a:rPr>
                        <a:t>M</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050" b="0" i="0" u="none" strike="noStrike" dirty="0">
                          <a:solidFill>
                            <a:srgbClr val="000000"/>
                          </a:solidFill>
                          <a:effectLst/>
                          <a:latin typeface="+mn-lt"/>
                          <a:ea typeface="+mn-ea"/>
                          <a:cs typeface="+mn-ea"/>
                          <a:sym typeface="+mn-lt"/>
                        </a:rPr>
                        <a:t>M</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708084"/>
                  </a:ext>
                </a:extLst>
              </a:tr>
              <a:tr h="432579">
                <a:tc>
                  <a:txBody>
                    <a:bodyPr/>
                    <a:lstStyle/>
                    <a:p>
                      <a:pPr algn="ctr" fontAlgn="ctr"/>
                      <a:r>
                        <a:rPr lang="zh-CN" altLang="en-US" sz="1050" b="0" i="0" u="none" strike="noStrike" dirty="0">
                          <a:solidFill>
                            <a:srgbClr val="000000"/>
                          </a:solidFill>
                          <a:effectLst/>
                          <a:latin typeface="+mn-lt"/>
                          <a:ea typeface="+mn-ea"/>
                          <a:cs typeface="+mn-ea"/>
                          <a:sym typeface="+mn-lt"/>
                        </a:rPr>
                        <a:t>派生产品</a:t>
                      </a:r>
                      <a:r>
                        <a:rPr lang="en-US" altLang="zh-CN" sz="1050" b="0" i="0" u="none" strike="noStrike" dirty="0">
                          <a:solidFill>
                            <a:srgbClr val="000000"/>
                          </a:solidFill>
                          <a:effectLst/>
                          <a:latin typeface="+mn-lt"/>
                          <a:ea typeface="+mn-ea"/>
                          <a:cs typeface="+mn-ea"/>
                          <a:sym typeface="+mn-lt"/>
                        </a:rPr>
                        <a:t>-</a:t>
                      </a:r>
                      <a:r>
                        <a:rPr lang="zh-CN" altLang="en-US" sz="1050" b="0" i="0" u="none" strike="noStrike" dirty="0">
                          <a:solidFill>
                            <a:srgbClr val="000000"/>
                          </a:solidFill>
                          <a:effectLst/>
                          <a:latin typeface="+mn-lt"/>
                          <a:ea typeface="+mn-ea"/>
                          <a:cs typeface="+mn-ea"/>
                          <a:sym typeface="+mn-lt"/>
                        </a:rPr>
                        <a:t>含硬件及结构开发需求</a:t>
                      </a: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E9E9"/>
                    </a:solidFill>
                  </a:tcPr>
                </a:tc>
                <a:tc>
                  <a:txBody>
                    <a:bodyPr/>
                    <a:lstStyle/>
                    <a:p>
                      <a:pPr algn="ctr" fontAlgn="ctr"/>
                      <a:r>
                        <a:rPr lang="en-US" altLang="zh-CN" sz="1050" b="0" i="0" u="none" strike="noStrike" dirty="0">
                          <a:solidFill>
                            <a:srgbClr val="000000"/>
                          </a:solidFill>
                          <a:effectLst/>
                          <a:latin typeface="+mn-lt"/>
                          <a:ea typeface="+mn-ea"/>
                          <a:cs typeface="+mn-ea"/>
                          <a:sym typeface="+mn-lt"/>
                        </a:rPr>
                        <a:t>M</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050" b="0" i="0" u="none" strike="noStrike" dirty="0">
                          <a:solidFill>
                            <a:srgbClr val="000000"/>
                          </a:solidFill>
                          <a:effectLst/>
                          <a:latin typeface="+mn-lt"/>
                          <a:ea typeface="+mn-ea"/>
                          <a:cs typeface="+mn-ea"/>
                          <a:sym typeface="+mn-lt"/>
                        </a:rPr>
                        <a:t>R</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3431068"/>
                  </a:ext>
                </a:extLst>
              </a:tr>
              <a:tr h="325551">
                <a:tc>
                  <a:txBody>
                    <a:bodyPr/>
                    <a:lstStyle/>
                    <a:p>
                      <a:pPr algn="ctr" fontAlgn="ctr"/>
                      <a:r>
                        <a:rPr lang="zh-CN" altLang="en-US" sz="1050" b="0" i="0" u="none" strike="noStrike" dirty="0">
                          <a:solidFill>
                            <a:srgbClr val="000000"/>
                          </a:solidFill>
                          <a:effectLst/>
                          <a:latin typeface="+mn-lt"/>
                          <a:ea typeface="+mn-ea"/>
                          <a:cs typeface="+mn-ea"/>
                          <a:sym typeface="+mn-lt"/>
                        </a:rPr>
                        <a:t>派生产品</a:t>
                      </a:r>
                      <a:r>
                        <a:rPr lang="en-US" altLang="zh-CN" sz="1050" b="0" i="0" u="none" strike="noStrike" dirty="0">
                          <a:solidFill>
                            <a:srgbClr val="000000"/>
                          </a:solidFill>
                          <a:effectLst/>
                          <a:latin typeface="+mn-lt"/>
                          <a:ea typeface="+mn-ea"/>
                          <a:cs typeface="+mn-ea"/>
                          <a:sym typeface="+mn-lt"/>
                        </a:rPr>
                        <a:t>-</a:t>
                      </a:r>
                      <a:r>
                        <a:rPr lang="zh-CN" altLang="en-US" sz="1050" b="0" i="0" u="none" strike="noStrike" dirty="0">
                          <a:solidFill>
                            <a:srgbClr val="000000"/>
                          </a:solidFill>
                          <a:effectLst/>
                          <a:latin typeface="+mn-lt"/>
                          <a:ea typeface="+mn-ea"/>
                          <a:cs typeface="+mn-ea"/>
                          <a:sym typeface="+mn-lt"/>
                        </a:rPr>
                        <a:t>仅软件需求</a:t>
                      </a: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E9E9"/>
                    </a:solidFill>
                  </a:tcPr>
                </a:tc>
                <a:tc>
                  <a:txBody>
                    <a:bodyPr/>
                    <a:lstStyle/>
                    <a:p>
                      <a:pPr algn="ctr" fontAlgn="ctr"/>
                      <a:r>
                        <a:rPr lang="en-US" altLang="zh-CN" sz="1050" b="0" i="0" u="none" strike="noStrike" dirty="0">
                          <a:solidFill>
                            <a:srgbClr val="000000"/>
                          </a:solidFill>
                          <a:effectLst/>
                          <a:latin typeface="+mn-lt"/>
                          <a:ea typeface="+mn-ea"/>
                          <a:cs typeface="+mn-ea"/>
                          <a:sym typeface="+mn-lt"/>
                        </a:rPr>
                        <a:t>M</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050" b="0" i="0" u="none" strike="noStrike" dirty="0">
                          <a:solidFill>
                            <a:srgbClr val="000000"/>
                          </a:solidFill>
                          <a:effectLst/>
                          <a:latin typeface="+mn-lt"/>
                          <a:ea typeface="+mn-ea"/>
                          <a:cs typeface="+mn-ea"/>
                          <a:sym typeface="+mn-lt"/>
                        </a:rPr>
                        <a:t>R</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11254457"/>
                  </a:ext>
                </a:extLst>
              </a:tr>
              <a:tr h="218523">
                <a:tc>
                  <a:txBody>
                    <a:bodyPr/>
                    <a:lstStyle/>
                    <a:p>
                      <a:pPr algn="ctr" fontAlgn="ctr"/>
                      <a:r>
                        <a:rPr lang="zh-CN" altLang="en-US" sz="1050" b="0" u="none" strike="noStrike" dirty="0">
                          <a:effectLst/>
                          <a:latin typeface="+mn-lt"/>
                          <a:ea typeface="+mn-ea"/>
                          <a:cs typeface="+mn-ea"/>
                          <a:sym typeface="+mn-lt"/>
                        </a:rPr>
                        <a:t>部件引入测试</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E9E9"/>
                    </a:solidFill>
                  </a:tcPr>
                </a:tc>
                <a:tc>
                  <a:txBody>
                    <a:bodyPr/>
                    <a:lstStyle/>
                    <a:p>
                      <a:pPr algn="ctr" fontAlgn="ctr"/>
                      <a:r>
                        <a:rPr lang="en-US" altLang="zh-CN" sz="1050" b="0" i="0" u="none" strike="noStrike" dirty="0">
                          <a:solidFill>
                            <a:srgbClr val="000000"/>
                          </a:solidFill>
                          <a:effectLst/>
                          <a:latin typeface="+mn-lt"/>
                          <a:ea typeface="+mn-ea"/>
                          <a:cs typeface="+mn-ea"/>
                          <a:sym typeface="+mn-lt"/>
                        </a:rPr>
                        <a:t>R</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zh-CN" altLang="en-US" sz="1050" b="0" i="0" u="none" strike="noStrike">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050" b="0" i="0" u="none" strike="noStrike" dirty="0">
                          <a:solidFill>
                            <a:srgbClr val="000000"/>
                          </a:solidFill>
                          <a:effectLst/>
                          <a:latin typeface="+mn-lt"/>
                          <a:ea typeface="+mn-ea"/>
                          <a:cs typeface="+mn-ea"/>
                          <a:sym typeface="+mn-lt"/>
                        </a:rPr>
                        <a:t>R</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8491735"/>
                  </a:ext>
                </a:extLst>
              </a:tr>
              <a:tr h="111495">
                <a:tc>
                  <a:txBody>
                    <a:bodyPr/>
                    <a:lstStyle/>
                    <a:p>
                      <a:pPr algn="ctr" fontAlgn="ctr"/>
                      <a:r>
                        <a:rPr lang="zh-CN" altLang="en-US" sz="1050" b="0" i="0" u="none" strike="noStrike" dirty="0">
                          <a:solidFill>
                            <a:srgbClr val="000000"/>
                          </a:solidFill>
                          <a:effectLst/>
                          <a:latin typeface="+mn-lt"/>
                          <a:ea typeface="+mn-ea"/>
                          <a:cs typeface="+mn-ea"/>
                          <a:sym typeface="+mn-lt"/>
                        </a:rPr>
                        <a:t>独立板卡</a:t>
                      </a: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E9E9"/>
                    </a:solidFill>
                  </a:tcPr>
                </a:tc>
                <a:tc>
                  <a:txBody>
                    <a:bodyPr/>
                    <a:lstStyle/>
                    <a:p>
                      <a:pPr algn="ctr" fontAlgn="ctr"/>
                      <a:r>
                        <a:rPr lang="en-US" altLang="zh-CN" sz="1050" b="0" i="0" u="none" strike="noStrike" dirty="0">
                          <a:solidFill>
                            <a:srgbClr val="000000"/>
                          </a:solidFill>
                          <a:effectLst/>
                          <a:latin typeface="+mn-lt"/>
                          <a:ea typeface="+mn-ea"/>
                          <a:cs typeface="+mn-ea"/>
                          <a:sym typeface="+mn-lt"/>
                        </a:rPr>
                        <a:t>M</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050" b="0" i="0" u="none" strike="noStrike" dirty="0">
                          <a:solidFill>
                            <a:srgbClr val="000000"/>
                          </a:solidFill>
                          <a:effectLst/>
                          <a:latin typeface="+mn-lt"/>
                          <a:ea typeface="+mn-ea"/>
                          <a:cs typeface="+mn-ea"/>
                          <a:sym typeface="+mn-lt"/>
                        </a:rPr>
                        <a:t>R</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62486179"/>
                  </a:ext>
                </a:extLst>
              </a:tr>
              <a:tr h="111495">
                <a:tc>
                  <a:txBody>
                    <a:bodyPr/>
                    <a:lstStyle/>
                    <a:p>
                      <a:pPr algn="ctr" fontAlgn="ctr"/>
                      <a:r>
                        <a:rPr lang="zh-CN" altLang="en-US" sz="1050" b="0" i="0" u="none" strike="noStrike" dirty="0">
                          <a:solidFill>
                            <a:srgbClr val="000000"/>
                          </a:solidFill>
                          <a:effectLst/>
                          <a:latin typeface="+mn-lt"/>
                          <a:ea typeface="+mn-ea"/>
                          <a:cs typeface="+mn-ea"/>
                          <a:sym typeface="+mn-lt"/>
                        </a:rPr>
                        <a:t>机柜机箱</a:t>
                      </a: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E9E9"/>
                    </a:solidFill>
                  </a:tcPr>
                </a:tc>
                <a:tc>
                  <a:txBody>
                    <a:bodyPr/>
                    <a:lstStyle/>
                    <a:p>
                      <a:pPr algn="ctr" fontAlgn="ctr"/>
                      <a:r>
                        <a:rPr lang="en-US" altLang="zh-CN" sz="1050" b="0" i="0" u="none" strike="noStrike" dirty="0">
                          <a:solidFill>
                            <a:srgbClr val="000000"/>
                          </a:solidFill>
                          <a:effectLst/>
                          <a:latin typeface="+mn-lt"/>
                          <a:ea typeface="+mn-ea"/>
                          <a:cs typeface="+mn-ea"/>
                          <a:sym typeface="+mn-lt"/>
                        </a:rPr>
                        <a:t>M</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050" b="0" i="0" u="none" strike="noStrike" dirty="0">
                          <a:solidFill>
                            <a:srgbClr val="000000"/>
                          </a:solidFill>
                          <a:effectLst/>
                          <a:latin typeface="+mn-lt"/>
                          <a:ea typeface="+mn-ea"/>
                          <a:cs typeface="+mn-ea"/>
                          <a:sym typeface="+mn-lt"/>
                        </a:rPr>
                        <a:t>R</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4944406"/>
                  </a:ext>
                </a:extLst>
              </a:tr>
              <a:tr h="111495">
                <a:tc>
                  <a:txBody>
                    <a:bodyPr/>
                    <a:lstStyle/>
                    <a:p>
                      <a:pPr algn="ctr" fontAlgn="ctr"/>
                      <a:r>
                        <a:rPr lang="zh-CN" altLang="en-US" sz="1050" b="0" i="0" u="none" strike="noStrike" dirty="0">
                          <a:solidFill>
                            <a:srgbClr val="000000"/>
                          </a:solidFill>
                          <a:effectLst/>
                          <a:latin typeface="+mn-lt"/>
                          <a:ea typeface="+mn-ea"/>
                          <a:cs typeface="+mn-ea"/>
                          <a:sym typeface="+mn-lt"/>
                        </a:rPr>
                        <a:t>产品维护</a:t>
                      </a: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4E9E9"/>
                    </a:solidFill>
                  </a:tcPr>
                </a:tc>
                <a:tc>
                  <a:txBody>
                    <a:bodyPr/>
                    <a:lstStyle/>
                    <a:p>
                      <a:pPr algn="ctr" fontAlgn="ctr"/>
                      <a:r>
                        <a:rPr lang="en-US" altLang="zh-CN" sz="1050" b="0" i="0" u="none" strike="noStrike" dirty="0">
                          <a:solidFill>
                            <a:srgbClr val="000000"/>
                          </a:solidFill>
                          <a:effectLst/>
                          <a:latin typeface="+mn-lt"/>
                          <a:ea typeface="+mn-ea"/>
                          <a:cs typeface="+mn-ea"/>
                          <a:sym typeface="+mn-lt"/>
                        </a:rPr>
                        <a:t>R</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altLang="zh-CN" sz="1050" b="0" i="0" u="none" strike="noStrike" dirty="0">
                          <a:solidFill>
                            <a:srgbClr val="000000"/>
                          </a:solidFill>
                          <a:effectLst/>
                          <a:latin typeface="+mn-lt"/>
                          <a:ea typeface="+mn-ea"/>
                          <a:cs typeface="+mn-ea"/>
                          <a:sym typeface="+mn-lt"/>
                        </a:rPr>
                        <a:t>R</a:t>
                      </a:r>
                      <a:endParaRPr lang="zh-CN" altLang="en-US" sz="1050" b="0" i="0" u="none" strike="noStrike" dirty="0">
                        <a:solidFill>
                          <a:srgbClr val="000000"/>
                        </a:solidFill>
                        <a:effectLst/>
                        <a:latin typeface="+mn-lt"/>
                        <a:ea typeface="+mn-ea"/>
                        <a:cs typeface="+mn-ea"/>
                        <a:sym typeface="+mn-lt"/>
                      </a:endParaRPr>
                    </a:p>
                  </a:txBody>
                  <a:tcPr marL="6678" marR="6678" marT="6678"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4007844"/>
                  </a:ext>
                </a:extLst>
              </a:tr>
            </a:tbl>
          </a:graphicData>
        </a:graphic>
      </p:graphicFrame>
    </p:spTree>
    <p:extLst>
      <p:ext uri="{BB962C8B-B14F-4D97-AF65-F5344CB8AC3E}">
        <p14:creationId xmlns:p14="http://schemas.microsoft.com/office/powerpoint/2010/main" val="37409420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2">
            <a:extLst>
              <a:ext uri="{FF2B5EF4-FFF2-40B4-BE49-F238E27FC236}">
                <a16:creationId xmlns:a16="http://schemas.microsoft.com/office/drawing/2014/main" id="{2B587CB1-41A9-48EF-9229-101563C80EFD}"/>
              </a:ext>
            </a:extLst>
          </p:cNvPr>
          <p:cNvSpPr txBox="1">
            <a:spLocks/>
          </p:cNvSpPr>
          <p:nvPr/>
        </p:nvSpPr>
        <p:spPr>
          <a:xfrm>
            <a:off x="0" y="191203"/>
            <a:ext cx="4037429" cy="832388"/>
          </a:xfrm>
          <a:prstGeom prst="rect">
            <a:avLst/>
          </a:prstGeom>
        </p:spPr>
        <p:txBody>
          <a:bodyPr/>
          <a:lstStyle>
            <a:defPPr>
              <a:defRPr lang="zh-CN"/>
            </a:defPPr>
            <a:lvl1pPr algn="ctr">
              <a:spcBef>
                <a:spcPct val="0"/>
              </a:spcBef>
              <a:buNone/>
              <a:defRPr sz="2400" b="1">
                <a:solidFill>
                  <a:schemeClr val="tx1">
                    <a:lumMod val="65000"/>
                    <a:lumOff val="35000"/>
                  </a:schemeClr>
                </a:solidFill>
                <a:latin typeface="微软雅黑" pitchFamily="34" charset="-122"/>
                <a:ea typeface="微软雅黑" pitchFamily="34" charset="-122"/>
              </a:defRPr>
            </a:lvl1pPr>
          </a:lstStyle>
          <a:p>
            <a:pPr marL="0" marR="0" lvl="0" indent="0" algn="ctr" defTabSz="1219170" rtl="0" eaLnBrk="1" fontAlgn="auto" latinLnBrk="0" hangingPunct="1">
              <a:lnSpc>
                <a:spcPct val="100000"/>
              </a:lnSpc>
              <a:spcBef>
                <a:spcPct val="0"/>
              </a:spcBef>
              <a:spcAft>
                <a:spcPts val="0"/>
              </a:spcAft>
              <a:buClrTx/>
              <a:buSzTx/>
              <a:buFontTx/>
              <a:buNone/>
              <a:tabLst/>
              <a:defRPr/>
            </a:pPr>
            <a:r>
              <a:rPr kumimoji="0" lang="zh-CN" altLang="en-US" sz="3200" b="1" i="0" u="none" strike="noStrike" kern="1200" cap="none"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rPr>
              <a:t>三</a:t>
            </a:r>
            <a:r>
              <a:rPr kumimoji="0" lang="zh-CN" altLang="en-US" sz="3200" b="1" i="0" u="none" strike="noStrike" kern="1200" cap="none" spc="0" normalizeH="0" baseline="0" noProof="0" dirty="0" smtClean="0">
                <a:ln>
                  <a:noFill/>
                </a:ln>
                <a:solidFill>
                  <a:prstClr val="black">
                    <a:lumMod val="65000"/>
                    <a:lumOff val="35000"/>
                  </a:prstClr>
                </a:solidFill>
                <a:effectLst/>
                <a:uLnTx/>
                <a:uFillTx/>
                <a:latin typeface="微软雅黑" pitchFamily="34" charset="-122"/>
                <a:ea typeface="微软雅黑" pitchFamily="34" charset="-122"/>
                <a:cs typeface="+mn-cs"/>
              </a:rPr>
              <a:t>、</a:t>
            </a:r>
            <a:r>
              <a:rPr kumimoji="0" lang="en-US" altLang="zh-CN" sz="3200" b="1" i="0" u="none" strike="noStrike" kern="1200" cap="none" spc="0" normalizeH="0" baseline="0" noProof="0" dirty="0" smtClean="0">
                <a:ln>
                  <a:noFill/>
                </a:ln>
                <a:solidFill>
                  <a:prstClr val="black">
                    <a:lumMod val="65000"/>
                    <a:lumOff val="35000"/>
                  </a:prstClr>
                </a:solidFill>
                <a:effectLst/>
                <a:uLnTx/>
                <a:uFillTx/>
                <a:latin typeface="微软雅黑" pitchFamily="34" charset="-122"/>
                <a:ea typeface="微软雅黑" pitchFamily="34" charset="-122"/>
                <a:cs typeface="+mn-cs"/>
              </a:rPr>
              <a:t>L12</a:t>
            </a:r>
            <a:r>
              <a:rPr kumimoji="0" lang="zh-CN" altLang="en-US" sz="3200" b="1" i="0" u="none" strike="noStrike" kern="1200" cap="none" spc="0" normalizeH="0" baseline="0" noProof="0" dirty="0" smtClean="0">
                <a:ln>
                  <a:noFill/>
                </a:ln>
                <a:solidFill>
                  <a:prstClr val="black">
                    <a:lumMod val="65000"/>
                    <a:lumOff val="35000"/>
                  </a:prstClr>
                </a:solidFill>
                <a:effectLst/>
                <a:uLnTx/>
                <a:uFillTx/>
                <a:latin typeface="微软雅黑" pitchFamily="34" charset="-122"/>
                <a:ea typeface="微软雅黑" pitchFamily="34" charset="-122"/>
                <a:cs typeface="+mn-cs"/>
              </a:rPr>
              <a:t>批量测试</a:t>
            </a:r>
            <a:endParaRPr kumimoji="0" lang="zh-CN" altLang="en-US" sz="3200" b="1" i="0" u="none" strike="noStrike" kern="1200" cap="none" spc="0" normalizeH="0" baseline="0" noProof="0" dirty="0">
              <a:ln>
                <a:noFill/>
              </a:ln>
              <a:solidFill>
                <a:prstClr val="black">
                  <a:lumMod val="65000"/>
                  <a:lumOff val="35000"/>
                </a:prstClr>
              </a:solidFill>
              <a:effectLst/>
              <a:uLnTx/>
              <a:uFillTx/>
              <a:latin typeface="微软雅黑" pitchFamily="34" charset="-122"/>
              <a:ea typeface="微软雅黑" pitchFamily="34" charset="-122"/>
              <a:cs typeface="+mn-cs"/>
            </a:endParaRPr>
          </a:p>
        </p:txBody>
      </p:sp>
      <p:sp>
        <p:nvSpPr>
          <p:cNvPr id="3" name="Rectangle 3">
            <a:extLst>
              <a:ext uri="{FF2B5EF4-FFF2-40B4-BE49-F238E27FC236}">
                <a16:creationId xmlns:a16="http://schemas.microsoft.com/office/drawing/2014/main" id="{FA07C651-B856-4405-9E2A-D4B3064DAEAF}"/>
              </a:ext>
            </a:extLst>
          </p:cNvPr>
          <p:cNvSpPr txBox="1">
            <a:spLocks noChangeArrowheads="1"/>
          </p:cNvSpPr>
          <p:nvPr/>
        </p:nvSpPr>
        <p:spPr bwMode="auto">
          <a:xfrm>
            <a:off x="682113" y="995566"/>
            <a:ext cx="10907601" cy="804763"/>
          </a:xfrm>
          <a:prstGeom prst="rect">
            <a:avLst/>
          </a:prstGeom>
          <a:solidFill>
            <a:schemeClr val="bg1">
              <a:lumMod val="85000"/>
            </a:schemeClr>
          </a:solidFill>
          <a:scene3d>
            <a:camera prst="orthographicFront"/>
            <a:lightRig rig="threePt" dir="t"/>
          </a:scene3d>
          <a:sp3d>
            <a:bevelT/>
          </a:sp3d>
          <a:extLst/>
        </p:spPr>
        <p:txBody>
          <a:bodyPr vert="horz" wrap="square" lIns="121920" tIns="60960" rIns="121920" bIns="60960" numCol="1" anchor="t" anchorCtr="0" compatLnSpc="1">
            <a:prstTxWarp prst="textNoShape">
              <a:avLst/>
            </a:prstTxWarp>
          </a:bodyPr>
          <a:lstStyle>
            <a:lvl1pPr marL="342900" indent="-342900" algn="l" defTabSz="912813" rtl="0" eaLnBrk="0" fontAlgn="base" hangingPunct="0">
              <a:spcBef>
                <a:spcPct val="20000"/>
              </a:spcBef>
              <a:spcAft>
                <a:spcPct val="0"/>
              </a:spcAft>
              <a:buChar char="•"/>
              <a:defRPr sz="3000">
                <a:solidFill>
                  <a:schemeClr val="tx1"/>
                </a:solidFill>
                <a:latin typeface="+mn-lt"/>
                <a:ea typeface="+mn-ea"/>
                <a:cs typeface="+mn-cs"/>
              </a:defRPr>
            </a:lvl1pPr>
            <a:lvl2pPr marL="741363" indent="-285750" algn="l" defTabSz="912813" rtl="0" eaLnBrk="0" fontAlgn="base" hangingPunct="0">
              <a:spcBef>
                <a:spcPct val="20000"/>
              </a:spcBef>
              <a:spcAft>
                <a:spcPct val="0"/>
              </a:spcAft>
              <a:buChar char="–"/>
              <a:defRPr sz="2800">
                <a:solidFill>
                  <a:schemeClr val="tx1"/>
                </a:solidFill>
                <a:latin typeface="+mj-lt"/>
                <a:ea typeface="+mj-ea"/>
              </a:defRPr>
            </a:lvl2pPr>
            <a:lvl3pPr marL="1139825" indent="-227013" algn="l" defTabSz="912813" rtl="0" eaLnBrk="0" fontAlgn="base" hangingPunct="0">
              <a:spcBef>
                <a:spcPct val="20000"/>
              </a:spcBef>
              <a:spcAft>
                <a:spcPct val="0"/>
              </a:spcAft>
              <a:buChar char="•"/>
              <a:defRPr sz="2400">
                <a:solidFill>
                  <a:schemeClr val="tx1"/>
                </a:solidFill>
                <a:latin typeface="+mj-lt"/>
                <a:ea typeface="+mj-ea"/>
              </a:defRPr>
            </a:lvl3pPr>
            <a:lvl4pPr marL="1595438" indent="-227013" algn="l" defTabSz="912813" rtl="0" eaLnBrk="0" fontAlgn="base" hangingPunct="0">
              <a:spcBef>
                <a:spcPct val="20000"/>
              </a:spcBef>
              <a:spcAft>
                <a:spcPct val="0"/>
              </a:spcAft>
              <a:buChar char="–"/>
              <a:defRPr sz="2000">
                <a:solidFill>
                  <a:schemeClr val="tx1"/>
                </a:solidFill>
                <a:latin typeface="+mj-lt"/>
                <a:ea typeface="+mj-ea"/>
              </a:defRPr>
            </a:lvl4pPr>
            <a:lvl5pPr marL="2052638" indent="-227013" algn="l" defTabSz="912813" rtl="0" eaLnBrk="0" fontAlgn="base" hangingPunct="0">
              <a:spcBef>
                <a:spcPct val="20000"/>
              </a:spcBef>
              <a:spcAft>
                <a:spcPct val="0"/>
              </a:spcAft>
              <a:buChar char="»"/>
              <a:defRPr sz="2000">
                <a:solidFill>
                  <a:schemeClr val="tx1"/>
                </a:solidFill>
                <a:latin typeface="+mj-lt"/>
                <a:ea typeface="+mj-ea"/>
              </a:defRPr>
            </a:lvl5pPr>
            <a:lvl6pPr marL="2509838" indent="-227013" algn="l" defTabSz="912813" rtl="0" fontAlgn="base">
              <a:spcBef>
                <a:spcPct val="20000"/>
              </a:spcBef>
              <a:spcAft>
                <a:spcPct val="0"/>
              </a:spcAft>
              <a:buChar char="»"/>
              <a:defRPr sz="2000">
                <a:solidFill>
                  <a:schemeClr val="tx1"/>
                </a:solidFill>
                <a:latin typeface="+mj-lt"/>
                <a:ea typeface="+mj-ea"/>
              </a:defRPr>
            </a:lvl6pPr>
            <a:lvl7pPr marL="2967038" indent="-227013" algn="l" defTabSz="912813" rtl="0" fontAlgn="base">
              <a:spcBef>
                <a:spcPct val="20000"/>
              </a:spcBef>
              <a:spcAft>
                <a:spcPct val="0"/>
              </a:spcAft>
              <a:buChar char="»"/>
              <a:defRPr sz="2000">
                <a:solidFill>
                  <a:schemeClr val="tx1"/>
                </a:solidFill>
                <a:latin typeface="+mj-lt"/>
                <a:ea typeface="+mj-ea"/>
              </a:defRPr>
            </a:lvl7pPr>
            <a:lvl8pPr marL="3424238" indent="-227013" algn="l" defTabSz="912813" rtl="0" fontAlgn="base">
              <a:spcBef>
                <a:spcPct val="20000"/>
              </a:spcBef>
              <a:spcAft>
                <a:spcPct val="0"/>
              </a:spcAft>
              <a:buChar char="»"/>
              <a:defRPr sz="2000">
                <a:solidFill>
                  <a:schemeClr val="tx1"/>
                </a:solidFill>
                <a:latin typeface="+mj-lt"/>
                <a:ea typeface="+mj-ea"/>
              </a:defRPr>
            </a:lvl8pPr>
            <a:lvl9pPr marL="3881438" indent="-227013" algn="l" defTabSz="912813" rtl="0" fontAlgn="base">
              <a:spcBef>
                <a:spcPct val="20000"/>
              </a:spcBef>
              <a:spcAft>
                <a:spcPct val="0"/>
              </a:spcAft>
              <a:buChar char="»"/>
              <a:defRPr sz="2000">
                <a:solidFill>
                  <a:schemeClr val="tx1"/>
                </a:solidFill>
                <a:latin typeface="+mj-lt"/>
                <a:ea typeface="+mj-ea"/>
              </a:defRPr>
            </a:lvl9pPr>
          </a:lstStyle>
          <a:p>
            <a:pPr marL="844529" lvl="1" indent="0" defTabSz="1217054">
              <a:lnSpc>
                <a:spcPct val="120000"/>
              </a:lnSpc>
              <a:spcBef>
                <a:spcPct val="50000"/>
              </a:spcBef>
              <a:buNone/>
              <a:defRPr/>
            </a:pPr>
            <a:r>
              <a:rPr kumimoji="0" lang="zh-CN" altLang="en-US" sz="1400" b="1" i="0" u="none" strike="noStrike" kern="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批量的准入条件</a:t>
            </a:r>
            <a:r>
              <a:rPr kumimoji="0" lang="zh-CN" altLang="en-US" sz="1400" b="0" i="0" u="none" strike="noStrike" kern="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en-US" altLang="zh-CN" sz="1400" b="0" i="0" u="none" strike="noStrike" kern="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PVT</a:t>
            </a:r>
            <a:r>
              <a:rPr kumimoji="0" lang="zh-CN" altLang="en-US" sz="1400" b="0" i="0" u="none" strike="noStrike" kern="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测试完成报告通过评审，</a:t>
            </a:r>
            <a:r>
              <a:rPr kumimoji="0" lang="en-US" altLang="zh-CN" sz="1400" b="0" i="0" u="none" strike="noStrike" kern="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TR5</a:t>
            </a:r>
            <a:r>
              <a:rPr kumimoji="0" lang="zh-CN" altLang="en-US" sz="1400" b="0" i="0" u="none" strike="noStrike" kern="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初始产品技术状态评审通过；如</a:t>
            </a:r>
            <a:r>
              <a:rPr kumimoji="0" lang="en-US" altLang="zh-CN" sz="1400" b="0" i="0" u="none" strike="noStrike" kern="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PVT</a:t>
            </a:r>
            <a:r>
              <a:rPr kumimoji="0" lang="zh-CN" altLang="en-US" sz="1400" b="0" i="0" u="none" strike="noStrike" kern="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阶段</a:t>
            </a:r>
            <a:r>
              <a:rPr lang="zh-CN" altLang="en-US" sz="1400" kern="0" dirty="0">
                <a:solidFill>
                  <a:prstClr val="black"/>
                </a:solidFill>
                <a:latin typeface="微软雅黑" panose="020B0503020204020204" pitchFamily="34" charset="-122"/>
                <a:ea typeface="微软雅黑" panose="020B0503020204020204" pitchFamily="34" charset="-122"/>
              </a:rPr>
              <a:t>被</a:t>
            </a:r>
            <a:r>
              <a:rPr lang="zh-CN" altLang="en-US" sz="1400" kern="0" dirty="0" smtClean="0">
                <a:solidFill>
                  <a:prstClr val="black"/>
                </a:solidFill>
                <a:latin typeface="微软雅黑" panose="020B0503020204020204" pitchFamily="34" charset="-122"/>
                <a:ea typeface="微软雅黑" panose="020B0503020204020204" pitchFamily="34" charset="-122"/>
              </a:rPr>
              <a:t>裁剪，准</a:t>
            </a:r>
            <a:r>
              <a:rPr kumimoji="0" lang="zh-CN" altLang="en-US" sz="1400" b="0" i="0" u="none" strike="noStrike" kern="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入条件参考</a:t>
            </a:r>
            <a:r>
              <a:rPr kumimoji="0" lang="en-US" altLang="zh-CN" sz="1400" b="0" i="0" u="none" strike="noStrike" kern="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PVT</a:t>
            </a:r>
            <a:r>
              <a:rPr kumimoji="0" lang="zh-CN" altLang="en-US" sz="1400" b="0" i="0" u="none" strike="noStrike" kern="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rPr>
              <a:t>准入条件</a:t>
            </a:r>
            <a:r>
              <a:rPr lang="zh-CN" altLang="en-US" sz="1400" kern="0" noProof="0" dirty="0" smtClean="0">
                <a:solidFill>
                  <a:prstClr val="black"/>
                </a:solidFill>
                <a:latin typeface="微软雅黑" panose="020B0503020204020204" pitchFamily="34" charset="-122"/>
                <a:ea typeface="微软雅黑" panose="020B0503020204020204" pitchFamily="34" charset="-122"/>
              </a:rPr>
              <a:t>，</a:t>
            </a:r>
            <a:r>
              <a:rPr lang="en-US" altLang="zh-CN" sz="1400" kern="0" noProof="0" dirty="0" smtClean="0">
                <a:solidFill>
                  <a:prstClr val="black"/>
                </a:solidFill>
                <a:latin typeface="微软雅黑" panose="020B0503020204020204" pitchFamily="34" charset="-122"/>
                <a:ea typeface="微软雅黑" panose="020B0503020204020204" pitchFamily="34" charset="-122"/>
              </a:rPr>
              <a:t>DI</a:t>
            </a:r>
            <a:r>
              <a:rPr lang="zh-CN" altLang="en-US" sz="1400" kern="0" noProof="0" dirty="0" smtClean="0">
                <a:solidFill>
                  <a:prstClr val="black"/>
                </a:solidFill>
                <a:latin typeface="微软雅黑" panose="020B0503020204020204" pitchFamily="34" charset="-122"/>
                <a:ea typeface="微软雅黑" panose="020B0503020204020204" pitchFamily="34" charset="-122"/>
              </a:rPr>
              <a:t>值要求按照批量准入要求</a:t>
            </a:r>
            <a:r>
              <a:rPr lang="zh-CN" altLang="en-US" sz="1400" kern="0" noProof="0" dirty="0" smtClean="0">
                <a:solidFill>
                  <a:prstClr val="black"/>
                </a:solidFill>
                <a:latin typeface="微软雅黑" panose="020B0503020204020204" pitchFamily="34" charset="-122"/>
                <a:ea typeface="微软雅黑" panose="020B0503020204020204" pitchFamily="34" charset="-122"/>
              </a:rPr>
              <a:t>（按照质量策划</a:t>
            </a:r>
            <a:r>
              <a:rPr lang="en-US" altLang="zh-CN" sz="1400" kern="0" noProof="0" dirty="0" smtClean="0">
                <a:solidFill>
                  <a:prstClr val="black"/>
                </a:solidFill>
                <a:latin typeface="微软雅黑" panose="020B0503020204020204" pitchFamily="34" charset="-122"/>
                <a:ea typeface="微软雅黑" panose="020B0503020204020204" pitchFamily="34" charset="-122"/>
              </a:rPr>
              <a:t>DI</a:t>
            </a:r>
            <a:r>
              <a:rPr lang="zh-CN" altLang="en-US" sz="1400" kern="0" noProof="0" dirty="0" smtClean="0">
                <a:solidFill>
                  <a:prstClr val="black"/>
                </a:solidFill>
                <a:latin typeface="微软雅黑" panose="020B0503020204020204" pitchFamily="34" charset="-122"/>
                <a:ea typeface="微软雅黑" panose="020B0503020204020204" pitchFamily="34" charset="-122"/>
              </a:rPr>
              <a:t>值要求）</a:t>
            </a:r>
            <a:r>
              <a:rPr lang="zh-CN" altLang="en-US" sz="1400" kern="0" noProof="0" dirty="0" smtClean="0">
                <a:solidFill>
                  <a:prstClr val="black"/>
                </a:solidFill>
                <a:latin typeface="微软雅黑" panose="020B0503020204020204" pitchFamily="34" charset="-122"/>
                <a:ea typeface="微软雅黑" panose="020B0503020204020204" pitchFamily="34" charset="-122"/>
              </a:rPr>
              <a:t>。</a:t>
            </a:r>
            <a:endParaRPr kumimoji="0" lang="en-US" altLang="zh-CN" sz="1400" b="0" i="0" u="none" strike="noStrike" kern="0" cap="none" spc="0" normalizeH="0" baseline="0" noProof="0" dirty="0" smtClean="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 name="Freeform: Shape 15"/>
          <p:cNvSpPr>
            <a:spLocks/>
          </p:cNvSpPr>
          <p:nvPr/>
        </p:nvSpPr>
        <p:spPr bwMode="auto">
          <a:xfrm>
            <a:off x="794655" y="1112240"/>
            <a:ext cx="562707" cy="571417"/>
          </a:xfrm>
          <a:custGeom>
            <a:avLst/>
            <a:gdLst/>
            <a:ahLst/>
            <a:cxnLst>
              <a:cxn ang="0">
                <a:pos x="55" y="44"/>
              </a:cxn>
              <a:cxn ang="0">
                <a:pos x="44" y="55"/>
              </a:cxn>
              <a:cxn ang="0">
                <a:pos x="10" y="55"/>
              </a:cxn>
              <a:cxn ang="0">
                <a:pos x="0" y="44"/>
              </a:cxn>
              <a:cxn ang="0">
                <a:pos x="0" y="10"/>
              </a:cxn>
              <a:cxn ang="0">
                <a:pos x="10" y="0"/>
              </a:cxn>
              <a:cxn ang="0">
                <a:pos x="44" y="0"/>
              </a:cxn>
              <a:cxn ang="0">
                <a:pos x="55" y="10"/>
              </a:cxn>
              <a:cxn ang="0">
                <a:pos x="55" y="44"/>
              </a:cxn>
              <a:cxn ang="0">
                <a:pos x="46" y="20"/>
              </a:cxn>
              <a:cxn ang="0">
                <a:pos x="46" y="17"/>
              </a:cxn>
              <a:cxn ang="0">
                <a:pos x="42" y="13"/>
              </a:cxn>
              <a:cxn ang="0">
                <a:pos x="39" y="13"/>
              </a:cxn>
              <a:cxn ang="0">
                <a:pos x="23" y="30"/>
              </a:cxn>
              <a:cxn ang="0">
                <a:pos x="15" y="22"/>
              </a:cxn>
              <a:cxn ang="0">
                <a:pos x="12" y="22"/>
              </a:cxn>
              <a:cxn ang="0">
                <a:pos x="8" y="26"/>
              </a:cxn>
              <a:cxn ang="0">
                <a:pos x="8" y="29"/>
              </a:cxn>
              <a:cxn ang="0">
                <a:pos x="21" y="42"/>
              </a:cxn>
              <a:cxn ang="0">
                <a:pos x="24" y="42"/>
              </a:cxn>
              <a:cxn ang="0">
                <a:pos x="46" y="20"/>
              </a:cxn>
            </a:cxnLst>
            <a:rect l="0" t="0" r="r" b="b"/>
            <a:pathLst>
              <a:path w="55" h="55">
                <a:moveTo>
                  <a:pt x="55" y="44"/>
                </a:moveTo>
                <a:cubicBezTo>
                  <a:pt x="55" y="50"/>
                  <a:pt x="50" y="55"/>
                  <a:pt x="44" y="55"/>
                </a:cubicBezTo>
                <a:cubicBezTo>
                  <a:pt x="10" y="55"/>
                  <a:pt x="10" y="55"/>
                  <a:pt x="10" y="55"/>
                </a:cubicBezTo>
                <a:cubicBezTo>
                  <a:pt x="4" y="55"/>
                  <a:pt x="0" y="50"/>
                  <a:pt x="0" y="44"/>
                </a:cubicBezTo>
                <a:cubicBezTo>
                  <a:pt x="0" y="10"/>
                  <a:pt x="0" y="10"/>
                  <a:pt x="0" y="10"/>
                </a:cubicBezTo>
                <a:cubicBezTo>
                  <a:pt x="0" y="5"/>
                  <a:pt x="4" y="0"/>
                  <a:pt x="10" y="0"/>
                </a:cubicBezTo>
                <a:cubicBezTo>
                  <a:pt x="44" y="0"/>
                  <a:pt x="44" y="0"/>
                  <a:pt x="44" y="0"/>
                </a:cubicBezTo>
                <a:cubicBezTo>
                  <a:pt x="50" y="0"/>
                  <a:pt x="55" y="5"/>
                  <a:pt x="55" y="10"/>
                </a:cubicBezTo>
                <a:lnTo>
                  <a:pt x="55" y="44"/>
                </a:lnTo>
                <a:close/>
                <a:moveTo>
                  <a:pt x="46" y="20"/>
                </a:moveTo>
                <a:cubicBezTo>
                  <a:pt x="47" y="19"/>
                  <a:pt x="47" y="17"/>
                  <a:pt x="46" y="17"/>
                </a:cubicBezTo>
                <a:cubicBezTo>
                  <a:pt x="42" y="13"/>
                  <a:pt x="42" y="13"/>
                  <a:pt x="42" y="13"/>
                </a:cubicBezTo>
                <a:cubicBezTo>
                  <a:pt x="42" y="12"/>
                  <a:pt x="40" y="12"/>
                  <a:pt x="39" y="13"/>
                </a:cubicBezTo>
                <a:cubicBezTo>
                  <a:pt x="23" y="30"/>
                  <a:pt x="23" y="30"/>
                  <a:pt x="23" y="30"/>
                </a:cubicBezTo>
                <a:cubicBezTo>
                  <a:pt x="15" y="22"/>
                  <a:pt x="15" y="22"/>
                  <a:pt x="15" y="22"/>
                </a:cubicBezTo>
                <a:cubicBezTo>
                  <a:pt x="14" y="21"/>
                  <a:pt x="13" y="21"/>
                  <a:pt x="12" y="22"/>
                </a:cubicBezTo>
                <a:cubicBezTo>
                  <a:pt x="8" y="26"/>
                  <a:pt x="8" y="26"/>
                  <a:pt x="8" y="26"/>
                </a:cubicBezTo>
                <a:cubicBezTo>
                  <a:pt x="7" y="27"/>
                  <a:pt x="7" y="28"/>
                  <a:pt x="8" y="29"/>
                </a:cubicBezTo>
                <a:cubicBezTo>
                  <a:pt x="21" y="42"/>
                  <a:pt x="21" y="42"/>
                  <a:pt x="21" y="42"/>
                </a:cubicBezTo>
                <a:cubicBezTo>
                  <a:pt x="22" y="43"/>
                  <a:pt x="23" y="43"/>
                  <a:pt x="24" y="42"/>
                </a:cubicBezTo>
                <a:lnTo>
                  <a:pt x="46" y="20"/>
                </a:lnTo>
                <a:close/>
              </a:path>
            </a:pathLst>
          </a:custGeom>
          <a:solidFill>
            <a:srgbClr val="C00000"/>
          </a:solidFill>
          <a:ln w="9525">
            <a:noFill/>
            <a:round/>
            <a:headEnd/>
            <a:tailE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微软雅黑"/>
              <a:cs typeface="+mn-cs"/>
            </a:endParaRPr>
          </a:p>
        </p:txBody>
      </p:sp>
      <p:sp>
        <p:nvSpPr>
          <p:cNvPr id="2" name="文本框 1"/>
          <p:cNvSpPr txBox="1"/>
          <p:nvPr/>
        </p:nvSpPr>
        <p:spPr>
          <a:xfrm>
            <a:off x="1076008" y="1835655"/>
            <a:ext cx="9390743" cy="1938992"/>
          </a:xfrm>
          <a:prstGeom prst="rect">
            <a:avLst/>
          </a:prstGeom>
          <a:noFill/>
        </p:spPr>
        <p:txBody>
          <a:bodyPr wrap="square" rtlCol="0">
            <a:spAutoFit/>
          </a:bodyPr>
          <a:lstStyle/>
          <a:p>
            <a:pPr marL="285750" marR="0" lvl="0" indent="-285750" algn="l" defTabSz="914400" rtl="0" eaLnBrk="1" fontAlgn="auto" latinLnBrk="0" hangingPunct="1">
              <a:lnSpc>
                <a:spcPct val="120000"/>
              </a:lnSpc>
              <a:spcBef>
                <a:spcPts val="0"/>
              </a:spcBef>
              <a:spcAft>
                <a:spcPts val="0"/>
              </a:spcAft>
              <a:buClrTx/>
              <a:buSzTx/>
              <a:buFont typeface="Wingdings" panose="05000000000000000000" pitchFamily="2" charset="2"/>
              <a:buChar char="Ø"/>
              <a:tabLst/>
              <a:defRPr/>
            </a:pPr>
            <a:endParaRPr kumimoji="0" lang="en-US" altLang="zh-CN" sz="1400" b="0" i="0" u="none" strike="noStrike" kern="1200" cap="none" spc="0" normalizeH="0" baseline="0" noProof="0" dirty="0" smtClean="0">
              <a:ln>
                <a:noFill/>
              </a:ln>
              <a:solidFill>
                <a:prstClr val="black">
                  <a:lumMod val="75000"/>
                  <a:lumOff val="25000"/>
                </a:prstClr>
              </a:solidFill>
              <a:effectLst/>
              <a:uLnTx/>
              <a:uFillTx/>
              <a:latin typeface="+mn-ea"/>
            </a:endParaRPr>
          </a:p>
          <a:p>
            <a:pPr marL="285750" marR="0" lvl="0" indent="-285750" algn="l" defTabSz="914400" rtl="0" eaLnBrk="1" fontAlgn="auto" latinLnBrk="0" hangingPunct="1">
              <a:lnSpc>
                <a:spcPct val="120000"/>
              </a:lnSpc>
              <a:spcBef>
                <a:spcPts val="0"/>
              </a:spcBef>
              <a:spcAft>
                <a:spcPts val="0"/>
              </a:spcAft>
              <a:buClrTx/>
              <a:buSzTx/>
              <a:buFont typeface="Wingdings" panose="05000000000000000000" pitchFamily="2" charset="2"/>
              <a:buChar char="Ø"/>
              <a:tabLst/>
              <a:defRPr/>
            </a:pPr>
            <a:r>
              <a:rPr kumimoji="0" lang="zh-CN" altLang="en-US" sz="1400" b="0" i="0" u="none" strike="noStrike" kern="1200" cap="none" spc="0" normalizeH="0" baseline="0" noProof="0" dirty="0" smtClean="0">
                <a:ln>
                  <a:noFill/>
                </a:ln>
                <a:solidFill>
                  <a:prstClr val="black">
                    <a:lumMod val="75000"/>
                    <a:lumOff val="25000"/>
                  </a:prstClr>
                </a:solidFill>
                <a:effectLst/>
                <a:uLnTx/>
                <a:uFillTx/>
                <a:latin typeface="+mn-ea"/>
              </a:rPr>
              <a:t>为了确保产品的质量状况，及验证遗留概率问题，应在</a:t>
            </a:r>
            <a:r>
              <a:rPr kumimoji="0" lang="en-US" altLang="zh-CN" sz="1400" b="0" i="0" u="none" strike="noStrike" kern="1200" cap="none" spc="0" normalizeH="0" baseline="0" noProof="0" dirty="0" smtClean="0">
                <a:ln>
                  <a:noFill/>
                </a:ln>
                <a:solidFill>
                  <a:prstClr val="black">
                    <a:lumMod val="75000"/>
                    <a:lumOff val="25000"/>
                  </a:prstClr>
                </a:solidFill>
                <a:effectLst/>
                <a:uLnTx/>
                <a:uFillTx/>
                <a:latin typeface="+mn-ea"/>
              </a:rPr>
              <a:t>PVT </a:t>
            </a:r>
            <a:r>
              <a:rPr kumimoji="0" lang="zh-CN" altLang="en-US" sz="1400" b="0" i="0" u="none" strike="noStrike" kern="1200" cap="none" spc="0" normalizeH="0" baseline="0" noProof="0" dirty="0" smtClean="0">
                <a:ln>
                  <a:noFill/>
                </a:ln>
                <a:solidFill>
                  <a:prstClr val="black">
                    <a:lumMod val="75000"/>
                    <a:lumOff val="25000"/>
                  </a:prstClr>
                </a:solidFill>
                <a:effectLst/>
                <a:uLnTx/>
                <a:uFillTx/>
                <a:latin typeface="+mn-ea"/>
              </a:rPr>
              <a:t>测试完成后使用批量试制生产机器进行批量测试。</a:t>
            </a:r>
            <a:endParaRPr kumimoji="0" lang="en-US" altLang="zh-CN" sz="1400" b="0" i="0" u="none" strike="noStrike" kern="1200" cap="none" spc="0" normalizeH="0" baseline="0" noProof="0" dirty="0" smtClean="0">
              <a:ln>
                <a:noFill/>
              </a:ln>
              <a:solidFill>
                <a:prstClr val="black">
                  <a:lumMod val="75000"/>
                  <a:lumOff val="25000"/>
                </a:prstClr>
              </a:solidFill>
              <a:effectLst/>
              <a:uLnTx/>
              <a:uFillTx/>
              <a:latin typeface="+mn-ea"/>
            </a:endParaRPr>
          </a:p>
          <a:p>
            <a:pPr marL="285750" marR="0" lvl="0" indent="-285750" algn="l" defTabSz="914400" rtl="0" eaLnBrk="1" fontAlgn="auto" latinLnBrk="0" hangingPunct="1">
              <a:lnSpc>
                <a:spcPct val="120000"/>
              </a:lnSpc>
              <a:spcBef>
                <a:spcPts val="0"/>
              </a:spcBef>
              <a:spcAft>
                <a:spcPts val="0"/>
              </a:spcAft>
              <a:buClrTx/>
              <a:buSzTx/>
              <a:buFont typeface="Wingdings" panose="05000000000000000000" pitchFamily="2" charset="2"/>
              <a:buChar char="Ø"/>
              <a:tabLst/>
              <a:defRPr/>
            </a:pPr>
            <a:r>
              <a:rPr kumimoji="0" lang="zh-CN" altLang="en-US" sz="1400" b="0" i="0" u="none" strike="noStrike" kern="1200" cap="none" spc="0" normalizeH="0" baseline="0" noProof="0" dirty="0" smtClean="0">
                <a:ln>
                  <a:noFill/>
                </a:ln>
                <a:solidFill>
                  <a:prstClr val="black">
                    <a:lumMod val="75000"/>
                    <a:lumOff val="25000"/>
                  </a:prstClr>
                </a:solidFill>
                <a:effectLst/>
                <a:uLnTx/>
                <a:uFillTx/>
                <a:latin typeface="+mn-ea"/>
              </a:rPr>
              <a:t>批量测试使用机器，需为批量试制产线生产机台。</a:t>
            </a:r>
            <a:endParaRPr lang="en-US" altLang="zh-CN" sz="1400" dirty="0">
              <a:solidFill>
                <a:prstClr val="black">
                  <a:lumMod val="75000"/>
                  <a:lumOff val="25000"/>
                </a:prstClr>
              </a:solidFill>
              <a:latin typeface="+mn-ea"/>
            </a:endParaRPr>
          </a:p>
          <a:p>
            <a:pPr marL="285750" marR="0" lvl="0" indent="-285750" algn="l" defTabSz="914400" rtl="0" eaLnBrk="1" fontAlgn="auto" latinLnBrk="0" hangingPunct="1">
              <a:lnSpc>
                <a:spcPct val="120000"/>
              </a:lnSpc>
              <a:spcBef>
                <a:spcPts val="0"/>
              </a:spcBef>
              <a:spcAft>
                <a:spcPts val="0"/>
              </a:spcAft>
              <a:buClrTx/>
              <a:buSzTx/>
              <a:buFont typeface="Wingdings" panose="05000000000000000000" pitchFamily="2" charset="2"/>
              <a:buChar char="Ø"/>
              <a:tabLst/>
              <a:defRPr/>
            </a:pPr>
            <a:r>
              <a:rPr kumimoji="0" lang="zh-CN" altLang="en-US" sz="1400" b="0" i="0" u="none" strike="noStrike" kern="1200" cap="none" spc="0" normalizeH="0" baseline="0" noProof="0" dirty="0" smtClean="0">
                <a:ln>
                  <a:noFill/>
                </a:ln>
                <a:solidFill>
                  <a:prstClr val="black">
                    <a:lumMod val="75000"/>
                    <a:lumOff val="25000"/>
                  </a:prstClr>
                </a:solidFill>
                <a:effectLst/>
                <a:uLnTx/>
                <a:uFillTx/>
                <a:latin typeface="+mn-ea"/>
              </a:rPr>
              <a:t>批量测试完成后，测试报告通过评审，</a:t>
            </a:r>
            <a:r>
              <a:rPr lang="zh-CN" altLang="en-US" sz="1400" dirty="0" smtClean="0">
                <a:solidFill>
                  <a:prstClr val="black">
                    <a:lumMod val="75000"/>
                    <a:lumOff val="25000"/>
                  </a:prstClr>
                </a:solidFill>
                <a:latin typeface="+mn-ea"/>
              </a:rPr>
              <a:t>根据项目计划</a:t>
            </a:r>
            <a:r>
              <a:rPr kumimoji="0" lang="zh-CN" altLang="en-US" sz="1400" b="0" i="0" u="none" strike="noStrike" kern="1200" cap="none" spc="0" normalizeH="0" baseline="0" noProof="0" dirty="0" smtClean="0">
                <a:ln>
                  <a:noFill/>
                </a:ln>
                <a:solidFill>
                  <a:prstClr val="black">
                    <a:lumMod val="75000"/>
                    <a:lumOff val="25000"/>
                  </a:prstClr>
                </a:solidFill>
                <a:effectLst/>
                <a:uLnTx/>
                <a:uFillTx/>
                <a:latin typeface="+mn-ea"/>
              </a:rPr>
              <a:t>进行质量评审，评审通过后方可进行</a:t>
            </a:r>
            <a:r>
              <a:rPr kumimoji="0" lang="en-US" altLang="zh-CN" sz="1400" b="0" i="0" u="none" strike="noStrike" kern="1200" cap="none" spc="0" normalizeH="0" baseline="0" noProof="0" dirty="0" smtClean="0">
                <a:ln>
                  <a:noFill/>
                </a:ln>
                <a:solidFill>
                  <a:prstClr val="black">
                    <a:lumMod val="75000"/>
                    <a:lumOff val="25000"/>
                  </a:prstClr>
                </a:solidFill>
                <a:effectLst/>
                <a:uLnTx/>
                <a:uFillTx/>
                <a:latin typeface="+mn-ea"/>
              </a:rPr>
              <a:t>NPI </a:t>
            </a:r>
            <a:r>
              <a:rPr kumimoji="0" lang="zh-CN" altLang="en-US" sz="1400" b="0" i="0" u="none" strike="noStrike" kern="1200" cap="none" spc="0" normalizeH="0" baseline="0" noProof="0" dirty="0" smtClean="0">
                <a:ln>
                  <a:noFill/>
                </a:ln>
                <a:solidFill>
                  <a:prstClr val="black">
                    <a:lumMod val="75000"/>
                    <a:lumOff val="25000"/>
                  </a:prstClr>
                </a:solidFill>
                <a:effectLst/>
                <a:uLnTx/>
                <a:uFillTx/>
                <a:latin typeface="+mn-ea"/>
              </a:rPr>
              <a:t>验收。</a:t>
            </a:r>
            <a:endParaRPr kumimoji="0" lang="en-US" altLang="zh-CN" sz="1400" b="0" i="0" u="none" strike="noStrike" kern="1200" cap="none" spc="0" normalizeH="0" baseline="0" noProof="0" dirty="0" smtClean="0">
              <a:ln>
                <a:noFill/>
              </a:ln>
              <a:solidFill>
                <a:prstClr val="black">
                  <a:lumMod val="75000"/>
                  <a:lumOff val="25000"/>
                </a:prstClr>
              </a:solidFill>
              <a:effectLst/>
              <a:uLnTx/>
              <a:uFillTx/>
              <a:latin typeface="+mn-ea"/>
            </a:endParaRPr>
          </a:p>
          <a:p>
            <a:pPr marL="285750" lvl="0" indent="-285750">
              <a:lnSpc>
                <a:spcPct val="120000"/>
              </a:lnSpc>
              <a:buFont typeface="Wingdings" panose="05000000000000000000" pitchFamily="2" charset="2"/>
              <a:buChar char="Ø"/>
              <a:defRPr/>
            </a:pPr>
            <a:r>
              <a:rPr kumimoji="0" lang="en-US" altLang="zh-CN" sz="1400" b="0" i="0" u="none" strike="noStrike" kern="1200" cap="none" spc="0" normalizeH="0" baseline="0" noProof="0" dirty="0" smtClean="0">
                <a:ln>
                  <a:noFill/>
                </a:ln>
                <a:solidFill>
                  <a:prstClr val="black">
                    <a:lumMod val="75000"/>
                    <a:lumOff val="25000"/>
                  </a:prstClr>
                </a:solidFill>
                <a:effectLst/>
                <a:uLnTx/>
                <a:uFillTx/>
                <a:latin typeface="+mn-ea"/>
              </a:rPr>
              <a:t>PVT</a:t>
            </a:r>
            <a:r>
              <a:rPr lang="zh-CN" altLang="en-US" sz="1400" dirty="0">
                <a:solidFill>
                  <a:prstClr val="black">
                    <a:lumMod val="75000"/>
                    <a:lumOff val="25000"/>
                  </a:prstClr>
                </a:solidFill>
                <a:latin typeface="+mn-ea"/>
              </a:rPr>
              <a:t>裁剪的</a:t>
            </a:r>
            <a:r>
              <a:rPr kumimoji="0" lang="zh-CN" altLang="en-US" sz="1400" b="0" i="0" u="none" strike="noStrike" kern="1200" cap="none" spc="0" normalizeH="0" baseline="0" noProof="0" dirty="0" smtClean="0">
                <a:ln>
                  <a:noFill/>
                </a:ln>
                <a:solidFill>
                  <a:prstClr val="black">
                    <a:lumMod val="75000"/>
                    <a:lumOff val="25000"/>
                  </a:prstClr>
                </a:solidFill>
                <a:effectLst/>
                <a:uLnTx/>
                <a:uFillTx/>
                <a:latin typeface="+mn-ea"/>
              </a:rPr>
              <a:t>情况下，</a:t>
            </a:r>
            <a:r>
              <a:rPr lang="zh-CN" altLang="en-US" sz="1400" dirty="0">
                <a:solidFill>
                  <a:prstClr val="black">
                    <a:lumMod val="75000"/>
                    <a:lumOff val="25000"/>
                  </a:prstClr>
                </a:solidFill>
                <a:latin typeface="+mn-ea"/>
              </a:rPr>
              <a:t>项目需要</a:t>
            </a:r>
            <a:r>
              <a:rPr lang="zh-CN" altLang="en-US" sz="1400" dirty="0" smtClean="0">
                <a:solidFill>
                  <a:prstClr val="black">
                    <a:lumMod val="75000"/>
                    <a:lumOff val="25000"/>
                  </a:prstClr>
                </a:solidFill>
                <a:latin typeface="+mn-ea"/>
              </a:rPr>
              <a:t>进行批量可靠性</a:t>
            </a:r>
            <a:r>
              <a:rPr lang="zh-CN" altLang="en-US" sz="1400" dirty="0">
                <a:solidFill>
                  <a:prstClr val="black">
                    <a:lumMod val="75000"/>
                    <a:lumOff val="25000"/>
                  </a:prstClr>
                </a:solidFill>
                <a:latin typeface="+mn-ea"/>
              </a:rPr>
              <a:t>测试</a:t>
            </a:r>
            <a:r>
              <a:rPr lang="zh-CN" altLang="en-US" sz="1400" dirty="0" smtClean="0">
                <a:solidFill>
                  <a:prstClr val="black">
                    <a:lumMod val="75000"/>
                    <a:lumOff val="25000"/>
                  </a:prstClr>
                </a:solidFill>
                <a:latin typeface="+mn-ea"/>
              </a:rPr>
              <a:t>。</a:t>
            </a:r>
            <a:endParaRPr lang="en-US" altLang="zh-CN" sz="1400" dirty="0" smtClean="0">
              <a:solidFill>
                <a:prstClr val="black">
                  <a:lumMod val="75000"/>
                  <a:lumOff val="25000"/>
                </a:prstClr>
              </a:solidFill>
              <a:latin typeface="+mn-ea"/>
            </a:endParaRPr>
          </a:p>
          <a:p>
            <a:pPr marL="285750" marR="0" lvl="0" indent="-285750" algn="l" defTabSz="914400" rtl="0" eaLnBrk="1" fontAlgn="auto" latinLnBrk="0" hangingPunct="1">
              <a:lnSpc>
                <a:spcPct val="120000"/>
              </a:lnSpc>
              <a:spcBef>
                <a:spcPts val="0"/>
              </a:spcBef>
              <a:spcAft>
                <a:spcPts val="0"/>
              </a:spcAft>
              <a:buClrTx/>
              <a:buSzTx/>
              <a:buFont typeface="Wingdings" panose="05000000000000000000" pitchFamily="2" charset="2"/>
              <a:buChar char="Ø"/>
              <a:tabLst/>
              <a:defRPr/>
            </a:pPr>
            <a:endParaRPr lang="en-US" altLang="zh-CN" sz="1400" dirty="0">
              <a:solidFill>
                <a:prstClr val="black">
                  <a:lumMod val="75000"/>
                  <a:lumOff val="25000"/>
                </a:prstClr>
              </a:solidFill>
              <a:latin typeface="+mn-ea"/>
            </a:endParaRPr>
          </a:p>
          <a:p>
            <a:pPr marL="285750" marR="0" lvl="0" indent="-285750" algn="l" defTabSz="914400" rtl="0" eaLnBrk="1" fontAlgn="auto" latinLnBrk="0" hangingPunct="1">
              <a:lnSpc>
                <a:spcPct val="120000"/>
              </a:lnSpc>
              <a:spcBef>
                <a:spcPts val="0"/>
              </a:spcBef>
              <a:spcAft>
                <a:spcPts val="0"/>
              </a:spcAft>
              <a:buClrTx/>
              <a:buSzTx/>
              <a:buFont typeface="Wingdings" panose="05000000000000000000" pitchFamily="2" charset="2"/>
              <a:buChar char="Ø"/>
              <a:tabLst/>
              <a:defRPr/>
            </a:pPr>
            <a:endParaRPr kumimoji="0" lang="zh-CN" altLang="en-US" sz="1600" b="0" i="0" u="none" strike="noStrike" kern="1200" cap="none" spc="0" normalizeH="0" baseline="0" noProof="0" dirty="0" smtClean="0">
              <a:ln>
                <a:noFill/>
              </a:ln>
              <a:solidFill>
                <a:prstClr val="black">
                  <a:lumMod val="75000"/>
                  <a:lumOff val="25000"/>
                </a:prstClr>
              </a:solidFill>
              <a:effectLst/>
              <a:uLnTx/>
              <a:uFillTx/>
              <a:latin typeface="Calibri"/>
              <a:ea typeface="微软雅黑"/>
              <a:cs typeface="+mn-cs"/>
            </a:endParaRPr>
          </a:p>
        </p:txBody>
      </p:sp>
      <p:grpSp>
        <p:nvGrpSpPr>
          <p:cNvPr id="7" name="Group 107"/>
          <p:cNvGrpSpPr/>
          <p:nvPr/>
        </p:nvGrpSpPr>
        <p:grpSpPr>
          <a:xfrm>
            <a:off x="1561513" y="3122056"/>
            <a:ext cx="457201" cy="397734"/>
            <a:chOff x="3698875" y="1574800"/>
            <a:chExt cx="611188" cy="606425"/>
          </a:xfrm>
        </p:grpSpPr>
        <p:sp>
          <p:nvSpPr>
            <p:cNvPr id="8" name="Freeform: Shape 108"/>
            <p:cNvSpPr>
              <a:spLocks/>
            </p:cNvSpPr>
            <p:nvPr/>
          </p:nvSpPr>
          <p:spPr bwMode="auto">
            <a:xfrm>
              <a:off x="4008438" y="1574800"/>
              <a:ext cx="301625" cy="606425"/>
            </a:xfrm>
            <a:custGeom>
              <a:avLst/>
              <a:gdLst/>
              <a:ahLst/>
              <a:cxnLst>
                <a:cxn ang="0">
                  <a:pos x="0" y="382"/>
                </a:cxn>
                <a:cxn ang="0">
                  <a:pos x="190" y="286"/>
                </a:cxn>
                <a:cxn ang="0">
                  <a:pos x="0" y="0"/>
                </a:cxn>
                <a:cxn ang="0">
                  <a:pos x="0" y="0"/>
                </a:cxn>
                <a:cxn ang="0">
                  <a:pos x="0" y="382"/>
                </a:cxn>
              </a:cxnLst>
              <a:rect l="0" t="0" r="r" b="b"/>
              <a:pathLst>
                <a:path w="190" h="382">
                  <a:moveTo>
                    <a:pt x="0" y="382"/>
                  </a:moveTo>
                  <a:lnTo>
                    <a:pt x="190" y="286"/>
                  </a:lnTo>
                  <a:lnTo>
                    <a:pt x="0" y="0"/>
                  </a:lnTo>
                  <a:lnTo>
                    <a:pt x="0" y="0"/>
                  </a:lnTo>
                  <a:lnTo>
                    <a:pt x="0" y="382"/>
                  </a:lnTo>
                  <a:close/>
                </a:path>
              </a:pathLst>
            </a:custGeom>
            <a:solidFill>
              <a:schemeClr val="accent3">
                <a:lumMod val="75000"/>
              </a:schemeClr>
            </a:solidFill>
            <a:ln w="9525">
              <a:noFill/>
              <a:round/>
              <a:headEnd/>
              <a:tailE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微软雅黑"/>
                <a:cs typeface="+mn-cs"/>
              </a:endParaRPr>
            </a:p>
          </p:txBody>
        </p:sp>
        <p:sp>
          <p:nvSpPr>
            <p:cNvPr id="9" name="Freeform: Shape 109"/>
            <p:cNvSpPr>
              <a:spLocks/>
            </p:cNvSpPr>
            <p:nvPr/>
          </p:nvSpPr>
          <p:spPr bwMode="auto">
            <a:xfrm>
              <a:off x="3698875" y="1574800"/>
              <a:ext cx="309563" cy="606425"/>
            </a:xfrm>
            <a:custGeom>
              <a:avLst/>
              <a:gdLst/>
              <a:ahLst/>
              <a:cxnLst>
                <a:cxn ang="0">
                  <a:pos x="195" y="0"/>
                </a:cxn>
                <a:cxn ang="0">
                  <a:pos x="195" y="0"/>
                </a:cxn>
                <a:cxn ang="0">
                  <a:pos x="0" y="286"/>
                </a:cxn>
                <a:cxn ang="0">
                  <a:pos x="195" y="382"/>
                </a:cxn>
                <a:cxn ang="0">
                  <a:pos x="195" y="0"/>
                </a:cxn>
              </a:cxnLst>
              <a:rect l="0" t="0" r="r" b="b"/>
              <a:pathLst>
                <a:path w="195" h="382">
                  <a:moveTo>
                    <a:pt x="195" y="0"/>
                  </a:moveTo>
                  <a:lnTo>
                    <a:pt x="195" y="0"/>
                  </a:lnTo>
                  <a:lnTo>
                    <a:pt x="0" y="286"/>
                  </a:lnTo>
                  <a:lnTo>
                    <a:pt x="195" y="382"/>
                  </a:lnTo>
                  <a:lnTo>
                    <a:pt x="195" y="0"/>
                  </a:lnTo>
                  <a:close/>
                </a:path>
              </a:pathLst>
            </a:custGeom>
            <a:solidFill>
              <a:schemeClr val="accent3"/>
            </a:solidFill>
            <a:ln w="9525">
              <a:noFill/>
              <a:round/>
              <a:headEnd/>
              <a:tailE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微软雅黑"/>
                <a:cs typeface="+mn-cs"/>
              </a:endParaRPr>
            </a:p>
          </p:txBody>
        </p:sp>
      </p:grpSp>
      <p:sp>
        <p:nvSpPr>
          <p:cNvPr id="5" name="文本框 4"/>
          <p:cNvSpPr txBox="1"/>
          <p:nvPr/>
        </p:nvSpPr>
        <p:spPr>
          <a:xfrm>
            <a:off x="1641101" y="3157382"/>
            <a:ext cx="10109260" cy="1902059"/>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400" b="1" i="0" u="none" strike="noStrike" kern="1200" cap="none" spc="0" normalizeH="0" baseline="0" noProof="0" dirty="0" smtClean="0">
                <a:ln>
                  <a:noFill/>
                </a:ln>
                <a:solidFill>
                  <a:prstClr val="black">
                    <a:lumMod val="75000"/>
                    <a:lumOff val="25000"/>
                  </a:prstClr>
                </a:solidFill>
                <a:effectLst/>
                <a:uLnTx/>
                <a:uFillTx/>
                <a:latin typeface="微软雅黑"/>
                <a:ea typeface="微软雅黑"/>
                <a:cs typeface="+mn-cs"/>
              </a:rPr>
              <a:t>     </a:t>
            </a:r>
            <a:r>
              <a:rPr kumimoji="0" lang="zh-CN" altLang="en-US" sz="1400" b="1" i="0" u="none" strike="noStrike" kern="1200" cap="none" spc="0" normalizeH="0" noProof="0" dirty="0" smtClean="0">
                <a:ln>
                  <a:noFill/>
                </a:ln>
                <a:solidFill>
                  <a:prstClr val="black">
                    <a:lumMod val="75000"/>
                    <a:lumOff val="25000"/>
                  </a:prstClr>
                </a:solidFill>
                <a:effectLst/>
                <a:uLnTx/>
                <a:uFillTx/>
                <a:latin typeface="微软雅黑"/>
                <a:ea typeface="微软雅黑"/>
                <a:cs typeface="+mn-cs"/>
              </a:rPr>
              <a:t> </a:t>
            </a:r>
            <a:r>
              <a:rPr kumimoji="0" lang="zh-CN" altLang="en-US" sz="1400" b="1" i="0" u="none" strike="noStrike" kern="1200" cap="none" spc="0" normalizeH="0" baseline="0" noProof="0" dirty="0" smtClean="0">
                <a:ln>
                  <a:noFill/>
                </a:ln>
                <a:solidFill>
                  <a:prstClr val="black">
                    <a:lumMod val="75000"/>
                    <a:lumOff val="25000"/>
                  </a:prstClr>
                </a:solidFill>
                <a:effectLst/>
                <a:uLnTx/>
                <a:uFillTx/>
                <a:latin typeface="微软雅黑"/>
                <a:ea typeface="微软雅黑"/>
                <a:cs typeface="+mn-cs"/>
              </a:rPr>
              <a:t>产品质量评审：</a:t>
            </a:r>
            <a:endParaRPr kumimoji="0" lang="en-US" altLang="zh-CN" sz="1400" b="1" i="0" u="none" strike="noStrike" kern="1200" cap="none" spc="0" normalizeH="0" baseline="0" noProof="0" dirty="0" smtClean="0">
              <a:ln>
                <a:noFill/>
              </a:ln>
              <a:solidFill>
                <a:prstClr val="black">
                  <a:lumMod val="75000"/>
                  <a:lumOff val="25000"/>
                </a:prstClr>
              </a:solidFill>
              <a:effectLst/>
              <a:uLnTx/>
              <a:uFillTx/>
              <a:latin typeface="微软雅黑"/>
              <a:ea typeface="微软雅黑"/>
              <a:cs typeface="+mn-cs"/>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altLang="zh-CN" sz="1200" i="0" u="none" strike="noStrike" kern="1200" cap="none" spc="0" normalizeH="0" baseline="0" noProof="0" dirty="0" smtClean="0">
                <a:ln>
                  <a:noFill/>
                </a:ln>
                <a:solidFill>
                  <a:srgbClr val="0070C0"/>
                </a:solidFill>
                <a:effectLst/>
                <a:uLnTx/>
                <a:uFillTx/>
                <a:latin typeface="微软雅黑"/>
                <a:ea typeface="微软雅黑"/>
                <a:cs typeface="+mn-cs"/>
              </a:rPr>
              <a:t>DI</a:t>
            </a:r>
            <a:r>
              <a:rPr kumimoji="0" lang="zh-CN" altLang="en-US" sz="1200" i="0" u="none" strike="noStrike" kern="1200" cap="none" spc="0" normalizeH="0" baseline="0" noProof="0" dirty="0" smtClean="0">
                <a:ln>
                  <a:noFill/>
                </a:ln>
                <a:solidFill>
                  <a:srgbClr val="0070C0"/>
                </a:solidFill>
                <a:effectLst/>
                <a:uLnTx/>
                <a:uFillTx/>
                <a:latin typeface="微软雅黑"/>
                <a:ea typeface="微软雅黑"/>
                <a:cs typeface="+mn-cs"/>
              </a:rPr>
              <a:t>值要求</a:t>
            </a:r>
            <a:r>
              <a:rPr kumimoji="0" lang="zh-CN" altLang="en-US" sz="1200" i="0" u="none" strike="noStrike" kern="1200" cap="none" spc="0" normalizeH="0" baseline="0" noProof="0" dirty="0" smtClean="0">
                <a:ln>
                  <a:noFill/>
                </a:ln>
                <a:solidFill>
                  <a:prstClr val="black">
                    <a:lumMod val="75000"/>
                    <a:lumOff val="25000"/>
                  </a:prstClr>
                </a:solidFill>
                <a:effectLst/>
                <a:uLnTx/>
                <a:uFillTx/>
                <a:latin typeface="微软雅黑"/>
                <a:ea typeface="微软雅黑"/>
                <a:cs typeface="+mn-cs"/>
              </a:rPr>
              <a:t>一般为</a:t>
            </a:r>
            <a:r>
              <a:rPr kumimoji="0" lang="en-US" altLang="zh-CN" sz="1200" i="0" u="none" strike="noStrike" kern="1200" cap="none" spc="0" normalizeH="0" baseline="0" noProof="0" dirty="0" smtClean="0">
                <a:ln>
                  <a:noFill/>
                </a:ln>
                <a:solidFill>
                  <a:prstClr val="black">
                    <a:lumMod val="75000"/>
                    <a:lumOff val="25000"/>
                  </a:prstClr>
                </a:solidFill>
                <a:effectLst/>
                <a:uLnTx/>
                <a:uFillTx/>
                <a:latin typeface="微软雅黑"/>
                <a:ea typeface="微软雅黑"/>
                <a:cs typeface="+mn-cs"/>
              </a:rPr>
              <a:t>1</a:t>
            </a:r>
            <a:r>
              <a:rPr kumimoji="0" lang="zh-CN" altLang="en-US" sz="1200" i="0" u="none" strike="noStrike" kern="1200" cap="none" spc="0" normalizeH="0" baseline="0" noProof="0" dirty="0" smtClean="0">
                <a:ln>
                  <a:noFill/>
                </a:ln>
                <a:solidFill>
                  <a:prstClr val="black">
                    <a:lumMod val="75000"/>
                    <a:lumOff val="25000"/>
                  </a:prstClr>
                </a:solidFill>
                <a:effectLst/>
                <a:uLnTx/>
                <a:uFillTx/>
                <a:latin typeface="微软雅黑"/>
                <a:ea typeface="微软雅黑"/>
                <a:cs typeface="+mn-cs"/>
              </a:rPr>
              <a:t>或</a:t>
            </a:r>
            <a:r>
              <a:rPr kumimoji="0" lang="en-US" altLang="zh-CN" sz="1200" i="0" u="none" strike="noStrike" kern="1200" cap="none" spc="0" normalizeH="0" baseline="0" noProof="0" dirty="0" smtClean="0">
                <a:ln>
                  <a:noFill/>
                </a:ln>
                <a:solidFill>
                  <a:prstClr val="black">
                    <a:lumMod val="75000"/>
                    <a:lumOff val="25000"/>
                  </a:prstClr>
                </a:solidFill>
                <a:effectLst/>
                <a:uLnTx/>
                <a:uFillTx/>
                <a:latin typeface="微软雅黑"/>
                <a:ea typeface="微软雅黑"/>
                <a:cs typeface="+mn-cs"/>
              </a:rPr>
              <a:t>0</a:t>
            </a:r>
            <a:r>
              <a:rPr kumimoji="0" lang="zh-CN" altLang="en-US" sz="1200" i="0" u="none" strike="noStrike" kern="1200" cap="none" spc="0" normalizeH="0" baseline="0" noProof="0" dirty="0" smtClean="0">
                <a:ln>
                  <a:noFill/>
                </a:ln>
                <a:solidFill>
                  <a:prstClr val="black">
                    <a:lumMod val="75000"/>
                    <a:lumOff val="25000"/>
                  </a:prstClr>
                </a:solidFill>
                <a:effectLst/>
                <a:uLnTx/>
                <a:uFillTx/>
                <a:latin typeface="微软雅黑"/>
                <a:ea typeface="微软雅黑"/>
                <a:cs typeface="+mn-cs"/>
              </a:rPr>
              <a:t>；</a:t>
            </a:r>
            <a:endParaRPr kumimoji="0" lang="en-US" altLang="zh-CN" sz="1200" i="0" u="none" strike="noStrike" kern="1200" cap="none" spc="0" normalizeH="0" baseline="0" noProof="0" dirty="0" smtClean="0">
              <a:ln>
                <a:noFill/>
              </a:ln>
              <a:solidFill>
                <a:prstClr val="black">
                  <a:lumMod val="75000"/>
                  <a:lumOff val="25000"/>
                </a:prstClr>
              </a:solidFill>
              <a:effectLst/>
              <a:uLnTx/>
              <a:uFillTx/>
              <a:latin typeface="微软雅黑"/>
              <a:ea typeface="微软雅黑"/>
              <a:cs typeface="+mn-cs"/>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en-US" altLang="zh-CN" sz="1200" b="0" i="0" u="none" strike="noStrike" kern="1200" cap="none" spc="0" normalizeH="0" baseline="0" noProof="0" dirty="0" smtClean="0">
                <a:ln>
                  <a:noFill/>
                </a:ln>
                <a:solidFill>
                  <a:srgbClr val="0070C0"/>
                </a:solidFill>
                <a:effectLst/>
                <a:uLnTx/>
                <a:uFillTx/>
                <a:latin typeface="微软雅黑"/>
                <a:ea typeface="微软雅黑"/>
                <a:cs typeface="+mn-cs"/>
              </a:rPr>
              <a:t>DQA</a:t>
            </a:r>
            <a:r>
              <a:rPr kumimoji="0" lang="zh-CN" altLang="en-US" sz="1200" b="0" i="0" u="none" strike="noStrike" kern="1200" cap="none" spc="0" normalizeH="0" baseline="0" noProof="0" dirty="0" smtClean="0">
                <a:ln>
                  <a:noFill/>
                </a:ln>
                <a:solidFill>
                  <a:srgbClr val="0070C0"/>
                </a:solidFill>
                <a:effectLst/>
                <a:uLnTx/>
                <a:uFillTx/>
                <a:latin typeface="微软雅黑"/>
                <a:ea typeface="微软雅黑"/>
                <a:cs typeface="+mn-cs"/>
              </a:rPr>
              <a:t>主导</a:t>
            </a:r>
            <a:r>
              <a:rPr kumimoji="0" lang="zh-CN" altLang="en-US" sz="1200" b="0" i="0" u="none" strike="noStrike" kern="1200" cap="none" spc="0" normalizeH="0" baseline="0" noProof="0" dirty="0" smtClean="0">
                <a:ln>
                  <a:noFill/>
                </a:ln>
                <a:solidFill>
                  <a:prstClr val="black">
                    <a:lumMod val="75000"/>
                    <a:lumOff val="25000"/>
                  </a:prstClr>
                </a:solidFill>
                <a:effectLst/>
                <a:uLnTx/>
                <a:uFillTx/>
                <a:latin typeface="微软雅黑"/>
                <a:ea typeface="微软雅黑"/>
                <a:cs typeface="+mn-cs"/>
              </a:rPr>
              <a:t>组织产品质量评审会议；</a:t>
            </a:r>
            <a:endParaRPr kumimoji="0" lang="en-US" altLang="zh-CN" sz="1200" b="0" i="0" u="none" strike="noStrike" kern="1200" cap="none" spc="0" normalizeH="0" baseline="0" noProof="0" dirty="0" smtClean="0">
              <a:ln>
                <a:noFill/>
              </a:ln>
              <a:solidFill>
                <a:prstClr val="black">
                  <a:lumMod val="75000"/>
                  <a:lumOff val="25000"/>
                </a:prstClr>
              </a:solidFill>
              <a:effectLst/>
              <a:uLnTx/>
              <a:uFillTx/>
              <a:latin typeface="微软雅黑"/>
              <a:ea typeface="微软雅黑"/>
              <a:cs typeface="+mn-cs"/>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200" b="0" i="0" u="none" strike="noStrike" kern="1200" cap="none" spc="0" normalizeH="0" baseline="0" noProof="0" dirty="0" smtClean="0">
                <a:ln>
                  <a:noFill/>
                </a:ln>
                <a:solidFill>
                  <a:prstClr val="black">
                    <a:lumMod val="75000"/>
                    <a:lumOff val="25000"/>
                  </a:prstClr>
                </a:solidFill>
                <a:effectLst/>
                <a:uLnTx/>
                <a:uFillTx/>
                <a:latin typeface="微软雅黑"/>
                <a:ea typeface="微软雅黑"/>
                <a:cs typeface="+mn-cs"/>
              </a:rPr>
              <a:t>需完成质量测试回溯；</a:t>
            </a:r>
            <a:endParaRPr kumimoji="0" lang="en-US" altLang="zh-CN" sz="1200" b="0" i="0" u="none" strike="noStrike" kern="1200" cap="none" spc="0" normalizeH="0" baseline="0" noProof="0" dirty="0" smtClean="0">
              <a:ln>
                <a:noFill/>
              </a:ln>
              <a:solidFill>
                <a:prstClr val="black">
                  <a:lumMod val="75000"/>
                  <a:lumOff val="25000"/>
                </a:prstClr>
              </a:solidFill>
              <a:effectLst/>
              <a:uLnTx/>
              <a:uFillTx/>
              <a:latin typeface="微软雅黑"/>
              <a:ea typeface="微软雅黑"/>
              <a:cs typeface="+mn-cs"/>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200" b="0" i="0" u="none" strike="noStrike" kern="1200" cap="none" spc="0" normalizeH="0" baseline="0" noProof="0" dirty="0" smtClean="0">
                <a:ln>
                  <a:noFill/>
                </a:ln>
                <a:solidFill>
                  <a:prstClr val="black">
                    <a:lumMod val="75000"/>
                    <a:lumOff val="25000"/>
                  </a:prstClr>
                </a:solidFill>
                <a:effectLst/>
                <a:uLnTx/>
                <a:uFillTx/>
                <a:latin typeface="微软雅黑"/>
                <a:ea typeface="微软雅黑"/>
                <a:cs typeface="+mn-cs"/>
              </a:rPr>
              <a:t>确认试制各环节工作是否已经完成，并满足相关规定，同时完成输出文档检查；</a:t>
            </a:r>
            <a:endParaRPr kumimoji="0" lang="en-US" altLang="zh-CN" sz="1200" b="0" i="0" u="none" strike="noStrike" kern="1200" cap="none" spc="0" normalizeH="0" baseline="0" noProof="0" dirty="0" smtClean="0">
              <a:ln>
                <a:noFill/>
              </a:ln>
              <a:solidFill>
                <a:prstClr val="black">
                  <a:lumMod val="75000"/>
                  <a:lumOff val="25000"/>
                </a:prstClr>
              </a:solidFill>
              <a:effectLst/>
              <a:uLnTx/>
              <a:uFillTx/>
              <a:latin typeface="微软雅黑"/>
              <a:ea typeface="微软雅黑"/>
              <a:cs typeface="+mn-cs"/>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200" b="0" i="0" u="none" strike="noStrike" kern="1200" cap="none" spc="0" normalizeH="0" baseline="0" noProof="0" dirty="0">
                <a:ln>
                  <a:noFill/>
                </a:ln>
                <a:solidFill>
                  <a:prstClr val="black">
                    <a:lumMod val="75000"/>
                    <a:lumOff val="25000"/>
                  </a:prstClr>
                </a:solidFill>
                <a:effectLst/>
                <a:uLnTx/>
                <a:uFillTx/>
                <a:latin typeface="微软雅黑"/>
                <a:ea typeface="微软雅黑"/>
                <a:cs typeface="+mn-cs"/>
              </a:rPr>
              <a:t>试制</a:t>
            </a:r>
            <a:r>
              <a:rPr kumimoji="0" lang="zh-CN" altLang="en-US" sz="1200" b="0" i="0" u="none" strike="noStrike" kern="1200" cap="none" spc="0" normalizeH="0" baseline="0" noProof="0" dirty="0" smtClean="0">
                <a:ln>
                  <a:noFill/>
                </a:ln>
                <a:solidFill>
                  <a:prstClr val="black">
                    <a:lumMod val="75000"/>
                    <a:lumOff val="25000"/>
                  </a:prstClr>
                </a:solidFill>
                <a:effectLst/>
                <a:uLnTx/>
                <a:uFillTx/>
                <a:latin typeface="微软雅黑"/>
                <a:ea typeface="微软雅黑"/>
                <a:cs typeface="+mn-cs"/>
              </a:rPr>
              <a:t>过程遗留问题，是否已经明确提供解决方案，并已经落实。如有遗留问题不影响后续批量生产，是否保证量产直通率在可接受范围内；</a:t>
            </a:r>
            <a:endParaRPr kumimoji="0" lang="en-US" altLang="zh-CN" sz="1200" b="0" i="0" u="none" strike="noStrike" kern="1200" cap="none" spc="0" normalizeH="0" baseline="0" noProof="0" dirty="0" smtClean="0">
              <a:ln>
                <a:noFill/>
              </a:ln>
              <a:solidFill>
                <a:prstClr val="black">
                  <a:lumMod val="75000"/>
                  <a:lumOff val="25000"/>
                </a:prstClr>
              </a:solidFill>
              <a:effectLst/>
              <a:uLnTx/>
              <a:uFillTx/>
              <a:latin typeface="微软雅黑"/>
              <a:ea typeface="微软雅黑"/>
              <a:cs typeface="+mn-cs"/>
            </a:endParaRPr>
          </a:p>
          <a:p>
            <a:pPr marL="285750" marR="0" lvl="0" indent="-285750" algn="l"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1200" b="0" i="0" u="none" strike="noStrike" kern="1200" cap="none" spc="0" normalizeH="0" baseline="0" noProof="0" dirty="0" smtClean="0">
                <a:ln>
                  <a:noFill/>
                </a:ln>
                <a:solidFill>
                  <a:prstClr val="black">
                    <a:lumMod val="75000"/>
                    <a:lumOff val="25000"/>
                  </a:prstClr>
                </a:solidFill>
                <a:effectLst/>
                <a:uLnTx/>
                <a:uFillTx/>
                <a:latin typeface="微软雅黑"/>
                <a:ea typeface="微软雅黑"/>
                <a:cs typeface="+mn-cs"/>
              </a:rPr>
              <a:t>批量测试报告评审 通过，如有遗留问题已有规避方案或短期解决方案，从测试角度已经具备验收条件。</a:t>
            </a:r>
            <a:endParaRPr kumimoji="0" lang="en-US" altLang="zh-CN" sz="1200" b="0" i="0" u="none" strike="noStrike" kern="1200" cap="none" spc="0" normalizeH="0" baseline="0" noProof="0" dirty="0" smtClean="0">
              <a:ln>
                <a:noFill/>
              </a:ln>
              <a:solidFill>
                <a:prstClr val="black">
                  <a:lumMod val="75000"/>
                  <a:lumOff val="25000"/>
                </a:prstClr>
              </a:solidFill>
              <a:effectLst/>
              <a:uLnTx/>
              <a:uFillTx/>
              <a:latin typeface="微软雅黑"/>
              <a:ea typeface="微软雅黑"/>
              <a:cs typeface="+mn-cs"/>
            </a:endParaRPr>
          </a:p>
          <a:p>
            <a:pPr marL="285750" indent="-285750">
              <a:lnSpc>
                <a:spcPct val="120000"/>
              </a:lnSpc>
              <a:buFont typeface="Arial" panose="020B0604020202020204" pitchFamily="34" charset="0"/>
              <a:buChar char="•"/>
              <a:defRPr/>
            </a:pPr>
            <a:r>
              <a:rPr lang="zh-CN" altLang="en-US" sz="1200" dirty="0">
                <a:solidFill>
                  <a:prstClr val="black">
                    <a:lumMod val="75000"/>
                    <a:lumOff val="25000"/>
                  </a:prstClr>
                </a:solidFill>
                <a:latin typeface="微软雅黑"/>
              </a:rPr>
              <a:t>质量评审通过后进入</a:t>
            </a:r>
            <a:r>
              <a:rPr lang="en-US" altLang="zh-CN" sz="1200" dirty="0">
                <a:solidFill>
                  <a:prstClr val="black">
                    <a:lumMod val="75000"/>
                    <a:lumOff val="25000"/>
                  </a:prstClr>
                </a:solidFill>
                <a:latin typeface="微软雅黑"/>
              </a:rPr>
              <a:t>NPI</a:t>
            </a:r>
            <a:r>
              <a:rPr lang="zh-CN" altLang="en-US" sz="1200" dirty="0">
                <a:solidFill>
                  <a:prstClr val="black">
                    <a:lumMod val="75000"/>
                    <a:lumOff val="25000"/>
                  </a:prstClr>
                </a:solidFill>
                <a:latin typeface="微软雅黑"/>
              </a:rPr>
              <a:t>验收阶段</a:t>
            </a:r>
            <a:r>
              <a:rPr lang="zh-CN" altLang="en-US" sz="1200" dirty="0" smtClean="0">
                <a:solidFill>
                  <a:prstClr val="black">
                    <a:lumMod val="75000"/>
                    <a:lumOff val="25000"/>
                  </a:prstClr>
                </a:solidFill>
                <a:latin typeface="微软雅黑"/>
              </a:rPr>
              <a:t>；</a:t>
            </a:r>
            <a:endParaRPr lang="en-US" altLang="zh-CN" sz="1200" dirty="0">
              <a:solidFill>
                <a:prstClr val="black">
                  <a:lumMod val="75000"/>
                  <a:lumOff val="25000"/>
                </a:prstClr>
              </a:solidFill>
              <a:latin typeface="微软雅黑"/>
            </a:endParaRPr>
          </a:p>
        </p:txBody>
      </p:sp>
      <p:sp>
        <p:nvSpPr>
          <p:cNvPr id="12" name="十字星 11"/>
          <p:cNvSpPr/>
          <p:nvPr/>
        </p:nvSpPr>
        <p:spPr>
          <a:xfrm>
            <a:off x="1561513" y="5094767"/>
            <a:ext cx="412012" cy="304591"/>
          </a:xfrm>
          <a:prstGeom prst="star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圆角矩形 12"/>
          <p:cNvSpPr/>
          <p:nvPr/>
        </p:nvSpPr>
        <p:spPr>
          <a:xfrm>
            <a:off x="1905898" y="5138569"/>
            <a:ext cx="9446948" cy="1134639"/>
          </a:xfrm>
          <a:prstGeom prst="roundRect">
            <a:avLst/>
          </a:prstGeom>
          <a:solidFill>
            <a:schemeClr val="bg1">
              <a:lumMod val="85000"/>
            </a:schemeClr>
          </a:solidFill>
          <a:ln>
            <a:noFill/>
          </a:ln>
          <a:effectLst>
            <a:reflection blurRad="6350" stA="50000" endA="300" endPos="90000" dir="5400000" sy="-100000" algn="bl" rotWithShape="0"/>
          </a:effectLst>
          <a:scene3d>
            <a:camera prst="orthographicFront"/>
            <a:lightRig rig="threePt" dir="t"/>
          </a:scene3d>
          <a:sp3d>
            <a:bevelT prst="relaxedInset"/>
          </a:sp3d>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4" name="文本框 13"/>
          <p:cNvSpPr txBox="1"/>
          <p:nvPr/>
        </p:nvSpPr>
        <p:spPr>
          <a:xfrm>
            <a:off x="2511767" y="5296824"/>
            <a:ext cx="7248292" cy="683264"/>
          </a:xfrm>
          <a:prstGeom prst="rect">
            <a:avLst/>
          </a:prstGeom>
          <a:noFill/>
        </p:spPr>
        <p:txBody>
          <a:bodyPr wrap="square" rtlCol="0">
            <a:spAutoFit/>
          </a:bodyPr>
          <a:lstStyle/>
          <a:p>
            <a:pPr>
              <a:lnSpc>
                <a:spcPct val="120000"/>
              </a:lnSpc>
            </a:pPr>
            <a:r>
              <a:rPr lang="zh-CN" altLang="en-US" sz="1600" dirty="0" smtClean="0">
                <a:solidFill>
                  <a:srgbClr val="0070C0"/>
                </a:solidFill>
                <a:latin typeface="+mn-ea"/>
              </a:rPr>
              <a:t>批量测试阶段 软件版本不可升版为定版状态，如出现</a:t>
            </a:r>
            <a:r>
              <a:rPr lang="en-US" altLang="zh-CN" sz="1600" dirty="0" smtClean="0">
                <a:solidFill>
                  <a:srgbClr val="0070C0"/>
                </a:solidFill>
                <a:latin typeface="+mn-ea"/>
              </a:rPr>
              <a:t>BUG</a:t>
            </a:r>
            <a:r>
              <a:rPr lang="zh-CN" altLang="en-US" sz="1600" dirty="0" smtClean="0">
                <a:solidFill>
                  <a:srgbClr val="0070C0"/>
                </a:solidFill>
                <a:latin typeface="+mn-ea"/>
              </a:rPr>
              <a:t>须通过软件版本升级解决，也需要进行一轮软件版本稳定度测试。</a:t>
            </a:r>
          </a:p>
        </p:txBody>
      </p:sp>
    </p:spTree>
    <p:extLst>
      <p:ext uri="{BB962C8B-B14F-4D97-AF65-F5344CB8AC3E}">
        <p14:creationId xmlns:p14="http://schemas.microsoft.com/office/powerpoint/2010/main" val="143297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smtClean="0"/>
              <a:t>文档清单汇总</a:t>
            </a:r>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27438689"/>
              </p:ext>
            </p:extLst>
          </p:nvPr>
        </p:nvGraphicFramePr>
        <p:xfrm>
          <a:off x="834482" y="1111638"/>
          <a:ext cx="10484005" cy="5199951"/>
        </p:xfrm>
        <a:graphic>
          <a:graphicData uri="http://schemas.openxmlformats.org/drawingml/2006/table">
            <a:tbl>
              <a:tblPr firstRow="1">
                <a:tableStyleId>{21E4AEA4-8DFA-4A89-87EB-49C32662AFE0}</a:tableStyleId>
              </a:tblPr>
              <a:tblGrid>
                <a:gridCol w="1213983">
                  <a:extLst>
                    <a:ext uri="{9D8B030D-6E8A-4147-A177-3AD203B41FA5}">
                      <a16:colId xmlns:a16="http://schemas.microsoft.com/office/drawing/2014/main" val="148908802"/>
                    </a:ext>
                  </a:extLst>
                </a:gridCol>
                <a:gridCol w="2035390">
                  <a:extLst>
                    <a:ext uri="{9D8B030D-6E8A-4147-A177-3AD203B41FA5}">
                      <a16:colId xmlns:a16="http://schemas.microsoft.com/office/drawing/2014/main" val="3240800296"/>
                    </a:ext>
                  </a:extLst>
                </a:gridCol>
                <a:gridCol w="4842368">
                  <a:extLst>
                    <a:ext uri="{9D8B030D-6E8A-4147-A177-3AD203B41FA5}">
                      <a16:colId xmlns:a16="http://schemas.microsoft.com/office/drawing/2014/main" val="2643094867"/>
                    </a:ext>
                  </a:extLst>
                </a:gridCol>
                <a:gridCol w="2392264">
                  <a:extLst>
                    <a:ext uri="{9D8B030D-6E8A-4147-A177-3AD203B41FA5}">
                      <a16:colId xmlns:a16="http://schemas.microsoft.com/office/drawing/2014/main" val="3590721592"/>
                    </a:ext>
                  </a:extLst>
                </a:gridCol>
              </a:tblGrid>
              <a:tr h="295366">
                <a:tc>
                  <a:txBody>
                    <a:bodyPr/>
                    <a:lstStyle/>
                    <a:p>
                      <a:pPr algn="l" fontAlgn="ctr"/>
                      <a:r>
                        <a:rPr lang="zh-CN" altLang="en-US" sz="1200" u="none" strike="noStrike" dirty="0">
                          <a:effectLst/>
                          <a:latin typeface="+mn-ea"/>
                          <a:ea typeface="+mn-ea"/>
                        </a:rPr>
                        <a:t>阶段</a:t>
                      </a:r>
                      <a:endParaRPr lang="zh-CN" altLang="en-US" sz="1200" b="1" i="0" u="none" strike="noStrike" dirty="0">
                        <a:solidFill>
                          <a:srgbClr val="FFFFFF"/>
                        </a:solidFill>
                        <a:effectLst/>
                        <a:latin typeface="+mn-ea"/>
                        <a:ea typeface="+mn-ea"/>
                      </a:endParaRPr>
                    </a:p>
                  </a:txBody>
                  <a:tcPr marL="5274" marR="5274" marT="5274" marB="0" anchor="ctr"/>
                </a:tc>
                <a:tc>
                  <a:txBody>
                    <a:bodyPr/>
                    <a:lstStyle/>
                    <a:p>
                      <a:pPr algn="l" fontAlgn="ctr"/>
                      <a:r>
                        <a:rPr lang="zh-CN" altLang="en-US" sz="1200" u="none" strike="noStrike">
                          <a:effectLst/>
                          <a:latin typeface="+mn-ea"/>
                          <a:ea typeface="+mn-ea"/>
                        </a:rPr>
                        <a:t>任务名称</a:t>
                      </a:r>
                      <a:endParaRPr lang="zh-CN" altLang="en-US" sz="1200" b="1" i="0" u="none" strike="noStrike">
                        <a:solidFill>
                          <a:srgbClr val="FFFFFF"/>
                        </a:solidFill>
                        <a:effectLst/>
                        <a:latin typeface="+mn-ea"/>
                        <a:ea typeface="+mn-ea"/>
                      </a:endParaRPr>
                    </a:p>
                  </a:txBody>
                  <a:tcPr marL="5274" marR="5274" marT="5274" marB="0" anchor="ctr"/>
                </a:tc>
                <a:tc>
                  <a:txBody>
                    <a:bodyPr/>
                    <a:lstStyle/>
                    <a:p>
                      <a:pPr algn="l" fontAlgn="ctr"/>
                      <a:r>
                        <a:rPr lang="zh-CN" altLang="en-US" sz="1200" u="none" strike="noStrike" dirty="0">
                          <a:effectLst/>
                          <a:latin typeface="+mn-ea"/>
                          <a:ea typeface="+mn-ea"/>
                        </a:rPr>
                        <a:t>交付物</a:t>
                      </a:r>
                      <a:endParaRPr lang="zh-CN" altLang="en-US" sz="1200" b="1" i="0" u="none" strike="noStrike" dirty="0">
                        <a:solidFill>
                          <a:srgbClr val="FFFFFF"/>
                        </a:solidFill>
                        <a:effectLst/>
                        <a:latin typeface="+mn-ea"/>
                        <a:ea typeface="+mn-ea"/>
                      </a:endParaRPr>
                    </a:p>
                  </a:txBody>
                  <a:tcPr marL="5274" marR="5274" marT="5274" marB="0" anchor="ctr"/>
                </a:tc>
                <a:tc>
                  <a:txBody>
                    <a:bodyPr/>
                    <a:lstStyle/>
                    <a:p>
                      <a:pPr algn="l" fontAlgn="ctr"/>
                      <a:r>
                        <a:rPr lang="zh-CN" altLang="en-US" sz="1200" u="none" strike="noStrike" dirty="0">
                          <a:effectLst/>
                          <a:latin typeface="+mn-ea"/>
                          <a:ea typeface="+mn-ea"/>
                        </a:rPr>
                        <a:t>责任人</a:t>
                      </a:r>
                      <a:endParaRPr lang="zh-CN" altLang="en-US" sz="1200" b="1" i="0" u="none" strike="noStrike" dirty="0">
                        <a:solidFill>
                          <a:srgbClr val="FFFFFF"/>
                        </a:solidFill>
                        <a:effectLst/>
                        <a:latin typeface="+mn-ea"/>
                        <a:ea typeface="+mn-ea"/>
                      </a:endParaRPr>
                    </a:p>
                  </a:txBody>
                  <a:tcPr marL="5274" marR="5274" marT="5274" marB="0" anchor="ctr"/>
                </a:tc>
                <a:extLst>
                  <a:ext uri="{0D108BD9-81ED-4DB2-BD59-A6C34878D82A}">
                    <a16:rowId xmlns:a16="http://schemas.microsoft.com/office/drawing/2014/main" val="2837971822"/>
                  </a:ext>
                </a:extLst>
              </a:tr>
              <a:tr h="295366">
                <a:tc rowSpan="4">
                  <a:txBody>
                    <a:bodyPr/>
                    <a:lstStyle/>
                    <a:p>
                      <a:pPr algn="ctr" fontAlgn="ctr"/>
                      <a:r>
                        <a:rPr lang="zh-CN" altLang="en-US" sz="1200" u="none" strike="noStrike">
                          <a:effectLst/>
                          <a:latin typeface="+mn-ea"/>
                          <a:ea typeface="+mn-ea"/>
                        </a:rPr>
                        <a:t>首件试制</a:t>
                      </a:r>
                      <a:endParaRPr lang="zh-CN" altLang="en-US" sz="1200" b="0" i="0" u="none" strike="noStrike">
                        <a:solidFill>
                          <a:srgbClr val="000000"/>
                        </a:solidFill>
                        <a:effectLst/>
                        <a:latin typeface="+mn-ea"/>
                        <a:ea typeface="+mn-ea"/>
                      </a:endParaRPr>
                    </a:p>
                  </a:txBody>
                  <a:tcPr marL="5274" marR="5274" marT="5274" marB="0" anchor="ctr"/>
                </a:tc>
                <a:tc>
                  <a:txBody>
                    <a:bodyPr/>
                    <a:lstStyle/>
                    <a:p>
                      <a:pPr algn="l" fontAlgn="ctr"/>
                      <a:r>
                        <a:rPr lang="zh-CN" altLang="en-US" sz="1200" u="none" strike="noStrike">
                          <a:effectLst/>
                          <a:latin typeface="+mn-ea"/>
                          <a:ea typeface="+mn-ea"/>
                        </a:rPr>
                        <a:t>工艺评审</a:t>
                      </a:r>
                      <a:endParaRPr lang="zh-CN" altLang="en-US" sz="1200" b="0" i="0" u="none" strike="noStrike">
                        <a:solidFill>
                          <a:srgbClr val="000000"/>
                        </a:solidFill>
                        <a:effectLst/>
                        <a:latin typeface="+mn-ea"/>
                        <a:ea typeface="+mn-ea"/>
                      </a:endParaRPr>
                    </a:p>
                  </a:txBody>
                  <a:tcPr marL="5274" marR="5274" marT="5274" marB="0" anchor="ctr"/>
                </a:tc>
                <a:tc>
                  <a:txBody>
                    <a:bodyPr/>
                    <a:lstStyle/>
                    <a:p>
                      <a:pPr algn="l" fontAlgn="ctr"/>
                      <a:r>
                        <a:rPr lang="en-US" altLang="zh-CN" sz="1200" u="none" strike="noStrike" dirty="0">
                          <a:effectLst/>
                          <a:latin typeface="+mn-ea"/>
                          <a:ea typeface="+mn-ea"/>
                        </a:rPr>
                        <a:t>《QR-D-H-005-004</a:t>
                      </a:r>
                      <a:r>
                        <a:rPr lang="zh-CN" altLang="en-US" sz="1200" u="none" strike="noStrike" dirty="0">
                          <a:effectLst/>
                          <a:latin typeface="+mn-ea"/>
                          <a:ea typeface="+mn-ea"/>
                        </a:rPr>
                        <a:t>工艺评审报告</a:t>
                      </a:r>
                      <a:r>
                        <a:rPr lang="en-US" altLang="zh-CN" sz="1200" u="none" strike="noStrike" dirty="0">
                          <a:effectLst/>
                          <a:latin typeface="+mn-ea"/>
                          <a:ea typeface="+mn-ea"/>
                        </a:rPr>
                        <a:t>》</a:t>
                      </a:r>
                      <a:endParaRPr lang="en-US" altLang="zh-CN" sz="1200" b="0" i="0" u="none" strike="noStrike" dirty="0">
                        <a:solidFill>
                          <a:srgbClr val="000000"/>
                        </a:solidFill>
                        <a:effectLst/>
                        <a:latin typeface="+mn-ea"/>
                        <a:ea typeface="+mn-ea"/>
                      </a:endParaRPr>
                    </a:p>
                  </a:txBody>
                  <a:tcPr marL="5274" marR="5274" marT="5274" marB="0" anchor="ctr"/>
                </a:tc>
                <a:tc>
                  <a:txBody>
                    <a:bodyPr/>
                    <a:lstStyle/>
                    <a:p>
                      <a:pPr algn="l" fontAlgn="ctr"/>
                      <a:r>
                        <a:rPr lang="zh-CN" altLang="en-US" sz="1200" u="none" strike="noStrike">
                          <a:effectLst/>
                          <a:latin typeface="+mn-ea"/>
                          <a:ea typeface="+mn-ea"/>
                        </a:rPr>
                        <a:t>产品工程师</a:t>
                      </a:r>
                      <a:endParaRPr lang="zh-CN" altLang="en-US" sz="1200" b="0" i="0" u="none" strike="noStrike">
                        <a:solidFill>
                          <a:srgbClr val="000000"/>
                        </a:solidFill>
                        <a:effectLst/>
                        <a:latin typeface="+mn-ea"/>
                        <a:ea typeface="+mn-ea"/>
                      </a:endParaRPr>
                    </a:p>
                  </a:txBody>
                  <a:tcPr marL="5274" marR="5274" marT="5274" marB="0" anchor="ctr"/>
                </a:tc>
                <a:extLst>
                  <a:ext uri="{0D108BD9-81ED-4DB2-BD59-A6C34878D82A}">
                    <a16:rowId xmlns:a16="http://schemas.microsoft.com/office/drawing/2014/main" val="210217930"/>
                  </a:ext>
                </a:extLst>
              </a:tr>
              <a:tr h="560989">
                <a:tc vMerge="1">
                  <a:txBody>
                    <a:bodyPr/>
                    <a:lstStyle/>
                    <a:p>
                      <a:endParaRPr lang="zh-CN" altLang="en-US"/>
                    </a:p>
                  </a:txBody>
                  <a:tcPr/>
                </a:tc>
                <a:tc>
                  <a:txBody>
                    <a:bodyPr/>
                    <a:lstStyle/>
                    <a:p>
                      <a:pPr algn="l" fontAlgn="ctr"/>
                      <a:r>
                        <a:rPr lang="zh-CN" altLang="en-US" sz="1200" u="none" strike="noStrike">
                          <a:effectLst/>
                          <a:latin typeface="+mn-ea"/>
                          <a:ea typeface="+mn-ea"/>
                        </a:rPr>
                        <a:t>试制准备状态检查</a:t>
                      </a:r>
                      <a:endParaRPr lang="zh-CN" altLang="en-US" sz="1200" b="0" i="0" u="none" strike="noStrike">
                        <a:solidFill>
                          <a:srgbClr val="000000"/>
                        </a:solidFill>
                        <a:effectLst/>
                        <a:latin typeface="+mn-ea"/>
                        <a:ea typeface="+mn-ea"/>
                      </a:endParaRPr>
                    </a:p>
                  </a:txBody>
                  <a:tcPr marL="5274" marR="5274" marT="5274" marB="0" anchor="ctr"/>
                </a:tc>
                <a:tc>
                  <a:txBody>
                    <a:bodyPr/>
                    <a:lstStyle/>
                    <a:p>
                      <a:pPr algn="l" fontAlgn="ctr"/>
                      <a:r>
                        <a:rPr lang="en-US" altLang="zh-CN" sz="1200" u="none" strike="noStrike" dirty="0">
                          <a:effectLst/>
                          <a:latin typeface="+mn-ea"/>
                          <a:ea typeface="+mn-ea"/>
                        </a:rPr>
                        <a:t>《QR-D-H-005-005</a:t>
                      </a:r>
                      <a:r>
                        <a:rPr lang="zh-CN" altLang="en-US" sz="1200" u="none" strike="noStrike" dirty="0">
                          <a:effectLst/>
                          <a:latin typeface="+mn-ea"/>
                          <a:ea typeface="+mn-ea"/>
                        </a:rPr>
                        <a:t>新品试制准备状态检查表</a:t>
                      </a:r>
                      <a:r>
                        <a:rPr lang="en-US" altLang="zh-CN" sz="1200" u="none" strike="noStrike" dirty="0">
                          <a:effectLst/>
                          <a:latin typeface="+mn-ea"/>
                          <a:ea typeface="+mn-ea"/>
                        </a:rPr>
                        <a:t>》</a:t>
                      </a:r>
                      <a:endParaRPr lang="en-US" altLang="zh-CN" sz="1200" b="0" i="0" u="none" strike="noStrike" dirty="0">
                        <a:solidFill>
                          <a:srgbClr val="000000"/>
                        </a:solidFill>
                        <a:effectLst/>
                        <a:latin typeface="+mn-ea"/>
                        <a:ea typeface="+mn-ea"/>
                      </a:endParaRPr>
                    </a:p>
                  </a:txBody>
                  <a:tcPr marL="5274" marR="5274" marT="5274" marB="0" anchor="ctr"/>
                </a:tc>
                <a:tc>
                  <a:txBody>
                    <a:bodyPr/>
                    <a:lstStyle/>
                    <a:p>
                      <a:pPr algn="l" fontAlgn="ctr"/>
                      <a:r>
                        <a:rPr lang="zh-CN" altLang="en-US" sz="1200" u="none" strike="noStrike">
                          <a:effectLst/>
                          <a:latin typeface="+mn-ea"/>
                          <a:ea typeface="+mn-ea"/>
                        </a:rPr>
                        <a:t>品质管理部</a:t>
                      </a:r>
                      <a:endParaRPr lang="zh-CN" altLang="en-US" sz="1200" b="0" i="0" u="none" strike="noStrike">
                        <a:solidFill>
                          <a:srgbClr val="000000"/>
                        </a:solidFill>
                        <a:effectLst/>
                        <a:latin typeface="+mn-ea"/>
                        <a:ea typeface="+mn-ea"/>
                      </a:endParaRPr>
                    </a:p>
                  </a:txBody>
                  <a:tcPr marL="5274" marR="5274" marT="5274" marB="0" anchor="ctr"/>
                </a:tc>
                <a:extLst>
                  <a:ext uri="{0D108BD9-81ED-4DB2-BD59-A6C34878D82A}">
                    <a16:rowId xmlns:a16="http://schemas.microsoft.com/office/drawing/2014/main" val="4039180878"/>
                  </a:ext>
                </a:extLst>
              </a:tr>
              <a:tr h="747987">
                <a:tc vMerge="1">
                  <a:txBody>
                    <a:bodyPr/>
                    <a:lstStyle/>
                    <a:p>
                      <a:endParaRPr lang="zh-CN" altLang="en-US"/>
                    </a:p>
                  </a:txBody>
                  <a:tcPr/>
                </a:tc>
                <a:tc>
                  <a:txBody>
                    <a:bodyPr/>
                    <a:lstStyle/>
                    <a:p>
                      <a:pPr algn="l" fontAlgn="ctr"/>
                      <a:r>
                        <a:rPr lang="zh-CN" altLang="en-US" sz="1200" u="none" strike="noStrike" dirty="0">
                          <a:effectLst/>
                          <a:latin typeface="+mn-ea"/>
                          <a:ea typeface="+mn-ea"/>
                        </a:rPr>
                        <a:t>首件检验</a:t>
                      </a:r>
                      <a:endParaRPr lang="zh-CN" altLang="en-US" sz="1200" b="0" i="0" u="none" strike="noStrike" dirty="0">
                        <a:solidFill>
                          <a:srgbClr val="000000"/>
                        </a:solidFill>
                        <a:effectLst/>
                        <a:latin typeface="+mn-ea"/>
                        <a:ea typeface="+mn-ea"/>
                      </a:endParaRPr>
                    </a:p>
                  </a:txBody>
                  <a:tcPr marL="5274" marR="5274" marT="5274" marB="0" anchor="ctr"/>
                </a:tc>
                <a:tc>
                  <a:txBody>
                    <a:bodyPr/>
                    <a:lstStyle/>
                    <a:p>
                      <a:pPr algn="l" fontAlgn="ctr"/>
                      <a:r>
                        <a:rPr lang="en-US" sz="1200" u="none" strike="noStrike">
                          <a:effectLst/>
                          <a:latin typeface="+mn-ea"/>
                          <a:ea typeface="+mn-ea"/>
                        </a:rPr>
                        <a:t>《QR-D-H-005-006</a:t>
                      </a:r>
                      <a:r>
                        <a:rPr lang="zh-CN" altLang="en-US" sz="1200" u="none" strike="noStrike">
                          <a:effectLst/>
                          <a:latin typeface="+mn-ea"/>
                          <a:ea typeface="+mn-ea"/>
                        </a:rPr>
                        <a:t>首件检验报告</a:t>
                      </a:r>
                      <a:r>
                        <a:rPr lang="en-US" altLang="zh-CN" sz="1200" u="none" strike="noStrike">
                          <a:effectLst/>
                          <a:latin typeface="+mn-ea"/>
                          <a:ea typeface="+mn-ea"/>
                        </a:rPr>
                        <a:t>》</a:t>
                      </a:r>
                      <a:endParaRPr lang="en-US" altLang="zh-CN" sz="1200" b="0" i="0" u="none" strike="noStrike">
                        <a:solidFill>
                          <a:srgbClr val="000000"/>
                        </a:solidFill>
                        <a:effectLst/>
                        <a:latin typeface="+mn-ea"/>
                        <a:ea typeface="+mn-ea"/>
                      </a:endParaRPr>
                    </a:p>
                  </a:txBody>
                  <a:tcPr marL="5274" marR="5274" marT="5274" marB="0" anchor="ctr"/>
                </a:tc>
                <a:tc>
                  <a:txBody>
                    <a:bodyPr/>
                    <a:lstStyle/>
                    <a:p>
                      <a:pPr algn="l" fontAlgn="ctr"/>
                      <a:r>
                        <a:rPr lang="zh-CN" altLang="en-US" sz="1200" u="none" strike="noStrike">
                          <a:effectLst/>
                          <a:latin typeface="+mn-ea"/>
                          <a:ea typeface="+mn-ea"/>
                        </a:rPr>
                        <a:t>制造部</a:t>
                      </a:r>
                      <a:endParaRPr lang="zh-CN" altLang="en-US" sz="1200" b="0" i="0" u="none" strike="noStrike">
                        <a:solidFill>
                          <a:srgbClr val="000000"/>
                        </a:solidFill>
                        <a:effectLst/>
                        <a:latin typeface="+mn-ea"/>
                        <a:ea typeface="+mn-ea"/>
                      </a:endParaRPr>
                    </a:p>
                  </a:txBody>
                  <a:tcPr marL="5274" marR="5274" marT="5274" marB="0" anchor="ctr"/>
                </a:tc>
                <a:extLst>
                  <a:ext uri="{0D108BD9-81ED-4DB2-BD59-A6C34878D82A}">
                    <a16:rowId xmlns:a16="http://schemas.microsoft.com/office/drawing/2014/main" val="2789670532"/>
                  </a:ext>
                </a:extLst>
              </a:tr>
              <a:tr h="747987">
                <a:tc vMerge="1">
                  <a:txBody>
                    <a:bodyPr/>
                    <a:lstStyle/>
                    <a:p>
                      <a:endParaRPr lang="zh-CN" altLang="en-US"/>
                    </a:p>
                  </a:txBody>
                  <a:tcPr/>
                </a:tc>
                <a:tc>
                  <a:txBody>
                    <a:bodyPr/>
                    <a:lstStyle/>
                    <a:p>
                      <a:pPr algn="l" fontAlgn="ctr"/>
                      <a:r>
                        <a:rPr lang="zh-CN" altLang="en-US" sz="1200" u="none" strike="noStrike">
                          <a:effectLst/>
                          <a:latin typeface="+mn-ea"/>
                          <a:ea typeface="+mn-ea"/>
                        </a:rPr>
                        <a:t>首件鉴定</a:t>
                      </a:r>
                      <a:endParaRPr lang="zh-CN" altLang="en-US" sz="1200" b="0" i="0" u="none" strike="noStrike">
                        <a:solidFill>
                          <a:srgbClr val="000000"/>
                        </a:solidFill>
                        <a:effectLst/>
                        <a:latin typeface="+mn-ea"/>
                        <a:ea typeface="+mn-ea"/>
                      </a:endParaRPr>
                    </a:p>
                  </a:txBody>
                  <a:tcPr marL="5274" marR="5274" marT="5274" marB="0" anchor="ctr"/>
                </a:tc>
                <a:tc>
                  <a:txBody>
                    <a:bodyPr/>
                    <a:lstStyle/>
                    <a:p>
                      <a:pPr algn="l" fontAlgn="ctr"/>
                      <a:r>
                        <a:rPr lang="en-US" sz="1200" u="none" strike="noStrike" dirty="0">
                          <a:effectLst/>
                          <a:latin typeface="+mn-ea"/>
                          <a:ea typeface="+mn-ea"/>
                        </a:rPr>
                        <a:t>《QR-D-H-005-007</a:t>
                      </a:r>
                      <a:r>
                        <a:rPr lang="zh-CN" altLang="en-US" sz="1200" u="none" strike="noStrike" dirty="0">
                          <a:effectLst/>
                          <a:latin typeface="+mn-ea"/>
                          <a:ea typeface="+mn-ea"/>
                        </a:rPr>
                        <a:t>首件鉴定报告</a:t>
                      </a:r>
                      <a:r>
                        <a:rPr lang="en-US" altLang="zh-CN" sz="1200" u="none" strike="noStrike" dirty="0">
                          <a:effectLst/>
                          <a:latin typeface="+mn-ea"/>
                          <a:ea typeface="+mn-ea"/>
                        </a:rPr>
                        <a:t>》</a:t>
                      </a:r>
                      <a:endParaRPr lang="en-US" altLang="zh-CN" sz="1200" b="0" i="0" u="none" strike="noStrike" dirty="0">
                        <a:solidFill>
                          <a:srgbClr val="000000"/>
                        </a:solidFill>
                        <a:effectLst/>
                        <a:latin typeface="+mn-ea"/>
                        <a:ea typeface="+mn-ea"/>
                      </a:endParaRPr>
                    </a:p>
                  </a:txBody>
                  <a:tcPr marL="5274" marR="5274" marT="5274" marB="0" anchor="ctr"/>
                </a:tc>
                <a:tc>
                  <a:txBody>
                    <a:bodyPr/>
                    <a:lstStyle/>
                    <a:p>
                      <a:pPr algn="l" fontAlgn="ctr"/>
                      <a:r>
                        <a:rPr lang="zh-CN" altLang="en-US" sz="1200" u="none" strike="noStrike">
                          <a:effectLst/>
                          <a:latin typeface="+mn-ea"/>
                          <a:ea typeface="+mn-ea"/>
                        </a:rPr>
                        <a:t>品质管理部</a:t>
                      </a:r>
                      <a:endParaRPr lang="zh-CN" altLang="en-US" sz="1200" b="0" i="0" u="none" strike="noStrike">
                        <a:solidFill>
                          <a:srgbClr val="000000"/>
                        </a:solidFill>
                        <a:effectLst/>
                        <a:latin typeface="+mn-ea"/>
                        <a:ea typeface="+mn-ea"/>
                      </a:endParaRPr>
                    </a:p>
                  </a:txBody>
                  <a:tcPr marL="5274" marR="5274" marT="5274" marB="0" anchor="ctr"/>
                </a:tc>
                <a:extLst>
                  <a:ext uri="{0D108BD9-81ED-4DB2-BD59-A6C34878D82A}">
                    <a16:rowId xmlns:a16="http://schemas.microsoft.com/office/drawing/2014/main" val="1252290648"/>
                  </a:ext>
                </a:extLst>
              </a:tr>
              <a:tr h="295366">
                <a:tc>
                  <a:txBody>
                    <a:bodyPr/>
                    <a:lstStyle/>
                    <a:p>
                      <a:pPr algn="ctr" fontAlgn="ctr"/>
                      <a:r>
                        <a:rPr lang="zh-CN" altLang="en-US" sz="1200" u="none" strike="noStrike" dirty="0">
                          <a:effectLst/>
                          <a:latin typeface="+mn-ea"/>
                          <a:ea typeface="+mn-ea"/>
                        </a:rPr>
                        <a:t>批量试制</a:t>
                      </a:r>
                      <a:endParaRPr lang="zh-CN" altLang="en-US" sz="1200" b="0" i="0" u="none" strike="noStrike" dirty="0">
                        <a:solidFill>
                          <a:srgbClr val="000000"/>
                        </a:solidFill>
                        <a:effectLst/>
                        <a:latin typeface="+mn-ea"/>
                        <a:ea typeface="+mn-ea"/>
                      </a:endParaRPr>
                    </a:p>
                  </a:txBody>
                  <a:tcPr marL="5274" marR="5274" marT="5274" marB="0" anchor="ctr"/>
                </a:tc>
                <a:tc>
                  <a:txBody>
                    <a:bodyPr/>
                    <a:lstStyle/>
                    <a:p>
                      <a:pPr algn="l" fontAlgn="ctr"/>
                      <a:r>
                        <a:rPr lang="zh-CN" altLang="en-US" sz="1200" u="none" strike="noStrike" dirty="0">
                          <a:effectLst/>
                          <a:latin typeface="+mn-ea"/>
                          <a:ea typeface="+mn-ea"/>
                        </a:rPr>
                        <a:t>批量试制</a:t>
                      </a:r>
                      <a:endParaRPr lang="zh-CN" altLang="en-US" sz="1200" b="0" i="0" u="none" strike="noStrike" dirty="0">
                        <a:solidFill>
                          <a:srgbClr val="000000"/>
                        </a:solidFill>
                        <a:effectLst/>
                        <a:latin typeface="+mn-ea"/>
                        <a:ea typeface="+mn-ea"/>
                      </a:endParaRPr>
                    </a:p>
                  </a:txBody>
                  <a:tcPr marL="5274" marR="5274" marT="5274" marB="0" anchor="ctr"/>
                </a:tc>
                <a:tc>
                  <a:txBody>
                    <a:bodyPr/>
                    <a:lstStyle/>
                    <a:p>
                      <a:pPr algn="l" fontAlgn="ctr"/>
                      <a:r>
                        <a:rPr lang="en-US" sz="1200" u="none" strike="noStrike" dirty="0">
                          <a:effectLst/>
                          <a:latin typeface="+mn-ea"/>
                          <a:ea typeface="+mn-ea"/>
                        </a:rPr>
                        <a:t>《QR-D-H-005-008</a:t>
                      </a:r>
                      <a:r>
                        <a:rPr lang="zh-CN" altLang="en-US" sz="1200" u="none" strike="noStrike" dirty="0">
                          <a:effectLst/>
                          <a:latin typeface="+mn-ea"/>
                          <a:ea typeface="+mn-ea"/>
                        </a:rPr>
                        <a:t>试生产报告</a:t>
                      </a:r>
                      <a:r>
                        <a:rPr lang="en-US" altLang="zh-CN" sz="1200" u="none" strike="noStrike" dirty="0">
                          <a:effectLst/>
                          <a:latin typeface="+mn-ea"/>
                          <a:ea typeface="+mn-ea"/>
                        </a:rPr>
                        <a:t>》</a:t>
                      </a:r>
                      <a:endParaRPr lang="en-US" altLang="zh-CN" sz="1200" b="0" i="0" u="none" strike="noStrike" dirty="0">
                        <a:solidFill>
                          <a:srgbClr val="000000"/>
                        </a:solidFill>
                        <a:effectLst/>
                        <a:latin typeface="+mn-ea"/>
                        <a:ea typeface="+mn-ea"/>
                      </a:endParaRPr>
                    </a:p>
                  </a:txBody>
                  <a:tcPr marL="5274" marR="5274" marT="5274" marB="0" anchor="ctr"/>
                </a:tc>
                <a:tc>
                  <a:txBody>
                    <a:bodyPr/>
                    <a:lstStyle/>
                    <a:p>
                      <a:pPr algn="l" fontAlgn="ctr"/>
                      <a:r>
                        <a:rPr lang="zh-CN" altLang="en-US" sz="1200" u="none" strike="noStrike" dirty="0">
                          <a:effectLst/>
                          <a:latin typeface="+mn-ea"/>
                          <a:ea typeface="+mn-ea"/>
                        </a:rPr>
                        <a:t>制造部、品质管理部</a:t>
                      </a:r>
                      <a:endParaRPr lang="zh-CN" altLang="en-US" sz="1200" b="0" i="0" u="none" strike="noStrike" dirty="0">
                        <a:solidFill>
                          <a:srgbClr val="000000"/>
                        </a:solidFill>
                        <a:effectLst/>
                        <a:latin typeface="+mn-ea"/>
                        <a:ea typeface="+mn-ea"/>
                      </a:endParaRPr>
                    </a:p>
                  </a:txBody>
                  <a:tcPr marL="5274" marR="5274" marT="5274" marB="0" anchor="ctr"/>
                </a:tc>
                <a:extLst>
                  <a:ext uri="{0D108BD9-81ED-4DB2-BD59-A6C34878D82A}">
                    <a16:rowId xmlns:a16="http://schemas.microsoft.com/office/drawing/2014/main" val="2574852952"/>
                  </a:ext>
                </a:extLst>
              </a:tr>
              <a:tr h="451352">
                <a:tc rowSpan="4">
                  <a:txBody>
                    <a:bodyPr/>
                    <a:lstStyle/>
                    <a:p>
                      <a:pPr algn="ctr" fontAlgn="ctr"/>
                      <a:r>
                        <a:rPr lang="en-US" sz="1200" u="none" strike="noStrike" kern="1200" dirty="0">
                          <a:solidFill>
                            <a:schemeClr val="dk1"/>
                          </a:solidFill>
                          <a:effectLst/>
                          <a:latin typeface="+mn-ea"/>
                          <a:ea typeface="+mn-ea"/>
                          <a:cs typeface="+mn-cs"/>
                        </a:rPr>
                        <a:t>PVT</a:t>
                      </a:r>
                    </a:p>
                  </a:txBody>
                  <a:tcPr marL="5274" marR="5274" marT="5274" marB="0" anchor="ctr"/>
                </a:tc>
                <a:tc>
                  <a:txBody>
                    <a:bodyPr/>
                    <a:lstStyle/>
                    <a:p>
                      <a:r>
                        <a:rPr lang="en-US" altLang="zh-CN" sz="1200" u="none" strike="noStrike" kern="1200" dirty="0" smtClean="0">
                          <a:solidFill>
                            <a:schemeClr val="dk1"/>
                          </a:solidFill>
                          <a:effectLst/>
                          <a:latin typeface="+mn-ea"/>
                          <a:ea typeface="+mn-ea"/>
                          <a:cs typeface="+mn-cs"/>
                        </a:rPr>
                        <a:t>MR3PVT</a:t>
                      </a:r>
                      <a:r>
                        <a:rPr lang="zh-CN" altLang="en-US" sz="1200" u="none" strike="noStrike" kern="1200" dirty="0" smtClean="0">
                          <a:solidFill>
                            <a:schemeClr val="dk1"/>
                          </a:solidFill>
                          <a:effectLst/>
                          <a:latin typeface="+mn-ea"/>
                          <a:ea typeface="+mn-ea"/>
                          <a:cs typeface="+mn-cs"/>
                        </a:rPr>
                        <a:t>阶准入评审</a:t>
                      </a:r>
                      <a:endParaRPr lang="zh-CN" altLang="en-US" sz="1200" u="none" strike="noStrike" kern="1200" dirty="0">
                        <a:solidFill>
                          <a:schemeClr val="dk1"/>
                        </a:solidFill>
                        <a:effectLst/>
                        <a:latin typeface="+mn-ea"/>
                        <a:ea typeface="+mn-ea"/>
                        <a:cs typeface="+mn-cs"/>
                      </a:endParaRPr>
                    </a:p>
                  </a:txBody>
                  <a:tcPr marL="5274" marR="5274" marT="5274" marB="0" anchor="ctr"/>
                </a:tc>
                <a:tc>
                  <a:txBody>
                    <a:bodyPr/>
                    <a:lstStyle/>
                    <a:p>
                      <a:r>
                        <a:rPr lang="en-US" altLang="zh-CN" sz="1200" u="none" strike="noStrike" kern="1200" dirty="0" smtClean="0">
                          <a:solidFill>
                            <a:schemeClr val="dk1"/>
                          </a:solidFill>
                          <a:effectLst/>
                          <a:latin typeface="+mn-ea"/>
                          <a:ea typeface="+mn-ea"/>
                          <a:cs typeface="+mn-cs"/>
                        </a:rPr>
                        <a:t>《QR-D-PH-007-101</a:t>
                      </a:r>
                      <a:r>
                        <a:rPr lang="zh-CN" altLang="en-US" sz="1200" u="none" strike="noStrike" kern="1200" dirty="0" smtClean="0">
                          <a:solidFill>
                            <a:schemeClr val="dk1"/>
                          </a:solidFill>
                          <a:effectLst/>
                          <a:latin typeface="+mn-ea"/>
                          <a:ea typeface="+mn-ea"/>
                          <a:cs typeface="+mn-cs"/>
                        </a:rPr>
                        <a:t>项目管理评审报告</a:t>
                      </a:r>
                      <a:r>
                        <a:rPr lang="en-US" altLang="zh-CN" sz="1200" u="none" strike="noStrike" kern="1200" dirty="0" smtClean="0">
                          <a:solidFill>
                            <a:schemeClr val="dk1"/>
                          </a:solidFill>
                          <a:effectLst/>
                          <a:latin typeface="+mn-ea"/>
                          <a:ea typeface="+mn-ea"/>
                          <a:cs typeface="+mn-cs"/>
                        </a:rPr>
                        <a:t>》</a:t>
                      </a:r>
                      <a:endParaRPr lang="zh-CN" altLang="en-US" sz="1200" u="none" strike="noStrike" kern="1200" dirty="0">
                        <a:solidFill>
                          <a:schemeClr val="dk1"/>
                        </a:solidFill>
                        <a:effectLst/>
                        <a:latin typeface="+mn-ea"/>
                        <a:ea typeface="+mn-ea"/>
                        <a:cs typeface="+mn-cs"/>
                      </a:endParaRPr>
                    </a:p>
                  </a:txBody>
                  <a:tcPr marL="5274" marR="5274" marT="5274" marB="0" anchor="ctr"/>
                </a:tc>
                <a:tc>
                  <a:txBody>
                    <a:bodyPr/>
                    <a:lstStyle/>
                    <a:p>
                      <a:r>
                        <a:rPr lang="zh-CN" altLang="en-US" sz="1200" dirty="0" smtClean="0">
                          <a:latin typeface="+mn-ea"/>
                          <a:ea typeface="+mn-ea"/>
                        </a:rPr>
                        <a:t>项目经理</a:t>
                      </a:r>
                      <a:endParaRPr lang="zh-CN" altLang="en-US" sz="1200" dirty="0">
                        <a:latin typeface="+mn-ea"/>
                        <a:ea typeface="+mn-ea"/>
                      </a:endParaRPr>
                    </a:p>
                  </a:txBody>
                  <a:tcPr marL="5274" marR="5274" marT="5274" marB="0" anchor="ctr"/>
                </a:tc>
                <a:extLst>
                  <a:ext uri="{0D108BD9-81ED-4DB2-BD59-A6C34878D82A}">
                    <a16:rowId xmlns:a16="http://schemas.microsoft.com/office/drawing/2014/main" val="2332704070"/>
                  </a:ext>
                </a:extLst>
              </a:tr>
              <a:tr h="227853">
                <a:tc vMerge="1">
                  <a:txBody>
                    <a:bodyPr/>
                    <a:lstStyle/>
                    <a:p>
                      <a:pPr algn="ctr" fontAlgn="ctr"/>
                      <a:endParaRPr lang="en-US" sz="1050" b="0" i="0" u="none" strike="noStrike" dirty="0">
                        <a:solidFill>
                          <a:srgbClr val="000000"/>
                        </a:solidFill>
                        <a:effectLst/>
                        <a:latin typeface="+mn-ea"/>
                        <a:ea typeface="+mn-ea"/>
                      </a:endParaRPr>
                    </a:p>
                  </a:txBody>
                  <a:tcPr marL="5274" marR="5274" marT="5274" marB="0" anchor="ctr"/>
                </a:tc>
                <a:tc rowSpan="3">
                  <a:txBody>
                    <a:bodyPr/>
                    <a:lstStyle/>
                    <a:p>
                      <a:pPr marL="0" marR="0" lvl="0" indent="0" algn="l" defTabSz="1219170" rtl="0" eaLnBrk="1" fontAlgn="ctr" latinLnBrk="0" hangingPunct="1">
                        <a:lnSpc>
                          <a:spcPct val="100000"/>
                        </a:lnSpc>
                        <a:spcBef>
                          <a:spcPts val="0"/>
                        </a:spcBef>
                        <a:spcAft>
                          <a:spcPts val="0"/>
                        </a:spcAft>
                        <a:buClrTx/>
                        <a:buSzTx/>
                        <a:buFontTx/>
                        <a:buNone/>
                        <a:tabLst/>
                        <a:defRPr/>
                      </a:pPr>
                      <a:r>
                        <a:rPr lang="en-US" sz="1200" u="none" strike="noStrike" dirty="0">
                          <a:effectLst/>
                          <a:latin typeface="+mn-ea"/>
                          <a:ea typeface="+mn-ea"/>
                        </a:rPr>
                        <a:t>PVT</a:t>
                      </a:r>
                      <a:r>
                        <a:rPr lang="zh-CN" altLang="en-US" sz="1200" u="none" strike="noStrike" dirty="0" smtClean="0">
                          <a:effectLst/>
                          <a:latin typeface="+mn-ea"/>
                          <a:ea typeface="+mn-ea"/>
                        </a:rPr>
                        <a:t>测试</a:t>
                      </a:r>
                      <a:endParaRPr lang="zh-CN" altLang="en-US" sz="1200" b="0" i="0" u="none" strike="noStrike" dirty="0" smtClean="0">
                        <a:solidFill>
                          <a:srgbClr val="000000"/>
                        </a:solidFill>
                        <a:effectLst/>
                        <a:latin typeface="+mn-ea"/>
                        <a:ea typeface="+mn-ea"/>
                      </a:endParaRPr>
                    </a:p>
                  </a:txBody>
                  <a:tcPr marL="5274" marR="5274" marT="5274" marB="0" anchor="ctr"/>
                </a:tc>
                <a:tc>
                  <a:txBody>
                    <a:bodyPr/>
                    <a:lstStyle/>
                    <a:p>
                      <a:pPr marL="0" marR="0" lvl="0" indent="0" algn="l" defTabSz="1219170" rtl="0" eaLnBrk="1" fontAlgn="ctr" latinLnBrk="0" hangingPunct="1">
                        <a:lnSpc>
                          <a:spcPct val="100000"/>
                        </a:lnSpc>
                        <a:spcBef>
                          <a:spcPts val="0"/>
                        </a:spcBef>
                        <a:spcAft>
                          <a:spcPts val="0"/>
                        </a:spcAft>
                        <a:buClrTx/>
                        <a:buSzTx/>
                        <a:buFontTx/>
                        <a:buNone/>
                        <a:tabLst/>
                        <a:defRPr/>
                      </a:pPr>
                      <a:r>
                        <a:rPr lang="en-US" sz="1200" u="none" strike="noStrike" dirty="0" smtClean="0">
                          <a:effectLst/>
                          <a:latin typeface="+mn-ea"/>
                          <a:ea typeface="+mn-ea"/>
                        </a:rPr>
                        <a:t>《PVTXXX</a:t>
                      </a:r>
                      <a:r>
                        <a:rPr lang="zh-CN" altLang="en-US" sz="1200" u="none" strike="noStrike" dirty="0" smtClean="0">
                          <a:effectLst/>
                          <a:latin typeface="+mn-ea"/>
                          <a:ea typeface="+mn-ea"/>
                        </a:rPr>
                        <a:t>测试计划</a:t>
                      </a:r>
                      <a:r>
                        <a:rPr lang="en-US" altLang="zh-CN" sz="1200" u="none" strike="noStrike" dirty="0" smtClean="0">
                          <a:effectLst/>
                          <a:latin typeface="+mn-ea"/>
                          <a:ea typeface="+mn-ea"/>
                        </a:rPr>
                        <a:t>》《PVTXXX</a:t>
                      </a:r>
                      <a:r>
                        <a:rPr lang="zh-CN" altLang="en-US" sz="1200" u="none" strike="noStrike" dirty="0" smtClean="0">
                          <a:effectLst/>
                          <a:latin typeface="+mn-ea"/>
                          <a:ea typeface="+mn-ea"/>
                        </a:rPr>
                        <a:t>测试报告</a:t>
                      </a:r>
                      <a:r>
                        <a:rPr lang="en-US" altLang="zh-CN" sz="1200" u="none" strike="noStrike" dirty="0" smtClean="0">
                          <a:effectLst/>
                          <a:latin typeface="+mn-ea"/>
                          <a:ea typeface="+mn-ea"/>
                        </a:rPr>
                        <a:t>》</a:t>
                      </a:r>
                      <a:endParaRPr lang="en-US" altLang="zh-CN" sz="1200" b="0" i="0" u="none" strike="noStrike" dirty="0" smtClean="0">
                        <a:solidFill>
                          <a:srgbClr val="000000"/>
                        </a:solidFill>
                        <a:effectLst/>
                        <a:latin typeface="+mn-ea"/>
                        <a:ea typeface="+mn-ea"/>
                      </a:endParaRPr>
                    </a:p>
                  </a:txBody>
                  <a:tcPr marL="5274" marR="5274" marT="5274" marB="0" anchor="ctr"/>
                </a:tc>
                <a:tc>
                  <a:txBody>
                    <a:bodyPr/>
                    <a:lstStyle/>
                    <a:p>
                      <a:pPr algn="l" fontAlgn="ctr"/>
                      <a:r>
                        <a:rPr lang="en-US" altLang="zh-CN" sz="1200" u="none" strike="noStrike" dirty="0" smtClean="0">
                          <a:effectLst/>
                          <a:latin typeface="+mn-ea"/>
                          <a:ea typeface="+mn-ea"/>
                        </a:rPr>
                        <a:t>TPM</a:t>
                      </a:r>
                      <a:r>
                        <a:rPr lang="zh-CN" altLang="en-US" sz="1200" u="none" strike="noStrike" dirty="0">
                          <a:effectLst/>
                          <a:latin typeface="+mn-ea"/>
                          <a:ea typeface="+mn-ea"/>
                        </a:rPr>
                        <a:t>、可靠性测试工程师</a:t>
                      </a:r>
                      <a:endParaRPr lang="zh-CN" altLang="en-US" sz="1200" b="0" i="0" u="none" strike="noStrike" dirty="0">
                        <a:solidFill>
                          <a:srgbClr val="000000"/>
                        </a:solidFill>
                        <a:effectLst/>
                        <a:latin typeface="+mn-ea"/>
                        <a:ea typeface="+mn-ea"/>
                      </a:endParaRPr>
                    </a:p>
                  </a:txBody>
                  <a:tcPr marL="5274" marR="5274" marT="5274" marB="0" anchor="ctr"/>
                </a:tc>
                <a:extLst>
                  <a:ext uri="{0D108BD9-81ED-4DB2-BD59-A6C34878D82A}">
                    <a16:rowId xmlns:a16="http://schemas.microsoft.com/office/drawing/2014/main" val="3512021882"/>
                  </a:ext>
                </a:extLst>
              </a:tr>
              <a:tr h="227853">
                <a:tc vMerge="1">
                  <a:txBody>
                    <a:bodyPr/>
                    <a:lstStyle/>
                    <a:p>
                      <a:pPr algn="ctr" fontAlgn="ctr"/>
                      <a:endParaRPr lang="en-US" sz="1050" b="0" i="0" u="none" strike="noStrike" dirty="0">
                        <a:solidFill>
                          <a:srgbClr val="000000"/>
                        </a:solidFill>
                        <a:effectLst/>
                        <a:latin typeface="+mn-ea"/>
                        <a:ea typeface="+mn-ea"/>
                      </a:endParaRPr>
                    </a:p>
                  </a:txBody>
                  <a:tcPr marL="5274" marR="5274" marT="5274" marB="0" anchor="ctr"/>
                </a:tc>
                <a:tc vMerge="1">
                  <a:txBody>
                    <a:bodyPr/>
                    <a:lstStyle/>
                    <a:p>
                      <a:pPr marL="0" marR="0" lvl="0" indent="0" algn="l" defTabSz="1219170" rtl="0" eaLnBrk="1" fontAlgn="ctr" latinLnBrk="0" hangingPunct="1">
                        <a:lnSpc>
                          <a:spcPct val="100000"/>
                        </a:lnSpc>
                        <a:spcBef>
                          <a:spcPts val="0"/>
                        </a:spcBef>
                        <a:spcAft>
                          <a:spcPts val="0"/>
                        </a:spcAft>
                        <a:buClrTx/>
                        <a:buSzTx/>
                        <a:buFontTx/>
                        <a:buNone/>
                        <a:tabLst/>
                        <a:defRPr/>
                      </a:pPr>
                      <a:endParaRPr lang="zh-CN" altLang="en-US" sz="1050" b="0" i="0" u="none" strike="noStrike" dirty="0" smtClean="0">
                        <a:solidFill>
                          <a:srgbClr val="000000"/>
                        </a:solidFill>
                        <a:effectLst/>
                        <a:latin typeface="+mn-ea"/>
                        <a:ea typeface="+mn-ea"/>
                      </a:endParaRPr>
                    </a:p>
                  </a:txBody>
                  <a:tcPr marL="5274" marR="5274" marT="5274" marB="0" anchor="ctr"/>
                </a:tc>
                <a:tc>
                  <a:txBody>
                    <a:bodyPr/>
                    <a:lstStyle/>
                    <a:p>
                      <a:pPr marL="0" marR="0" lvl="0" indent="0" algn="l" defTabSz="1219170" rtl="0" eaLnBrk="1" fontAlgn="ctr" latinLnBrk="0" hangingPunct="1">
                        <a:lnSpc>
                          <a:spcPct val="100000"/>
                        </a:lnSpc>
                        <a:spcBef>
                          <a:spcPts val="0"/>
                        </a:spcBef>
                        <a:spcAft>
                          <a:spcPts val="0"/>
                        </a:spcAft>
                        <a:buClrTx/>
                        <a:buSzTx/>
                        <a:buFontTx/>
                        <a:buNone/>
                        <a:tabLst/>
                        <a:defRPr/>
                      </a:pPr>
                      <a:r>
                        <a:rPr lang="en-US" altLang="zh-CN" sz="1200" u="none" strike="noStrike" kern="1200" dirty="0" smtClean="0">
                          <a:solidFill>
                            <a:schemeClr val="dk1"/>
                          </a:solidFill>
                          <a:effectLst/>
                          <a:latin typeface="+mn-ea"/>
                          <a:ea typeface="+mn-ea"/>
                          <a:cs typeface="+mn-cs"/>
                        </a:rPr>
                        <a:t>《QR-D-PH-005-101</a:t>
                      </a:r>
                      <a:r>
                        <a:rPr lang="zh-CN" altLang="en-US" sz="1200" u="none" strike="noStrike" kern="1200" dirty="0" smtClean="0">
                          <a:solidFill>
                            <a:schemeClr val="dk1"/>
                          </a:solidFill>
                          <a:effectLst/>
                          <a:latin typeface="+mn-ea"/>
                          <a:ea typeface="+mn-ea"/>
                          <a:cs typeface="+mn-cs"/>
                        </a:rPr>
                        <a:t>同行技术评审报告</a:t>
                      </a:r>
                      <a:r>
                        <a:rPr lang="en-US" altLang="zh-CN" sz="1200" u="none" strike="noStrike" kern="1200" dirty="0" smtClean="0">
                          <a:solidFill>
                            <a:schemeClr val="dk1"/>
                          </a:solidFill>
                          <a:effectLst/>
                          <a:latin typeface="+mn-ea"/>
                          <a:ea typeface="+mn-ea"/>
                          <a:cs typeface="+mn-cs"/>
                        </a:rPr>
                        <a:t>》</a:t>
                      </a:r>
                    </a:p>
                  </a:txBody>
                  <a:tcPr marL="5274" marR="5274" marT="5274" marB="0" anchor="ctr"/>
                </a:tc>
                <a:tc>
                  <a:txBody>
                    <a:bodyPr/>
                    <a:lstStyle/>
                    <a:p>
                      <a:pPr algn="l" fontAlgn="ctr"/>
                      <a:r>
                        <a:rPr lang="en-US" altLang="zh-CN" sz="1200" b="0" i="0" u="none" strike="noStrike" dirty="0" smtClean="0">
                          <a:solidFill>
                            <a:srgbClr val="000000"/>
                          </a:solidFill>
                          <a:effectLst/>
                          <a:latin typeface="+mn-ea"/>
                          <a:ea typeface="+mn-ea"/>
                        </a:rPr>
                        <a:t>PLM</a:t>
                      </a:r>
                      <a:r>
                        <a:rPr lang="zh-CN" altLang="en-US" sz="1200" b="0" i="0" u="none" strike="noStrike" dirty="0" smtClean="0">
                          <a:solidFill>
                            <a:srgbClr val="000000"/>
                          </a:solidFill>
                          <a:effectLst/>
                          <a:latin typeface="+mn-ea"/>
                          <a:ea typeface="+mn-ea"/>
                        </a:rPr>
                        <a:t>系统生成</a:t>
                      </a:r>
                      <a:endParaRPr lang="zh-CN" altLang="en-US" sz="1200" b="0" i="0" u="none" strike="noStrike" dirty="0">
                        <a:solidFill>
                          <a:srgbClr val="000000"/>
                        </a:solidFill>
                        <a:effectLst/>
                        <a:latin typeface="+mn-ea"/>
                        <a:ea typeface="+mn-ea"/>
                      </a:endParaRPr>
                    </a:p>
                  </a:txBody>
                  <a:tcPr marL="5274" marR="5274" marT="5274" marB="0" anchor="ctr"/>
                </a:tc>
                <a:extLst>
                  <a:ext uri="{0D108BD9-81ED-4DB2-BD59-A6C34878D82A}">
                    <a16:rowId xmlns:a16="http://schemas.microsoft.com/office/drawing/2014/main" val="171371664"/>
                  </a:ext>
                </a:extLst>
              </a:tr>
              <a:tr h="227853">
                <a:tc vMerge="1">
                  <a:txBody>
                    <a:bodyPr/>
                    <a:lstStyle/>
                    <a:p>
                      <a:endParaRPr lang="zh-CN" altLang="en-US"/>
                    </a:p>
                  </a:txBody>
                  <a:tcPr/>
                </a:tc>
                <a:tc vMerge="1">
                  <a:txBody>
                    <a:bodyPr/>
                    <a:lstStyle/>
                    <a:p>
                      <a:pPr marL="0" marR="0" lvl="0" indent="0" algn="l" defTabSz="1219170" rtl="0" eaLnBrk="1" fontAlgn="ctr" latinLnBrk="0" hangingPunct="1">
                        <a:lnSpc>
                          <a:spcPct val="100000"/>
                        </a:lnSpc>
                        <a:spcBef>
                          <a:spcPts val="0"/>
                        </a:spcBef>
                        <a:spcAft>
                          <a:spcPts val="0"/>
                        </a:spcAft>
                        <a:buClrTx/>
                        <a:buSzTx/>
                        <a:buFontTx/>
                        <a:buNone/>
                        <a:tabLst/>
                        <a:defRPr/>
                      </a:pPr>
                      <a:endParaRPr lang="zh-CN" altLang="en-US" sz="1050" b="0" i="0" u="none" strike="noStrike" dirty="0" smtClean="0">
                        <a:solidFill>
                          <a:srgbClr val="000000"/>
                        </a:solidFill>
                        <a:effectLst/>
                        <a:latin typeface="+mn-ea"/>
                        <a:ea typeface="+mn-ea"/>
                      </a:endParaRPr>
                    </a:p>
                  </a:txBody>
                  <a:tcPr marL="5274" marR="5274" marT="5274" marB="0" anchor="ctr"/>
                </a:tc>
                <a:tc>
                  <a:txBody>
                    <a:bodyPr/>
                    <a:lstStyle/>
                    <a:p>
                      <a:pPr marL="0" marR="0" lvl="0" indent="0" algn="l" defTabSz="1219170" rtl="0" eaLnBrk="1" fontAlgn="ctr" latinLnBrk="0" hangingPunct="1">
                        <a:lnSpc>
                          <a:spcPct val="100000"/>
                        </a:lnSpc>
                        <a:spcBef>
                          <a:spcPts val="0"/>
                        </a:spcBef>
                        <a:spcAft>
                          <a:spcPts val="0"/>
                        </a:spcAft>
                        <a:buClrTx/>
                        <a:buSzTx/>
                        <a:buFontTx/>
                        <a:buNone/>
                        <a:tabLst/>
                        <a:defRPr/>
                      </a:pPr>
                      <a:r>
                        <a:rPr lang="en-US" altLang="zh-CN" sz="1200" u="none" strike="noStrike" kern="1200" dirty="0" smtClean="0">
                          <a:solidFill>
                            <a:schemeClr val="dk1"/>
                          </a:solidFill>
                          <a:effectLst/>
                          <a:latin typeface="+mn-ea"/>
                          <a:ea typeface="+mn-ea"/>
                          <a:cs typeface="+mn-cs"/>
                        </a:rPr>
                        <a:t>《TR5</a:t>
                      </a:r>
                      <a:r>
                        <a:rPr lang="zh-CN" altLang="en-US" sz="1200" u="none" strike="noStrike" kern="1200" dirty="0" smtClean="0">
                          <a:solidFill>
                            <a:schemeClr val="dk1"/>
                          </a:solidFill>
                          <a:effectLst/>
                          <a:latin typeface="+mn-ea"/>
                          <a:ea typeface="+mn-ea"/>
                          <a:cs typeface="+mn-cs"/>
                        </a:rPr>
                        <a:t>初始产品技术状态评审报告</a:t>
                      </a:r>
                      <a:r>
                        <a:rPr lang="en-US" altLang="zh-CN" sz="1200" u="none" strike="noStrike" kern="1200" dirty="0" smtClean="0">
                          <a:solidFill>
                            <a:schemeClr val="dk1"/>
                          </a:solidFill>
                          <a:effectLst/>
                          <a:latin typeface="+mn-ea"/>
                          <a:ea typeface="+mn-ea"/>
                          <a:cs typeface="+mn-cs"/>
                        </a:rPr>
                        <a:t>》</a:t>
                      </a:r>
                    </a:p>
                  </a:txBody>
                  <a:tcPr marL="5274" marR="5274" marT="5274" marB="0" anchor="ctr"/>
                </a:tc>
                <a:tc>
                  <a:txBody>
                    <a:bodyPr/>
                    <a:lstStyle/>
                    <a:p>
                      <a:pPr algn="l" fontAlgn="ctr"/>
                      <a:r>
                        <a:rPr lang="zh-CN" altLang="en-US" sz="1200" b="0" i="0" u="none" strike="noStrike" dirty="0" smtClean="0">
                          <a:solidFill>
                            <a:srgbClr val="000000"/>
                          </a:solidFill>
                          <a:effectLst/>
                          <a:latin typeface="+mn-ea"/>
                          <a:ea typeface="+mn-ea"/>
                        </a:rPr>
                        <a:t>架构师</a:t>
                      </a:r>
                      <a:endParaRPr lang="zh-CN" altLang="en-US" sz="1200" b="0" i="0" u="none" strike="noStrike" dirty="0">
                        <a:solidFill>
                          <a:srgbClr val="000000"/>
                        </a:solidFill>
                        <a:effectLst/>
                        <a:latin typeface="+mn-ea"/>
                        <a:ea typeface="+mn-ea"/>
                      </a:endParaRPr>
                    </a:p>
                  </a:txBody>
                  <a:tcPr marL="5274" marR="5274" marT="5274" marB="0" anchor="ctr"/>
                </a:tc>
                <a:extLst>
                  <a:ext uri="{0D108BD9-81ED-4DB2-BD59-A6C34878D82A}">
                    <a16:rowId xmlns:a16="http://schemas.microsoft.com/office/drawing/2014/main" val="689727489"/>
                  </a:ext>
                </a:extLst>
              </a:tr>
              <a:tr h="280495">
                <a:tc rowSpan="3">
                  <a:txBody>
                    <a:bodyPr/>
                    <a:lstStyle/>
                    <a:p>
                      <a:pPr algn="ctr" fontAlgn="ctr"/>
                      <a:r>
                        <a:rPr lang="zh-CN" altLang="en-US" sz="1200" u="none" strike="noStrike">
                          <a:effectLst/>
                          <a:latin typeface="+mn-ea"/>
                          <a:ea typeface="+mn-ea"/>
                        </a:rPr>
                        <a:t>批量测试</a:t>
                      </a:r>
                      <a:endParaRPr lang="zh-CN" altLang="en-US" sz="1200" b="0" i="0" u="none" strike="noStrike">
                        <a:solidFill>
                          <a:srgbClr val="000000"/>
                        </a:solidFill>
                        <a:effectLst/>
                        <a:latin typeface="+mn-ea"/>
                        <a:ea typeface="+mn-ea"/>
                      </a:endParaRPr>
                    </a:p>
                  </a:txBody>
                  <a:tcPr marL="5274" marR="5274" marT="5274" marB="0" anchor="ctr"/>
                </a:tc>
                <a:tc rowSpan="2">
                  <a:txBody>
                    <a:bodyPr/>
                    <a:lstStyle/>
                    <a:p>
                      <a:pPr algn="l" fontAlgn="ctr"/>
                      <a:r>
                        <a:rPr lang="zh-CN" altLang="en-US" sz="1200" u="none" strike="noStrike" dirty="0">
                          <a:effectLst/>
                          <a:latin typeface="+mn-ea"/>
                          <a:ea typeface="+mn-ea"/>
                        </a:rPr>
                        <a:t>批量测试</a:t>
                      </a:r>
                      <a:endParaRPr lang="zh-CN" altLang="en-US" sz="1200" b="0" i="0" u="none" strike="noStrike" dirty="0">
                        <a:solidFill>
                          <a:srgbClr val="000000"/>
                        </a:solidFill>
                        <a:effectLst/>
                        <a:latin typeface="+mn-ea"/>
                        <a:ea typeface="+mn-ea"/>
                      </a:endParaRPr>
                    </a:p>
                  </a:txBody>
                  <a:tcPr marL="5274" marR="5274" marT="5274" marB="0" anchor="ctr"/>
                </a:tc>
                <a:tc>
                  <a:txBody>
                    <a:bodyPr/>
                    <a:lstStyle/>
                    <a:p>
                      <a:pPr marL="0" marR="0" lvl="0" indent="0" algn="l" defTabSz="1219170" rtl="0" eaLnBrk="1" fontAlgn="ctr" latinLnBrk="0" hangingPunct="1">
                        <a:lnSpc>
                          <a:spcPct val="100000"/>
                        </a:lnSpc>
                        <a:spcBef>
                          <a:spcPts val="0"/>
                        </a:spcBef>
                        <a:spcAft>
                          <a:spcPts val="0"/>
                        </a:spcAft>
                        <a:buClrTx/>
                        <a:buSzTx/>
                        <a:buFontTx/>
                        <a:buNone/>
                        <a:tabLst/>
                        <a:defRPr/>
                      </a:pPr>
                      <a:r>
                        <a:rPr lang="en-US" altLang="zh-CN" sz="1200" u="none" strike="noStrike" dirty="0">
                          <a:effectLst/>
                          <a:latin typeface="+mn-ea"/>
                          <a:ea typeface="+mn-ea"/>
                        </a:rPr>
                        <a:t>《</a:t>
                      </a:r>
                      <a:r>
                        <a:rPr lang="zh-CN" altLang="en-US" sz="1200" u="none" strike="noStrike" dirty="0">
                          <a:effectLst/>
                          <a:latin typeface="+mn-ea"/>
                          <a:ea typeface="+mn-ea"/>
                        </a:rPr>
                        <a:t>批量</a:t>
                      </a:r>
                      <a:r>
                        <a:rPr lang="en-US" altLang="zh-CN" sz="1200" u="none" strike="noStrike" dirty="0">
                          <a:effectLst/>
                          <a:latin typeface="+mn-ea"/>
                          <a:ea typeface="+mn-ea"/>
                        </a:rPr>
                        <a:t>XXX</a:t>
                      </a:r>
                      <a:r>
                        <a:rPr lang="zh-CN" altLang="en-US" sz="1200" u="none" strike="noStrike" dirty="0" smtClean="0">
                          <a:effectLst/>
                          <a:latin typeface="+mn-ea"/>
                          <a:ea typeface="+mn-ea"/>
                        </a:rPr>
                        <a:t>测试计划</a:t>
                      </a:r>
                      <a:r>
                        <a:rPr lang="en-US" altLang="zh-CN" sz="1200" u="none" strike="noStrike" dirty="0" smtClean="0">
                          <a:effectLst/>
                          <a:latin typeface="+mn-ea"/>
                          <a:ea typeface="+mn-ea"/>
                        </a:rPr>
                        <a:t>》《</a:t>
                      </a:r>
                      <a:r>
                        <a:rPr lang="zh-CN" altLang="en-US" sz="1200" u="none" strike="noStrike" dirty="0" smtClean="0">
                          <a:effectLst/>
                          <a:latin typeface="+mn-ea"/>
                          <a:ea typeface="+mn-ea"/>
                        </a:rPr>
                        <a:t>批量</a:t>
                      </a:r>
                      <a:r>
                        <a:rPr lang="en-US" altLang="zh-CN" sz="1200" u="none" strike="noStrike" dirty="0" smtClean="0">
                          <a:effectLst/>
                          <a:latin typeface="+mn-ea"/>
                          <a:ea typeface="+mn-ea"/>
                        </a:rPr>
                        <a:t>XXX</a:t>
                      </a:r>
                      <a:r>
                        <a:rPr lang="zh-CN" altLang="en-US" sz="1200" u="none" strike="noStrike" dirty="0" smtClean="0">
                          <a:effectLst/>
                          <a:latin typeface="+mn-ea"/>
                          <a:ea typeface="+mn-ea"/>
                        </a:rPr>
                        <a:t>测试报告</a:t>
                      </a:r>
                      <a:r>
                        <a:rPr lang="en-US" altLang="zh-CN" sz="1200" u="none" strike="noStrike" dirty="0" smtClean="0">
                          <a:effectLst/>
                          <a:latin typeface="+mn-ea"/>
                          <a:ea typeface="+mn-ea"/>
                        </a:rPr>
                        <a:t>》</a:t>
                      </a:r>
                      <a:endParaRPr lang="en-US" altLang="zh-CN" sz="1200" b="0" i="0" u="none" strike="noStrike" dirty="0" smtClean="0">
                        <a:solidFill>
                          <a:srgbClr val="000000"/>
                        </a:solidFill>
                        <a:effectLst/>
                        <a:latin typeface="+mn-ea"/>
                        <a:ea typeface="+mn-ea"/>
                      </a:endParaRPr>
                    </a:p>
                  </a:txBody>
                  <a:tcPr marL="5274" marR="5274" marT="5274" marB="0" anchor="ctr"/>
                </a:tc>
                <a:tc>
                  <a:txBody>
                    <a:bodyPr/>
                    <a:lstStyle/>
                    <a:p>
                      <a:pPr algn="l" fontAlgn="ctr"/>
                      <a:r>
                        <a:rPr lang="en-US" altLang="zh-CN" sz="1200" u="none" strike="noStrike" dirty="0" smtClean="0">
                          <a:effectLst/>
                          <a:latin typeface="+mn-ea"/>
                          <a:ea typeface="+mn-ea"/>
                        </a:rPr>
                        <a:t>TPM</a:t>
                      </a:r>
                      <a:r>
                        <a:rPr lang="zh-CN" altLang="en-US" sz="1200" u="none" strike="noStrike" dirty="0" smtClean="0">
                          <a:effectLst/>
                          <a:latin typeface="+mn-ea"/>
                          <a:ea typeface="+mn-ea"/>
                        </a:rPr>
                        <a:t>、可靠性测试工程师</a:t>
                      </a:r>
                      <a:endParaRPr lang="zh-CN" altLang="en-US" sz="1200" b="0" i="0" u="none" strike="noStrike" dirty="0">
                        <a:solidFill>
                          <a:srgbClr val="000000"/>
                        </a:solidFill>
                        <a:effectLst/>
                        <a:latin typeface="+mn-ea"/>
                        <a:ea typeface="+mn-ea"/>
                      </a:endParaRPr>
                    </a:p>
                  </a:txBody>
                  <a:tcPr marL="5274" marR="5274" marT="5274" marB="0" anchor="ctr"/>
                </a:tc>
                <a:extLst>
                  <a:ext uri="{0D108BD9-81ED-4DB2-BD59-A6C34878D82A}">
                    <a16:rowId xmlns:a16="http://schemas.microsoft.com/office/drawing/2014/main" val="590414178"/>
                  </a:ext>
                </a:extLst>
              </a:tr>
              <a:tr h="280495">
                <a:tc vMerge="1">
                  <a:txBody>
                    <a:bodyPr/>
                    <a:lstStyle/>
                    <a:p>
                      <a:endParaRPr lang="zh-CN" altLang="en-US"/>
                    </a:p>
                  </a:txBody>
                  <a:tcPr/>
                </a:tc>
                <a:tc vMerge="1">
                  <a:txBody>
                    <a:bodyPr/>
                    <a:lstStyle/>
                    <a:p>
                      <a:pPr algn="l" fontAlgn="ctr"/>
                      <a:endParaRPr lang="zh-CN" altLang="en-US" sz="1050" b="0" i="0" u="none" strike="noStrike" dirty="0">
                        <a:solidFill>
                          <a:srgbClr val="000000"/>
                        </a:solidFill>
                        <a:effectLst/>
                        <a:latin typeface="+mn-ea"/>
                        <a:ea typeface="+mn-ea"/>
                      </a:endParaRPr>
                    </a:p>
                  </a:txBody>
                  <a:tcPr marL="5274" marR="5274" marT="5274" marB="0" anchor="ctr"/>
                </a:tc>
                <a:tc>
                  <a:txBody>
                    <a:bodyPr/>
                    <a:lstStyle/>
                    <a:p>
                      <a:pPr marL="0" marR="0" lvl="0" indent="0" algn="l" defTabSz="1219170" rtl="0" eaLnBrk="1" fontAlgn="ctr" latinLnBrk="0" hangingPunct="1">
                        <a:lnSpc>
                          <a:spcPct val="100000"/>
                        </a:lnSpc>
                        <a:spcBef>
                          <a:spcPts val="0"/>
                        </a:spcBef>
                        <a:spcAft>
                          <a:spcPts val="0"/>
                        </a:spcAft>
                        <a:buClrTx/>
                        <a:buSzTx/>
                        <a:buFontTx/>
                        <a:buNone/>
                        <a:tabLst/>
                        <a:defRPr/>
                      </a:pPr>
                      <a:r>
                        <a:rPr lang="en-US" altLang="zh-CN" sz="1200" u="none" strike="noStrike" kern="1200" dirty="0" smtClean="0">
                          <a:solidFill>
                            <a:schemeClr val="dk1"/>
                          </a:solidFill>
                          <a:effectLst/>
                          <a:latin typeface="+mn-ea"/>
                          <a:ea typeface="+mn-ea"/>
                          <a:cs typeface="+mn-cs"/>
                        </a:rPr>
                        <a:t>《QR-D-PH-005-101</a:t>
                      </a:r>
                      <a:r>
                        <a:rPr lang="zh-CN" altLang="en-US" sz="1200" u="none" strike="noStrike" kern="1200" dirty="0" smtClean="0">
                          <a:solidFill>
                            <a:schemeClr val="dk1"/>
                          </a:solidFill>
                          <a:effectLst/>
                          <a:latin typeface="+mn-ea"/>
                          <a:ea typeface="+mn-ea"/>
                          <a:cs typeface="+mn-cs"/>
                        </a:rPr>
                        <a:t>同行技术评审报告</a:t>
                      </a:r>
                      <a:r>
                        <a:rPr lang="en-US" altLang="zh-CN" sz="1200" u="none" strike="noStrike" kern="1200" dirty="0" smtClean="0">
                          <a:solidFill>
                            <a:schemeClr val="dk1"/>
                          </a:solidFill>
                          <a:effectLst/>
                          <a:latin typeface="+mn-ea"/>
                          <a:ea typeface="+mn-ea"/>
                          <a:cs typeface="+mn-cs"/>
                        </a:rPr>
                        <a:t>》</a:t>
                      </a:r>
                    </a:p>
                  </a:txBody>
                  <a:tcPr marL="5274" marR="5274" marT="5274" marB="0" anchor="ctr"/>
                </a:tc>
                <a:tc>
                  <a:txBody>
                    <a:bodyPr/>
                    <a:lstStyle/>
                    <a:p>
                      <a:pPr algn="l" fontAlgn="ctr"/>
                      <a:r>
                        <a:rPr lang="en-US" altLang="zh-CN" sz="1200" b="0" i="0" u="none" strike="noStrike" dirty="0" smtClean="0">
                          <a:solidFill>
                            <a:srgbClr val="000000"/>
                          </a:solidFill>
                          <a:effectLst/>
                          <a:latin typeface="+mn-ea"/>
                          <a:ea typeface="+mn-ea"/>
                        </a:rPr>
                        <a:t>PLM</a:t>
                      </a:r>
                      <a:r>
                        <a:rPr lang="zh-CN" altLang="en-US" sz="1200" b="0" i="0" u="none" strike="noStrike" dirty="0" smtClean="0">
                          <a:solidFill>
                            <a:srgbClr val="000000"/>
                          </a:solidFill>
                          <a:effectLst/>
                          <a:latin typeface="+mn-ea"/>
                          <a:ea typeface="+mn-ea"/>
                        </a:rPr>
                        <a:t>系统生成</a:t>
                      </a:r>
                      <a:endParaRPr lang="zh-CN" altLang="en-US" sz="1200" b="0" i="0" u="none" strike="noStrike" dirty="0">
                        <a:solidFill>
                          <a:srgbClr val="000000"/>
                        </a:solidFill>
                        <a:effectLst/>
                        <a:latin typeface="+mn-ea"/>
                        <a:ea typeface="+mn-ea"/>
                      </a:endParaRPr>
                    </a:p>
                  </a:txBody>
                  <a:tcPr marL="5274" marR="5274" marT="5274" marB="0" anchor="ctr"/>
                </a:tc>
                <a:extLst>
                  <a:ext uri="{0D108BD9-81ED-4DB2-BD59-A6C34878D82A}">
                    <a16:rowId xmlns:a16="http://schemas.microsoft.com/office/drawing/2014/main" val="1098734130"/>
                  </a:ext>
                </a:extLst>
              </a:tr>
              <a:tr h="560989">
                <a:tc vMerge="1">
                  <a:txBody>
                    <a:bodyPr/>
                    <a:lstStyle/>
                    <a:p>
                      <a:endParaRPr lang="zh-CN" altLang="en-US"/>
                    </a:p>
                  </a:txBody>
                  <a:tcPr/>
                </a:tc>
                <a:tc>
                  <a:txBody>
                    <a:bodyPr/>
                    <a:lstStyle/>
                    <a:p>
                      <a:pPr algn="l" fontAlgn="ctr"/>
                      <a:r>
                        <a:rPr lang="zh-CN" altLang="en-US" sz="1200" u="none" strike="noStrike">
                          <a:effectLst/>
                          <a:latin typeface="+mn-ea"/>
                          <a:ea typeface="+mn-ea"/>
                        </a:rPr>
                        <a:t>产品质量评审</a:t>
                      </a:r>
                      <a:endParaRPr lang="zh-CN" altLang="en-US" sz="1200" b="0" i="0" u="none" strike="noStrike">
                        <a:solidFill>
                          <a:srgbClr val="000000"/>
                        </a:solidFill>
                        <a:effectLst/>
                        <a:latin typeface="+mn-ea"/>
                        <a:ea typeface="+mn-ea"/>
                      </a:endParaRPr>
                    </a:p>
                  </a:txBody>
                  <a:tcPr marL="5274" marR="5274" marT="5274" marB="0" anchor="ctr"/>
                </a:tc>
                <a:tc>
                  <a:txBody>
                    <a:bodyPr/>
                    <a:lstStyle/>
                    <a:p>
                      <a:pPr algn="l" fontAlgn="ctr"/>
                      <a:r>
                        <a:rPr lang="en-US" altLang="zh-CN" sz="1200" u="none" strike="noStrike" dirty="0">
                          <a:effectLst/>
                          <a:latin typeface="+mn-ea"/>
                          <a:ea typeface="+mn-ea"/>
                        </a:rPr>
                        <a:t>《QR-D-H-005-009</a:t>
                      </a:r>
                      <a:r>
                        <a:rPr lang="zh-CN" altLang="en-US" sz="1200" u="none" strike="noStrike" dirty="0">
                          <a:effectLst/>
                          <a:latin typeface="+mn-ea"/>
                          <a:ea typeface="+mn-ea"/>
                        </a:rPr>
                        <a:t>质量评审报告</a:t>
                      </a:r>
                      <a:r>
                        <a:rPr lang="en-US" altLang="zh-CN" sz="1200" u="none" strike="noStrike" dirty="0">
                          <a:effectLst/>
                          <a:latin typeface="+mn-ea"/>
                          <a:ea typeface="+mn-ea"/>
                        </a:rPr>
                        <a:t>》</a:t>
                      </a:r>
                      <a:endParaRPr lang="en-US" altLang="zh-CN" sz="1200" b="0" i="0" u="none" strike="noStrike" dirty="0">
                        <a:solidFill>
                          <a:srgbClr val="000000"/>
                        </a:solidFill>
                        <a:effectLst/>
                        <a:latin typeface="+mn-ea"/>
                        <a:ea typeface="+mn-ea"/>
                      </a:endParaRPr>
                    </a:p>
                  </a:txBody>
                  <a:tcPr marL="5274" marR="5274" marT="5274" marB="0" anchor="ctr"/>
                </a:tc>
                <a:tc>
                  <a:txBody>
                    <a:bodyPr/>
                    <a:lstStyle/>
                    <a:p>
                      <a:pPr algn="l" fontAlgn="ctr"/>
                      <a:r>
                        <a:rPr lang="en-US" sz="1200" u="none" strike="noStrike" dirty="0">
                          <a:effectLst/>
                          <a:latin typeface="+mn-ea"/>
                          <a:ea typeface="+mn-ea"/>
                        </a:rPr>
                        <a:t>DQA</a:t>
                      </a:r>
                      <a:endParaRPr lang="en-US" sz="1200" b="0" i="0" u="none" strike="noStrike" dirty="0">
                        <a:solidFill>
                          <a:srgbClr val="000000"/>
                        </a:solidFill>
                        <a:effectLst/>
                        <a:latin typeface="+mn-ea"/>
                        <a:ea typeface="+mn-ea"/>
                      </a:endParaRPr>
                    </a:p>
                  </a:txBody>
                  <a:tcPr marL="5274" marR="5274" marT="5274" marB="0" anchor="ctr"/>
                </a:tc>
                <a:extLst>
                  <a:ext uri="{0D108BD9-81ED-4DB2-BD59-A6C34878D82A}">
                    <a16:rowId xmlns:a16="http://schemas.microsoft.com/office/drawing/2014/main" val="4155439130"/>
                  </a:ext>
                </a:extLst>
              </a:tr>
            </a:tbl>
          </a:graphicData>
        </a:graphic>
      </p:graphicFrame>
    </p:spTree>
    <p:extLst>
      <p:ext uri="{BB962C8B-B14F-4D97-AF65-F5344CB8AC3E}">
        <p14:creationId xmlns:p14="http://schemas.microsoft.com/office/powerpoint/2010/main" val="135020230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smtClean="0"/>
              <a:t>试产问题</a:t>
            </a:r>
            <a:r>
              <a:rPr lang="en-US" altLang="zh-CN" dirty="0" smtClean="0"/>
              <a:t>-</a:t>
            </a:r>
            <a:r>
              <a:rPr lang="zh-CN" altLang="en-US" dirty="0" smtClean="0"/>
              <a:t>实例分析</a:t>
            </a:r>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1175790123"/>
              </p:ext>
            </p:extLst>
          </p:nvPr>
        </p:nvGraphicFramePr>
        <p:xfrm>
          <a:off x="657224" y="1009652"/>
          <a:ext cx="10753725" cy="3584650"/>
        </p:xfrm>
        <a:graphic>
          <a:graphicData uri="http://schemas.openxmlformats.org/drawingml/2006/table">
            <a:tbl>
              <a:tblPr firstRow="1">
                <a:tableStyleId>{21E4AEA4-8DFA-4A89-87EB-49C32662AFE0}</a:tableStyleId>
              </a:tblPr>
              <a:tblGrid>
                <a:gridCol w="2866561">
                  <a:extLst>
                    <a:ext uri="{9D8B030D-6E8A-4147-A177-3AD203B41FA5}">
                      <a16:colId xmlns:a16="http://schemas.microsoft.com/office/drawing/2014/main" val="3240800296"/>
                    </a:ext>
                  </a:extLst>
                </a:gridCol>
                <a:gridCol w="3445727">
                  <a:extLst>
                    <a:ext uri="{9D8B030D-6E8A-4147-A177-3AD203B41FA5}">
                      <a16:colId xmlns:a16="http://schemas.microsoft.com/office/drawing/2014/main" val="2643094867"/>
                    </a:ext>
                  </a:extLst>
                </a:gridCol>
                <a:gridCol w="4441437">
                  <a:extLst>
                    <a:ext uri="{9D8B030D-6E8A-4147-A177-3AD203B41FA5}">
                      <a16:colId xmlns:a16="http://schemas.microsoft.com/office/drawing/2014/main" val="3590721592"/>
                    </a:ext>
                  </a:extLst>
                </a:gridCol>
              </a:tblGrid>
              <a:tr h="584214">
                <a:tc>
                  <a:txBody>
                    <a:bodyPr/>
                    <a:lstStyle/>
                    <a:p>
                      <a:pPr algn="l" fontAlgn="ctr"/>
                      <a:r>
                        <a:rPr lang="zh-CN" altLang="en-US" sz="1400" u="none" strike="noStrike" dirty="0" smtClean="0">
                          <a:effectLst/>
                          <a:latin typeface="+mn-ea"/>
                          <a:ea typeface="+mn-ea"/>
                        </a:rPr>
                        <a:t>问题描述</a:t>
                      </a:r>
                      <a:endParaRPr lang="zh-CN" altLang="en-US" sz="1400" b="1" i="0" u="none" strike="noStrike" dirty="0">
                        <a:solidFill>
                          <a:srgbClr val="FFFFFF"/>
                        </a:solidFill>
                        <a:effectLst/>
                        <a:latin typeface="+mn-ea"/>
                        <a:ea typeface="+mn-ea"/>
                      </a:endParaRPr>
                    </a:p>
                  </a:txBody>
                  <a:tcPr marL="5274" marR="5274" marT="5274" marB="0" anchor="ctr"/>
                </a:tc>
                <a:tc>
                  <a:txBody>
                    <a:bodyPr/>
                    <a:lstStyle/>
                    <a:p>
                      <a:pPr algn="l" fontAlgn="ctr"/>
                      <a:r>
                        <a:rPr lang="zh-CN" altLang="en-US" sz="1400" b="1" i="0" u="none" strike="noStrike" dirty="0" smtClean="0">
                          <a:solidFill>
                            <a:srgbClr val="FFFFFF"/>
                          </a:solidFill>
                          <a:effectLst/>
                          <a:latin typeface="+mn-ea"/>
                          <a:ea typeface="+mn-ea"/>
                        </a:rPr>
                        <a:t>解决方案</a:t>
                      </a:r>
                      <a:endParaRPr lang="zh-CN" altLang="en-US" sz="1400" b="1" i="0" u="none" strike="noStrike" dirty="0">
                        <a:solidFill>
                          <a:srgbClr val="FFFFFF"/>
                        </a:solidFill>
                        <a:effectLst/>
                        <a:latin typeface="+mn-ea"/>
                        <a:ea typeface="+mn-ea"/>
                      </a:endParaRPr>
                    </a:p>
                  </a:txBody>
                  <a:tcPr marL="5274" marR="5274" marT="5274" marB="0" anchor="ctr"/>
                </a:tc>
                <a:tc>
                  <a:txBody>
                    <a:bodyPr/>
                    <a:lstStyle/>
                    <a:p>
                      <a:pPr algn="l" fontAlgn="ctr"/>
                      <a:r>
                        <a:rPr lang="zh-CN" altLang="en-US" sz="1400" b="1" i="0" u="none" strike="noStrike" dirty="0" smtClean="0">
                          <a:solidFill>
                            <a:schemeClr val="lt1"/>
                          </a:solidFill>
                          <a:effectLst/>
                          <a:latin typeface="+mn-ea"/>
                          <a:ea typeface="+mn-ea"/>
                        </a:rPr>
                        <a:t>注意事项</a:t>
                      </a:r>
                      <a:endParaRPr lang="zh-CN" altLang="en-US" sz="1400" b="1" i="0" u="none" strike="noStrike" dirty="0">
                        <a:solidFill>
                          <a:srgbClr val="FFFFFF"/>
                        </a:solidFill>
                        <a:effectLst/>
                        <a:latin typeface="+mn-ea"/>
                        <a:ea typeface="+mn-ea"/>
                      </a:endParaRPr>
                    </a:p>
                  </a:txBody>
                  <a:tcPr marL="5274" marR="5274" marT="5274" marB="0" anchor="ctr"/>
                </a:tc>
                <a:extLst>
                  <a:ext uri="{0D108BD9-81ED-4DB2-BD59-A6C34878D82A}">
                    <a16:rowId xmlns:a16="http://schemas.microsoft.com/office/drawing/2014/main" val="2837971822"/>
                  </a:ext>
                </a:extLst>
              </a:tr>
              <a:tr h="3000436">
                <a:tc>
                  <a:txBody>
                    <a:bodyPr/>
                    <a:lstStyle/>
                    <a:p>
                      <a:pPr algn="l" fontAlgn="ctr"/>
                      <a:r>
                        <a:rPr lang="en-US" altLang="zh-CN" sz="1400" dirty="0" smtClean="0">
                          <a:latin typeface="+mn-ea"/>
                          <a:ea typeface="+mn-ea"/>
                        </a:rPr>
                        <a:t>W330-H30S</a:t>
                      </a:r>
                      <a:r>
                        <a:rPr lang="zh-CN" altLang="en-US" sz="1400" dirty="0" smtClean="0">
                          <a:latin typeface="+mn-ea"/>
                          <a:ea typeface="+mn-ea"/>
                        </a:rPr>
                        <a:t>项目首件及批量试制的 产品配置中采用的是</a:t>
                      </a:r>
                      <a:r>
                        <a:rPr lang="en-US" altLang="zh-CN" sz="1400" dirty="0" err="1" smtClean="0">
                          <a:latin typeface="+mn-ea"/>
                          <a:ea typeface="+mn-ea"/>
                        </a:rPr>
                        <a:t>Dhyana</a:t>
                      </a:r>
                      <a:r>
                        <a:rPr lang="en-US" altLang="zh-CN" sz="1400" dirty="0" smtClean="0">
                          <a:latin typeface="+mn-ea"/>
                          <a:ea typeface="+mn-ea"/>
                        </a:rPr>
                        <a:t> CPU</a:t>
                      </a:r>
                      <a:r>
                        <a:rPr lang="zh-CN" altLang="en-US" sz="1400" dirty="0" smtClean="0">
                          <a:latin typeface="+mn-ea"/>
                          <a:ea typeface="+mn-ea"/>
                        </a:rPr>
                        <a:t>，但试制完成后产品经理找产线进行了</a:t>
                      </a:r>
                      <a:r>
                        <a:rPr lang="en-US" altLang="zh-CN" sz="1400" dirty="0" smtClean="0">
                          <a:latin typeface="+mn-ea"/>
                          <a:ea typeface="+mn-ea"/>
                        </a:rPr>
                        <a:t>rework</a:t>
                      </a:r>
                      <a:r>
                        <a:rPr lang="zh-CN" altLang="en-US" sz="1400" dirty="0" smtClean="0">
                          <a:latin typeface="+mn-ea"/>
                          <a:ea typeface="+mn-ea"/>
                        </a:rPr>
                        <a:t>，换成了</a:t>
                      </a:r>
                      <a:r>
                        <a:rPr lang="en-US" altLang="zh-CN" sz="1400" dirty="0" err="1" smtClean="0">
                          <a:latin typeface="+mn-ea"/>
                          <a:ea typeface="+mn-ea"/>
                        </a:rPr>
                        <a:t>Dhyana</a:t>
                      </a:r>
                      <a:r>
                        <a:rPr lang="en-US" altLang="zh-CN" sz="1400" dirty="0" smtClean="0">
                          <a:latin typeface="+mn-ea"/>
                          <a:ea typeface="+mn-ea"/>
                        </a:rPr>
                        <a:t>+</a:t>
                      </a:r>
                      <a:r>
                        <a:rPr lang="zh-CN" altLang="en-US" sz="1400" dirty="0" smtClean="0">
                          <a:latin typeface="+mn-ea"/>
                          <a:ea typeface="+mn-ea"/>
                        </a:rPr>
                        <a:t>的</a:t>
                      </a:r>
                      <a:r>
                        <a:rPr lang="en-US" altLang="zh-CN" sz="1400" dirty="0" smtClean="0">
                          <a:latin typeface="+mn-ea"/>
                          <a:ea typeface="+mn-ea"/>
                        </a:rPr>
                        <a:t>CPU</a:t>
                      </a:r>
                      <a:r>
                        <a:rPr lang="zh-CN" altLang="en-US" sz="1400" dirty="0" smtClean="0">
                          <a:latin typeface="+mn-ea"/>
                          <a:ea typeface="+mn-ea"/>
                        </a:rPr>
                        <a:t>。导致质量评审不通过，产线要求更换</a:t>
                      </a:r>
                      <a:r>
                        <a:rPr lang="en-US" altLang="zh-CN" sz="1400" dirty="0" smtClean="0">
                          <a:latin typeface="+mn-ea"/>
                          <a:ea typeface="+mn-ea"/>
                        </a:rPr>
                        <a:t>CPU</a:t>
                      </a:r>
                      <a:r>
                        <a:rPr lang="zh-CN" altLang="en-US" sz="1400" dirty="0" smtClean="0">
                          <a:latin typeface="+mn-ea"/>
                          <a:ea typeface="+mn-ea"/>
                        </a:rPr>
                        <a:t>等重大部件时 ，应重新进行试制。</a:t>
                      </a:r>
                      <a:endParaRPr lang="zh-CN" altLang="en-US" sz="1400" b="0" i="0" u="none" strike="noStrike" dirty="0">
                        <a:solidFill>
                          <a:srgbClr val="000000"/>
                        </a:solidFill>
                        <a:effectLst/>
                        <a:latin typeface="+mn-ea"/>
                        <a:ea typeface="+mn-ea"/>
                      </a:endParaRPr>
                    </a:p>
                  </a:txBody>
                  <a:tcPr marL="5274" marR="5274" marT="5274" marB="0" anchor="ctr"/>
                </a:tc>
                <a:tc>
                  <a:txBody>
                    <a:bodyPr/>
                    <a:lstStyle/>
                    <a:p>
                      <a:pPr algn="l" fontAlgn="ctr"/>
                      <a:r>
                        <a:rPr lang="zh-CN" altLang="en-US" sz="1400" b="0" i="0" u="none" strike="noStrike" dirty="0" smtClean="0">
                          <a:solidFill>
                            <a:srgbClr val="000000"/>
                          </a:solidFill>
                          <a:effectLst/>
                          <a:latin typeface="+mn-ea"/>
                          <a:ea typeface="+mn-ea"/>
                        </a:rPr>
                        <a:t>产品经理增加新配置，重新进行试制，试制完成再次进行质量评审。批量测试不需重新测试。</a:t>
                      </a:r>
                      <a:endParaRPr lang="en-US" altLang="zh-CN" sz="1400" b="0" i="0" u="none" strike="noStrike" dirty="0">
                        <a:solidFill>
                          <a:srgbClr val="000000"/>
                        </a:solidFill>
                        <a:effectLst/>
                        <a:latin typeface="+mn-ea"/>
                        <a:ea typeface="+mn-ea"/>
                      </a:endParaRPr>
                    </a:p>
                  </a:txBody>
                  <a:tcPr marL="5274" marR="5274" marT="5274" marB="0" anchor="ctr"/>
                </a:tc>
                <a:tc>
                  <a:txBody>
                    <a:bodyPr/>
                    <a:lstStyle/>
                    <a:p>
                      <a:pPr algn="l" fontAlgn="ctr"/>
                      <a:r>
                        <a:rPr lang="zh-CN" altLang="en-US" sz="1400" b="0" i="0" u="none" strike="noStrike" dirty="0" smtClean="0">
                          <a:solidFill>
                            <a:srgbClr val="000000"/>
                          </a:solidFill>
                          <a:effectLst/>
                          <a:latin typeface="+mn-ea"/>
                          <a:ea typeface="+mn-ea"/>
                        </a:rPr>
                        <a:t>进入试制阶段，技术状态要求达到量产状态，硬件板卡定版 软件版本定版，进入试产后产品配置即为发布配置，不可变更，</a:t>
                      </a:r>
                      <a:r>
                        <a:rPr lang="zh-CN" altLang="en-US" sz="1400" b="0" i="0" u="none" strike="noStrike" dirty="0" smtClean="0">
                          <a:solidFill>
                            <a:srgbClr val="0070C0"/>
                          </a:solidFill>
                          <a:effectLst/>
                          <a:latin typeface="+mn-ea"/>
                          <a:ea typeface="+mn-ea"/>
                        </a:rPr>
                        <a:t>如有变更应进行项目变更流程，及新配置的试制过程。</a:t>
                      </a:r>
                      <a:endParaRPr lang="zh-CN" altLang="en-US" sz="1400" b="0" i="0" u="none" strike="noStrike" dirty="0">
                        <a:solidFill>
                          <a:srgbClr val="0070C0"/>
                        </a:solidFill>
                        <a:effectLst/>
                        <a:latin typeface="+mn-ea"/>
                        <a:ea typeface="+mn-ea"/>
                      </a:endParaRPr>
                    </a:p>
                  </a:txBody>
                  <a:tcPr marL="5274" marR="5274" marT="5274" marB="0" anchor="ctr"/>
                </a:tc>
                <a:extLst>
                  <a:ext uri="{0D108BD9-81ED-4DB2-BD59-A6C34878D82A}">
                    <a16:rowId xmlns:a16="http://schemas.microsoft.com/office/drawing/2014/main" val="210217930"/>
                  </a:ext>
                </a:extLst>
              </a:tr>
            </a:tbl>
          </a:graphicData>
        </a:graphic>
      </p:graphicFrame>
    </p:spTree>
    <p:extLst>
      <p:ext uri="{BB962C8B-B14F-4D97-AF65-F5344CB8AC3E}">
        <p14:creationId xmlns:p14="http://schemas.microsoft.com/office/powerpoint/2010/main" val="245754147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6086966"/>
      </p:ext>
    </p:extLst>
  </p:cSld>
  <p:clrMapOvr>
    <a:masterClrMapping/>
  </p:clrMapOvr>
  <p:timing>
    <p:tnLst>
      <p:par>
        <p:cTn id="1" dur="indefinite" restart="never" nodeType="tmRoot"/>
      </p:par>
    </p:tnLst>
  </p:timing>
</p:sld>
</file>

<file path=ppt/theme/theme1.xml><?xml version="1.0" encoding="utf-8"?>
<a:theme xmlns:a="http://schemas.openxmlformats.org/drawingml/2006/main" name="演示文稿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lnSpc>
            <a:spcPct val="120000"/>
          </a:lnSpc>
          <a:defRPr sz="1600" dirty="0" smtClean="0">
            <a:solidFill>
              <a:schemeClr val="tx1">
                <a:lumMod val="75000"/>
                <a:lumOff val="25000"/>
              </a:schemeClr>
            </a:solidFill>
          </a:defRPr>
        </a:defPPr>
      </a:lstStyle>
    </a:tx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1478</TotalTime>
  <Words>2739</Words>
  <Application>Microsoft Office PowerPoint</Application>
  <PresentationFormat>宽屏</PresentationFormat>
  <Paragraphs>326</Paragraphs>
  <Slides>12</Slides>
  <Notes>7</Notes>
  <HiddenSlides>0</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3</vt:i4>
      </vt:variant>
      <vt:variant>
        <vt:lpstr>幻灯片标题</vt:lpstr>
      </vt:variant>
      <vt:variant>
        <vt:i4>12</vt:i4>
      </vt:variant>
    </vt:vector>
  </HeadingPairs>
  <TitlesOfParts>
    <vt:vector size="21" baseType="lpstr">
      <vt:lpstr>等线</vt:lpstr>
      <vt:lpstr>微软雅黑</vt:lpstr>
      <vt:lpstr>Arial</vt:lpstr>
      <vt:lpstr>Calibri</vt:lpstr>
      <vt:lpstr>Wingdings</vt:lpstr>
      <vt:lpstr>演示文稿2</vt:lpstr>
      <vt:lpstr>文档</vt:lpstr>
      <vt:lpstr>工作表</vt:lpstr>
      <vt:lpstr>Document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wang le</dc:creator>
  <cp:lastModifiedBy>wang le</cp:lastModifiedBy>
  <cp:revision>230</cp:revision>
  <dcterms:created xsi:type="dcterms:W3CDTF">2020-03-26T01:15:10Z</dcterms:created>
  <dcterms:modified xsi:type="dcterms:W3CDTF">2020-04-10T10:29:17Z</dcterms:modified>
</cp:coreProperties>
</file>