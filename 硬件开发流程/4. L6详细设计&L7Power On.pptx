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1" r:id="rId2"/>
  </p:sldMasterIdLst>
  <p:notesMasterIdLst>
    <p:notesMasterId r:id="rId17"/>
  </p:notesMasterIdLst>
  <p:sldIdLst>
    <p:sldId id="257" r:id="rId3"/>
    <p:sldId id="450" r:id="rId4"/>
    <p:sldId id="273" r:id="rId5"/>
    <p:sldId id="274" r:id="rId6"/>
    <p:sldId id="280" r:id="rId7"/>
    <p:sldId id="282" r:id="rId8"/>
    <p:sldId id="355" r:id="rId9"/>
    <p:sldId id="449" r:id="rId10"/>
    <p:sldId id="2628" r:id="rId11"/>
    <p:sldId id="2629" r:id="rId12"/>
    <p:sldId id="455" r:id="rId13"/>
    <p:sldId id="2630" r:id="rId14"/>
    <p:sldId id="2631" r:id="rId15"/>
    <p:sldId id="25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M 张林宇" initials="P张" lastIdx="1" clrIdx="0">
    <p:extLst>
      <p:ext uri="{19B8F6BF-5375-455C-9EA6-DF929625EA0E}">
        <p15:presenceInfo xmlns:p15="http://schemas.microsoft.com/office/powerpoint/2012/main" userId="PM 张林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0D0"/>
    <a:srgbClr val="C0504D"/>
    <a:srgbClr val="AD283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6366" autoAdjust="0"/>
  </p:normalViewPr>
  <p:slideViewPr>
    <p:cSldViewPr snapToGrid="0">
      <p:cViewPr varScale="1">
        <p:scale>
          <a:sx n="63" d="100"/>
          <a:sy n="63" d="100"/>
        </p:scale>
        <p:origin x="8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83A09-6D16-45F9-AD93-418AC720A9E0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51107-131D-4920-8540-3D58829C1F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352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384D0-E8C0-4FB2-93D8-B1A58490B2C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1107-131D-4920-8540-3D58829C1F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100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51107-131D-4920-8540-3D58829C1F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848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951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889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S0—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工作状态，所有设备全开；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S1--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也称为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POS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Power on Suspend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），这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bai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时除了通过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CPU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时钟控制器将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CPU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关闭之外，其他的部件仍然正常工作，这时的功耗一般在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30W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以下；（其实有些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CPU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降温软件就是利用这种工作原理）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S2--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这时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CPU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处于停止运作状态，总线时钟也被关闭，但其余的设备仍然运转；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S3--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这就是我们熟悉的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STR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Suspend to RAM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），这时的功耗不超过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10W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；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S4--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也称为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STD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Suspend to Disk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），这时系统主电源关闭，硬盘存储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前数据信息，所以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S4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是比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S3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更省电状态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S5--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这种状态是最干脆的，就是连电源在内的所有设备全部关闭，即关机（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shutdown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），功耗为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4449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C96D9-4D4F-4265-8F02-21631B01973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8732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7C96D9-4D4F-4265-8F02-21631B01973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927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31586" y="1758270"/>
            <a:ext cx="9792228" cy="830997"/>
          </a:xfrm>
          <a:prstGeom prst="rect">
            <a:avLst/>
          </a:prstGeom>
        </p:spPr>
        <p:txBody>
          <a:bodyPr/>
          <a:lstStyle>
            <a:lvl1pPr marL="0" indent="0" algn="l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5333" b="1" kern="1200" dirty="0">
                <a:solidFill>
                  <a:schemeClr val="bg1"/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9122443" y="5157194"/>
            <a:ext cx="2688597" cy="10561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3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758270"/>
            <a:ext cx="143339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7195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3477818" y="1439945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3477818" y="2331327"/>
            <a:ext cx="5791199" cy="53159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477818" y="3222711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 hasCustomPrompt="1"/>
          </p:nvPr>
        </p:nvSpPr>
        <p:spPr>
          <a:xfrm>
            <a:off x="3477817" y="4114093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 hasCustomPrompt="1"/>
          </p:nvPr>
        </p:nvSpPr>
        <p:spPr>
          <a:xfrm>
            <a:off x="3477817" y="5005475"/>
            <a:ext cx="5791199" cy="544615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8511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1295469" y="2756926"/>
            <a:ext cx="9697076" cy="830997"/>
          </a:xfrm>
          <a:prstGeom prst="rect">
            <a:avLst/>
          </a:prstGeom>
        </p:spPr>
        <p:txBody>
          <a:bodyPr/>
          <a:lstStyle>
            <a:lvl1pPr marL="0" indent="0" algn="ctr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3733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itchFamily="34" charset="-122"/>
                <a:ea typeface="微软雅黑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 hasCustomPrompt="1"/>
          </p:nvPr>
        </p:nvSpPr>
        <p:spPr>
          <a:xfrm>
            <a:off x="4079777" y="4197086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4079775" y="4685002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 hasCustomPrompt="1"/>
          </p:nvPr>
        </p:nvSpPr>
        <p:spPr>
          <a:xfrm>
            <a:off x="4079774" y="5165055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4079774" y="5645108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94865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917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>
            <p:ph sz="quarter" idx="14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07645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04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4018384" y="0"/>
            <a:ext cx="4155232" cy="6466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28457" y="81164"/>
            <a:ext cx="3135086" cy="480131"/>
          </a:xfrm>
        </p:spPr>
        <p:txBody>
          <a:bodyPr wrap="none">
            <a:noAutofit/>
          </a:bodyPr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1957360983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9303" y="356659"/>
            <a:ext cx="7863029" cy="440676"/>
          </a:xfrm>
        </p:spPr>
        <p:txBody>
          <a:bodyPr vert="horz" lIns="68580" tIns="34290" rIns="68580" bIns="34290" rtlCol="0" anchor="ctr">
            <a:noAutofit/>
          </a:bodyPr>
          <a:lstStyle>
            <a:lvl1pPr algn="l">
              <a:defRPr lang="zh-CN" altLang="en-US" sz="2933" b="0" i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defTabSz="685783">
              <a:lnSpc>
                <a:spcPct val="90000"/>
              </a:lnSpc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88020"/>
            <a:ext cx="3860800" cy="365125"/>
          </a:xfrm>
        </p:spPr>
        <p:txBody>
          <a:bodyPr/>
          <a:lstStyle>
            <a:lvl1pPr>
              <a:defRPr sz="14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936427" y="6383321"/>
            <a:ext cx="1632181" cy="406233"/>
          </a:xfrm>
        </p:spPr>
        <p:txBody>
          <a:bodyPr/>
          <a:lstStyle>
            <a:lvl1pPr algn="ctr">
              <a:defRPr sz="1867">
                <a:latin typeface="Impact" panose="020B080603090205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270838" y="872083"/>
            <a:ext cx="10479237" cy="1"/>
          </a:xfrm>
          <a:prstGeom prst="line">
            <a:avLst/>
          </a:prstGeom>
          <a:ln w="15875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527435" y="331259"/>
            <a:ext cx="528000" cy="528000"/>
            <a:chOff x="406574" y="236732"/>
            <a:chExt cx="612048" cy="593261"/>
          </a:xfrm>
        </p:grpSpPr>
        <p:sp>
          <p:nvSpPr>
            <p:cNvPr id="15" name="矩形 14"/>
            <p:cNvSpPr/>
            <p:nvPr userDrawn="1"/>
          </p:nvSpPr>
          <p:spPr>
            <a:xfrm>
              <a:off x="406574" y="236732"/>
              <a:ext cx="504000" cy="504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694606" y="512239"/>
              <a:ext cx="324016" cy="3177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9237416" y="235097"/>
            <a:ext cx="2619225" cy="666786"/>
            <a:chOff x="2884255" y="393762"/>
            <a:chExt cx="2165350" cy="738483"/>
          </a:xfrm>
        </p:grpSpPr>
        <p:sp>
          <p:nvSpPr>
            <p:cNvPr id="11" name="TextBox 10"/>
            <p:cNvSpPr txBox="1"/>
            <p:nvPr/>
          </p:nvSpPr>
          <p:spPr>
            <a:xfrm>
              <a:off x="3717568" y="500833"/>
              <a:ext cx="1325774" cy="374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>
                      <a:lumMod val="50000"/>
                    </a:schemeClr>
                  </a:solidFill>
                </a:rPr>
                <a:t>亮亮图文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723829" y="776107"/>
              <a:ext cx="1325776" cy="261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33" b="1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CONPANY NAME</a:t>
              </a:r>
              <a:endParaRPr lang="zh-CN" altLang="en-US" sz="933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84255" y="393762"/>
              <a:ext cx="966585" cy="738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3" spc="-200" dirty="0">
                  <a:solidFill>
                    <a:schemeClr val="accent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LOGO</a:t>
              </a:r>
              <a:endParaRPr lang="zh-CN" altLang="en-US" sz="3733" spc="-2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687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00">
        <p14:vortex dir="r"/>
      </p:transition>
    </mc:Choice>
    <mc:Fallback xmlns="">
      <p:transition spd="slow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31586" y="1758270"/>
            <a:ext cx="9792228" cy="830997"/>
          </a:xfrm>
          <a:prstGeom prst="rect">
            <a:avLst/>
          </a:prstGeom>
        </p:spPr>
        <p:txBody>
          <a:bodyPr/>
          <a:lstStyle>
            <a:lvl1pPr marL="0" indent="0" algn="l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5333" b="1" kern="120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单击此处编辑主标题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9122443" y="5157194"/>
            <a:ext cx="2688597" cy="105611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3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撰写部门及人员</a:t>
            </a:r>
            <a:endParaRPr lang="en-US" altLang="zh-CN" dirty="0"/>
          </a:p>
          <a:p>
            <a:pPr lvl="0"/>
            <a:r>
              <a:rPr lang="en-US" altLang="zh-CN" dirty="0"/>
              <a:t>2017/4/1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1758270"/>
            <a:ext cx="143339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434274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3477818" y="1439945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3477818" y="2331327"/>
            <a:ext cx="5791199" cy="53159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477818" y="3222711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3477817" y="4114093"/>
            <a:ext cx="5791199" cy="544616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25" name="文本占位符 3"/>
          <p:cNvSpPr>
            <a:spLocks noGrp="1"/>
          </p:cNvSpPr>
          <p:nvPr>
            <p:ph type="body" sz="quarter" idx="17"/>
          </p:nvPr>
        </p:nvSpPr>
        <p:spPr>
          <a:xfrm>
            <a:off x="3477817" y="5005475"/>
            <a:ext cx="5791199" cy="544615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066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幻灯片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1295469" y="2756926"/>
            <a:ext cx="9697076" cy="830997"/>
          </a:xfrm>
          <a:prstGeom prst="rect">
            <a:avLst/>
          </a:prstGeom>
        </p:spPr>
        <p:txBody>
          <a:bodyPr/>
          <a:lstStyle>
            <a:lvl1pPr marL="0" indent="0" algn="ctr" defTabSz="1219170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  <a:defRPr lang="zh-CN" altLang="en-US" sz="3733" b="1" kern="12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单击此处编辑节标题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4079777" y="4197086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4079775" y="4685002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7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4079774" y="5165055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4079774" y="5645108"/>
            <a:ext cx="5426207" cy="480053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33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457189" marR="0" lvl="0" indent="-457189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20167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10081120" cy="627739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3541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2">
    <p:bg>
      <p:bgPr>
        <a:blipFill dpi="0"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239349" y="164637"/>
            <a:ext cx="9889099" cy="672075"/>
          </a:xfrm>
          <a:prstGeom prst="rect">
            <a:avLst/>
          </a:prstGeom>
        </p:spPr>
        <p:txBody>
          <a:bodyPr/>
          <a:lstStyle>
            <a:lvl1pPr>
              <a:buNone/>
              <a:defRPr sz="3733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单击此处编辑小标题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0" y="164637"/>
            <a:ext cx="143339" cy="627739"/>
          </a:xfrm>
          <a:prstGeom prst="rect">
            <a:avLst/>
          </a:prstGeom>
          <a:solidFill>
            <a:srgbClr val="AD28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内容占位符 2"/>
          <p:cNvSpPr>
            <a:spLocks noGrp="1"/>
          </p:cNvSpPr>
          <p:nvPr>
            <p:ph sz="quarter" idx="14" hasCustomPrompt="1"/>
          </p:nvPr>
        </p:nvSpPr>
        <p:spPr>
          <a:xfrm>
            <a:off x="815413" y="1412777"/>
            <a:ext cx="10515600" cy="4667249"/>
          </a:xfrm>
          <a:prstGeom prst="rect">
            <a:avLst/>
          </a:prstGeom>
        </p:spPr>
        <p:txBody>
          <a:bodyPr/>
          <a:lstStyle>
            <a:lvl1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133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4271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94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1983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37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89" r:id="rId8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57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1407617" y="1616031"/>
            <a:ext cx="10063023" cy="2214290"/>
          </a:xfrm>
        </p:spPr>
        <p:txBody>
          <a:bodyPr/>
          <a:lstStyle/>
          <a:p>
            <a:r>
              <a:rPr lang="zh-CN" altLang="en-US" dirty="0"/>
              <a:t>基础技能培训</a:t>
            </a:r>
            <a:r>
              <a:rPr lang="en-US" altLang="zh-CN" dirty="0"/>
              <a:t>-</a:t>
            </a:r>
            <a:r>
              <a:rPr lang="zh-CN" altLang="en-US" dirty="0"/>
              <a:t>详细设计</a:t>
            </a:r>
            <a:r>
              <a:rPr lang="en-US" altLang="zh-CN" dirty="0"/>
              <a:t>&amp;Power-On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9168342" y="5340315"/>
            <a:ext cx="2688597" cy="588847"/>
          </a:xfrm>
        </p:spPr>
        <p:txBody>
          <a:bodyPr/>
          <a:lstStyle/>
          <a:p>
            <a:r>
              <a:rPr lang="zh-CN" altLang="en-US" dirty="0"/>
              <a:t>日期：</a:t>
            </a:r>
            <a:r>
              <a:rPr lang="en-US" altLang="zh-CN" dirty="0"/>
              <a:t>2020/06/06</a:t>
            </a:r>
          </a:p>
        </p:txBody>
      </p:sp>
    </p:spTree>
    <p:extLst>
      <p:ext uri="{BB962C8B-B14F-4D97-AF65-F5344CB8AC3E}">
        <p14:creationId xmlns:p14="http://schemas.microsoft.com/office/powerpoint/2010/main" val="3183538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247462" y="2757376"/>
            <a:ext cx="9697076" cy="830997"/>
          </a:xfrm>
        </p:spPr>
        <p:txBody>
          <a:bodyPr/>
          <a:lstStyle/>
          <a:p>
            <a:pPr defTabSz="1219170"/>
            <a:r>
              <a:rPr lang="en-US" altLang="zh-CN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L6 </a:t>
            </a:r>
            <a:r>
              <a:rPr lang="zh-CN" altLang="en-US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详细设计</a:t>
            </a:r>
          </a:p>
        </p:txBody>
      </p:sp>
    </p:spTree>
    <p:extLst>
      <p:ext uri="{BB962C8B-B14F-4D97-AF65-F5344CB8AC3E}">
        <p14:creationId xmlns:p14="http://schemas.microsoft.com/office/powerpoint/2010/main" val="398639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99652" y="3165724"/>
            <a:ext cx="192925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4" name="矩形 3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板卡设计、线缆设计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dirty="0">
                  <a:cs typeface="+mn-ea"/>
                  <a:sym typeface="+mn-lt"/>
                </a:rPr>
                <a:t>主板、小板卡、线缆开发、主控</a:t>
              </a:r>
              <a:r>
                <a:rPr lang="en-US" altLang="zh-CN" sz="1600" dirty="0">
                  <a:cs typeface="+mn-ea"/>
                  <a:sym typeface="+mn-lt"/>
                </a:rPr>
                <a:t>FW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责任人：硬件工程师、电源工程师、</a:t>
              </a:r>
              <a:r>
                <a:rPr lang="en-US" altLang="zh-CN" sz="1600" dirty="0">
                  <a:solidFill>
                    <a:schemeClr val="tx1"/>
                  </a:solidFill>
                  <a:cs typeface="+mn-ea"/>
                  <a:sym typeface="+mn-lt"/>
                </a:rPr>
                <a:t>Layout</a:t>
              </a: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工程师、</a:t>
              </a:r>
              <a:r>
                <a:rPr lang="en-US" altLang="zh-CN" sz="1600" dirty="0">
                  <a:solidFill>
                    <a:schemeClr val="tx1"/>
                  </a:solidFill>
                  <a:cs typeface="+mn-ea"/>
                  <a:sym typeface="+mn-lt"/>
                </a:rPr>
                <a:t>SI</a:t>
              </a: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工程师、线缆工程师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679020" y="3165724"/>
            <a:ext cx="192925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9" name="矩形 8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结构设计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cs typeface="+mn-ea"/>
                  <a:sym typeface="+mn-lt"/>
                </a:rPr>
                <a:t>机箱及周边开发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责任人：结构工程师、包装工程师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69592" y="3165724"/>
            <a:ext cx="192925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3" name="矩形 12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散热设计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cs typeface="+mn-ea"/>
                  <a:sym typeface="+mn-lt"/>
                </a:rPr>
                <a:t>散热器件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责任人：散热工程师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060163" y="3165724"/>
            <a:ext cx="192925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17" name="矩形 16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FW </a:t>
              </a:r>
              <a:r>
                <a:rPr lang="zh-CN" altLang="en-US" sz="1600" b="1" dirty="0">
                  <a:solidFill>
                    <a:sysClr val="windowText" lastClr="000000"/>
                  </a:solidFill>
                  <a:cs typeface="+mn-ea"/>
                  <a:sym typeface="+mn-lt"/>
                </a:rPr>
                <a:t>开发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>
                  <a:cs typeface="+mn-ea"/>
                  <a:sym typeface="+mn-lt"/>
                </a:rPr>
                <a:t>BIOS</a:t>
              </a:r>
              <a:r>
                <a:rPr lang="zh-CN" altLang="en-US" dirty="0">
                  <a:cs typeface="+mn-ea"/>
                  <a:sym typeface="+mn-lt"/>
                </a:rPr>
                <a:t>、</a:t>
              </a:r>
              <a:r>
                <a:rPr lang="en-US" altLang="zh-CN" dirty="0">
                  <a:cs typeface="+mn-ea"/>
                  <a:sym typeface="+mn-lt"/>
                </a:rPr>
                <a:t>BMC</a:t>
              </a:r>
              <a:r>
                <a:rPr lang="zh-CN" altLang="en-US" dirty="0">
                  <a:cs typeface="+mn-ea"/>
                  <a:sym typeface="+mn-lt"/>
                </a:rPr>
                <a:t>、</a:t>
              </a:r>
              <a:r>
                <a:rPr lang="en-US" altLang="zh-CN" dirty="0">
                  <a:cs typeface="+mn-ea"/>
                  <a:sym typeface="+mn-lt"/>
                </a:rPr>
                <a:t>CMM FW</a:t>
              </a:r>
              <a:r>
                <a:rPr lang="zh-CN" altLang="en-US" dirty="0">
                  <a:cs typeface="+mn-ea"/>
                  <a:sym typeface="+mn-lt"/>
                </a:rPr>
                <a:t>开发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责任人：</a:t>
              </a:r>
              <a:r>
                <a:rPr lang="en-US" altLang="zh-CN" sz="1600" dirty="0">
                  <a:solidFill>
                    <a:schemeClr val="tx1"/>
                  </a:solidFill>
                  <a:cs typeface="+mn-ea"/>
                  <a:sym typeface="+mn-lt"/>
                </a:rPr>
                <a:t>BIOS</a:t>
              </a: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、</a:t>
              </a:r>
              <a:r>
                <a:rPr lang="en-US" altLang="zh-CN" sz="1600" dirty="0">
                  <a:solidFill>
                    <a:schemeClr val="tx1"/>
                  </a:solidFill>
                  <a:cs typeface="+mn-ea"/>
                  <a:sym typeface="+mn-lt"/>
                </a:rPr>
                <a:t>BMC</a:t>
              </a: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、</a:t>
              </a:r>
              <a:r>
                <a:rPr lang="en-US" altLang="zh-CN" sz="1600" dirty="0">
                  <a:solidFill>
                    <a:schemeClr val="tx1"/>
                  </a:solidFill>
                  <a:cs typeface="+mn-ea"/>
                  <a:sym typeface="+mn-lt"/>
                </a:rPr>
                <a:t>CMM</a:t>
              </a: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工程师</a:t>
              </a:r>
              <a:r>
                <a:rPr lang="en-US" altLang="zh-CN" sz="1600" dirty="0">
                  <a:solidFill>
                    <a:schemeClr val="tx1"/>
                  </a:solidFill>
                  <a:cs typeface="+mn-ea"/>
                  <a:sym typeface="+mn-lt"/>
                </a:rPr>
                <a:t> </a:t>
              </a:r>
              <a:endParaRPr lang="zh-CN" altLang="en-US" sz="16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 rot="16200000" flipH="1">
            <a:off x="6072335" y="-3833665"/>
            <a:ext cx="47330" cy="1219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39349" y="925369"/>
            <a:ext cx="115036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详设设计：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详细设计启动时机：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TR2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系统总体方案评审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/TR3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概要设计评审完成；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详细设计依据：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PRD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详细设计任务：各模块详细设计、物料备料、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EVT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测试计划。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9318171" y="3165724"/>
            <a:ext cx="1929255" cy="2565779"/>
            <a:chOff x="785011" y="2251881"/>
            <a:chExt cx="1653860" cy="3138985"/>
          </a:xfrm>
          <a:solidFill>
            <a:schemeClr val="bg1">
              <a:lumMod val="85000"/>
            </a:schemeClr>
          </a:solidFill>
          <a:effectLst/>
        </p:grpSpPr>
        <p:sp>
          <p:nvSpPr>
            <p:cNvPr id="23" name="矩形 22"/>
            <p:cNvSpPr/>
            <p:nvPr/>
          </p:nvSpPr>
          <p:spPr>
            <a:xfrm>
              <a:off x="785011" y="2251881"/>
              <a:ext cx="1653860" cy="668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600" b="1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ID</a:t>
              </a:r>
              <a:endParaRPr lang="zh-CN" altLang="en-US" sz="16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85011" y="2920621"/>
              <a:ext cx="1653860" cy="627797"/>
            </a:xfrm>
            <a:prstGeom prst="rect">
              <a:avLst/>
            </a:prstGeom>
            <a:solidFill>
              <a:srgbClr val="C050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cs typeface="+mn-ea"/>
                  <a:sym typeface="+mn-lt"/>
                </a:rPr>
                <a:t>产品</a:t>
              </a:r>
              <a:r>
                <a:rPr lang="en-US" altLang="zh-CN" dirty="0">
                  <a:cs typeface="+mn-ea"/>
                  <a:sym typeface="+mn-lt"/>
                </a:rPr>
                <a:t>ID</a:t>
              </a:r>
              <a:r>
                <a:rPr lang="zh-CN" altLang="en-US" dirty="0">
                  <a:cs typeface="+mn-ea"/>
                  <a:sym typeface="+mn-lt"/>
                </a:rPr>
                <a:t>设计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785011" y="3548418"/>
              <a:ext cx="1653860" cy="18424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责任人：</a:t>
              </a:r>
              <a:r>
                <a:rPr lang="en-US" altLang="zh-CN" sz="1600" dirty="0">
                  <a:solidFill>
                    <a:schemeClr val="tx1"/>
                  </a:solidFill>
                  <a:cs typeface="+mn-ea"/>
                  <a:sym typeface="+mn-lt"/>
                </a:rPr>
                <a:t>ID</a:t>
              </a:r>
              <a:r>
                <a:rPr lang="zh-CN" altLang="en-US" sz="1600" dirty="0">
                  <a:solidFill>
                    <a:schemeClr val="tx1"/>
                  </a:solidFill>
                  <a:cs typeface="+mn-ea"/>
                  <a:sym typeface="+mn-lt"/>
                </a:rPr>
                <a:t>工程师、平面工程师</a:t>
              </a:r>
            </a:p>
          </p:txBody>
        </p:sp>
      </p:grpSp>
      <p:sp>
        <p:nvSpPr>
          <p:cNvPr id="32" name="文本占位符 1">
            <a:extLst>
              <a:ext uri="{FF2B5EF4-FFF2-40B4-BE49-F238E27FC236}">
                <a16:creationId xmlns:a16="http://schemas.microsoft.com/office/drawing/2014/main" id="{EB7291E7-BB52-466D-BC77-9B02653EB2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详细设计</a:t>
            </a:r>
            <a:r>
              <a:rPr lang="en-US" altLang="zh-CN" dirty="0"/>
              <a:t>——</a:t>
            </a:r>
            <a:r>
              <a:rPr lang="zh-CN" altLang="en-US" dirty="0"/>
              <a:t>总述</a:t>
            </a:r>
          </a:p>
        </p:txBody>
      </p:sp>
      <p:sp>
        <p:nvSpPr>
          <p:cNvPr id="26" name="标题 7">
            <a:extLst>
              <a:ext uri="{FF2B5EF4-FFF2-40B4-BE49-F238E27FC236}">
                <a16:creationId xmlns:a16="http://schemas.microsoft.com/office/drawing/2014/main" id="{BC396957-5FAE-41CD-8D3C-C0E579E5DDDD}"/>
              </a:ext>
            </a:extLst>
          </p:cNvPr>
          <p:cNvSpPr txBox="1">
            <a:spLocks/>
          </p:cNvSpPr>
          <p:nvPr/>
        </p:nvSpPr>
        <p:spPr>
          <a:xfrm>
            <a:off x="3205464" y="2416770"/>
            <a:ext cx="5257509" cy="513156"/>
          </a:xfrm>
          <a:prstGeom prst="rect">
            <a:avLst/>
          </a:prstGeom>
          <a:solidFill>
            <a:srgbClr val="C0504D"/>
          </a:solidFill>
        </p:spPr>
        <p:txBody>
          <a:bodyPr/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新产品开发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28512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7833575-80C8-4C8D-A6E1-5363DFA2BA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详细设计</a:t>
            </a:r>
            <a:r>
              <a:rPr lang="en-US" altLang="zh-CN" dirty="0"/>
              <a:t>——</a:t>
            </a:r>
            <a:r>
              <a:rPr lang="zh-CN" altLang="en-US" dirty="0"/>
              <a:t>板卡设计、线缆设计</a:t>
            </a:r>
          </a:p>
        </p:txBody>
      </p:sp>
      <p:cxnSp>
        <p:nvCxnSpPr>
          <p:cNvPr id="23" name="直接连接符 22"/>
          <p:cNvCxnSpPr>
            <a:cxnSpLocks/>
          </p:cNvCxnSpPr>
          <p:nvPr/>
        </p:nvCxnSpPr>
        <p:spPr>
          <a:xfrm>
            <a:off x="5742974" y="948828"/>
            <a:ext cx="0" cy="585116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/>
          <p:cNvSpPr/>
          <p:nvPr/>
        </p:nvSpPr>
        <p:spPr>
          <a:xfrm>
            <a:off x="6186650" y="977514"/>
            <a:ext cx="532789" cy="532789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6328411" y="1119274"/>
            <a:ext cx="249268" cy="249268"/>
          </a:xfrm>
          <a:custGeom>
            <a:avLst/>
            <a:gdLst>
              <a:gd name="connsiteX0" fmla="*/ 233325 w 327309"/>
              <a:gd name="connsiteY0" fmla="*/ 56528 h 327309"/>
              <a:gd name="connsiteX1" fmla="*/ 50285 w 327309"/>
              <a:gd name="connsiteY1" fmla="*/ 239568 h 327309"/>
              <a:gd name="connsiteX2" fmla="*/ 87741 w 327309"/>
              <a:gd name="connsiteY2" fmla="*/ 277025 h 327309"/>
              <a:gd name="connsiteX3" fmla="*/ 270781 w 327309"/>
              <a:gd name="connsiteY3" fmla="*/ 93985 h 327309"/>
              <a:gd name="connsiteX4" fmla="*/ 239171 w 327309"/>
              <a:gd name="connsiteY4" fmla="*/ 31038 h 327309"/>
              <a:gd name="connsiteX5" fmla="*/ 296272 w 327309"/>
              <a:gd name="connsiteY5" fmla="*/ 88139 h 327309"/>
              <a:gd name="connsiteX6" fmla="*/ 80982 w 327309"/>
              <a:gd name="connsiteY6" fmla="*/ 303429 h 327309"/>
              <a:gd name="connsiteX7" fmla="*/ 59606 w 327309"/>
              <a:gd name="connsiteY7" fmla="*/ 282053 h 327309"/>
              <a:gd name="connsiteX8" fmla="*/ 59606 w 327309"/>
              <a:gd name="connsiteY8" fmla="*/ 282053 h 327309"/>
              <a:gd name="connsiteX9" fmla="*/ 80982 w 327309"/>
              <a:gd name="connsiteY9" fmla="*/ 303429 h 327309"/>
              <a:gd name="connsiteX10" fmla="*/ 0 w 327309"/>
              <a:gd name="connsiteY10" fmla="*/ 327309 h 327309"/>
              <a:gd name="connsiteX11" fmla="*/ 23881 w 327309"/>
              <a:gd name="connsiteY11" fmla="*/ 246328 h 327309"/>
              <a:gd name="connsiteX12" fmla="*/ 38193 w 327309"/>
              <a:gd name="connsiteY12" fmla="*/ 260640 h 327309"/>
              <a:gd name="connsiteX13" fmla="*/ 38193 w 327309"/>
              <a:gd name="connsiteY13" fmla="*/ 260640 h 327309"/>
              <a:gd name="connsiteX14" fmla="*/ 23881 w 327309"/>
              <a:gd name="connsiteY14" fmla="*/ 246328 h 327309"/>
              <a:gd name="connsiteX15" fmla="*/ 278071 w 327309"/>
              <a:gd name="connsiteY15" fmla="*/ 63 h 327309"/>
              <a:gd name="connsiteX16" fmla="*/ 292270 w 327309"/>
              <a:gd name="connsiteY16" fmla="*/ 4998 h 327309"/>
              <a:gd name="connsiteX17" fmla="*/ 322311 w 327309"/>
              <a:gd name="connsiteY17" fmla="*/ 35039 h 327309"/>
              <a:gd name="connsiteX18" fmla="*/ 320026 w 327309"/>
              <a:gd name="connsiteY18" fmla="*/ 64385 h 327309"/>
              <a:gd name="connsiteX19" fmla="*/ 304210 w 327309"/>
              <a:gd name="connsiteY19" fmla="*/ 80200 h 327309"/>
              <a:gd name="connsiteX20" fmla="*/ 247109 w 327309"/>
              <a:gd name="connsiteY20" fmla="*/ 23099 h 327309"/>
              <a:gd name="connsiteX21" fmla="*/ 262925 w 327309"/>
              <a:gd name="connsiteY21" fmla="*/ 7284 h 327309"/>
              <a:gd name="connsiteX22" fmla="*/ 278071 w 327309"/>
              <a:gd name="connsiteY22" fmla="*/ 63 h 32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27309" h="327309">
                <a:moveTo>
                  <a:pt x="233325" y="56528"/>
                </a:moveTo>
                <a:lnTo>
                  <a:pt x="50285" y="239568"/>
                </a:lnTo>
                <a:lnTo>
                  <a:pt x="87741" y="277025"/>
                </a:lnTo>
                <a:lnTo>
                  <a:pt x="270781" y="93985"/>
                </a:lnTo>
                <a:close/>
                <a:moveTo>
                  <a:pt x="239171" y="31038"/>
                </a:moveTo>
                <a:lnTo>
                  <a:pt x="296272" y="88139"/>
                </a:lnTo>
                <a:lnTo>
                  <a:pt x="80982" y="303429"/>
                </a:lnTo>
                <a:lnTo>
                  <a:pt x="59606" y="282053"/>
                </a:lnTo>
                <a:lnTo>
                  <a:pt x="59606" y="282053"/>
                </a:lnTo>
                <a:lnTo>
                  <a:pt x="80982" y="303429"/>
                </a:lnTo>
                <a:lnTo>
                  <a:pt x="0" y="327309"/>
                </a:lnTo>
                <a:lnTo>
                  <a:pt x="23881" y="246328"/>
                </a:lnTo>
                <a:lnTo>
                  <a:pt x="38193" y="260640"/>
                </a:lnTo>
                <a:lnTo>
                  <a:pt x="38193" y="260640"/>
                </a:lnTo>
                <a:lnTo>
                  <a:pt x="23881" y="246328"/>
                </a:lnTo>
                <a:close/>
                <a:moveTo>
                  <a:pt x="278071" y="63"/>
                </a:moveTo>
                <a:cubicBezTo>
                  <a:pt x="283381" y="-350"/>
                  <a:pt x="288534" y="1262"/>
                  <a:pt x="292270" y="4998"/>
                </a:cubicBezTo>
                <a:lnTo>
                  <a:pt x="322311" y="35039"/>
                </a:lnTo>
                <a:cubicBezTo>
                  <a:pt x="329784" y="42512"/>
                  <a:pt x="328760" y="55650"/>
                  <a:pt x="320026" y="64385"/>
                </a:cubicBezTo>
                <a:cubicBezTo>
                  <a:pt x="314754" y="69657"/>
                  <a:pt x="309482" y="74928"/>
                  <a:pt x="304210" y="80200"/>
                </a:cubicBezTo>
                <a:lnTo>
                  <a:pt x="247109" y="23099"/>
                </a:lnTo>
                <a:lnTo>
                  <a:pt x="262925" y="7284"/>
                </a:lnTo>
                <a:cubicBezTo>
                  <a:pt x="267292" y="2917"/>
                  <a:pt x="272760" y="477"/>
                  <a:pt x="278071" y="6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757726" y="1510302"/>
            <a:ext cx="1390636" cy="40697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原理图设计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7468275" y="1058470"/>
            <a:ext cx="4578083" cy="8196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硬件工程师、电源工程师根据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PRD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需求以及总体方案，完成原理图设计。</a:t>
            </a: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备料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：主板备料周期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个月，小板卡备料周期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个月（优先确认长交期物料：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IC&amp;CON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  <p:sp>
        <p:nvSpPr>
          <p:cNvPr id="28" name="椭圆 27"/>
          <p:cNvSpPr/>
          <p:nvPr/>
        </p:nvSpPr>
        <p:spPr>
          <a:xfrm>
            <a:off x="6186650" y="2146431"/>
            <a:ext cx="532789" cy="532789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757726" y="2679219"/>
            <a:ext cx="1390636" cy="40697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叠层设计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7468275" y="2099210"/>
            <a:ext cx="4578082" cy="131978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Layout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PRD 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硬件、信号需求和系统评估仿真结果，评估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PCB 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层数。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工程师根据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Layout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需求设计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叠层（周期预估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天），初版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叠层设计完成后与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厂商沟通，直至最终定版。</a:t>
            </a:r>
            <a:r>
              <a:rPr lang="zh-CN" altLang="en-US" sz="13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备料：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PCB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基材材质不同，备料周期不同，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Mid loss 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备料周期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2~3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周，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Low loss 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备料周期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3~4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周。</a:t>
            </a:r>
          </a:p>
        </p:txBody>
      </p:sp>
      <p:sp>
        <p:nvSpPr>
          <p:cNvPr id="31" name="椭圆 30"/>
          <p:cNvSpPr/>
          <p:nvPr/>
        </p:nvSpPr>
        <p:spPr>
          <a:xfrm>
            <a:off x="6186650" y="3350916"/>
            <a:ext cx="532789" cy="532789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5839994" y="3874408"/>
            <a:ext cx="1390636" cy="40697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7477616" y="3572447"/>
            <a:ext cx="4578059" cy="5695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Layout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工程师根据原理图、结构布局图、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Layout Guide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Layout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设计。</a:t>
            </a:r>
          </a:p>
        </p:txBody>
      </p:sp>
      <p:sp>
        <p:nvSpPr>
          <p:cNvPr id="34" name="任意多边形 33"/>
          <p:cNvSpPr>
            <a:spLocks noChangeAspect="1"/>
          </p:cNvSpPr>
          <p:nvPr/>
        </p:nvSpPr>
        <p:spPr>
          <a:xfrm>
            <a:off x="6375387" y="2285807"/>
            <a:ext cx="154448" cy="248400"/>
          </a:xfrm>
          <a:custGeom>
            <a:avLst/>
            <a:gdLst>
              <a:gd name="connsiteX0" fmla="*/ 677901 w 2374831"/>
              <a:gd name="connsiteY0" fmla="*/ 3412116 h 3819479"/>
              <a:gd name="connsiteX1" fmla="*/ 1644059 w 2374831"/>
              <a:gd name="connsiteY1" fmla="*/ 3412116 h 3819479"/>
              <a:gd name="connsiteX2" fmla="*/ 1644059 w 2374831"/>
              <a:gd name="connsiteY2" fmla="*/ 3636403 h 3819479"/>
              <a:gd name="connsiteX3" fmla="*/ 1452135 w 2374831"/>
              <a:gd name="connsiteY3" fmla="*/ 3636403 h 3819479"/>
              <a:gd name="connsiteX4" fmla="*/ 1406366 w 2374831"/>
              <a:gd name="connsiteY4" fmla="*/ 3819479 h 3819479"/>
              <a:gd name="connsiteX5" fmla="*/ 904644 w 2374831"/>
              <a:gd name="connsiteY5" fmla="*/ 3819479 h 3819479"/>
              <a:gd name="connsiteX6" fmla="*/ 858875 w 2374831"/>
              <a:gd name="connsiteY6" fmla="*/ 3636403 h 3819479"/>
              <a:gd name="connsiteX7" fmla="*/ 677901 w 2374831"/>
              <a:gd name="connsiteY7" fmla="*/ 3636403 h 3819479"/>
              <a:gd name="connsiteX8" fmla="*/ 1210563 w 2374831"/>
              <a:gd name="connsiteY8" fmla="*/ 214813 h 3819479"/>
              <a:gd name="connsiteX9" fmla="*/ 234135 w 2374831"/>
              <a:gd name="connsiteY9" fmla="*/ 1200968 h 3819479"/>
              <a:gd name="connsiteX10" fmla="*/ 530439 w 2374831"/>
              <a:gd name="connsiteY10" fmla="*/ 2356594 h 3819479"/>
              <a:gd name="connsiteX11" fmla="*/ 629422 w 2374831"/>
              <a:gd name="connsiteY11" fmla="*/ 2455121 h 3819479"/>
              <a:gd name="connsiteX12" fmla="*/ 632955 w 2374831"/>
              <a:gd name="connsiteY12" fmla="*/ 2454082 h 3819479"/>
              <a:gd name="connsiteX13" fmla="*/ 634850 w 2374831"/>
              <a:gd name="connsiteY13" fmla="*/ 2460524 h 3819479"/>
              <a:gd name="connsiteX14" fmla="*/ 645415 w 2374831"/>
              <a:gd name="connsiteY14" fmla="*/ 2471041 h 3819479"/>
              <a:gd name="connsiteX15" fmla="*/ 640611 w 2374831"/>
              <a:gd name="connsiteY15" fmla="*/ 2480115 h 3819479"/>
              <a:gd name="connsiteX16" fmla="*/ 825141 w 2374831"/>
              <a:gd name="connsiteY16" fmla="*/ 3107541 h 3819479"/>
              <a:gd name="connsiteX17" fmla="*/ 1520487 w 2374831"/>
              <a:gd name="connsiteY17" fmla="*/ 3107541 h 3819479"/>
              <a:gd name="connsiteX18" fmla="*/ 1697625 w 2374831"/>
              <a:gd name="connsiteY18" fmla="*/ 2505248 h 3819479"/>
              <a:gd name="connsiteX19" fmla="*/ 1694714 w 2374831"/>
              <a:gd name="connsiteY19" fmla="*/ 2499211 h 3819479"/>
              <a:gd name="connsiteX20" fmla="*/ 1701121 w 2374831"/>
              <a:gd name="connsiteY20" fmla="*/ 2493362 h 3819479"/>
              <a:gd name="connsiteX21" fmla="*/ 1703057 w 2374831"/>
              <a:gd name="connsiteY21" fmla="*/ 2486779 h 3819479"/>
              <a:gd name="connsiteX22" fmla="*/ 1707047 w 2374831"/>
              <a:gd name="connsiteY22" fmla="*/ 2487952 h 3819479"/>
              <a:gd name="connsiteX23" fmla="*/ 1814604 w 2374831"/>
              <a:gd name="connsiteY23" fmla="*/ 2389768 h 3819479"/>
              <a:gd name="connsiteX24" fmla="*/ 2146142 w 2374831"/>
              <a:gd name="connsiteY24" fmla="*/ 1237621 h 3819479"/>
              <a:gd name="connsiteX25" fmla="*/ 1210563 w 2374831"/>
              <a:gd name="connsiteY25" fmla="*/ 214813 h 3819479"/>
              <a:gd name="connsiteX26" fmla="*/ 1214591 w 2374831"/>
              <a:gd name="connsiteY26" fmla="*/ 383 h 3819479"/>
              <a:gd name="connsiteX27" fmla="*/ 2356115 w 2374831"/>
              <a:gd name="connsiteY27" fmla="*/ 1191705 h 3819479"/>
              <a:gd name="connsiteX28" fmla="*/ 1940101 w 2374831"/>
              <a:gd name="connsiteY28" fmla="*/ 2566662 h 3819479"/>
              <a:gd name="connsiteX29" fmla="*/ 1858280 w 2374831"/>
              <a:gd name="connsiteY29" fmla="*/ 2636176 h 3819479"/>
              <a:gd name="connsiteX30" fmla="*/ 1662374 w 2374831"/>
              <a:gd name="connsiteY30" fmla="*/ 3302282 h 3819479"/>
              <a:gd name="connsiteX31" fmla="*/ 1642818 w 2374831"/>
              <a:gd name="connsiteY31" fmla="*/ 3296530 h 3819479"/>
              <a:gd name="connsiteX32" fmla="*/ 1642365 w 2374831"/>
              <a:gd name="connsiteY32" fmla="*/ 3298341 h 3819479"/>
              <a:gd name="connsiteX33" fmla="*/ 668645 w 2374831"/>
              <a:gd name="connsiteY33" fmla="*/ 3298341 h 3819479"/>
              <a:gd name="connsiteX34" fmla="*/ 620945 w 2374831"/>
              <a:gd name="connsiteY34" fmla="*/ 3107541 h 3819479"/>
              <a:gd name="connsiteX35" fmla="*/ 625980 w 2374831"/>
              <a:gd name="connsiteY35" fmla="*/ 3107541 h 3819479"/>
              <a:gd name="connsiteX36" fmla="*/ 477257 w 2374831"/>
              <a:gd name="connsiteY36" fmla="*/ 2601865 h 3819479"/>
              <a:gd name="connsiteX37" fmla="*/ 398351 w 2374831"/>
              <a:gd name="connsiteY37" fmla="*/ 2528795 h 3819479"/>
              <a:gd name="connsiteX38" fmla="*/ 25870 w 2374831"/>
              <a:gd name="connsiteY38" fmla="*/ 1147159 h 3819479"/>
              <a:gd name="connsiteX39" fmla="*/ 1214591 w 2374831"/>
              <a:gd name="connsiteY39" fmla="*/ 383 h 3819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374831" h="3819479">
                <a:moveTo>
                  <a:pt x="677901" y="3412116"/>
                </a:moveTo>
                <a:lnTo>
                  <a:pt x="1644059" y="3412116"/>
                </a:lnTo>
                <a:lnTo>
                  <a:pt x="1644059" y="3636403"/>
                </a:lnTo>
                <a:lnTo>
                  <a:pt x="1452135" y="3636403"/>
                </a:lnTo>
                <a:lnTo>
                  <a:pt x="1406366" y="3819479"/>
                </a:lnTo>
                <a:lnTo>
                  <a:pt x="904644" y="3819479"/>
                </a:lnTo>
                <a:lnTo>
                  <a:pt x="858875" y="3636403"/>
                </a:lnTo>
                <a:lnTo>
                  <a:pt x="677901" y="3636403"/>
                </a:lnTo>
                <a:close/>
                <a:moveTo>
                  <a:pt x="1210563" y="214813"/>
                </a:moveTo>
                <a:cubicBezTo>
                  <a:pt x="739590" y="200611"/>
                  <a:pt x="328256" y="616042"/>
                  <a:pt x="234135" y="1200968"/>
                </a:cubicBezTo>
                <a:cubicBezTo>
                  <a:pt x="165163" y="1629602"/>
                  <a:pt x="280924" y="2067284"/>
                  <a:pt x="530439" y="2356594"/>
                </a:cubicBezTo>
                <a:lnTo>
                  <a:pt x="629422" y="2455121"/>
                </a:lnTo>
                <a:lnTo>
                  <a:pt x="632955" y="2454082"/>
                </a:lnTo>
                <a:lnTo>
                  <a:pt x="634850" y="2460524"/>
                </a:lnTo>
                <a:lnTo>
                  <a:pt x="645415" y="2471041"/>
                </a:lnTo>
                <a:lnTo>
                  <a:pt x="640611" y="2480115"/>
                </a:lnTo>
                <a:lnTo>
                  <a:pt x="825141" y="3107541"/>
                </a:lnTo>
                <a:lnTo>
                  <a:pt x="1520487" y="3107541"/>
                </a:lnTo>
                <a:lnTo>
                  <a:pt x="1697625" y="2505248"/>
                </a:lnTo>
                <a:lnTo>
                  <a:pt x="1694714" y="2499211"/>
                </a:lnTo>
                <a:lnTo>
                  <a:pt x="1701121" y="2493362"/>
                </a:lnTo>
                <a:lnTo>
                  <a:pt x="1703057" y="2486779"/>
                </a:lnTo>
                <a:lnTo>
                  <a:pt x="1707047" y="2487952"/>
                </a:lnTo>
                <a:lnTo>
                  <a:pt x="1814604" y="2389768"/>
                </a:lnTo>
                <a:cubicBezTo>
                  <a:pt x="2075917" y="2110708"/>
                  <a:pt x="2205489" y="1673395"/>
                  <a:pt x="2146142" y="1237621"/>
                </a:cubicBezTo>
                <a:cubicBezTo>
                  <a:pt x="2067107" y="657287"/>
                  <a:pt x="1675186" y="228824"/>
                  <a:pt x="1210563" y="214813"/>
                </a:cubicBezTo>
                <a:close/>
                <a:moveTo>
                  <a:pt x="1214591" y="383"/>
                </a:moveTo>
                <a:cubicBezTo>
                  <a:pt x="1779092" y="16134"/>
                  <a:pt x="2256408" y="514273"/>
                  <a:pt x="2356115" y="1191705"/>
                </a:cubicBezTo>
                <a:cubicBezTo>
                  <a:pt x="2432917" y="1713508"/>
                  <a:pt x="2269282" y="2238010"/>
                  <a:pt x="1940101" y="2566662"/>
                </a:cubicBezTo>
                <a:lnTo>
                  <a:pt x="1858280" y="2636176"/>
                </a:lnTo>
                <a:lnTo>
                  <a:pt x="1662374" y="3302282"/>
                </a:lnTo>
                <a:lnTo>
                  <a:pt x="1642818" y="3296530"/>
                </a:lnTo>
                <a:lnTo>
                  <a:pt x="1642365" y="3298341"/>
                </a:lnTo>
                <a:lnTo>
                  <a:pt x="668645" y="3298341"/>
                </a:lnTo>
                <a:lnTo>
                  <a:pt x="620945" y="3107541"/>
                </a:lnTo>
                <a:lnTo>
                  <a:pt x="625980" y="3107541"/>
                </a:lnTo>
                <a:lnTo>
                  <a:pt x="477257" y="2601865"/>
                </a:lnTo>
                <a:lnTo>
                  <a:pt x="398351" y="2528795"/>
                </a:lnTo>
                <a:cubicBezTo>
                  <a:pt x="83040" y="2187205"/>
                  <a:pt x="-63507" y="1661104"/>
                  <a:pt x="25870" y="1147159"/>
                </a:cubicBezTo>
                <a:cubicBezTo>
                  <a:pt x="144292" y="466195"/>
                  <a:pt x="643655" y="-15547"/>
                  <a:pt x="1214591" y="38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>
            <a:spLocks noChangeAspect="1"/>
          </p:cNvSpPr>
          <p:nvPr/>
        </p:nvSpPr>
        <p:spPr>
          <a:xfrm>
            <a:off x="6328411" y="3493110"/>
            <a:ext cx="248400" cy="248400"/>
          </a:xfrm>
          <a:custGeom>
            <a:avLst/>
            <a:gdLst>
              <a:gd name="connsiteX0" fmla="*/ 2880510 w 6121022"/>
              <a:gd name="connsiteY0" fmla="*/ 1007091 h 6121022"/>
              <a:gd name="connsiteX1" fmla="*/ 3240510 w 6121022"/>
              <a:gd name="connsiteY1" fmla="*/ 1007091 h 6121022"/>
              <a:gd name="connsiteX2" fmla="*/ 3240510 w 6121022"/>
              <a:gd name="connsiteY2" fmla="*/ 2880510 h 6121022"/>
              <a:gd name="connsiteX3" fmla="*/ 4517409 w 6121022"/>
              <a:gd name="connsiteY3" fmla="*/ 2880510 h 6121022"/>
              <a:gd name="connsiteX4" fmla="*/ 4517409 w 6121022"/>
              <a:gd name="connsiteY4" fmla="*/ 3240510 h 6121022"/>
              <a:gd name="connsiteX5" fmla="*/ 3240510 w 6121022"/>
              <a:gd name="connsiteY5" fmla="*/ 3240510 h 6121022"/>
              <a:gd name="connsiteX6" fmla="*/ 3240510 w 6121022"/>
              <a:gd name="connsiteY6" fmla="*/ 3245324 h 6121022"/>
              <a:gd name="connsiteX7" fmla="*/ 2880510 w 6121022"/>
              <a:gd name="connsiteY7" fmla="*/ 3245324 h 6121022"/>
              <a:gd name="connsiteX8" fmla="*/ 2880510 w 6121022"/>
              <a:gd name="connsiteY8" fmla="*/ 3240510 h 6121022"/>
              <a:gd name="connsiteX9" fmla="*/ 2880510 w 6121022"/>
              <a:gd name="connsiteY9" fmla="*/ 2880510 h 6121022"/>
              <a:gd name="connsiteX10" fmla="*/ 3060510 w 6121022"/>
              <a:gd name="connsiteY10" fmla="*/ 417638 h 6121022"/>
              <a:gd name="connsiteX11" fmla="*/ 417637 w 6121022"/>
              <a:gd name="connsiteY11" fmla="*/ 3060511 h 6121022"/>
              <a:gd name="connsiteX12" fmla="*/ 3060510 w 6121022"/>
              <a:gd name="connsiteY12" fmla="*/ 5703384 h 6121022"/>
              <a:gd name="connsiteX13" fmla="*/ 5703383 w 6121022"/>
              <a:gd name="connsiteY13" fmla="*/ 3060511 h 6121022"/>
              <a:gd name="connsiteX14" fmla="*/ 3060510 w 6121022"/>
              <a:gd name="connsiteY14" fmla="*/ 417638 h 6121022"/>
              <a:gd name="connsiteX15" fmla="*/ 3060511 w 6121022"/>
              <a:gd name="connsiteY15" fmla="*/ 0 h 6121022"/>
              <a:gd name="connsiteX16" fmla="*/ 6121022 w 6121022"/>
              <a:gd name="connsiteY16" fmla="*/ 3060511 h 6121022"/>
              <a:gd name="connsiteX17" fmla="*/ 3060511 w 6121022"/>
              <a:gd name="connsiteY17" fmla="*/ 6121022 h 6121022"/>
              <a:gd name="connsiteX18" fmla="*/ 0 w 6121022"/>
              <a:gd name="connsiteY18" fmla="*/ 3060511 h 6121022"/>
              <a:gd name="connsiteX19" fmla="*/ 3060511 w 6121022"/>
              <a:gd name="connsiteY19" fmla="*/ 0 h 6121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121022" h="6121022">
                <a:moveTo>
                  <a:pt x="2880510" y="1007091"/>
                </a:moveTo>
                <a:lnTo>
                  <a:pt x="3240510" y="1007091"/>
                </a:lnTo>
                <a:lnTo>
                  <a:pt x="3240510" y="2880510"/>
                </a:lnTo>
                <a:lnTo>
                  <a:pt x="4517409" y="2880510"/>
                </a:lnTo>
                <a:lnTo>
                  <a:pt x="4517409" y="3240510"/>
                </a:lnTo>
                <a:lnTo>
                  <a:pt x="3240510" y="3240510"/>
                </a:lnTo>
                <a:lnTo>
                  <a:pt x="3240510" y="3245324"/>
                </a:lnTo>
                <a:lnTo>
                  <a:pt x="2880510" y="3245324"/>
                </a:lnTo>
                <a:lnTo>
                  <a:pt x="2880510" y="3240510"/>
                </a:lnTo>
                <a:lnTo>
                  <a:pt x="2880510" y="2880510"/>
                </a:lnTo>
                <a:close/>
                <a:moveTo>
                  <a:pt x="3060510" y="417638"/>
                </a:moveTo>
                <a:cubicBezTo>
                  <a:pt x="1600892" y="417638"/>
                  <a:pt x="417637" y="1600893"/>
                  <a:pt x="417637" y="3060511"/>
                </a:cubicBezTo>
                <a:cubicBezTo>
                  <a:pt x="417637" y="4520129"/>
                  <a:pt x="1600892" y="5703384"/>
                  <a:pt x="3060510" y="5703384"/>
                </a:cubicBezTo>
                <a:cubicBezTo>
                  <a:pt x="4520128" y="5703384"/>
                  <a:pt x="5703383" y="4520129"/>
                  <a:pt x="5703383" y="3060511"/>
                </a:cubicBezTo>
                <a:cubicBezTo>
                  <a:pt x="5703383" y="1600893"/>
                  <a:pt x="4520128" y="417638"/>
                  <a:pt x="3060510" y="417638"/>
                </a:cubicBezTo>
                <a:close/>
                <a:moveTo>
                  <a:pt x="3060511" y="0"/>
                </a:moveTo>
                <a:cubicBezTo>
                  <a:pt x="4750785" y="0"/>
                  <a:pt x="6121022" y="1370237"/>
                  <a:pt x="6121022" y="3060511"/>
                </a:cubicBezTo>
                <a:cubicBezTo>
                  <a:pt x="6121022" y="4750785"/>
                  <a:pt x="4750785" y="6121022"/>
                  <a:pt x="3060511" y="6121022"/>
                </a:cubicBezTo>
                <a:cubicBezTo>
                  <a:pt x="1370237" y="6121022"/>
                  <a:pt x="0" y="4750785"/>
                  <a:pt x="0" y="3060511"/>
                </a:cubicBezTo>
                <a:cubicBezTo>
                  <a:pt x="0" y="1370237"/>
                  <a:pt x="1370237" y="0"/>
                  <a:pt x="30605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E8EBCE0B-2920-4213-AA6B-B9AD0AD26617}"/>
              </a:ext>
            </a:extLst>
          </p:cNvPr>
          <p:cNvSpPr/>
          <p:nvPr/>
        </p:nvSpPr>
        <p:spPr>
          <a:xfrm>
            <a:off x="6179112" y="4472476"/>
            <a:ext cx="540327" cy="540327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任意多边形 23">
            <a:extLst>
              <a:ext uri="{FF2B5EF4-FFF2-40B4-BE49-F238E27FC236}">
                <a16:creationId xmlns:a16="http://schemas.microsoft.com/office/drawing/2014/main" id="{1545F985-E864-4DC8-9565-1E7E7E60F7BA}"/>
              </a:ext>
            </a:extLst>
          </p:cNvPr>
          <p:cNvSpPr>
            <a:spLocks noChangeAspect="1"/>
          </p:cNvSpPr>
          <p:nvPr/>
        </p:nvSpPr>
        <p:spPr>
          <a:xfrm>
            <a:off x="6344892" y="4616685"/>
            <a:ext cx="208765" cy="252000"/>
          </a:xfrm>
          <a:custGeom>
            <a:avLst/>
            <a:gdLst>
              <a:gd name="connsiteX0" fmla="*/ 2540739 w 5081480"/>
              <a:gd name="connsiteY0" fmla="*/ 1728231 h 6133889"/>
              <a:gd name="connsiteX1" fmla="*/ 1728230 w 5081480"/>
              <a:gd name="connsiteY1" fmla="*/ 2540740 h 6133889"/>
              <a:gd name="connsiteX2" fmla="*/ 2540739 w 5081480"/>
              <a:gd name="connsiteY2" fmla="*/ 3353249 h 6133889"/>
              <a:gd name="connsiteX3" fmla="*/ 3353248 w 5081480"/>
              <a:gd name="connsiteY3" fmla="*/ 2540740 h 6133889"/>
              <a:gd name="connsiteX4" fmla="*/ 2540739 w 5081480"/>
              <a:gd name="connsiteY4" fmla="*/ 1728231 h 6133889"/>
              <a:gd name="connsiteX5" fmla="*/ 2540740 w 5081480"/>
              <a:gd name="connsiteY5" fmla="*/ 1407975 h 6133889"/>
              <a:gd name="connsiteX6" fmla="*/ 3673505 w 5081480"/>
              <a:gd name="connsiteY6" fmla="*/ 2540740 h 6133889"/>
              <a:gd name="connsiteX7" fmla="*/ 2540740 w 5081480"/>
              <a:gd name="connsiteY7" fmla="*/ 3673505 h 6133889"/>
              <a:gd name="connsiteX8" fmla="*/ 1407975 w 5081480"/>
              <a:gd name="connsiteY8" fmla="*/ 2540740 h 6133889"/>
              <a:gd name="connsiteX9" fmla="*/ 2540740 w 5081480"/>
              <a:gd name="connsiteY9" fmla="*/ 1407975 h 6133889"/>
              <a:gd name="connsiteX10" fmla="*/ 2540740 w 5081480"/>
              <a:gd name="connsiteY10" fmla="*/ 305592 h 6133889"/>
              <a:gd name="connsiteX11" fmla="*/ 960252 w 5081480"/>
              <a:gd name="connsiteY11" fmla="*/ 960252 h 6133889"/>
              <a:gd name="connsiteX12" fmla="*/ 960252 w 5081480"/>
              <a:gd name="connsiteY12" fmla="*/ 4121228 h 6133889"/>
              <a:gd name="connsiteX13" fmla="*/ 2540740 w 5081480"/>
              <a:gd name="connsiteY13" fmla="*/ 5701715 h 6133889"/>
              <a:gd name="connsiteX14" fmla="*/ 4121228 w 5081480"/>
              <a:gd name="connsiteY14" fmla="*/ 4121228 h 6133889"/>
              <a:gd name="connsiteX15" fmla="*/ 4121228 w 5081480"/>
              <a:gd name="connsiteY15" fmla="*/ 960252 h 6133889"/>
              <a:gd name="connsiteX16" fmla="*/ 2540740 w 5081480"/>
              <a:gd name="connsiteY16" fmla="*/ 305592 h 6133889"/>
              <a:gd name="connsiteX17" fmla="*/ 2540741 w 5081480"/>
              <a:gd name="connsiteY17" fmla="*/ 0 h 6133889"/>
              <a:gd name="connsiteX18" fmla="*/ 4337315 w 5081480"/>
              <a:gd name="connsiteY18" fmla="*/ 744165 h 6133889"/>
              <a:gd name="connsiteX19" fmla="*/ 4337315 w 5081480"/>
              <a:gd name="connsiteY19" fmla="*/ 4337315 h 6133889"/>
              <a:gd name="connsiteX20" fmla="*/ 2540740 w 5081480"/>
              <a:gd name="connsiteY20" fmla="*/ 6133889 h 6133889"/>
              <a:gd name="connsiteX21" fmla="*/ 744165 w 5081480"/>
              <a:gd name="connsiteY21" fmla="*/ 4337315 h 6133889"/>
              <a:gd name="connsiteX22" fmla="*/ 744165 w 5081480"/>
              <a:gd name="connsiteY22" fmla="*/ 744165 h 6133889"/>
              <a:gd name="connsiteX23" fmla="*/ 2540741 w 5081480"/>
              <a:gd name="connsiteY23" fmla="*/ 0 h 613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081480" h="6133889">
                <a:moveTo>
                  <a:pt x="2540739" y="1728231"/>
                </a:moveTo>
                <a:cubicBezTo>
                  <a:pt x="2092003" y="1728231"/>
                  <a:pt x="1728230" y="2092004"/>
                  <a:pt x="1728230" y="2540740"/>
                </a:cubicBezTo>
                <a:cubicBezTo>
                  <a:pt x="1728230" y="2989476"/>
                  <a:pt x="2092003" y="3353249"/>
                  <a:pt x="2540739" y="3353249"/>
                </a:cubicBezTo>
                <a:cubicBezTo>
                  <a:pt x="2989475" y="3353249"/>
                  <a:pt x="3353248" y="2989476"/>
                  <a:pt x="3353248" y="2540740"/>
                </a:cubicBezTo>
                <a:cubicBezTo>
                  <a:pt x="3353248" y="2092004"/>
                  <a:pt x="2989475" y="1728231"/>
                  <a:pt x="2540739" y="1728231"/>
                </a:cubicBezTo>
                <a:close/>
                <a:moveTo>
                  <a:pt x="2540740" y="1407975"/>
                </a:moveTo>
                <a:cubicBezTo>
                  <a:pt x="3166349" y="1407975"/>
                  <a:pt x="3673505" y="1915131"/>
                  <a:pt x="3673505" y="2540740"/>
                </a:cubicBezTo>
                <a:cubicBezTo>
                  <a:pt x="3673505" y="3166349"/>
                  <a:pt x="3166349" y="3673505"/>
                  <a:pt x="2540740" y="3673505"/>
                </a:cubicBezTo>
                <a:cubicBezTo>
                  <a:pt x="1915131" y="3673505"/>
                  <a:pt x="1407975" y="3166349"/>
                  <a:pt x="1407975" y="2540740"/>
                </a:cubicBezTo>
                <a:cubicBezTo>
                  <a:pt x="1407975" y="1915131"/>
                  <a:pt x="1915131" y="1407975"/>
                  <a:pt x="2540740" y="1407975"/>
                </a:cubicBezTo>
                <a:close/>
                <a:moveTo>
                  <a:pt x="2540740" y="305592"/>
                </a:moveTo>
                <a:cubicBezTo>
                  <a:pt x="1968716" y="305592"/>
                  <a:pt x="1396692" y="523813"/>
                  <a:pt x="960252" y="960252"/>
                </a:cubicBezTo>
                <a:cubicBezTo>
                  <a:pt x="87373" y="1833132"/>
                  <a:pt x="87373" y="3248348"/>
                  <a:pt x="960252" y="4121228"/>
                </a:cubicBezTo>
                <a:lnTo>
                  <a:pt x="2540740" y="5701715"/>
                </a:lnTo>
                <a:lnTo>
                  <a:pt x="4121228" y="4121228"/>
                </a:lnTo>
                <a:cubicBezTo>
                  <a:pt x="4994107" y="3248348"/>
                  <a:pt x="4994107" y="1833132"/>
                  <a:pt x="4121228" y="960252"/>
                </a:cubicBezTo>
                <a:cubicBezTo>
                  <a:pt x="3684788" y="523813"/>
                  <a:pt x="3112764" y="305592"/>
                  <a:pt x="2540740" y="305592"/>
                </a:cubicBezTo>
                <a:close/>
                <a:moveTo>
                  <a:pt x="2540741" y="0"/>
                </a:moveTo>
                <a:cubicBezTo>
                  <a:pt x="3190972" y="0"/>
                  <a:pt x="3841205" y="248054"/>
                  <a:pt x="4337315" y="744165"/>
                </a:cubicBezTo>
                <a:cubicBezTo>
                  <a:pt x="5329535" y="1736387"/>
                  <a:pt x="5329535" y="3345095"/>
                  <a:pt x="4337315" y="4337315"/>
                </a:cubicBezTo>
                <a:lnTo>
                  <a:pt x="2540740" y="6133889"/>
                </a:lnTo>
                <a:lnTo>
                  <a:pt x="744165" y="4337315"/>
                </a:lnTo>
                <a:cubicBezTo>
                  <a:pt x="-248055" y="3345094"/>
                  <a:pt x="-248055" y="1736387"/>
                  <a:pt x="744165" y="744165"/>
                </a:cubicBezTo>
                <a:cubicBezTo>
                  <a:pt x="1240276" y="248055"/>
                  <a:pt x="1890508" y="0"/>
                  <a:pt x="25407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608C55B-ABD5-4C7F-B0F8-2C9919A4A898}"/>
              </a:ext>
            </a:extLst>
          </p:cNvPr>
          <p:cNvSpPr txBox="1"/>
          <p:nvPr/>
        </p:nvSpPr>
        <p:spPr>
          <a:xfrm>
            <a:off x="5757726" y="5038254"/>
            <a:ext cx="1390636" cy="40697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535D276-F931-48CA-95D6-27D1364AEB5E}"/>
              </a:ext>
            </a:extLst>
          </p:cNvPr>
          <p:cNvSpPr txBox="1"/>
          <p:nvPr/>
        </p:nvSpPr>
        <p:spPr>
          <a:xfrm>
            <a:off x="7450061" y="4612441"/>
            <a:ext cx="4494682" cy="56958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模型仿真，确认过孔阻抗连续性；整体链路的阻抗连续性，以及整体链路的损耗。</a:t>
            </a:r>
          </a:p>
        </p:txBody>
      </p:sp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74E9EBA6-F57B-4657-9916-7F95C498F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4066"/>
              </p:ext>
            </p:extLst>
          </p:nvPr>
        </p:nvGraphicFramePr>
        <p:xfrm>
          <a:off x="161942" y="2523728"/>
          <a:ext cx="5422456" cy="4268958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610712">
                  <a:extLst>
                    <a:ext uri="{9D8B030D-6E8A-4147-A177-3AD203B41FA5}">
                      <a16:colId xmlns:a16="http://schemas.microsoft.com/office/drawing/2014/main" val="2940851073"/>
                    </a:ext>
                  </a:extLst>
                </a:gridCol>
                <a:gridCol w="1117106">
                  <a:extLst>
                    <a:ext uri="{9D8B030D-6E8A-4147-A177-3AD203B41FA5}">
                      <a16:colId xmlns:a16="http://schemas.microsoft.com/office/drawing/2014/main" val="3516952899"/>
                    </a:ext>
                  </a:extLst>
                </a:gridCol>
                <a:gridCol w="1676894">
                  <a:extLst>
                    <a:ext uri="{9D8B030D-6E8A-4147-A177-3AD203B41FA5}">
                      <a16:colId xmlns:a16="http://schemas.microsoft.com/office/drawing/2014/main" val="2755818900"/>
                    </a:ext>
                  </a:extLst>
                </a:gridCol>
                <a:gridCol w="2017744">
                  <a:extLst>
                    <a:ext uri="{9D8B030D-6E8A-4147-A177-3AD203B41FA5}">
                      <a16:colId xmlns:a16="http://schemas.microsoft.com/office/drawing/2014/main" val="302838818"/>
                    </a:ext>
                  </a:extLst>
                </a:gridCol>
              </a:tblGrid>
              <a:tr h="3446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序号</a:t>
                      </a:r>
                      <a:endParaRPr lang="zh-CN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工作名称</a:t>
                      </a:r>
                      <a:endParaRPr lang="zh-CN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责任人</a:t>
                      </a:r>
                      <a:endParaRPr lang="zh-CN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交付物</a:t>
                      </a:r>
                      <a:endParaRPr lang="zh-CN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032103293"/>
                  </a:ext>
                </a:extLst>
              </a:tr>
              <a:tr h="1201085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原理图设计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硬件工程师、电源工程师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《BOM》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原理图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Schematic》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《Layout guideline》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《Gerber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文件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自研板卡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SCH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检查记录跟踪表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《PI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仿真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《Porting guide》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637397"/>
                  </a:ext>
                </a:extLst>
              </a:tr>
              <a:tr h="277174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叠层设计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《PCB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叠层文件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774203038"/>
                  </a:ext>
                </a:extLst>
              </a:tr>
              <a:tr h="1016303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Layout 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设计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Layout</a:t>
                      </a:r>
                      <a:r>
                        <a:rPr lang="zh-CN" altLang="en-US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工程师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《BRD》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板卡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DXF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反导文件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自研板卡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BRD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检查记录跟踪表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《PCB Product Requirement》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《CAD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ODB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Place》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08534"/>
                  </a:ext>
                </a:extLst>
              </a:tr>
              <a:tr h="646738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4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1.Gerber out</a:t>
                      </a:r>
                    </a:p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2.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工程确认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硬件工程师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《Gerber 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文件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《Working Gerber》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《PCB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工程单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33561627"/>
                  </a:ext>
                </a:extLst>
              </a:tr>
              <a:tr h="321081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仿真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SI</a:t>
                      </a:r>
                      <a:r>
                        <a:rPr lang="zh-CN" altLang="en-US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工程师</a:t>
                      </a: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《SI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仿真报告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853953"/>
                  </a:ext>
                </a:extLst>
              </a:tr>
              <a:tr h="461956"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6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线缆设计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系统架构师</a:t>
                      </a:r>
                      <a:r>
                        <a:rPr lang="en-US" altLang="zh-CN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20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硬件工程师、线缆工程师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《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线缆样品制作需求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》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1605409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D8226F07-A27C-4365-A42A-6D958C14CE5A}"/>
              </a:ext>
            </a:extLst>
          </p:cNvPr>
          <p:cNvSpPr/>
          <p:nvPr/>
        </p:nvSpPr>
        <p:spPr>
          <a:xfrm>
            <a:off x="239350" y="925369"/>
            <a:ext cx="238834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板卡设计、线缆设计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原理图设计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叠层设计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Layout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设计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SI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仿真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线缆设计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111DC2C-4610-4E59-9113-B28802C885A2}"/>
              </a:ext>
            </a:extLst>
          </p:cNvPr>
          <p:cNvGrpSpPr/>
          <p:nvPr/>
        </p:nvGrpSpPr>
        <p:grpSpPr>
          <a:xfrm>
            <a:off x="6179110" y="5666795"/>
            <a:ext cx="540327" cy="540327"/>
            <a:chOff x="6179110" y="5910635"/>
            <a:chExt cx="540327" cy="540327"/>
          </a:xfrm>
          <a:solidFill>
            <a:srgbClr val="C0504D"/>
          </a:solidFill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518361BE-8C7D-4FC2-89FA-13B1711D8D42}"/>
                </a:ext>
              </a:extLst>
            </p:cNvPr>
            <p:cNvSpPr/>
            <p:nvPr/>
          </p:nvSpPr>
          <p:spPr>
            <a:xfrm>
              <a:off x="6179110" y="5910635"/>
              <a:ext cx="540327" cy="54032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Freeform 26">
              <a:extLst>
                <a:ext uri="{FF2B5EF4-FFF2-40B4-BE49-F238E27FC236}">
                  <a16:creationId xmlns:a16="http://schemas.microsoft.com/office/drawing/2014/main" id="{78033ADD-E610-438E-981F-3C0F0FF907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28411" y="6061036"/>
              <a:ext cx="225246" cy="216155"/>
            </a:xfrm>
            <a:custGeom>
              <a:avLst/>
              <a:gdLst/>
              <a:ahLst/>
              <a:cxnLst>
                <a:cxn ang="0">
                  <a:pos x="51" y="27"/>
                </a:cxn>
                <a:cxn ang="0">
                  <a:pos x="46" y="23"/>
                </a:cxn>
                <a:cxn ang="0">
                  <a:pos x="52" y="20"/>
                </a:cxn>
                <a:cxn ang="0">
                  <a:pos x="49" y="13"/>
                </a:cxn>
                <a:cxn ang="0">
                  <a:pos x="47" y="12"/>
                </a:cxn>
                <a:cxn ang="0">
                  <a:pos x="40" y="13"/>
                </a:cxn>
                <a:cxn ang="0">
                  <a:pos x="43" y="7"/>
                </a:cxn>
                <a:cxn ang="0">
                  <a:pos x="37" y="2"/>
                </a:cxn>
                <a:cxn ang="0">
                  <a:pos x="32" y="7"/>
                </a:cxn>
                <a:cxn ang="0">
                  <a:pos x="29" y="1"/>
                </a:cxn>
                <a:cxn ang="0">
                  <a:pos x="27" y="0"/>
                </a:cxn>
                <a:cxn ang="0">
                  <a:pos x="19" y="2"/>
                </a:cxn>
                <a:cxn ang="0">
                  <a:pos x="18" y="9"/>
                </a:cxn>
                <a:cxn ang="0">
                  <a:pos x="12" y="4"/>
                </a:cxn>
                <a:cxn ang="0">
                  <a:pos x="6" y="10"/>
                </a:cxn>
                <a:cxn ang="0">
                  <a:pos x="10" y="15"/>
                </a:cxn>
                <a:cxn ang="0">
                  <a:pos x="3" y="16"/>
                </a:cxn>
                <a:cxn ang="0">
                  <a:pos x="2" y="17"/>
                </a:cxn>
                <a:cxn ang="0">
                  <a:pos x="0" y="25"/>
                </a:cxn>
                <a:cxn ang="0">
                  <a:pos x="7" y="27"/>
                </a:cxn>
                <a:cxn ang="0">
                  <a:pos x="2" y="31"/>
                </a:cxn>
                <a:cxn ang="0">
                  <a:pos x="4" y="39"/>
                </a:cxn>
                <a:cxn ang="0">
                  <a:pos x="6" y="40"/>
                </a:cxn>
                <a:cxn ang="0">
                  <a:pos x="12" y="40"/>
                </a:cxn>
                <a:cxn ang="0">
                  <a:pos x="10" y="47"/>
                </a:cxn>
                <a:cxn ang="0">
                  <a:pos x="17" y="50"/>
                </a:cxn>
                <a:cxn ang="0">
                  <a:pos x="21" y="45"/>
                </a:cxn>
                <a:cxn ang="0">
                  <a:pos x="23" y="51"/>
                </a:cxn>
                <a:cxn ang="0">
                  <a:pos x="24" y="52"/>
                </a:cxn>
                <a:cxn ang="0">
                  <a:pos x="32" y="52"/>
                </a:cxn>
                <a:cxn ang="0">
                  <a:pos x="33" y="50"/>
                </a:cxn>
                <a:cxn ang="0">
                  <a:pos x="35" y="44"/>
                </a:cxn>
                <a:cxn ang="0">
                  <a:pos x="40" y="48"/>
                </a:cxn>
                <a:cxn ang="0">
                  <a:pos x="46" y="43"/>
                </a:cxn>
                <a:cxn ang="0">
                  <a:pos x="46" y="41"/>
                </a:cxn>
                <a:cxn ang="0">
                  <a:pos x="43" y="35"/>
                </a:cxn>
                <a:cxn ang="0">
                  <a:pos x="50" y="36"/>
                </a:cxn>
                <a:cxn ang="0">
                  <a:pos x="52" y="29"/>
                </a:cxn>
                <a:cxn ang="0">
                  <a:pos x="33" y="28"/>
                </a:cxn>
                <a:cxn ang="0">
                  <a:pos x="19" y="25"/>
                </a:cxn>
                <a:cxn ang="0">
                  <a:pos x="33" y="28"/>
                </a:cxn>
              </a:cxnLst>
              <a:rect l="0" t="0" r="r" b="b"/>
              <a:pathLst>
                <a:path w="52" h="52">
                  <a:moveTo>
                    <a:pt x="52" y="27"/>
                  </a:moveTo>
                  <a:cubicBezTo>
                    <a:pt x="52" y="27"/>
                    <a:pt x="52" y="27"/>
                    <a:pt x="51" y="27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51" y="21"/>
                    <a:pt x="51" y="21"/>
                    <a:pt x="51" y="21"/>
                  </a:cubicBezTo>
                  <a:cubicBezTo>
                    <a:pt x="51" y="21"/>
                    <a:pt x="51" y="21"/>
                    <a:pt x="52" y="20"/>
                  </a:cubicBezTo>
                  <a:cubicBezTo>
                    <a:pt x="52" y="20"/>
                    <a:pt x="52" y="20"/>
                    <a:pt x="51" y="19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2"/>
                    <a:pt x="48" y="12"/>
                    <a:pt x="48" y="12"/>
                  </a:cubicBezTo>
                  <a:cubicBezTo>
                    <a:pt x="48" y="12"/>
                    <a:pt x="47" y="12"/>
                    <a:pt x="47" y="12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6" y="2"/>
                    <a:pt x="35" y="2"/>
                    <a:pt x="35" y="3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9" y="0"/>
                  </a:cubicBezTo>
                  <a:cubicBezTo>
                    <a:pt x="28" y="0"/>
                    <a:pt x="28" y="0"/>
                    <a:pt x="27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9" y="1"/>
                    <a:pt x="19" y="2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3" y="4"/>
                    <a:pt x="12" y="4"/>
                    <a:pt x="12" y="4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6" y="10"/>
                    <a:pt x="6" y="11"/>
                    <a:pt x="6" y="11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2" y="16"/>
                  </a:cubicBezTo>
                  <a:cubicBezTo>
                    <a:pt x="2" y="16"/>
                    <a:pt x="2" y="16"/>
                    <a:pt x="2" y="1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5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1"/>
                    <a:pt x="1" y="32"/>
                    <a:pt x="1" y="33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4" y="40"/>
                    <a:pt x="4" y="40"/>
                    <a:pt x="5" y="40"/>
                  </a:cubicBezTo>
                  <a:cubicBezTo>
                    <a:pt x="5" y="40"/>
                    <a:pt x="5" y="40"/>
                    <a:pt x="6" y="40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9" y="45"/>
                    <a:pt x="9" y="45"/>
                    <a:pt x="9" y="45"/>
                  </a:cubicBezTo>
                  <a:cubicBezTo>
                    <a:pt x="9" y="45"/>
                    <a:pt x="9" y="46"/>
                    <a:pt x="10" y="47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6" y="50"/>
                    <a:pt x="17" y="50"/>
                    <a:pt x="17" y="50"/>
                  </a:cubicBezTo>
                  <a:cubicBezTo>
                    <a:pt x="17" y="50"/>
                    <a:pt x="18" y="50"/>
                    <a:pt x="18" y="50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23" y="51"/>
                    <a:pt x="23" y="51"/>
                    <a:pt x="23" y="51"/>
                  </a:cubicBezTo>
                  <a:cubicBezTo>
                    <a:pt x="23" y="51"/>
                    <a:pt x="24" y="52"/>
                    <a:pt x="24" y="52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52"/>
                    <a:pt x="33" y="51"/>
                    <a:pt x="33" y="51"/>
                  </a:cubicBezTo>
                  <a:cubicBezTo>
                    <a:pt x="33" y="51"/>
                    <a:pt x="33" y="50"/>
                    <a:pt x="33" y="50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8"/>
                    <a:pt x="39" y="48"/>
                    <a:pt x="40" y="48"/>
                  </a:cubicBezTo>
                  <a:cubicBezTo>
                    <a:pt x="40" y="48"/>
                    <a:pt x="40" y="48"/>
                    <a:pt x="41" y="48"/>
                  </a:cubicBezTo>
                  <a:cubicBezTo>
                    <a:pt x="46" y="43"/>
                    <a:pt x="46" y="43"/>
                    <a:pt x="46" y="43"/>
                  </a:cubicBezTo>
                  <a:cubicBezTo>
                    <a:pt x="46" y="43"/>
                    <a:pt x="46" y="43"/>
                    <a:pt x="46" y="42"/>
                  </a:cubicBezTo>
                  <a:cubicBezTo>
                    <a:pt x="46" y="42"/>
                    <a:pt x="46" y="42"/>
                    <a:pt x="46" y="41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49" y="37"/>
                    <a:pt x="50" y="36"/>
                    <a:pt x="50" y="36"/>
                  </a:cubicBezTo>
                  <a:cubicBezTo>
                    <a:pt x="50" y="36"/>
                    <a:pt x="51" y="36"/>
                    <a:pt x="51" y="35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2" y="28"/>
                    <a:pt x="52" y="28"/>
                    <a:pt x="52" y="27"/>
                  </a:cubicBezTo>
                  <a:close/>
                  <a:moveTo>
                    <a:pt x="33" y="28"/>
                  </a:moveTo>
                  <a:cubicBezTo>
                    <a:pt x="32" y="31"/>
                    <a:pt x="28" y="34"/>
                    <a:pt x="25" y="33"/>
                  </a:cubicBezTo>
                  <a:cubicBezTo>
                    <a:pt x="21" y="32"/>
                    <a:pt x="18" y="28"/>
                    <a:pt x="19" y="25"/>
                  </a:cubicBezTo>
                  <a:cubicBezTo>
                    <a:pt x="20" y="21"/>
                    <a:pt x="24" y="18"/>
                    <a:pt x="28" y="19"/>
                  </a:cubicBezTo>
                  <a:cubicBezTo>
                    <a:pt x="32" y="20"/>
                    <a:pt x="34" y="24"/>
                    <a:pt x="33" y="2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</a:ln>
          </p:spPr>
          <p:txBody>
            <a:bodyPr/>
            <a:lstStyle/>
            <a:p>
              <a:pPr>
                <a:defRPr/>
              </a:pPr>
              <a:endParaRPr lang="da-DK" sz="2400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8F95A276-5EBF-4818-966A-9E78E5D5E0D4}"/>
              </a:ext>
            </a:extLst>
          </p:cNvPr>
          <p:cNvSpPr txBox="1"/>
          <p:nvPr/>
        </p:nvSpPr>
        <p:spPr>
          <a:xfrm>
            <a:off x="5834517" y="6216176"/>
            <a:ext cx="1390636" cy="40697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线缆设计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E350480-2562-45E2-BDC8-59B6FE62F6C1}"/>
              </a:ext>
            </a:extLst>
          </p:cNvPr>
          <p:cNvSpPr txBox="1"/>
          <p:nvPr/>
        </p:nvSpPr>
        <p:spPr>
          <a:xfrm>
            <a:off x="7450061" y="5475419"/>
            <a:ext cx="4494682" cy="131978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系统架构师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硬件工程师根据产品测试配置需求，确认新开线缆规格，结构工程师确认线长，最终由系统架构师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硬件工程师输出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线缆样品制作需求单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。线缆工程师根据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线缆样品制作需求单</a:t>
            </a:r>
            <a:r>
              <a: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请厂商回传图纸，图纸确认完成后，启动线缆制作。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0CED49F-0CEF-4EF8-883B-9045668522CE}"/>
              </a:ext>
            </a:extLst>
          </p:cNvPr>
          <p:cNvSpPr/>
          <p:nvPr/>
        </p:nvSpPr>
        <p:spPr>
          <a:xfrm>
            <a:off x="3638348" y="1119166"/>
            <a:ext cx="2388345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物料追踪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基材交期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PCB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板卡交期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线缆交期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7" name="AutoShape 44">
            <a:extLst>
              <a:ext uri="{FF2B5EF4-FFF2-40B4-BE49-F238E27FC236}">
                <a16:creationId xmlns:a16="http://schemas.microsoft.com/office/drawing/2014/main" id="{409EEEE9-2FFA-47C9-8ED5-382258BB81A5}"/>
              </a:ext>
            </a:extLst>
          </p:cNvPr>
          <p:cNvSpPr>
            <a:spLocks noChangeArrowheads="1"/>
          </p:cNvSpPr>
          <p:nvPr/>
        </p:nvSpPr>
        <p:spPr bwMode="auto">
          <a:xfrm rot="17429801">
            <a:off x="2506198" y="1610611"/>
            <a:ext cx="908795" cy="936625"/>
          </a:xfrm>
          <a:custGeom>
            <a:avLst/>
            <a:gdLst>
              <a:gd name="G0" fmla="+- 0 0 0"/>
              <a:gd name="G1" fmla="+- -7261746 0 0"/>
              <a:gd name="G2" fmla="+- 0 0 -7261746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-7261746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7261746"/>
              <a:gd name="G36" fmla="sin G34 -7261746"/>
              <a:gd name="G37" fmla="+/ -7261746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6932 w 21600"/>
              <a:gd name="T5" fmla="*/ 1909 h 21600"/>
              <a:gd name="T6" fmla="*/ 7922 w 21600"/>
              <a:gd name="T7" fmla="*/ 3228 h 21600"/>
              <a:gd name="T8" fmla="*/ 13866 w 21600"/>
              <a:gd name="T9" fmla="*/ 6354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10144" y="5399"/>
                  <a:pt x="9494" y="5519"/>
                  <a:pt x="8881" y="5752"/>
                </a:cubicBezTo>
                <a:lnTo>
                  <a:pt x="6963" y="704"/>
                </a:lnTo>
                <a:cubicBezTo>
                  <a:pt x="8189" y="238"/>
                  <a:pt x="9489" y="-1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C0504D"/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035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DB8BC9F0-0AD3-4E1E-9F64-A6B30F5ED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9889099" cy="672075"/>
          </a:xfrm>
        </p:spPr>
        <p:txBody>
          <a:bodyPr/>
          <a:lstStyle/>
          <a:p>
            <a:r>
              <a:rPr lang="zh-CN" altLang="en-US" dirty="0"/>
              <a:t>详细设计</a:t>
            </a:r>
            <a:r>
              <a:rPr lang="en-US" altLang="zh-CN" dirty="0"/>
              <a:t>——FW</a:t>
            </a:r>
            <a:r>
              <a:rPr lang="zh-CN" altLang="en-US" dirty="0"/>
              <a:t>开发、</a:t>
            </a:r>
            <a:r>
              <a:rPr lang="en-US" altLang="zh-CN" dirty="0"/>
              <a:t> ID</a:t>
            </a:r>
            <a:r>
              <a:rPr lang="zh-CN" altLang="en-US" dirty="0"/>
              <a:t>设计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C6F34A-1D06-4878-A0EF-2587B2516796}"/>
              </a:ext>
            </a:extLst>
          </p:cNvPr>
          <p:cNvSpPr/>
          <p:nvPr/>
        </p:nvSpPr>
        <p:spPr>
          <a:xfrm>
            <a:off x="391562" y="1415035"/>
            <a:ext cx="105511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BIOS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Basic 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Input/Output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System 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基本输入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输出系统；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BMC: Baseboard Management Controller </a:t>
            </a:r>
            <a:r>
              <a:rPr lang="zh-CN" altLang="en-US" sz="16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基板管理控制器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是整个服务器单板的大管家，可以监控服务器的物理健康特征，如温度、电压、风扇工作状态、电源状态等；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Chassis Management Module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机箱管理模块：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CMM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是机箱管理模块，主要控制刀片类型服务器中，机箱的电源、风扇，交换、节点等部件模块的运行状态，并提供必要的信息查询和设置接口；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BF6CC26-E86A-4B05-9845-421194397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013592"/>
              </p:ext>
            </p:extLst>
          </p:nvPr>
        </p:nvGraphicFramePr>
        <p:xfrm>
          <a:off x="441944" y="2694385"/>
          <a:ext cx="10010821" cy="14839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4386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1481006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  <a:gridCol w="4187470">
                  <a:extLst>
                    <a:ext uri="{9D8B030D-6E8A-4147-A177-3AD203B41FA5}">
                      <a16:colId xmlns:a16="http://schemas.microsoft.com/office/drawing/2014/main" val="99857605"/>
                    </a:ext>
                  </a:extLst>
                </a:gridCol>
                <a:gridCol w="2647959">
                  <a:extLst>
                    <a:ext uri="{9D8B030D-6E8A-4147-A177-3AD203B41FA5}">
                      <a16:colId xmlns:a16="http://schemas.microsoft.com/office/drawing/2014/main" val="1047766596"/>
                    </a:ext>
                  </a:extLst>
                </a:gridCol>
              </a:tblGrid>
              <a:tr h="321928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任务名称</a:t>
                      </a:r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责任人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交付物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449818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需求以及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迭代计划，开发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《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 FW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 Setup Layout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321928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需求以及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迭代计划，开发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FW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344668952"/>
                  </a:ext>
                </a:extLst>
              </a:tr>
              <a:tr h="321928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需求以及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迭代计划，开发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FW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688737437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C66C16C-8A30-4FBA-BFC4-06D15243D53B}"/>
              </a:ext>
            </a:extLst>
          </p:cNvPr>
          <p:cNvSpPr/>
          <p:nvPr/>
        </p:nvSpPr>
        <p:spPr>
          <a:xfrm>
            <a:off x="391562" y="4800672"/>
            <a:ext cx="107505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设计：前面板、箱耳、丝印、标签、贴纸等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：部分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需求无法在详细设计阶段完成，例如：产品手册中线框图、产品前视图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后视图标准图片（机箱图纸定版后开始制作）。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03EF3E3-25FA-44B1-9469-8D602AC84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498967"/>
              </p:ext>
            </p:extLst>
          </p:nvPr>
        </p:nvGraphicFramePr>
        <p:xfrm>
          <a:off x="461194" y="5635110"/>
          <a:ext cx="10010821" cy="11073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4386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1481006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  <a:gridCol w="4187470">
                  <a:extLst>
                    <a:ext uri="{9D8B030D-6E8A-4147-A177-3AD203B41FA5}">
                      <a16:colId xmlns:a16="http://schemas.microsoft.com/office/drawing/2014/main" val="99857605"/>
                    </a:ext>
                  </a:extLst>
                </a:gridCol>
                <a:gridCol w="2647959">
                  <a:extLst>
                    <a:ext uri="{9D8B030D-6E8A-4147-A177-3AD203B41FA5}">
                      <a16:colId xmlns:a16="http://schemas.microsoft.com/office/drawing/2014/main" val="1047766596"/>
                    </a:ext>
                  </a:extLst>
                </a:gridCol>
              </a:tblGrid>
              <a:tr h="372532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任务名称</a:t>
                      </a:r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责任人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交付物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734858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需求，进行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《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包（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3D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模型、设计说明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PPT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等）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《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工业设计部件规格书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</a:tbl>
          </a:graphicData>
        </a:graphic>
      </p:graphicFrame>
      <p:sp>
        <p:nvSpPr>
          <p:cNvPr id="12" name="Freeform 6">
            <a:extLst>
              <a:ext uri="{FF2B5EF4-FFF2-40B4-BE49-F238E27FC236}">
                <a16:creationId xmlns:a16="http://schemas.microsoft.com/office/drawing/2014/main" id="{8088E099-04E2-4F55-A346-D876D9649776}"/>
              </a:ext>
            </a:extLst>
          </p:cNvPr>
          <p:cNvSpPr/>
          <p:nvPr/>
        </p:nvSpPr>
        <p:spPr bwMode="auto">
          <a:xfrm>
            <a:off x="461194" y="871684"/>
            <a:ext cx="2810231" cy="543351"/>
          </a:xfrm>
          <a:custGeom>
            <a:avLst/>
            <a:gdLst>
              <a:gd name="T0" fmla="*/ 16 w 1028"/>
              <a:gd name="T1" fmla="*/ 0 h 522"/>
              <a:gd name="T2" fmla="*/ 941 w 1028"/>
              <a:gd name="T3" fmla="*/ 0 h 522"/>
              <a:gd name="T4" fmla="*/ 958 w 1028"/>
              <a:gd name="T5" fmla="*/ 16 h 522"/>
              <a:gd name="T6" fmla="*/ 958 w 1028"/>
              <a:gd name="T7" fmla="*/ 225 h 522"/>
              <a:gd name="T8" fmla="*/ 1028 w 1028"/>
              <a:gd name="T9" fmla="*/ 262 h 522"/>
              <a:gd name="T10" fmla="*/ 958 w 1028"/>
              <a:gd name="T11" fmla="*/ 302 h 522"/>
              <a:gd name="T12" fmla="*/ 958 w 1028"/>
              <a:gd name="T13" fmla="*/ 506 h 522"/>
              <a:gd name="T14" fmla="*/ 941 w 1028"/>
              <a:gd name="T15" fmla="*/ 522 h 522"/>
              <a:gd name="T16" fmla="*/ 16 w 1028"/>
              <a:gd name="T17" fmla="*/ 522 h 522"/>
              <a:gd name="T18" fmla="*/ 0 w 1028"/>
              <a:gd name="T19" fmla="*/ 506 h 522"/>
              <a:gd name="T20" fmla="*/ 0 w 1028"/>
              <a:gd name="T21" fmla="*/ 16 h 522"/>
              <a:gd name="T22" fmla="*/ 16 w 1028"/>
              <a:gd name="T23" fmla="*/ 0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28" h="522">
                <a:moveTo>
                  <a:pt x="16" y="0"/>
                </a:moveTo>
                <a:cubicBezTo>
                  <a:pt x="941" y="0"/>
                  <a:pt x="941" y="0"/>
                  <a:pt x="941" y="0"/>
                </a:cubicBezTo>
                <a:cubicBezTo>
                  <a:pt x="950" y="0"/>
                  <a:pt x="958" y="7"/>
                  <a:pt x="958" y="16"/>
                </a:cubicBezTo>
                <a:cubicBezTo>
                  <a:pt x="958" y="225"/>
                  <a:pt x="958" y="225"/>
                  <a:pt x="958" y="225"/>
                </a:cubicBezTo>
                <a:cubicBezTo>
                  <a:pt x="1028" y="262"/>
                  <a:pt x="1028" y="262"/>
                  <a:pt x="1028" y="262"/>
                </a:cubicBezTo>
                <a:cubicBezTo>
                  <a:pt x="958" y="302"/>
                  <a:pt x="958" y="302"/>
                  <a:pt x="958" y="302"/>
                </a:cubicBezTo>
                <a:cubicBezTo>
                  <a:pt x="958" y="506"/>
                  <a:pt x="958" y="506"/>
                  <a:pt x="958" y="506"/>
                </a:cubicBezTo>
                <a:cubicBezTo>
                  <a:pt x="958" y="514"/>
                  <a:pt x="950" y="522"/>
                  <a:pt x="941" y="522"/>
                </a:cubicBezTo>
                <a:cubicBezTo>
                  <a:pt x="16" y="522"/>
                  <a:pt x="16" y="522"/>
                  <a:pt x="16" y="522"/>
                </a:cubicBezTo>
                <a:cubicBezTo>
                  <a:pt x="7" y="522"/>
                  <a:pt x="0" y="514"/>
                  <a:pt x="0" y="50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algn="ctr"/>
            <a:r>
              <a:rPr lang="en-US" sz="25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FW</a:t>
            </a:r>
            <a:r>
              <a:rPr lang="zh-CN" altLang="en-US" sz="25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endParaRPr lang="en-US" sz="25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77AACCD-1D7F-4540-92BA-77FE7FBE9AEF}"/>
              </a:ext>
            </a:extLst>
          </p:cNvPr>
          <p:cNvSpPr/>
          <p:nvPr/>
        </p:nvSpPr>
        <p:spPr bwMode="auto">
          <a:xfrm>
            <a:off x="461194" y="4285504"/>
            <a:ext cx="2810231" cy="543351"/>
          </a:xfrm>
          <a:custGeom>
            <a:avLst/>
            <a:gdLst>
              <a:gd name="T0" fmla="*/ 16 w 1028"/>
              <a:gd name="T1" fmla="*/ 0 h 522"/>
              <a:gd name="T2" fmla="*/ 941 w 1028"/>
              <a:gd name="T3" fmla="*/ 0 h 522"/>
              <a:gd name="T4" fmla="*/ 958 w 1028"/>
              <a:gd name="T5" fmla="*/ 16 h 522"/>
              <a:gd name="T6" fmla="*/ 958 w 1028"/>
              <a:gd name="T7" fmla="*/ 225 h 522"/>
              <a:gd name="T8" fmla="*/ 1028 w 1028"/>
              <a:gd name="T9" fmla="*/ 262 h 522"/>
              <a:gd name="T10" fmla="*/ 958 w 1028"/>
              <a:gd name="T11" fmla="*/ 302 h 522"/>
              <a:gd name="T12" fmla="*/ 958 w 1028"/>
              <a:gd name="T13" fmla="*/ 506 h 522"/>
              <a:gd name="T14" fmla="*/ 941 w 1028"/>
              <a:gd name="T15" fmla="*/ 522 h 522"/>
              <a:gd name="T16" fmla="*/ 16 w 1028"/>
              <a:gd name="T17" fmla="*/ 522 h 522"/>
              <a:gd name="T18" fmla="*/ 0 w 1028"/>
              <a:gd name="T19" fmla="*/ 506 h 522"/>
              <a:gd name="T20" fmla="*/ 0 w 1028"/>
              <a:gd name="T21" fmla="*/ 16 h 522"/>
              <a:gd name="T22" fmla="*/ 16 w 1028"/>
              <a:gd name="T23" fmla="*/ 0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28" h="522">
                <a:moveTo>
                  <a:pt x="16" y="0"/>
                </a:moveTo>
                <a:cubicBezTo>
                  <a:pt x="941" y="0"/>
                  <a:pt x="941" y="0"/>
                  <a:pt x="941" y="0"/>
                </a:cubicBezTo>
                <a:cubicBezTo>
                  <a:pt x="950" y="0"/>
                  <a:pt x="958" y="7"/>
                  <a:pt x="958" y="16"/>
                </a:cubicBezTo>
                <a:cubicBezTo>
                  <a:pt x="958" y="225"/>
                  <a:pt x="958" y="225"/>
                  <a:pt x="958" y="225"/>
                </a:cubicBezTo>
                <a:cubicBezTo>
                  <a:pt x="1028" y="262"/>
                  <a:pt x="1028" y="262"/>
                  <a:pt x="1028" y="262"/>
                </a:cubicBezTo>
                <a:cubicBezTo>
                  <a:pt x="958" y="302"/>
                  <a:pt x="958" y="302"/>
                  <a:pt x="958" y="302"/>
                </a:cubicBezTo>
                <a:cubicBezTo>
                  <a:pt x="958" y="506"/>
                  <a:pt x="958" y="506"/>
                  <a:pt x="958" y="506"/>
                </a:cubicBezTo>
                <a:cubicBezTo>
                  <a:pt x="958" y="514"/>
                  <a:pt x="950" y="522"/>
                  <a:pt x="941" y="522"/>
                </a:cubicBezTo>
                <a:cubicBezTo>
                  <a:pt x="16" y="522"/>
                  <a:pt x="16" y="522"/>
                  <a:pt x="16" y="522"/>
                </a:cubicBezTo>
                <a:cubicBezTo>
                  <a:pt x="7" y="522"/>
                  <a:pt x="0" y="514"/>
                  <a:pt x="0" y="50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algn="ctr"/>
            <a:r>
              <a:rPr lang="en-US" sz="25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sz="25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en-US" sz="25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1CC1C11-642B-4800-96D3-BA62DBA2D809}"/>
              </a:ext>
            </a:extLst>
          </p:cNvPr>
          <p:cNvCxnSpPr/>
          <p:nvPr/>
        </p:nvCxnSpPr>
        <p:spPr>
          <a:xfrm>
            <a:off x="0" y="4220388"/>
            <a:ext cx="12192000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748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>
            <a:extLst>
              <a:ext uri="{FF2B5EF4-FFF2-40B4-BE49-F238E27FC236}">
                <a16:creationId xmlns:a16="http://schemas.microsoft.com/office/drawing/2014/main" id="{DB8BC9F0-0AD3-4E1E-9F64-A6B30F5ED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9889099" cy="672075"/>
          </a:xfrm>
        </p:spPr>
        <p:txBody>
          <a:bodyPr/>
          <a:lstStyle/>
          <a:p>
            <a:r>
              <a:rPr lang="zh-CN" altLang="en-US" dirty="0"/>
              <a:t>详细设计</a:t>
            </a:r>
            <a:r>
              <a:rPr lang="en-US" altLang="zh-CN" dirty="0"/>
              <a:t>——</a:t>
            </a:r>
            <a:r>
              <a:rPr lang="zh-CN" altLang="en-US" dirty="0"/>
              <a:t>结构、散热设计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C6F34A-1D06-4878-A0EF-2587B2516796}"/>
              </a:ext>
            </a:extLst>
          </p:cNvPr>
          <p:cNvSpPr/>
          <p:nvPr/>
        </p:nvSpPr>
        <p:spPr>
          <a:xfrm>
            <a:off x="391562" y="1438524"/>
            <a:ext cx="105511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结构设计：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机箱、刀箱、箱耳、导风罩、风扇仓、风扇支架、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Cage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、挡片类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BF6CC26-E86A-4B05-9845-421194397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235067"/>
              </p:ext>
            </p:extLst>
          </p:nvPr>
        </p:nvGraphicFramePr>
        <p:xfrm>
          <a:off x="461190" y="2024730"/>
          <a:ext cx="10010821" cy="1620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4386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1481006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  <a:gridCol w="4187470">
                  <a:extLst>
                    <a:ext uri="{9D8B030D-6E8A-4147-A177-3AD203B41FA5}">
                      <a16:colId xmlns:a16="http://schemas.microsoft.com/office/drawing/2014/main" val="99857605"/>
                    </a:ext>
                  </a:extLst>
                </a:gridCol>
                <a:gridCol w="2647959">
                  <a:extLst>
                    <a:ext uri="{9D8B030D-6E8A-4147-A177-3AD203B41FA5}">
                      <a16:colId xmlns:a16="http://schemas.microsoft.com/office/drawing/2014/main" val="1047766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任务名称</a:t>
                      </a:r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责任人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交付物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364339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结构详细设计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需求确定的开发范围，进行结构详细设计，图纸完成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90%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后，请采购介入报价，备料，参考备料周期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4~6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周（不同部件备料周期不同）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《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结构布局图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》《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结构设计说明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3D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  <a:r>
                        <a:rPr lang="en-US" altLang="zh-CN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2D</a:t>
                      </a:r>
                      <a:r>
                        <a:rPr lang="zh-CN" altLang="en-US" sz="1400" u="none" strike="noStrike" dirty="0">
                          <a:solidFill>
                            <a:srgbClr val="0070C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249148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包材详细设计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包装工程师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产品测试配置，进行包材详细设计，参考备料周期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天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结构包装设计图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41039119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C66C16C-8A30-4FBA-BFC4-06D15243D53B}"/>
              </a:ext>
            </a:extLst>
          </p:cNvPr>
          <p:cNvSpPr/>
          <p:nvPr/>
        </p:nvSpPr>
        <p:spPr>
          <a:xfrm>
            <a:off x="391562" y="4376861"/>
            <a:ext cx="69475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散热设计：散热器件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风冷散热器、液冷散热器、风扇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03EF3E3-25FA-44B1-9469-8D602AC84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088714"/>
              </p:ext>
            </p:extLst>
          </p:nvPr>
        </p:nvGraphicFramePr>
        <p:xfrm>
          <a:off x="461190" y="4957681"/>
          <a:ext cx="10010821" cy="183557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4386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1481006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  <a:gridCol w="4187470">
                  <a:extLst>
                    <a:ext uri="{9D8B030D-6E8A-4147-A177-3AD203B41FA5}">
                      <a16:colId xmlns:a16="http://schemas.microsoft.com/office/drawing/2014/main" val="99857605"/>
                    </a:ext>
                  </a:extLst>
                </a:gridCol>
                <a:gridCol w="2647959">
                  <a:extLst>
                    <a:ext uri="{9D8B030D-6E8A-4147-A177-3AD203B41FA5}">
                      <a16:colId xmlns:a16="http://schemas.microsoft.com/office/drawing/2014/main" val="1047766596"/>
                    </a:ext>
                  </a:extLst>
                </a:gridCol>
              </a:tblGrid>
              <a:tr h="372532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任务名称</a:t>
                      </a:r>
                    </a:p>
                  </a:txBody>
                  <a:tcPr anchor="ctr" anchorCtr="1"/>
                </a:tc>
                <a:tc grid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责任人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交付物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4574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散热仿真（可选）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散热工程师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新产品开发或者散热器件、机箱、或者板卡布局变更等，将进行散热仿真（散热工程师根据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评估是否需进行散热仿真）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散热仿真报告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散热详细设计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散热工程师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根据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PRD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需求确认的开发范围，进行散热器件设计，与厂商沟通部件规格书，规格书定版后，采购报价，备料，参考备料周期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4~6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散热器设计图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风扇设计图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《</a:t>
                      </a:r>
                      <a:r>
                        <a:rPr lang="zh-CN" altLang="en-US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散热部件规格书</a:t>
                      </a:r>
                      <a:r>
                        <a:rPr lang="en-US" altLang="zh-CN" sz="1400" dirty="0">
                          <a:solidFill>
                            <a:srgbClr val="0070C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》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671159883"/>
                  </a:ext>
                </a:extLst>
              </a:tr>
            </a:tbl>
          </a:graphicData>
        </a:graphic>
      </p:graphicFrame>
      <p:sp>
        <p:nvSpPr>
          <p:cNvPr id="12" name="Freeform 6">
            <a:extLst>
              <a:ext uri="{FF2B5EF4-FFF2-40B4-BE49-F238E27FC236}">
                <a16:creationId xmlns:a16="http://schemas.microsoft.com/office/drawing/2014/main" id="{8088E099-04E2-4F55-A346-D876D9649776}"/>
              </a:ext>
            </a:extLst>
          </p:cNvPr>
          <p:cNvSpPr/>
          <p:nvPr/>
        </p:nvSpPr>
        <p:spPr bwMode="auto">
          <a:xfrm>
            <a:off x="461194" y="871684"/>
            <a:ext cx="2810231" cy="543351"/>
          </a:xfrm>
          <a:custGeom>
            <a:avLst/>
            <a:gdLst>
              <a:gd name="T0" fmla="*/ 16 w 1028"/>
              <a:gd name="T1" fmla="*/ 0 h 522"/>
              <a:gd name="T2" fmla="*/ 941 w 1028"/>
              <a:gd name="T3" fmla="*/ 0 h 522"/>
              <a:gd name="T4" fmla="*/ 958 w 1028"/>
              <a:gd name="T5" fmla="*/ 16 h 522"/>
              <a:gd name="T6" fmla="*/ 958 w 1028"/>
              <a:gd name="T7" fmla="*/ 225 h 522"/>
              <a:gd name="T8" fmla="*/ 1028 w 1028"/>
              <a:gd name="T9" fmla="*/ 262 h 522"/>
              <a:gd name="T10" fmla="*/ 958 w 1028"/>
              <a:gd name="T11" fmla="*/ 302 h 522"/>
              <a:gd name="T12" fmla="*/ 958 w 1028"/>
              <a:gd name="T13" fmla="*/ 506 h 522"/>
              <a:gd name="T14" fmla="*/ 941 w 1028"/>
              <a:gd name="T15" fmla="*/ 522 h 522"/>
              <a:gd name="T16" fmla="*/ 16 w 1028"/>
              <a:gd name="T17" fmla="*/ 522 h 522"/>
              <a:gd name="T18" fmla="*/ 0 w 1028"/>
              <a:gd name="T19" fmla="*/ 506 h 522"/>
              <a:gd name="T20" fmla="*/ 0 w 1028"/>
              <a:gd name="T21" fmla="*/ 16 h 522"/>
              <a:gd name="T22" fmla="*/ 16 w 1028"/>
              <a:gd name="T23" fmla="*/ 0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28" h="522">
                <a:moveTo>
                  <a:pt x="16" y="0"/>
                </a:moveTo>
                <a:cubicBezTo>
                  <a:pt x="941" y="0"/>
                  <a:pt x="941" y="0"/>
                  <a:pt x="941" y="0"/>
                </a:cubicBezTo>
                <a:cubicBezTo>
                  <a:pt x="950" y="0"/>
                  <a:pt x="958" y="7"/>
                  <a:pt x="958" y="16"/>
                </a:cubicBezTo>
                <a:cubicBezTo>
                  <a:pt x="958" y="225"/>
                  <a:pt x="958" y="225"/>
                  <a:pt x="958" y="225"/>
                </a:cubicBezTo>
                <a:cubicBezTo>
                  <a:pt x="1028" y="262"/>
                  <a:pt x="1028" y="262"/>
                  <a:pt x="1028" y="262"/>
                </a:cubicBezTo>
                <a:cubicBezTo>
                  <a:pt x="958" y="302"/>
                  <a:pt x="958" y="302"/>
                  <a:pt x="958" y="302"/>
                </a:cubicBezTo>
                <a:cubicBezTo>
                  <a:pt x="958" y="506"/>
                  <a:pt x="958" y="506"/>
                  <a:pt x="958" y="506"/>
                </a:cubicBezTo>
                <a:cubicBezTo>
                  <a:pt x="958" y="514"/>
                  <a:pt x="950" y="522"/>
                  <a:pt x="941" y="522"/>
                </a:cubicBezTo>
                <a:cubicBezTo>
                  <a:pt x="16" y="522"/>
                  <a:pt x="16" y="522"/>
                  <a:pt x="16" y="522"/>
                </a:cubicBezTo>
                <a:cubicBezTo>
                  <a:pt x="7" y="522"/>
                  <a:pt x="0" y="514"/>
                  <a:pt x="0" y="50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algn="ctr"/>
            <a:r>
              <a:rPr lang="zh-CN" altLang="en-US" sz="25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结构设计</a:t>
            </a:r>
            <a:endParaRPr lang="en-US" sz="25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F77AACCD-1D7F-4540-92BA-77FE7FBE9AEF}"/>
              </a:ext>
            </a:extLst>
          </p:cNvPr>
          <p:cNvSpPr/>
          <p:nvPr/>
        </p:nvSpPr>
        <p:spPr bwMode="auto">
          <a:xfrm>
            <a:off x="461192" y="3812670"/>
            <a:ext cx="2810231" cy="543351"/>
          </a:xfrm>
          <a:custGeom>
            <a:avLst/>
            <a:gdLst>
              <a:gd name="T0" fmla="*/ 16 w 1028"/>
              <a:gd name="T1" fmla="*/ 0 h 522"/>
              <a:gd name="T2" fmla="*/ 941 w 1028"/>
              <a:gd name="T3" fmla="*/ 0 h 522"/>
              <a:gd name="T4" fmla="*/ 958 w 1028"/>
              <a:gd name="T5" fmla="*/ 16 h 522"/>
              <a:gd name="T6" fmla="*/ 958 w 1028"/>
              <a:gd name="T7" fmla="*/ 225 h 522"/>
              <a:gd name="T8" fmla="*/ 1028 w 1028"/>
              <a:gd name="T9" fmla="*/ 262 h 522"/>
              <a:gd name="T10" fmla="*/ 958 w 1028"/>
              <a:gd name="T11" fmla="*/ 302 h 522"/>
              <a:gd name="T12" fmla="*/ 958 w 1028"/>
              <a:gd name="T13" fmla="*/ 506 h 522"/>
              <a:gd name="T14" fmla="*/ 941 w 1028"/>
              <a:gd name="T15" fmla="*/ 522 h 522"/>
              <a:gd name="T16" fmla="*/ 16 w 1028"/>
              <a:gd name="T17" fmla="*/ 522 h 522"/>
              <a:gd name="T18" fmla="*/ 0 w 1028"/>
              <a:gd name="T19" fmla="*/ 506 h 522"/>
              <a:gd name="T20" fmla="*/ 0 w 1028"/>
              <a:gd name="T21" fmla="*/ 16 h 522"/>
              <a:gd name="T22" fmla="*/ 16 w 1028"/>
              <a:gd name="T23" fmla="*/ 0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28" h="522">
                <a:moveTo>
                  <a:pt x="16" y="0"/>
                </a:moveTo>
                <a:cubicBezTo>
                  <a:pt x="941" y="0"/>
                  <a:pt x="941" y="0"/>
                  <a:pt x="941" y="0"/>
                </a:cubicBezTo>
                <a:cubicBezTo>
                  <a:pt x="950" y="0"/>
                  <a:pt x="958" y="7"/>
                  <a:pt x="958" y="16"/>
                </a:cubicBezTo>
                <a:cubicBezTo>
                  <a:pt x="958" y="225"/>
                  <a:pt x="958" y="225"/>
                  <a:pt x="958" y="225"/>
                </a:cubicBezTo>
                <a:cubicBezTo>
                  <a:pt x="1028" y="262"/>
                  <a:pt x="1028" y="262"/>
                  <a:pt x="1028" y="262"/>
                </a:cubicBezTo>
                <a:cubicBezTo>
                  <a:pt x="958" y="302"/>
                  <a:pt x="958" y="302"/>
                  <a:pt x="958" y="302"/>
                </a:cubicBezTo>
                <a:cubicBezTo>
                  <a:pt x="958" y="506"/>
                  <a:pt x="958" y="506"/>
                  <a:pt x="958" y="506"/>
                </a:cubicBezTo>
                <a:cubicBezTo>
                  <a:pt x="958" y="514"/>
                  <a:pt x="950" y="522"/>
                  <a:pt x="941" y="522"/>
                </a:cubicBezTo>
                <a:cubicBezTo>
                  <a:pt x="16" y="522"/>
                  <a:pt x="16" y="522"/>
                  <a:pt x="16" y="522"/>
                </a:cubicBezTo>
                <a:cubicBezTo>
                  <a:pt x="7" y="522"/>
                  <a:pt x="0" y="514"/>
                  <a:pt x="0" y="506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pPr algn="ctr"/>
            <a:r>
              <a:rPr lang="zh-CN" altLang="en-US" sz="2535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散热设计</a:t>
            </a:r>
            <a:endParaRPr lang="en-US" sz="2535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4109CE5-A9EE-4722-ADD6-D8A5EE5CE6D5}"/>
              </a:ext>
            </a:extLst>
          </p:cNvPr>
          <p:cNvCxnSpPr/>
          <p:nvPr/>
        </p:nvCxnSpPr>
        <p:spPr>
          <a:xfrm>
            <a:off x="0" y="3714199"/>
            <a:ext cx="12192000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34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1"/>
          <p:cNvSpPr txBox="1">
            <a:spLocks noChangeArrowheads="1"/>
          </p:cNvSpPr>
          <p:nvPr/>
        </p:nvSpPr>
        <p:spPr bwMode="auto">
          <a:xfrm flipH="1">
            <a:off x="6748847" y="3308964"/>
            <a:ext cx="2173841" cy="7383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责任人：电源测试工程师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交付物：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《EVT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电源测试计划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V="1">
            <a:off x="8325336" y="5231259"/>
            <a:ext cx="0" cy="1203122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11"/>
          <p:cNvSpPr txBox="1">
            <a:spLocks noChangeArrowheads="1"/>
          </p:cNvSpPr>
          <p:nvPr/>
        </p:nvSpPr>
        <p:spPr bwMode="auto">
          <a:xfrm flipH="1">
            <a:off x="3332784" y="2019260"/>
            <a:ext cx="2752079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80990" indent="-380990" eaLnBrk="1" hangingPunct="1">
              <a:buClr>
                <a:schemeClr val="accent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系统</a:t>
            </a: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Power-On 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计划</a:t>
            </a:r>
            <a:endParaRPr lang="en-US" altLang="zh-CN" sz="16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9" name="TextBox 11"/>
          <p:cNvSpPr txBox="1">
            <a:spLocks noChangeArrowheads="1"/>
          </p:cNvSpPr>
          <p:nvPr/>
        </p:nvSpPr>
        <p:spPr bwMode="auto">
          <a:xfrm flipH="1">
            <a:off x="6542635" y="2935953"/>
            <a:ext cx="2310727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80990" indent="-380990" eaLnBrk="1" hangingPunct="1">
              <a:buClr>
                <a:schemeClr val="accent1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EVT DC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测试计划</a:t>
            </a:r>
            <a:endParaRPr lang="en-US" altLang="zh-CN" sz="16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1" name="TextBox 11"/>
          <p:cNvSpPr txBox="1">
            <a:spLocks noChangeArrowheads="1"/>
          </p:cNvSpPr>
          <p:nvPr/>
        </p:nvSpPr>
        <p:spPr bwMode="auto">
          <a:xfrm flipH="1">
            <a:off x="8395922" y="5213574"/>
            <a:ext cx="2364341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80990" indent="-380990" eaLnBrk="1" hangingPunct="1">
              <a:buClr>
                <a:schemeClr val="accent1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EVT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散热测试计划</a:t>
            </a:r>
            <a:endParaRPr lang="en-US" altLang="zh-CN" sz="1600" b="1" kern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5" name="TextBox 11"/>
          <p:cNvSpPr txBox="1">
            <a:spLocks noChangeArrowheads="1"/>
          </p:cNvSpPr>
          <p:nvPr/>
        </p:nvSpPr>
        <p:spPr bwMode="auto">
          <a:xfrm flipH="1">
            <a:off x="4938252" y="5210833"/>
            <a:ext cx="2087449" cy="3398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80990" indent="-380990" eaLnBrk="1" hangingPunct="1">
              <a:buClr>
                <a:schemeClr val="accent1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EVT SI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测试计划</a:t>
            </a:r>
            <a:endParaRPr lang="en-US" altLang="zh-CN" sz="1600" b="1" kern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8" name="TextBox 11"/>
          <p:cNvSpPr txBox="1">
            <a:spLocks noChangeArrowheads="1"/>
          </p:cNvSpPr>
          <p:nvPr/>
        </p:nvSpPr>
        <p:spPr bwMode="auto">
          <a:xfrm flipH="1">
            <a:off x="10056045" y="2640904"/>
            <a:ext cx="208744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80990" indent="-380990" eaLnBrk="1" hangingPunct="1">
              <a:buClr>
                <a:schemeClr val="accent1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EVT 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可靠性、</a:t>
            </a: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测试计划</a:t>
            </a:r>
            <a:endParaRPr lang="en-US" altLang="zh-CN" sz="16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文本占位符 1">
            <a:extLst>
              <a:ext uri="{FF2B5EF4-FFF2-40B4-BE49-F238E27FC236}">
                <a16:creationId xmlns:a16="http://schemas.microsoft.com/office/drawing/2014/main" id="{C830A524-88E2-49C2-8C16-C456FD6566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10687254" cy="672075"/>
          </a:xfrm>
        </p:spPr>
        <p:txBody>
          <a:bodyPr/>
          <a:lstStyle/>
          <a:p>
            <a:r>
              <a:rPr lang="zh-CN" altLang="en-US" dirty="0"/>
              <a:t>详细设计</a:t>
            </a:r>
            <a:r>
              <a:rPr lang="en-US" altLang="zh-CN" dirty="0"/>
              <a:t>——Power-On </a:t>
            </a:r>
            <a:r>
              <a:rPr lang="zh-CN" altLang="en-US" dirty="0"/>
              <a:t>计划、</a:t>
            </a:r>
            <a:r>
              <a:rPr lang="en-US" altLang="zh-CN" dirty="0"/>
              <a:t>EVT </a:t>
            </a:r>
            <a:r>
              <a:rPr lang="zh-CN" altLang="en-US" dirty="0"/>
              <a:t>测试计划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6259AFE-8C91-491C-BCA7-C96E7D0D2E75}"/>
              </a:ext>
            </a:extLst>
          </p:cNvPr>
          <p:cNvGrpSpPr/>
          <p:nvPr/>
        </p:nvGrpSpPr>
        <p:grpSpPr>
          <a:xfrm>
            <a:off x="111598" y="4150914"/>
            <a:ext cx="11968805" cy="978416"/>
            <a:chOff x="56601" y="2982732"/>
            <a:chExt cx="11968805" cy="978416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910CCD9A-183E-407D-AECB-78E5F5BB75ED}"/>
                </a:ext>
              </a:extLst>
            </p:cNvPr>
            <p:cNvGrpSpPr/>
            <p:nvPr/>
          </p:nvGrpSpPr>
          <p:grpSpPr>
            <a:xfrm>
              <a:off x="56601" y="2982732"/>
              <a:ext cx="11968805" cy="972438"/>
              <a:chOff x="-670883" y="2982762"/>
              <a:chExt cx="11862700" cy="954428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-670883" y="2982762"/>
                <a:ext cx="4386881" cy="952803"/>
                <a:chOff x="-1515345" y="2352956"/>
                <a:chExt cx="3422953" cy="798390"/>
              </a:xfrm>
            </p:grpSpPr>
            <p:sp>
              <p:nvSpPr>
                <p:cNvPr id="16" name="AutoShape 15"/>
                <p:cNvSpPr>
                  <a:spLocks noChangeArrowheads="1"/>
                </p:cNvSpPr>
                <p:nvPr/>
              </p:nvSpPr>
              <p:spPr bwMode="auto">
                <a:xfrm>
                  <a:off x="-1515345" y="2352956"/>
                  <a:ext cx="1414678" cy="798390"/>
                </a:xfrm>
                <a:prstGeom prst="homePlate">
                  <a:avLst>
                    <a:gd name="adj" fmla="val 33678"/>
                  </a:avLst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zh-CN" sz="2000" b="1" kern="0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HW</a:t>
                  </a:r>
                  <a:r>
                    <a:rPr lang="zh-CN" altLang="en-US" sz="2000" b="1" kern="0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、</a:t>
                  </a:r>
                  <a:r>
                    <a:rPr lang="en-US" altLang="zh-CN" sz="2000" b="1" kern="0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DC</a:t>
                  </a:r>
                  <a:endParaRPr lang="zh-CN" altLang="en-US" sz="2000" b="1" kern="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" name="WordArt 20"/>
                <p:cNvSpPr>
                  <a:spLocks noChangeArrowheads="1" noChangeShapeType="1"/>
                </p:cNvSpPr>
                <p:nvPr/>
              </p:nvSpPr>
              <p:spPr bwMode="auto">
                <a:xfrm>
                  <a:off x="1043608" y="2591511"/>
                  <a:ext cx="864000" cy="324000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>
                    <a:defRPr/>
                  </a:pPr>
                  <a:r>
                    <a:rPr lang="en-US" altLang="zh-CN" sz="1867" b="1" kern="0" dirty="0">
                      <a:ln w="9525" cmpd="sng">
                        <a:noFill/>
                        <a:round/>
                      </a:ln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SIT</a:t>
                  </a:r>
                  <a:endParaRPr lang="zh-CN" altLang="en-US" sz="1867" b="1" kern="0" dirty="0">
                    <a:ln w="9525" cmpd="sng">
                      <a:noFill/>
                      <a:round/>
                    </a:ln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" name="组合 3"/>
              <p:cNvGrpSpPr/>
              <p:nvPr/>
            </p:nvGrpSpPr>
            <p:grpSpPr>
              <a:xfrm>
                <a:off x="4081011" y="2984387"/>
                <a:ext cx="1901439" cy="952803"/>
                <a:chOff x="2229248" y="2354318"/>
                <a:chExt cx="1483636" cy="798390"/>
              </a:xfrm>
            </p:grpSpPr>
            <p:sp>
              <p:nvSpPr>
                <p:cNvPr id="17" name="AutoShape 16"/>
                <p:cNvSpPr>
                  <a:spLocks noChangeArrowheads="1"/>
                </p:cNvSpPr>
                <p:nvPr/>
              </p:nvSpPr>
              <p:spPr bwMode="auto">
                <a:xfrm>
                  <a:off x="2229248" y="2354318"/>
                  <a:ext cx="1483636" cy="798390"/>
                </a:xfrm>
                <a:prstGeom prst="chevron">
                  <a:avLst>
                    <a:gd name="adj" fmla="val 33678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 kern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" name="WordArt 21"/>
                <p:cNvSpPr>
                  <a:spLocks noChangeArrowheads="1" noChangeShapeType="1"/>
                </p:cNvSpPr>
                <p:nvPr/>
              </p:nvSpPr>
              <p:spPr bwMode="auto">
                <a:xfrm>
                  <a:off x="2648610" y="2591511"/>
                  <a:ext cx="864000" cy="324000"/>
                </a:xfrm>
                <a:prstGeom prst="rect">
                  <a:avLst/>
                </a:prstGeom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 defTabSz="914377"/>
                  <a:r>
                    <a:rPr lang="en-US" altLang="zh-CN" sz="20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SI</a:t>
                  </a:r>
                  <a:r>
                    <a:rPr lang="zh-CN" altLang="en-US" sz="20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测试</a:t>
                  </a:r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5712509" y="2984385"/>
                <a:ext cx="2006411" cy="952803"/>
                <a:chOff x="3501870" y="2354316"/>
                <a:chExt cx="1565543" cy="798390"/>
              </a:xfrm>
            </p:grpSpPr>
            <p:sp>
              <p:nvSpPr>
                <p:cNvPr id="18" name="AutoShape 17"/>
                <p:cNvSpPr>
                  <a:spLocks noChangeArrowheads="1"/>
                </p:cNvSpPr>
                <p:nvPr/>
              </p:nvSpPr>
              <p:spPr bwMode="auto">
                <a:xfrm>
                  <a:off x="3501870" y="2354316"/>
                  <a:ext cx="1565543" cy="798390"/>
                </a:xfrm>
                <a:prstGeom prst="chevron">
                  <a:avLst>
                    <a:gd name="adj" fmla="val 33678"/>
                  </a:avLst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 kern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3" name="WordArt 22"/>
                <p:cNvSpPr>
                  <a:spLocks noChangeArrowheads="1" noChangeShapeType="1"/>
                </p:cNvSpPr>
                <p:nvPr/>
              </p:nvSpPr>
              <p:spPr bwMode="auto">
                <a:xfrm>
                  <a:off x="3868142" y="2591511"/>
                  <a:ext cx="864000" cy="324000"/>
                </a:xfrm>
                <a:prstGeom prst="rect">
                  <a:avLst/>
                </a:prstGeom>
                <a:extLs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>
                    <a:defRPr/>
                  </a:pPr>
                  <a:r>
                    <a:rPr lang="en-US" altLang="zh-CN" sz="2000" b="1" kern="0" dirty="0">
                      <a:ln w="9525" cmpd="sng">
                        <a:noFill/>
                        <a:round/>
                      </a:ln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DC</a:t>
                  </a:r>
                  <a:r>
                    <a:rPr lang="zh-CN" altLang="en-US" sz="2000" b="1" kern="0" dirty="0">
                      <a:ln w="9525" cmpd="sng">
                        <a:noFill/>
                        <a:round/>
                      </a:ln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测试</a:t>
                  </a:r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448962" y="2984385"/>
                <a:ext cx="2006411" cy="952803"/>
                <a:chOff x="4837779" y="2354316"/>
                <a:chExt cx="1565543" cy="798390"/>
              </a:xfrm>
            </p:grpSpPr>
            <p:sp>
              <p:nvSpPr>
                <p:cNvPr id="19" name="AutoShape 18"/>
                <p:cNvSpPr>
                  <a:spLocks noChangeArrowheads="1"/>
                </p:cNvSpPr>
                <p:nvPr/>
              </p:nvSpPr>
              <p:spPr bwMode="auto">
                <a:xfrm>
                  <a:off x="4837779" y="2354316"/>
                  <a:ext cx="1565543" cy="798390"/>
                </a:xfrm>
                <a:prstGeom prst="chevron">
                  <a:avLst>
                    <a:gd name="adj" fmla="val 33678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 kern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" name="WordArt 23"/>
                <p:cNvSpPr>
                  <a:spLocks noChangeArrowheads="1" noChangeShapeType="1"/>
                </p:cNvSpPr>
                <p:nvPr/>
              </p:nvSpPr>
              <p:spPr bwMode="auto">
                <a:xfrm>
                  <a:off x="5208350" y="2579917"/>
                  <a:ext cx="864000" cy="324000"/>
                </a:xfrm>
                <a:prstGeom prst="rect">
                  <a:avLst/>
                </a:prstGeom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 defTabSz="914377"/>
                  <a:r>
                    <a:rPr lang="zh-CN" altLang="en-US" sz="1867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散热测试</a:t>
                  </a:r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9185406" y="2984385"/>
                <a:ext cx="2006411" cy="952803"/>
                <a:chOff x="6175239" y="2354316"/>
                <a:chExt cx="1565543" cy="798390"/>
              </a:xfrm>
            </p:grpSpPr>
            <p:sp>
              <p:nvSpPr>
                <p:cNvPr id="20" name="AutoShape 19"/>
                <p:cNvSpPr>
                  <a:spLocks noChangeArrowheads="1"/>
                </p:cNvSpPr>
                <p:nvPr/>
              </p:nvSpPr>
              <p:spPr bwMode="auto">
                <a:xfrm>
                  <a:off x="6175239" y="2354316"/>
                  <a:ext cx="1565543" cy="798390"/>
                </a:xfrm>
                <a:prstGeom prst="chevron">
                  <a:avLst>
                    <a:gd name="adj" fmla="val 33678"/>
                  </a:avLst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 sz="2400" kern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" name="WordArt 23"/>
                <p:cNvSpPr>
                  <a:spLocks noChangeArrowheads="1" noChangeShapeType="1"/>
                </p:cNvSpPr>
                <p:nvPr/>
              </p:nvSpPr>
              <p:spPr bwMode="auto">
                <a:xfrm>
                  <a:off x="6579343" y="2591511"/>
                  <a:ext cx="864000" cy="324000"/>
                </a:xfrm>
                <a:prstGeom prst="rect">
                  <a:avLst/>
                </a:prstGeom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wrap="none" fromWordArt="1"/>
                <a:lstStyle/>
                <a:p>
                  <a:pPr algn="ctr" defTabSz="914377"/>
                  <a:r>
                    <a:rPr lang="zh-CN" altLang="en-US" sz="20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可靠性、</a:t>
                  </a:r>
                  <a:r>
                    <a:rPr lang="en-US" altLang="zh-CN" sz="2000" b="1" dirty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PA</a:t>
                  </a:r>
                  <a:endPara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57" name="AutoShape 16">
              <a:extLst>
                <a:ext uri="{FF2B5EF4-FFF2-40B4-BE49-F238E27FC236}">
                  <a16:creationId xmlns:a16="http://schemas.microsoft.com/office/drawing/2014/main" id="{956A46C9-F0E2-4B96-BE9F-EC6029372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108" y="2990366"/>
              <a:ext cx="1932855" cy="970782"/>
            </a:xfrm>
            <a:prstGeom prst="chevron">
              <a:avLst>
                <a:gd name="adj" fmla="val 33678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r>
                <a:rPr lang="en-US" altLang="zh-CN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BIOS</a:t>
              </a: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BMC</a:t>
              </a:r>
            </a:p>
            <a:p>
              <a:pPr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CMM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AutoShape 17">
              <a:extLst>
                <a:ext uri="{FF2B5EF4-FFF2-40B4-BE49-F238E27FC236}">
                  <a16:creationId xmlns:a16="http://schemas.microsoft.com/office/drawing/2014/main" id="{37F5D733-C427-4CE2-B8F7-011EAE401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813" y="2990366"/>
              <a:ext cx="1894479" cy="970782"/>
            </a:xfrm>
            <a:prstGeom prst="chevron">
              <a:avLst>
                <a:gd name="adj" fmla="val 33678"/>
              </a:avLst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SIT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TextBox 11">
            <a:extLst>
              <a:ext uri="{FF2B5EF4-FFF2-40B4-BE49-F238E27FC236}">
                <a16:creationId xmlns:a16="http://schemas.microsoft.com/office/drawing/2014/main" id="{DFC1016A-2223-47CF-BD34-5BB641E8581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708766" y="5210834"/>
            <a:ext cx="246859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80990" indent="-380990" eaLnBrk="1" hangingPunct="1">
              <a:buClr>
                <a:schemeClr val="accent1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BIOS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BMC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CMM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Power-On 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计划</a:t>
            </a:r>
            <a:endParaRPr lang="en-US" altLang="zh-CN" sz="1600" b="1" kern="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A6C5678-4AAE-4D60-9ECE-D0EB0EFE5513}"/>
              </a:ext>
            </a:extLst>
          </p:cNvPr>
          <p:cNvSpPr txBox="1"/>
          <p:nvPr/>
        </p:nvSpPr>
        <p:spPr>
          <a:xfrm>
            <a:off x="3332784" y="3061988"/>
            <a:ext cx="26529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eaLnBrk="1" hangingPunct="1">
              <a:buClr>
                <a:schemeClr val="accent1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EVT SIT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测试计划</a:t>
            </a:r>
            <a:endParaRPr lang="en-US" altLang="zh-CN" sz="16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3" name="TextBox 11">
            <a:extLst>
              <a:ext uri="{FF2B5EF4-FFF2-40B4-BE49-F238E27FC236}">
                <a16:creationId xmlns:a16="http://schemas.microsoft.com/office/drawing/2014/main" id="{2B7AA59A-9B3B-461D-9A1D-F2C7F7C9FAF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0230778" y="3148514"/>
            <a:ext cx="2055902" cy="95994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责任人：可靠性、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工程师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交付物：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《EVT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可靠性、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测试计划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Line 9">
            <a:extLst>
              <a:ext uri="{FF2B5EF4-FFF2-40B4-BE49-F238E27FC236}">
                <a16:creationId xmlns:a16="http://schemas.microsoft.com/office/drawing/2014/main" id="{ED28694C-EBFE-4412-9851-554524AA75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56045" y="2719649"/>
            <a:ext cx="0" cy="1327659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Line 9">
            <a:extLst>
              <a:ext uri="{FF2B5EF4-FFF2-40B4-BE49-F238E27FC236}">
                <a16:creationId xmlns:a16="http://schemas.microsoft.com/office/drawing/2014/main" id="{B1470A1F-A1F4-4798-87B0-B4CAC27F6D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0664" y="2935952"/>
            <a:ext cx="0" cy="1102238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Box 11">
            <a:extLst>
              <a:ext uri="{FF2B5EF4-FFF2-40B4-BE49-F238E27FC236}">
                <a16:creationId xmlns:a16="http://schemas.microsoft.com/office/drawing/2014/main" id="{ADACE828-0663-44D1-9F97-230FB41314E1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582095" y="2350477"/>
            <a:ext cx="2173841" cy="7383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责任人：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TPM</a:t>
            </a:r>
          </a:p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交付物：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系统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Power-On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11">
            <a:extLst>
              <a:ext uri="{FF2B5EF4-FFF2-40B4-BE49-F238E27FC236}">
                <a16:creationId xmlns:a16="http://schemas.microsoft.com/office/drawing/2014/main" id="{4D17A03B-166A-4D80-BA1C-A557BD21E7F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3550279" y="3376463"/>
            <a:ext cx="3015193" cy="7214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责任人：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TPM</a:t>
            </a:r>
          </a:p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交付物：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《BIOS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BMC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单元测试计划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硬件全功能测试计划（含机构）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Line 9">
            <a:extLst>
              <a:ext uri="{FF2B5EF4-FFF2-40B4-BE49-F238E27FC236}">
                <a16:creationId xmlns:a16="http://schemas.microsoft.com/office/drawing/2014/main" id="{E5C3C3DE-DA22-432A-A3C9-E09C01CF19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540" y="2087662"/>
            <a:ext cx="18244" cy="1943632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Box 11">
            <a:extLst>
              <a:ext uri="{FF2B5EF4-FFF2-40B4-BE49-F238E27FC236}">
                <a16:creationId xmlns:a16="http://schemas.microsoft.com/office/drawing/2014/main" id="{BB04D9D2-A56F-466F-B2C4-D843D0CD9F7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565156" y="5632239"/>
            <a:ext cx="2173841" cy="7383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责任人：散热测试工程师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交付物：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《EVT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散热测试计划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9">
            <a:extLst>
              <a:ext uri="{FF2B5EF4-FFF2-40B4-BE49-F238E27FC236}">
                <a16:creationId xmlns:a16="http://schemas.microsoft.com/office/drawing/2014/main" id="{87DA91EA-2439-4349-8AAB-E27476852D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20574" y="5220626"/>
            <a:ext cx="0" cy="1203122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Box 11">
            <a:extLst>
              <a:ext uri="{FF2B5EF4-FFF2-40B4-BE49-F238E27FC236}">
                <a16:creationId xmlns:a16="http://schemas.microsoft.com/office/drawing/2014/main" id="{8D837EB7-490C-4CAA-9D72-20196CCC006E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152679" y="5630120"/>
            <a:ext cx="2173841" cy="7383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责任人：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测试工程师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交付物：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《EVT SI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测试计划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11">
            <a:extLst>
              <a:ext uri="{FF2B5EF4-FFF2-40B4-BE49-F238E27FC236}">
                <a16:creationId xmlns:a16="http://schemas.microsoft.com/office/drawing/2014/main" id="{38EB1ED6-A1DC-4ECE-AD21-85E3968461B3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40874" y="5812394"/>
            <a:ext cx="2747579" cy="95994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责任人：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BIOS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BMC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CMM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工程师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交付物：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 BIOS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BMC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CMM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Power-On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计划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11">
            <a:extLst>
              <a:ext uri="{FF2B5EF4-FFF2-40B4-BE49-F238E27FC236}">
                <a16:creationId xmlns:a16="http://schemas.microsoft.com/office/drawing/2014/main" id="{0253D575-811E-4CCC-A386-7568BCA11E3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403482" y="3308964"/>
            <a:ext cx="2415059" cy="73834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责任人：硬件、电源工程师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lvl="0" indent="-17145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交付物：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《Power-On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计划（含电源）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Box 11">
            <a:extLst>
              <a:ext uri="{FF2B5EF4-FFF2-40B4-BE49-F238E27FC236}">
                <a16:creationId xmlns:a16="http://schemas.microsoft.com/office/drawing/2014/main" id="{E268A2F3-1038-46CE-9092-229876BF421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7269" y="2881273"/>
            <a:ext cx="2899086" cy="338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80990" indent="-380990" eaLnBrk="1" hangingPunct="1">
              <a:buClr>
                <a:schemeClr val="accent1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Power-On</a:t>
            </a:r>
            <a:r>
              <a:rPr lang="zh-CN" altLang="en-US" sz="16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计划（含电源）</a:t>
            </a:r>
            <a:endParaRPr lang="en-US" altLang="zh-CN" sz="1600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5" name="Line 9">
            <a:extLst>
              <a:ext uri="{FF2B5EF4-FFF2-40B4-BE49-F238E27FC236}">
                <a16:creationId xmlns:a16="http://schemas.microsoft.com/office/drawing/2014/main" id="{0F844F13-F7EB-48B9-8554-D8CCAC9068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5300" y="2935952"/>
            <a:ext cx="0" cy="1102238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43CE8FE-D672-43AF-A387-78409275CEF7}"/>
              </a:ext>
            </a:extLst>
          </p:cNvPr>
          <p:cNvSpPr txBox="1"/>
          <p:nvPr/>
        </p:nvSpPr>
        <p:spPr>
          <a:xfrm>
            <a:off x="196628" y="1076096"/>
            <a:ext cx="71489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Power-On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计划、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EVT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测试计划：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板卡出图、结构出图后根据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Power-On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EVT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可启测时间，制定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Power-On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EVT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测试计划。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Line 9">
            <a:extLst>
              <a:ext uri="{FF2B5EF4-FFF2-40B4-BE49-F238E27FC236}">
                <a16:creationId xmlns:a16="http://schemas.microsoft.com/office/drawing/2014/main" id="{7BBBCC74-496A-4D20-8F11-9972A0AAD1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46811" y="5210833"/>
            <a:ext cx="7289" cy="1561504"/>
          </a:xfrm>
          <a:prstGeom prst="line">
            <a:avLst/>
          </a:prstGeom>
          <a:noFill/>
          <a:ln w="12700" cmpd="sng">
            <a:solidFill>
              <a:schemeClr val="bg1">
                <a:lumMod val="50000"/>
              </a:schemeClr>
            </a:solidFill>
            <a:round/>
            <a:headEnd type="diamond" w="med" len="med"/>
            <a:tailEnd type="diamond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2400" kern="0">
              <a:solidFill>
                <a:srgbClr val="0808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4E0EAA40-2517-4441-8930-6FA77E2A0879}"/>
              </a:ext>
            </a:extLst>
          </p:cNvPr>
          <p:cNvGrpSpPr/>
          <p:nvPr/>
        </p:nvGrpSpPr>
        <p:grpSpPr>
          <a:xfrm>
            <a:off x="7660922" y="1098337"/>
            <a:ext cx="883666" cy="1275562"/>
            <a:chOff x="6470234" y="2403489"/>
            <a:chExt cx="883666" cy="1275562"/>
          </a:xfrm>
          <a:solidFill>
            <a:schemeClr val="bg1">
              <a:lumMod val="65000"/>
            </a:schemeClr>
          </a:solidFill>
        </p:grpSpPr>
        <p:sp>
          <p:nvSpPr>
            <p:cNvPr id="79" name="泪滴形 78">
              <a:extLst>
                <a:ext uri="{FF2B5EF4-FFF2-40B4-BE49-F238E27FC236}">
                  <a16:creationId xmlns:a16="http://schemas.microsoft.com/office/drawing/2014/main" id="{65780CED-1675-4254-9C3F-ED207D8A3826}"/>
                </a:ext>
              </a:extLst>
            </p:cNvPr>
            <p:cNvSpPr/>
            <p:nvPr/>
          </p:nvSpPr>
          <p:spPr>
            <a:xfrm rot="8100000">
              <a:off x="6470234" y="2403489"/>
              <a:ext cx="883666" cy="883666"/>
            </a:xfrm>
            <a:prstGeom prst="teardrop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F7F5D92E-F6DF-48F1-8D03-F5CBBCEF292D}"/>
                </a:ext>
              </a:extLst>
            </p:cNvPr>
            <p:cNvSpPr/>
            <p:nvPr/>
          </p:nvSpPr>
          <p:spPr>
            <a:xfrm>
              <a:off x="6826469" y="3507854"/>
              <a:ext cx="171197" cy="17119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1" name="Picture 4" descr="E:\PPT\PPT_图标\220.png">
              <a:extLst>
                <a:ext uri="{FF2B5EF4-FFF2-40B4-BE49-F238E27FC236}">
                  <a16:creationId xmlns:a16="http://schemas.microsoft.com/office/drawing/2014/main" id="{8C22FE55-DB29-4119-909C-D431AD968C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5111" y="2613742"/>
              <a:ext cx="494002" cy="492079"/>
            </a:xfrm>
            <a:prstGeom prst="rect">
              <a:avLst/>
            </a:prstGeom>
            <a:grpFill/>
          </p:spPr>
        </p:pic>
      </p:grpSp>
      <p:sp>
        <p:nvSpPr>
          <p:cNvPr id="82" name="文本框 81">
            <a:extLst>
              <a:ext uri="{FF2B5EF4-FFF2-40B4-BE49-F238E27FC236}">
                <a16:creationId xmlns:a16="http://schemas.microsoft.com/office/drawing/2014/main" id="{A9FE89FA-5603-4E89-9D94-4707CDEBE974}"/>
              </a:ext>
            </a:extLst>
          </p:cNvPr>
          <p:cNvSpPr txBox="1"/>
          <p:nvPr/>
        </p:nvSpPr>
        <p:spPr>
          <a:xfrm>
            <a:off x="8595515" y="1184220"/>
            <a:ext cx="30873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1.Power-On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内容参考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阶段介绍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2.EVT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测试内容参考基础技能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《EVT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000"/>
    </mc:Choice>
    <mc:Fallback xmlns="">
      <p:transition advTm="8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详细设计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——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主要工作</a:t>
            </a:r>
          </a:p>
        </p:txBody>
      </p:sp>
      <p:graphicFrame>
        <p:nvGraphicFramePr>
          <p:cNvPr id="94" name="表格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312948"/>
              </p:ext>
            </p:extLst>
          </p:nvPr>
        </p:nvGraphicFramePr>
        <p:xfrm>
          <a:off x="258230" y="836712"/>
          <a:ext cx="11694421" cy="59361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3015">
                  <a:extLst>
                    <a:ext uri="{9D8B030D-6E8A-4147-A177-3AD203B41FA5}">
                      <a16:colId xmlns:a16="http://schemas.microsoft.com/office/drawing/2014/main" val="1503978168"/>
                    </a:ext>
                  </a:extLst>
                </a:gridCol>
                <a:gridCol w="2499192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5193244">
                  <a:extLst>
                    <a:ext uri="{9D8B030D-6E8A-4147-A177-3AD203B41FA5}">
                      <a16:colId xmlns:a16="http://schemas.microsoft.com/office/drawing/2014/main" val="1193865247"/>
                    </a:ext>
                  </a:extLst>
                </a:gridCol>
                <a:gridCol w="2738970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</a:tblGrid>
              <a:tr h="3926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岗位名称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工作内容</a:t>
                      </a:r>
                      <a:r>
                        <a:rPr lang="en-US" altLang="zh-CN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参与人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输出物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3105627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项目经理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项目进展及状态跟踪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项目进度监控：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√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各技术组详细设计状态跟踪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√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EVT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测试物料领用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测试物料采购，物料交期跟踪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 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主板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SMT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状态跟踪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   小板卡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SMT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状态跟踪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  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结构样品制样状态跟踪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   散热器件作状态跟踪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  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线缆制作状态跟踪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物料计划管理：项目物料计划维护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PCB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基材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&amp;PCBA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备料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结构样品报价、制样通知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散热器件报价、制样通知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 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线缆报价、制样通知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项目计划书维护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项目问题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风险监控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项目变更控制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《QR-D-PH-003-003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项目会议纪要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在研项目状态周报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（双周）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  项目严重风险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问题预警（决策委员会）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《QR-D-PH-002-001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项目计划书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（可选）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222767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组织各组详细设计问题评审问题讨论会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各产品工作者、产品经理、开发经理、系统架构师、评审问题提出人针对同行评审问题进行沟通讨论，形成结论，并追踪至问题闭环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592736"/>
                  </a:ext>
                </a:extLst>
              </a:tr>
              <a:tr h="468848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组织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TR3A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详细设计技术状态评审问题讨论会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系统架构师、产品经理、开发经理、评审问题提出人针对评审问题进行沟通讨论，形成结论，并追踪至问题闭环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《TR3A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详细设计评审报告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（系统架构师）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497477"/>
                  </a:ext>
                </a:extLst>
              </a:tr>
              <a:tr h="611097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组织各组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EVT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、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Power-On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测试计划评审问题讨论会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各产品工作者、产品经理、开发经理、评审问题提出人针对评审问题进行沟通讨论，形成结论，并追踪至问题闭环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zh-CN" altLang="en-US" sz="14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93535"/>
                  </a:ext>
                </a:extLst>
              </a:tr>
            </a:tbl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1949CE4-C85C-4ED4-8F3F-F2EE5D806A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619915"/>
              </p:ext>
            </p:extLst>
          </p:nvPr>
        </p:nvGraphicFramePr>
        <p:xfrm>
          <a:off x="5870873" y="2313632"/>
          <a:ext cx="3641943" cy="3025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6" name="包装程序外壳对象" showAsIcon="1" r:id="rId4" imgW="5272200" imgH="473040" progId="Package">
                  <p:embed/>
                </p:oleObj>
              </mc:Choice>
              <mc:Fallback>
                <p:oleObj name="包装程序外壳对象" showAsIcon="1" r:id="rId4" imgW="5272200" imgH="47304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70873" y="2313632"/>
                        <a:ext cx="3641943" cy="3025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128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247462" y="2757376"/>
            <a:ext cx="9697076" cy="830997"/>
          </a:xfrm>
        </p:spPr>
        <p:txBody>
          <a:bodyPr/>
          <a:lstStyle/>
          <a:p>
            <a:pPr defTabSz="1219170"/>
            <a:r>
              <a:rPr lang="en-US" altLang="zh-CN" sz="3733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L7 Power-On</a:t>
            </a:r>
            <a:endParaRPr lang="zh-CN" altLang="en-US" sz="3733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75827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ïŝļîḍê"/>
          <p:cNvSpPr/>
          <p:nvPr/>
        </p:nvSpPr>
        <p:spPr bwMode="auto">
          <a:xfrm>
            <a:off x="239349" y="2564904"/>
            <a:ext cx="864096" cy="864096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rgbClr val="A31B2B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 defTabSz="1219170"/>
            <a:endParaRPr sz="2667">
              <a:solidFill>
                <a:prstClr val="black">
                  <a:lumMod val="75000"/>
                  <a:lumOff val="25000"/>
                </a:prstClr>
              </a:solidFill>
              <a:ea typeface="微软雅黑"/>
            </a:endParaRPr>
          </a:p>
        </p:txBody>
      </p:sp>
      <p:sp>
        <p:nvSpPr>
          <p:cNvPr id="8" name="iṣ1îḋê"/>
          <p:cNvSpPr txBox="1"/>
          <p:nvPr/>
        </p:nvSpPr>
        <p:spPr>
          <a:xfrm>
            <a:off x="1278964" y="2482144"/>
            <a:ext cx="2737652" cy="464132"/>
          </a:xfrm>
          <a:prstGeom prst="rect">
            <a:avLst/>
          </a:prstGeom>
          <a:noFill/>
        </p:spPr>
        <p:txBody>
          <a:bodyPr wrap="none" lIns="120000" tIns="62400" rIns="120000" bIns="62400" anchor="ctr" anchorCtr="0">
            <a:normAutofit/>
          </a:bodyPr>
          <a:lstStyle/>
          <a:p>
            <a:pPr defTabSz="1219170"/>
            <a:r>
              <a:rPr lang="en-US" altLang="zh-CN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HW/DC Power-On</a:t>
            </a:r>
            <a:endParaRPr lang="zh-CN" altLang="en-US" sz="1867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íṧ1îďê"/>
          <p:cNvSpPr txBox="1"/>
          <p:nvPr/>
        </p:nvSpPr>
        <p:spPr>
          <a:xfrm>
            <a:off x="1127745" y="2879378"/>
            <a:ext cx="7824869" cy="907976"/>
          </a:xfrm>
          <a:prstGeom prst="rect">
            <a:avLst/>
          </a:prstGeom>
          <a:noFill/>
        </p:spPr>
        <p:txBody>
          <a:bodyPr wrap="square" lIns="120000" tIns="62400" rIns="120000" bIns="62400" anchor="t" anchorCtr="0">
            <a:noAutofit/>
          </a:bodyPr>
          <a:lstStyle/>
          <a:p>
            <a:pPr marL="228594" indent="-228594" defTabSz="121917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硬件工程师、电源工程师针对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A01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主板进行开机以及相关测试</a:t>
            </a:r>
            <a:endParaRPr lang="en-US" altLang="zh-CN" sz="16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 marL="228594" indent="-228594" defTabSz="121917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交付物：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《Power-On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报告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》《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主控</a:t>
            </a:r>
            <a:r>
              <a: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FW-CPLD》《VR Firmware》</a:t>
            </a:r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F9390F56-6C54-49DF-B859-F3C81CDC98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9889099" cy="672075"/>
          </a:xfrm>
        </p:spPr>
        <p:txBody>
          <a:bodyPr/>
          <a:lstStyle/>
          <a:p>
            <a:r>
              <a:rPr lang="en-US" altLang="zh-CN" dirty="0"/>
              <a:t>Power-On——HW/DC 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ACB2E5-86C3-45F2-B710-8D52745F0106}"/>
              </a:ext>
            </a:extLst>
          </p:cNvPr>
          <p:cNvSpPr/>
          <p:nvPr/>
        </p:nvSpPr>
        <p:spPr>
          <a:xfrm>
            <a:off x="239349" y="869168"/>
            <a:ext cx="871326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Power-On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启动条件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1.Power-On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必须关键物料到货：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主板回板、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CPU(LGA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类型）等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2.Power-On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BIOS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3.Power-On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4.Porting Guide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Power-On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2W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88565F7-A316-451C-998B-3C5E93C53F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2641172"/>
              </p:ext>
            </p:extLst>
          </p:nvPr>
        </p:nvGraphicFramePr>
        <p:xfrm>
          <a:off x="1278964" y="3517095"/>
          <a:ext cx="8356600" cy="3181286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37641896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152073019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88776591"/>
                    </a:ext>
                  </a:extLst>
                </a:gridCol>
                <a:gridCol w="2730500">
                  <a:extLst>
                    <a:ext uri="{9D8B030D-6E8A-4147-A177-3AD203B41FA5}">
                      <a16:colId xmlns:a16="http://schemas.microsoft.com/office/drawing/2014/main" val="562838180"/>
                    </a:ext>
                  </a:extLst>
                </a:gridCol>
              </a:tblGrid>
              <a:tr h="27539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测试内容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计划测试项需求</a:t>
                      </a:r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举例</a:t>
                      </a:r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583180"/>
                  </a:ext>
                </a:extLst>
              </a:tr>
              <a:tr h="24651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System Power Voltage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电压检测</a:t>
                      </a:r>
                      <a:endParaRPr lang="zh-CN" alt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729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Leakage Check in S5/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S5/S3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漏电检测</a:t>
                      </a:r>
                      <a:endParaRPr lang="zh-CN" alt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45074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Power Sequence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时序测量（单板所有有时序）</a:t>
                      </a:r>
                      <a:endParaRPr lang="zh-CN" alt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5647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Clock Frequency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时钟频率确认</a:t>
                      </a:r>
                      <a:endParaRPr lang="zh-CN" alt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71376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Hardware Strap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Strap option 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功能确认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9756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Jumper Function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Jumper 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功能确认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46254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Real-Time Clock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RTC 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时钟误差确认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1159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Quickly Function Scan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基本功能确认（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DIMM/CPU/USB/Fan 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等）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365996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Function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显示、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KVM、SOL ，sensor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等基本功能确认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069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Dead-Short Protection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外接风扇短路，主板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hotswarp IC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保护功能确认</a:t>
                      </a:r>
                      <a:endParaRPr lang="zh-CN" alt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55921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USB OC Protection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USB 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过流保护确认</a:t>
                      </a:r>
                      <a:endParaRPr lang="zh-CN" alt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3009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System Stress Test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压力测试</a:t>
                      </a:r>
                      <a:endParaRPr lang="zh-CN" alt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68166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Windows Reboot Cycling Test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Reboot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</a:t>
                      </a:r>
                      <a:endParaRPr lang="zh-CN" alt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505050"/>
                  </a:ext>
                </a:extLst>
              </a:tr>
            </a:tbl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4B33D9A9-08A4-43C3-B105-75234902E7DD}"/>
              </a:ext>
            </a:extLst>
          </p:cNvPr>
          <p:cNvGrpSpPr/>
          <p:nvPr/>
        </p:nvGrpSpPr>
        <p:grpSpPr>
          <a:xfrm>
            <a:off x="9867900" y="1819274"/>
            <a:ext cx="1981200" cy="1724025"/>
            <a:chOff x="9867900" y="1676400"/>
            <a:chExt cx="2228850" cy="186690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0E42636-CDAE-4B46-83B6-FE4E73F403F9}"/>
                </a:ext>
              </a:extLst>
            </p:cNvPr>
            <p:cNvSpPr txBox="1"/>
            <p:nvPr/>
          </p:nvSpPr>
          <p:spPr>
            <a:xfrm>
              <a:off x="10125075" y="1767959"/>
              <a:ext cx="1809750" cy="3332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BGA CPU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</a:t>
              </a:r>
              <a:endParaRPr lang="zh-CN" altLang="en-US" sz="1400" dirty="0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C6D12ED-3FAE-49C2-BFC9-99FAD09FFBB0}"/>
                </a:ext>
              </a:extLst>
            </p:cNvPr>
            <p:cNvSpPr/>
            <p:nvPr/>
          </p:nvSpPr>
          <p:spPr>
            <a:xfrm>
              <a:off x="9867900" y="1676400"/>
              <a:ext cx="2228850" cy="1866900"/>
            </a:xfrm>
            <a:prstGeom prst="roundRect">
              <a:avLst/>
            </a:prstGeom>
            <a:noFill/>
            <a:ln>
              <a:solidFill>
                <a:srgbClr val="AD28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17D5957-843C-4FE3-B303-5E2FED30D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43492" y="2068347"/>
              <a:ext cx="1673100" cy="1270981"/>
            </a:xfrm>
            <a:prstGeom prst="rect">
              <a:avLst/>
            </a:prstGeom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6F8F7EC-272E-4C4B-8BE6-F8136E3D6713}"/>
              </a:ext>
            </a:extLst>
          </p:cNvPr>
          <p:cNvGrpSpPr/>
          <p:nvPr/>
        </p:nvGrpSpPr>
        <p:grpSpPr>
          <a:xfrm>
            <a:off x="7372350" y="1028699"/>
            <a:ext cx="1905000" cy="1685925"/>
            <a:chOff x="7219950" y="695325"/>
            <a:chExt cx="2228850" cy="1866900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0E2DC724-2B48-44A6-8FB6-0FE227624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6500" y="1127729"/>
              <a:ext cx="1682750" cy="1251632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45EA53A-B6A4-454A-8026-D75B210BF9F7}"/>
                </a:ext>
              </a:extLst>
            </p:cNvPr>
            <p:cNvSpPr txBox="1"/>
            <p:nvPr/>
          </p:nvSpPr>
          <p:spPr>
            <a:xfrm>
              <a:off x="7477125" y="786884"/>
              <a:ext cx="1809750" cy="3408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LGA CPU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</a:t>
              </a:r>
              <a:endParaRPr lang="zh-CN" altLang="en-US" sz="1400" dirty="0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1524118E-6841-4E4D-8109-E1369A693757}"/>
                </a:ext>
              </a:extLst>
            </p:cNvPr>
            <p:cNvSpPr/>
            <p:nvPr/>
          </p:nvSpPr>
          <p:spPr>
            <a:xfrm>
              <a:off x="7219950" y="695325"/>
              <a:ext cx="2228850" cy="1866900"/>
            </a:xfrm>
            <a:prstGeom prst="roundRect">
              <a:avLst/>
            </a:prstGeom>
            <a:noFill/>
            <a:ln>
              <a:solidFill>
                <a:srgbClr val="AD28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36027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śḻíďe"/>
          <p:cNvSpPr/>
          <p:nvPr/>
        </p:nvSpPr>
        <p:spPr bwMode="auto">
          <a:xfrm>
            <a:off x="246745" y="1005724"/>
            <a:ext cx="853339" cy="853339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 defTabSz="1219170"/>
            <a:endParaRPr sz="2667">
              <a:solidFill>
                <a:prstClr val="black">
                  <a:lumMod val="75000"/>
                  <a:lumOff val="25000"/>
                </a:prstClr>
              </a:solidFill>
              <a:ea typeface="微软雅黑"/>
            </a:endParaRPr>
          </a:p>
        </p:txBody>
      </p:sp>
      <p:sp>
        <p:nvSpPr>
          <p:cNvPr id="12" name="îṥliďe"/>
          <p:cNvSpPr txBox="1"/>
          <p:nvPr/>
        </p:nvSpPr>
        <p:spPr>
          <a:xfrm>
            <a:off x="1344091" y="944082"/>
            <a:ext cx="3575105" cy="464132"/>
          </a:xfrm>
          <a:prstGeom prst="rect">
            <a:avLst/>
          </a:prstGeom>
          <a:noFill/>
        </p:spPr>
        <p:txBody>
          <a:bodyPr wrap="none" lIns="120000" tIns="62400" rIns="120000" bIns="62400" anchor="ctr" anchorCtr="0">
            <a:normAutofit/>
          </a:bodyPr>
          <a:lstStyle/>
          <a:p>
            <a:pPr defTabSz="1219170"/>
            <a:r>
              <a:rPr lang="en-US" altLang="zh-CN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 Power-On </a:t>
            </a:r>
            <a:endParaRPr lang="zh-CN" altLang="en-US" sz="1867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íšļíḍê"/>
          <p:cNvSpPr txBox="1"/>
          <p:nvPr/>
        </p:nvSpPr>
        <p:spPr>
          <a:xfrm>
            <a:off x="1260387" y="1298760"/>
            <a:ext cx="8595882" cy="930480"/>
          </a:xfrm>
          <a:prstGeom prst="rect">
            <a:avLst/>
          </a:prstGeom>
          <a:noFill/>
        </p:spPr>
        <p:txBody>
          <a:bodyPr wrap="square" lIns="120000" tIns="62400" rIns="120000" bIns="62400" anchor="t" anchorCtr="0">
            <a:noAutofit/>
          </a:bodyPr>
          <a:lstStyle/>
          <a:p>
            <a:pPr marL="228594" indent="-228594" defTabSz="121917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BIOS</a:t>
            </a:r>
            <a:r>
              <a:rPr lang="zh-CN" altLang="en-US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：与硬件工程师合作，完成</a:t>
            </a:r>
            <a:r>
              <a:rPr lang="en-US" altLang="zh-CN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BIOS</a:t>
            </a:r>
            <a:r>
              <a:rPr lang="zh-CN" altLang="en-US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对系统的上电</a:t>
            </a:r>
            <a:r>
              <a:rPr lang="en-US" altLang="zh-CN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POST</a:t>
            </a:r>
            <a:r>
              <a:rPr lang="zh-CN" altLang="en-US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，并对基本功能进行调试与验证</a:t>
            </a:r>
            <a:endParaRPr lang="en-US" altLang="zh-CN" sz="1467" dirty="0">
              <a:solidFill>
                <a:prstClr val="black">
                  <a:lumMod val="75000"/>
                  <a:lumOff val="25000"/>
                </a:prstClr>
              </a:solidFill>
              <a:ea typeface="微软雅黑"/>
            </a:endParaRPr>
          </a:p>
          <a:p>
            <a:pPr marL="228594" indent="-228594" defTabSz="121917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交付物：</a:t>
            </a:r>
            <a:r>
              <a:rPr lang="en-US" altLang="zh-CN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《BIOS Power-On </a:t>
            </a:r>
            <a:r>
              <a:rPr lang="zh-CN" altLang="en-US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报告</a:t>
            </a:r>
            <a:r>
              <a:rPr lang="en-US" altLang="zh-CN" sz="1467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》</a:t>
            </a:r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F9390F56-6C54-49DF-B859-F3C81CDC98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9889099" cy="672075"/>
          </a:xfrm>
        </p:spPr>
        <p:txBody>
          <a:bodyPr/>
          <a:lstStyle/>
          <a:p>
            <a:r>
              <a:rPr lang="en-US" altLang="zh-CN" dirty="0"/>
              <a:t>Power-On——BIOS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3A39448-5110-4832-85F7-407D2BC5E3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7620045"/>
              </p:ext>
            </p:extLst>
          </p:nvPr>
        </p:nvGraphicFramePr>
        <p:xfrm>
          <a:off x="1344091" y="2012773"/>
          <a:ext cx="9955968" cy="4395248"/>
        </p:xfrm>
        <a:graphic>
          <a:graphicData uri="http://schemas.openxmlformats.org/drawingml/2006/table">
            <a:tbl>
              <a:tblPr/>
              <a:tblGrid>
                <a:gridCol w="996242">
                  <a:extLst>
                    <a:ext uri="{9D8B030D-6E8A-4147-A177-3AD203B41FA5}">
                      <a16:colId xmlns:a16="http://schemas.microsoft.com/office/drawing/2014/main" val="1892911828"/>
                    </a:ext>
                  </a:extLst>
                </a:gridCol>
                <a:gridCol w="3509526">
                  <a:extLst>
                    <a:ext uri="{9D8B030D-6E8A-4147-A177-3AD203B41FA5}">
                      <a16:colId xmlns:a16="http://schemas.microsoft.com/office/drawing/2014/main" val="2835260841"/>
                    </a:ext>
                  </a:extLst>
                </a:gridCol>
                <a:gridCol w="5450200">
                  <a:extLst>
                    <a:ext uri="{9D8B030D-6E8A-4147-A177-3AD203B41FA5}">
                      <a16:colId xmlns:a16="http://schemas.microsoft.com/office/drawing/2014/main" val="2912906855"/>
                    </a:ext>
                  </a:extLst>
                </a:gridCol>
              </a:tblGrid>
              <a:tr h="23510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 Power-On </a:t>
                      </a: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基本功能点调试</a:t>
                      </a:r>
                      <a:endParaRPr lang="zh-CN" alt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期望结果</a:t>
                      </a:r>
                      <a:endParaRPr lang="zh-CN" alt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254186"/>
                  </a:ext>
                </a:extLst>
              </a:tr>
              <a:tr h="12630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Power Button</a:t>
                      </a:r>
                      <a:endParaRPr lang="en-US" altLang="zh-CN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开机功能正常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409095"/>
                  </a:ext>
                </a:extLst>
              </a:tr>
              <a:tr h="18788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Reset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Reset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功能正常，反复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Reset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均能正常开机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633458"/>
                  </a:ext>
                </a:extLst>
              </a:tr>
              <a:tr h="25773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系统串口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系统信息可以在系统串口正常输出；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结果正确，无乱码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312149"/>
                  </a:ext>
                </a:extLst>
              </a:tr>
              <a:tr h="1308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VGA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调试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显示器能点亮，输出图像无异常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04851"/>
                  </a:ext>
                </a:extLst>
              </a:tr>
              <a:tr h="1308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USB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功能验证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USB Key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USB 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相关设备能正常运行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400534"/>
                  </a:ext>
                </a:extLst>
              </a:tr>
              <a:tr h="1308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Setup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界面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正常进入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Setup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；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正常退出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Setup</a:t>
                      </a:r>
                      <a:endParaRPr lang="en-US" altLang="zh-CN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442444"/>
                  </a:ext>
                </a:extLst>
              </a:tr>
              <a:tr h="36516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1.CPU0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运行正常，系统显示信息正常；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2.CPU1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同时工作，系统情况正常，信息显示正确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300229"/>
                  </a:ext>
                </a:extLst>
              </a:tr>
              <a:tr h="26685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芯片组初始化调试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芯片组初始化情况正常；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系统串口及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port80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无异常报错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625800"/>
                  </a:ext>
                </a:extLst>
              </a:tr>
              <a:tr h="3845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内存支持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DIMM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对内存支持情况正常；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所有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Channel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对内存支持情况正常；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读取及显示内存信息正确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120932"/>
                  </a:ext>
                </a:extLst>
              </a:tr>
              <a:tr h="25773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硬盘支持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系统能正确识别硬盘，信息正确，无兼容性问题；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2.SATA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AHCI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模式功能正常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781388"/>
                  </a:ext>
                </a:extLst>
              </a:tr>
              <a:tr h="36516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操作系统安装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1.Windows Server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操作系统能正确安装，基本功能正常；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Redhat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能正确安装，基本功能正常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95352"/>
                  </a:ext>
                </a:extLst>
              </a:tr>
              <a:tr h="1308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芯片组驱动安装</a:t>
                      </a:r>
                      <a:endParaRPr lang="zh-CN" altLang="en-US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芯片组驱动能正确安装，功能正常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885891"/>
                  </a:ext>
                </a:extLst>
              </a:tr>
              <a:tr h="36516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PCIE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接口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插槽连通性没有问题；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能够完成设备识别；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设备功能可用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62455"/>
                  </a:ext>
                </a:extLst>
              </a:tr>
              <a:tr h="244718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网络接口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网络连通性无异常；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网络性能符合设计要求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461946"/>
                  </a:ext>
                </a:extLst>
              </a:tr>
              <a:tr h="1308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在线烧录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</a:t>
                      </a:r>
                      <a:endParaRPr lang="en-US" altLang="zh-CN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完成烧录无错误信息显示，系统正常开机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618207"/>
                  </a:ext>
                </a:extLst>
              </a:tr>
              <a:tr h="15058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ACPI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zh-CN" alt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高级配置和电源管理接口）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按需求规格要求的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ACPI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状态（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S5</a:t>
                      </a: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）进行调试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844017"/>
                  </a:ext>
                </a:extLst>
              </a:tr>
              <a:tr h="257730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按需求规格要求的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ACPI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S0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S5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）进行调试</a:t>
                      </a:r>
                      <a:endParaRPr lang="zh-CN" alt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基本功能正常</a:t>
                      </a:r>
                      <a:endParaRPr lang="zh-CN" altLang="en-US" sz="10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076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799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íṣḻíḓè"/>
          <p:cNvSpPr/>
          <p:nvPr/>
        </p:nvSpPr>
        <p:spPr bwMode="auto">
          <a:xfrm>
            <a:off x="239349" y="4837416"/>
            <a:ext cx="860065" cy="860065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rgbClr val="A6A6A6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 defTabSz="1219170"/>
            <a:endParaRPr sz="2667">
              <a:solidFill>
                <a:prstClr val="black">
                  <a:lumMod val="75000"/>
                  <a:lumOff val="25000"/>
                </a:prstClr>
              </a:solidFill>
              <a:ea typeface="微软雅黑"/>
            </a:endParaRPr>
          </a:p>
        </p:txBody>
      </p:sp>
      <p:sp>
        <p:nvSpPr>
          <p:cNvPr id="10" name="í$ḷiḓê"/>
          <p:cNvSpPr txBox="1"/>
          <p:nvPr/>
        </p:nvSpPr>
        <p:spPr>
          <a:xfrm>
            <a:off x="1344091" y="4748665"/>
            <a:ext cx="2724763" cy="489836"/>
          </a:xfrm>
          <a:prstGeom prst="rect">
            <a:avLst/>
          </a:prstGeom>
          <a:noFill/>
        </p:spPr>
        <p:txBody>
          <a:bodyPr wrap="none" lIns="120000" tIns="62400" rIns="120000" bIns="62400" anchor="ctr" anchorCtr="0">
            <a:normAutofit/>
          </a:bodyPr>
          <a:lstStyle/>
          <a:p>
            <a:pPr defTabSz="1219170"/>
            <a:r>
              <a:rPr lang="zh-CN" altLang="en-US" sz="1867" b="1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系统</a:t>
            </a:r>
            <a:r>
              <a:rPr lang="en-US" altLang="zh-CN" sz="1867" b="1" dirty="0">
                <a:solidFill>
                  <a:prstClr val="black">
                    <a:lumMod val="75000"/>
                    <a:lumOff val="25000"/>
                  </a:prstClr>
                </a:solidFill>
                <a:ea typeface="微软雅黑"/>
              </a:rPr>
              <a:t>Power-On</a:t>
            </a:r>
            <a:endParaRPr lang="zh-CN" altLang="en-US" sz="1867" b="1" dirty="0">
              <a:solidFill>
                <a:prstClr val="black">
                  <a:lumMod val="75000"/>
                  <a:lumOff val="25000"/>
                </a:prstClr>
              </a:solidFill>
              <a:ea typeface="微软雅黑"/>
            </a:endParaRPr>
          </a:p>
        </p:txBody>
      </p:sp>
      <p:sp>
        <p:nvSpPr>
          <p:cNvPr id="11" name="íSļiḍê"/>
          <p:cNvSpPr txBox="1"/>
          <p:nvPr/>
        </p:nvSpPr>
        <p:spPr>
          <a:xfrm>
            <a:off x="1259717" y="5167381"/>
            <a:ext cx="6770100" cy="547187"/>
          </a:xfrm>
          <a:prstGeom prst="rect">
            <a:avLst/>
          </a:prstGeom>
          <a:noFill/>
        </p:spPr>
        <p:txBody>
          <a:bodyPr wrap="square" lIns="120000" tIns="62400" rIns="120000" bIns="62400" anchor="t" anchorCtr="0">
            <a:noAutofit/>
          </a:bodyPr>
          <a:lstStyle/>
          <a:p>
            <a:pPr marL="228594" indent="-228594" defTabSz="121917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EVT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启测前验证板卡稳定性，确保无重大问题影响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EVT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测试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</a:endParaRPr>
          </a:p>
          <a:p>
            <a:pPr marL="228594" indent="-228594" defTabSz="121917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交付物：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《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系统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Power-On 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报告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》</a:t>
            </a:r>
          </a:p>
        </p:txBody>
      </p:sp>
      <p:sp>
        <p:nvSpPr>
          <p:cNvPr id="14" name="文本占位符 1">
            <a:extLst>
              <a:ext uri="{FF2B5EF4-FFF2-40B4-BE49-F238E27FC236}">
                <a16:creationId xmlns:a16="http://schemas.microsoft.com/office/drawing/2014/main" id="{F9390F56-6C54-49DF-B859-F3C81CDC98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349" y="164637"/>
            <a:ext cx="10713131" cy="607347"/>
          </a:xfrm>
        </p:spPr>
        <p:txBody>
          <a:bodyPr/>
          <a:lstStyle/>
          <a:p>
            <a:r>
              <a:rPr lang="en-US" altLang="zh-CN" dirty="0"/>
              <a:t>Power-On——BMC</a:t>
            </a:r>
            <a:r>
              <a:rPr lang="zh-CN" altLang="en-US" dirty="0"/>
              <a:t>、</a:t>
            </a:r>
            <a:r>
              <a:rPr lang="en-US" altLang="zh-CN" dirty="0"/>
              <a:t>CMM</a:t>
            </a:r>
            <a:r>
              <a:rPr lang="zh-CN" altLang="en-US" dirty="0"/>
              <a:t>、系统</a:t>
            </a:r>
            <a:r>
              <a:rPr lang="en-US" altLang="zh-CN" dirty="0"/>
              <a:t>Power-On</a:t>
            </a:r>
            <a:endParaRPr lang="zh-CN" altLang="en-US" dirty="0"/>
          </a:p>
        </p:txBody>
      </p:sp>
      <p:sp>
        <p:nvSpPr>
          <p:cNvPr id="17" name="iśḻíďe">
            <a:extLst>
              <a:ext uri="{FF2B5EF4-FFF2-40B4-BE49-F238E27FC236}">
                <a16:creationId xmlns:a16="http://schemas.microsoft.com/office/drawing/2014/main" id="{2E5FFB95-E132-4D53-B12D-AC49FC95D13F}"/>
              </a:ext>
            </a:extLst>
          </p:cNvPr>
          <p:cNvSpPr/>
          <p:nvPr/>
        </p:nvSpPr>
        <p:spPr bwMode="auto">
          <a:xfrm>
            <a:off x="246745" y="1068404"/>
            <a:ext cx="853339" cy="790659"/>
          </a:xfrm>
          <a:custGeom>
            <a:avLst/>
            <a:gdLst/>
            <a:ahLst/>
            <a:cxnLst>
              <a:cxn ang="0">
                <a:pos x="55" y="44"/>
              </a:cxn>
              <a:cxn ang="0">
                <a:pos x="44" y="55"/>
              </a:cxn>
              <a:cxn ang="0">
                <a:pos x="10" y="55"/>
              </a:cxn>
              <a:cxn ang="0">
                <a:pos x="0" y="44"/>
              </a:cxn>
              <a:cxn ang="0">
                <a:pos x="0" y="10"/>
              </a:cxn>
              <a:cxn ang="0">
                <a:pos x="10" y="0"/>
              </a:cxn>
              <a:cxn ang="0">
                <a:pos x="44" y="0"/>
              </a:cxn>
              <a:cxn ang="0">
                <a:pos x="55" y="10"/>
              </a:cxn>
              <a:cxn ang="0">
                <a:pos x="55" y="44"/>
              </a:cxn>
              <a:cxn ang="0">
                <a:pos x="46" y="20"/>
              </a:cxn>
              <a:cxn ang="0">
                <a:pos x="46" y="17"/>
              </a:cxn>
              <a:cxn ang="0">
                <a:pos x="42" y="13"/>
              </a:cxn>
              <a:cxn ang="0">
                <a:pos x="39" y="13"/>
              </a:cxn>
              <a:cxn ang="0">
                <a:pos x="23" y="30"/>
              </a:cxn>
              <a:cxn ang="0">
                <a:pos x="15" y="22"/>
              </a:cxn>
              <a:cxn ang="0">
                <a:pos x="12" y="22"/>
              </a:cxn>
              <a:cxn ang="0">
                <a:pos x="8" y="26"/>
              </a:cxn>
              <a:cxn ang="0">
                <a:pos x="8" y="29"/>
              </a:cxn>
              <a:cxn ang="0">
                <a:pos x="21" y="42"/>
              </a:cxn>
              <a:cxn ang="0">
                <a:pos x="24" y="42"/>
              </a:cxn>
              <a:cxn ang="0">
                <a:pos x="46" y="20"/>
              </a:cxn>
            </a:cxnLst>
            <a:rect l="0" t="0" r="r" b="b"/>
            <a:pathLst>
              <a:path w="55" h="55">
                <a:moveTo>
                  <a:pt x="55" y="44"/>
                </a:moveTo>
                <a:cubicBezTo>
                  <a:pt x="55" y="50"/>
                  <a:pt x="50" y="55"/>
                  <a:pt x="44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lnTo>
                  <a:pt x="55" y="44"/>
                </a:lnTo>
                <a:close/>
                <a:moveTo>
                  <a:pt x="46" y="20"/>
                </a:moveTo>
                <a:cubicBezTo>
                  <a:pt x="47" y="19"/>
                  <a:pt x="47" y="17"/>
                  <a:pt x="46" y="17"/>
                </a:cubicBezTo>
                <a:cubicBezTo>
                  <a:pt x="42" y="13"/>
                  <a:pt x="42" y="13"/>
                  <a:pt x="42" y="13"/>
                </a:cubicBezTo>
                <a:cubicBezTo>
                  <a:pt x="42" y="12"/>
                  <a:pt x="40" y="12"/>
                  <a:pt x="39" y="13"/>
                </a:cubicBezTo>
                <a:cubicBezTo>
                  <a:pt x="23" y="30"/>
                  <a:pt x="23" y="30"/>
                  <a:pt x="23" y="30"/>
                </a:cubicBezTo>
                <a:cubicBezTo>
                  <a:pt x="15" y="22"/>
                  <a:pt x="15" y="22"/>
                  <a:pt x="15" y="22"/>
                </a:cubicBezTo>
                <a:cubicBezTo>
                  <a:pt x="14" y="21"/>
                  <a:pt x="13" y="21"/>
                  <a:pt x="12" y="22"/>
                </a:cubicBezTo>
                <a:cubicBezTo>
                  <a:pt x="8" y="26"/>
                  <a:pt x="8" y="26"/>
                  <a:pt x="8" y="26"/>
                </a:cubicBezTo>
                <a:cubicBezTo>
                  <a:pt x="7" y="27"/>
                  <a:pt x="7" y="28"/>
                  <a:pt x="8" y="29"/>
                </a:cubicBezTo>
                <a:cubicBezTo>
                  <a:pt x="21" y="42"/>
                  <a:pt x="21" y="42"/>
                  <a:pt x="21" y="42"/>
                </a:cubicBezTo>
                <a:cubicBezTo>
                  <a:pt x="22" y="43"/>
                  <a:pt x="23" y="43"/>
                  <a:pt x="24" y="42"/>
                </a:cubicBezTo>
                <a:lnTo>
                  <a:pt x="46" y="2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 defTabSz="1219170"/>
            <a:endParaRPr sz="2667">
              <a:solidFill>
                <a:prstClr val="black">
                  <a:lumMod val="75000"/>
                  <a:lumOff val="25000"/>
                </a:prstClr>
              </a:solidFill>
              <a:ea typeface="微软雅黑"/>
            </a:endParaRPr>
          </a:p>
        </p:txBody>
      </p:sp>
      <p:sp>
        <p:nvSpPr>
          <p:cNvPr id="18" name="îṥliďe">
            <a:extLst>
              <a:ext uri="{FF2B5EF4-FFF2-40B4-BE49-F238E27FC236}">
                <a16:creationId xmlns:a16="http://schemas.microsoft.com/office/drawing/2014/main" id="{E1F69AA7-F098-4FC0-8003-647D391F78AC}"/>
              </a:ext>
            </a:extLst>
          </p:cNvPr>
          <p:cNvSpPr txBox="1"/>
          <p:nvPr/>
        </p:nvSpPr>
        <p:spPr>
          <a:xfrm>
            <a:off x="1344091" y="944082"/>
            <a:ext cx="3575105" cy="464132"/>
          </a:xfrm>
          <a:prstGeom prst="rect">
            <a:avLst/>
          </a:prstGeom>
          <a:noFill/>
        </p:spPr>
        <p:txBody>
          <a:bodyPr wrap="none" lIns="120000" tIns="62400" rIns="120000" bIns="62400" anchor="ctr" anchorCtr="0">
            <a:normAutofit/>
          </a:bodyPr>
          <a:lstStyle/>
          <a:p>
            <a:pPr defTabSz="1219170"/>
            <a:r>
              <a:rPr lang="en-US" altLang="zh-CN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8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CMM Power-On </a:t>
            </a:r>
            <a:endParaRPr lang="zh-CN" altLang="en-US" sz="1867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íšļíḍê">
            <a:extLst>
              <a:ext uri="{FF2B5EF4-FFF2-40B4-BE49-F238E27FC236}">
                <a16:creationId xmlns:a16="http://schemas.microsoft.com/office/drawing/2014/main" id="{20BC1CC5-B85E-4FEE-B504-4639EE48A0DC}"/>
              </a:ext>
            </a:extLst>
          </p:cNvPr>
          <p:cNvSpPr txBox="1"/>
          <p:nvPr/>
        </p:nvSpPr>
        <p:spPr>
          <a:xfrm>
            <a:off x="1260387" y="1298760"/>
            <a:ext cx="8595882" cy="607347"/>
          </a:xfrm>
          <a:prstGeom prst="rect">
            <a:avLst/>
          </a:prstGeom>
          <a:noFill/>
        </p:spPr>
        <p:txBody>
          <a:bodyPr wrap="square" lIns="120000" tIns="62400" rIns="120000" bIns="62400" anchor="t" anchorCtr="0">
            <a:noAutofit/>
          </a:bodyPr>
          <a:lstStyle/>
          <a:p>
            <a:pPr marL="228594" indent="-228594" defTabSz="121917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CMM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CMM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基本功能调试与验证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594" indent="-228594" defTabSz="121917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交付物：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《BMC Power-On 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《CMM Power-On 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A996B2C-B028-4F21-A92F-8E77E1A522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6155809"/>
              </p:ext>
            </p:extLst>
          </p:nvPr>
        </p:nvGraphicFramePr>
        <p:xfrm>
          <a:off x="1259717" y="1875617"/>
          <a:ext cx="5851613" cy="2883245"/>
        </p:xfrm>
        <a:graphic>
          <a:graphicData uri="http://schemas.openxmlformats.org/drawingml/2006/table">
            <a:tbl>
              <a:tblPr/>
              <a:tblGrid>
                <a:gridCol w="430909">
                  <a:extLst>
                    <a:ext uri="{9D8B030D-6E8A-4147-A177-3AD203B41FA5}">
                      <a16:colId xmlns:a16="http://schemas.microsoft.com/office/drawing/2014/main" val="3790913408"/>
                    </a:ext>
                  </a:extLst>
                </a:gridCol>
                <a:gridCol w="2397179">
                  <a:extLst>
                    <a:ext uri="{9D8B030D-6E8A-4147-A177-3AD203B41FA5}">
                      <a16:colId xmlns:a16="http://schemas.microsoft.com/office/drawing/2014/main" val="3415123309"/>
                    </a:ext>
                  </a:extLst>
                </a:gridCol>
                <a:gridCol w="3023525">
                  <a:extLst>
                    <a:ext uri="{9D8B030D-6E8A-4147-A177-3AD203B41FA5}">
                      <a16:colId xmlns:a16="http://schemas.microsoft.com/office/drawing/2014/main" val="1240744444"/>
                    </a:ext>
                  </a:extLst>
                </a:gridCol>
              </a:tblGrid>
              <a:tr h="198478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Power-On </a:t>
                      </a: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基本功能点调试</a:t>
                      </a:r>
                      <a:endParaRPr lang="zh-CN" alt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期望结果</a:t>
                      </a:r>
                      <a:endParaRPr lang="zh-CN" alt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245108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FW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烧录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Boot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进入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Linux OS</a:t>
                      </a:r>
                      <a:endParaRPr lang="en-US" altLang="zh-C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566794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心跳灯状态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心跳灯正常闪烁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934088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Dedicate LAN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Web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可以正常连通</a:t>
                      </a:r>
                      <a:endParaRPr lang="zh-CN" alt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37388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Share LAN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Web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可以正常连通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823477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Port80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GPIO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可以正常输出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 Port80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405420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系统串口功能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系统串口正常输出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 Debug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1626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通过前面板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/IPMI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指令控制系统上下电功能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功能正常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584070"/>
                  </a:ext>
                </a:extLst>
              </a:tr>
              <a:tr h="256058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ID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灯状态</a:t>
                      </a:r>
                      <a:endParaRPr lang="zh-CN" alt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Web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IPMI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工具可以控制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ID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灯状态正常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473358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读取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 Tjmax 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和温度功能</a:t>
                      </a:r>
                      <a:endParaRPr lang="zh-CN" alt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IPMB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总线可以获得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Temp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01580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之间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KCS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通信功能</a:t>
                      </a:r>
                      <a:endParaRPr lang="zh-CN" alt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解析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BIOS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数据包正常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163671"/>
                  </a:ext>
                </a:extLst>
              </a:tr>
              <a:tr h="31191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IO expander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点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CPU/MEM Error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灯功能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使用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I2C-test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工具能点亮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ERROR LED</a:t>
                      </a:r>
                      <a:endParaRPr lang="en-US" altLang="zh-C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252856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FW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升级功能</a:t>
                      </a:r>
                      <a:endParaRPr lang="zh-CN" alt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能通过网页烧写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FW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044349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风扇控制功能</a:t>
                      </a:r>
                      <a:endParaRPr lang="zh-CN" altLang="en-US" sz="1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能通过网页手动控制风扇占空比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589307"/>
                  </a:ext>
                </a:extLst>
              </a:tr>
              <a:tr h="15914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 FRU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MAC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地址获取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BMC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串口查看是否可以获取到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FRU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MAC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</a:t>
                      </a:r>
                      <a:endParaRPr lang="zh-CN" altLang="en-US" sz="1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9025153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E5B2772-9444-4B7E-8FC7-FDF3F92B6A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2594790"/>
              </p:ext>
            </p:extLst>
          </p:nvPr>
        </p:nvGraphicFramePr>
        <p:xfrm>
          <a:off x="1259717" y="5766616"/>
          <a:ext cx="7200219" cy="1085173"/>
        </p:xfrm>
        <a:graphic>
          <a:graphicData uri="http://schemas.openxmlformats.org/drawingml/2006/table">
            <a:tbl>
              <a:tblPr/>
              <a:tblGrid>
                <a:gridCol w="735582">
                  <a:extLst>
                    <a:ext uri="{9D8B030D-6E8A-4147-A177-3AD203B41FA5}">
                      <a16:colId xmlns:a16="http://schemas.microsoft.com/office/drawing/2014/main" val="995290471"/>
                    </a:ext>
                  </a:extLst>
                </a:gridCol>
                <a:gridCol w="2744288">
                  <a:extLst>
                    <a:ext uri="{9D8B030D-6E8A-4147-A177-3AD203B41FA5}">
                      <a16:colId xmlns:a16="http://schemas.microsoft.com/office/drawing/2014/main" val="2766345792"/>
                    </a:ext>
                  </a:extLst>
                </a:gridCol>
                <a:gridCol w="3720349">
                  <a:extLst>
                    <a:ext uri="{9D8B030D-6E8A-4147-A177-3AD203B41FA5}">
                      <a16:colId xmlns:a16="http://schemas.microsoft.com/office/drawing/2014/main" val="391387727"/>
                    </a:ext>
                  </a:extLst>
                </a:gridCol>
              </a:tblGrid>
              <a:tr h="1756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System Power-On </a:t>
                      </a: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  <a:endParaRPr lang="zh-CN" alt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期望结果</a:t>
                      </a:r>
                      <a:endParaRPr lang="zh-CN" alt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82015"/>
                  </a:ext>
                </a:extLst>
              </a:tr>
              <a:tr h="1815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 &gt;=1000Loops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测试无异常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400825"/>
                  </a:ext>
                </a:extLst>
              </a:tr>
              <a:tr h="1756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 &gt;=1000Loops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测试无异常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06798"/>
                  </a:ext>
                </a:extLst>
              </a:tr>
              <a:tr h="1815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RHEL、Windows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Server 2019 OS 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正常安装无报错，驱动程序正常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614106"/>
                  </a:ext>
                </a:extLst>
              </a:tr>
              <a:tr h="1756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IDLE &gt;=12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Hr</a:t>
                      </a:r>
                      <a:r>
                        <a:rPr lang="en-US" altLang="zh-C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无报错，不出现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Hang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10048"/>
                  </a:ext>
                </a:extLst>
              </a:tr>
              <a:tr h="18153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Linpack</a:t>
                      </a:r>
                      <a:endParaRPr lang="en-US" altLang="zh-CN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不报错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死机，效率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&gt;=50%</a:t>
                      </a:r>
                      <a:endParaRPr lang="zh-CN" alt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37892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D7343D8-497C-4CD4-B66F-912B9AA309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9539973"/>
              </p:ext>
            </p:extLst>
          </p:nvPr>
        </p:nvGraphicFramePr>
        <p:xfrm>
          <a:off x="7213600" y="1877694"/>
          <a:ext cx="4760686" cy="2881167"/>
        </p:xfrm>
        <a:graphic>
          <a:graphicData uri="http://schemas.openxmlformats.org/drawingml/2006/table">
            <a:tbl>
              <a:tblPr/>
              <a:tblGrid>
                <a:gridCol w="350575">
                  <a:extLst>
                    <a:ext uri="{9D8B030D-6E8A-4147-A177-3AD203B41FA5}">
                      <a16:colId xmlns:a16="http://schemas.microsoft.com/office/drawing/2014/main" val="3790913408"/>
                    </a:ext>
                  </a:extLst>
                </a:gridCol>
                <a:gridCol w="2352026">
                  <a:extLst>
                    <a:ext uri="{9D8B030D-6E8A-4147-A177-3AD203B41FA5}">
                      <a16:colId xmlns:a16="http://schemas.microsoft.com/office/drawing/2014/main" val="3415123309"/>
                    </a:ext>
                  </a:extLst>
                </a:gridCol>
                <a:gridCol w="2058085">
                  <a:extLst>
                    <a:ext uri="{9D8B030D-6E8A-4147-A177-3AD203B41FA5}">
                      <a16:colId xmlns:a16="http://schemas.microsoft.com/office/drawing/2014/main" val="1240744444"/>
                    </a:ext>
                  </a:extLst>
                </a:gridCol>
              </a:tblGrid>
              <a:tr h="17752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  <a:endParaRPr lang="zh-CN" altLang="en-US" sz="2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Power-On 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基本功能点调试</a:t>
                      </a:r>
                      <a:endParaRPr lang="zh-CN" altLang="en-US" sz="2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期望结果</a:t>
                      </a:r>
                      <a:endParaRPr lang="zh-CN" altLang="en-US" sz="24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245108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FW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烧录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正常烧录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FW</a:t>
                      </a:r>
                      <a:endParaRPr lang="en-US" altLang="zh-CN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566794"/>
                  </a:ext>
                </a:extLst>
              </a:tr>
              <a:tr h="21001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心跳灯状态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心跳灯正常闪烁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934088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管理网络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网络可以正常连通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37388"/>
                  </a:ext>
                </a:extLst>
              </a:tr>
              <a:tr h="16197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Web 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Web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可以正常连通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823477"/>
                  </a:ext>
                </a:extLst>
              </a:tr>
              <a:tr h="338128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00" b="0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监测风扇在位状态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&amp;I2C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地址信息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可监测风扇在位状态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&amp;I2C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地址信息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405420"/>
                  </a:ext>
                </a:extLst>
              </a:tr>
              <a:tr h="31165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监测节点在位状态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&amp;I2C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地址信息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可监测节点在位状态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&amp;I2C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地址信息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61626"/>
                  </a:ext>
                </a:extLst>
              </a:tr>
              <a:tr h="31759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CMM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监测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PSU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在位状态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&amp;I2C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地址信息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CMM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可监测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PSU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在位状态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&amp;I2C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地址信息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584070"/>
                  </a:ext>
                </a:extLst>
              </a:tr>
              <a:tr h="31165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CMM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监测交换板在位状态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&amp;I2C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地址信息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CMM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可监测交换板在位状态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&amp;I2C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地址信息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473358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 u="none" strike="noStrike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与节点通信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通信正常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01580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FRU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CMM 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可获取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FRU</a:t>
                      </a: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163671"/>
                  </a:ext>
                </a:extLst>
              </a:tr>
              <a:tr h="21052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节点可通过管理板获取</a:t>
                      </a:r>
                      <a:r>
                        <a:rPr lang="en-US" altLang="zh-CN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Dedicate LAN IP</a:t>
                      </a:r>
                      <a:endParaRPr lang="zh-CN" altLang="en-US" sz="1000" b="0" i="0" u="none" strike="noStrike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000" b="0" i="0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功能正常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985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650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Power-On——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主要工作</a:t>
            </a:r>
          </a:p>
        </p:txBody>
      </p:sp>
      <p:graphicFrame>
        <p:nvGraphicFramePr>
          <p:cNvPr id="94" name="表格 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105218"/>
              </p:ext>
            </p:extLst>
          </p:nvPr>
        </p:nvGraphicFramePr>
        <p:xfrm>
          <a:off x="248789" y="1094372"/>
          <a:ext cx="11694421" cy="30828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63015">
                  <a:extLst>
                    <a:ext uri="{9D8B030D-6E8A-4147-A177-3AD203B41FA5}">
                      <a16:colId xmlns:a16="http://schemas.microsoft.com/office/drawing/2014/main" val="1503978168"/>
                    </a:ext>
                  </a:extLst>
                </a:gridCol>
                <a:gridCol w="2499192">
                  <a:extLst>
                    <a:ext uri="{9D8B030D-6E8A-4147-A177-3AD203B41FA5}">
                      <a16:colId xmlns:a16="http://schemas.microsoft.com/office/drawing/2014/main" val="773509366"/>
                    </a:ext>
                  </a:extLst>
                </a:gridCol>
                <a:gridCol w="5193244">
                  <a:extLst>
                    <a:ext uri="{9D8B030D-6E8A-4147-A177-3AD203B41FA5}">
                      <a16:colId xmlns:a16="http://schemas.microsoft.com/office/drawing/2014/main" val="1193865247"/>
                    </a:ext>
                  </a:extLst>
                </a:gridCol>
                <a:gridCol w="2738970">
                  <a:extLst>
                    <a:ext uri="{9D8B030D-6E8A-4147-A177-3AD203B41FA5}">
                      <a16:colId xmlns:a16="http://schemas.microsoft.com/office/drawing/2014/main" val="869367937"/>
                    </a:ext>
                  </a:extLst>
                </a:gridCol>
              </a:tblGrid>
              <a:tr h="3926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岗位名称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工作内容</a:t>
                      </a:r>
                      <a:r>
                        <a:rPr lang="en-US" altLang="zh-CN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参与人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9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28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9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输出物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067804"/>
                  </a:ext>
                </a:extLst>
              </a:tr>
              <a:tr h="206030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项目经理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项目进展及状态跟踪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项目进度监控：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      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各技术组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Power-On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进度跟踪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项目问题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&amp;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风险监控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285750" marR="0" lvl="0" indent="-28575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项目变更控制</a:t>
                      </a:r>
                      <a:endParaRPr lang="en-US" altLang="zh-CN" sz="14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《QR-D-PH-003-003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项目会议纪要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在研项目状态周报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（双周）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   项目严重风险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/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问题预警（决策委员会）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《QR-D-PH-002-001 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项目计划书</a:t>
                      </a:r>
                      <a:r>
                        <a:rPr lang="en-US" altLang="zh-CN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》</a:t>
                      </a:r>
                      <a:r>
                        <a:rPr lang="zh-CN" altLang="en-US" sz="14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（可选）</a:t>
                      </a:r>
                      <a:endParaRPr lang="en-US" altLang="zh-CN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289352"/>
                  </a:ext>
                </a:extLst>
              </a:tr>
              <a:tr h="611097">
                <a:tc vMerge="1">
                  <a:txBody>
                    <a:bodyPr/>
                    <a:lstStyle/>
                    <a:p>
                      <a:pPr algn="ctr"/>
                      <a:endParaRPr lang="zh-CN" altLang="en-US" sz="11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组织各组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Power-On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报告评审问题讨论会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各产品工作者、产品经理、开发经理、评审问题提出人针对评审问题进行沟通讨论，形成结论，并追踪至问题闭环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zh-CN" altLang="en-US" sz="1400" kern="1200" dirty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93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209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86966"/>
      </p:ext>
    </p:extLst>
  </p:cSld>
  <p:clrMapOvr>
    <a:masterClrMapping/>
  </p:clrMapOvr>
</p:sld>
</file>

<file path=ppt/theme/theme1.xml><?xml version="1.0" encoding="utf-8"?>
<a:theme xmlns:a="http://schemas.openxmlformats.org/drawingml/2006/main" name="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演示文稿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nscpaj">
      <a:majorFont>
        <a:latin typeface="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5850</TotalTime>
  <Words>2975</Words>
  <Application>Microsoft Office PowerPoint</Application>
  <PresentationFormat>宽屏</PresentationFormat>
  <Paragraphs>472</Paragraphs>
  <Slides>14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等线</vt:lpstr>
      <vt:lpstr>微软雅黑</vt:lpstr>
      <vt:lpstr>Arial</vt:lpstr>
      <vt:lpstr>Arial</vt:lpstr>
      <vt:lpstr>Calibri</vt:lpstr>
      <vt:lpstr>Impact</vt:lpstr>
      <vt:lpstr>Wingdings</vt:lpstr>
      <vt:lpstr>演示文稿2</vt:lpstr>
      <vt:lpstr>1_演示文稿2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le</dc:creator>
  <cp:lastModifiedBy>PM 张林宇</cp:lastModifiedBy>
  <cp:revision>485</cp:revision>
  <dcterms:created xsi:type="dcterms:W3CDTF">2020-03-26T01:15:10Z</dcterms:created>
  <dcterms:modified xsi:type="dcterms:W3CDTF">2020-06-08T07:57:45Z</dcterms:modified>
</cp:coreProperties>
</file>